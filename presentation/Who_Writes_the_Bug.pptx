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5.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3" r:id="rId2"/>
  </p:sldMasterIdLst>
  <p:notesMasterIdLst>
    <p:notesMasterId r:id="rId45"/>
  </p:notesMasterIdLst>
  <p:sldIdLst>
    <p:sldId id="256" r:id="rId3"/>
    <p:sldId id="257" r:id="rId4"/>
    <p:sldId id="344" r:id="rId5"/>
    <p:sldId id="339" r:id="rId6"/>
    <p:sldId id="350" r:id="rId7"/>
    <p:sldId id="329" r:id="rId8"/>
    <p:sldId id="331" r:id="rId9"/>
    <p:sldId id="260" r:id="rId10"/>
    <p:sldId id="345" r:id="rId11"/>
    <p:sldId id="349" r:id="rId12"/>
    <p:sldId id="336" r:id="rId13"/>
    <p:sldId id="332" r:id="rId14"/>
    <p:sldId id="346" r:id="rId15"/>
    <p:sldId id="327" r:id="rId16"/>
    <p:sldId id="330" r:id="rId17"/>
    <p:sldId id="263" r:id="rId18"/>
    <p:sldId id="269" r:id="rId19"/>
    <p:sldId id="347" r:id="rId20"/>
    <p:sldId id="348" r:id="rId21"/>
    <p:sldId id="334" r:id="rId22"/>
    <p:sldId id="337" r:id="rId23"/>
    <p:sldId id="338" r:id="rId24"/>
    <p:sldId id="265" r:id="rId25"/>
    <p:sldId id="266" r:id="rId26"/>
    <p:sldId id="340" r:id="rId27"/>
    <p:sldId id="272" r:id="rId28"/>
    <p:sldId id="268" r:id="rId29"/>
    <p:sldId id="275" r:id="rId30"/>
    <p:sldId id="280" r:id="rId31"/>
    <p:sldId id="343" r:id="rId32"/>
    <p:sldId id="281" r:id="rId33"/>
    <p:sldId id="328" r:id="rId34"/>
    <p:sldId id="324" r:id="rId35"/>
    <p:sldId id="325" r:id="rId36"/>
    <p:sldId id="326" r:id="rId37"/>
    <p:sldId id="274" r:id="rId38"/>
    <p:sldId id="258" r:id="rId39"/>
    <p:sldId id="261" r:id="rId40"/>
    <p:sldId id="273" r:id="rId41"/>
    <p:sldId id="270" r:id="rId42"/>
    <p:sldId id="271" r:id="rId43"/>
    <p:sldId id="335" r:id="rId4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197"/>
    <p:restoredTop sz="69178"/>
  </p:normalViewPr>
  <p:slideViewPr>
    <p:cSldViewPr snapToGrid="0" snapToObjects="1">
      <p:cViewPr varScale="1">
        <p:scale>
          <a:sx n="81" d="100"/>
          <a:sy n="81" d="100"/>
        </p:scale>
        <p:origin x="1360" y="184"/>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10417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 can introduce defects and help detect them. This talk examines historical OpenEMR vulnerabilities, a component replay and a public assisted-fix PR.</a:t>
            </a:r>
          </a:p>
          <a:p>
            <a:r>
              <a:t>Four questions guide the review: intended behavior, code changes, current evidence and merge authority.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Public code, advisories and fixes make OpenEMR a useful test bed for historical review experiments.</a:t>
            </a:r>
          </a:p>
          <a:p>
            <a:r>
              <a:t>Provider and patient counts are project estimates, not audited 2026 totals. Public releases date to 2002.</a:t>
            </a:r>
          </a:p>
          <a:p>
            <a:r>
              <a:t>Sources: https://www.open-emr.org/wiki/index.php/OpenEMR_Cloud_Full_Stack_Data_Sheet and https://www.open-emr.org/releases/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7EDEF-CEED-7580-23E7-3760D90B98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A78A9A-FA28-9002-B892-837AB515E3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C35BA9-0B81-48A9-EF91-675E485F8F0E}"/>
              </a:ext>
            </a:extLst>
          </p:cNvPr>
          <p:cNvSpPr>
            <a:spLocks noGrp="1"/>
          </p:cNvSpPr>
          <p:nvPr>
            <p:ph type="body" idx="1"/>
          </p:nvPr>
        </p:nvSpPr>
        <p:spPr/>
        <p:txBody>
          <a:bodyPr/>
          <a:lstStyle/>
          <a:p>
            <a:r>
              <a:t>Choose the answer closest to your organization’s practice. There is no graded answer.</a:t>
            </a:r>
          </a:p>
          <a:p>
            <a:r>
              <a:t>Known vulnerabilities provide a baseline for measuring what a reviewer catches and misses.</a:t>
            </a:r>
          </a:p>
        </p:txBody>
      </p:sp>
      <p:sp>
        <p:nvSpPr>
          <p:cNvPr id="4" name="Slide Number Placeholder 3">
            <a:extLst>
              <a:ext uri="{FF2B5EF4-FFF2-40B4-BE49-F238E27FC236}">
                <a16:creationId xmlns:a16="http://schemas.microsoft.com/office/drawing/2014/main" id="{383EFB81-B09F-86C4-4824-4803695DEAD8}"/>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9311637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Establish a baseline, examine incomplete findings, change an input and compare results.</a:t>
            </a:r>
          </a:p>
          <a:p>
            <a:r>
              <a:t>All 24 historical vulnerabilities are linked to published CVEs. The initial comparison covers all 24. Later rounds retest selected gaps and carry earlier findings forward.</a:t>
            </a:r>
          </a:p>
          <a:p>
            <a:r>
              <a:t>Prompt false-alarm controls are separate. False alarms with added context and requirements remain unmeasured.</a:t>
            </a:r>
          </a:p>
          <a:p>
            <a:r>
              <a:t>Source: https://github.com/stperic/who-writes-who-finds/blob/main/openemr-study/data/original/numbers.md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Snyk scanned each full historical repository once, with current default rules. Six targets matched; one borderline SQL-injection result is excluded. Independent verification is pending.</a:t>
            </a:r>
          </a:p>
          <a:p>
            <a:r>
              <a:t>The scan ran after the CVEs were public. We did not replay a historical engine matched to model training cutoffs. AI reviewers saw selected diffs; timing and scope can favor Snyk.</a:t>
            </a:r>
          </a:p>
          <a:p>
            <a:r>
              <a:t>26,927 findings across 24 scans, including repeats. This measures selected-case detection, not precision.</a:t>
            </a:r>
          </a:p>
          <a:p>
            <a:r>
              <a:t>Source: Snyk Code, CLI 1.1308.2; 23 October 2026 run, retained SARIF and 24-case adjudication.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model receives a selected historical diff without the advisory or scoring key. The generic prompt includes security.</a:t>
            </a:r>
          </a:p>
          <a:p>
            <a:r>
              <a:t>Caught means an actionable finding in at least two of three reviews. Partial findings are excluded from the caught total.</a:t>
            </a:r>
          </a:p>
          <a:p>
            <a:r>
              <a:t>The original comparison used Claude Code. Later controlled follow-ups used the direct API. Exact user instructions appear in the appendix.</a:t>
            </a:r>
          </a:p>
          <a:p>
            <a:r>
              <a:t>Source: https://github.com/stperic/who-writes-who-finds/blob/main/openemr-study/data/original/rubric.md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Choose the vulnerability class you trust AI review least to catch.</a:t>
            </a:r>
          </a:p>
          <a:p>
            <a:r>
              <a:t>Compare the vote with the next two tables. These selected cases do not establish a universal ranking of vulnerability classes.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Haiku fully caught 8 of 24 cases: three access-control and five injection cases. Seven were Partial and nine Missed.</a:t>
            </a:r>
          </a:p>
          <a:p>
            <a:r>
              <a:t>Caught requires an actionable finding identifying the target flaw in at least two of three reviews. Partial findings do not count.</a:t>
            </a:r>
          </a:p>
          <a:p>
            <a:r>
              <a:t>Each case received three reviews. Original-study scores were human-validated.</a:t>
            </a:r>
          </a:p>
          <a:p>
            <a:r>
              <a:t>What would you change next: the model or the prompt?</a:t>
            </a:r>
          </a:p>
          <a:p>
            <a:r>
              <a:t>Source: https://github.com/stperic/who-writes-who-finds/blob/main/openemr-study/data/original/numbers.md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 the same generic prompt, Sonnet fully caught 20 of 24: twelve more cases than Haiku. Three were Partial and one Missed.</a:t>
            </a:r>
          </a:p>
          <a:p>
            <a:r>
              <a:t>The additional catches were four access-control, five injection and three authentication cases.</a:t>
            </a:r>
          </a:p>
          <a:p>
            <a:r>
              <a:t>Original reviews used Claude Code. Later follow-ups used the API. A recorded model name does not guarantee an identical harness or fixed model snapshot.</a:t>
            </a:r>
          </a:p>
          <a:p>
            <a:r>
              <a:t>What information might the four incomplete cases require?</a:t>
            </a:r>
          </a:p>
          <a:p>
            <a:r>
              <a:t>Source: https://github.com/stperic/who-writes-who-finds/blob/main/openemr-study/data/original/numbers.md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124E1-E493-1A4F-9F06-6460AA8E3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2CB155-0AF7-20BF-67DA-81FC5A196B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6410ED-9238-646A-9E19-9C7A9841FD98}"/>
              </a:ext>
            </a:extLst>
          </p:cNvPr>
          <p:cNvSpPr>
            <a:spLocks noGrp="1"/>
          </p:cNvSpPr>
          <p:nvPr>
            <p:ph type="body" idx="1"/>
          </p:nvPr>
        </p:nvSpPr>
        <p:spPr/>
        <p:txBody>
          <a:bodyPr/>
          <a:lstStyle/>
          <a:p>
            <a:r>
              <a:t>Choose the context your reviewer normally receives.</a:t>
            </a:r>
          </a:p>
          <a:p>
            <a:r>
              <a:t>The study begins with a diff. The next round adds a related file to test whether missing context explains incomplete findings.</a:t>
            </a:r>
          </a:p>
        </p:txBody>
      </p:sp>
      <p:sp>
        <p:nvSpPr>
          <p:cNvPr id="4" name="Slide Number Placeholder 3">
            <a:extLst>
              <a:ext uri="{FF2B5EF4-FFF2-40B4-BE49-F238E27FC236}">
                <a16:creationId xmlns:a16="http://schemas.microsoft.com/office/drawing/2014/main" id="{685023E8-817A-B741-080E-08191619633D}"/>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8693784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Relevant context includes architecture, requirements, code relationships and observed evidence. Retain its source, revision and capture time.</a:t>
            </a:r>
          </a:p>
          <a:p>
            <a:r>
              <a:t>The diagram illustrates a proposed workflow. In the study, researchers selected the related files. Automatic retrieval was not tested.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diff exposes a key to the browser. The related configuration identifies it as a secret.</a:t>
            </a:r>
          </a:p>
          <a:p>
            <a:r>
              <a:t>With the same generic prompt and Sonnet model, the matched review changed from Partial to Caught. The case majority changed likewise.</a:t>
            </a:r>
          </a:p>
          <a:p>
            <a:r>
              <a:t>Researchers selected the file. Follow-up scores were automated and await independent human verification.</a:t>
            </a:r>
          </a:p>
          <a:p>
            <a:r>
              <a:t>Source: https://github.com/stperic/who-writes-who-finds/blob/main/openemr-study/data/prior-followups/followup_expanded_context/README.md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Related files recover patient access and payment-secret exposure. Stored XSS and PDF-rendering SSRF remain Partial at this stage.</a:t>
            </a:r>
          </a:p>
          <a:p>
            <a:r>
              <a:t>Only the four original gaps were retested. Twenty original catches carry forward, giving 22 of 24. No complete rerun occurred, and follow-up scores await independent verification.</a:t>
            </a:r>
          </a:p>
          <a:p>
            <a:r>
              <a:t>What would a focused security review add?</a:t>
            </a:r>
          </a:p>
          <a:p>
            <a:r>
              <a:t>Source: https://github.com/stperic/who-writes-who-finds/blob/main/openemr-study/data/prior-followups/followup_expanded_context/README.md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Jev is an example of a decision model that returns structured answers to focused questions about supplied context.</a:t>
            </a:r>
          </a:p>
          <a:p>
            <a:r>
              <a:t>In the proposed workflow, application policy maps those answers to security prompts and required files. Owners retain merge authority.</a:t>
            </a:r>
          </a:p>
          <a:p>
            <a:r>
              <a:t>The diagram’s scores are illustrative. The scored review experiments used researcher-selected inputs, not Jev routing.</a:t>
            </a:r>
          </a:p>
          <a:p>
            <a:r>
              <a:t>Source: https://openrouter.ai/docs/guides/community/jev</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Sonnet, the diff and the related file fixed. Add a security-engineer role, an OWASP checklist and explicit scope for existing flaws.</a:t>
            </a:r>
          </a:p>
          <a:p>
            <a:r>
              <a:t>The generic prompt already includes security. The stronger prompt changes several instructions together, so the result cannot isolate one sentence’s effect.</a:t>
            </a:r>
          </a:p>
          <a:p>
            <a:r>
              <a:t>Source: https://github.com/stperic/who-writes-who-finds/blob/main/openemr-study/data/prior-followups/followup_expanded_context/README.md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specialized prompt recovers stored XSS, bringing cumulative coverage to 23 of 24. PDF-rendering SSRF remains Partial at this stage.</a:t>
            </a:r>
          </a:p>
          <a:p>
            <a:r>
              <a:t>Twenty original catches carry forward. The four-gap retests await independent verification.</a:t>
            </a:r>
          </a:p>
          <a:p>
            <a:r>
              <a:t>What must PDF export preserve, and what must it prevent?</a:t>
            </a:r>
          </a:p>
          <a:p>
            <a:r>
              <a:t>Source: https://github.com/stperic/who-writes-who-finds/blob/main/openemr-study/data/prior-followups/followup_expanded_context/README.md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Proposed use of </a:t>
            </a:r>
            <a:r>
              <a:rPr lang="en-US" dirty="0"/>
              <a:t>OSTF</a:t>
            </a:r>
            <a:r>
              <a:rPr dirty="0"/>
              <a:t>: link reviewed code to relevant requirements so the AI can read the required behavior.</a:t>
            </a:r>
          </a:p>
          <a:p>
            <a:r>
              <a:rPr dirty="0"/>
              <a:t>OSTF means Open Software Traceability Format, a working draft for these links.</a:t>
            </a:r>
          </a:p>
          <a:p>
            <a:r>
              <a:rPr dirty="0"/>
              <a:t>The diagram illustrates the intended workflow. This experiment supplied the requirement directly. Automated requirement retrieval remains untested.</a:t>
            </a:r>
          </a:p>
          <a:p>
            <a:r>
              <a:rPr dirty="0"/>
              <a:t>Source: https://</a:t>
            </a:r>
            <a:r>
              <a:rPr dirty="0" err="1"/>
              <a:t>github.com</a:t>
            </a:r>
            <a:r>
              <a:rPr dirty="0"/>
              <a:t>/</a:t>
            </a:r>
            <a:r>
              <a:rPr dirty="0" err="1"/>
              <a:t>ostf</a:t>
            </a:r>
            <a:r>
              <a:rPr dirty="0"/>
              <a:t>-spec/</a:t>
            </a:r>
            <a:r>
              <a:rPr dirty="0" err="1"/>
              <a:t>ostf</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CVE-2026-33321, the functional requirement produced 0 of 3 explicit PDF-SSRF findings. The proposed security requirement produced 3 of 3.</a:t>
            </a:r>
          </a:p>
          <a:p>
            <a:r>
              <a:t>The requirement cards were the only difference between the two arms. Neither included the related caller file.</a:t>
            </a:r>
          </a:p>
          <a:p>
            <a:r>
              <a:t>The security requirement was written with hindsight and awaits owner approval. Findings were observed manually. Other findings and false alarms were not adjudicated.</a:t>
            </a:r>
          </a:p>
          <a:p>
            <a:r>
              <a:t>Proposed acceptance tests preserve authorized clinical images while preventing narrative-driven resource loading. These tests were not run.</a:t>
            </a:r>
          </a:p>
          <a:p>
            <a:r>
              <a:t>Advisory: https://github.com/openemr/openemr/security/advisories/GHSA-5pc3-2crw-96rv</a:t>
            </a:r>
          </a:p>
          <a:p>
            <a:r>
              <a:t>Source: https://github.com/stperic/who-writes-who-finds/blob/main/openemr-study/data/pdf-requirement-followup/conditions/security.txt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24 original cases now have a target finding across the rounds. The earlier 23 carry forward, and the final SSRF case appears in three of three requirement-assisted reviews.</a:t>
            </a:r>
          </a:p>
          <a:p>
            <a:r>
              <a:t>This is cumulative case coverage, not a full 24-case rerun. The final result is a manual target observation using a hindsight-informed requirement supplied directly.</a:t>
            </a:r>
          </a:p>
          <a:p>
            <a:r>
              <a:t>Independent verification and automated requirement retrieval remain pending.</a:t>
            </a:r>
          </a:p>
          <a:p>
            <a:r>
              <a:t>Source: https://github.com/stperic/who-writes-who-finds/blob/main/openemr-study/data/pdf-requirement-followup/README.md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Separate controls used ten comparison changes and one Sonnet review per prompt. False alarms appeared in 0 of 10 generic reviews and 5 of 10 stronger-prompt reviews.</a:t>
            </a:r>
          </a:p>
          <a:p>
            <a:r>
              <a:t>Two reviews included a Medium-or-higher false alarm. Counts describe affected reviews, not individual findings.</a:t>
            </a:r>
          </a:p>
          <a:p>
            <a:r>
              <a:t>False alarms with added context and requirements remain unmeasured. What triage burden would your team accept?</a:t>
            </a:r>
          </a:p>
          <a:p>
            <a:r>
              <a:t>Source: https://github.com/stperic/who-writes-who-finds/blob/main/openemr-study/data/prior-followups/followup_security_prompt/README.md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When code and requirements leave questions open, runtime evidence can add context. A trace connects timed operations, called spans, across services. Logs with matching trace and span IDs can be correlated.</a:t>
            </a:r>
          </a:p>
          <a:p>
            <a:r>
              <a:t>This illustrative flow was not evaluated in the study. A successful span does not prove a security control worked.</a:t>
            </a:r>
          </a:p>
          <a:p>
            <a:r>
              <a:t>Sources: https://opentelemetry.io/docs/concepts/signals/traces/ and https://opentelemetry.io/docs/concepts/signals/logs/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Traceability links requirements, revisions and test results. Correlated runtime evidence can add context. OSTF describes traceability data; tools perform this proposed integration.</a:t>
            </a:r>
          </a:p>
          <a:p>
            <a:r>
              <a:t>Next, inspect the browser response and retain the result for that revision. The captured component check uses synthetic credentials and contains no OpenTelemetry trace.</a:t>
            </a:r>
          </a:p>
          <a:p>
            <a:r>
              <a:t>Source: https://github.com/ostf-spec/ostf/blob/main/scope.md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captured replay uses synthetic credentials in an isolated payment component. The browser-response check fails before correction and passes afterward. Required scanner/trace triage and human review remain open, so merge stays blocked.</a:t>
            </a:r>
          </a:p>
          <a:p>
            <a:r>
              <a:t>This is component evidence, not another detection result or an end-to-end payment test.</a:t>
            </a:r>
          </a:p>
          <a:p>
            <a:r>
              <a:t>Source: https://github.com/stperic/openemr-review-gate-demo/blob/main/demo/REVIEW-PACKET.md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separate public PR fixes an existing CSRF flaw. AISLE identifies missing validation, and the developer adds the guard. A later no-finding comment names the earlier revision in its footer.</a:t>
            </a:r>
          </a:p>
          <a:p>
            <a:r>
              <a:t>Let the audience interpret that record in the next poll. It does not establish who introduced the original flaw.</a:t>
            </a:r>
          </a:p>
          <a:p>
            <a:r>
              <a:t>Source: https://github.com/openemr/openemr/pull/11958#issuecomment-4360920068</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After voting: no finding was reported, for an unclear revision.</a:t>
            </a:r>
          </a:p>
          <a:p>
            <a:r>
              <a:t>The public record cannot distinguish a stale footer from a stale scan. A clean comment alone does not establish that the corrected revision met every merge requirement.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Retain actual inputs and outputs, including the rendered prompt, requirement text and versions, retrieval/tool results, errors and final decision. Link them to the run and commit.</a:t>
            </a:r>
          </a:p>
          <a:p>
            <a:r>
              <a:t>Record requested and returned model IDs where available; an alias may not identify fixed weights. Protect access and apply a retention policy. Records support investigation, not identical reruns.</a:t>
            </a:r>
          </a:p>
          <a:p>
            <a:r>
              <a:t>References: https://genai.owasp.org/download/49068/ and https://nvlpubs.nist.gov/nistpubs/ai/NIST.AI.600-1.pdf</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our proposed policy, not OpenEMR’s historical policy. Agree on required behavior, retain and verify results for the exact revision, and require accountable approval.</a:t>
            </a:r>
          </a:p>
          <a:p>
            <a:r>
              <a:t>Workers produce evidence; a separate verifier checks it. Branch protection enforces required checks and approvals. Missing requirements keep merge pending. New commits trigger reassessment.</a:t>
            </a:r>
          </a:p>
          <a:p>
            <a:r>
              <a:t>References: https://doi.org/10.6028/NIST.SP.800-218 and https://doi.org/10.6028/NIST.SP.800-207</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First independently verify recovered findings and rerun all 24 cases. Then freeze the workflow and context-selection rules before evaluating held-out full PRs.</a:t>
            </a:r>
          </a:p>
          <a:p>
            <a:r>
              <a:t>Retain existing controls. Measure verified and lost catches, false alarms and review effort. Challenge stale results, missing evidence and changed revisions. The accountable owner decides against predefined criteria.</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The progression reaches a target finding for each of the 24 cases across the rounds. Independent verification, a full rerun and automated requirement retrieval remain pending.</a:t>
            </a:r>
          </a:p>
          <a:p>
            <a:r>
              <a:t>Keep each review’s model, prompt, actual context, outputs and decision linked to its revision. Verify the evidence and retain accountable merge authority.</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Choose one improvement to try first. How will you measure whether it helped?</a:t>
            </a:r>
          </a:p>
          <a:p>
            <a:r>
              <a:t>The vote describes this audience’s priorities, not industry practice.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Questions and discussion. The review kit contains the study, prompts and supporting records.</a:t>
            </a:r>
          </a:p>
          <a:p>
            <a:r>
              <a:t>Keep measured findings, captured component evidence and proposed workflows distinct.</a:t>
            </a:r>
          </a:p>
          <a:p>
            <a:r>
              <a:t>Review kit: https://github.com/stperic/who-writes-who-finds</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stronger prompt adds a security role, an OWASP Top 10 (2021) checklist and explicit scope for existing flaws.</a:t>
            </a:r>
          </a:p>
          <a:p>
            <a:r>
              <a:t>The controlled prompt comparison keeps the diff and related file fixed. Catches among the four gaps rise from 2 of 4 to 3 of 4. Automated scores await independent verification.</a:t>
            </a:r>
          </a:p>
          <a:p>
            <a:r>
              <a:t>The original comparison used Claude Code. Follow-ups used the direct API. The slide preserves the user instruction text.</a:t>
            </a:r>
          </a:p>
          <a:p>
            <a:r>
              <a:t>Source: https://github.com/stperic/who-writes-who-finds/blob/main/openemr-study/data/original/prompt.md</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separate follow-up tested two AI-assisted changes with five models and three reviews per model/change pair.</a:t>
            </a:r>
          </a:p>
          <a:p>
            <a:r>
              <a:t>Both changes carried older flaws forward. None of the ten pairs was Caught by majority, although two of thirty individual reviews were Caught.</a:t>
            </a:r>
          </a:p>
          <a:p>
            <a:r>
              <a:t>Some reviews recognized the issue but treated it as pre-existing and optional.</a:t>
            </a:r>
          </a:p>
          <a:p>
            <a:r>
              <a:t>Source: https://github.com/stperic/who-writes-who-finds/blob/main/openemr-study/data/prior-followups/followup_security_prompt/README.md</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Detection covers ten model/change pairs per prompt, each scored by majority of three. False alarms cover fifty individual comparison reviews per prompt.</a:t>
            </a:r>
          </a:p>
          <a:p>
            <a:r>
              <a:t>General review caught 0 of 10, with false alarms in 2 of 50 reviews. Security plus existing-flaw scope caught 7 of 10, with false alarms in 18 of 50.</a:t>
            </a:r>
          </a:p>
          <a:p>
            <a:r>
              <a:t>These small follow-ups do not establish universal prompt rankings.</a:t>
            </a:r>
          </a:p>
          <a:p>
            <a:r>
              <a:t>Source: https://github.com/stperic/who-writes-who-finds/blob/main/openemr-study/data/prior-followups/followup_security_prompt/README.md</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models review five cases: four original context gaps and one inherited access-control flaw. Each condition yields 25 model/case results.</a:t>
            </a:r>
          </a:p>
          <a:p>
            <a:r>
              <a:t>With the same security prompt, one dependent file changes catches from 7 of 25 to 16 of 25. PDF SSRF remains difficult in this earlier related-file comparison.</a:t>
            </a:r>
          </a:p>
          <a:p>
            <a:r>
              <a:t>For the inherited access-control case, the generic prompt plus context produced no fully caught result across five models.</a:t>
            </a:r>
          </a:p>
          <a:p>
            <a:r>
              <a:t>False alarms were not measured. The later requirement-assisted SSRF result belongs to the main Sonnet progression.</a:t>
            </a:r>
          </a:p>
          <a:p>
            <a:r>
              <a:t>Source: https://github.com/stperic/who-writes-who-finds/blob/main/openemr-study/data/prior-followups/followup_expanded_context/README.md</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Exploratory PR routing: 32 of 42 calls matched draft policy, six disagreed and four abstained. Reference roles await independent adjudication.</a:t>
            </a:r>
          </a:p>
          <a:p>
            <a:r>
              <a:t>Separate MedHallu benchmark: Jev scored 92.9% versus 95.1% for the best comparator. The timing comparison was separate.</a:t>
            </a:r>
          </a:p>
          <a:p>
            <a:r>
              <a:t>Neither experiment validates PR-routing accuracy or thresholds. Policy and accountable owners decide required review.</a:t>
            </a:r>
          </a:p>
          <a:p>
            <a:r>
              <a:t>Source: https://github.com/stperic/who-writes-who-finds/blob/main/jev-study/README.md</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People and AI can both introduce and detect defects. The examples overlap and are not exclusive assignments.</a:t>
            </a:r>
          </a:p>
          <a:p>
            <a:r>
              <a:t>People define expected behavior, acceptable outcomes and approval rules. AI can assist code review when the necessary context is available.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original Sonnet gaps were one Missed and three Partial cases. Each depended on a relationship outside the supplied diff.</a:t>
            </a:r>
          </a:p>
          <a:p>
            <a:r>
              <a:t>Caller behavior, patient filtering, credential configuration and PDF rendering suggested where additional context could help. This retrospective grouping alone does not establish causation.</a:t>
            </a:r>
          </a:p>
          <a:p>
            <a:r>
              <a:t>Source: https://github.com/stperic/who-writes-who-finds/blob/main/openemr-study/data/prior-followups/followup_expanded_context/final_detection.csv</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tests: reject missing or invalid CSRF tokens without changing payment data, and confirm a legitimate payment still succeeds.</a:t>
            </a:r>
          </a:p>
          <a:p>
            <a:r>
              <a:t>Object authorization is a separate rule for the owner to define. A cross-patient test is a candidate, not a newly discovered flaw.</a:t>
            </a:r>
          </a:p>
          <a:p>
            <a:r>
              <a:t>These tests were not run for PR #11958.</a:t>
            </a:r>
          </a:p>
          <a:p>
            <a:r>
              <a:t>Source: https://cheatsheetseries.owasp.org/cheatsheets/Cross-Site_Request_Forgery_Prevention_Cheat_Sheet.html</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workflow: workers produce evidence, a separate verifier checks it, and protected-branch rules enforce required checks and human approvals.</a:t>
            </a:r>
          </a:p>
          <a:p>
            <a:r>
              <a:t>Keep gate-publishing credentials outside untrusted workers. Verify producer identity, source revision and required outcomes.</a:t>
            </a:r>
          </a:p>
          <a:p>
            <a:r>
              <a:t>This design was not run for PR #11958. Zero Trust principles are applied by analogy.</a:t>
            </a:r>
          </a:p>
          <a:p>
            <a:r>
              <a:t>References: https://doi.org/10.6028/NIST.SP.800-207 and https://doi.org/10.6028/NIST.SP.800-218</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an example policy, not OpenEMR’s historical process. Assume the correction is present but the required current results and owner approval are missing; merge remains pending.</a:t>
            </a:r>
          </a:p>
          <a:p>
            <a:r>
              <a:t>A new revision triggers impact review and refresh of affected checks, retained review evidence and approvals.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Freeze the model, prompts, context selection, permissions and judging before evaluation.</a:t>
            </a:r>
          </a:p>
          <a:p>
            <a:r>
              <a:t>Verify recovered findings, rerun all 24 cases to check for lost catches, then evaluate held-out full PRs.</a:t>
            </a:r>
          </a:p>
          <a:p>
            <a:r>
              <a:t>Measure verified catches, false alarms, triage time and review effort. Record the decision, scope and accountable owner.</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CFC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5069284" cy="446980"/>
          </a:xfrm>
          <a:prstGeom prst="rect">
            <a:avLst/>
          </a:prstGeom>
          <a:noFill/>
          <a:ln/>
        </p:spPr>
        <p:txBody>
          <a:bodyPr wrap="square" lIns="0" tIns="0" rIns="0" bIns="0" rtlCol="0" anchor="t"/>
          <a:lstStyle>
            <a:lvl1pPr marL="0" indent="0" algn="l">
              <a:lnSpc>
                <a:spcPct val="115000"/>
              </a:lnSpc>
              <a:buNone/>
              <a:defRPr lang="en-US" sz="3200" dirty="0">
                <a:solidFill>
                  <a:srgbClr val="448334"/>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4580"/>
            <a:ext cx="10566400" cy="4480620"/>
          </a:xfrm>
          <a:prstGeom prst="rect">
            <a:avLst/>
          </a:prstGeom>
          <a:noFill/>
          <a:ln/>
        </p:spPr>
        <p:txBody>
          <a:bodyPr wrap="square" lIns="0" tIns="0" rIns="0" bIns="0" rtlCol="0" anchor="t"/>
          <a:lstStyle>
            <a:lvl1pPr marL="0" indent="0" algn="l">
              <a:lnSpc>
                <a:spcPct val="140000"/>
              </a:lnSpc>
              <a:buNone/>
              <a:defRPr lang="en-US" sz="1600" dirty="0">
                <a:solidFill>
                  <a:srgbClr val="448334"/>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Any Questions?">
    <p:bg>
      <p:bgPr>
        <a:solidFill>
          <a:schemeClr val="bg1"/>
        </a:solidFill>
        <a:effectLst/>
      </p:bgPr>
    </p:bg>
    <p:spTree>
      <p:nvGrpSpPr>
        <p:cNvPr id="1" name=""/>
        <p:cNvGrpSpPr/>
        <p:nvPr/>
      </p:nvGrpSpPr>
      <p:grpSpPr>
        <a:xfrm>
          <a:off x="0" y="0"/>
          <a:ext cx="0" cy="0"/>
          <a:chOff x="0" y="0"/>
          <a:chExt cx="0" cy="0"/>
        </a:xfrm>
      </p:grpSpPr>
      <p:sp>
        <p:nvSpPr>
          <p:cNvPr id="2" name="Any Questions?">
            <a:extLst>
              <a:ext uri="{FF2B5EF4-FFF2-40B4-BE49-F238E27FC236}">
                <a16:creationId xmlns:a16="http://schemas.microsoft.com/office/drawing/2014/main" id="{6E2286D2-B5B8-3D6F-AAB0-B1E909CBAA15}"/>
              </a:ext>
            </a:extLst>
          </p:cNvPr>
          <p:cNvSpPr txBox="1"/>
          <p:nvPr/>
        </p:nvSpPr>
        <p:spPr>
          <a:xfrm>
            <a:off x="817405" y="2349350"/>
            <a:ext cx="5931662" cy="609398"/>
          </a:xfrm>
          <a:prstGeom prst="rect">
            <a:avLst/>
          </a:prstGeom>
          <a:noFill/>
        </p:spPr>
        <p:txBody>
          <a:bodyPr wrap="square" lIns="0" tIns="0" rIns="0" bIns="0" rtlCol="0" anchor="ctr">
            <a:noAutofit/>
          </a:bodyPr>
          <a:lstStyle>
            <a:defPPr marL="0" marR="0" indent="0" algn="l" defTabSz="457109"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lvl="0" algn="l">
              <a:lnSpc>
                <a:spcPct val="90000"/>
              </a:lnSpc>
              <a:defRPr sz="4399" b="1" kern="1200">
                <a:solidFill>
                  <a:schemeClr val="accent1"/>
                </a:solidFill>
                <a:latin typeface="+mj-lt"/>
                <a:ea typeface="+mj-ea"/>
                <a:cs typeface="+mj-cs"/>
              </a:defRPr>
            </a:lvl1pPr>
          </a:lstStyle>
          <a:p>
            <a:pPr lvl="0"/>
            <a:r>
              <a:rPr lang="en-US" sz="4399" dirty="0"/>
              <a:t>Any Questions?</a:t>
            </a:r>
          </a:p>
        </p:txBody>
      </p:sp>
      <p:sp>
        <p:nvSpPr>
          <p:cNvPr id="11" name="Title">
            <a:extLst>
              <a:ext uri="{FF2B5EF4-FFF2-40B4-BE49-F238E27FC236}">
                <a16:creationId xmlns:a16="http://schemas.microsoft.com/office/drawing/2014/main" id="{5457E467-A7E0-DAFA-0DB8-7E27AFF90797}"/>
              </a:ext>
            </a:extLst>
          </p:cNvPr>
          <p:cNvSpPr>
            <a:spLocks noGrp="1"/>
          </p:cNvSpPr>
          <p:nvPr>
            <p:ph type="body" sz="quarter" idx="11" hasCustomPrompt="1"/>
          </p:nvPr>
        </p:nvSpPr>
        <p:spPr>
          <a:xfrm>
            <a:off x="817406" y="3008873"/>
            <a:ext cx="8629265" cy="387798"/>
          </a:xfrm>
        </p:spPr>
        <p:txBody>
          <a:bodyPr wrap="square" lIns="0" tIns="0" rIns="0" bIns="0" anchor="t">
            <a:noAutofit/>
          </a:bodyPr>
          <a:lstStyle>
            <a:lvl1pPr marL="0" indent="0">
              <a:spcAft>
                <a:spcPts val="1000"/>
              </a:spcAft>
              <a:buNone/>
              <a:defRPr lang="en-US" sz="3199" b="0" kern="1200" dirty="0" smtClean="0">
                <a:solidFill>
                  <a:schemeClr val="tx1"/>
                </a:solidFill>
                <a:latin typeface="+mj-lt"/>
                <a:ea typeface="+mj-ea"/>
                <a:cs typeface="+mj-cs"/>
              </a:defRPr>
            </a:lvl1pPr>
            <a:lvl2pPr marL="0" indent="0">
              <a:buNone/>
              <a:defRPr>
                <a:solidFill>
                  <a:schemeClr val="bg1"/>
                </a:solidFill>
              </a:defRPr>
            </a:lvl2pPr>
            <a:lvl3pPr marL="914126" indent="0">
              <a:buNone/>
              <a:defRPr/>
            </a:lvl3pPr>
          </a:lstStyle>
          <a:p>
            <a:pPr lvl="0"/>
            <a:r>
              <a:rPr lang="en-US"/>
              <a:t>Contact info, next steps, etc.</a:t>
            </a:r>
          </a:p>
        </p:txBody>
      </p:sp>
      <p:pic>
        <p:nvPicPr>
          <p:cNvPr id="3" name="Pretty parallelograms" descr="A black background with colorful lines and numbers&#10;&#10;Description automatically generated">
            <a:extLst>
              <a:ext uri="{FF2B5EF4-FFF2-40B4-BE49-F238E27FC236}">
                <a16:creationId xmlns:a16="http://schemas.microsoft.com/office/drawing/2014/main" id="{3E632D9B-21D4-66D1-42B1-A6BD68FE06A5}"/>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53170" t="43574"/>
          <a:stretch/>
        </p:blipFill>
        <p:spPr>
          <a:xfrm>
            <a:off x="6482499" y="2988496"/>
            <a:ext cx="5709502" cy="3869504"/>
          </a:xfrm>
          <a:prstGeom prst="rect">
            <a:avLst/>
          </a:prstGeom>
        </p:spPr>
      </p:pic>
      <p:grpSp>
        <p:nvGrpSpPr>
          <p:cNvPr id="6" name="Group 5">
            <a:extLst>
              <a:ext uri="{FF2B5EF4-FFF2-40B4-BE49-F238E27FC236}">
                <a16:creationId xmlns:a16="http://schemas.microsoft.com/office/drawing/2014/main" id="{E377895C-EE56-92C8-201C-B03510812F24}"/>
              </a:ext>
            </a:extLst>
          </p:cNvPr>
          <p:cNvGrpSpPr/>
          <p:nvPr userDrawn="1"/>
        </p:nvGrpSpPr>
        <p:grpSpPr>
          <a:xfrm>
            <a:off x="512500" y="270118"/>
            <a:ext cx="3095803" cy="790810"/>
            <a:chOff x="512366" y="270118"/>
            <a:chExt cx="3094997" cy="790810"/>
          </a:xfrm>
        </p:grpSpPr>
        <p:sp>
          <p:nvSpPr>
            <p:cNvPr id="7" name="Freeform: Shape 6">
              <a:extLst>
                <a:ext uri="{FF2B5EF4-FFF2-40B4-BE49-F238E27FC236}">
                  <a16:creationId xmlns:a16="http://schemas.microsoft.com/office/drawing/2014/main" id="{B0953411-BC05-052A-90CE-DEA7C812A468}"/>
                </a:ext>
              </a:extLst>
            </p:cNvPr>
            <p:cNvSpPr>
              <a:spLocks noChangeAspect="1"/>
            </p:cNvSpPr>
            <p:nvPr userDrawn="1"/>
          </p:nvSpPr>
          <p:spPr>
            <a:xfrm>
              <a:off x="575213" y="884995"/>
              <a:ext cx="2903661" cy="175933"/>
            </a:xfrm>
            <a:custGeom>
              <a:avLst/>
              <a:gdLst/>
              <a:ahLst/>
              <a:cxnLst/>
              <a:rect l="l" t="t" r="r" b="b"/>
              <a:pathLst>
                <a:path w="2994143" h="181417">
                  <a:moveTo>
                    <a:pt x="2592958" y="135555"/>
                  </a:moveTo>
                  <a:cubicBezTo>
                    <a:pt x="2588599" y="135555"/>
                    <a:pt x="2584799" y="136232"/>
                    <a:pt x="2581559" y="137587"/>
                  </a:cubicBezTo>
                  <a:cubicBezTo>
                    <a:pt x="2578319" y="138942"/>
                    <a:pt x="2575830" y="140945"/>
                    <a:pt x="2574092" y="143596"/>
                  </a:cubicBezTo>
                  <a:cubicBezTo>
                    <a:pt x="2572354" y="146247"/>
                    <a:pt x="2571485" y="149546"/>
                    <a:pt x="2571485" y="153493"/>
                  </a:cubicBezTo>
                  <a:cubicBezTo>
                    <a:pt x="2571485" y="158736"/>
                    <a:pt x="2573694" y="162728"/>
                    <a:pt x="2578112" y="165467"/>
                  </a:cubicBezTo>
                  <a:cubicBezTo>
                    <a:pt x="2582531" y="168206"/>
                    <a:pt x="2588834" y="169576"/>
                    <a:pt x="2597023" y="169576"/>
                  </a:cubicBezTo>
                  <a:cubicBezTo>
                    <a:pt x="2605035" y="169576"/>
                    <a:pt x="2611677" y="168766"/>
                    <a:pt x="2616950" y="167146"/>
                  </a:cubicBezTo>
                  <a:cubicBezTo>
                    <a:pt x="2622222" y="165526"/>
                    <a:pt x="2626169" y="163199"/>
                    <a:pt x="2628791" y="160165"/>
                  </a:cubicBezTo>
                  <a:cubicBezTo>
                    <a:pt x="2631412" y="157131"/>
                    <a:pt x="2632723" y="153523"/>
                    <a:pt x="2632723" y="149340"/>
                  </a:cubicBezTo>
                  <a:cubicBezTo>
                    <a:pt x="2632723" y="145452"/>
                    <a:pt x="2631839" y="142521"/>
                    <a:pt x="2630072" y="140548"/>
                  </a:cubicBezTo>
                  <a:cubicBezTo>
                    <a:pt x="2628305" y="138574"/>
                    <a:pt x="2625713" y="137249"/>
                    <a:pt x="2622296" y="136571"/>
                  </a:cubicBezTo>
                  <a:cubicBezTo>
                    <a:pt x="2618879" y="135894"/>
                    <a:pt x="2614696" y="135555"/>
                    <a:pt x="2609748" y="135555"/>
                  </a:cubicBezTo>
                  <a:close/>
                  <a:moveTo>
                    <a:pt x="1107058" y="135555"/>
                  </a:moveTo>
                  <a:cubicBezTo>
                    <a:pt x="1102699" y="135555"/>
                    <a:pt x="1098899" y="136232"/>
                    <a:pt x="1095659" y="137587"/>
                  </a:cubicBezTo>
                  <a:cubicBezTo>
                    <a:pt x="1092419" y="138942"/>
                    <a:pt x="1089930" y="140945"/>
                    <a:pt x="1088192" y="143596"/>
                  </a:cubicBezTo>
                  <a:cubicBezTo>
                    <a:pt x="1086454" y="146247"/>
                    <a:pt x="1085585" y="149546"/>
                    <a:pt x="1085585" y="153493"/>
                  </a:cubicBezTo>
                  <a:cubicBezTo>
                    <a:pt x="1085585" y="158736"/>
                    <a:pt x="1087794" y="162728"/>
                    <a:pt x="1092213" y="165467"/>
                  </a:cubicBezTo>
                  <a:cubicBezTo>
                    <a:pt x="1096631" y="168206"/>
                    <a:pt x="1102934" y="169576"/>
                    <a:pt x="1111123" y="169576"/>
                  </a:cubicBezTo>
                  <a:cubicBezTo>
                    <a:pt x="1119135" y="169576"/>
                    <a:pt x="1125777" y="168766"/>
                    <a:pt x="1131050" y="167146"/>
                  </a:cubicBezTo>
                  <a:cubicBezTo>
                    <a:pt x="1136322" y="165526"/>
                    <a:pt x="1140269" y="163199"/>
                    <a:pt x="1142891" y="160165"/>
                  </a:cubicBezTo>
                  <a:cubicBezTo>
                    <a:pt x="1145512" y="157131"/>
                    <a:pt x="1146823" y="153523"/>
                    <a:pt x="1146823" y="149340"/>
                  </a:cubicBezTo>
                  <a:cubicBezTo>
                    <a:pt x="1146823" y="145452"/>
                    <a:pt x="1145939" y="142521"/>
                    <a:pt x="1144172" y="140548"/>
                  </a:cubicBezTo>
                  <a:cubicBezTo>
                    <a:pt x="1142405" y="138574"/>
                    <a:pt x="1139813" y="137249"/>
                    <a:pt x="1136396" y="136571"/>
                  </a:cubicBezTo>
                  <a:cubicBezTo>
                    <a:pt x="1132979" y="135894"/>
                    <a:pt x="1128796" y="135555"/>
                    <a:pt x="1123848" y="135555"/>
                  </a:cubicBezTo>
                  <a:close/>
                  <a:moveTo>
                    <a:pt x="611758" y="135555"/>
                  </a:moveTo>
                  <a:cubicBezTo>
                    <a:pt x="607399" y="135555"/>
                    <a:pt x="603599" y="136232"/>
                    <a:pt x="600359" y="137587"/>
                  </a:cubicBezTo>
                  <a:cubicBezTo>
                    <a:pt x="597119" y="138942"/>
                    <a:pt x="594630" y="140945"/>
                    <a:pt x="592892" y="143596"/>
                  </a:cubicBezTo>
                  <a:cubicBezTo>
                    <a:pt x="591154" y="146247"/>
                    <a:pt x="590285" y="149546"/>
                    <a:pt x="590285" y="153493"/>
                  </a:cubicBezTo>
                  <a:cubicBezTo>
                    <a:pt x="590285" y="158736"/>
                    <a:pt x="592494" y="162728"/>
                    <a:pt x="596912" y="165467"/>
                  </a:cubicBezTo>
                  <a:cubicBezTo>
                    <a:pt x="601331" y="168206"/>
                    <a:pt x="607634" y="169576"/>
                    <a:pt x="615823" y="169576"/>
                  </a:cubicBezTo>
                  <a:cubicBezTo>
                    <a:pt x="623835" y="169576"/>
                    <a:pt x="630477" y="168766"/>
                    <a:pt x="635750" y="167146"/>
                  </a:cubicBezTo>
                  <a:cubicBezTo>
                    <a:pt x="641022" y="165526"/>
                    <a:pt x="644969" y="163199"/>
                    <a:pt x="647591" y="160165"/>
                  </a:cubicBezTo>
                  <a:cubicBezTo>
                    <a:pt x="650212" y="157131"/>
                    <a:pt x="651523" y="153523"/>
                    <a:pt x="651523" y="149340"/>
                  </a:cubicBezTo>
                  <a:cubicBezTo>
                    <a:pt x="651523" y="145452"/>
                    <a:pt x="650639" y="142521"/>
                    <a:pt x="648872" y="140548"/>
                  </a:cubicBezTo>
                  <a:cubicBezTo>
                    <a:pt x="647105" y="138574"/>
                    <a:pt x="644513" y="137249"/>
                    <a:pt x="641096" y="136571"/>
                  </a:cubicBezTo>
                  <a:cubicBezTo>
                    <a:pt x="637679" y="135894"/>
                    <a:pt x="633496" y="135555"/>
                    <a:pt x="628548" y="135555"/>
                  </a:cubicBezTo>
                  <a:close/>
                  <a:moveTo>
                    <a:pt x="367871" y="116998"/>
                  </a:moveTo>
                  <a:cubicBezTo>
                    <a:pt x="370875" y="116998"/>
                    <a:pt x="373408" y="117867"/>
                    <a:pt x="375470" y="119605"/>
                  </a:cubicBezTo>
                  <a:cubicBezTo>
                    <a:pt x="377532" y="121343"/>
                    <a:pt x="378563" y="124273"/>
                    <a:pt x="378563" y="128397"/>
                  </a:cubicBezTo>
                  <a:cubicBezTo>
                    <a:pt x="378563" y="132462"/>
                    <a:pt x="377532" y="135422"/>
                    <a:pt x="375470" y="137278"/>
                  </a:cubicBezTo>
                  <a:cubicBezTo>
                    <a:pt x="373408" y="139134"/>
                    <a:pt x="370875" y="140062"/>
                    <a:pt x="367871" y="140062"/>
                  </a:cubicBezTo>
                  <a:cubicBezTo>
                    <a:pt x="364984" y="140062"/>
                    <a:pt x="362539" y="139134"/>
                    <a:pt x="360536" y="137278"/>
                  </a:cubicBezTo>
                  <a:cubicBezTo>
                    <a:pt x="358533" y="135422"/>
                    <a:pt x="357532" y="132462"/>
                    <a:pt x="357532" y="128397"/>
                  </a:cubicBezTo>
                  <a:cubicBezTo>
                    <a:pt x="357532" y="124273"/>
                    <a:pt x="358533" y="121343"/>
                    <a:pt x="360536" y="119605"/>
                  </a:cubicBezTo>
                  <a:cubicBezTo>
                    <a:pt x="362539" y="117867"/>
                    <a:pt x="364984" y="116998"/>
                    <a:pt x="367871" y="116998"/>
                  </a:cubicBezTo>
                  <a:close/>
                  <a:moveTo>
                    <a:pt x="1792170" y="58146"/>
                  </a:moveTo>
                  <a:lnTo>
                    <a:pt x="1786337" y="88190"/>
                  </a:lnTo>
                  <a:lnTo>
                    <a:pt x="1813289" y="88190"/>
                  </a:lnTo>
                  <a:lnTo>
                    <a:pt x="1819122" y="58146"/>
                  </a:lnTo>
                  <a:close/>
                  <a:moveTo>
                    <a:pt x="2389435" y="51341"/>
                  </a:moveTo>
                  <a:cubicBezTo>
                    <a:pt x="2379362" y="51341"/>
                    <a:pt x="2371983" y="54670"/>
                    <a:pt x="2367300" y="61327"/>
                  </a:cubicBezTo>
                  <a:cubicBezTo>
                    <a:pt x="2362616" y="67984"/>
                    <a:pt x="2360274" y="77203"/>
                    <a:pt x="2360274" y="88986"/>
                  </a:cubicBezTo>
                  <a:cubicBezTo>
                    <a:pt x="2360274" y="96762"/>
                    <a:pt x="2361306" y="103507"/>
                    <a:pt x="2363367" y="109222"/>
                  </a:cubicBezTo>
                  <a:cubicBezTo>
                    <a:pt x="2365429" y="114936"/>
                    <a:pt x="2368611" y="119354"/>
                    <a:pt x="2372911" y="122477"/>
                  </a:cubicBezTo>
                  <a:cubicBezTo>
                    <a:pt x="2377212" y="125599"/>
                    <a:pt x="2382749" y="127160"/>
                    <a:pt x="2389524" y="127160"/>
                  </a:cubicBezTo>
                  <a:cubicBezTo>
                    <a:pt x="2396240" y="127160"/>
                    <a:pt x="2401763" y="125599"/>
                    <a:pt x="2406093" y="122477"/>
                  </a:cubicBezTo>
                  <a:cubicBezTo>
                    <a:pt x="2410423" y="119354"/>
                    <a:pt x="2413619" y="114936"/>
                    <a:pt x="2415680" y="109222"/>
                  </a:cubicBezTo>
                  <a:cubicBezTo>
                    <a:pt x="2417742" y="103507"/>
                    <a:pt x="2418773" y="96762"/>
                    <a:pt x="2418773" y="88986"/>
                  </a:cubicBezTo>
                  <a:cubicBezTo>
                    <a:pt x="2418773" y="81268"/>
                    <a:pt x="2417742" y="74597"/>
                    <a:pt x="2415680" y="68971"/>
                  </a:cubicBezTo>
                  <a:cubicBezTo>
                    <a:pt x="2413619" y="63344"/>
                    <a:pt x="2410437" y="59000"/>
                    <a:pt x="2406137" y="55936"/>
                  </a:cubicBezTo>
                  <a:cubicBezTo>
                    <a:pt x="2401836" y="52873"/>
                    <a:pt x="2396269" y="51341"/>
                    <a:pt x="2389435" y="51341"/>
                  </a:cubicBezTo>
                  <a:close/>
                  <a:moveTo>
                    <a:pt x="903536" y="51341"/>
                  </a:moveTo>
                  <a:cubicBezTo>
                    <a:pt x="893462" y="51341"/>
                    <a:pt x="886083" y="54670"/>
                    <a:pt x="881400" y="61327"/>
                  </a:cubicBezTo>
                  <a:cubicBezTo>
                    <a:pt x="876716" y="67984"/>
                    <a:pt x="874375" y="77203"/>
                    <a:pt x="874375" y="88986"/>
                  </a:cubicBezTo>
                  <a:cubicBezTo>
                    <a:pt x="874375" y="96762"/>
                    <a:pt x="875406" y="103507"/>
                    <a:pt x="877467" y="109222"/>
                  </a:cubicBezTo>
                  <a:cubicBezTo>
                    <a:pt x="879529" y="114936"/>
                    <a:pt x="882711" y="119354"/>
                    <a:pt x="887011" y="122477"/>
                  </a:cubicBezTo>
                  <a:cubicBezTo>
                    <a:pt x="891312" y="125599"/>
                    <a:pt x="896849" y="127160"/>
                    <a:pt x="903624" y="127160"/>
                  </a:cubicBezTo>
                  <a:cubicBezTo>
                    <a:pt x="910340" y="127160"/>
                    <a:pt x="915863" y="125599"/>
                    <a:pt x="920193" y="122477"/>
                  </a:cubicBezTo>
                  <a:cubicBezTo>
                    <a:pt x="924523" y="119354"/>
                    <a:pt x="927719" y="114936"/>
                    <a:pt x="929781" y="109222"/>
                  </a:cubicBezTo>
                  <a:cubicBezTo>
                    <a:pt x="931842" y="103507"/>
                    <a:pt x="932873" y="96762"/>
                    <a:pt x="932873" y="88986"/>
                  </a:cubicBezTo>
                  <a:cubicBezTo>
                    <a:pt x="932873" y="81268"/>
                    <a:pt x="931842" y="74597"/>
                    <a:pt x="929781" y="68971"/>
                  </a:cubicBezTo>
                  <a:cubicBezTo>
                    <a:pt x="927719" y="63344"/>
                    <a:pt x="924537" y="59000"/>
                    <a:pt x="920237" y="55936"/>
                  </a:cubicBezTo>
                  <a:cubicBezTo>
                    <a:pt x="915936" y="52873"/>
                    <a:pt x="910369" y="51341"/>
                    <a:pt x="903536" y="51341"/>
                  </a:cubicBezTo>
                  <a:close/>
                  <a:moveTo>
                    <a:pt x="446336" y="51341"/>
                  </a:moveTo>
                  <a:cubicBezTo>
                    <a:pt x="436262" y="51341"/>
                    <a:pt x="428883" y="54670"/>
                    <a:pt x="424200" y="61327"/>
                  </a:cubicBezTo>
                  <a:cubicBezTo>
                    <a:pt x="419516" y="67984"/>
                    <a:pt x="417175" y="77203"/>
                    <a:pt x="417175" y="88986"/>
                  </a:cubicBezTo>
                  <a:cubicBezTo>
                    <a:pt x="417175" y="96762"/>
                    <a:pt x="418206" y="103507"/>
                    <a:pt x="420267" y="109222"/>
                  </a:cubicBezTo>
                  <a:cubicBezTo>
                    <a:pt x="422329" y="114936"/>
                    <a:pt x="425511" y="119354"/>
                    <a:pt x="429811" y="122477"/>
                  </a:cubicBezTo>
                  <a:cubicBezTo>
                    <a:pt x="434111" y="125599"/>
                    <a:pt x="439649" y="127160"/>
                    <a:pt x="446424" y="127160"/>
                  </a:cubicBezTo>
                  <a:cubicBezTo>
                    <a:pt x="453140" y="127160"/>
                    <a:pt x="458663" y="125599"/>
                    <a:pt x="462993" y="122477"/>
                  </a:cubicBezTo>
                  <a:cubicBezTo>
                    <a:pt x="467323" y="119354"/>
                    <a:pt x="470519" y="114936"/>
                    <a:pt x="472580" y="109222"/>
                  </a:cubicBezTo>
                  <a:cubicBezTo>
                    <a:pt x="474642" y="103507"/>
                    <a:pt x="475673" y="96762"/>
                    <a:pt x="475673" y="88986"/>
                  </a:cubicBezTo>
                  <a:cubicBezTo>
                    <a:pt x="475673" y="81268"/>
                    <a:pt x="474642" y="74597"/>
                    <a:pt x="472580" y="68971"/>
                  </a:cubicBezTo>
                  <a:cubicBezTo>
                    <a:pt x="470519" y="63344"/>
                    <a:pt x="467337" y="59000"/>
                    <a:pt x="463037" y="55936"/>
                  </a:cubicBezTo>
                  <a:cubicBezTo>
                    <a:pt x="458736" y="52873"/>
                    <a:pt x="453169" y="51341"/>
                    <a:pt x="446336" y="51341"/>
                  </a:cubicBezTo>
                  <a:close/>
                  <a:moveTo>
                    <a:pt x="2778105" y="50988"/>
                  </a:moveTo>
                  <a:cubicBezTo>
                    <a:pt x="2770270" y="50988"/>
                    <a:pt x="2764025" y="53551"/>
                    <a:pt x="2759371" y="58676"/>
                  </a:cubicBezTo>
                  <a:cubicBezTo>
                    <a:pt x="2754717" y="63801"/>
                    <a:pt x="2751948" y="70959"/>
                    <a:pt x="2751065" y="80149"/>
                  </a:cubicBezTo>
                  <a:lnTo>
                    <a:pt x="2802317" y="80149"/>
                  </a:lnTo>
                  <a:cubicBezTo>
                    <a:pt x="2802258" y="74376"/>
                    <a:pt x="2801360" y="69295"/>
                    <a:pt x="2799622" y="64906"/>
                  </a:cubicBezTo>
                  <a:cubicBezTo>
                    <a:pt x="2797884" y="60517"/>
                    <a:pt x="2795248" y="57100"/>
                    <a:pt x="2791713" y="54655"/>
                  </a:cubicBezTo>
                  <a:cubicBezTo>
                    <a:pt x="2788179" y="52210"/>
                    <a:pt x="2783643" y="50988"/>
                    <a:pt x="2778105" y="50988"/>
                  </a:cubicBezTo>
                  <a:close/>
                  <a:moveTo>
                    <a:pt x="1292205" y="50988"/>
                  </a:moveTo>
                  <a:cubicBezTo>
                    <a:pt x="1284370" y="50988"/>
                    <a:pt x="1278125" y="53551"/>
                    <a:pt x="1273471" y="58676"/>
                  </a:cubicBezTo>
                  <a:cubicBezTo>
                    <a:pt x="1268817" y="63801"/>
                    <a:pt x="1266048" y="70959"/>
                    <a:pt x="1265165" y="80149"/>
                  </a:cubicBezTo>
                  <a:lnTo>
                    <a:pt x="1316417" y="80149"/>
                  </a:lnTo>
                  <a:cubicBezTo>
                    <a:pt x="1316358" y="74376"/>
                    <a:pt x="1315460" y="69295"/>
                    <a:pt x="1313722" y="64906"/>
                  </a:cubicBezTo>
                  <a:cubicBezTo>
                    <a:pt x="1311984" y="60517"/>
                    <a:pt x="1309348" y="57100"/>
                    <a:pt x="1305813" y="54655"/>
                  </a:cubicBezTo>
                  <a:cubicBezTo>
                    <a:pt x="1302279" y="52210"/>
                    <a:pt x="1297742" y="50988"/>
                    <a:pt x="1292205" y="50988"/>
                  </a:cubicBezTo>
                  <a:close/>
                  <a:moveTo>
                    <a:pt x="2600646" y="49662"/>
                  </a:moveTo>
                  <a:cubicBezTo>
                    <a:pt x="2593930" y="49662"/>
                    <a:pt x="2588761" y="51533"/>
                    <a:pt x="2585137" y="55274"/>
                  </a:cubicBezTo>
                  <a:cubicBezTo>
                    <a:pt x="2581514" y="59015"/>
                    <a:pt x="2579703" y="64479"/>
                    <a:pt x="2579703" y="71666"/>
                  </a:cubicBezTo>
                  <a:cubicBezTo>
                    <a:pt x="2579703" y="78264"/>
                    <a:pt x="2581529" y="83330"/>
                    <a:pt x="2585182" y="86865"/>
                  </a:cubicBezTo>
                  <a:cubicBezTo>
                    <a:pt x="2588834" y="90399"/>
                    <a:pt x="2594048" y="92167"/>
                    <a:pt x="2600823" y="92167"/>
                  </a:cubicBezTo>
                  <a:cubicBezTo>
                    <a:pt x="2607833" y="92167"/>
                    <a:pt x="2613106" y="90399"/>
                    <a:pt x="2616640" y="86865"/>
                  </a:cubicBezTo>
                  <a:cubicBezTo>
                    <a:pt x="2620175" y="83330"/>
                    <a:pt x="2621942" y="78175"/>
                    <a:pt x="2621942" y="71401"/>
                  </a:cubicBezTo>
                  <a:cubicBezTo>
                    <a:pt x="2621942" y="64155"/>
                    <a:pt x="2620146" y="58720"/>
                    <a:pt x="2616552" y="55097"/>
                  </a:cubicBezTo>
                  <a:cubicBezTo>
                    <a:pt x="2612958" y="51474"/>
                    <a:pt x="2607656" y="49662"/>
                    <a:pt x="2600646" y="49662"/>
                  </a:cubicBezTo>
                  <a:close/>
                  <a:moveTo>
                    <a:pt x="1114746" y="49662"/>
                  </a:moveTo>
                  <a:cubicBezTo>
                    <a:pt x="1108030" y="49662"/>
                    <a:pt x="1102861" y="51533"/>
                    <a:pt x="1099238" y="55274"/>
                  </a:cubicBezTo>
                  <a:cubicBezTo>
                    <a:pt x="1095615" y="59015"/>
                    <a:pt x="1093803" y="64479"/>
                    <a:pt x="1093803" y="71666"/>
                  </a:cubicBezTo>
                  <a:cubicBezTo>
                    <a:pt x="1093803" y="78264"/>
                    <a:pt x="1095629" y="83330"/>
                    <a:pt x="1099282" y="86865"/>
                  </a:cubicBezTo>
                  <a:cubicBezTo>
                    <a:pt x="1102934" y="90399"/>
                    <a:pt x="1108148" y="92167"/>
                    <a:pt x="1114923" y="92167"/>
                  </a:cubicBezTo>
                  <a:cubicBezTo>
                    <a:pt x="1121933" y="92167"/>
                    <a:pt x="1127206" y="90399"/>
                    <a:pt x="1130740" y="86865"/>
                  </a:cubicBezTo>
                  <a:cubicBezTo>
                    <a:pt x="1134275" y="83330"/>
                    <a:pt x="1136042" y="78175"/>
                    <a:pt x="1136042" y="71401"/>
                  </a:cubicBezTo>
                  <a:cubicBezTo>
                    <a:pt x="1136042" y="64155"/>
                    <a:pt x="1134246" y="58720"/>
                    <a:pt x="1130652" y="55097"/>
                  </a:cubicBezTo>
                  <a:cubicBezTo>
                    <a:pt x="1127058" y="51474"/>
                    <a:pt x="1121756" y="49662"/>
                    <a:pt x="1114746" y="49662"/>
                  </a:cubicBezTo>
                  <a:close/>
                  <a:moveTo>
                    <a:pt x="619446" y="49662"/>
                  </a:moveTo>
                  <a:cubicBezTo>
                    <a:pt x="612730" y="49662"/>
                    <a:pt x="607561" y="51533"/>
                    <a:pt x="603938" y="55274"/>
                  </a:cubicBezTo>
                  <a:cubicBezTo>
                    <a:pt x="600314" y="59015"/>
                    <a:pt x="598503" y="64479"/>
                    <a:pt x="598503" y="71666"/>
                  </a:cubicBezTo>
                  <a:cubicBezTo>
                    <a:pt x="598503" y="78264"/>
                    <a:pt x="600329" y="83330"/>
                    <a:pt x="603982" y="86865"/>
                  </a:cubicBezTo>
                  <a:cubicBezTo>
                    <a:pt x="607634" y="90399"/>
                    <a:pt x="612848" y="92167"/>
                    <a:pt x="619623" y="92167"/>
                  </a:cubicBezTo>
                  <a:cubicBezTo>
                    <a:pt x="626633" y="92167"/>
                    <a:pt x="631906" y="90399"/>
                    <a:pt x="635440" y="86865"/>
                  </a:cubicBezTo>
                  <a:cubicBezTo>
                    <a:pt x="638975" y="83330"/>
                    <a:pt x="640742" y="78175"/>
                    <a:pt x="640742" y="71401"/>
                  </a:cubicBezTo>
                  <a:cubicBezTo>
                    <a:pt x="640742" y="64155"/>
                    <a:pt x="638946" y="58720"/>
                    <a:pt x="635352" y="55097"/>
                  </a:cubicBezTo>
                  <a:cubicBezTo>
                    <a:pt x="631758" y="51474"/>
                    <a:pt x="626456" y="49662"/>
                    <a:pt x="619446" y="49662"/>
                  </a:cubicBezTo>
                  <a:close/>
                  <a:moveTo>
                    <a:pt x="2961359" y="38970"/>
                  </a:moveTo>
                  <a:cubicBezTo>
                    <a:pt x="2967191" y="38970"/>
                    <a:pt x="2972655" y="39544"/>
                    <a:pt x="2977751" y="40693"/>
                  </a:cubicBezTo>
                  <a:cubicBezTo>
                    <a:pt x="2982847" y="41842"/>
                    <a:pt x="2987604" y="43388"/>
                    <a:pt x="2992022" y="45332"/>
                  </a:cubicBezTo>
                  <a:lnTo>
                    <a:pt x="2987073" y="57085"/>
                  </a:lnTo>
                  <a:cubicBezTo>
                    <a:pt x="2983068" y="55377"/>
                    <a:pt x="2978797" y="53933"/>
                    <a:pt x="2974260" y="52755"/>
                  </a:cubicBezTo>
                  <a:cubicBezTo>
                    <a:pt x="2969724" y="51577"/>
                    <a:pt x="2965100" y="50988"/>
                    <a:pt x="2960387" y="50988"/>
                  </a:cubicBezTo>
                  <a:cubicBezTo>
                    <a:pt x="2953612" y="50988"/>
                    <a:pt x="2948413" y="52107"/>
                    <a:pt x="2944790" y="54346"/>
                  </a:cubicBezTo>
                  <a:cubicBezTo>
                    <a:pt x="2941167" y="56584"/>
                    <a:pt x="2939355" y="59648"/>
                    <a:pt x="2939355" y="63536"/>
                  </a:cubicBezTo>
                  <a:cubicBezTo>
                    <a:pt x="2939355" y="66540"/>
                    <a:pt x="2940195" y="69015"/>
                    <a:pt x="2941874" y="70959"/>
                  </a:cubicBezTo>
                  <a:cubicBezTo>
                    <a:pt x="2943553" y="72903"/>
                    <a:pt x="2946248" y="74729"/>
                    <a:pt x="2949959" y="76437"/>
                  </a:cubicBezTo>
                  <a:cubicBezTo>
                    <a:pt x="2953671" y="78146"/>
                    <a:pt x="2958561" y="80149"/>
                    <a:pt x="2964628" y="82446"/>
                  </a:cubicBezTo>
                  <a:cubicBezTo>
                    <a:pt x="2970696" y="84685"/>
                    <a:pt x="2975939" y="86997"/>
                    <a:pt x="2980358" y="89383"/>
                  </a:cubicBezTo>
                  <a:cubicBezTo>
                    <a:pt x="2984776" y="91769"/>
                    <a:pt x="2988178" y="94656"/>
                    <a:pt x="2990564" y="98043"/>
                  </a:cubicBezTo>
                  <a:cubicBezTo>
                    <a:pt x="2992950" y="101431"/>
                    <a:pt x="2994143" y="105775"/>
                    <a:pt x="2994143" y="111077"/>
                  </a:cubicBezTo>
                  <a:cubicBezTo>
                    <a:pt x="2994143" y="117263"/>
                    <a:pt x="2992596" y="122462"/>
                    <a:pt x="2989504" y="126674"/>
                  </a:cubicBezTo>
                  <a:cubicBezTo>
                    <a:pt x="2986411" y="130886"/>
                    <a:pt x="2981992" y="134053"/>
                    <a:pt x="2976248" y="136173"/>
                  </a:cubicBezTo>
                  <a:cubicBezTo>
                    <a:pt x="2970505" y="138294"/>
                    <a:pt x="2963656" y="139355"/>
                    <a:pt x="2955703" y="139355"/>
                  </a:cubicBezTo>
                  <a:cubicBezTo>
                    <a:pt x="2948929" y="139355"/>
                    <a:pt x="2943067" y="138824"/>
                    <a:pt x="2938118" y="137764"/>
                  </a:cubicBezTo>
                  <a:cubicBezTo>
                    <a:pt x="2933170" y="136704"/>
                    <a:pt x="2928840" y="135201"/>
                    <a:pt x="2925128" y="133257"/>
                  </a:cubicBezTo>
                  <a:lnTo>
                    <a:pt x="2925128" y="119737"/>
                  </a:lnTo>
                  <a:cubicBezTo>
                    <a:pt x="2929076" y="121681"/>
                    <a:pt x="2933788" y="123449"/>
                    <a:pt x="2939267" y="125039"/>
                  </a:cubicBezTo>
                  <a:cubicBezTo>
                    <a:pt x="2944746" y="126630"/>
                    <a:pt x="2950343" y="127425"/>
                    <a:pt x="2956057" y="127425"/>
                  </a:cubicBezTo>
                  <a:cubicBezTo>
                    <a:pt x="2964422" y="127425"/>
                    <a:pt x="2970490" y="126070"/>
                    <a:pt x="2974260" y="123360"/>
                  </a:cubicBezTo>
                  <a:cubicBezTo>
                    <a:pt x="2978031" y="120650"/>
                    <a:pt x="2979916" y="116968"/>
                    <a:pt x="2979916" y="112314"/>
                  </a:cubicBezTo>
                  <a:cubicBezTo>
                    <a:pt x="2979916" y="109663"/>
                    <a:pt x="2979165" y="107322"/>
                    <a:pt x="2977662" y="105289"/>
                  </a:cubicBezTo>
                  <a:cubicBezTo>
                    <a:pt x="2976160" y="103257"/>
                    <a:pt x="2973642" y="101283"/>
                    <a:pt x="2970107" y="99369"/>
                  </a:cubicBezTo>
                  <a:cubicBezTo>
                    <a:pt x="2966572" y="97454"/>
                    <a:pt x="2961683" y="95348"/>
                    <a:pt x="2955438" y="93050"/>
                  </a:cubicBezTo>
                  <a:cubicBezTo>
                    <a:pt x="2949252" y="90694"/>
                    <a:pt x="2943906" y="88352"/>
                    <a:pt x="2939400" y="86025"/>
                  </a:cubicBezTo>
                  <a:cubicBezTo>
                    <a:pt x="2934893" y="83698"/>
                    <a:pt x="2931417" y="80856"/>
                    <a:pt x="2928972" y="77498"/>
                  </a:cubicBezTo>
                  <a:cubicBezTo>
                    <a:pt x="2926528" y="74140"/>
                    <a:pt x="2925305" y="69781"/>
                    <a:pt x="2925305" y="64420"/>
                  </a:cubicBezTo>
                  <a:cubicBezTo>
                    <a:pt x="2925305" y="56231"/>
                    <a:pt x="2928619" y="49942"/>
                    <a:pt x="2935246" y="45553"/>
                  </a:cubicBezTo>
                  <a:cubicBezTo>
                    <a:pt x="2941874" y="41164"/>
                    <a:pt x="2950578" y="38970"/>
                    <a:pt x="2961359" y="38970"/>
                  </a:cubicBezTo>
                  <a:close/>
                  <a:moveTo>
                    <a:pt x="2875634" y="38970"/>
                  </a:moveTo>
                  <a:cubicBezTo>
                    <a:pt x="2881466" y="38970"/>
                    <a:pt x="2886930" y="39544"/>
                    <a:pt x="2892025" y="40693"/>
                  </a:cubicBezTo>
                  <a:cubicBezTo>
                    <a:pt x="2897121" y="41842"/>
                    <a:pt x="2901878" y="43388"/>
                    <a:pt x="2906297" y="45332"/>
                  </a:cubicBezTo>
                  <a:lnTo>
                    <a:pt x="2901348" y="57085"/>
                  </a:lnTo>
                  <a:cubicBezTo>
                    <a:pt x="2897342" y="55377"/>
                    <a:pt x="2893072" y="53933"/>
                    <a:pt x="2888535" y="52755"/>
                  </a:cubicBezTo>
                  <a:cubicBezTo>
                    <a:pt x="2883999" y="51577"/>
                    <a:pt x="2879375" y="50988"/>
                    <a:pt x="2874662" y="50988"/>
                  </a:cubicBezTo>
                  <a:cubicBezTo>
                    <a:pt x="2867887" y="50988"/>
                    <a:pt x="2862688" y="52107"/>
                    <a:pt x="2859065" y="54346"/>
                  </a:cubicBezTo>
                  <a:cubicBezTo>
                    <a:pt x="2855442" y="56584"/>
                    <a:pt x="2853630" y="59648"/>
                    <a:pt x="2853630" y="63536"/>
                  </a:cubicBezTo>
                  <a:cubicBezTo>
                    <a:pt x="2853630" y="66540"/>
                    <a:pt x="2854470" y="69015"/>
                    <a:pt x="2856149" y="70959"/>
                  </a:cubicBezTo>
                  <a:cubicBezTo>
                    <a:pt x="2857828" y="72903"/>
                    <a:pt x="2860523" y="74729"/>
                    <a:pt x="2864234" y="76437"/>
                  </a:cubicBezTo>
                  <a:cubicBezTo>
                    <a:pt x="2867946" y="78146"/>
                    <a:pt x="2872836" y="80149"/>
                    <a:pt x="2878903" y="82446"/>
                  </a:cubicBezTo>
                  <a:cubicBezTo>
                    <a:pt x="2884971" y="84685"/>
                    <a:pt x="2890214" y="86997"/>
                    <a:pt x="2894632" y="89383"/>
                  </a:cubicBezTo>
                  <a:cubicBezTo>
                    <a:pt x="2899051" y="91769"/>
                    <a:pt x="2902453" y="94656"/>
                    <a:pt x="2904839" y="98043"/>
                  </a:cubicBezTo>
                  <a:cubicBezTo>
                    <a:pt x="2907225" y="101431"/>
                    <a:pt x="2908417" y="105775"/>
                    <a:pt x="2908417" y="111077"/>
                  </a:cubicBezTo>
                  <a:cubicBezTo>
                    <a:pt x="2908417" y="117263"/>
                    <a:pt x="2906871" y="122462"/>
                    <a:pt x="2903778" y="126674"/>
                  </a:cubicBezTo>
                  <a:cubicBezTo>
                    <a:pt x="2900685" y="130886"/>
                    <a:pt x="2896267" y="134053"/>
                    <a:pt x="2890523" y="136173"/>
                  </a:cubicBezTo>
                  <a:cubicBezTo>
                    <a:pt x="2884779" y="138294"/>
                    <a:pt x="2877931" y="139355"/>
                    <a:pt x="2869978" y="139355"/>
                  </a:cubicBezTo>
                  <a:cubicBezTo>
                    <a:pt x="2863204" y="139355"/>
                    <a:pt x="2857342" y="138824"/>
                    <a:pt x="2852393" y="137764"/>
                  </a:cubicBezTo>
                  <a:cubicBezTo>
                    <a:pt x="2847445" y="136704"/>
                    <a:pt x="2843115" y="135201"/>
                    <a:pt x="2839403" y="133257"/>
                  </a:cubicBezTo>
                  <a:lnTo>
                    <a:pt x="2839403" y="119737"/>
                  </a:lnTo>
                  <a:cubicBezTo>
                    <a:pt x="2843350" y="121681"/>
                    <a:pt x="2848063" y="123449"/>
                    <a:pt x="2853542" y="125039"/>
                  </a:cubicBezTo>
                  <a:cubicBezTo>
                    <a:pt x="2859021" y="126630"/>
                    <a:pt x="2864618" y="127425"/>
                    <a:pt x="2870332" y="127425"/>
                  </a:cubicBezTo>
                  <a:cubicBezTo>
                    <a:pt x="2878697" y="127425"/>
                    <a:pt x="2884765" y="126070"/>
                    <a:pt x="2888535" y="123360"/>
                  </a:cubicBezTo>
                  <a:cubicBezTo>
                    <a:pt x="2892305" y="120650"/>
                    <a:pt x="2894190" y="116968"/>
                    <a:pt x="2894190" y="112314"/>
                  </a:cubicBezTo>
                  <a:cubicBezTo>
                    <a:pt x="2894190" y="109663"/>
                    <a:pt x="2893439" y="107322"/>
                    <a:pt x="2891937" y="105289"/>
                  </a:cubicBezTo>
                  <a:cubicBezTo>
                    <a:pt x="2890435" y="103257"/>
                    <a:pt x="2887916" y="101283"/>
                    <a:pt x="2884382" y="99369"/>
                  </a:cubicBezTo>
                  <a:cubicBezTo>
                    <a:pt x="2880847" y="97454"/>
                    <a:pt x="2875958" y="95348"/>
                    <a:pt x="2869713" y="93050"/>
                  </a:cubicBezTo>
                  <a:cubicBezTo>
                    <a:pt x="2863527" y="90694"/>
                    <a:pt x="2858181" y="88352"/>
                    <a:pt x="2853675" y="86025"/>
                  </a:cubicBezTo>
                  <a:cubicBezTo>
                    <a:pt x="2849168" y="83698"/>
                    <a:pt x="2845692" y="80856"/>
                    <a:pt x="2843247" y="77498"/>
                  </a:cubicBezTo>
                  <a:cubicBezTo>
                    <a:pt x="2840803" y="74140"/>
                    <a:pt x="2839580" y="69781"/>
                    <a:pt x="2839580" y="64420"/>
                  </a:cubicBezTo>
                  <a:cubicBezTo>
                    <a:pt x="2839580" y="56231"/>
                    <a:pt x="2842894" y="49942"/>
                    <a:pt x="2849521" y="45553"/>
                  </a:cubicBezTo>
                  <a:cubicBezTo>
                    <a:pt x="2856149" y="41164"/>
                    <a:pt x="2864853" y="38970"/>
                    <a:pt x="2875634" y="38970"/>
                  </a:cubicBezTo>
                  <a:close/>
                  <a:moveTo>
                    <a:pt x="2778282" y="38970"/>
                  </a:moveTo>
                  <a:cubicBezTo>
                    <a:pt x="2786529" y="38970"/>
                    <a:pt x="2793598" y="40796"/>
                    <a:pt x="2799490" y="44449"/>
                  </a:cubicBezTo>
                  <a:cubicBezTo>
                    <a:pt x="2805381" y="48101"/>
                    <a:pt x="2809887" y="53212"/>
                    <a:pt x="2813010" y="59780"/>
                  </a:cubicBezTo>
                  <a:cubicBezTo>
                    <a:pt x="2816132" y="66349"/>
                    <a:pt x="2817693" y="74022"/>
                    <a:pt x="2817693" y="82800"/>
                  </a:cubicBezTo>
                  <a:lnTo>
                    <a:pt x="2817693" y="91902"/>
                  </a:lnTo>
                  <a:lnTo>
                    <a:pt x="2750799" y="91902"/>
                  </a:lnTo>
                  <a:cubicBezTo>
                    <a:pt x="2750976" y="103272"/>
                    <a:pt x="2753804" y="111931"/>
                    <a:pt x="2759283" y="117881"/>
                  </a:cubicBezTo>
                  <a:cubicBezTo>
                    <a:pt x="2764761" y="123831"/>
                    <a:pt x="2772479" y="126807"/>
                    <a:pt x="2782435" y="126807"/>
                  </a:cubicBezTo>
                  <a:cubicBezTo>
                    <a:pt x="2788561" y="126807"/>
                    <a:pt x="2793981" y="126247"/>
                    <a:pt x="2798694" y="125128"/>
                  </a:cubicBezTo>
                  <a:cubicBezTo>
                    <a:pt x="2803407" y="124008"/>
                    <a:pt x="2808297" y="122359"/>
                    <a:pt x="2813363" y="120179"/>
                  </a:cubicBezTo>
                  <a:lnTo>
                    <a:pt x="2813363" y="133081"/>
                  </a:lnTo>
                  <a:cubicBezTo>
                    <a:pt x="2808474" y="135260"/>
                    <a:pt x="2803628" y="136851"/>
                    <a:pt x="2798827" y="137852"/>
                  </a:cubicBezTo>
                  <a:cubicBezTo>
                    <a:pt x="2794026" y="138854"/>
                    <a:pt x="2788355" y="139355"/>
                    <a:pt x="2781816" y="139355"/>
                  </a:cubicBezTo>
                  <a:cubicBezTo>
                    <a:pt x="2772508" y="139355"/>
                    <a:pt x="2764393" y="137455"/>
                    <a:pt x="2757471" y="133655"/>
                  </a:cubicBezTo>
                  <a:cubicBezTo>
                    <a:pt x="2750549" y="129855"/>
                    <a:pt x="2745173" y="124273"/>
                    <a:pt x="2741344" y="116909"/>
                  </a:cubicBezTo>
                  <a:cubicBezTo>
                    <a:pt x="2737515" y="109546"/>
                    <a:pt x="2735600" y="100532"/>
                    <a:pt x="2735600" y="89869"/>
                  </a:cubicBezTo>
                  <a:cubicBezTo>
                    <a:pt x="2735600" y="79442"/>
                    <a:pt x="2737353" y="70414"/>
                    <a:pt x="2740858" y="62785"/>
                  </a:cubicBezTo>
                  <a:cubicBezTo>
                    <a:pt x="2744364" y="55156"/>
                    <a:pt x="2749312" y="49279"/>
                    <a:pt x="2755704" y="45156"/>
                  </a:cubicBezTo>
                  <a:cubicBezTo>
                    <a:pt x="2762096" y="41032"/>
                    <a:pt x="2769622" y="38970"/>
                    <a:pt x="2778282" y="38970"/>
                  </a:cubicBezTo>
                  <a:close/>
                  <a:moveTo>
                    <a:pt x="2708797" y="38970"/>
                  </a:moveTo>
                  <a:cubicBezTo>
                    <a:pt x="2710741" y="38970"/>
                    <a:pt x="2712774" y="39073"/>
                    <a:pt x="2714895" y="39279"/>
                  </a:cubicBezTo>
                  <a:cubicBezTo>
                    <a:pt x="2717015" y="39485"/>
                    <a:pt x="2718901" y="39765"/>
                    <a:pt x="2720550" y="40119"/>
                  </a:cubicBezTo>
                  <a:lnTo>
                    <a:pt x="2718694" y="53727"/>
                  </a:lnTo>
                  <a:cubicBezTo>
                    <a:pt x="2717104" y="53315"/>
                    <a:pt x="2715337" y="52991"/>
                    <a:pt x="2713392" y="52755"/>
                  </a:cubicBezTo>
                  <a:cubicBezTo>
                    <a:pt x="2711448" y="52520"/>
                    <a:pt x="2709622" y="52402"/>
                    <a:pt x="2707914" y="52402"/>
                  </a:cubicBezTo>
                  <a:cubicBezTo>
                    <a:pt x="2704026" y="52402"/>
                    <a:pt x="2700358" y="53182"/>
                    <a:pt x="2696912" y="54743"/>
                  </a:cubicBezTo>
                  <a:cubicBezTo>
                    <a:pt x="2693466" y="56305"/>
                    <a:pt x="2690447" y="58543"/>
                    <a:pt x="2687854" y="61459"/>
                  </a:cubicBezTo>
                  <a:cubicBezTo>
                    <a:pt x="2685262" y="64375"/>
                    <a:pt x="2683230" y="67881"/>
                    <a:pt x="2681757" y="71975"/>
                  </a:cubicBezTo>
                  <a:cubicBezTo>
                    <a:pt x="2680285" y="76069"/>
                    <a:pt x="2679548" y="80620"/>
                    <a:pt x="2679548" y="85628"/>
                  </a:cubicBezTo>
                  <a:lnTo>
                    <a:pt x="2679548" y="137587"/>
                  </a:lnTo>
                  <a:lnTo>
                    <a:pt x="2664791" y="137587"/>
                  </a:lnTo>
                  <a:lnTo>
                    <a:pt x="2664791" y="40737"/>
                  </a:lnTo>
                  <a:lnTo>
                    <a:pt x="2676985" y="40737"/>
                  </a:lnTo>
                  <a:lnTo>
                    <a:pt x="2678576" y="58587"/>
                  </a:lnTo>
                  <a:lnTo>
                    <a:pt x="2679195" y="58587"/>
                  </a:lnTo>
                  <a:cubicBezTo>
                    <a:pt x="2681197" y="54994"/>
                    <a:pt x="2683613" y="51710"/>
                    <a:pt x="2686441" y="48735"/>
                  </a:cubicBezTo>
                  <a:cubicBezTo>
                    <a:pt x="2689268" y="45760"/>
                    <a:pt x="2692552" y="43388"/>
                    <a:pt x="2696293" y="41621"/>
                  </a:cubicBezTo>
                  <a:cubicBezTo>
                    <a:pt x="2700035" y="39854"/>
                    <a:pt x="2704202" y="38970"/>
                    <a:pt x="2708797" y="38970"/>
                  </a:cubicBezTo>
                  <a:close/>
                  <a:moveTo>
                    <a:pt x="2501103" y="38970"/>
                  </a:moveTo>
                  <a:cubicBezTo>
                    <a:pt x="2512591" y="38970"/>
                    <a:pt x="2521280" y="41783"/>
                    <a:pt x="2527171" y="47409"/>
                  </a:cubicBezTo>
                  <a:cubicBezTo>
                    <a:pt x="2533062" y="53035"/>
                    <a:pt x="2536008" y="62063"/>
                    <a:pt x="2536008" y="74493"/>
                  </a:cubicBezTo>
                  <a:lnTo>
                    <a:pt x="2536008" y="137587"/>
                  </a:lnTo>
                  <a:lnTo>
                    <a:pt x="2521516" y="137587"/>
                  </a:lnTo>
                  <a:lnTo>
                    <a:pt x="2521516" y="75465"/>
                  </a:lnTo>
                  <a:cubicBezTo>
                    <a:pt x="2521516" y="67395"/>
                    <a:pt x="2519675" y="61356"/>
                    <a:pt x="2515993" y="57350"/>
                  </a:cubicBezTo>
                  <a:cubicBezTo>
                    <a:pt x="2512311" y="53344"/>
                    <a:pt x="2506670" y="51341"/>
                    <a:pt x="2499071" y="51341"/>
                  </a:cubicBezTo>
                  <a:cubicBezTo>
                    <a:pt x="2488349" y="51341"/>
                    <a:pt x="2480808" y="54375"/>
                    <a:pt x="2476449" y="60443"/>
                  </a:cubicBezTo>
                  <a:cubicBezTo>
                    <a:pt x="2472089" y="66511"/>
                    <a:pt x="2469910" y="75318"/>
                    <a:pt x="2469910" y="86865"/>
                  </a:cubicBezTo>
                  <a:lnTo>
                    <a:pt x="2469910" y="137587"/>
                  </a:lnTo>
                  <a:lnTo>
                    <a:pt x="2455241" y="137587"/>
                  </a:lnTo>
                  <a:lnTo>
                    <a:pt x="2455241" y="40737"/>
                  </a:lnTo>
                  <a:lnTo>
                    <a:pt x="2467082" y="40737"/>
                  </a:lnTo>
                  <a:lnTo>
                    <a:pt x="2469291" y="54699"/>
                  </a:lnTo>
                  <a:lnTo>
                    <a:pt x="2470086" y="54699"/>
                  </a:lnTo>
                  <a:cubicBezTo>
                    <a:pt x="2472148" y="51282"/>
                    <a:pt x="2474770" y="48411"/>
                    <a:pt x="2477951" y="46084"/>
                  </a:cubicBezTo>
                  <a:cubicBezTo>
                    <a:pt x="2481132" y="43757"/>
                    <a:pt x="2484696" y="41989"/>
                    <a:pt x="2488643" y="40782"/>
                  </a:cubicBezTo>
                  <a:cubicBezTo>
                    <a:pt x="2492591" y="39574"/>
                    <a:pt x="2496744" y="38970"/>
                    <a:pt x="2501103" y="38970"/>
                  </a:cubicBezTo>
                  <a:close/>
                  <a:moveTo>
                    <a:pt x="2389789" y="38970"/>
                  </a:moveTo>
                  <a:cubicBezTo>
                    <a:pt x="2398626" y="38970"/>
                    <a:pt x="2406358" y="40944"/>
                    <a:pt x="2412985" y="44891"/>
                  </a:cubicBezTo>
                  <a:cubicBezTo>
                    <a:pt x="2419613" y="48838"/>
                    <a:pt x="2424768" y="54537"/>
                    <a:pt x="2428449" y="61990"/>
                  </a:cubicBezTo>
                  <a:cubicBezTo>
                    <a:pt x="2432131" y="69442"/>
                    <a:pt x="2433972" y="78440"/>
                    <a:pt x="2433972" y="88986"/>
                  </a:cubicBezTo>
                  <a:cubicBezTo>
                    <a:pt x="2433972" y="96939"/>
                    <a:pt x="2432942" y="104037"/>
                    <a:pt x="2430879" y="110282"/>
                  </a:cubicBezTo>
                  <a:cubicBezTo>
                    <a:pt x="2428817" y="116527"/>
                    <a:pt x="2425843" y="121799"/>
                    <a:pt x="2421954" y="126100"/>
                  </a:cubicBezTo>
                  <a:cubicBezTo>
                    <a:pt x="2418066" y="130400"/>
                    <a:pt x="2413368" y="133684"/>
                    <a:pt x="2407860" y="135952"/>
                  </a:cubicBezTo>
                  <a:cubicBezTo>
                    <a:pt x="2402352" y="138221"/>
                    <a:pt x="2396122" y="139355"/>
                    <a:pt x="2389170" y="139355"/>
                  </a:cubicBezTo>
                  <a:cubicBezTo>
                    <a:pt x="2382690" y="139355"/>
                    <a:pt x="2376755" y="138221"/>
                    <a:pt x="2371364" y="135952"/>
                  </a:cubicBezTo>
                  <a:cubicBezTo>
                    <a:pt x="2365974" y="133684"/>
                    <a:pt x="2361320" y="130400"/>
                    <a:pt x="2357403" y="126100"/>
                  </a:cubicBezTo>
                  <a:cubicBezTo>
                    <a:pt x="2353485" y="121799"/>
                    <a:pt x="2350451" y="116527"/>
                    <a:pt x="2348301" y="110282"/>
                  </a:cubicBezTo>
                  <a:cubicBezTo>
                    <a:pt x="2346151" y="104037"/>
                    <a:pt x="2345075" y="96939"/>
                    <a:pt x="2345075" y="88986"/>
                  </a:cubicBezTo>
                  <a:cubicBezTo>
                    <a:pt x="2345075" y="78382"/>
                    <a:pt x="2346872" y="69353"/>
                    <a:pt x="2350466" y="61901"/>
                  </a:cubicBezTo>
                  <a:cubicBezTo>
                    <a:pt x="2354059" y="54449"/>
                    <a:pt x="2359200" y="48764"/>
                    <a:pt x="2365886" y="44846"/>
                  </a:cubicBezTo>
                  <a:cubicBezTo>
                    <a:pt x="2372572" y="40929"/>
                    <a:pt x="2380540" y="38970"/>
                    <a:pt x="2389789" y="38970"/>
                  </a:cubicBezTo>
                  <a:close/>
                  <a:moveTo>
                    <a:pt x="1475459" y="38970"/>
                  </a:moveTo>
                  <a:cubicBezTo>
                    <a:pt x="1481291" y="38970"/>
                    <a:pt x="1486755" y="39544"/>
                    <a:pt x="1491851" y="40693"/>
                  </a:cubicBezTo>
                  <a:cubicBezTo>
                    <a:pt x="1496947" y="41842"/>
                    <a:pt x="1501704" y="43388"/>
                    <a:pt x="1506122" y="45332"/>
                  </a:cubicBezTo>
                  <a:lnTo>
                    <a:pt x="1501173" y="57085"/>
                  </a:lnTo>
                  <a:cubicBezTo>
                    <a:pt x="1497167" y="55377"/>
                    <a:pt x="1492897" y="53933"/>
                    <a:pt x="1488360" y="52755"/>
                  </a:cubicBezTo>
                  <a:cubicBezTo>
                    <a:pt x="1483824" y="51577"/>
                    <a:pt x="1479200" y="50988"/>
                    <a:pt x="1474487" y="50988"/>
                  </a:cubicBezTo>
                  <a:cubicBezTo>
                    <a:pt x="1467712" y="50988"/>
                    <a:pt x="1462513" y="52107"/>
                    <a:pt x="1458890" y="54346"/>
                  </a:cubicBezTo>
                  <a:cubicBezTo>
                    <a:pt x="1455267" y="56584"/>
                    <a:pt x="1453455" y="59648"/>
                    <a:pt x="1453455" y="63536"/>
                  </a:cubicBezTo>
                  <a:cubicBezTo>
                    <a:pt x="1453455" y="66540"/>
                    <a:pt x="1454295" y="69015"/>
                    <a:pt x="1455974" y="70959"/>
                  </a:cubicBezTo>
                  <a:cubicBezTo>
                    <a:pt x="1457653" y="72903"/>
                    <a:pt x="1460348" y="74729"/>
                    <a:pt x="1464059" y="76437"/>
                  </a:cubicBezTo>
                  <a:cubicBezTo>
                    <a:pt x="1467771" y="78146"/>
                    <a:pt x="1472661" y="80149"/>
                    <a:pt x="1478728" y="82446"/>
                  </a:cubicBezTo>
                  <a:cubicBezTo>
                    <a:pt x="1484796" y="84685"/>
                    <a:pt x="1490039" y="86997"/>
                    <a:pt x="1494458" y="89383"/>
                  </a:cubicBezTo>
                  <a:cubicBezTo>
                    <a:pt x="1498876" y="91769"/>
                    <a:pt x="1502278" y="94656"/>
                    <a:pt x="1504664" y="98043"/>
                  </a:cubicBezTo>
                  <a:cubicBezTo>
                    <a:pt x="1507050" y="101431"/>
                    <a:pt x="1508243" y="105775"/>
                    <a:pt x="1508243" y="111077"/>
                  </a:cubicBezTo>
                  <a:cubicBezTo>
                    <a:pt x="1508243" y="117263"/>
                    <a:pt x="1506696" y="122462"/>
                    <a:pt x="1503604" y="126674"/>
                  </a:cubicBezTo>
                  <a:cubicBezTo>
                    <a:pt x="1500511" y="130886"/>
                    <a:pt x="1496092" y="134053"/>
                    <a:pt x="1490349" y="136173"/>
                  </a:cubicBezTo>
                  <a:cubicBezTo>
                    <a:pt x="1484605" y="138294"/>
                    <a:pt x="1477756" y="139355"/>
                    <a:pt x="1469803" y="139355"/>
                  </a:cubicBezTo>
                  <a:cubicBezTo>
                    <a:pt x="1463029" y="139355"/>
                    <a:pt x="1457167" y="138824"/>
                    <a:pt x="1452218" y="137764"/>
                  </a:cubicBezTo>
                  <a:cubicBezTo>
                    <a:pt x="1447270" y="136704"/>
                    <a:pt x="1442940" y="135201"/>
                    <a:pt x="1439228" y="133257"/>
                  </a:cubicBezTo>
                  <a:lnTo>
                    <a:pt x="1439228" y="119737"/>
                  </a:lnTo>
                  <a:cubicBezTo>
                    <a:pt x="1443175" y="121681"/>
                    <a:pt x="1447888" y="123449"/>
                    <a:pt x="1453367" y="125039"/>
                  </a:cubicBezTo>
                  <a:cubicBezTo>
                    <a:pt x="1458846" y="126630"/>
                    <a:pt x="1464442" y="127425"/>
                    <a:pt x="1470157" y="127425"/>
                  </a:cubicBezTo>
                  <a:cubicBezTo>
                    <a:pt x="1478522" y="127425"/>
                    <a:pt x="1484590" y="126070"/>
                    <a:pt x="1488360" y="123360"/>
                  </a:cubicBezTo>
                  <a:cubicBezTo>
                    <a:pt x="1492131" y="120650"/>
                    <a:pt x="1494016" y="116968"/>
                    <a:pt x="1494016" y="112314"/>
                  </a:cubicBezTo>
                  <a:cubicBezTo>
                    <a:pt x="1494016" y="109663"/>
                    <a:pt x="1493265" y="107322"/>
                    <a:pt x="1491762" y="105289"/>
                  </a:cubicBezTo>
                  <a:cubicBezTo>
                    <a:pt x="1490260" y="103257"/>
                    <a:pt x="1487742" y="101283"/>
                    <a:pt x="1484207" y="99369"/>
                  </a:cubicBezTo>
                  <a:cubicBezTo>
                    <a:pt x="1480672" y="97454"/>
                    <a:pt x="1475783" y="95348"/>
                    <a:pt x="1469538" y="93050"/>
                  </a:cubicBezTo>
                  <a:cubicBezTo>
                    <a:pt x="1463353" y="90694"/>
                    <a:pt x="1458006" y="88352"/>
                    <a:pt x="1453500" y="86025"/>
                  </a:cubicBezTo>
                  <a:cubicBezTo>
                    <a:pt x="1448993" y="83698"/>
                    <a:pt x="1445517" y="80856"/>
                    <a:pt x="1443072" y="77498"/>
                  </a:cubicBezTo>
                  <a:cubicBezTo>
                    <a:pt x="1440628" y="74140"/>
                    <a:pt x="1439405" y="69781"/>
                    <a:pt x="1439405" y="64420"/>
                  </a:cubicBezTo>
                  <a:cubicBezTo>
                    <a:pt x="1439405" y="56231"/>
                    <a:pt x="1442719" y="49942"/>
                    <a:pt x="1449346" y="45553"/>
                  </a:cubicBezTo>
                  <a:cubicBezTo>
                    <a:pt x="1455974" y="41164"/>
                    <a:pt x="1464678" y="38970"/>
                    <a:pt x="1475459" y="38970"/>
                  </a:cubicBezTo>
                  <a:close/>
                  <a:moveTo>
                    <a:pt x="1389734" y="38970"/>
                  </a:moveTo>
                  <a:cubicBezTo>
                    <a:pt x="1395566" y="38970"/>
                    <a:pt x="1401030" y="39544"/>
                    <a:pt x="1406126" y="40693"/>
                  </a:cubicBezTo>
                  <a:cubicBezTo>
                    <a:pt x="1411222" y="41842"/>
                    <a:pt x="1415979" y="43388"/>
                    <a:pt x="1420397" y="45332"/>
                  </a:cubicBezTo>
                  <a:lnTo>
                    <a:pt x="1415448" y="57085"/>
                  </a:lnTo>
                  <a:cubicBezTo>
                    <a:pt x="1411442" y="55377"/>
                    <a:pt x="1407172" y="53933"/>
                    <a:pt x="1402635" y="52755"/>
                  </a:cubicBezTo>
                  <a:cubicBezTo>
                    <a:pt x="1398099" y="51577"/>
                    <a:pt x="1393475" y="50988"/>
                    <a:pt x="1388762" y="50988"/>
                  </a:cubicBezTo>
                  <a:cubicBezTo>
                    <a:pt x="1381987" y="50988"/>
                    <a:pt x="1376788" y="52107"/>
                    <a:pt x="1373165" y="54346"/>
                  </a:cubicBezTo>
                  <a:cubicBezTo>
                    <a:pt x="1369542" y="56584"/>
                    <a:pt x="1367730" y="59648"/>
                    <a:pt x="1367730" y="63536"/>
                  </a:cubicBezTo>
                  <a:cubicBezTo>
                    <a:pt x="1367730" y="66540"/>
                    <a:pt x="1368570" y="69015"/>
                    <a:pt x="1370249" y="70959"/>
                  </a:cubicBezTo>
                  <a:cubicBezTo>
                    <a:pt x="1371928" y="72903"/>
                    <a:pt x="1374623" y="74729"/>
                    <a:pt x="1378334" y="76437"/>
                  </a:cubicBezTo>
                  <a:cubicBezTo>
                    <a:pt x="1382046" y="78146"/>
                    <a:pt x="1386936" y="80149"/>
                    <a:pt x="1393003" y="82446"/>
                  </a:cubicBezTo>
                  <a:cubicBezTo>
                    <a:pt x="1399071" y="84685"/>
                    <a:pt x="1404314" y="86997"/>
                    <a:pt x="1408733" y="89383"/>
                  </a:cubicBezTo>
                  <a:cubicBezTo>
                    <a:pt x="1413151" y="91769"/>
                    <a:pt x="1416553" y="94656"/>
                    <a:pt x="1418939" y="98043"/>
                  </a:cubicBezTo>
                  <a:cubicBezTo>
                    <a:pt x="1421325" y="101431"/>
                    <a:pt x="1422518" y="105775"/>
                    <a:pt x="1422518" y="111077"/>
                  </a:cubicBezTo>
                  <a:cubicBezTo>
                    <a:pt x="1422518" y="117263"/>
                    <a:pt x="1420971" y="122462"/>
                    <a:pt x="1417879" y="126674"/>
                  </a:cubicBezTo>
                  <a:cubicBezTo>
                    <a:pt x="1414786" y="130886"/>
                    <a:pt x="1410367" y="134053"/>
                    <a:pt x="1404624" y="136173"/>
                  </a:cubicBezTo>
                  <a:cubicBezTo>
                    <a:pt x="1398880" y="138294"/>
                    <a:pt x="1392031" y="139355"/>
                    <a:pt x="1384078" y="139355"/>
                  </a:cubicBezTo>
                  <a:cubicBezTo>
                    <a:pt x="1377303" y="139355"/>
                    <a:pt x="1371442" y="138824"/>
                    <a:pt x="1366493" y="137764"/>
                  </a:cubicBezTo>
                  <a:cubicBezTo>
                    <a:pt x="1361545" y="136704"/>
                    <a:pt x="1357215" y="135201"/>
                    <a:pt x="1353503" y="133257"/>
                  </a:cubicBezTo>
                  <a:lnTo>
                    <a:pt x="1353503" y="119737"/>
                  </a:lnTo>
                  <a:cubicBezTo>
                    <a:pt x="1357450" y="121681"/>
                    <a:pt x="1362163" y="123449"/>
                    <a:pt x="1367642" y="125039"/>
                  </a:cubicBezTo>
                  <a:cubicBezTo>
                    <a:pt x="1373121" y="126630"/>
                    <a:pt x="1378717" y="127425"/>
                    <a:pt x="1384432" y="127425"/>
                  </a:cubicBezTo>
                  <a:cubicBezTo>
                    <a:pt x="1392797" y="127425"/>
                    <a:pt x="1398865" y="126070"/>
                    <a:pt x="1402635" y="123360"/>
                  </a:cubicBezTo>
                  <a:cubicBezTo>
                    <a:pt x="1406406" y="120650"/>
                    <a:pt x="1408291" y="116968"/>
                    <a:pt x="1408291" y="112314"/>
                  </a:cubicBezTo>
                  <a:cubicBezTo>
                    <a:pt x="1408291" y="109663"/>
                    <a:pt x="1407540" y="107322"/>
                    <a:pt x="1406037" y="105289"/>
                  </a:cubicBezTo>
                  <a:cubicBezTo>
                    <a:pt x="1404535" y="103257"/>
                    <a:pt x="1402017" y="101283"/>
                    <a:pt x="1398482" y="99369"/>
                  </a:cubicBezTo>
                  <a:cubicBezTo>
                    <a:pt x="1394947" y="97454"/>
                    <a:pt x="1390058" y="95348"/>
                    <a:pt x="1383813" y="93050"/>
                  </a:cubicBezTo>
                  <a:cubicBezTo>
                    <a:pt x="1377628" y="90694"/>
                    <a:pt x="1372281" y="88352"/>
                    <a:pt x="1367775" y="86025"/>
                  </a:cubicBezTo>
                  <a:cubicBezTo>
                    <a:pt x="1363268" y="83698"/>
                    <a:pt x="1359792" y="80856"/>
                    <a:pt x="1357347" y="77498"/>
                  </a:cubicBezTo>
                  <a:cubicBezTo>
                    <a:pt x="1354902" y="74140"/>
                    <a:pt x="1353680" y="69781"/>
                    <a:pt x="1353680" y="64420"/>
                  </a:cubicBezTo>
                  <a:cubicBezTo>
                    <a:pt x="1353680" y="56231"/>
                    <a:pt x="1356994" y="49942"/>
                    <a:pt x="1363621" y="45553"/>
                  </a:cubicBezTo>
                  <a:cubicBezTo>
                    <a:pt x="1370249" y="41164"/>
                    <a:pt x="1378953" y="38970"/>
                    <a:pt x="1389734" y="38970"/>
                  </a:cubicBezTo>
                  <a:close/>
                  <a:moveTo>
                    <a:pt x="1292382" y="38970"/>
                  </a:moveTo>
                  <a:cubicBezTo>
                    <a:pt x="1300629" y="38970"/>
                    <a:pt x="1307699" y="40796"/>
                    <a:pt x="1313590" y="44449"/>
                  </a:cubicBezTo>
                  <a:cubicBezTo>
                    <a:pt x="1319481" y="48101"/>
                    <a:pt x="1323987" y="53212"/>
                    <a:pt x="1327110" y="59780"/>
                  </a:cubicBezTo>
                  <a:cubicBezTo>
                    <a:pt x="1330232" y="66349"/>
                    <a:pt x="1331793" y="74022"/>
                    <a:pt x="1331793" y="82800"/>
                  </a:cubicBezTo>
                  <a:lnTo>
                    <a:pt x="1331793" y="91902"/>
                  </a:lnTo>
                  <a:lnTo>
                    <a:pt x="1264900" y="91902"/>
                  </a:lnTo>
                  <a:cubicBezTo>
                    <a:pt x="1265076" y="103272"/>
                    <a:pt x="1267904" y="111931"/>
                    <a:pt x="1273383" y="117881"/>
                  </a:cubicBezTo>
                  <a:cubicBezTo>
                    <a:pt x="1278861" y="123831"/>
                    <a:pt x="1286579" y="126807"/>
                    <a:pt x="1296535" y="126807"/>
                  </a:cubicBezTo>
                  <a:cubicBezTo>
                    <a:pt x="1302662" y="126807"/>
                    <a:pt x="1308081" y="126247"/>
                    <a:pt x="1312794" y="125128"/>
                  </a:cubicBezTo>
                  <a:cubicBezTo>
                    <a:pt x="1317507" y="124008"/>
                    <a:pt x="1322397" y="122359"/>
                    <a:pt x="1327463" y="120179"/>
                  </a:cubicBezTo>
                  <a:lnTo>
                    <a:pt x="1327463" y="133081"/>
                  </a:lnTo>
                  <a:cubicBezTo>
                    <a:pt x="1322573" y="135260"/>
                    <a:pt x="1317728" y="136851"/>
                    <a:pt x="1312927" y="137852"/>
                  </a:cubicBezTo>
                  <a:cubicBezTo>
                    <a:pt x="1308126" y="138854"/>
                    <a:pt x="1302455" y="139355"/>
                    <a:pt x="1295916" y="139355"/>
                  </a:cubicBezTo>
                  <a:cubicBezTo>
                    <a:pt x="1286608" y="139355"/>
                    <a:pt x="1278493" y="137455"/>
                    <a:pt x="1271571" y="133655"/>
                  </a:cubicBezTo>
                  <a:cubicBezTo>
                    <a:pt x="1264649" y="129855"/>
                    <a:pt x="1259274" y="124273"/>
                    <a:pt x="1255444" y="116909"/>
                  </a:cubicBezTo>
                  <a:cubicBezTo>
                    <a:pt x="1251615" y="109546"/>
                    <a:pt x="1249700" y="100532"/>
                    <a:pt x="1249700" y="89869"/>
                  </a:cubicBezTo>
                  <a:cubicBezTo>
                    <a:pt x="1249700" y="79442"/>
                    <a:pt x="1251453" y="70414"/>
                    <a:pt x="1254958" y="62785"/>
                  </a:cubicBezTo>
                  <a:cubicBezTo>
                    <a:pt x="1258463" y="55156"/>
                    <a:pt x="1263412" y="49279"/>
                    <a:pt x="1269804" y="45156"/>
                  </a:cubicBezTo>
                  <a:cubicBezTo>
                    <a:pt x="1276196" y="41032"/>
                    <a:pt x="1283722" y="38970"/>
                    <a:pt x="1292382" y="38970"/>
                  </a:cubicBezTo>
                  <a:close/>
                  <a:moveTo>
                    <a:pt x="1222897" y="38970"/>
                  </a:moveTo>
                  <a:cubicBezTo>
                    <a:pt x="1224842" y="38970"/>
                    <a:pt x="1226874" y="39073"/>
                    <a:pt x="1228995" y="39279"/>
                  </a:cubicBezTo>
                  <a:cubicBezTo>
                    <a:pt x="1231116" y="39485"/>
                    <a:pt x="1233001" y="39765"/>
                    <a:pt x="1234650" y="40119"/>
                  </a:cubicBezTo>
                  <a:lnTo>
                    <a:pt x="1232795" y="53727"/>
                  </a:lnTo>
                  <a:cubicBezTo>
                    <a:pt x="1231204" y="53315"/>
                    <a:pt x="1229437" y="52991"/>
                    <a:pt x="1227493" y="52755"/>
                  </a:cubicBezTo>
                  <a:cubicBezTo>
                    <a:pt x="1225548" y="52520"/>
                    <a:pt x="1223722" y="52402"/>
                    <a:pt x="1222014" y="52402"/>
                  </a:cubicBezTo>
                  <a:cubicBezTo>
                    <a:pt x="1218126" y="52402"/>
                    <a:pt x="1214458" y="53182"/>
                    <a:pt x="1211012" y="54743"/>
                  </a:cubicBezTo>
                  <a:cubicBezTo>
                    <a:pt x="1207566" y="56305"/>
                    <a:pt x="1204547" y="58543"/>
                    <a:pt x="1201955" y="61459"/>
                  </a:cubicBezTo>
                  <a:cubicBezTo>
                    <a:pt x="1199363" y="64375"/>
                    <a:pt x="1197330" y="67881"/>
                    <a:pt x="1195857" y="71975"/>
                  </a:cubicBezTo>
                  <a:cubicBezTo>
                    <a:pt x="1194385" y="76069"/>
                    <a:pt x="1193648" y="80620"/>
                    <a:pt x="1193648" y="85628"/>
                  </a:cubicBezTo>
                  <a:lnTo>
                    <a:pt x="1193648" y="137587"/>
                  </a:lnTo>
                  <a:lnTo>
                    <a:pt x="1178891" y="137587"/>
                  </a:lnTo>
                  <a:lnTo>
                    <a:pt x="1178891" y="40737"/>
                  </a:lnTo>
                  <a:lnTo>
                    <a:pt x="1191086" y="40737"/>
                  </a:lnTo>
                  <a:lnTo>
                    <a:pt x="1192676" y="58587"/>
                  </a:lnTo>
                  <a:lnTo>
                    <a:pt x="1193295" y="58587"/>
                  </a:lnTo>
                  <a:cubicBezTo>
                    <a:pt x="1195298" y="54994"/>
                    <a:pt x="1197713" y="51710"/>
                    <a:pt x="1200541" y="48735"/>
                  </a:cubicBezTo>
                  <a:cubicBezTo>
                    <a:pt x="1203368" y="45760"/>
                    <a:pt x="1206653" y="43388"/>
                    <a:pt x="1210394" y="41621"/>
                  </a:cubicBezTo>
                  <a:cubicBezTo>
                    <a:pt x="1214134" y="39854"/>
                    <a:pt x="1218302" y="38970"/>
                    <a:pt x="1222897" y="38970"/>
                  </a:cubicBezTo>
                  <a:close/>
                  <a:moveTo>
                    <a:pt x="1015203" y="38970"/>
                  </a:moveTo>
                  <a:cubicBezTo>
                    <a:pt x="1026691" y="38970"/>
                    <a:pt x="1035380" y="41783"/>
                    <a:pt x="1041271" y="47409"/>
                  </a:cubicBezTo>
                  <a:cubicBezTo>
                    <a:pt x="1047163" y="53035"/>
                    <a:pt x="1050108" y="62063"/>
                    <a:pt x="1050108" y="74493"/>
                  </a:cubicBezTo>
                  <a:lnTo>
                    <a:pt x="1050108" y="137587"/>
                  </a:lnTo>
                  <a:lnTo>
                    <a:pt x="1035616" y="137587"/>
                  </a:lnTo>
                  <a:lnTo>
                    <a:pt x="1035616" y="75465"/>
                  </a:lnTo>
                  <a:cubicBezTo>
                    <a:pt x="1035616" y="67395"/>
                    <a:pt x="1033775" y="61356"/>
                    <a:pt x="1030093" y="57350"/>
                  </a:cubicBezTo>
                  <a:cubicBezTo>
                    <a:pt x="1026411" y="53344"/>
                    <a:pt x="1020770" y="51341"/>
                    <a:pt x="1013171" y="51341"/>
                  </a:cubicBezTo>
                  <a:cubicBezTo>
                    <a:pt x="1002449" y="51341"/>
                    <a:pt x="994908" y="54375"/>
                    <a:pt x="990549" y="60443"/>
                  </a:cubicBezTo>
                  <a:cubicBezTo>
                    <a:pt x="986190" y="66511"/>
                    <a:pt x="984010" y="75318"/>
                    <a:pt x="984010" y="86865"/>
                  </a:cubicBezTo>
                  <a:lnTo>
                    <a:pt x="984010" y="137587"/>
                  </a:lnTo>
                  <a:lnTo>
                    <a:pt x="969341" y="137587"/>
                  </a:lnTo>
                  <a:lnTo>
                    <a:pt x="969341" y="40737"/>
                  </a:lnTo>
                  <a:lnTo>
                    <a:pt x="981182" y="40737"/>
                  </a:lnTo>
                  <a:lnTo>
                    <a:pt x="983391" y="54699"/>
                  </a:lnTo>
                  <a:lnTo>
                    <a:pt x="984187" y="54699"/>
                  </a:lnTo>
                  <a:cubicBezTo>
                    <a:pt x="986248" y="51282"/>
                    <a:pt x="988870" y="48411"/>
                    <a:pt x="992051" y="46084"/>
                  </a:cubicBezTo>
                  <a:cubicBezTo>
                    <a:pt x="995232" y="43757"/>
                    <a:pt x="998796" y="41989"/>
                    <a:pt x="1002743" y="40782"/>
                  </a:cubicBezTo>
                  <a:cubicBezTo>
                    <a:pt x="1006691" y="39574"/>
                    <a:pt x="1010844" y="38970"/>
                    <a:pt x="1015203" y="38970"/>
                  </a:cubicBezTo>
                  <a:close/>
                  <a:moveTo>
                    <a:pt x="903889" y="38970"/>
                  </a:moveTo>
                  <a:cubicBezTo>
                    <a:pt x="912726" y="38970"/>
                    <a:pt x="920458" y="40944"/>
                    <a:pt x="927085" y="44891"/>
                  </a:cubicBezTo>
                  <a:cubicBezTo>
                    <a:pt x="933713" y="48838"/>
                    <a:pt x="938868" y="54537"/>
                    <a:pt x="942550" y="61990"/>
                  </a:cubicBezTo>
                  <a:cubicBezTo>
                    <a:pt x="946231" y="69442"/>
                    <a:pt x="948072" y="78440"/>
                    <a:pt x="948072" y="88986"/>
                  </a:cubicBezTo>
                  <a:cubicBezTo>
                    <a:pt x="948072" y="96939"/>
                    <a:pt x="947042" y="104037"/>
                    <a:pt x="944980" y="110282"/>
                  </a:cubicBezTo>
                  <a:cubicBezTo>
                    <a:pt x="942918" y="116527"/>
                    <a:pt x="939943" y="121799"/>
                    <a:pt x="936054" y="126100"/>
                  </a:cubicBezTo>
                  <a:cubicBezTo>
                    <a:pt x="932166" y="130400"/>
                    <a:pt x="927468" y="133684"/>
                    <a:pt x="921960" y="135952"/>
                  </a:cubicBezTo>
                  <a:cubicBezTo>
                    <a:pt x="916452" y="138221"/>
                    <a:pt x="910222" y="139355"/>
                    <a:pt x="903271" y="139355"/>
                  </a:cubicBezTo>
                  <a:cubicBezTo>
                    <a:pt x="896790" y="139355"/>
                    <a:pt x="890855" y="138221"/>
                    <a:pt x="885465" y="135952"/>
                  </a:cubicBezTo>
                  <a:cubicBezTo>
                    <a:pt x="880074" y="133684"/>
                    <a:pt x="875420" y="130400"/>
                    <a:pt x="871503" y="126100"/>
                  </a:cubicBezTo>
                  <a:cubicBezTo>
                    <a:pt x="867585" y="121799"/>
                    <a:pt x="864551" y="116527"/>
                    <a:pt x="862401" y="110282"/>
                  </a:cubicBezTo>
                  <a:cubicBezTo>
                    <a:pt x="860251" y="104037"/>
                    <a:pt x="859175" y="96939"/>
                    <a:pt x="859175" y="88986"/>
                  </a:cubicBezTo>
                  <a:cubicBezTo>
                    <a:pt x="859175" y="78382"/>
                    <a:pt x="860972" y="69353"/>
                    <a:pt x="864566" y="61901"/>
                  </a:cubicBezTo>
                  <a:cubicBezTo>
                    <a:pt x="868160" y="54449"/>
                    <a:pt x="873300" y="48764"/>
                    <a:pt x="879986" y="44846"/>
                  </a:cubicBezTo>
                  <a:cubicBezTo>
                    <a:pt x="886672" y="40929"/>
                    <a:pt x="894640" y="38970"/>
                    <a:pt x="903889" y="38970"/>
                  </a:cubicBezTo>
                  <a:close/>
                  <a:moveTo>
                    <a:pt x="556147" y="38970"/>
                  </a:moveTo>
                  <a:cubicBezTo>
                    <a:pt x="558091" y="38970"/>
                    <a:pt x="560124" y="39073"/>
                    <a:pt x="562245" y="39279"/>
                  </a:cubicBezTo>
                  <a:cubicBezTo>
                    <a:pt x="564366" y="39485"/>
                    <a:pt x="566251" y="39765"/>
                    <a:pt x="567900" y="40119"/>
                  </a:cubicBezTo>
                  <a:lnTo>
                    <a:pt x="566044" y="53727"/>
                  </a:lnTo>
                  <a:cubicBezTo>
                    <a:pt x="564454" y="53315"/>
                    <a:pt x="562687" y="52991"/>
                    <a:pt x="560742" y="52755"/>
                  </a:cubicBezTo>
                  <a:cubicBezTo>
                    <a:pt x="558798" y="52520"/>
                    <a:pt x="556972" y="52402"/>
                    <a:pt x="555264" y="52402"/>
                  </a:cubicBezTo>
                  <a:cubicBezTo>
                    <a:pt x="551376" y="52402"/>
                    <a:pt x="547708" y="53182"/>
                    <a:pt x="544262" y="54743"/>
                  </a:cubicBezTo>
                  <a:cubicBezTo>
                    <a:pt x="540816" y="56305"/>
                    <a:pt x="537797" y="58543"/>
                    <a:pt x="535205" y="61459"/>
                  </a:cubicBezTo>
                  <a:cubicBezTo>
                    <a:pt x="532613" y="64375"/>
                    <a:pt x="530580" y="67881"/>
                    <a:pt x="529107" y="71975"/>
                  </a:cubicBezTo>
                  <a:cubicBezTo>
                    <a:pt x="527634" y="76069"/>
                    <a:pt x="526898" y="80620"/>
                    <a:pt x="526898" y="85628"/>
                  </a:cubicBezTo>
                  <a:lnTo>
                    <a:pt x="526898" y="137587"/>
                  </a:lnTo>
                  <a:lnTo>
                    <a:pt x="512141" y="137587"/>
                  </a:lnTo>
                  <a:lnTo>
                    <a:pt x="512141" y="40737"/>
                  </a:lnTo>
                  <a:lnTo>
                    <a:pt x="524335" y="40737"/>
                  </a:lnTo>
                  <a:lnTo>
                    <a:pt x="525926" y="58587"/>
                  </a:lnTo>
                  <a:lnTo>
                    <a:pt x="526545" y="58587"/>
                  </a:lnTo>
                  <a:cubicBezTo>
                    <a:pt x="528548" y="54994"/>
                    <a:pt x="530963" y="51710"/>
                    <a:pt x="533791" y="48735"/>
                  </a:cubicBezTo>
                  <a:cubicBezTo>
                    <a:pt x="536618" y="45760"/>
                    <a:pt x="539903" y="43388"/>
                    <a:pt x="543644" y="41621"/>
                  </a:cubicBezTo>
                  <a:cubicBezTo>
                    <a:pt x="547384" y="39854"/>
                    <a:pt x="551552" y="38970"/>
                    <a:pt x="556147" y="38970"/>
                  </a:cubicBezTo>
                  <a:close/>
                  <a:moveTo>
                    <a:pt x="446689" y="38970"/>
                  </a:moveTo>
                  <a:cubicBezTo>
                    <a:pt x="455526" y="38970"/>
                    <a:pt x="463258" y="40944"/>
                    <a:pt x="469885" y="44891"/>
                  </a:cubicBezTo>
                  <a:cubicBezTo>
                    <a:pt x="476513" y="48838"/>
                    <a:pt x="481668" y="54537"/>
                    <a:pt x="485349" y="61990"/>
                  </a:cubicBezTo>
                  <a:cubicBezTo>
                    <a:pt x="489031" y="69442"/>
                    <a:pt x="490872" y="78440"/>
                    <a:pt x="490872" y="88986"/>
                  </a:cubicBezTo>
                  <a:cubicBezTo>
                    <a:pt x="490872" y="96939"/>
                    <a:pt x="489841" y="104037"/>
                    <a:pt x="487780" y="110282"/>
                  </a:cubicBezTo>
                  <a:cubicBezTo>
                    <a:pt x="485718" y="116527"/>
                    <a:pt x="482743" y="121799"/>
                    <a:pt x="478855" y="126100"/>
                  </a:cubicBezTo>
                  <a:cubicBezTo>
                    <a:pt x="474966" y="130400"/>
                    <a:pt x="470268" y="133684"/>
                    <a:pt x="464760" y="135952"/>
                  </a:cubicBezTo>
                  <a:cubicBezTo>
                    <a:pt x="459252" y="138221"/>
                    <a:pt x="453022" y="139355"/>
                    <a:pt x="446070" y="139355"/>
                  </a:cubicBezTo>
                  <a:cubicBezTo>
                    <a:pt x="439590" y="139355"/>
                    <a:pt x="433655" y="138221"/>
                    <a:pt x="428265" y="135952"/>
                  </a:cubicBezTo>
                  <a:cubicBezTo>
                    <a:pt x="422874" y="133684"/>
                    <a:pt x="418220" y="130400"/>
                    <a:pt x="414303" y="126100"/>
                  </a:cubicBezTo>
                  <a:cubicBezTo>
                    <a:pt x="410385" y="121799"/>
                    <a:pt x="407351" y="116527"/>
                    <a:pt x="405201" y="110282"/>
                  </a:cubicBezTo>
                  <a:cubicBezTo>
                    <a:pt x="403051" y="104037"/>
                    <a:pt x="401976" y="96939"/>
                    <a:pt x="401976" y="88986"/>
                  </a:cubicBezTo>
                  <a:cubicBezTo>
                    <a:pt x="401976" y="78382"/>
                    <a:pt x="403772" y="69353"/>
                    <a:pt x="407366" y="61901"/>
                  </a:cubicBezTo>
                  <a:cubicBezTo>
                    <a:pt x="410959" y="54449"/>
                    <a:pt x="416099" y="48764"/>
                    <a:pt x="422786" y="44846"/>
                  </a:cubicBezTo>
                  <a:cubicBezTo>
                    <a:pt x="429472" y="40929"/>
                    <a:pt x="437440" y="38970"/>
                    <a:pt x="446689" y="38970"/>
                  </a:cubicBezTo>
                  <a:close/>
                  <a:moveTo>
                    <a:pt x="2601176" y="38793"/>
                  </a:moveTo>
                  <a:cubicBezTo>
                    <a:pt x="2602885" y="38793"/>
                    <a:pt x="2604608" y="38867"/>
                    <a:pt x="2606345" y="39014"/>
                  </a:cubicBezTo>
                  <a:cubicBezTo>
                    <a:pt x="2608083" y="39161"/>
                    <a:pt x="2609748" y="39368"/>
                    <a:pt x="2611338" y="39633"/>
                  </a:cubicBezTo>
                  <a:cubicBezTo>
                    <a:pt x="2612929" y="39898"/>
                    <a:pt x="2614313" y="40207"/>
                    <a:pt x="2615491" y="40561"/>
                  </a:cubicBezTo>
                  <a:lnTo>
                    <a:pt x="2648717" y="40561"/>
                  </a:lnTo>
                  <a:lnTo>
                    <a:pt x="2648717" y="50016"/>
                  </a:lnTo>
                  <a:lnTo>
                    <a:pt x="2630867" y="52225"/>
                  </a:lnTo>
                  <a:cubicBezTo>
                    <a:pt x="2632635" y="54523"/>
                    <a:pt x="2634107" y="57291"/>
                    <a:pt x="2635286" y="60531"/>
                  </a:cubicBezTo>
                  <a:cubicBezTo>
                    <a:pt x="2636464" y="63772"/>
                    <a:pt x="2637053" y="67365"/>
                    <a:pt x="2637053" y="71312"/>
                  </a:cubicBezTo>
                  <a:cubicBezTo>
                    <a:pt x="2637053" y="80974"/>
                    <a:pt x="2633783" y="88647"/>
                    <a:pt x="2627244" y="94332"/>
                  </a:cubicBezTo>
                  <a:cubicBezTo>
                    <a:pt x="2620705" y="100017"/>
                    <a:pt x="2611721" y="102859"/>
                    <a:pt x="2600292" y="102859"/>
                  </a:cubicBezTo>
                  <a:cubicBezTo>
                    <a:pt x="2597583" y="102859"/>
                    <a:pt x="2594814" y="102623"/>
                    <a:pt x="2591986" y="102152"/>
                  </a:cubicBezTo>
                  <a:cubicBezTo>
                    <a:pt x="2589099" y="103743"/>
                    <a:pt x="2586905" y="105510"/>
                    <a:pt x="2585403" y="107454"/>
                  </a:cubicBezTo>
                  <a:cubicBezTo>
                    <a:pt x="2583900" y="109398"/>
                    <a:pt x="2583149" y="111637"/>
                    <a:pt x="2583149" y="114170"/>
                  </a:cubicBezTo>
                  <a:cubicBezTo>
                    <a:pt x="2583149" y="116055"/>
                    <a:pt x="2583724" y="117557"/>
                    <a:pt x="2584872" y="118677"/>
                  </a:cubicBezTo>
                  <a:cubicBezTo>
                    <a:pt x="2586021" y="119796"/>
                    <a:pt x="2587686" y="120606"/>
                    <a:pt x="2589865" y="121107"/>
                  </a:cubicBezTo>
                  <a:cubicBezTo>
                    <a:pt x="2592045" y="121608"/>
                    <a:pt x="2594667" y="121858"/>
                    <a:pt x="2597730" y="121858"/>
                  </a:cubicBezTo>
                  <a:lnTo>
                    <a:pt x="2614785" y="121858"/>
                  </a:lnTo>
                  <a:cubicBezTo>
                    <a:pt x="2625330" y="121858"/>
                    <a:pt x="2633415" y="124067"/>
                    <a:pt x="2639041" y="128485"/>
                  </a:cubicBezTo>
                  <a:cubicBezTo>
                    <a:pt x="2644667" y="132904"/>
                    <a:pt x="2647480" y="139355"/>
                    <a:pt x="2647480" y="147838"/>
                  </a:cubicBezTo>
                  <a:cubicBezTo>
                    <a:pt x="2647480" y="158560"/>
                    <a:pt x="2643121" y="166778"/>
                    <a:pt x="2634402" y="172492"/>
                  </a:cubicBezTo>
                  <a:cubicBezTo>
                    <a:pt x="2625683" y="178206"/>
                    <a:pt x="2613076" y="181064"/>
                    <a:pt x="2596581" y="181064"/>
                  </a:cubicBezTo>
                  <a:cubicBezTo>
                    <a:pt x="2583856" y="181064"/>
                    <a:pt x="2574047" y="178692"/>
                    <a:pt x="2567155" y="173950"/>
                  </a:cubicBezTo>
                  <a:cubicBezTo>
                    <a:pt x="2560262" y="169208"/>
                    <a:pt x="2556816" y="162566"/>
                    <a:pt x="2556816" y="154023"/>
                  </a:cubicBezTo>
                  <a:cubicBezTo>
                    <a:pt x="2556816" y="147956"/>
                    <a:pt x="2558745" y="142771"/>
                    <a:pt x="2562604" y="138471"/>
                  </a:cubicBezTo>
                  <a:cubicBezTo>
                    <a:pt x="2566463" y="134170"/>
                    <a:pt x="2571809" y="131313"/>
                    <a:pt x="2578643" y="129899"/>
                  </a:cubicBezTo>
                  <a:cubicBezTo>
                    <a:pt x="2576110" y="128721"/>
                    <a:pt x="2573945" y="126954"/>
                    <a:pt x="2572148" y="124597"/>
                  </a:cubicBezTo>
                  <a:cubicBezTo>
                    <a:pt x="2570351" y="122241"/>
                    <a:pt x="2569452" y="119531"/>
                    <a:pt x="2569452" y="116468"/>
                  </a:cubicBezTo>
                  <a:cubicBezTo>
                    <a:pt x="2569452" y="112933"/>
                    <a:pt x="2570439" y="109825"/>
                    <a:pt x="2572413" y="107145"/>
                  </a:cubicBezTo>
                  <a:cubicBezTo>
                    <a:pt x="2574386" y="104464"/>
                    <a:pt x="2577405" y="101887"/>
                    <a:pt x="2581470" y="99413"/>
                  </a:cubicBezTo>
                  <a:cubicBezTo>
                    <a:pt x="2576404" y="97351"/>
                    <a:pt x="2572295" y="93860"/>
                    <a:pt x="2569143" y="88941"/>
                  </a:cubicBezTo>
                  <a:cubicBezTo>
                    <a:pt x="2565992" y="84022"/>
                    <a:pt x="2564415" y="78293"/>
                    <a:pt x="2564415" y="71754"/>
                  </a:cubicBezTo>
                  <a:cubicBezTo>
                    <a:pt x="2564415" y="64803"/>
                    <a:pt x="2565859" y="58867"/>
                    <a:pt x="2568745" y="53948"/>
                  </a:cubicBezTo>
                  <a:cubicBezTo>
                    <a:pt x="2571632" y="49029"/>
                    <a:pt x="2575815" y="45274"/>
                    <a:pt x="2581294" y="42681"/>
                  </a:cubicBezTo>
                  <a:cubicBezTo>
                    <a:pt x="2586772" y="40089"/>
                    <a:pt x="2593400" y="38793"/>
                    <a:pt x="2601176" y="38793"/>
                  </a:cubicBezTo>
                  <a:close/>
                  <a:moveTo>
                    <a:pt x="1115276" y="38793"/>
                  </a:moveTo>
                  <a:cubicBezTo>
                    <a:pt x="1116985" y="38793"/>
                    <a:pt x="1118708" y="38867"/>
                    <a:pt x="1120446" y="39014"/>
                  </a:cubicBezTo>
                  <a:cubicBezTo>
                    <a:pt x="1122184" y="39161"/>
                    <a:pt x="1123848" y="39368"/>
                    <a:pt x="1125438" y="39633"/>
                  </a:cubicBezTo>
                  <a:cubicBezTo>
                    <a:pt x="1127029" y="39898"/>
                    <a:pt x="1128413" y="40207"/>
                    <a:pt x="1129592" y="40561"/>
                  </a:cubicBezTo>
                  <a:lnTo>
                    <a:pt x="1162818" y="40561"/>
                  </a:lnTo>
                  <a:lnTo>
                    <a:pt x="1162818" y="50016"/>
                  </a:lnTo>
                  <a:lnTo>
                    <a:pt x="1144967" y="52225"/>
                  </a:lnTo>
                  <a:cubicBezTo>
                    <a:pt x="1146735" y="54523"/>
                    <a:pt x="1148208" y="57291"/>
                    <a:pt x="1149386" y="60531"/>
                  </a:cubicBezTo>
                  <a:cubicBezTo>
                    <a:pt x="1150564" y="63772"/>
                    <a:pt x="1151153" y="67365"/>
                    <a:pt x="1151153" y="71312"/>
                  </a:cubicBezTo>
                  <a:cubicBezTo>
                    <a:pt x="1151153" y="80974"/>
                    <a:pt x="1147884" y="88647"/>
                    <a:pt x="1141344" y="94332"/>
                  </a:cubicBezTo>
                  <a:cubicBezTo>
                    <a:pt x="1134805" y="100017"/>
                    <a:pt x="1125821" y="102859"/>
                    <a:pt x="1114393" y="102859"/>
                  </a:cubicBezTo>
                  <a:cubicBezTo>
                    <a:pt x="1111683" y="102859"/>
                    <a:pt x="1108914" y="102623"/>
                    <a:pt x="1106086" y="102152"/>
                  </a:cubicBezTo>
                  <a:cubicBezTo>
                    <a:pt x="1103199" y="103743"/>
                    <a:pt x="1101005" y="105510"/>
                    <a:pt x="1099503" y="107454"/>
                  </a:cubicBezTo>
                  <a:cubicBezTo>
                    <a:pt x="1098001" y="109398"/>
                    <a:pt x="1097249" y="111637"/>
                    <a:pt x="1097249" y="114170"/>
                  </a:cubicBezTo>
                  <a:cubicBezTo>
                    <a:pt x="1097249" y="116055"/>
                    <a:pt x="1097824" y="117557"/>
                    <a:pt x="1098973" y="118677"/>
                  </a:cubicBezTo>
                  <a:cubicBezTo>
                    <a:pt x="1100121" y="119796"/>
                    <a:pt x="1101786" y="120606"/>
                    <a:pt x="1103965" y="121107"/>
                  </a:cubicBezTo>
                  <a:cubicBezTo>
                    <a:pt x="1106145" y="121608"/>
                    <a:pt x="1108766" y="121858"/>
                    <a:pt x="1111830" y="121858"/>
                  </a:cubicBezTo>
                  <a:lnTo>
                    <a:pt x="1128885" y="121858"/>
                  </a:lnTo>
                  <a:cubicBezTo>
                    <a:pt x="1139430" y="121858"/>
                    <a:pt x="1147515" y="124067"/>
                    <a:pt x="1153141" y="128485"/>
                  </a:cubicBezTo>
                  <a:cubicBezTo>
                    <a:pt x="1158767" y="132904"/>
                    <a:pt x="1161580" y="139355"/>
                    <a:pt x="1161580" y="147838"/>
                  </a:cubicBezTo>
                  <a:cubicBezTo>
                    <a:pt x="1161580" y="158560"/>
                    <a:pt x="1157221" y="166778"/>
                    <a:pt x="1148502" y="172492"/>
                  </a:cubicBezTo>
                  <a:cubicBezTo>
                    <a:pt x="1139783" y="178206"/>
                    <a:pt x="1127176" y="181064"/>
                    <a:pt x="1110681" y="181064"/>
                  </a:cubicBezTo>
                  <a:cubicBezTo>
                    <a:pt x="1097956" y="181064"/>
                    <a:pt x="1088148" y="178692"/>
                    <a:pt x="1081255" y="173950"/>
                  </a:cubicBezTo>
                  <a:cubicBezTo>
                    <a:pt x="1074362" y="169208"/>
                    <a:pt x="1070916" y="162566"/>
                    <a:pt x="1070916" y="154023"/>
                  </a:cubicBezTo>
                  <a:cubicBezTo>
                    <a:pt x="1070916" y="147956"/>
                    <a:pt x="1072845" y="142771"/>
                    <a:pt x="1076704" y="138471"/>
                  </a:cubicBezTo>
                  <a:cubicBezTo>
                    <a:pt x="1080563" y="134170"/>
                    <a:pt x="1085909" y="131313"/>
                    <a:pt x="1092743" y="129899"/>
                  </a:cubicBezTo>
                  <a:cubicBezTo>
                    <a:pt x="1090209" y="128721"/>
                    <a:pt x="1088044" y="126954"/>
                    <a:pt x="1086248" y="124597"/>
                  </a:cubicBezTo>
                  <a:cubicBezTo>
                    <a:pt x="1084451" y="122241"/>
                    <a:pt x="1083553" y="119531"/>
                    <a:pt x="1083553" y="116468"/>
                  </a:cubicBezTo>
                  <a:cubicBezTo>
                    <a:pt x="1083553" y="112933"/>
                    <a:pt x="1084539" y="109825"/>
                    <a:pt x="1086513" y="107145"/>
                  </a:cubicBezTo>
                  <a:cubicBezTo>
                    <a:pt x="1088486" y="104464"/>
                    <a:pt x="1091505" y="101887"/>
                    <a:pt x="1095570" y="99413"/>
                  </a:cubicBezTo>
                  <a:cubicBezTo>
                    <a:pt x="1090504" y="97351"/>
                    <a:pt x="1086395" y="93860"/>
                    <a:pt x="1083243" y="88941"/>
                  </a:cubicBezTo>
                  <a:cubicBezTo>
                    <a:pt x="1080091" y="84022"/>
                    <a:pt x="1078516" y="78293"/>
                    <a:pt x="1078516" y="71754"/>
                  </a:cubicBezTo>
                  <a:cubicBezTo>
                    <a:pt x="1078516" y="64803"/>
                    <a:pt x="1079959" y="58867"/>
                    <a:pt x="1082846" y="53948"/>
                  </a:cubicBezTo>
                  <a:cubicBezTo>
                    <a:pt x="1085732" y="49029"/>
                    <a:pt x="1089915" y="45274"/>
                    <a:pt x="1095394" y="42681"/>
                  </a:cubicBezTo>
                  <a:cubicBezTo>
                    <a:pt x="1100872" y="40089"/>
                    <a:pt x="1107500" y="38793"/>
                    <a:pt x="1115276" y="38793"/>
                  </a:cubicBezTo>
                  <a:close/>
                  <a:moveTo>
                    <a:pt x="619976" y="38793"/>
                  </a:moveTo>
                  <a:cubicBezTo>
                    <a:pt x="621685" y="38793"/>
                    <a:pt x="623408" y="38867"/>
                    <a:pt x="625146" y="39014"/>
                  </a:cubicBezTo>
                  <a:cubicBezTo>
                    <a:pt x="626883" y="39161"/>
                    <a:pt x="628548" y="39368"/>
                    <a:pt x="630138" y="39633"/>
                  </a:cubicBezTo>
                  <a:cubicBezTo>
                    <a:pt x="631729" y="39898"/>
                    <a:pt x="633113" y="40207"/>
                    <a:pt x="634292" y="40561"/>
                  </a:cubicBezTo>
                  <a:lnTo>
                    <a:pt x="667517" y="40561"/>
                  </a:lnTo>
                  <a:lnTo>
                    <a:pt x="667517" y="50016"/>
                  </a:lnTo>
                  <a:lnTo>
                    <a:pt x="649667" y="52225"/>
                  </a:lnTo>
                  <a:cubicBezTo>
                    <a:pt x="651435" y="54523"/>
                    <a:pt x="652907" y="57291"/>
                    <a:pt x="654086" y="60531"/>
                  </a:cubicBezTo>
                  <a:cubicBezTo>
                    <a:pt x="655264" y="63772"/>
                    <a:pt x="655853" y="67365"/>
                    <a:pt x="655853" y="71312"/>
                  </a:cubicBezTo>
                  <a:cubicBezTo>
                    <a:pt x="655853" y="80974"/>
                    <a:pt x="652583" y="88647"/>
                    <a:pt x="646044" y="94332"/>
                  </a:cubicBezTo>
                  <a:cubicBezTo>
                    <a:pt x="639505" y="100017"/>
                    <a:pt x="630521" y="102859"/>
                    <a:pt x="619092" y="102859"/>
                  </a:cubicBezTo>
                  <a:cubicBezTo>
                    <a:pt x="616382" y="102859"/>
                    <a:pt x="613614" y="102623"/>
                    <a:pt x="610786" y="102152"/>
                  </a:cubicBezTo>
                  <a:cubicBezTo>
                    <a:pt x="607899" y="103743"/>
                    <a:pt x="605705" y="105510"/>
                    <a:pt x="604203" y="107454"/>
                  </a:cubicBezTo>
                  <a:cubicBezTo>
                    <a:pt x="602700" y="109398"/>
                    <a:pt x="601949" y="111637"/>
                    <a:pt x="601949" y="114170"/>
                  </a:cubicBezTo>
                  <a:cubicBezTo>
                    <a:pt x="601949" y="116055"/>
                    <a:pt x="602524" y="117557"/>
                    <a:pt x="603672" y="118677"/>
                  </a:cubicBezTo>
                  <a:cubicBezTo>
                    <a:pt x="604821" y="119796"/>
                    <a:pt x="606485" y="120606"/>
                    <a:pt x="608665" y="121107"/>
                  </a:cubicBezTo>
                  <a:cubicBezTo>
                    <a:pt x="610845" y="121608"/>
                    <a:pt x="613466" y="121858"/>
                    <a:pt x="616530" y="121858"/>
                  </a:cubicBezTo>
                  <a:lnTo>
                    <a:pt x="633585" y="121858"/>
                  </a:lnTo>
                  <a:cubicBezTo>
                    <a:pt x="644130" y="121858"/>
                    <a:pt x="652215" y="124067"/>
                    <a:pt x="657841" y="128485"/>
                  </a:cubicBezTo>
                  <a:cubicBezTo>
                    <a:pt x="663467" y="132904"/>
                    <a:pt x="666280" y="139355"/>
                    <a:pt x="666280" y="147838"/>
                  </a:cubicBezTo>
                  <a:cubicBezTo>
                    <a:pt x="666280" y="158560"/>
                    <a:pt x="661921" y="166778"/>
                    <a:pt x="653202" y="172492"/>
                  </a:cubicBezTo>
                  <a:cubicBezTo>
                    <a:pt x="644483" y="178206"/>
                    <a:pt x="631876" y="181064"/>
                    <a:pt x="615381" y="181064"/>
                  </a:cubicBezTo>
                  <a:cubicBezTo>
                    <a:pt x="602656" y="181064"/>
                    <a:pt x="592848" y="178692"/>
                    <a:pt x="585955" y="173950"/>
                  </a:cubicBezTo>
                  <a:cubicBezTo>
                    <a:pt x="579062" y="169208"/>
                    <a:pt x="575616" y="162566"/>
                    <a:pt x="575616" y="154023"/>
                  </a:cubicBezTo>
                  <a:cubicBezTo>
                    <a:pt x="575616" y="147956"/>
                    <a:pt x="577545" y="142771"/>
                    <a:pt x="581404" y="138471"/>
                  </a:cubicBezTo>
                  <a:cubicBezTo>
                    <a:pt x="585263" y="134170"/>
                    <a:pt x="590609" y="131313"/>
                    <a:pt x="597443" y="129899"/>
                  </a:cubicBezTo>
                  <a:cubicBezTo>
                    <a:pt x="594909" y="128721"/>
                    <a:pt x="592744" y="126954"/>
                    <a:pt x="590948" y="124597"/>
                  </a:cubicBezTo>
                  <a:cubicBezTo>
                    <a:pt x="589151" y="122241"/>
                    <a:pt x="588253" y="119531"/>
                    <a:pt x="588253" y="116468"/>
                  </a:cubicBezTo>
                  <a:cubicBezTo>
                    <a:pt x="588253" y="112933"/>
                    <a:pt x="589239" y="109825"/>
                    <a:pt x="591213" y="107145"/>
                  </a:cubicBezTo>
                  <a:cubicBezTo>
                    <a:pt x="593186" y="104464"/>
                    <a:pt x="596206" y="101887"/>
                    <a:pt x="600270" y="99413"/>
                  </a:cubicBezTo>
                  <a:cubicBezTo>
                    <a:pt x="595204" y="97351"/>
                    <a:pt x="591095" y="93860"/>
                    <a:pt x="587943" y="88941"/>
                  </a:cubicBezTo>
                  <a:cubicBezTo>
                    <a:pt x="584791" y="84022"/>
                    <a:pt x="583216" y="78293"/>
                    <a:pt x="583216" y="71754"/>
                  </a:cubicBezTo>
                  <a:cubicBezTo>
                    <a:pt x="583216" y="64803"/>
                    <a:pt x="584659" y="58867"/>
                    <a:pt x="587546" y="53948"/>
                  </a:cubicBezTo>
                  <a:cubicBezTo>
                    <a:pt x="590432" y="49029"/>
                    <a:pt x="594615" y="45274"/>
                    <a:pt x="600094" y="42681"/>
                  </a:cubicBezTo>
                  <a:cubicBezTo>
                    <a:pt x="605572" y="40089"/>
                    <a:pt x="612200" y="38793"/>
                    <a:pt x="619976" y="38793"/>
                  </a:cubicBezTo>
                  <a:close/>
                  <a:moveTo>
                    <a:pt x="1876425" y="8395"/>
                  </a:moveTo>
                  <a:lnTo>
                    <a:pt x="1891447" y="8395"/>
                  </a:lnTo>
                  <a:lnTo>
                    <a:pt x="1891447" y="137587"/>
                  </a:lnTo>
                  <a:lnTo>
                    <a:pt x="1876425" y="137587"/>
                  </a:lnTo>
                  <a:close/>
                  <a:moveTo>
                    <a:pt x="1789695" y="8395"/>
                  </a:moveTo>
                  <a:lnTo>
                    <a:pt x="1801802" y="8395"/>
                  </a:lnTo>
                  <a:lnTo>
                    <a:pt x="1794467" y="47100"/>
                  </a:lnTo>
                  <a:lnTo>
                    <a:pt x="1821596" y="47100"/>
                  </a:lnTo>
                  <a:lnTo>
                    <a:pt x="1828930" y="8395"/>
                  </a:lnTo>
                  <a:lnTo>
                    <a:pt x="1840595" y="8395"/>
                  </a:lnTo>
                  <a:lnTo>
                    <a:pt x="1833260" y="47100"/>
                  </a:lnTo>
                  <a:lnTo>
                    <a:pt x="1856677" y="47100"/>
                  </a:lnTo>
                  <a:lnTo>
                    <a:pt x="1856677" y="58146"/>
                  </a:lnTo>
                  <a:lnTo>
                    <a:pt x="1831051" y="58146"/>
                  </a:lnTo>
                  <a:lnTo>
                    <a:pt x="1825307" y="88190"/>
                  </a:lnTo>
                  <a:lnTo>
                    <a:pt x="1850315" y="88190"/>
                  </a:lnTo>
                  <a:lnTo>
                    <a:pt x="1850315" y="99413"/>
                  </a:lnTo>
                  <a:lnTo>
                    <a:pt x="1823098" y="99413"/>
                  </a:lnTo>
                  <a:lnTo>
                    <a:pt x="1815587" y="137587"/>
                  </a:lnTo>
                  <a:lnTo>
                    <a:pt x="1803657" y="137587"/>
                  </a:lnTo>
                  <a:lnTo>
                    <a:pt x="1811169" y="99413"/>
                  </a:lnTo>
                  <a:lnTo>
                    <a:pt x="1784217" y="99413"/>
                  </a:lnTo>
                  <a:lnTo>
                    <a:pt x="1776971" y="137587"/>
                  </a:lnTo>
                  <a:lnTo>
                    <a:pt x="1765218" y="137587"/>
                  </a:lnTo>
                  <a:lnTo>
                    <a:pt x="1772199" y="99413"/>
                  </a:lnTo>
                  <a:lnTo>
                    <a:pt x="1749047" y="99413"/>
                  </a:lnTo>
                  <a:lnTo>
                    <a:pt x="1749047" y="88190"/>
                  </a:lnTo>
                  <a:lnTo>
                    <a:pt x="1774408" y="88190"/>
                  </a:lnTo>
                  <a:lnTo>
                    <a:pt x="1780329" y="58146"/>
                  </a:lnTo>
                  <a:lnTo>
                    <a:pt x="1755763" y="58146"/>
                  </a:lnTo>
                  <a:lnTo>
                    <a:pt x="1755763" y="47100"/>
                  </a:lnTo>
                  <a:lnTo>
                    <a:pt x="1782361" y="47100"/>
                  </a:lnTo>
                  <a:close/>
                  <a:moveTo>
                    <a:pt x="718142" y="8395"/>
                  </a:moveTo>
                  <a:lnTo>
                    <a:pt x="732546" y="8395"/>
                  </a:lnTo>
                  <a:lnTo>
                    <a:pt x="684475" y="137587"/>
                  </a:lnTo>
                  <a:lnTo>
                    <a:pt x="669982" y="137587"/>
                  </a:lnTo>
                  <a:close/>
                  <a:moveTo>
                    <a:pt x="0" y="8395"/>
                  </a:moveTo>
                  <a:lnTo>
                    <a:pt x="15022" y="8395"/>
                  </a:lnTo>
                  <a:lnTo>
                    <a:pt x="15022" y="137587"/>
                  </a:lnTo>
                  <a:lnTo>
                    <a:pt x="0" y="137587"/>
                  </a:lnTo>
                  <a:close/>
                  <a:moveTo>
                    <a:pt x="2293781" y="6539"/>
                  </a:moveTo>
                  <a:cubicBezTo>
                    <a:pt x="2300320" y="6539"/>
                    <a:pt x="2306623" y="7187"/>
                    <a:pt x="2312691" y="8483"/>
                  </a:cubicBezTo>
                  <a:cubicBezTo>
                    <a:pt x="2318759" y="9780"/>
                    <a:pt x="2324238" y="11635"/>
                    <a:pt x="2329128" y="14051"/>
                  </a:cubicBezTo>
                  <a:lnTo>
                    <a:pt x="2323119" y="26775"/>
                  </a:lnTo>
                  <a:cubicBezTo>
                    <a:pt x="2318995" y="24890"/>
                    <a:pt x="2314473" y="23255"/>
                    <a:pt x="2309554" y="21871"/>
                  </a:cubicBezTo>
                  <a:cubicBezTo>
                    <a:pt x="2304635" y="20487"/>
                    <a:pt x="2299319" y="19794"/>
                    <a:pt x="2293604" y="19794"/>
                  </a:cubicBezTo>
                  <a:cubicBezTo>
                    <a:pt x="2286476" y="19794"/>
                    <a:pt x="2280069" y="21017"/>
                    <a:pt x="2274384" y="23462"/>
                  </a:cubicBezTo>
                  <a:cubicBezTo>
                    <a:pt x="2268700" y="25906"/>
                    <a:pt x="2263869" y="29441"/>
                    <a:pt x="2259892" y="34066"/>
                  </a:cubicBezTo>
                  <a:cubicBezTo>
                    <a:pt x="2255916" y="38690"/>
                    <a:pt x="2252867" y="44272"/>
                    <a:pt x="2250746" y="50811"/>
                  </a:cubicBezTo>
                  <a:cubicBezTo>
                    <a:pt x="2248625" y="57350"/>
                    <a:pt x="2247565" y="64714"/>
                    <a:pt x="2247565" y="72903"/>
                  </a:cubicBezTo>
                  <a:cubicBezTo>
                    <a:pt x="2247565" y="83742"/>
                    <a:pt x="2249259" y="93154"/>
                    <a:pt x="2252646" y="101136"/>
                  </a:cubicBezTo>
                  <a:cubicBezTo>
                    <a:pt x="2256033" y="109118"/>
                    <a:pt x="2261100" y="115289"/>
                    <a:pt x="2267845" y="119649"/>
                  </a:cubicBezTo>
                  <a:cubicBezTo>
                    <a:pt x="2274590" y="124008"/>
                    <a:pt x="2283029" y="126188"/>
                    <a:pt x="2293162" y="126188"/>
                  </a:cubicBezTo>
                  <a:cubicBezTo>
                    <a:pt x="2298935" y="126188"/>
                    <a:pt x="2304370" y="125702"/>
                    <a:pt x="2309466" y="124730"/>
                  </a:cubicBezTo>
                  <a:cubicBezTo>
                    <a:pt x="2314562" y="123758"/>
                    <a:pt x="2319525" y="122535"/>
                    <a:pt x="2324356" y="121063"/>
                  </a:cubicBezTo>
                  <a:lnTo>
                    <a:pt x="2324356" y="134141"/>
                  </a:lnTo>
                  <a:cubicBezTo>
                    <a:pt x="2319643" y="135908"/>
                    <a:pt x="2314694" y="137219"/>
                    <a:pt x="2309510" y="138073"/>
                  </a:cubicBezTo>
                  <a:cubicBezTo>
                    <a:pt x="2304326" y="138927"/>
                    <a:pt x="2298170" y="139355"/>
                    <a:pt x="2291041" y="139355"/>
                  </a:cubicBezTo>
                  <a:cubicBezTo>
                    <a:pt x="2277904" y="139355"/>
                    <a:pt x="2266932" y="136630"/>
                    <a:pt x="2258125" y="131181"/>
                  </a:cubicBezTo>
                  <a:cubicBezTo>
                    <a:pt x="2249318" y="125731"/>
                    <a:pt x="2242720" y="118029"/>
                    <a:pt x="2238331" y="108073"/>
                  </a:cubicBezTo>
                  <a:cubicBezTo>
                    <a:pt x="2233942" y="98117"/>
                    <a:pt x="2231747" y="86364"/>
                    <a:pt x="2231747" y="72814"/>
                  </a:cubicBezTo>
                  <a:cubicBezTo>
                    <a:pt x="2231747" y="63035"/>
                    <a:pt x="2233117" y="54095"/>
                    <a:pt x="2235856" y="45995"/>
                  </a:cubicBezTo>
                  <a:cubicBezTo>
                    <a:pt x="2238596" y="37895"/>
                    <a:pt x="2242602" y="30899"/>
                    <a:pt x="2247874" y="25008"/>
                  </a:cubicBezTo>
                  <a:cubicBezTo>
                    <a:pt x="2253147" y="19117"/>
                    <a:pt x="2259627" y="14566"/>
                    <a:pt x="2267315" y="11355"/>
                  </a:cubicBezTo>
                  <a:cubicBezTo>
                    <a:pt x="2275003" y="8145"/>
                    <a:pt x="2283825" y="6539"/>
                    <a:pt x="2293781" y="6539"/>
                  </a:cubicBezTo>
                  <a:close/>
                  <a:moveTo>
                    <a:pt x="2165500" y="6539"/>
                  </a:moveTo>
                  <a:cubicBezTo>
                    <a:pt x="2173453" y="6539"/>
                    <a:pt x="2180316" y="7924"/>
                    <a:pt x="2186090" y="10693"/>
                  </a:cubicBezTo>
                  <a:cubicBezTo>
                    <a:pt x="2191863" y="13461"/>
                    <a:pt x="2196326" y="17409"/>
                    <a:pt x="2199477" y="22534"/>
                  </a:cubicBezTo>
                  <a:cubicBezTo>
                    <a:pt x="2202629" y="27659"/>
                    <a:pt x="2204205" y="33756"/>
                    <a:pt x="2204205" y="40826"/>
                  </a:cubicBezTo>
                  <a:cubicBezTo>
                    <a:pt x="2204205" y="47659"/>
                    <a:pt x="2202850" y="54007"/>
                    <a:pt x="2200140" y="59869"/>
                  </a:cubicBezTo>
                  <a:cubicBezTo>
                    <a:pt x="2197430" y="65730"/>
                    <a:pt x="2193630" y="71533"/>
                    <a:pt x="2188741" y="77277"/>
                  </a:cubicBezTo>
                  <a:cubicBezTo>
                    <a:pt x="2183851" y="83021"/>
                    <a:pt x="2178137" y="89103"/>
                    <a:pt x="2171598" y="95525"/>
                  </a:cubicBezTo>
                  <a:lnTo>
                    <a:pt x="2143497" y="123537"/>
                  </a:lnTo>
                  <a:lnTo>
                    <a:pt x="2143497" y="124156"/>
                  </a:lnTo>
                  <a:lnTo>
                    <a:pt x="2209507" y="124156"/>
                  </a:lnTo>
                  <a:lnTo>
                    <a:pt x="2209507" y="137587"/>
                  </a:lnTo>
                  <a:lnTo>
                    <a:pt x="2124852" y="137587"/>
                  </a:lnTo>
                  <a:lnTo>
                    <a:pt x="2124852" y="125304"/>
                  </a:lnTo>
                  <a:lnTo>
                    <a:pt x="2159403" y="90223"/>
                  </a:lnTo>
                  <a:cubicBezTo>
                    <a:pt x="2165824" y="83742"/>
                    <a:pt x="2171229" y="77969"/>
                    <a:pt x="2175618" y="72903"/>
                  </a:cubicBezTo>
                  <a:cubicBezTo>
                    <a:pt x="2180007" y="67836"/>
                    <a:pt x="2183350" y="62844"/>
                    <a:pt x="2185648" y="57925"/>
                  </a:cubicBezTo>
                  <a:cubicBezTo>
                    <a:pt x="2187945" y="53006"/>
                    <a:pt x="2189094" y="47600"/>
                    <a:pt x="2189094" y="41709"/>
                  </a:cubicBezTo>
                  <a:cubicBezTo>
                    <a:pt x="2189094" y="34404"/>
                    <a:pt x="2186929" y="28823"/>
                    <a:pt x="2182599" y="24964"/>
                  </a:cubicBezTo>
                  <a:cubicBezTo>
                    <a:pt x="2178269" y="21105"/>
                    <a:pt x="2172570" y="19176"/>
                    <a:pt x="2165500" y="19176"/>
                  </a:cubicBezTo>
                  <a:cubicBezTo>
                    <a:pt x="2159315" y="19176"/>
                    <a:pt x="2153836" y="20236"/>
                    <a:pt x="2149064" y="22357"/>
                  </a:cubicBezTo>
                  <a:cubicBezTo>
                    <a:pt x="2144292" y="24478"/>
                    <a:pt x="2139403" y="27482"/>
                    <a:pt x="2134395" y="31370"/>
                  </a:cubicBezTo>
                  <a:lnTo>
                    <a:pt x="2126531" y="21473"/>
                  </a:lnTo>
                  <a:cubicBezTo>
                    <a:pt x="2129947" y="18587"/>
                    <a:pt x="2133674" y="16024"/>
                    <a:pt x="2137709" y="13786"/>
                  </a:cubicBezTo>
                  <a:cubicBezTo>
                    <a:pt x="2141744" y="11547"/>
                    <a:pt x="2146074" y="9780"/>
                    <a:pt x="2150699" y="8483"/>
                  </a:cubicBezTo>
                  <a:cubicBezTo>
                    <a:pt x="2155323" y="7187"/>
                    <a:pt x="2160257" y="6539"/>
                    <a:pt x="2165500" y="6539"/>
                  </a:cubicBezTo>
                  <a:close/>
                  <a:moveTo>
                    <a:pt x="2074706" y="6539"/>
                  </a:moveTo>
                  <a:cubicBezTo>
                    <a:pt x="2081245" y="6539"/>
                    <a:pt x="2087548" y="7187"/>
                    <a:pt x="2093616" y="8483"/>
                  </a:cubicBezTo>
                  <a:cubicBezTo>
                    <a:pt x="2099684" y="9780"/>
                    <a:pt x="2105163" y="11635"/>
                    <a:pt x="2110053" y="14051"/>
                  </a:cubicBezTo>
                  <a:lnTo>
                    <a:pt x="2104044" y="26775"/>
                  </a:lnTo>
                  <a:cubicBezTo>
                    <a:pt x="2099920" y="24890"/>
                    <a:pt x="2095398" y="23255"/>
                    <a:pt x="2090479" y="21871"/>
                  </a:cubicBezTo>
                  <a:cubicBezTo>
                    <a:pt x="2085560" y="20487"/>
                    <a:pt x="2080243" y="19794"/>
                    <a:pt x="2074529" y="19794"/>
                  </a:cubicBezTo>
                  <a:cubicBezTo>
                    <a:pt x="2067401" y="19794"/>
                    <a:pt x="2060994" y="21017"/>
                    <a:pt x="2055309" y="23462"/>
                  </a:cubicBezTo>
                  <a:cubicBezTo>
                    <a:pt x="2049624" y="25906"/>
                    <a:pt x="2044794" y="29441"/>
                    <a:pt x="2040817" y="34066"/>
                  </a:cubicBezTo>
                  <a:cubicBezTo>
                    <a:pt x="2036841" y="38690"/>
                    <a:pt x="2033792" y="44272"/>
                    <a:pt x="2031671" y="50811"/>
                  </a:cubicBezTo>
                  <a:cubicBezTo>
                    <a:pt x="2029550" y="57350"/>
                    <a:pt x="2028490" y="64714"/>
                    <a:pt x="2028490" y="72903"/>
                  </a:cubicBezTo>
                  <a:cubicBezTo>
                    <a:pt x="2028490" y="83742"/>
                    <a:pt x="2030184" y="93154"/>
                    <a:pt x="2033571" y="101136"/>
                  </a:cubicBezTo>
                  <a:cubicBezTo>
                    <a:pt x="2036958" y="109118"/>
                    <a:pt x="2042025" y="115289"/>
                    <a:pt x="2048770" y="119649"/>
                  </a:cubicBezTo>
                  <a:cubicBezTo>
                    <a:pt x="2055515" y="124008"/>
                    <a:pt x="2063954" y="126188"/>
                    <a:pt x="2074087" y="126188"/>
                  </a:cubicBezTo>
                  <a:cubicBezTo>
                    <a:pt x="2079860" y="126188"/>
                    <a:pt x="2085295" y="125702"/>
                    <a:pt x="2090391" y="124730"/>
                  </a:cubicBezTo>
                  <a:cubicBezTo>
                    <a:pt x="2095487" y="123758"/>
                    <a:pt x="2100450" y="122535"/>
                    <a:pt x="2105281" y="121063"/>
                  </a:cubicBezTo>
                  <a:lnTo>
                    <a:pt x="2105281" y="134141"/>
                  </a:lnTo>
                  <a:cubicBezTo>
                    <a:pt x="2100568" y="135908"/>
                    <a:pt x="2095619" y="137219"/>
                    <a:pt x="2090435" y="138073"/>
                  </a:cubicBezTo>
                  <a:cubicBezTo>
                    <a:pt x="2085251" y="138927"/>
                    <a:pt x="2079095" y="139355"/>
                    <a:pt x="2071966" y="139355"/>
                  </a:cubicBezTo>
                  <a:cubicBezTo>
                    <a:pt x="2058829" y="139355"/>
                    <a:pt x="2047857" y="136630"/>
                    <a:pt x="2039050" y="131181"/>
                  </a:cubicBezTo>
                  <a:cubicBezTo>
                    <a:pt x="2030243" y="125731"/>
                    <a:pt x="2023645" y="118029"/>
                    <a:pt x="2019256" y="108073"/>
                  </a:cubicBezTo>
                  <a:cubicBezTo>
                    <a:pt x="2014867" y="98117"/>
                    <a:pt x="2012672" y="86364"/>
                    <a:pt x="2012672" y="72814"/>
                  </a:cubicBezTo>
                  <a:cubicBezTo>
                    <a:pt x="2012672" y="63035"/>
                    <a:pt x="2014042" y="54095"/>
                    <a:pt x="2016781" y="45995"/>
                  </a:cubicBezTo>
                  <a:cubicBezTo>
                    <a:pt x="2019521" y="37895"/>
                    <a:pt x="2023527" y="30899"/>
                    <a:pt x="2028799" y="25008"/>
                  </a:cubicBezTo>
                  <a:cubicBezTo>
                    <a:pt x="2034072" y="19117"/>
                    <a:pt x="2040552" y="14566"/>
                    <a:pt x="2048240" y="11355"/>
                  </a:cubicBezTo>
                  <a:cubicBezTo>
                    <a:pt x="2055928" y="8145"/>
                    <a:pt x="2064750" y="6539"/>
                    <a:pt x="2074706" y="6539"/>
                  </a:cubicBezTo>
                  <a:close/>
                  <a:moveTo>
                    <a:pt x="1958601" y="6539"/>
                  </a:moveTo>
                  <a:cubicBezTo>
                    <a:pt x="1965494" y="6539"/>
                    <a:pt x="1971871" y="7187"/>
                    <a:pt x="1977733" y="8483"/>
                  </a:cubicBezTo>
                  <a:cubicBezTo>
                    <a:pt x="1983594" y="9780"/>
                    <a:pt x="1988970" y="11517"/>
                    <a:pt x="1993860" y="13697"/>
                  </a:cubicBezTo>
                  <a:lnTo>
                    <a:pt x="1989176" y="26599"/>
                  </a:lnTo>
                  <a:cubicBezTo>
                    <a:pt x="1984522" y="24655"/>
                    <a:pt x="1979589" y="23035"/>
                    <a:pt x="1974375" y="21739"/>
                  </a:cubicBezTo>
                  <a:cubicBezTo>
                    <a:pt x="1969161" y="20442"/>
                    <a:pt x="1963786" y="19794"/>
                    <a:pt x="1958248" y="19794"/>
                  </a:cubicBezTo>
                  <a:cubicBezTo>
                    <a:pt x="1952710" y="19794"/>
                    <a:pt x="1948042" y="20604"/>
                    <a:pt x="1944242" y="22225"/>
                  </a:cubicBezTo>
                  <a:cubicBezTo>
                    <a:pt x="1940442" y="23845"/>
                    <a:pt x="1937541" y="26127"/>
                    <a:pt x="1935538" y="29073"/>
                  </a:cubicBezTo>
                  <a:cubicBezTo>
                    <a:pt x="1933535" y="32018"/>
                    <a:pt x="1932533" y="35524"/>
                    <a:pt x="1932533" y="39589"/>
                  </a:cubicBezTo>
                  <a:cubicBezTo>
                    <a:pt x="1932533" y="44125"/>
                    <a:pt x="1933490" y="47895"/>
                    <a:pt x="1935405" y="50900"/>
                  </a:cubicBezTo>
                  <a:cubicBezTo>
                    <a:pt x="1937320" y="53904"/>
                    <a:pt x="1940383" y="56570"/>
                    <a:pt x="1944595" y="58897"/>
                  </a:cubicBezTo>
                  <a:cubicBezTo>
                    <a:pt x="1948807" y="61224"/>
                    <a:pt x="1954389" y="63654"/>
                    <a:pt x="1961341" y="66187"/>
                  </a:cubicBezTo>
                  <a:cubicBezTo>
                    <a:pt x="1968940" y="68956"/>
                    <a:pt x="1975391" y="71887"/>
                    <a:pt x="1980693" y="74979"/>
                  </a:cubicBezTo>
                  <a:cubicBezTo>
                    <a:pt x="1985995" y="78072"/>
                    <a:pt x="1990030" y="81843"/>
                    <a:pt x="1992799" y="86290"/>
                  </a:cubicBezTo>
                  <a:cubicBezTo>
                    <a:pt x="1995568" y="90738"/>
                    <a:pt x="1996953" y="96379"/>
                    <a:pt x="1996953" y="103213"/>
                  </a:cubicBezTo>
                  <a:cubicBezTo>
                    <a:pt x="1996953" y="110871"/>
                    <a:pt x="1995053" y="117395"/>
                    <a:pt x="1991253" y="122786"/>
                  </a:cubicBezTo>
                  <a:cubicBezTo>
                    <a:pt x="1987453" y="128176"/>
                    <a:pt x="1982136" y="132285"/>
                    <a:pt x="1975303" y="135113"/>
                  </a:cubicBezTo>
                  <a:cubicBezTo>
                    <a:pt x="1968469" y="137941"/>
                    <a:pt x="1960428" y="139355"/>
                    <a:pt x="1951179" y="139355"/>
                  </a:cubicBezTo>
                  <a:cubicBezTo>
                    <a:pt x="1946289" y="139355"/>
                    <a:pt x="1941664" y="139119"/>
                    <a:pt x="1937305" y="138648"/>
                  </a:cubicBezTo>
                  <a:cubicBezTo>
                    <a:pt x="1932946" y="138176"/>
                    <a:pt x="1928939" y="137499"/>
                    <a:pt x="1925287" y="136615"/>
                  </a:cubicBezTo>
                  <a:cubicBezTo>
                    <a:pt x="1921635" y="135732"/>
                    <a:pt x="1918424" y="134642"/>
                    <a:pt x="1915655" y="133346"/>
                  </a:cubicBezTo>
                  <a:lnTo>
                    <a:pt x="1915655" y="118942"/>
                  </a:lnTo>
                  <a:cubicBezTo>
                    <a:pt x="1920074" y="120768"/>
                    <a:pt x="1925464" y="122462"/>
                    <a:pt x="1931826" y="124023"/>
                  </a:cubicBezTo>
                  <a:cubicBezTo>
                    <a:pt x="1938189" y="125584"/>
                    <a:pt x="1944845" y="126365"/>
                    <a:pt x="1951797" y="126365"/>
                  </a:cubicBezTo>
                  <a:cubicBezTo>
                    <a:pt x="1958277" y="126365"/>
                    <a:pt x="1963756" y="125496"/>
                    <a:pt x="1968233" y="123758"/>
                  </a:cubicBezTo>
                  <a:cubicBezTo>
                    <a:pt x="1972711" y="122020"/>
                    <a:pt x="1976113" y="119516"/>
                    <a:pt x="1978440" y="116247"/>
                  </a:cubicBezTo>
                  <a:cubicBezTo>
                    <a:pt x="1980767" y="112977"/>
                    <a:pt x="1981930" y="109045"/>
                    <a:pt x="1981930" y="104450"/>
                  </a:cubicBezTo>
                  <a:cubicBezTo>
                    <a:pt x="1981930" y="100031"/>
                    <a:pt x="1980958" y="96335"/>
                    <a:pt x="1979014" y="93360"/>
                  </a:cubicBezTo>
                  <a:cubicBezTo>
                    <a:pt x="1977070" y="90385"/>
                    <a:pt x="1973845" y="87675"/>
                    <a:pt x="1969338" y="85230"/>
                  </a:cubicBezTo>
                  <a:cubicBezTo>
                    <a:pt x="1964831" y="82785"/>
                    <a:pt x="1958690" y="80178"/>
                    <a:pt x="1950914" y="77410"/>
                  </a:cubicBezTo>
                  <a:cubicBezTo>
                    <a:pt x="1945435" y="75465"/>
                    <a:pt x="1940604" y="73330"/>
                    <a:pt x="1936421" y="71003"/>
                  </a:cubicBezTo>
                  <a:cubicBezTo>
                    <a:pt x="1932239" y="68676"/>
                    <a:pt x="1928734" y="66040"/>
                    <a:pt x="1925906" y="63094"/>
                  </a:cubicBezTo>
                  <a:cubicBezTo>
                    <a:pt x="1923078" y="60149"/>
                    <a:pt x="1920942" y="56732"/>
                    <a:pt x="1919499" y="52844"/>
                  </a:cubicBezTo>
                  <a:cubicBezTo>
                    <a:pt x="1918056" y="48955"/>
                    <a:pt x="1917334" y="44508"/>
                    <a:pt x="1917334" y="39500"/>
                  </a:cubicBezTo>
                  <a:cubicBezTo>
                    <a:pt x="1917334" y="32608"/>
                    <a:pt x="1919087" y="26702"/>
                    <a:pt x="1922592" y="21783"/>
                  </a:cubicBezTo>
                  <a:cubicBezTo>
                    <a:pt x="1926097" y="16864"/>
                    <a:pt x="1930957" y="13093"/>
                    <a:pt x="1937173" y="10472"/>
                  </a:cubicBezTo>
                  <a:cubicBezTo>
                    <a:pt x="1943387" y="7850"/>
                    <a:pt x="1950531" y="6539"/>
                    <a:pt x="1958601" y="6539"/>
                  </a:cubicBezTo>
                  <a:close/>
                  <a:moveTo>
                    <a:pt x="807881" y="6539"/>
                  </a:moveTo>
                  <a:cubicBezTo>
                    <a:pt x="814420" y="6539"/>
                    <a:pt x="820724" y="7187"/>
                    <a:pt x="826791" y="8483"/>
                  </a:cubicBezTo>
                  <a:cubicBezTo>
                    <a:pt x="832859" y="9780"/>
                    <a:pt x="838338" y="11635"/>
                    <a:pt x="843228" y="14051"/>
                  </a:cubicBezTo>
                  <a:lnTo>
                    <a:pt x="837219" y="26775"/>
                  </a:lnTo>
                  <a:cubicBezTo>
                    <a:pt x="833095" y="24890"/>
                    <a:pt x="828573" y="23255"/>
                    <a:pt x="823654" y="21871"/>
                  </a:cubicBezTo>
                  <a:cubicBezTo>
                    <a:pt x="818735" y="20487"/>
                    <a:pt x="813419" y="19794"/>
                    <a:pt x="807704" y="19794"/>
                  </a:cubicBezTo>
                  <a:cubicBezTo>
                    <a:pt x="800576" y="19794"/>
                    <a:pt x="794169" y="21017"/>
                    <a:pt x="788484" y="23462"/>
                  </a:cubicBezTo>
                  <a:cubicBezTo>
                    <a:pt x="782799" y="25906"/>
                    <a:pt x="777969" y="29441"/>
                    <a:pt x="773992" y="34066"/>
                  </a:cubicBezTo>
                  <a:cubicBezTo>
                    <a:pt x="770016" y="38690"/>
                    <a:pt x="766967" y="44272"/>
                    <a:pt x="764846" y="50811"/>
                  </a:cubicBezTo>
                  <a:cubicBezTo>
                    <a:pt x="762726" y="57350"/>
                    <a:pt x="761665" y="64714"/>
                    <a:pt x="761665" y="72903"/>
                  </a:cubicBezTo>
                  <a:cubicBezTo>
                    <a:pt x="761665" y="83742"/>
                    <a:pt x="763359" y="93154"/>
                    <a:pt x="766746" y="101136"/>
                  </a:cubicBezTo>
                  <a:cubicBezTo>
                    <a:pt x="770134" y="109118"/>
                    <a:pt x="775200" y="115289"/>
                    <a:pt x="781945" y="119649"/>
                  </a:cubicBezTo>
                  <a:cubicBezTo>
                    <a:pt x="788691" y="124008"/>
                    <a:pt x="797130" y="126188"/>
                    <a:pt x="807262" y="126188"/>
                  </a:cubicBezTo>
                  <a:cubicBezTo>
                    <a:pt x="813036" y="126188"/>
                    <a:pt x="818470" y="125702"/>
                    <a:pt x="823566" y="124730"/>
                  </a:cubicBezTo>
                  <a:cubicBezTo>
                    <a:pt x="828662" y="123758"/>
                    <a:pt x="833625" y="122535"/>
                    <a:pt x="838456" y="121063"/>
                  </a:cubicBezTo>
                  <a:lnTo>
                    <a:pt x="838456" y="134141"/>
                  </a:lnTo>
                  <a:cubicBezTo>
                    <a:pt x="833743" y="135908"/>
                    <a:pt x="828794" y="137219"/>
                    <a:pt x="823610" y="138073"/>
                  </a:cubicBezTo>
                  <a:cubicBezTo>
                    <a:pt x="818426" y="138927"/>
                    <a:pt x="812270" y="139355"/>
                    <a:pt x="805142" y="139355"/>
                  </a:cubicBezTo>
                  <a:cubicBezTo>
                    <a:pt x="792004" y="139355"/>
                    <a:pt x="781032" y="136630"/>
                    <a:pt x="772225" y="131181"/>
                  </a:cubicBezTo>
                  <a:cubicBezTo>
                    <a:pt x="763418" y="125731"/>
                    <a:pt x="756820" y="118029"/>
                    <a:pt x="752431" y="108073"/>
                  </a:cubicBezTo>
                  <a:cubicBezTo>
                    <a:pt x="748042" y="98117"/>
                    <a:pt x="745847" y="86364"/>
                    <a:pt x="745847" y="72814"/>
                  </a:cubicBezTo>
                  <a:cubicBezTo>
                    <a:pt x="745847" y="63035"/>
                    <a:pt x="747217" y="54095"/>
                    <a:pt x="749957" y="45995"/>
                  </a:cubicBezTo>
                  <a:cubicBezTo>
                    <a:pt x="752696" y="37895"/>
                    <a:pt x="756702" y="30899"/>
                    <a:pt x="761974" y="25008"/>
                  </a:cubicBezTo>
                  <a:cubicBezTo>
                    <a:pt x="767247" y="19117"/>
                    <a:pt x="773727" y="14566"/>
                    <a:pt x="781415" y="11355"/>
                  </a:cubicBezTo>
                  <a:cubicBezTo>
                    <a:pt x="789103" y="8145"/>
                    <a:pt x="797925" y="6539"/>
                    <a:pt x="807881" y="6539"/>
                  </a:cubicBezTo>
                  <a:close/>
                  <a:moveTo>
                    <a:pt x="289075" y="6539"/>
                  </a:moveTo>
                  <a:cubicBezTo>
                    <a:pt x="297028" y="6539"/>
                    <a:pt x="303892" y="7924"/>
                    <a:pt x="309665" y="10693"/>
                  </a:cubicBezTo>
                  <a:cubicBezTo>
                    <a:pt x="315438" y="13461"/>
                    <a:pt x="319901" y="17409"/>
                    <a:pt x="323052" y="22534"/>
                  </a:cubicBezTo>
                  <a:cubicBezTo>
                    <a:pt x="326204" y="27659"/>
                    <a:pt x="327780" y="33756"/>
                    <a:pt x="327780" y="40826"/>
                  </a:cubicBezTo>
                  <a:cubicBezTo>
                    <a:pt x="327780" y="47659"/>
                    <a:pt x="326425" y="54007"/>
                    <a:pt x="323715" y="59869"/>
                  </a:cubicBezTo>
                  <a:cubicBezTo>
                    <a:pt x="321005" y="65730"/>
                    <a:pt x="317205" y="71533"/>
                    <a:pt x="312316" y="77277"/>
                  </a:cubicBezTo>
                  <a:cubicBezTo>
                    <a:pt x="307426" y="83021"/>
                    <a:pt x="301712" y="89103"/>
                    <a:pt x="295173" y="95525"/>
                  </a:cubicBezTo>
                  <a:lnTo>
                    <a:pt x="267072" y="123537"/>
                  </a:lnTo>
                  <a:lnTo>
                    <a:pt x="267072" y="124156"/>
                  </a:lnTo>
                  <a:lnTo>
                    <a:pt x="333082" y="124156"/>
                  </a:lnTo>
                  <a:lnTo>
                    <a:pt x="333082" y="137587"/>
                  </a:lnTo>
                  <a:lnTo>
                    <a:pt x="248427" y="137587"/>
                  </a:lnTo>
                  <a:lnTo>
                    <a:pt x="248427" y="125304"/>
                  </a:lnTo>
                  <a:lnTo>
                    <a:pt x="282978" y="90223"/>
                  </a:lnTo>
                  <a:cubicBezTo>
                    <a:pt x="289399" y="83742"/>
                    <a:pt x="294805" y="77969"/>
                    <a:pt x="299193" y="72903"/>
                  </a:cubicBezTo>
                  <a:cubicBezTo>
                    <a:pt x="303582" y="67836"/>
                    <a:pt x="306925" y="62844"/>
                    <a:pt x="309223" y="57925"/>
                  </a:cubicBezTo>
                  <a:cubicBezTo>
                    <a:pt x="311521" y="53006"/>
                    <a:pt x="312669" y="47600"/>
                    <a:pt x="312669" y="41709"/>
                  </a:cubicBezTo>
                  <a:cubicBezTo>
                    <a:pt x="312669" y="34404"/>
                    <a:pt x="310504" y="28823"/>
                    <a:pt x="306174" y="24964"/>
                  </a:cubicBezTo>
                  <a:cubicBezTo>
                    <a:pt x="301844" y="21105"/>
                    <a:pt x="296145" y="19176"/>
                    <a:pt x="289075" y="19176"/>
                  </a:cubicBezTo>
                  <a:cubicBezTo>
                    <a:pt x="282890" y="19176"/>
                    <a:pt x="277411" y="20236"/>
                    <a:pt x="272639" y="22357"/>
                  </a:cubicBezTo>
                  <a:cubicBezTo>
                    <a:pt x="267867" y="24478"/>
                    <a:pt x="262978" y="27482"/>
                    <a:pt x="257970" y="31370"/>
                  </a:cubicBezTo>
                  <a:lnTo>
                    <a:pt x="250106" y="21473"/>
                  </a:lnTo>
                  <a:cubicBezTo>
                    <a:pt x="253523" y="18587"/>
                    <a:pt x="257249" y="16024"/>
                    <a:pt x="261284" y="13786"/>
                  </a:cubicBezTo>
                  <a:cubicBezTo>
                    <a:pt x="265319" y="11547"/>
                    <a:pt x="269649" y="9780"/>
                    <a:pt x="274274" y="8483"/>
                  </a:cubicBezTo>
                  <a:cubicBezTo>
                    <a:pt x="278898" y="7187"/>
                    <a:pt x="283832" y="6539"/>
                    <a:pt x="289075" y="6539"/>
                  </a:cubicBezTo>
                  <a:close/>
                  <a:moveTo>
                    <a:pt x="198281" y="6539"/>
                  </a:moveTo>
                  <a:cubicBezTo>
                    <a:pt x="204820" y="6539"/>
                    <a:pt x="211124" y="7187"/>
                    <a:pt x="217191" y="8483"/>
                  </a:cubicBezTo>
                  <a:cubicBezTo>
                    <a:pt x="223259" y="9780"/>
                    <a:pt x="228738" y="11635"/>
                    <a:pt x="233628" y="14051"/>
                  </a:cubicBezTo>
                  <a:lnTo>
                    <a:pt x="227619" y="26775"/>
                  </a:lnTo>
                  <a:cubicBezTo>
                    <a:pt x="223495" y="24890"/>
                    <a:pt x="218974" y="23255"/>
                    <a:pt x="214054" y="21871"/>
                  </a:cubicBezTo>
                  <a:cubicBezTo>
                    <a:pt x="209135" y="20487"/>
                    <a:pt x="203819" y="19794"/>
                    <a:pt x="198104" y="19794"/>
                  </a:cubicBezTo>
                  <a:cubicBezTo>
                    <a:pt x="190976" y="19794"/>
                    <a:pt x="184569" y="21017"/>
                    <a:pt x="178884" y="23462"/>
                  </a:cubicBezTo>
                  <a:cubicBezTo>
                    <a:pt x="173200" y="25906"/>
                    <a:pt x="168369" y="29441"/>
                    <a:pt x="164392" y="34066"/>
                  </a:cubicBezTo>
                  <a:cubicBezTo>
                    <a:pt x="160416" y="38690"/>
                    <a:pt x="157367" y="44272"/>
                    <a:pt x="155246" y="50811"/>
                  </a:cubicBezTo>
                  <a:cubicBezTo>
                    <a:pt x="153126" y="57350"/>
                    <a:pt x="152065" y="64714"/>
                    <a:pt x="152065" y="72903"/>
                  </a:cubicBezTo>
                  <a:cubicBezTo>
                    <a:pt x="152065" y="83742"/>
                    <a:pt x="153759" y="93154"/>
                    <a:pt x="157146" y="101136"/>
                  </a:cubicBezTo>
                  <a:cubicBezTo>
                    <a:pt x="160534" y="109118"/>
                    <a:pt x="165600" y="115289"/>
                    <a:pt x="172345" y="119649"/>
                  </a:cubicBezTo>
                  <a:cubicBezTo>
                    <a:pt x="179091" y="124008"/>
                    <a:pt x="187530" y="126188"/>
                    <a:pt x="197662" y="126188"/>
                  </a:cubicBezTo>
                  <a:cubicBezTo>
                    <a:pt x="203436" y="126188"/>
                    <a:pt x="208870" y="125702"/>
                    <a:pt x="213966" y="124730"/>
                  </a:cubicBezTo>
                  <a:cubicBezTo>
                    <a:pt x="219062" y="123758"/>
                    <a:pt x="224025" y="122535"/>
                    <a:pt x="228856" y="121063"/>
                  </a:cubicBezTo>
                  <a:lnTo>
                    <a:pt x="228856" y="134141"/>
                  </a:lnTo>
                  <a:cubicBezTo>
                    <a:pt x="224143" y="135908"/>
                    <a:pt x="219194" y="137219"/>
                    <a:pt x="214010" y="138073"/>
                  </a:cubicBezTo>
                  <a:cubicBezTo>
                    <a:pt x="208826" y="138927"/>
                    <a:pt x="202670" y="139355"/>
                    <a:pt x="195542" y="139355"/>
                  </a:cubicBezTo>
                  <a:cubicBezTo>
                    <a:pt x="182404" y="139355"/>
                    <a:pt x="171432" y="136630"/>
                    <a:pt x="162625" y="131181"/>
                  </a:cubicBezTo>
                  <a:cubicBezTo>
                    <a:pt x="153818" y="125731"/>
                    <a:pt x="147220" y="118029"/>
                    <a:pt x="142831" y="108073"/>
                  </a:cubicBezTo>
                  <a:cubicBezTo>
                    <a:pt x="138442" y="98117"/>
                    <a:pt x="136248" y="86364"/>
                    <a:pt x="136248" y="72814"/>
                  </a:cubicBezTo>
                  <a:cubicBezTo>
                    <a:pt x="136248" y="63035"/>
                    <a:pt x="137617" y="54095"/>
                    <a:pt x="140357" y="45995"/>
                  </a:cubicBezTo>
                  <a:cubicBezTo>
                    <a:pt x="143096" y="37895"/>
                    <a:pt x="147102" y="30899"/>
                    <a:pt x="152374" y="25008"/>
                  </a:cubicBezTo>
                  <a:cubicBezTo>
                    <a:pt x="157647" y="19117"/>
                    <a:pt x="164127" y="14566"/>
                    <a:pt x="171815" y="11355"/>
                  </a:cubicBezTo>
                  <a:cubicBezTo>
                    <a:pt x="179503" y="8145"/>
                    <a:pt x="188325" y="6539"/>
                    <a:pt x="198281" y="6539"/>
                  </a:cubicBezTo>
                  <a:close/>
                  <a:moveTo>
                    <a:pt x="82176" y="6539"/>
                  </a:moveTo>
                  <a:cubicBezTo>
                    <a:pt x="89069" y="6539"/>
                    <a:pt x="95446" y="7187"/>
                    <a:pt x="101308" y="8483"/>
                  </a:cubicBezTo>
                  <a:cubicBezTo>
                    <a:pt x="107169" y="9780"/>
                    <a:pt x="112545" y="11517"/>
                    <a:pt x="117435" y="13697"/>
                  </a:cubicBezTo>
                  <a:lnTo>
                    <a:pt x="112751" y="26599"/>
                  </a:lnTo>
                  <a:cubicBezTo>
                    <a:pt x="108097" y="24655"/>
                    <a:pt x="103163" y="23035"/>
                    <a:pt x="97950" y="21739"/>
                  </a:cubicBezTo>
                  <a:cubicBezTo>
                    <a:pt x="92736" y="20442"/>
                    <a:pt x="87361" y="19794"/>
                    <a:pt x="81823" y="19794"/>
                  </a:cubicBezTo>
                  <a:cubicBezTo>
                    <a:pt x="76285" y="19794"/>
                    <a:pt x="71617" y="20604"/>
                    <a:pt x="67817" y="22225"/>
                  </a:cubicBezTo>
                  <a:cubicBezTo>
                    <a:pt x="64017" y="23845"/>
                    <a:pt x="61116" y="26127"/>
                    <a:pt x="59113" y="29073"/>
                  </a:cubicBezTo>
                  <a:cubicBezTo>
                    <a:pt x="57110" y="32018"/>
                    <a:pt x="56108" y="35524"/>
                    <a:pt x="56108" y="39589"/>
                  </a:cubicBezTo>
                  <a:cubicBezTo>
                    <a:pt x="56108" y="44125"/>
                    <a:pt x="57066" y="47895"/>
                    <a:pt x="58980" y="50900"/>
                  </a:cubicBezTo>
                  <a:cubicBezTo>
                    <a:pt x="60895" y="53904"/>
                    <a:pt x="63958" y="56570"/>
                    <a:pt x="68170" y="58897"/>
                  </a:cubicBezTo>
                  <a:cubicBezTo>
                    <a:pt x="72382" y="61224"/>
                    <a:pt x="77964" y="63654"/>
                    <a:pt x="84916" y="66187"/>
                  </a:cubicBezTo>
                  <a:cubicBezTo>
                    <a:pt x="92515" y="68956"/>
                    <a:pt x="98966" y="71887"/>
                    <a:pt x="104268" y="74979"/>
                  </a:cubicBezTo>
                  <a:cubicBezTo>
                    <a:pt x="109570" y="78072"/>
                    <a:pt x="113605" y="81843"/>
                    <a:pt x="116374" y="86290"/>
                  </a:cubicBezTo>
                  <a:cubicBezTo>
                    <a:pt x="119143" y="90738"/>
                    <a:pt x="120528" y="96379"/>
                    <a:pt x="120528" y="103213"/>
                  </a:cubicBezTo>
                  <a:cubicBezTo>
                    <a:pt x="120528" y="110871"/>
                    <a:pt x="118628" y="117395"/>
                    <a:pt x="114828" y="122786"/>
                  </a:cubicBezTo>
                  <a:cubicBezTo>
                    <a:pt x="111028" y="128176"/>
                    <a:pt x="105711" y="132285"/>
                    <a:pt x="98878" y="135113"/>
                  </a:cubicBezTo>
                  <a:cubicBezTo>
                    <a:pt x="92044" y="137941"/>
                    <a:pt x="84003" y="139355"/>
                    <a:pt x="74754" y="139355"/>
                  </a:cubicBezTo>
                  <a:cubicBezTo>
                    <a:pt x="69864" y="139355"/>
                    <a:pt x="65239" y="139119"/>
                    <a:pt x="60880" y="138648"/>
                  </a:cubicBezTo>
                  <a:cubicBezTo>
                    <a:pt x="56521" y="138176"/>
                    <a:pt x="52515" y="137499"/>
                    <a:pt x="48862" y="136615"/>
                  </a:cubicBezTo>
                  <a:cubicBezTo>
                    <a:pt x="45210" y="135732"/>
                    <a:pt x="41999" y="134642"/>
                    <a:pt x="39230" y="133346"/>
                  </a:cubicBezTo>
                  <a:lnTo>
                    <a:pt x="39230" y="118942"/>
                  </a:lnTo>
                  <a:cubicBezTo>
                    <a:pt x="43649" y="120768"/>
                    <a:pt x="49039" y="122462"/>
                    <a:pt x="55401" y="124023"/>
                  </a:cubicBezTo>
                  <a:cubicBezTo>
                    <a:pt x="61764" y="125584"/>
                    <a:pt x="68421" y="126365"/>
                    <a:pt x="75372" y="126365"/>
                  </a:cubicBezTo>
                  <a:cubicBezTo>
                    <a:pt x="81852" y="126365"/>
                    <a:pt x="87331" y="125496"/>
                    <a:pt x="91808" y="123758"/>
                  </a:cubicBezTo>
                  <a:cubicBezTo>
                    <a:pt x="96286" y="122020"/>
                    <a:pt x="99688" y="119516"/>
                    <a:pt x="102015" y="116247"/>
                  </a:cubicBezTo>
                  <a:cubicBezTo>
                    <a:pt x="104342" y="112977"/>
                    <a:pt x="105505" y="109045"/>
                    <a:pt x="105505" y="104450"/>
                  </a:cubicBezTo>
                  <a:cubicBezTo>
                    <a:pt x="105505" y="100031"/>
                    <a:pt x="104533" y="96335"/>
                    <a:pt x="102589" y="93360"/>
                  </a:cubicBezTo>
                  <a:cubicBezTo>
                    <a:pt x="100645" y="90385"/>
                    <a:pt x="97420" y="87675"/>
                    <a:pt x="92913" y="85230"/>
                  </a:cubicBezTo>
                  <a:cubicBezTo>
                    <a:pt x="88406" y="82785"/>
                    <a:pt x="82265" y="80178"/>
                    <a:pt x="74488" y="77410"/>
                  </a:cubicBezTo>
                  <a:cubicBezTo>
                    <a:pt x="69010" y="75465"/>
                    <a:pt x="64179" y="73330"/>
                    <a:pt x="59996" y="71003"/>
                  </a:cubicBezTo>
                  <a:cubicBezTo>
                    <a:pt x="55814" y="68676"/>
                    <a:pt x="52308" y="66040"/>
                    <a:pt x="49481" y="63094"/>
                  </a:cubicBezTo>
                  <a:cubicBezTo>
                    <a:pt x="46653" y="60149"/>
                    <a:pt x="44517" y="56732"/>
                    <a:pt x="43074" y="52844"/>
                  </a:cubicBezTo>
                  <a:cubicBezTo>
                    <a:pt x="41631" y="48955"/>
                    <a:pt x="40909" y="44508"/>
                    <a:pt x="40909" y="39500"/>
                  </a:cubicBezTo>
                  <a:cubicBezTo>
                    <a:pt x="40909" y="32608"/>
                    <a:pt x="42662" y="26702"/>
                    <a:pt x="46167" y="21783"/>
                  </a:cubicBezTo>
                  <a:cubicBezTo>
                    <a:pt x="49672" y="16864"/>
                    <a:pt x="54532" y="13093"/>
                    <a:pt x="60747" y="10472"/>
                  </a:cubicBezTo>
                  <a:cubicBezTo>
                    <a:pt x="66963" y="7850"/>
                    <a:pt x="74106" y="6539"/>
                    <a:pt x="82176" y="6539"/>
                  </a:cubicBezTo>
                  <a:close/>
                  <a:moveTo>
                    <a:pt x="1635528" y="0"/>
                  </a:moveTo>
                  <a:lnTo>
                    <a:pt x="1647811" y="0"/>
                  </a:lnTo>
                  <a:lnTo>
                    <a:pt x="1647811" y="181417"/>
                  </a:lnTo>
                  <a:lnTo>
                    <a:pt x="1635528" y="18141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pic>
          <p:nvPicPr>
            <p:cNvPr id="8" name="SC 2025 logo">
              <a:extLst>
                <a:ext uri="{FF2B5EF4-FFF2-40B4-BE49-F238E27FC236}">
                  <a16:creationId xmlns:a16="http://schemas.microsoft.com/office/drawing/2014/main" id="{CDD3D1A7-D077-9925-06DD-F6525B949CC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1298" t="12156" r="20" b="12156"/>
            <a:stretch>
              <a:fillRect/>
            </a:stretch>
          </p:blipFill>
          <p:spPr>
            <a:xfrm>
              <a:off x="512366" y="270118"/>
              <a:ext cx="3094997" cy="519957"/>
            </a:xfrm>
            <a:prstGeom prst="rect">
              <a:avLst/>
            </a:prstGeom>
          </p:spPr>
        </p:pic>
      </p:grpSp>
    </p:spTree>
    <p:custDataLst>
      <p:tags r:id="rId1"/>
    </p:custDataLst>
    <p:extLst>
      <p:ext uri="{BB962C8B-B14F-4D97-AF65-F5344CB8AC3E}">
        <p14:creationId xmlns:p14="http://schemas.microsoft.com/office/powerpoint/2010/main" val="193337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9" orient="horz" pos="2160">
          <p15:clr>
            <a:srgbClr val="FBAE40"/>
          </p15:clr>
        </p15:guide>
        <p15:guide id="10"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Key Takeaways">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9914116-753C-5821-9568-2003BC6C73B1}"/>
              </a:ext>
            </a:extLst>
          </p:cNvPr>
          <p:cNvSpPr>
            <a:spLocks noGrp="1"/>
          </p:cNvSpPr>
          <p:nvPr>
            <p:ph sz="quarter" idx="11"/>
          </p:nvPr>
        </p:nvSpPr>
        <p:spPr>
          <a:xfrm>
            <a:off x="597316" y="2429223"/>
            <a:ext cx="11022322" cy="3747643"/>
          </a:xfrm>
        </p:spPr>
        <p:txBody>
          <a:bodyPr/>
          <a:lstStyle/>
          <a:p>
            <a:pPr lvl="0"/>
            <a:r>
              <a:rPr lang="en-US"/>
              <a:t>Click to edit Master text styles</a:t>
            </a:r>
          </a:p>
          <a:p>
            <a:pPr lvl="1"/>
            <a:r>
              <a:rPr lang="en-US"/>
              <a:t>Second level</a:t>
            </a:r>
          </a:p>
          <a:p>
            <a:pPr lvl="2"/>
            <a:r>
              <a:rPr lang="en-US"/>
              <a:t>Third level</a:t>
            </a:r>
          </a:p>
        </p:txBody>
      </p:sp>
      <p:sp>
        <p:nvSpPr>
          <p:cNvPr id="2" name="Key takeaways">
            <a:extLst>
              <a:ext uri="{FF2B5EF4-FFF2-40B4-BE49-F238E27FC236}">
                <a16:creationId xmlns:a16="http://schemas.microsoft.com/office/drawing/2014/main" id="{6E2286D2-B5B8-3D6F-AAB0-B1E909CBAA15}"/>
              </a:ext>
            </a:extLst>
          </p:cNvPr>
          <p:cNvSpPr txBox="1"/>
          <p:nvPr/>
        </p:nvSpPr>
        <p:spPr>
          <a:xfrm>
            <a:off x="570062" y="933450"/>
            <a:ext cx="11051877" cy="1352550"/>
          </a:xfrm>
          <a:prstGeom prst="rect">
            <a:avLst/>
          </a:prstGeom>
        </p:spPr>
        <p:txBody>
          <a:bodyPr vert="horz" lIns="0" tIns="0" rIns="0" bIns="0" rtlCol="0" anchor="ctr">
            <a:noAutofit/>
          </a:bodyPr>
          <a:lstStyle>
            <a:lvl1pPr algn="l" defTabSz="457109" eaLnBrk="1" hangingPunct="1">
              <a:lnSpc>
                <a:spcPct val="90000"/>
              </a:lnSpc>
              <a:spcBef>
                <a:spcPct val="0"/>
              </a:spcBef>
              <a:defRPr sz="4000" kern="1200">
                <a:solidFill>
                  <a:schemeClr val="accent1"/>
                </a:solidFill>
                <a:latin typeface="+mj-lt"/>
                <a:ea typeface="+mj-ea"/>
                <a:cs typeface="+mj-cs"/>
              </a:defRPr>
            </a:lvl1pPr>
          </a:lstStyle>
          <a:p>
            <a:pPr lvl="0"/>
            <a:r>
              <a:rPr lang="en-US" sz="4000" dirty="0"/>
              <a:t>Key Takeaways</a:t>
            </a:r>
          </a:p>
        </p:txBody>
      </p:sp>
      <p:sp>
        <p:nvSpPr>
          <p:cNvPr id="5" name="Text Placeholder 4">
            <a:extLst>
              <a:ext uri="{FF2B5EF4-FFF2-40B4-BE49-F238E27FC236}">
                <a16:creationId xmlns:a16="http://schemas.microsoft.com/office/drawing/2014/main" id="{8C222462-45AA-18C1-032B-CD6E294C9D46}"/>
              </a:ext>
            </a:extLst>
          </p:cNvPr>
          <p:cNvSpPr>
            <a:spLocks noGrp="1"/>
          </p:cNvSpPr>
          <p:nvPr>
            <p:ph type="body" sz="quarter" idx="12" hasCustomPrompt="1"/>
          </p:nvPr>
        </p:nvSpPr>
        <p:spPr>
          <a:xfrm>
            <a:off x="6216681" y="1"/>
            <a:ext cx="5975319" cy="1427955"/>
          </a:xfrm>
          <a:noFill/>
        </p:spPr>
        <p:txBody>
          <a:bodyPr lIns="91440" tIns="91440" rIns="91440" bIns="91440">
            <a:spAutoFit/>
          </a:bodyPr>
          <a:lstStyle>
            <a:lvl1pPr>
              <a:defRPr sz="2000" b="1">
                <a:solidFill>
                  <a:schemeClr val="accent5"/>
                </a:solidFill>
              </a:defRPr>
            </a:lvl1pPr>
          </a:lstStyle>
          <a:p>
            <a:pPr lvl="0"/>
            <a:r>
              <a:rPr lang="en-US"/>
              <a:t>With SmartArt, be sure to use white text with dark green (Accent 1) and indigo (Accent 3) backgrounds and black text with other colors. </a:t>
            </a:r>
          </a:p>
        </p:txBody>
      </p:sp>
    </p:spTree>
    <p:custDataLst>
      <p:tags r:id="rId1"/>
    </p:custDataLst>
    <p:extLst>
      <p:ext uri="{BB962C8B-B14F-4D97-AF65-F5344CB8AC3E}">
        <p14:creationId xmlns:p14="http://schemas.microsoft.com/office/powerpoint/2010/main" val="3763482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9" orient="horz" pos="2160">
          <p15:clr>
            <a:srgbClr val="FBAE40"/>
          </p15:clr>
        </p15:guide>
        <p15:guide id="10"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oll questions">
    <p:bg>
      <p:bgPr>
        <a:solidFill>
          <a:schemeClr val="accent4">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E42A2-F89D-6CCB-FF71-DEB921270844}"/>
              </a:ext>
            </a:extLst>
          </p:cNvPr>
          <p:cNvSpPr>
            <a:spLocks noGrp="1"/>
          </p:cNvSpPr>
          <p:nvPr>
            <p:ph type="title" hasCustomPrompt="1"/>
          </p:nvPr>
        </p:nvSpPr>
        <p:spPr>
          <a:xfrm>
            <a:off x="2659223" y="960437"/>
            <a:ext cx="8691401" cy="1325563"/>
          </a:xfrm>
          <a:prstGeom prst="rect">
            <a:avLst/>
          </a:prstGeom>
        </p:spPr>
        <p:txBody>
          <a:bodyPr anchor="ctr"/>
          <a:lstStyle>
            <a:lvl1pPr>
              <a:defRPr sz="4000" b="0">
                <a:solidFill>
                  <a:srgbClr val="458134"/>
                </a:solidFill>
                <a:latin typeface="Arial" panose="020B0604020202020204" pitchFamily="34" charset="0"/>
                <a:cs typeface="Arial" panose="020B0604020202020204" pitchFamily="34" charset="0"/>
              </a:defRPr>
            </a:lvl1pPr>
          </a:lstStyle>
          <a:p>
            <a:r>
              <a:rPr lang="en-US"/>
              <a:t>Type question here</a:t>
            </a:r>
          </a:p>
        </p:txBody>
      </p:sp>
      <p:sp>
        <p:nvSpPr>
          <p:cNvPr id="5" name="Text Placeholder 4">
            <a:extLst>
              <a:ext uri="{FF2B5EF4-FFF2-40B4-BE49-F238E27FC236}">
                <a16:creationId xmlns:a16="http://schemas.microsoft.com/office/drawing/2014/main" id="{10ABD383-D81E-E500-5CF7-3F7CD9C5C7EA}"/>
              </a:ext>
            </a:extLst>
          </p:cNvPr>
          <p:cNvSpPr>
            <a:spLocks noGrp="1"/>
          </p:cNvSpPr>
          <p:nvPr>
            <p:ph type="body" sz="quarter" idx="10" hasCustomPrompt="1"/>
          </p:nvPr>
        </p:nvSpPr>
        <p:spPr>
          <a:xfrm>
            <a:off x="569913" y="2416175"/>
            <a:ext cx="11048999" cy="3760788"/>
          </a:xfrm>
        </p:spPr>
        <p:txBody>
          <a:bodyPr/>
          <a:lstStyle>
            <a:lvl1pPr marL="457200" indent="-457200">
              <a:spcBef>
                <a:spcPts val="0"/>
              </a:spcBef>
              <a:spcAft>
                <a:spcPts val="500"/>
              </a:spcAft>
              <a:buFont typeface="+mj-lt"/>
              <a:buAutoNum type="alphaUcPeriod"/>
              <a:defRPr/>
            </a:lvl1pPr>
          </a:lstStyle>
          <a:p>
            <a:pPr lvl="0"/>
            <a:r>
              <a:rPr lang="en-US"/>
              <a:t>Type answer choices here</a:t>
            </a:r>
          </a:p>
        </p:txBody>
      </p:sp>
      <p:sp>
        <p:nvSpPr>
          <p:cNvPr id="3" name="Footer Placeholder 5">
            <a:extLst>
              <a:ext uri="{FF2B5EF4-FFF2-40B4-BE49-F238E27FC236}">
                <a16:creationId xmlns:a16="http://schemas.microsoft.com/office/drawing/2014/main" id="{C40DA2AA-215B-EEBB-68F3-087066605303}"/>
              </a:ext>
            </a:extLst>
          </p:cNvPr>
          <p:cNvSpPr>
            <a:spLocks noGrp="1"/>
          </p:cNvSpPr>
          <p:nvPr>
            <p:ph type="ftr" sz="quarter" idx="11"/>
          </p:nvPr>
        </p:nvSpPr>
        <p:spPr>
          <a:xfrm>
            <a:off x="569913" y="6432610"/>
            <a:ext cx="6654674" cy="169277"/>
          </a:xfrm>
        </p:spPr>
        <p:txBody>
          <a:bodyPr>
            <a:noAutofit/>
          </a:bodyPr>
          <a:lstStyle/>
          <a:p>
            <a:pPr algn="l"/>
            <a:r>
              <a:rPr lang="en-US" dirty="0"/>
              <a:t>Footnotes and Sources ⭐⭐⭐ DELETE IF NOT NEEDED ⭐⭐⭐</a:t>
            </a:r>
          </a:p>
        </p:txBody>
      </p:sp>
      <p:sp>
        <p:nvSpPr>
          <p:cNvPr id="4" name="TextBox 3">
            <a:extLst>
              <a:ext uri="{FF2B5EF4-FFF2-40B4-BE49-F238E27FC236}">
                <a16:creationId xmlns:a16="http://schemas.microsoft.com/office/drawing/2014/main" id="{5ED426F0-DE5E-0AD5-23AC-304204CF75AA}"/>
              </a:ext>
            </a:extLst>
          </p:cNvPr>
          <p:cNvSpPr txBox="1"/>
          <p:nvPr userDrawn="1"/>
        </p:nvSpPr>
        <p:spPr>
          <a:xfrm>
            <a:off x="838200" y="1284664"/>
            <a:ext cx="1588971" cy="677108"/>
          </a:xfrm>
          <a:prstGeom prst="rect">
            <a:avLst/>
          </a:prstGeom>
          <a:noFill/>
        </p:spPr>
        <p:txBody>
          <a:bodyPr wrap="square" lIns="0" tIns="0" rIns="0" bIns="0" rtlCol="0" anchor="ctr">
            <a:spAutoFit/>
          </a:bodyPr>
          <a:lstStyle/>
          <a:p>
            <a:pPr algn="l"/>
            <a:r>
              <a:rPr lang="en-US" sz="4400" b="1" dirty="0">
                <a:solidFill>
                  <a:schemeClr val="accent6"/>
                </a:solidFill>
              </a:rPr>
              <a:t>POLL</a:t>
            </a:r>
          </a:p>
        </p:txBody>
      </p:sp>
    </p:spTree>
    <p:custDataLst>
      <p:tags r:id="rId1"/>
    </p:custDataLst>
    <p:extLst>
      <p:ext uri="{BB962C8B-B14F-4D97-AF65-F5344CB8AC3E}">
        <p14:creationId xmlns:p14="http://schemas.microsoft.com/office/powerpoint/2010/main" val="451626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heme" Target="../theme/theme2.xml"/><Relationship Id="rId1" Type="http://schemas.openxmlformats.org/officeDocument/2006/relationships/slideLayout" Target="../slideLayouts/slideLayout5.xml"/><Relationship Id="rId6" Type="http://schemas.openxmlformats.org/officeDocument/2006/relationships/image" Target="../media/image2.png"/><Relationship Id="rId5" Type="http://schemas.openxmlformats.org/officeDocument/2006/relationships/image" Target="../media/image4.sv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C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5069284" cy="446980"/>
          </a:xfrm>
          <a:prstGeom prst="rect">
            <a:avLst/>
          </a:prstGeom>
          <a:noFill/>
          <a:ln/>
        </p:spPr>
        <p:txBody>
          <a:bodyPr wrap="square" lIns="0" tIns="0" rIns="0" bIns="0" rtlCol="0" anchor="t"/>
          <a:lstStyle>
            <a:lvl1pPr marL="0" indent="0" algn="l">
              <a:lnSpc>
                <a:spcPct val="115000"/>
              </a:lnSpc>
              <a:buNone/>
              <a:defRPr lang="en-US" sz="3200" dirty="0">
                <a:solidFill>
                  <a:srgbClr val="448334"/>
                </a:solidFill>
                <a:latin typeface="Arial" pitchFamily="34" charset="0"/>
                <a:ea typeface="Arial" pitchFamily="34" charset="-122"/>
                <a:cs typeface="Arial"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4580"/>
            <a:ext cx="10566400" cy="4480620"/>
          </a:xfrm>
          <a:prstGeom prst="rect">
            <a:avLst/>
          </a:prstGeom>
          <a:noFill/>
          <a:ln/>
        </p:spPr>
        <p:txBody>
          <a:bodyPr wrap="square" lIns="0" tIns="0" rIns="0" bIns="0" rtlCol="0" anchor="t"/>
          <a:lstStyle>
            <a:lvl1pPr marL="0" indent="0" algn="l">
              <a:lnSpc>
                <a:spcPct val="140000"/>
              </a:lnSpc>
              <a:buNone/>
              <a:defRPr lang="en-US" sz="1600" dirty="0">
                <a:solidFill>
                  <a:srgbClr val="448334"/>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7" name="Title Placeholder 16">
            <a:extLst>
              <a:ext uri="{FF2B5EF4-FFF2-40B4-BE49-F238E27FC236}">
                <a16:creationId xmlns:a16="http://schemas.microsoft.com/office/drawing/2014/main" id="{CC71D888-446C-2E19-550A-6547C8ED2039}"/>
              </a:ext>
            </a:extLst>
          </p:cNvPr>
          <p:cNvSpPr>
            <a:spLocks noGrp="1"/>
          </p:cNvSpPr>
          <p:nvPr userDrawn="1">
            <p:ph type="title"/>
          </p:nvPr>
        </p:nvSpPr>
        <p:spPr>
          <a:xfrm>
            <a:off x="597160" y="951253"/>
            <a:ext cx="11019452" cy="1325563"/>
          </a:xfrm>
          <a:prstGeom prst="rect">
            <a:avLst/>
          </a:prstGeom>
        </p:spPr>
        <p:txBody>
          <a:bodyPr vert="horz" lIns="0" tIns="0" rIns="0" bIns="0" rtlCol="0" anchor="ctr">
            <a:noAutofit/>
          </a:bodyPr>
          <a:lstStyle/>
          <a:p>
            <a:r>
              <a:rPr lang="en-US"/>
              <a:t>Title Case (Capitalize Important Words)</a:t>
            </a:r>
          </a:p>
        </p:txBody>
      </p:sp>
      <p:sp>
        <p:nvSpPr>
          <p:cNvPr id="18" name="Text Placeholder 17">
            <a:extLst>
              <a:ext uri="{FF2B5EF4-FFF2-40B4-BE49-F238E27FC236}">
                <a16:creationId xmlns:a16="http://schemas.microsoft.com/office/drawing/2014/main" id="{BB221828-6B4C-7E4C-D055-C9B0D49B05EC}"/>
              </a:ext>
            </a:extLst>
          </p:cNvPr>
          <p:cNvSpPr>
            <a:spLocks noGrp="1"/>
          </p:cNvSpPr>
          <p:nvPr userDrawn="1">
            <p:ph type="body" idx="1"/>
          </p:nvPr>
        </p:nvSpPr>
        <p:spPr>
          <a:xfrm>
            <a:off x="597160" y="2429222"/>
            <a:ext cx="11019452" cy="374764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p:txBody>
      </p:sp>
      <p:sp>
        <p:nvSpPr>
          <p:cNvPr id="3" name="Footer Placeholder 2">
            <a:extLst>
              <a:ext uri="{FF2B5EF4-FFF2-40B4-BE49-F238E27FC236}">
                <a16:creationId xmlns:a16="http://schemas.microsoft.com/office/drawing/2014/main" id="{C83E7B77-CE86-E32A-335B-7C7E850D2821}"/>
              </a:ext>
            </a:extLst>
          </p:cNvPr>
          <p:cNvSpPr>
            <a:spLocks noGrp="1"/>
          </p:cNvSpPr>
          <p:nvPr userDrawn="1">
            <p:ph type="ftr" sz="quarter" idx="3"/>
          </p:nvPr>
        </p:nvSpPr>
        <p:spPr>
          <a:xfrm>
            <a:off x="569913" y="6432610"/>
            <a:ext cx="6654674" cy="169277"/>
          </a:xfrm>
          <a:prstGeom prst="rect">
            <a:avLst/>
          </a:prstGeom>
        </p:spPr>
        <p:txBody>
          <a:bodyPr vert="horz" wrap="square" lIns="0" tIns="0" rIns="0" bIns="0" rtlCol="0" anchor="b" anchorCtr="0">
            <a:spAutoFit/>
          </a:bodyPr>
          <a:lstStyle>
            <a:lvl1pPr algn="ctr">
              <a:defRPr sz="1100">
                <a:solidFill>
                  <a:schemeClr val="tx1"/>
                </a:solidFill>
              </a:defRPr>
            </a:lvl1pPr>
          </a:lstStyle>
          <a:p>
            <a:pPr algn="l"/>
            <a:r>
              <a:rPr lang="en-US" dirty="0"/>
              <a:t>Footnotes and Sources ⭐⭐⭐ DELETE IF NOT NEEDED ⭐⭐⭐</a:t>
            </a:r>
          </a:p>
        </p:txBody>
      </p:sp>
      <p:pic>
        <p:nvPicPr>
          <p:cNvPr id="21" name="Pretty parallelograms" descr="A colorful rectangles on a black background&#10;&#10;Description automatically generated">
            <a:extLst>
              <a:ext uri="{FF2B5EF4-FFF2-40B4-BE49-F238E27FC236}">
                <a16:creationId xmlns:a16="http://schemas.microsoft.com/office/drawing/2014/main" id="{7AA56EFF-DC11-4E5D-1898-830E6ECCBFB0}"/>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l="-2359" t="-4906" r="44934" b="36063"/>
          <a:stretch/>
        </p:blipFill>
        <p:spPr>
          <a:xfrm>
            <a:off x="9852660" y="5031301"/>
            <a:ext cx="2336165" cy="1826699"/>
          </a:xfrm>
          <a:prstGeom prst="rect">
            <a:avLst/>
          </a:prstGeom>
        </p:spPr>
      </p:pic>
      <p:pic>
        <p:nvPicPr>
          <p:cNvPr id="6" name="KEEP FOR REFERENCE" hidden="1">
            <a:extLst>
              <a:ext uri="{FF2B5EF4-FFF2-40B4-BE49-F238E27FC236}">
                <a16:creationId xmlns:a16="http://schemas.microsoft.com/office/drawing/2014/main" id="{A776DBF2-CA60-B5BA-833F-E2E3560FC483}"/>
              </a:ext>
            </a:extLst>
          </p:cNvPr>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948568" y="5161401"/>
            <a:ext cx="4068737" cy="2651723"/>
          </a:xfrm>
          <a:prstGeom prst="rect">
            <a:avLst/>
          </a:prstGeom>
        </p:spPr>
      </p:pic>
      <p:sp>
        <p:nvSpPr>
          <p:cNvPr id="9" name="URL and hashtag">
            <a:extLst>
              <a:ext uri="{FF2B5EF4-FFF2-40B4-BE49-F238E27FC236}">
                <a16:creationId xmlns:a16="http://schemas.microsoft.com/office/drawing/2014/main" id="{74CD90AD-2882-2840-EB3E-EFD2694D1FF0}"/>
              </a:ext>
            </a:extLst>
          </p:cNvPr>
          <p:cNvSpPr>
            <a:spLocks noChangeAspect="1"/>
          </p:cNvSpPr>
          <p:nvPr userDrawn="1"/>
        </p:nvSpPr>
        <p:spPr>
          <a:xfrm>
            <a:off x="7482737" y="6427558"/>
            <a:ext cx="2960561" cy="179381"/>
          </a:xfrm>
          <a:custGeom>
            <a:avLst/>
            <a:gdLst/>
            <a:ahLst/>
            <a:cxnLst/>
            <a:rect l="l" t="t" r="r" b="b"/>
            <a:pathLst>
              <a:path w="2994143" h="181417">
                <a:moveTo>
                  <a:pt x="2592958" y="135555"/>
                </a:moveTo>
                <a:cubicBezTo>
                  <a:pt x="2588599" y="135555"/>
                  <a:pt x="2584799" y="136232"/>
                  <a:pt x="2581559" y="137587"/>
                </a:cubicBezTo>
                <a:cubicBezTo>
                  <a:pt x="2578319" y="138942"/>
                  <a:pt x="2575830" y="140945"/>
                  <a:pt x="2574092" y="143596"/>
                </a:cubicBezTo>
                <a:cubicBezTo>
                  <a:pt x="2572354" y="146247"/>
                  <a:pt x="2571485" y="149546"/>
                  <a:pt x="2571485" y="153493"/>
                </a:cubicBezTo>
                <a:cubicBezTo>
                  <a:pt x="2571485" y="158736"/>
                  <a:pt x="2573694" y="162728"/>
                  <a:pt x="2578112" y="165467"/>
                </a:cubicBezTo>
                <a:cubicBezTo>
                  <a:pt x="2582531" y="168206"/>
                  <a:pt x="2588834" y="169576"/>
                  <a:pt x="2597023" y="169576"/>
                </a:cubicBezTo>
                <a:cubicBezTo>
                  <a:pt x="2605035" y="169576"/>
                  <a:pt x="2611677" y="168766"/>
                  <a:pt x="2616950" y="167146"/>
                </a:cubicBezTo>
                <a:cubicBezTo>
                  <a:pt x="2622222" y="165526"/>
                  <a:pt x="2626169" y="163199"/>
                  <a:pt x="2628791" y="160165"/>
                </a:cubicBezTo>
                <a:cubicBezTo>
                  <a:pt x="2631412" y="157131"/>
                  <a:pt x="2632723" y="153523"/>
                  <a:pt x="2632723" y="149340"/>
                </a:cubicBezTo>
                <a:cubicBezTo>
                  <a:pt x="2632723" y="145452"/>
                  <a:pt x="2631839" y="142521"/>
                  <a:pt x="2630072" y="140548"/>
                </a:cubicBezTo>
                <a:cubicBezTo>
                  <a:pt x="2628305" y="138574"/>
                  <a:pt x="2625713" y="137249"/>
                  <a:pt x="2622296" y="136571"/>
                </a:cubicBezTo>
                <a:cubicBezTo>
                  <a:pt x="2618879" y="135894"/>
                  <a:pt x="2614696" y="135555"/>
                  <a:pt x="2609748" y="135555"/>
                </a:cubicBezTo>
                <a:close/>
                <a:moveTo>
                  <a:pt x="1107058" y="135555"/>
                </a:moveTo>
                <a:cubicBezTo>
                  <a:pt x="1102699" y="135555"/>
                  <a:pt x="1098899" y="136232"/>
                  <a:pt x="1095659" y="137587"/>
                </a:cubicBezTo>
                <a:cubicBezTo>
                  <a:pt x="1092419" y="138942"/>
                  <a:pt x="1089930" y="140945"/>
                  <a:pt x="1088192" y="143596"/>
                </a:cubicBezTo>
                <a:cubicBezTo>
                  <a:pt x="1086454" y="146247"/>
                  <a:pt x="1085585" y="149546"/>
                  <a:pt x="1085585" y="153493"/>
                </a:cubicBezTo>
                <a:cubicBezTo>
                  <a:pt x="1085585" y="158736"/>
                  <a:pt x="1087794" y="162728"/>
                  <a:pt x="1092213" y="165467"/>
                </a:cubicBezTo>
                <a:cubicBezTo>
                  <a:pt x="1096631" y="168206"/>
                  <a:pt x="1102934" y="169576"/>
                  <a:pt x="1111123" y="169576"/>
                </a:cubicBezTo>
                <a:cubicBezTo>
                  <a:pt x="1119135" y="169576"/>
                  <a:pt x="1125777" y="168766"/>
                  <a:pt x="1131050" y="167146"/>
                </a:cubicBezTo>
                <a:cubicBezTo>
                  <a:pt x="1136322" y="165526"/>
                  <a:pt x="1140269" y="163199"/>
                  <a:pt x="1142891" y="160165"/>
                </a:cubicBezTo>
                <a:cubicBezTo>
                  <a:pt x="1145512" y="157131"/>
                  <a:pt x="1146823" y="153523"/>
                  <a:pt x="1146823" y="149340"/>
                </a:cubicBezTo>
                <a:cubicBezTo>
                  <a:pt x="1146823" y="145452"/>
                  <a:pt x="1145939" y="142521"/>
                  <a:pt x="1144172" y="140548"/>
                </a:cubicBezTo>
                <a:cubicBezTo>
                  <a:pt x="1142405" y="138574"/>
                  <a:pt x="1139813" y="137249"/>
                  <a:pt x="1136396" y="136571"/>
                </a:cubicBezTo>
                <a:cubicBezTo>
                  <a:pt x="1132979" y="135894"/>
                  <a:pt x="1128796" y="135555"/>
                  <a:pt x="1123848" y="135555"/>
                </a:cubicBezTo>
                <a:close/>
                <a:moveTo>
                  <a:pt x="611758" y="135555"/>
                </a:moveTo>
                <a:cubicBezTo>
                  <a:pt x="607399" y="135555"/>
                  <a:pt x="603599" y="136232"/>
                  <a:pt x="600359" y="137587"/>
                </a:cubicBezTo>
                <a:cubicBezTo>
                  <a:pt x="597119" y="138942"/>
                  <a:pt x="594630" y="140945"/>
                  <a:pt x="592892" y="143596"/>
                </a:cubicBezTo>
                <a:cubicBezTo>
                  <a:pt x="591154" y="146247"/>
                  <a:pt x="590285" y="149546"/>
                  <a:pt x="590285" y="153493"/>
                </a:cubicBezTo>
                <a:cubicBezTo>
                  <a:pt x="590285" y="158736"/>
                  <a:pt x="592494" y="162728"/>
                  <a:pt x="596912" y="165467"/>
                </a:cubicBezTo>
                <a:cubicBezTo>
                  <a:pt x="601331" y="168206"/>
                  <a:pt x="607634" y="169576"/>
                  <a:pt x="615823" y="169576"/>
                </a:cubicBezTo>
                <a:cubicBezTo>
                  <a:pt x="623835" y="169576"/>
                  <a:pt x="630477" y="168766"/>
                  <a:pt x="635750" y="167146"/>
                </a:cubicBezTo>
                <a:cubicBezTo>
                  <a:pt x="641022" y="165526"/>
                  <a:pt x="644969" y="163199"/>
                  <a:pt x="647591" y="160165"/>
                </a:cubicBezTo>
                <a:cubicBezTo>
                  <a:pt x="650212" y="157131"/>
                  <a:pt x="651523" y="153523"/>
                  <a:pt x="651523" y="149340"/>
                </a:cubicBezTo>
                <a:cubicBezTo>
                  <a:pt x="651523" y="145452"/>
                  <a:pt x="650639" y="142521"/>
                  <a:pt x="648872" y="140548"/>
                </a:cubicBezTo>
                <a:cubicBezTo>
                  <a:pt x="647105" y="138574"/>
                  <a:pt x="644513" y="137249"/>
                  <a:pt x="641096" y="136571"/>
                </a:cubicBezTo>
                <a:cubicBezTo>
                  <a:pt x="637679" y="135894"/>
                  <a:pt x="633496" y="135555"/>
                  <a:pt x="628548" y="135555"/>
                </a:cubicBezTo>
                <a:close/>
                <a:moveTo>
                  <a:pt x="367871" y="116998"/>
                </a:moveTo>
                <a:cubicBezTo>
                  <a:pt x="370875" y="116998"/>
                  <a:pt x="373408" y="117867"/>
                  <a:pt x="375470" y="119605"/>
                </a:cubicBezTo>
                <a:cubicBezTo>
                  <a:pt x="377532" y="121343"/>
                  <a:pt x="378563" y="124273"/>
                  <a:pt x="378563" y="128397"/>
                </a:cubicBezTo>
                <a:cubicBezTo>
                  <a:pt x="378563" y="132462"/>
                  <a:pt x="377532" y="135422"/>
                  <a:pt x="375470" y="137278"/>
                </a:cubicBezTo>
                <a:cubicBezTo>
                  <a:pt x="373408" y="139134"/>
                  <a:pt x="370875" y="140062"/>
                  <a:pt x="367871" y="140062"/>
                </a:cubicBezTo>
                <a:cubicBezTo>
                  <a:pt x="364984" y="140062"/>
                  <a:pt x="362539" y="139134"/>
                  <a:pt x="360536" y="137278"/>
                </a:cubicBezTo>
                <a:cubicBezTo>
                  <a:pt x="358533" y="135422"/>
                  <a:pt x="357532" y="132462"/>
                  <a:pt x="357532" y="128397"/>
                </a:cubicBezTo>
                <a:cubicBezTo>
                  <a:pt x="357532" y="124273"/>
                  <a:pt x="358533" y="121343"/>
                  <a:pt x="360536" y="119605"/>
                </a:cubicBezTo>
                <a:cubicBezTo>
                  <a:pt x="362539" y="117867"/>
                  <a:pt x="364984" y="116998"/>
                  <a:pt x="367871" y="116998"/>
                </a:cubicBezTo>
                <a:close/>
                <a:moveTo>
                  <a:pt x="1792170" y="58146"/>
                </a:moveTo>
                <a:lnTo>
                  <a:pt x="1786337" y="88190"/>
                </a:lnTo>
                <a:lnTo>
                  <a:pt x="1813289" y="88190"/>
                </a:lnTo>
                <a:lnTo>
                  <a:pt x="1819122" y="58146"/>
                </a:lnTo>
                <a:close/>
                <a:moveTo>
                  <a:pt x="2389435" y="51341"/>
                </a:moveTo>
                <a:cubicBezTo>
                  <a:pt x="2379362" y="51341"/>
                  <a:pt x="2371983" y="54670"/>
                  <a:pt x="2367300" y="61327"/>
                </a:cubicBezTo>
                <a:cubicBezTo>
                  <a:pt x="2362616" y="67984"/>
                  <a:pt x="2360274" y="77203"/>
                  <a:pt x="2360274" y="88986"/>
                </a:cubicBezTo>
                <a:cubicBezTo>
                  <a:pt x="2360274" y="96762"/>
                  <a:pt x="2361306" y="103507"/>
                  <a:pt x="2363367" y="109222"/>
                </a:cubicBezTo>
                <a:cubicBezTo>
                  <a:pt x="2365429" y="114936"/>
                  <a:pt x="2368611" y="119354"/>
                  <a:pt x="2372911" y="122477"/>
                </a:cubicBezTo>
                <a:cubicBezTo>
                  <a:pt x="2377212" y="125599"/>
                  <a:pt x="2382749" y="127160"/>
                  <a:pt x="2389524" y="127160"/>
                </a:cubicBezTo>
                <a:cubicBezTo>
                  <a:pt x="2396240" y="127160"/>
                  <a:pt x="2401763" y="125599"/>
                  <a:pt x="2406093" y="122477"/>
                </a:cubicBezTo>
                <a:cubicBezTo>
                  <a:pt x="2410423" y="119354"/>
                  <a:pt x="2413619" y="114936"/>
                  <a:pt x="2415680" y="109222"/>
                </a:cubicBezTo>
                <a:cubicBezTo>
                  <a:pt x="2417742" y="103507"/>
                  <a:pt x="2418773" y="96762"/>
                  <a:pt x="2418773" y="88986"/>
                </a:cubicBezTo>
                <a:cubicBezTo>
                  <a:pt x="2418773" y="81268"/>
                  <a:pt x="2417742" y="74597"/>
                  <a:pt x="2415680" y="68971"/>
                </a:cubicBezTo>
                <a:cubicBezTo>
                  <a:pt x="2413619" y="63344"/>
                  <a:pt x="2410437" y="59000"/>
                  <a:pt x="2406137" y="55936"/>
                </a:cubicBezTo>
                <a:cubicBezTo>
                  <a:pt x="2401836" y="52873"/>
                  <a:pt x="2396269" y="51341"/>
                  <a:pt x="2389435" y="51341"/>
                </a:cubicBezTo>
                <a:close/>
                <a:moveTo>
                  <a:pt x="903536" y="51341"/>
                </a:moveTo>
                <a:cubicBezTo>
                  <a:pt x="893462" y="51341"/>
                  <a:pt x="886083" y="54670"/>
                  <a:pt x="881400" y="61327"/>
                </a:cubicBezTo>
                <a:cubicBezTo>
                  <a:pt x="876716" y="67984"/>
                  <a:pt x="874375" y="77203"/>
                  <a:pt x="874375" y="88986"/>
                </a:cubicBezTo>
                <a:cubicBezTo>
                  <a:pt x="874375" y="96762"/>
                  <a:pt x="875406" y="103507"/>
                  <a:pt x="877467" y="109222"/>
                </a:cubicBezTo>
                <a:cubicBezTo>
                  <a:pt x="879529" y="114936"/>
                  <a:pt x="882711" y="119354"/>
                  <a:pt x="887011" y="122477"/>
                </a:cubicBezTo>
                <a:cubicBezTo>
                  <a:pt x="891312" y="125599"/>
                  <a:pt x="896849" y="127160"/>
                  <a:pt x="903624" y="127160"/>
                </a:cubicBezTo>
                <a:cubicBezTo>
                  <a:pt x="910340" y="127160"/>
                  <a:pt x="915863" y="125599"/>
                  <a:pt x="920193" y="122477"/>
                </a:cubicBezTo>
                <a:cubicBezTo>
                  <a:pt x="924523" y="119354"/>
                  <a:pt x="927719" y="114936"/>
                  <a:pt x="929781" y="109222"/>
                </a:cubicBezTo>
                <a:cubicBezTo>
                  <a:pt x="931842" y="103507"/>
                  <a:pt x="932873" y="96762"/>
                  <a:pt x="932873" y="88986"/>
                </a:cubicBezTo>
                <a:cubicBezTo>
                  <a:pt x="932873" y="81268"/>
                  <a:pt x="931842" y="74597"/>
                  <a:pt x="929781" y="68971"/>
                </a:cubicBezTo>
                <a:cubicBezTo>
                  <a:pt x="927719" y="63344"/>
                  <a:pt x="924537" y="59000"/>
                  <a:pt x="920237" y="55936"/>
                </a:cubicBezTo>
                <a:cubicBezTo>
                  <a:pt x="915936" y="52873"/>
                  <a:pt x="910369" y="51341"/>
                  <a:pt x="903536" y="51341"/>
                </a:cubicBezTo>
                <a:close/>
                <a:moveTo>
                  <a:pt x="446336" y="51341"/>
                </a:moveTo>
                <a:cubicBezTo>
                  <a:pt x="436262" y="51341"/>
                  <a:pt x="428883" y="54670"/>
                  <a:pt x="424200" y="61327"/>
                </a:cubicBezTo>
                <a:cubicBezTo>
                  <a:pt x="419516" y="67984"/>
                  <a:pt x="417175" y="77203"/>
                  <a:pt x="417175" y="88986"/>
                </a:cubicBezTo>
                <a:cubicBezTo>
                  <a:pt x="417175" y="96762"/>
                  <a:pt x="418206" y="103507"/>
                  <a:pt x="420267" y="109222"/>
                </a:cubicBezTo>
                <a:cubicBezTo>
                  <a:pt x="422329" y="114936"/>
                  <a:pt x="425511" y="119354"/>
                  <a:pt x="429811" y="122477"/>
                </a:cubicBezTo>
                <a:cubicBezTo>
                  <a:pt x="434111" y="125599"/>
                  <a:pt x="439649" y="127160"/>
                  <a:pt x="446424" y="127160"/>
                </a:cubicBezTo>
                <a:cubicBezTo>
                  <a:pt x="453140" y="127160"/>
                  <a:pt x="458663" y="125599"/>
                  <a:pt x="462993" y="122477"/>
                </a:cubicBezTo>
                <a:cubicBezTo>
                  <a:pt x="467323" y="119354"/>
                  <a:pt x="470519" y="114936"/>
                  <a:pt x="472580" y="109222"/>
                </a:cubicBezTo>
                <a:cubicBezTo>
                  <a:pt x="474642" y="103507"/>
                  <a:pt x="475673" y="96762"/>
                  <a:pt x="475673" y="88986"/>
                </a:cubicBezTo>
                <a:cubicBezTo>
                  <a:pt x="475673" y="81268"/>
                  <a:pt x="474642" y="74597"/>
                  <a:pt x="472580" y="68971"/>
                </a:cubicBezTo>
                <a:cubicBezTo>
                  <a:pt x="470519" y="63344"/>
                  <a:pt x="467337" y="59000"/>
                  <a:pt x="463037" y="55936"/>
                </a:cubicBezTo>
                <a:cubicBezTo>
                  <a:pt x="458736" y="52873"/>
                  <a:pt x="453169" y="51341"/>
                  <a:pt x="446336" y="51341"/>
                </a:cubicBezTo>
                <a:close/>
                <a:moveTo>
                  <a:pt x="2778105" y="50988"/>
                </a:moveTo>
                <a:cubicBezTo>
                  <a:pt x="2770270" y="50988"/>
                  <a:pt x="2764025" y="53551"/>
                  <a:pt x="2759371" y="58676"/>
                </a:cubicBezTo>
                <a:cubicBezTo>
                  <a:pt x="2754717" y="63801"/>
                  <a:pt x="2751948" y="70959"/>
                  <a:pt x="2751065" y="80149"/>
                </a:cubicBezTo>
                <a:lnTo>
                  <a:pt x="2802317" y="80149"/>
                </a:lnTo>
                <a:cubicBezTo>
                  <a:pt x="2802258" y="74376"/>
                  <a:pt x="2801360" y="69295"/>
                  <a:pt x="2799622" y="64906"/>
                </a:cubicBezTo>
                <a:cubicBezTo>
                  <a:pt x="2797884" y="60517"/>
                  <a:pt x="2795248" y="57100"/>
                  <a:pt x="2791713" y="54655"/>
                </a:cubicBezTo>
                <a:cubicBezTo>
                  <a:pt x="2788179" y="52210"/>
                  <a:pt x="2783643" y="50988"/>
                  <a:pt x="2778105" y="50988"/>
                </a:cubicBezTo>
                <a:close/>
                <a:moveTo>
                  <a:pt x="1292205" y="50988"/>
                </a:moveTo>
                <a:cubicBezTo>
                  <a:pt x="1284370" y="50988"/>
                  <a:pt x="1278125" y="53551"/>
                  <a:pt x="1273471" y="58676"/>
                </a:cubicBezTo>
                <a:cubicBezTo>
                  <a:pt x="1268817" y="63801"/>
                  <a:pt x="1266048" y="70959"/>
                  <a:pt x="1265165" y="80149"/>
                </a:cubicBezTo>
                <a:lnTo>
                  <a:pt x="1316417" y="80149"/>
                </a:lnTo>
                <a:cubicBezTo>
                  <a:pt x="1316358" y="74376"/>
                  <a:pt x="1315460" y="69295"/>
                  <a:pt x="1313722" y="64906"/>
                </a:cubicBezTo>
                <a:cubicBezTo>
                  <a:pt x="1311984" y="60517"/>
                  <a:pt x="1309348" y="57100"/>
                  <a:pt x="1305813" y="54655"/>
                </a:cubicBezTo>
                <a:cubicBezTo>
                  <a:pt x="1302279" y="52210"/>
                  <a:pt x="1297742" y="50988"/>
                  <a:pt x="1292205" y="50988"/>
                </a:cubicBezTo>
                <a:close/>
                <a:moveTo>
                  <a:pt x="2600646" y="49662"/>
                </a:moveTo>
                <a:cubicBezTo>
                  <a:pt x="2593930" y="49662"/>
                  <a:pt x="2588761" y="51533"/>
                  <a:pt x="2585137" y="55274"/>
                </a:cubicBezTo>
                <a:cubicBezTo>
                  <a:pt x="2581514" y="59015"/>
                  <a:pt x="2579703" y="64479"/>
                  <a:pt x="2579703" y="71666"/>
                </a:cubicBezTo>
                <a:cubicBezTo>
                  <a:pt x="2579703" y="78264"/>
                  <a:pt x="2581529" y="83330"/>
                  <a:pt x="2585182" y="86865"/>
                </a:cubicBezTo>
                <a:cubicBezTo>
                  <a:pt x="2588834" y="90399"/>
                  <a:pt x="2594048" y="92167"/>
                  <a:pt x="2600823" y="92167"/>
                </a:cubicBezTo>
                <a:cubicBezTo>
                  <a:pt x="2607833" y="92167"/>
                  <a:pt x="2613106" y="90399"/>
                  <a:pt x="2616640" y="86865"/>
                </a:cubicBezTo>
                <a:cubicBezTo>
                  <a:pt x="2620175" y="83330"/>
                  <a:pt x="2621942" y="78175"/>
                  <a:pt x="2621942" y="71401"/>
                </a:cubicBezTo>
                <a:cubicBezTo>
                  <a:pt x="2621942" y="64155"/>
                  <a:pt x="2620146" y="58720"/>
                  <a:pt x="2616552" y="55097"/>
                </a:cubicBezTo>
                <a:cubicBezTo>
                  <a:pt x="2612958" y="51474"/>
                  <a:pt x="2607656" y="49662"/>
                  <a:pt x="2600646" y="49662"/>
                </a:cubicBezTo>
                <a:close/>
                <a:moveTo>
                  <a:pt x="1114746" y="49662"/>
                </a:moveTo>
                <a:cubicBezTo>
                  <a:pt x="1108030" y="49662"/>
                  <a:pt x="1102861" y="51533"/>
                  <a:pt x="1099238" y="55274"/>
                </a:cubicBezTo>
                <a:cubicBezTo>
                  <a:pt x="1095615" y="59015"/>
                  <a:pt x="1093803" y="64479"/>
                  <a:pt x="1093803" y="71666"/>
                </a:cubicBezTo>
                <a:cubicBezTo>
                  <a:pt x="1093803" y="78264"/>
                  <a:pt x="1095629" y="83330"/>
                  <a:pt x="1099282" y="86865"/>
                </a:cubicBezTo>
                <a:cubicBezTo>
                  <a:pt x="1102934" y="90399"/>
                  <a:pt x="1108148" y="92167"/>
                  <a:pt x="1114923" y="92167"/>
                </a:cubicBezTo>
                <a:cubicBezTo>
                  <a:pt x="1121933" y="92167"/>
                  <a:pt x="1127206" y="90399"/>
                  <a:pt x="1130740" y="86865"/>
                </a:cubicBezTo>
                <a:cubicBezTo>
                  <a:pt x="1134275" y="83330"/>
                  <a:pt x="1136042" y="78175"/>
                  <a:pt x="1136042" y="71401"/>
                </a:cubicBezTo>
                <a:cubicBezTo>
                  <a:pt x="1136042" y="64155"/>
                  <a:pt x="1134246" y="58720"/>
                  <a:pt x="1130652" y="55097"/>
                </a:cubicBezTo>
                <a:cubicBezTo>
                  <a:pt x="1127058" y="51474"/>
                  <a:pt x="1121756" y="49662"/>
                  <a:pt x="1114746" y="49662"/>
                </a:cubicBezTo>
                <a:close/>
                <a:moveTo>
                  <a:pt x="619446" y="49662"/>
                </a:moveTo>
                <a:cubicBezTo>
                  <a:pt x="612730" y="49662"/>
                  <a:pt x="607561" y="51533"/>
                  <a:pt x="603938" y="55274"/>
                </a:cubicBezTo>
                <a:cubicBezTo>
                  <a:pt x="600314" y="59015"/>
                  <a:pt x="598503" y="64479"/>
                  <a:pt x="598503" y="71666"/>
                </a:cubicBezTo>
                <a:cubicBezTo>
                  <a:pt x="598503" y="78264"/>
                  <a:pt x="600329" y="83330"/>
                  <a:pt x="603982" y="86865"/>
                </a:cubicBezTo>
                <a:cubicBezTo>
                  <a:pt x="607634" y="90399"/>
                  <a:pt x="612848" y="92167"/>
                  <a:pt x="619623" y="92167"/>
                </a:cubicBezTo>
                <a:cubicBezTo>
                  <a:pt x="626633" y="92167"/>
                  <a:pt x="631906" y="90399"/>
                  <a:pt x="635440" y="86865"/>
                </a:cubicBezTo>
                <a:cubicBezTo>
                  <a:pt x="638975" y="83330"/>
                  <a:pt x="640742" y="78175"/>
                  <a:pt x="640742" y="71401"/>
                </a:cubicBezTo>
                <a:cubicBezTo>
                  <a:pt x="640742" y="64155"/>
                  <a:pt x="638946" y="58720"/>
                  <a:pt x="635352" y="55097"/>
                </a:cubicBezTo>
                <a:cubicBezTo>
                  <a:pt x="631758" y="51474"/>
                  <a:pt x="626456" y="49662"/>
                  <a:pt x="619446" y="49662"/>
                </a:cubicBezTo>
                <a:close/>
                <a:moveTo>
                  <a:pt x="2961359" y="38970"/>
                </a:moveTo>
                <a:cubicBezTo>
                  <a:pt x="2967191" y="38970"/>
                  <a:pt x="2972655" y="39544"/>
                  <a:pt x="2977751" y="40693"/>
                </a:cubicBezTo>
                <a:cubicBezTo>
                  <a:pt x="2982847" y="41842"/>
                  <a:pt x="2987604" y="43388"/>
                  <a:pt x="2992022" y="45332"/>
                </a:cubicBezTo>
                <a:lnTo>
                  <a:pt x="2987073" y="57085"/>
                </a:lnTo>
                <a:cubicBezTo>
                  <a:pt x="2983068" y="55377"/>
                  <a:pt x="2978797" y="53933"/>
                  <a:pt x="2974260" y="52755"/>
                </a:cubicBezTo>
                <a:cubicBezTo>
                  <a:pt x="2969724" y="51577"/>
                  <a:pt x="2965100" y="50988"/>
                  <a:pt x="2960387" y="50988"/>
                </a:cubicBezTo>
                <a:cubicBezTo>
                  <a:pt x="2953612" y="50988"/>
                  <a:pt x="2948413" y="52107"/>
                  <a:pt x="2944790" y="54346"/>
                </a:cubicBezTo>
                <a:cubicBezTo>
                  <a:pt x="2941167" y="56584"/>
                  <a:pt x="2939355" y="59648"/>
                  <a:pt x="2939355" y="63536"/>
                </a:cubicBezTo>
                <a:cubicBezTo>
                  <a:pt x="2939355" y="66540"/>
                  <a:pt x="2940195" y="69015"/>
                  <a:pt x="2941874" y="70959"/>
                </a:cubicBezTo>
                <a:cubicBezTo>
                  <a:pt x="2943553" y="72903"/>
                  <a:pt x="2946248" y="74729"/>
                  <a:pt x="2949959" y="76437"/>
                </a:cubicBezTo>
                <a:cubicBezTo>
                  <a:pt x="2953671" y="78146"/>
                  <a:pt x="2958561" y="80149"/>
                  <a:pt x="2964628" y="82446"/>
                </a:cubicBezTo>
                <a:cubicBezTo>
                  <a:pt x="2970696" y="84685"/>
                  <a:pt x="2975939" y="86997"/>
                  <a:pt x="2980358" y="89383"/>
                </a:cubicBezTo>
                <a:cubicBezTo>
                  <a:pt x="2984776" y="91769"/>
                  <a:pt x="2988178" y="94656"/>
                  <a:pt x="2990564" y="98043"/>
                </a:cubicBezTo>
                <a:cubicBezTo>
                  <a:pt x="2992950" y="101431"/>
                  <a:pt x="2994143" y="105775"/>
                  <a:pt x="2994143" y="111077"/>
                </a:cubicBezTo>
                <a:cubicBezTo>
                  <a:pt x="2994143" y="117263"/>
                  <a:pt x="2992596" y="122462"/>
                  <a:pt x="2989504" y="126674"/>
                </a:cubicBezTo>
                <a:cubicBezTo>
                  <a:pt x="2986411" y="130886"/>
                  <a:pt x="2981992" y="134053"/>
                  <a:pt x="2976248" y="136173"/>
                </a:cubicBezTo>
                <a:cubicBezTo>
                  <a:pt x="2970505" y="138294"/>
                  <a:pt x="2963656" y="139355"/>
                  <a:pt x="2955703" y="139355"/>
                </a:cubicBezTo>
                <a:cubicBezTo>
                  <a:pt x="2948929" y="139355"/>
                  <a:pt x="2943067" y="138824"/>
                  <a:pt x="2938118" y="137764"/>
                </a:cubicBezTo>
                <a:cubicBezTo>
                  <a:pt x="2933170" y="136704"/>
                  <a:pt x="2928840" y="135201"/>
                  <a:pt x="2925128" y="133257"/>
                </a:cubicBezTo>
                <a:lnTo>
                  <a:pt x="2925128" y="119737"/>
                </a:lnTo>
                <a:cubicBezTo>
                  <a:pt x="2929076" y="121681"/>
                  <a:pt x="2933788" y="123449"/>
                  <a:pt x="2939267" y="125039"/>
                </a:cubicBezTo>
                <a:cubicBezTo>
                  <a:pt x="2944746" y="126630"/>
                  <a:pt x="2950343" y="127425"/>
                  <a:pt x="2956057" y="127425"/>
                </a:cubicBezTo>
                <a:cubicBezTo>
                  <a:pt x="2964422" y="127425"/>
                  <a:pt x="2970490" y="126070"/>
                  <a:pt x="2974260" y="123360"/>
                </a:cubicBezTo>
                <a:cubicBezTo>
                  <a:pt x="2978031" y="120650"/>
                  <a:pt x="2979916" y="116968"/>
                  <a:pt x="2979916" y="112314"/>
                </a:cubicBezTo>
                <a:cubicBezTo>
                  <a:pt x="2979916" y="109663"/>
                  <a:pt x="2979165" y="107322"/>
                  <a:pt x="2977662" y="105289"/>
                </a:cubicBezTo>
                <a:cubicBezTo>
                  <a:pt x="2976160" y="103257"/>
                  <a:pt x="2973642" y="101283"/>
                  <a:pt x="2970107" y="99369"/>
                </a:cubicBezTo>
                <a:cubicBezTo>
                  <a:pt x="2966572" y="97454"/>
                  <a:pt x="2961683" y="95348"/>
                  <a:pt x="2955438" y="93050"/>
                </a:cubicBezTo>
                <a:cubicBezTo>
                  <a:pt x="2949252" y="90694"/>
                  <a:pt x="2943906" y="88352"/>
                  <a:pt x="2939400" y="86025"/>
                </a:cubicBezTo>
                <a:cubicBezTo>
                  <a:pt x="2934893" y="83698"/>
                  <a:pt x="2931417" y="80856"/>
                  <a:pt x="2928972" y="77498"/>
                </a:cubicBezTo>
                <a:cubicBezTo>
                  <a:pt x="2926528" y="74140"/>
                  <a:pt x="2925305" y="69781"/>
                  <a:pt x="2925305" y="64420"/>
                </a:cubicBezTo>
                <a:cubicBezTo>
                  <a:pt x="2925305" y="56231"/>
                  <a:pt x="2928619" y="49942"/>
                  <a:pt x="2935246" y="45553"/>
                </a:cubicBezTo>
                <a:cubicBezTo>
                  <a:pt x="2941874" y="41164"/>
                  <a:pt x="2950578" y="38970"/>
                  <a:pt x="2961359" y="38970"/>
                </a:cubicBezTo>
                <a:close/>
                <a:moveTo>
                  <a:pt x="2875634" y="38970"/>
                </a:moveTo>
                <a:cubicBezTo>
                  <a:pt x="2881466" y="38970"/>
                  <a:pt x="2886930" y="39544"/>
                  <a:pt x="2892025" y="40693"/>
                </a:cubicBezTo>
                <a:cubicBezTo>
                  <a:pt x="2897121" y="41842"/>
                  <a:pt x="2901878" y="43388"/>
                  <a:pt x="2906297" y="45332"/>
                </a:cubicBezTo>
                <a:lnTo>
                  <a:pt x="2901348" y="57085"/>
                </a:lnTo>
                <a:cubicBezTo>
                  <a:pt x="2897342" y="55377"/>
                  <a:pt x="2893072" y="53933"/>
                  <a:pt x="2888535" y="52755"/>
                </a:cubicBezTo>
                <a:cubicBezTo>
                  <a:pt x="2883999" y="51577"/>
                  <a:pt x="2879375" y="50988"/>
                  <a:pt x="2874662" y="50988"/>
                </a:cubicBezTo>
                <a:cubicBezTo>
                  <a:pt x="2867887" y="50988"/>
                  <a:pt x="2862688" y="52107"/>
                  <a:pt x="2859065" y="54346"/>
                </a:cubicBezTo>
                <a:cubicBezTo>
                  <a:pt x="2855442" y="56584"/>
                  <a:pt x="2853630" y="59648"/>
                  <a:pt x="2853630" y="63536"/>
                </a:cubicBezTo>
                <a:cubicBezTo>
                  <a:pt x="2853630" y="66540"/>
                  <a:pt x="2854470" y="69015"/>
                  <a:pt x="2856149" y="70959"/>
                </a:cubicBezTo>
                <a:cubicBezTo>
                  <a:pt x="2857828" y="72903"/>
                  <a:pt x="2860523" y="74729"/>
                  <a:pt x="2864234" y="76437"/>
                </a:cubicBezTo>
                <a:cubicBezTo>
                  <a:pt x="2867946" y="78146"/>
                  <a:pt x="2872836" y="80149"/>
                  <a:pt x="2878903" y="82446"/>
                </a:cubicBezTo>
                <a:cubicBezTo>
                  <a:pt x="2884971" y="84685"/>
                  <a:pt x="2890214" y="86997"/>
                  <a:pt x="2894632" y="89383"/>
                </a:cubicBezTo>
                <a:cubicBezTo>
                  <a:pt x="2899051" y="91769"/>
                  <a:pt x="2902453" y="94656"/>
                  <a:pt x="2904839" y="98043"/>
                </a:cubicBezTo>
                <a:cubicBezTo>
                  <a:pt x="2907225" y="101431"/>
                  <a:pt x="2908417" y="105775"/>
                  <a:pt x="2908417" y="111077"/>
                </a:cubicBezTo>
                <a:cubicBezTo>
                  <a:pt x="2908417" y="117263"/>
                  <a:pt x="2906871" y="122462"/>
                  <a:pt x="2903778" y="126674"/>
                </a:cubicBezTo>
                <a:cubicBezTo>
                  <a:pt x="2900685" y="130886"/>
                  <a:pt x="2896267" y="134053"/>
                  <a:pt x="2890523" y="136173"/>
                </a:cubicBezTo>
                <a:cubicBezTo>
                  <a:pt x="2884779" y="138294"/>
                  <a:pt x="2877931" y="139355"/>
                  <a:pt x="2869978" y="139355"/>
                </a:cubicBezTo>
                <a:cubicBezTo>
                  <a:pt x="2863204" y="139355"/>
                  <a:pt x="2857342" y="138824"/>
                  <a:pt x="2852393" y="137764"/>
                </a:cubicBezTo>
                <a:cubicBezTo>
                  <a:pt x="2847445" y="136704"/>
                  <a:pt x="2843115" y="135201"/>
                  <a:pt x="2839403" y="133257"/>
                </a:cubicBezTo>
                <a:lnTo>
                  <a:pt x="2839403" y="119737"/>
                </a:lnTo>
                <a:cubicBezTo>
                  <a:pt x="2843350" y="121681"/>
                  <a:pt x="2848063" y="123449"/>
                  <a:pt x="2853542" y="125039"/>
                </a:cubicBezTo>
                <a:cubicBezTo>
                  <a:pt x="2859021" y="126630"/>
                  <a:pt x="2864618" y="127425"/>
                  <a:pt x="2870332" y="127425"/>
                </a:cubicBezTo>
                <a:cubicBezTo>
                  <a:pt x="2878697" y="127425"/>
                  <a:pt x="2884765" y="126070"/>
                  <a:pt x="2888535" y="123360"/>
                </a:cubicBezTo>
                <a:cubicBezTo>
                  <a:pt x="2892305" y="120650"/>
                  <a:pt x="2894190" y="116968"/>
                  <a:pt x="2894190" y="112314"/>
                </a:cubicBezTo>
                <a:cubicBezTo>
                  <a:pt x="2894190" y="109663"/>
                  <a:pt x="2893439" y="107322"/>
                  <a:pt x="2891937" y="105289"/>
                </a:cubicBezTo>
                <a:cubicBezTo>
                  <a:pt x="2890435" y="103257"/>
                  <a:pt x="2887916" y="101283"/>
                  <a:pt x="2884382" y="99369"/>
                </a:cubicBezTo>
                <a:cubicBezTo>
                  <a:pt x="2880847" y="97454"/>
                  <a:pt x="2875958" y="95348"/>
                  <a:pt x="2869713" y="93050"/>
                </a:cubicBezTo>
                <a:cubicBezTo>
                  <a:pt x="2863527" y="90694"/>
                  <a:pt x="2858181" y="88352"/>
                  <a:pt x="2853675" y="86025"/>
                </a:cubicBezTo>
                <a:cubicBezTo>
                  <a:pt x="2849168" y="83698"/>
                  <a:pt x="2845692" y="80856"/>
                  <a:pt x="2843247" y="77498"/>
                </a:cubicBezTo>
                <a:cubicBezTo>
                  <a:pt x="2840803" y="74140"/>
                  <a:pt x="2839580" y="69781"/>
                  <a:pt x="2839580" y="64420"/>
                </a:cubicBezTo>
                <a:cubicBezTo>
                  <a:pt x="2839580" y="56231"/>
                  <a:pt x="2842894" y="49942"/>
                  <a:pt x="2849521" y="45553"/>
                </a:cubicBezTo>
                <a:cubicBezTo>
                  <a:pt x="2856149" y="41164"/>
                  <a:pt x="2864853" y="38970"/>
                  <a:pt x="2875634" y="38970"/>
                </a:cubicBezTo>
                <a:close/>
                <a:moveTo>
                  <a:pt x="2778282" y="38970"/>
                </a:moveTo>
                <a:cubicBezTo>
                  <a:pt x="2786529" y="38970"/>
                  <a:pt x="2793598" y="40796"/>
                  <a:pt x="2799490" y="44449"/>
                </a:cubicBezTo>
                <a:cubicBezTo>
                  <a:pt x="2805381" y="48101"/>
                  <a:pt x="2809887" y="53212"/>
                  <a:pt x="2813010" y="59780"/>
                </a:cubicBezTo>
                <a:cubicBezTo>
                  <a:pt x="2816132" y="66349"/>
                  <a:pt x="2817693" y="74022"/>
                  <a:pt x="2817693" y="82800"/>
                </a:cubicBezTo>
                <a:lnTo>
                  <a:pt x="2817693" y="91902"/>
                </a:lnTo>
                <a:lnTo>
                  <a:pt x="2750799" y="91902"/>
                </a:lnTo>
                <a:cubicBezTo>
                  <a:pt x="2750976" y="103272"/>
                  <a:pt x="2753804" y="111931"/>
                  <a:pt x="2759283" y="117881"/>
                </a:cubicBezTo>
                <a:cubicBezTo>
                  <a:pt x="2764761" y="123831"/>
                  <a:pt x="2772479" y="126807"/>
                  <a:pt x="2782435" y="126807"/>
                </a:cubicBezTo>
                <a:cubicBezTo>
                  <a:pt x="2788561" y="126807"/>
                  <a:pt x="2793981" y="126247"/>
                  <a:pt x="2798694" y="125128"/>
                </a:cubicBezTo>
                <a:cubicBezTo>
                  <a:pt x="2803407" y="124008"/>
                  <a:pt x="2808297" y="122359"/>
                  <a:pt x="2813363" y="120179"/>
                </a:cubicBezTo>
                <a:lnTo>
                  <a:pt x="2813363" y="133081"/>
                </a:lnTo>
                <a:cubicBezTo>
                  <a:pt x="2808474" y="135260"/>
                  <a:pt x="2803628" y="136851"/>
                  <a:pt x="2798827" y="137852"/>
                </a:cubicBezTo>
                <a:cubicBezTo>
                  <a:pt x="2794026" y="138854"/>
                  <a:pt x="2788355" y="139355"/>
                  <a:pt x="2781816" y="139355"/>
                </a:cubicBezTo>
                <a:cubicBezTo>
                  <a:pt x="2772508" y="139355"/>
                  <a:pt x="2764393" y="137455"/>
                  <a:pt x="2757471" y="133655"/>
                </a:cubicBezTo>
                <a:cubicBezTo>
                  <a:pt x="2750549" y="129855"/>
                  <a:pt x="2745173" y="124273"/>
                  <a:pt x="2741344" y="116909"/>
                </a:cubicBezTo>
                <a:cubicBezTo>
                  <a:pt x="2737515" y="109546"/>
                  <a:pt x="2735600" y="100532"/>
                  <a:pt x="2735600" y="89869"/>
                </a:cubicBezTo>
                <a:cubicBezTo>
                  <a:pt x="2735600" y="79442"/>
                  <a:pt x="2737353" y="70414"/>
                  <a:pt x="2740858" y="62785"/>
                </a:cubicBezTo>
                <a:cubicBezTo>
                  <a:pt x="2744364" y="55156"/>
                  <a:pt x="2749312" y="49279"/>
                  <a:pt x="2755704" y="45156"/>
                </a:cubicBezTo>
                <a:cubicBezTo>
                  <a:pt x="2762096" y="41032"/>
                  <a:pt x="2769622" y="38970"/>
                  <a:pt x="2778282" y="38970"/>
                </a:cubicBezTo>
                <a:close/>
                <a:moveTo>
                  <a:pt x="2708797" y="38970"/>
                </a:moveTo>
                <a:cubicBezTo>
                  <a:pt x="2710741" y="38970"/>
                  <a:pt x="2712774" y="39073"/>
                  <a:pt x="2714895" y="39279"/>
                </a:cubicBezTo>
                <a:cubicBezTo>
                  <a:pt x="2717015" y="39485"/>
                  <a:pt x="2718901" y="39765"/>
                  <a:pt x="2720550" y="40119"/>
                </a:cubicBezTo>
                <a:lnTo>
                  <a:pt x="2718694" y="53727"/>
                </a:lnTo>
                <a:cubicBezTo>
                  <a:pt x="2717104" y="53315"/>
                  <a:pt x="2715337" y="52991"/>
                  <a:pt x="2713392" y="52755"/>
                </a:cubicBezTo>
                <a:cubicBezTo>
                  <a:pt x="2711448" y="52520"/>
                  <a:pt x="2709622" y="52402"/>
                  <a:pt x="2707914" y="52402"/>
                </a:cubicBezTo>
                <a:cubicBezTo>
                  <a:pt x="2704026" y="52402"/>
                  <a:pt x="2700358" y="53182"/>
                  <a:pt x="2696912" y="54743"/>
                </a:cubicBezTo>
                <a:cubicBezTo>
                  <a:pt x="2693466" y="56305"/>
                  <a:pt x="2690447" y="58543"/>
                  <a:pt x="2687854" y="61459"/>
                </a:cubicBezTo>
                <a:cubicBezTo>
                  <a:pt x="2685262" y="64375"/>
                  <a:pt x="2683230" y="67881"/>
                  <a:pt x="2681757" y="71975"/>
                </a:cubicBezTo>
                <a:cubicBezTo>
                  <a:pt x="2680285" y="76069"/>
                  <a:pt x="2679548" y="80620"/>
                  <a:pt x="2679548" y="85628"/>
                </a:cubicBezTo>
                <a:lnTo>
                  <a:pt x="2679548" y="137587"/>
                </a:lnTo>
                <a:lnTo>
                  <a:pt x="2664791" y="137587"/>
                </a:lnTo>
                <a:lnTo>
                  <a:pt x="2664791" y="40737"/>
                </a:lnTo>
                <a:lnTo>
                  <a:pt x="2676985" y="40737"/>
                </a:lnTo>
                <a:lnTo>
                  <a:pt x="2678576" y="58587"/>
                </a:lnTo>
                <a:lnTo>
                  <a:pt x="2679195" y="58587"/>
                </a:lnTo>
                <a:cubicBezTo>
                  <a:pt x="2681197" y="54994"/>
                  <a:pt x="2683613" y="51710"/>
                  <a:pt x="2686441" y="48735"/>
                </a:cubicBezTo>
                <a:cubicBezTo>
                  <a:pt x="2689268" y="45760"/>
                  <a:pt x="2692552" y="43388"/>
                  <a:pt x="2696293" y="41621"/>
                </a:cubicBezTo>
                <a:cubicBezTo>
                  <a:pt x="2700035" y="39854"/>
                  <a:pt x="2704202" y="38970"/>
                  <a:pt x="2708797" y="38970"/>
                </a:cubicBezTo>
                <a:close/>
                <a:moveTo>
                  <a:pt x="2501103" y="38970"/>
                </a:moveTo>
                <a:cubicBezTo>
                  <a:pt x="2512591" y="38970"/>
                  <a:pt x="2521280" y="41783"/>
                  <a:pt x="2527171" y="47409"/>
                </a:cubicBezTo>
                <a:cubicBezTo>
                  <a:pt x="2533062" y="53035"/>
                  <a:pt x="2536008" y="62063"/>
                  <a:pt x="2536008" y="74493"/>
                </a:cubicBezTo>
                <a:lnTo>
                  <a:pt x="2536008" y="137587"/>
                </a:lnTo>
                <a:lnTo>
                  <a:pt x="2521516" y="137587"/>
                </a:lnTo>
                <a:lnTo>
                  <a:pt x="2521516" y="75465"/>
                </a:lnTo>
                <a:cubicBezTo>
                  <a:pt x="2521516" y="67395"/>
                  <a:pt x="2519675" y="61356"/>
                  <a:pt x="2515993" y="57350"/>
                </a:cubicBezTo>
                <a:cubicBezTo>
                  <a:pt x="2512311" y="53344"/>
                  <a:pt x="2506670" y="51341"/>
                  <a:pt x="2499071" y="51341"/>
                </a:cubicBezTo>
                <a:cubicBezTo>
                  <a:pt x="2488349" y="51341"/>
                  <a:pt x="2480808" y="54375"/>
                  <a:pt x="2476449" y="60443"/>
                </a:cubicBezTo>
                <a:cubicBezTo>
                  <a:pt x="2472089" y="66511"/>
                  <a:pt x="2469910" y="75318"/>
                  <a:pt x="2469910" y="86865"/>
                </a:cubicBezTo>
                <a:lnTo>
                  <a:pt x="2469910" y="137587"/>
                </a:lnTo>
                <a:lnTo>
                  <a:pt x="2455241" y="137587"/>
                </a:lnTo>
                <a:lnTo>
                  <a:pt x="2455241" y="40737"/>
                </a:lnTo>
                <a:lnTo>
                  <a:pt x="2467082" y="40737"/>
                </a:lnTo>
                <a:lnTo>
                  <a:pt x="2469291" y="54699"/>
                </a:lnTo>
                <a:lnTo>
                  <a:pt x="2470086" y="54699"/>
                </a:lnTo>
                <a:cubicBezTo>
                  <a:pt x="2472148" y="51282"/>
                  <a:pt x="2474770" y="48411"/>
                  <a:pt x="2477951" y="46084"/>
                </a:cubicBezTo>
                <a:cubicBezTo>
                  <a:pt x="2481132" y="43757"/>
                  <a:pt x="2484696" y="41989"/>
                  <a:pt x="2488643" y="40782"/>
                </a:cubicBezTo>
                <a:cubicBezTo>
                  <a:pt x="2492591" y="39574"/>
                  <a:pt x="2496744" y="38970"/>
                  <a:pt x="2501103" y="38970"/>
                </a:cubicBezTo>
                <a:close/>
                <a:moveTo>
                  <a:pt x="2389789" y="38970"/>
                </a:moveTo>
                <a:cubicBezTo>
                  <a:pt x="2398626" y="38970"/>
                  <a:pt x="2406358" y="40944"/>
                  <a:pt x="2412985" y="44891"/>
                </a:cubicBezTo>
                <a:cubicBezTo>
                  <a:pt x="2419613" y="48838"/>
                  <a:pt x="2424768" y="54537"/>
                  <a:pt x="2428449" y="61990"/>
                </a:cubicBezTo>
                <a:cubicBezTo>
                  <a:pt x="2432131" y="69442"/>
                  <a:pt x="2433972" y="78440"/>
                  <a:pt x="2433972" y="88986"/>
                </a:cubicBezTo>
                <a:cubicBezTo>
                  <a:pt x="2433972" y="96939"/>
                  <a:pt x="2432942" y="104037"/>
                  <a:pt x="2430879" y="110282"/>
                </a:cubicBezTo>
                <a:cubicBezTo>
                  <a:pt x="2428817" y="116527"/>
                  <a:pt x="2425843" y="121799"/>
                  <a:pt x="2421954" y="126100"/>
                </a:cubicBezTo>
                <a:cubicBezTo>
                  <a:pt x="2418066" y="130400"/>
                  <a:pt x="2413368" y="133684"/>
                  <a:pt x="2407860" y="135952"/>
                </a:cubicBezTo>
                <a:cubicBezTo>
                  <a:pt x="2402352" y="138221"/>
                  <a:pt x="2396122" y="139355"/>
                  <a:pt x="2389170" y="139355"/>
                </a:cubicBezTo>
                <a:cubicBezTo>
                  <a:pt x="2382690" y="139355"/>
                  <a:pt x="2376755" y="138221"/>
                  <a:pt x="2371364" y="135952"/>
                </a:cubicBezTo>
                <a:cubicBezTo>
                  <a:pt x="2365974" y="133684"/>
                  <a:pt x="2361320" y="130400"/>
                  <a:pt x="2357403" y="126100"/>
                </a:cubicBezTo>
                <a:cubicBezTo>
                  <a:pt x="2353485" y="121799"/>
                  <a:pt x="2350451" y="116527"/>
                  <a:pt x="2348301" y="110282"/>
                </a:cubicBezTo>
                <a:cubicBezTo>
                  <a:pt x="2346151" y="104037"/>
                  <a:pt x="2345075" y="96939"/>
                  <a:pt x="2345075" y="88986"/>
                </a:cubicBezTo>
                <a:cubicBezTo>
                  <a:pt x="2345075" y="78382"/>
                  <a:pt x="2346872" y="69353"/>
                  <a:pt x="2350466" y="61901"/>
                </a:cubicBezTo>
                <a:cubicBezTo>
                  <a:pt x="2354059" y="54449"/>
                  <a:pt x="2359200" y="48764"/>
                  <a:pt x="2365886" y="44846"/>
                </a:cubicBezTo>
                <a:cubicBezTo>
                  <a:pt x="2372572" y="40929"/>
                  <a:pt x="2380540" y="38970"/>
                  <a:pt x="2389789" y="38970"/>
                </a:cubicBezTo>
                <a:close/>
                <a:moveTo>
                  <a:pt x="1475459" y="38970"/>
                </a:moveTo>
                <a:cubicBezTo>
                  <a:pt x="1481291" y="38970"/>
                  <a:pt x="1486755" y="39544"/>
                  <a:pt x="1491851" y="40693"/>
                </a:cubicBezTo>
                <a:cubicBezTo>
                  <a:pt x="1496947" y="41842"/>
                  <a:pt x="1501704" y="43388"/>
                  <a:pt x="1506122" y="45332"/>
                </a:cubicBezTo>
                <a:lnTo>
                  <a:pt x="1501173" y="57085"/>
                </a:lnTo>
                <a:cubicBezTo>
                  <a:pt x="1497167" y="55377"/>
                  <a:pt x="1492897" y="53933"/>
                  <a:pt x="1488360" y="52755"/>
                </a:cubicBezTo>
                <a:cubicBezTo>
                  <a:pt x="1483824" y="51577"/>
                  <a:pt x="1479200" y="50988"/>
                  <a:pt x="1474487" y="50988"/>
                </a:cubicBezTo>
                <a:cubicBezTo>
                  <a:pt x="1467712" y="50988"/>
                  <a:pt x="1462513" y="52107"/>
                  <a:pt x="1458890" y="54346"/>
                </a:cubicBezTo>
                <a:cubicBezTo>
                  <a:pt x="1455267" y="56584"/>
                  <a:pt x="1453455" y="59648"/>
                  <a:pt x="1453455" y="63536"/>
                </a:cubicBezTo>
                <a:cubicBezTo>
                  <a:pt x="1453455" y="66540"/>
                  <a:pt x="1454295" y="69015"/>
                  <a:pt x="1455974" y="70959"/>
                </a:cubicBezTo>
                <a:cubicBezTo>
                  <a:pt x="1457653" y="72903"/>
                  <a:pt x="1460348" y="74729"/>
                  <a:pt x="1464059" y="76437"/>
                </a:cubicBezTo>
                <a:cubicBezTo>
                  <a:pt x="1467771" y="78146"/>
                  <a:pt x="1472661" y="80149"/>
                  <a:pt x="1478728" y="82446"/>
                </a:cubicBezTo>
                <a:cubicBezTo>
                  <a:pt x="1484796" y="84685"/>
                  <a:pt x="1490039" y="86997"/>
                  <a:pt x="1494458" y="89383"/>
                </a:cubicBezTo>
                <a:cubicBezTo>
                  <a:pt x="1498876" y="91769"/>
                  <a:pt x="1502278" y="94656"/>
                  <a:pt x="1504664" y="98043"/>
                </a:cubicBezTo>
                <a:cubicBezTo>
                  <a:pt x="1507050" y="101431"/>
                  <a:pt x="1508243" y="105775"/>
                  <a:pt x="1508243" y="111077"/>
                </a:cubicBezTo>
                <a:cubicBezTo>
                  <a:pt x="1508243" y="117263"/>
                  <a:pt x="1506696" y="122462"/>
                  <a:pt x="1503604" y="126674"/>
                </a:cubicBezTo>
                <a:cubicBezTo>
                  <a:pt x="1500511" y="130886"/>
                  <a:pt x="1496092" y="134053"/>
                  <a:pt x="1490349" y="136173"/>
                </a:cubicBezTo>
                <a:cubicBezTo>
                  <a:pt x="1484605" y="138294"/>
                  <a:pt x="1477756" y="139355"/>
                  <a:pt x="1469803" y="139355"/>
                </a:cubicBezTo>
                <a:cubicBezTo>
                  <a:pt x="1463029" y="139355"/>
                  <a:pt x="1457167" y="138824"/>
                  <a:pt x="1452218" y="137764"/>
                </a:cubicBezTo>
                <a:cubicBezTo>
                  <a:pt x="1447270" y="136704"/>
                  <a:pt x="1442940" y="135201"/>
                  <a:pt x="1439228" y="133257"/>
                </a:cubicBezTo>
                <a:lnTo>
                  <a:pt x="1439228" y="119737"/>
                </a:lnTo>
                <a:cubicBezTo>
                  <a:pt x="1443175" y="121681"/>
                  <a:pt x="1447888" y="123449"/>
                  <a:pt x="1453367" y="125039"/>
                </a:cubicBezTo>
                <a:cubicBezTo>
                  <a:pt x="1458846" y="126630"/>
                  <a:pt x="1464442" y="127425"/>
                  <a:pt x="1470157" y="127425"/>
                </a:cubicBezTo>
                <a:cubicBezTo>
                  <a:pt x="1478522" y="127425"/>
                  <a:pt x="1484590" y="126070"/>
                  <a:pt x="1488360" y="123360"/>
                </a:cubicBezTo>
                <a:cubicBezTo>
                  <a:pt x="1492131" y="120650"/>
                  <a:pt x="1494016" y="116968"/>
                  <a:pt x="1494016" y="112314"/>
                </a:cubicBezTo>
                <a:cubicBezTo>
                  <a:pt x="1494016" y="109663"/>
                  <a:pt x="1493265" y="107322"/>
                  <a:pt x="1491762" y="105289"/>
                </a:cubicBezTo>
                <a:cubicBezTo>
                  <a:pt x="1490260" y="103257"/>
                  <a:pt x="1487742" y="101283"/>
                  <a:pt x="1484207" y="99369"/>
                </a:cubicBezTo>
                <a:cubicBezTo>
                  <a:pt x="1480672" y="97454"/>
                  <a:pt x="1475783" y="95348"/>
                  <a:pt x="1469538" y="93050"/>
                </a:cubicBezTo>
                <a:cubicBezTo>
                  <a:pt x="1463353" y="90694"/>
                  <a:pt x="1458006" y="88352"/>
                  <a:pt x="1453500" y="86025"/>
                </a:cubicBezTo>
                <a:cubicBezTo>
                  <a:pt x="1448993" y="83698"/>
                  <a:pt x="1445517" y="80856"/>
                  <a:pt x="1443072" y="77498"/>
                </a:cubicBezTo>
                <a:cubicBezTo>
                  <a:pt x="1440628" y="74140"/>
                  <a:pt x="1439405" y="69781"/>
                  <a:pt x="1439405" y="64420"/>
                </a:cubicBezTo>
                <a:cubicBezTo>
                  <a:pt x="1439405" y="56231"/>
                  <a:pt x="1442719" y="49942"/>
                  <a:pt x="1449346" y="45553"/>
                </a:cubicBezTo>
                <a:cubicBezTo>
                  <a:pt x="1455974" y="41164"/>
                  <a:pt x="1464678" y="38970"/>
                  <a:pt x="1475459" y="38970"/>
                </a:cubicBezTo>
                <a:close/>
                <a:moveTo>
                  <a:pt x="1389734" y="38970"/>
                </a:moveTo>
                <a:cubicBezTo>
                  <a:pt x="1395566" y="38970"/>
                  <a:pt x="1401030" y="39544"/>
                  <a:pt x="1406126" y="40693"/>
                </a:cubicBezTo>
                <a:cubicBezTo>
                  <a:pt x="1411222" y="41842"/>
                  <a:pt x="1415979" y="43388"/>
                  <a:pt x="1420397" y="45332"/>
                </a:cubicBezTo>
                <a:lnTo>
                  <a:pt x="1415448" y="57085"/>
                </a:lnTo>
                <a:cubicBezTo>
                  <a:pt x="1411442" y="55377"/>
                  <a:pt x="1407172" y="53933"/>
                  <a:pt x="1402635" y="52755"/>
                </a:cubicBezTo>
                <a:cubicBezTo>
                  <a:pt x="1398099" y="51577"/>
                  <a:pt x="1393475" y="50988"/>
                  <a:pt x="1388762" y="50988"/>
                </a:cubicBezTo>
                <a:cubicBezTo>
                  <a:pt x="1381987" y="50988"/>
                  <a:pt x="1376788" y="52107"/>
                  <a:pt x="1373165" y="54346"/>
                </a:cubicBezTo>
                <a:cubicBezTo>
                  <a:pt x="1369542" y="56584"/>
                  <a:pt x="1367730" y="59648"/>
                  <a:pt x="1367730" y="63536"/>
                </a:cubicBezTo>
                <a:cubicBezTo>
                  <a:pt x="1367730" y="66540"/>
                  <a:pt x="1368570" y="69015"/>
                  <a:pt x="1370249" y="70959"/>
                </a:cubicBezTo>
                <a:cubicBezTo>
                  <a:pt x="1371928" y="72903"/>
                  <a:pt x="1374623" y="74729"/>
                  <a:pt x="1378334" y="76437"/>
                </a:cubicBezTo>
                <a:cubicBezTo>
                  <a:pt x="1382046" y="78146"/>
                  <a:pt x="1386936" y="80149"/>
                  <a:pt x="1393003" y="82446"/>
                </a:cubicBezTo>
                <a:cubicBezTo>
                  <a:pt x="1399071" y="84685"/>
                  <a:pt x="1404314" y="86997"/>
                  <a:pt x="1408733" y="89383"/>
                </a:cubicBezTo>
                <a:cubicBezTo>
                  <a:pt x="1413151" y="91769"/>
                  <a:pt x="1416553" y="94656"/>
                  <a:pt x="1418939" y="98043"/>
                </a:cubicBezTo>
                <a:cubicBezTo>
                  <a:pt x="1421325" y="101431"/>
                  <a:pt x="1422518" y="105775"/>
                  <a:pt x="1422518" y="111077"/>
                </a:cubicBezTo>
                <a:cubicBezTo>
                  <a:pt x="1422518" y="117263"/>
                  <a:pt x="1420971" y="122462"/>
                  <a:pt x="1417879" y="126674"/>
                </a:cubicBezTo>
                <a:cubicBezTo>
                  <a:pt x="1414786" y="130886"/>
                  <a:pt x="1410367" y="134053"/>
                  <a:pt x="1404624" y="136173"/>
                </a:cubicBezTo>
                <a:cubicBezTo>
                  <a:pt x="1398880" y="138294"/>
                  <a:pt x="1392031" y="139355"/>
                  <a:pt x="1384078" y="139355"/>
                </a:cubicBezTo>
                <a:cubicBezTo>
                  <a:pt x="1377303" y="139355"/>
                  <a:pt x="1371442" y="138824"/>
                  <a:pt x="1366493" y="137764"/>
                </a:cubicBezTo>
                <a:cubicBezTo>
                  <a:pt x="1361545" y="136704"/>
                  <a:pt x="1357215" y="135201"/>
                  <a:pt x="1353503" y="133257"/>
                </a:cubicBezTo>
                <a:lnTo>
                  <a:pt x="1353503" y="119737"/>
                </a:lnTo>
                <a:cubicBezTo>
                  <a:pt x="1357450" y="121681"/>
                  <a:pt x="1362163" y="123449"/>
                  <a:pt x="1367642" y="125039"/>
                </a:cubicBezTo>
                <a:cubicBezTo>
                  <a:pt x="1373121" y="126630"/>
                  <a:pt x="1378717" y="127425"/>
                  <a:pt x="1384432" y="127425"/>
                </a:cubicBezTo>
                <a:cubicBezTo>
                  <a:pt x="1392797" y="127425"/>
                  <a:pt x="1398865" y="126070"/>
                  <a:pt x="1402635" y="123360"/>
                </a:cubicBezTo>
                <a:cubicBezTo>
                  <a:pt x="1406406" y="120650"/>
                  <a:pt x="1408291" y="116968"/>
                  <a:pt x="1408291" y="112314"/>
                </a:cubicBezTo>
                <a:cubicBezTo>
                  <a:pt x="1408291" y="109663"/>
                  <a:pt x="1407540" y="107322"/>
                  <a:pt x="1406037" y="105289"/>
                </a:cubicBezTo>
                <a:cubicBezTo>
                  <a:pt x="1404535" y="103257"/>
                  <a:pt x="1402017" y="101283"/>
                  <a:pt x="1398482" y="99369"/>
                </a:cubicBezTo>
                <a:cubicBezTo>
                  <a:pt x="1394947" y="97454"/>
                  <a:pt x="1390058" y="95348"/>
                  <a:pt x="1383813" y="93050"/>
                </a:cubicBezTo>
                <a:cubicBezTo>
                  <a:pt x="1377628" y="90694"/>
                  <a:pt x="1372281" y="88352"/>
                  <a:pt x="1367775" y="86025"/>
                </a:cubicBezTo>
                <a:cubicBezTo>
                  <a:pt x="1363268" y="83698"/>
                  <a:pt x="1359792" y="80856"/>
                  <a:pt x="1357347" y="77498"/>
                </a:cubicBezTo>
                <a:cubicBezTo>
                  <a:pt x="1354902" y="74140"/>
                  <a:pt x="1353680" y="69781"/>
                  <a:pt x="1353680" y="64420"/>
                </a:cubicBezTo>
                <a:cubicBezTo>
                  <a:pt x="1353680" y="56231"/>
                  <a:pt x="1356994" y="49942"/>
                  <a:pt x="1363621" y="45553"/>
                </a:cubicBezTo>
                <a:cubicBezTo>
                  <a:pt x="1370249" y="41164"/>
                  <a:pt x="1378953" y="38970"/>
                  <a:pt x="1389734" y="38970"/>
                </a:cubicBezTo>
                <a:close/>
                <a:moveTo>
                  <a:pt x="1292382" y="38970"/>
                </a:moveTo>
                <a:cubicBezTo>
                  <a:pt x="1300629" y="38970"/>
                  <a:pt x="1307699" y="40796"/>
                  <a:pt x="1313590" y="44449"/>
                </a:cubicBezTo>
                <a:cubicBezTo>
                  <a:pt x="1319481" y="48101"/>
                  <a:pt x="1323987" y="53212"/>
                  <a:pt x="1327110" y="59780"/>
                </a:cubicBezTo>
                <a:cubicBezTo>
                  <a:pt x="1330232" y="66349"/>
                  <a:pt x="1331793" y="74022"/>
                  <a:pt x="1331793" y="82800"/>
                </a:cubicBezTo>
                <a:lnTo>
                  <a:pt x="1331793" y="91902"/>
                </a:lnTo>
                <a:lnTo>
                  <a:pt x="1264900" y="91902"/>
                </a:lnTo>
                <a:cubicBezTo>
                  <a:pt x="1265076" y="103272"/>
                  <a:pt x="1267904" y="111931"/>
                  <a:pt x="1273383" y="117881"/>
                </a:cubicBezTo>
                <a:cubicBezTo>
                  <a:pt x="1278861" y="123831"/>
                  <a:pt x="1286579" y="126807"/>
                  <a:pt x="1296535" y="126807"/>
                </a:cubicBezTo>
                <a:cubicBezTo>
                  <a:pt x="1302662" y="126807"/>
                  <a:pt x="1308081" y="126247"/>
                  <a:pt x="1312794" y="125128"/>
                </a:cubicBezTo>
                <a:cubicBezTo>
                  <a:pt x="1317507" y="124008"/>
                  <a:pt x="1322397" y="122359"/>
                  <a:pt x="1327463" y="120179"/>
                </a:cubicBezTo>
                <a:lnTo>
                  <a:pt x="1327463" y="133081"/>
                </a:lnTo>
                <a:cubicBezTo>
                  <a:pt x="1322573" y="135260"/>
                  <a:pt x="1317728" y="136851"/>
                  <a:pt x="1312927" y="137852"/>
                </a:cubicBezTo>
                <a:cubicBezTo>
                  <a:pt x="1308126" y="138854"/>
                  <a:pt x="1302455" y="139355"/>
                  <a:pt x="1295916" y="139355"/>
                </a:cubicBezTo>
                <a:cubicBezTo>
                  <a:pt x="1286608" y="139355"/>
                  <a:pt x="1278493" y="137455"/>
                  <a:pt x="1271571" y="133655"/>
                </a:cubicBezTo>
                <a:cubicBezTo>
                  <a:pt x="1264649" y="129855"/>
                  <a:pt x="1259274" y="124273"/>
                  <a:pt x="1255444" y="116909"/>
                </a:cubicBezTo>
                <a:cubicBezTo>
                  <a:pt x="1251615" y="109546"/>
                  <a:pt x="1249700" y="100532"/>
                  <a:pt x="1249700" y="89869"/>
                </a:cubicBezTo>
                <a:cubicBezTo>
                  <a:pt x="1249700" y="79442"/>
                  <a:pt x="1251453" y="70414"/>
                  <a:pt x="1254958" y="62785"/>
                </a:cubicBezTo>
                <a:cubicBezTo>
                  <a:pt x="1258463" y="55156"/>
                  <a:pt x="1263412" y="49279"/>
                  <a:pt x="1269804" y="45156"/>
                </a:cubicBezTo>
                <a:cubicBezTo>
                  <a:pt x="1276196" y="41032"/>
                  <a:pt x="1283722" y="38970"/>
                  <a:pt x="1292382" y="38970"/>
                </a:cubicBezTo>
                <a:close/>
                <a:moveTo>
                  <a:pt x="1222897" y="38970"/>
                </a:moveTo>
                <a:cubicBezTo>
                  <a:pt x="1224842" y="38970"/>
                  <a:pt x="1226874" y="39073"/>
                  <a:pt x="1228995" y="39279"/>
                </a:cubicBezTo>
                <a:cubicBezTo>
                  <a:pt x="1231116" y="39485"/>
                  <a:pt x="1233001" y="39765"/>
                  <a:pt x="1234650" y="40119"/>
                </a:cubicBezTo>
                <a:lnTo>
                  <a:pt x="1232795" y="53727"/>
                </a:lnTo>
                <a:cubicBezTo>
                  <a:pt x="1231204" y="53315"/>
                  <a:pt x="1229437" y="52991"/>
                  <a:pt x="1227493" y="52755"/>
                </a:cubicBezTo>
                <a:cubicBezTo>
                  <a:pt x="1225548" y="52520"/>
                  <a:pt x="1223722" y="52402"/>
                  <a:pt x="1222014" y="52402"/>
                </a:cubicBezTo>
                <a:cubicBezTo>
                  <a:pt x="1218126" y="52402"/>
                  <a:pt x="1214458" y="53182"/>
                  <a:pt x="1211012" y="54743"/>
                </a:cubicBezTo>
                <a:cubicBezTo>
                  <a:pt x="1207566" y="56305"/>
                  <a:pt x="1204547" y="58543"/>
                  <a:pt x="1201955" y="61459"/>
                </a:cubicBezTo>
                <a:cubicBezTo>
                  <a:pt x="1199363" y="64375"/>
                  <a:pt x="1197330" y="67881"/>
                  <a:pt x="1195857" y="71975"/>
                </a:cubicBezTo>
                <a:cubicBezTo>
                  <a:pt x="1194385" y="76069"/>
                  <a:pt x="1193648" y="80620"/>
                  <a:pt x="1193648" y="85628"/>
                </a:cubicBezTo>
                <a:lnTo>
                  <a:pt x="1193648" y="137587"/>
                </a:lnTo>
                <a:lnTo>
                  <a:pt x="1178891" y="137587"/>
                </a:lnTo>
                <a:lnTo>
                  <a:pt x="1178891" y="40737"/>
                </a:lnTo>
                <a:lnTo>
                  <a:pt x="1191086" y="40737"/>
                </a:lnTo>
                <a:lnTo>
                  <a:pt x="1192676" y="58587"/>
                </a:lnTo>
                <a:lnTo>
                  <a:pt x="1193295" y="58587"/>
                </a:lnTo>
                <a:cubicBezTo>
                  <a:pt x="1195298" y="54994"/>
                  <a:pt x="1197713" y="51710"/>
                  <a:pt x="1200541" y="48735"/>
                </a:cubicBezTo>
                <a:cubicBezTo>
                  <a:pt x="1203368" y="45760"/>
                  <a:pt x="1206653" y="43388"/>
                  <a:pt x="1210394" y="41621"/>
                </a:cubicBezTo>
                <a:cubicBezTo>
                  <a:pt x="1214134" y="39854"/>
                  <a:pt x="1218302" y="38970"/>
                  <a:pt x="1222897" y="38970"/>
                </a:cubicBezTo>
                <a:close/>
                <a:moveTo>
                  <a:pt x="1015203" y="38970"/>
                </a:moveTo>
                <a:cubicBezTo>
                  <a:pt x="1026691" y="38970"/>
                  <a:pt x="1035380" y="41783"/>
                  <a:pt x="1041271" y="47409"/>
                </a:cubicBezTo>
                <a:cubicBezTo>
                  <a:pt x="1047163" y="53035"/>
                  <a:pt x="1050108" y="62063"/>
                  <a:pt x="1050108" y="74493"/>
                </a:cubicBezTo>
                <a:lnTo>
                  <a:pt x="1050108" y="137587"/>
                </a:lnTo>
                <a:lnTo>
                  <a:pt x="1035616" y="137587"/>
                </a:lnTo>
                <a:lnTo>
                  <a:pt x="1035616" y="75465"/>
                </a:lnTo>
                <a:cubicBezTo>
                  <a:pt x="1035616" y="67395"/>
                  <a:pt x="1033775" y="61356"/>
                  <a:pt x="1030093" y="57350"/>
                </a:cubicBezTo>
                <a:cubicBezTo>
                  <a:pt x="1026411" y="53344"/>
                  <a:pt x="1020770" y="51341"/>
                  <a:pt x="1013171" y="51341"/>
                </a:cubicBezTo>
                <a:cubicBezTo>
                  <a:pt x="1002449" y="51341"/>
                  <a:pt x="994908" y="54375"/>
                  <a:pt x="990549" y="60443"/>
                </a:cubicBezTo>
                <a:cubicBezTo>
                  <a:pt x="986190" y="66511"/>
                  <a:pt x="984010" y="75318"/>
                  <a:pt x="984010" y="86865"/>
                </a:cubicBezTo>
                <a:lnTo>
                  <a:pt x="984010" y="137587"/>
                </a:lnTo>
                <a:lnTo>
                  <a:pt x="969341" y="137587"/>
                </a:lnTo>
                <a:lnTo>
                  <a:pt x="969341" y="40737"/>
                </a:lnTo>
                <a:lnTo>
                  <a:pt x="981182" y="40737"/>
                </a:lnTo>
                <a:lnTo>
                  <a:pt x="983391" y="54699"/>
                </a:lnTo>
                <a:lnTo>
                  <a:pt x="984187" y="54699"/>
                </a:lnTo>
                <a:cubicBezTo>
                  <a:pt x="986248" y="51282"/>
                  <a:pt x="988870" y="48411"/>
                  <a:pt x="992051" y="46084"/>
                </a:cubicBezTo>
                <a:cubicBezTo>
                  <a:pt x="995232" y="43757"/>
                  <a:pt x="998796" y="41989"/>
                  <a:pt x="1002743" y="40782"/>
                </a:cubicBezTo>
                <a:cubicBezTo>
                  <a:pt x="1006691" y="39574"/>
                  <a:pt x="1010844" y="38970"/>
                  <a:pt x="1015203" y="38970"/>
                </a:cubicBezTo>
                <a:close/>
                <a:moveTo>
                  <a:pt x="903889" y="38970"/>
                </a:moveTo>
                <a:cubicBezTo>
                  <a:pt x="912726" y="38970"/>
                  <a:pt x="920458" y="40944"/>
                  <a:pt x="927085" y="44891"/>
                </a:cubicBezTo>
                <a:cubicBezTo>
                  <a:pt x="933713" y="48838"/>
                  <a:pt x="938868" y="54537"/>
                  <a:pt x="942550" y="61990"/>
                </a:cubicBezTo>
                <a:cubicBezTo>
                  <a:pt x="946231" y="69442"/>
                  <a:pt x="948072" y="78440"/>
                  <a:pt x="948072" y="88986"/>
                </a:cubicBezTo>
                <a:cubicBezTo>
                  <a:pt x="948072" y="96939"/>
                  <a:pt x="947042" y="104037"/>
                  <a:pt x="944980" y="110282"/>
                </a:cubicBezTo>
                <a:cubicBezTo>
                  <a:pt x="942918" y="116527"/>
                  <a:pt x="939943" y="121799"/>
                  <a:pt x="936054" y="126100"/>
                </a:cubicBezTo>
                <a:cubicBezTo>
                  <a:pt x="932166" y="130400"/>
                  <a:pt x="927468" y="133684"/>
                  <a:pt x="921960" y="135952"/>
                </a:cubicBezTo>
                <a:cubicBezTo>
                  <a:pt x="916452" y="138221"/>
                  <a:pt x="910222" y="139355"/>
                  <a:pt x="903271" y="139355"/>
                </a:cubicBezTo>
                <a:cubicBezTo>
                  <a:pt x="896790" y="139355"/>
                  <a:pt x="890855" y="138221"/>
                  <a:pt x="885465" y="135952"/>
                </a:cubicBezTo>
                <a:cubicBezTo>
                  <a:pt x="880074" y="133684"/>
                  <a:pt x="875420" y="130400"/>
                  <a:pt x="871503" y="126100"/>
                </a:cubicBezTo>
                <a:cubicBezTo>
                  <a:pt x="867585" y="121799"/>
                  <a:pt x="864551" y="116527"/>
                  <a:pt x="862401" y="110282"/>
                </a:cubicBezTo>
                <a:cubicBezTo>
                  <a:pt x="860251" y="104037"/>
                  <a:pt x="859175" y="96939"/>
                  <a:pt x="859175" y="88986"/>
                </a:cubicBezTo>
                <a:cubicBezTo>
                  <a:pt x="859175" y="78382"/>
                  <a:pt x="860972" y="69353"/>
                  <a:pt x="864566" y="61901"/>
                </a:cubicBezTo>
                <a:cubicBezTo>
                  <a:pt x="868160" y="54449"/>
                  <a:pt x="873300" y="48764"/>
                  <a:pt x="879986" y="44846"/>
                </a:cubicBezTo>
                <a:cubicBezTo>
                  <a:pt x="886672" y="40929"/>
                  <a:pt x="894640" y="38970"/>
                  <a:pt x="903889" y="38970"/>
                </a:cubicBezTo>
                <a:close/>
                <a:moveTo>
                  <a:pt x="556147" y="38970"/>
                </a:moveTo>
                <a:cubicBezTo>
                  <a:pt x="558091" y="38970"/>
                  <a:pt x="560124" y="39073"/>
                  <a:pt x="562245" y="39279"/>
                </a:cubicBezTo>
                <a:cubicBezTo>
                  <a:pt x="564366" y="39485"/>
                  <a:pt x="566251" y="39765"/>
                  <a:pt x="567900" y="40119"/>
                </a:cubicBezTo>
                <a:lnTo>
                  <a:pt x="566044" y="53727"/>
                </a:lnTo>
                <a:cubicBezTo>
                  <a:pt x="564454" y="53315"/>
                  <a:pt x="562687" y="52991"/>
                  <a:pt x="560742" y="52755"/>
                </a:cubicBezTo>
                <a:cubicBezTo>
                  <a:pt x="558798" y="52520"/>
                  <a:pt x="556972" y="52402"/>
                  <a:pt x="555264" y="52402"/>
                </a:cubicBezTo>
                <a:cubicBezTo>
                  <a:pt x="551376" y="52402"/>
                  <a:pt x="547708" y="53182"/>
                  <a:pt x="544262" y="54743"/>
                </a:cubicBezTo>
                <a:cubicBezTo>
                  <a:pt x="540816" y="56305"/>
                  <a:pt x="537797" y="58543"/>
                  <a:pt x="535205" y="61459"/>
                </a:cubicBezTo>
                <a:cubicBezTo>
                  <a:pt x="532613" y="64375"/>
                  <a:pt x="530580" y="67881"/>
                  <a:pt x="529107" y="71975"/>
                </a:cubicBezTo>
                <a:cubicBezTo>
                  <a:pt x="527634" y="76069"/>
                  <a:pt x="526898" y="80620"/>
                  <a:pt x="526898" y="85628"/>
                </a:cubicBezTo>
                <a:lnTo>
                  <a:pt x="526898" y="137587"/>
                </a:lnTo>
                <a:lnTo>
                  <a:pt x="512141" y="137587"/>
                </a:lnTo>
                <a:lnTo>
                  <a:pt x="512141" y="40737"/>
                </a:lnTo>
                <a:lnTo>
                  <a:pt x="524335" y="40737"/>
                </a:lnTo>
                <a:lnTo>
                  <a:pt x="525926" y="58587"/>
                </a:lnTo>
                <a:lnTo>
                  <a:pt x="526545" y="58587"/>
                </a:lnTo>
                <a:cubicBezTo>
                  <a:pt x="528548" y="54994"/>
                  <a:pt x="530963" y="51710"/>
                  <a:pt x="533791" y="48735"/>
                </a:cubicBezTo>
                <a:cubicBezTo>
                  <a:pt x="536618" y="45760"/>
                  <a:pt x="539903" y="43388"/>
                  <a:pt x="543644" y="41621"/>
                </a:cubicBezTo>
                <a:cubicBezTo>
                  <a:pt x="547384" y="39854"/>
                  <a:pt x="551552" y="38970"/>
                  <a:pt x="556147" y="38970"/>
                </a:cubicBezTo>
                <a:close/>
                <a:moveTo>
                  <a:pt x="446689" y="38970"/>
                </a:moveTo>
                <a:cubicBezTo>
                  <a:pt x="455526" y="38970"/>
                  <a:pt x="463258" y="40944"/>
                  <a:pt x="469885" y="44891"/>
                </a:cubicBezTo>
                <a:cubicBezTo>
                  <a:pt x="476513" y="48838"/>
                  <a:pt x="481668" y="54537"/>
                  <a:pt x="485349" y="61990"/>
                </a:cubicBezTo>
                <a:cubicBezTo>
                  <a:pt x="489031" y="69442"/>
                  <a:pt x="490872" y="78440"/>
                  <a:pt x="490872" y="88986"/>
                </a:cubicBezTo>
                <a:cubicBezTo>
                  <a:pt x="490872" y="96939"/>
                  <a:pt x="489841" y="104037"/>
                  <a:pt x="487780" y="110282"/>
                </a:cubicBezTo>
                <a:cubicBezTo>
                  <a:pt x="485718" y="116527"/>
                  <a:pt x="482743" y="121799"/>
                  <a:pt x="478855" y="126100"/>
                </a:cubicBezTo>
                <a:cubicBezTo>
                  <a:pt x="474966" y="130400"/>
                  <a:pt x="470268" y="133684"/>
                  <a:pt x="464760" y="135952"/>
                </a:cubicBezTo>
                <a:cubicBezTo>
                  <a:pt x="459252" y="138221"/>
                  <a:pt x="453022" y="139355"/>
                  <a:pt x="446070" y="139355"/>
                </a:cubicBezTo>
                <a:cubicBezTo>
                  <a:pt x="439590" y="139355"/>
                  <a:pt x="433655" y="138221"/>
                  <a:pt x="428265" y="135952"/>
                </a:cubicBezTo>
                <a:cubicBezTo>
                  <a:pt x="422874" y="133684"/>
                  <a:pt x="418220" y="130400"/>
                  <a:pt x="414303" y="126100"/>
                </a:cubicBezTo>
                <a:cubicBezTo>
                  <a:pt x="410385" y="121799"/>
                  <a:pt x="407351" y="116527"/>
                  <a:pt x="405201" y="110282"/>
                </a:cubicBezTo>
                <a:cubicBezTo>
                  <a:pt x="403051" y="104037"/>
                  <a:pt x="401976" y="96939"/>
                  <a:pt x="401976" y="88986"/>
                </a:cubicBezTo>
                <a:cubicBezTo>
                  <a:pt x="401976" y="78382"/>
                  <a:pt x="403772" y="69353"/>
                  <a:pt x="407366" y="61901"/>
                </a:cubicBezTo>
                <a:cubicBezTo>
                  <a:pt x="410959" y="54449"/>
                  <a:pt x="416099" y="48764"/>
                  <a:pt x="422786" y="44846"/>
                </a:cubicBezTo>
                <a:cubicBezTo>
                  <a:pt x="429472" y="40929"/>
                  <a:pt x="437440" y="38970"/>
                  <a:pt x="446689" y="38970"/>
                </a:cubicBezTo>
                <a:close/>
                <a:moveTo>
                  <a:pt x="2601176" y="38793"/>
                </a:moveTo>
                <a:cubicBezTo>
                  <a:pt x="2602885" y="38793"/>
                  <a:pt x="2604608" y="38867"/>
                  <a:pt x="2606345" y="39014"/>
                </a:cubicBezTo>
                <a:cubicBezTo>
                  <a:pt x="2608083" y="39161"/>
                  <a:pt x="2609748" y="39368"/>
                  <a:pt x="2611338" y="39633"/>
                </a:cubicBezTo>
                <a:cubicBezTo>
                  <a:pt x="2612929" y="39898"/>
                  <a:pt x="2614313" y="40207"/>
                  <a:pt x="2615491" y="40561"/>
                </a:cubicBezTo>
                <a:lnTo>
                  <a:pt x="2648717" y="40561"/>
                </a:lnTo>
                <a:lnTo>
                  <a:pt x="2648717" y="50016"/>
                </a:lnTo>
                <a:lnTo>
                  <a:pt x="2630867" y="52225"/>
                </a:lnTo>
                <a:cubicBezTo>
                  <a:pt x="2632635" y="54523"/>
                  <a:pt x="2634107" y="57291"/>
                  <a:pt x="2635286" y="60531"/>
                </a:cubicBezTo>
                <a:cubicBezTo>
                  <a:pt x="2636464" y="63772"/>
                  <a:pt x="2637053" y="67365"/>
                  <a:pt x="2637053" y="71312"/>
                </a:cubicBezTo>
                <a:cubicBezTo>
                  <a:pt x="2637053" y="80974"/>
                  <a:pt x="2633783" y="88647"/>
                  <a:pt x="2627244" y="94332"/>
                </a:cubicBezTo>
                <a:cubicBezTo>
                  <a:pt x="2620705" y="100017"/>
                  <a:pt x="2611721" y="102859"/>
                  <a:pt x="2600292" y="102859"/>
                </a:cubicBezTo>
                <a:cubicBezTo>
                  <a:pt x="2597583" y="102859"/>
                  <a:pt x="2594814" y="102623"/>
                  <a:pt x="2591986" y="102152"/>
                </a:cubicBezTo>
                <a:cubicBezTo>
                  <a:pt x="2589099" y="103743"/>
                  <a:pt x="2586905" y="105510"/>
                  <a:pt x="2585403" y="107454"/>
                </a:cubicBezTo>
                <a:cubicBezTo>
                  <a:pt x="2583900" y="109398"/>
                  <a:pt x="2583149" y="111637"/>
                  <a:pt x="2583149" y="114170"/>
                </a:cubicBezTo>
                <a:cubicBezTo>
                  <a:pt x="2583149" y="116055"/>
                  <a:pt x="2583724" y="117557"/>
                  <a:pt x="2584872" y="118677"/>
                </a:cubicBezTo>
                <a:cubicBezTo>
                  <a:pt x="2586021" y="119796"/>
                  <a:pt x="2587686" y="120606"/>
                  <a:pt x="2589865" y="121107"/>
                </a:cubicBezTo>
                <a:cubicBezTo>
                  <a:pt x="2592045" y="121608"/>
                  <a:pt x="2594667" y="121858"/>
                  <a:pt x="2597730" y="121858"/>
                </a:cubicBezTo>
                <a:lnTo>
                  <a:pt x="2614785" y="121858"/>
                </a:lnTo>
                <a:cubicBezTo>
                  <a:pt x="2625330" y="121858"/>
                  <a:pt x="2633415" y="124067"/>
                  <a:pt x="2639041" y="128485"/>
                </a:cubicBezTo>
                <a:cubicBezTo>
                  <a:pt x="2644667" y="132904"/>
                  <a:pt x="2647480" y="139355"/>
                  <a:pt x="2647480" y="147838"/>
                </a:cubicBezTo>
                <a:cubicBezTo>
                  <a:pt x="2647480" y="158560"/>
                  <a:pt x="2643121" y="166778"/>
                  <a:pt x="2634402" y="172492"/>
                </a:cubicBezTo>
                <a:cubicBezTo>
                  <a:pt x="2625683" y="178206"/>
                  <a:pt x="2613076" y="181064"/>
                  <a:pt x="2596581" y="181064"/>
                </a:cubicBezTo>
                <a:cubicBezTo>
                  <a:pt x="2583856" y="181064"/>
                  <a:pt x="2574047" y="178692"/>
                  <a:pt x="2567155" y="173950"/>
                </a:cubicBezTo>
                <a:cubicBezTo>
                  <a:pt x="2560262" y="169208"/>
                  <a:pt x="2556816" y="162566"/>
                  <a:pt x="2556816" y="154023"/>
                </a:cubicBezTo>
                <a:cubicBezTo>
                  <a:pt x="2556816" y="147956"/>
                  <a:pt x="2558745" y="142771"/>
                  <a:pt x="2562604" y="138471"/>
                </a:cubicBezTo>
                <a:cubicBezTo>
                  <a:pt x="2566463" y="134170"/>
                  <a:pt x="2571809" y="131313"/>
                  <a:pt x="2578643" y="129899"/>
                </a:cubicBezTo>
                <a:cubicBezTo>
                  <a:pt x="2576110" y="128721"/>
                  <a:pt x="2573945" y="126954"/>
                  <a:pt x="2572148" y="124597"/>
                </a:cubicBezTo>
                <a:cubicBezTo>
                  <a:pt x="2570351" y="122241"/>
                  <a:pt x="2569452" y="119531"/>
                  <a:pt x="2569452" y="116468"/>
                </a:cubicBezTo>
                <a:cubicBezTo>
                  <a:pt x="2569452" y="112933"/>
                  <a:pt x="2570439" y="109825"/>
                  <a:pt x="2572413" y="107145"/>
                </a:cubicBezTo>
                <a:cubicBezTo>
                  <a:pt x="2574386" y="104464"/>
                  <a:pt x="2577405" y="101887"/>
                  <a:pt x="2581470" y="99413"/>
                </a:cubicBezTo>
                <a:cubicBezTo>
                  <a:pt x="2576404" y="97351"/>
                  <a:pt x="2572295" y="93860"/>
                  <a:pt x="2569143" y="88941"/>
                </a:cubicBezTo>
                <a:cubicBezTo>
                  <a:pt x="2565992" y="84022"/>
                  <a:pt x="2564415" y="78293"/>
                  <a:pt x="2564415" y="71754"/>
                </a:cubicBezTo>
                <a:cubicBezTo>
                  <a:pt x="2564415" y="64803"/>
                  <a:pt x="2565859" y="58867"/>
                  <a:pt x="2568745" y="53948"/>
                </a:cubicBezTo>
                <a:cubicBezTo>
                  <a:pt x="2571632" y="49029"/>
                  <a:pt x="2575815" y="45274"/>
                  <a:pt x="2581294" y="42681"/>
                </a:cubicBezTo>
                <a:cubicBezTo>
                  <a:pt x="2586772" y="40089"/>
                  <a:pt x="2593400" y="38793"/>
                  <a:pt x="2601176" y="38793"/>
                </a:cubicBezTo>
                <a:close/>
                <a:moveTo>
                  <a:pt x="1115276" y="38793"/>
                </a:moveTo>
                <a:cubicBezTo>
                  <a:pt x="1116985" y="38793"/>
                  <a:pt x="1118708" y="38867"/>
                  <a:pt x="1120446" y="39014"/>
                </a:cubicBezTo>
                <a:cubicBezTo>
                  <a:pt x="1122184" y="39161"/>
                  <a:pt x="1123848" y="39368"/>
                  <a:pt x="1125438" y="39633"/>
                </a:cubicBezTo>
                <a:cubicBezTo>
                  <a:pt x="1127029" y="39898"/>
                  <a:pt x="1128413" y="40207"/>
                  <a:pt x="1129592" y="40561"/>
                </a:cubicBezTo>
                <a:lnTo>
                  <a:pt x="1162818" y="40561"/>
                </a:lnTo>
                <a:lnTo>
                  <a:pt x="1162818" y="50016"/>
                </a:lnTo>
                <a:lnTo>
                  <a:pt x="1144967" y="52225"/>
                </a:lnTo>
                <a:cubicBezTo>
                  <a:pt x="1146735" y="54523"/>
                  <a:pt x="1148208" y="57291"/>
                  <a:pt x="1149386" y="60531"/>
                </a:cubicBezTo>
                <a:cubicBezTo>
                  <a:pt x="1150564" y="63772"/>
                  <a:pt x="1151153" y="67365"/>
                  <a:pt x="1151153" y="71312"/>
                </a:cubicBezTo>
                <a:cubicBezTo>
                  <a:pt x="1151153" y="80974"/>
                  <a:pt x="1147884" y="88647"/>
                  <a:pt x="1141344" y="94332"/>
                </a:cubicBezTo>
                <a:cubicBezTo>
                  <a:pt x="1134805" y="100017"/>
                  <a:pt x="1125821" y="102859"/>
                  <a:pt x="1114393" y="102859"/>
                </a:cubicBezTo>
                <a:cubicBezTo>
                  <a:pt x="1111683" y="102859"/>
                  <a:pt x="1108914" y="102623"/>
                  <a:pt x="1106086" y="102152"/>
                </a:cubicBezTo>
                <a:cubicBezTo>
                  <a:pt x="1103199" y="103743"/>
                  <a:pt x="1101005" y="105510"/>
                  <a:pt x="1099503" y="107454"/>
                </a:cubicBezTo>
                <a:cubicBezTo>
                  <a:pt x="1098001" y="109398"/>
                  <a:pt x="1097249" y="111637"/>
                  <a:pt x="1097249" y="114170"/>
                </a:cubicBezTo>
                <a:cubicBezTo>
                  <a:pt x="1097249" y="116055"/>
                  <a:pt x="1097824" y="117557"/>
                  <a:pt x="1098973" y="118677"/>
                </a:cubicBezTo>
                <a:cubicBezTo>
                  <a:pt x="1100121" y="119796"/>
                  <a:pt x="1101786" y="120606"/>
                  <a:pt x="1103965" y="121107"/>
                </a:cubicBezTo>
                <a:cubicBezTo>
                  <a:pt x="1106145" y="121608"/>
                  <a:pt x="1108766" y="121858"/>
                  <a:pt x="1111830" y="121858"/>
                </a:cubicBezTo>
                <a:lnTo>
                  <a:pt x="1128885" y="121858"/>
                </a:lnTo>
                <a:cubicBezTo>
                  <a:pt x="1139430" y="121858"/>
                  <a:pt x="1147515" y="124067"/>
                  <a:pt x="1153141" y="128485"/>
                </a:cubicBezTo>
                <a:cubicBezTo>
                  <a:pt x="1158767" y="132904"/>
                  <a:pt x="1161580" y="139355"/>
                  <a:pt x="1161580" y="147838"/>
                </a:cubicBezTo>
                <a:cubicBezTo>
                  <a:pt x="1161580" y="158560"/>
                  <a:pt x="1157221" y="166778"/>
                  <a:pt x="1148502" y="172492"/>
                </a:cubicBezTo>
                <a:cubicBezTo>
                  <a:pt x="1139783" y="178206"/>
                  <a:pt x="1127176" y="181064"/>
                  <a:pt x="1110681" y="181064"/>
                </a:cubicBezTo>
                <a:cubicBezTo>
                  <a:pt x="1097956" y="181064"/>
                  <a:pt x="1088148" y="178692"/>
                  <a:pt x="1081255" y="173950"/>
                </a:cubicBezTo>
                <a:cubicBezTo>
                  <a:pt x="1074362" y="169208"/>
                  <a:pt x="1070916" y="162566"/>
                  <a:pt x="1070916" y="154023"/>
                </a:cubicBezTo>
                <a:cubicBezTo>
                  <a:pt x="1070916" y="147956"/>
                  <a:pt x="1072845" y="142771"/>
                  <a:pt x="1076704" y="138471"/>
                </a:cubicBezTo>
                <a:cubicBezTo>
                  <a:pt x="1080563" y="134170"/>
                  <a:pt x="1085909" y="131313"/>
                  <a:pt x="1092743" y="129899"/>
                </a:cubicBezTo>
                <a:cubicBezTo>
                  <a:pt x="1090209" y="128721"/>
                  <a:pt x="1088044" y="126954"/>
                  <a:pt x="1086248" y="124597"/>
                </a:cubicBezTo>
                <a:cubicBezTo>
                  <a:pt x="1084451" y="122241"/>
                  <a:pt x="1083553" y="119531"/>
                  <a:pt x="1083553" y="116468"/>
                </a:cubicBezTo>
                <a:cubicBezTo>
                  <a:pt x="1083553" y="112933"/>
                  <a:pt x="1084539" y="109825"/>
                  <a:pt x="1086513" y="107145"/>
                </a:cubicBezTo>
                <a:cubicBezTo>
                  <a:pt x="1088486" y="104464"/>
                  <a:pt x="1091505" y="101887"/>
                  <a:pt x="1095570" y="99413"/>
                </a:cubicBezTo>
                <a:cubicBezTo>
                  <a:pt x="1090504" y="97351"/>
                  <a:pt x="1086395" y="93860"/>
                  <a:pt x="1083243" y="88941"/>
                </a:cubicBezTo>
                <a:cubicBezTo>
                  <a:pt x="1080091" y="84022"/>
                  <a:pt x="1078516" y="78293"/>
                  <a:pt x="1078516" y="71754"/>
                </a:cubicBezTo>
                <a:cubicBezTo>
                  <a:pt x="1078516" y="64803"/>
                  <a:pt x="1079959" y="58867"/>
                  <a:pt x="1082846" y="53948"/>
                </a:cubicBezTo>
                <a:cubicBezTo>
                  <a:pt x="1085732" y="49029"/>
                  <a:pt x="1089915" y="45274"/>
                  <a:pt x="1095394" y="42681"/>
                </a:cubicBezTo>
                <a:cubicBezTo>
                  <a:pt x="1100872" y="40089"/>
                  <a:pt x="1107500" y="38793"/>
                  <a:pt x="1115276" y="38793"/>
                </a:cubicBezTo>
                <a:close/>
                <a:moveTo>
                  <a:pt x="619976" y="38793"/>
                </a:moveTo>
                <a:cubicBezTo>
                  <a:pt x="621685" y="38793"/>
                  <a:pt x="623408" y="38867"/>
                  <a:pt x="625146" y="39014"/>
                </a:cubicBezTo>
                <a:cubicBezTo>
                  <a:pt x="626883" y="39161"/>
                  <a:pt x="628548" y="39368"/>
                  <a:pt x="630138" y="39633"/>
                </a:cubicBezTo>
                <a:cubicBezTo>
                  <a:pt x="631729" y="39898"/>
                  <a:pt x="633113" y="40207"/>
                  <a:pt x="634292" y="40561"/>
                </a:cubicBezTo>
                <a:lnTo>
                  <a:pt x="667517" y="40561"/>
                </a:lnTo>
                <a:lnTo>
                  <a:pt x="667517" y="50016"/>
                </a:lnTo>
                <a:lnTo>
                  <a:pt x="649667" y="52225"/>
                </a:lnTo>
                <a:cubicBezTo>
                  <a:pt x="651435" y="54523"/>
                  <a:pt x="652907" y="57291"/>
                  <a:pt x="654086" y="60531"/>
                </a:cubicBezTo>
                <a:cubicBezTo>
                  <a:pt x="655264" y="63772"/>
                  <a:pt x="655853" y="67365"/>
                  <a:pt x="655853" y="71312"/>
                </a:cubicBezTo>
                <a:cubicBezTo>
                  <a:pt x="655853" y="80974"/>
                  <a:pt x="652583" y="88647"/>
                  <a:pt x="646044" y="94332"/>
                </a:cubicBezTo>
                <a:cubicBezTo>
                  <a:pt x="639505" y="100017"/>
                  <a:pt x="630521" y="102859"/>
                  <a:pt x="619092" y="102859"/>
                </a:cubicBezTo>
                <a:cubicBezTo>
                  <a:pt x="616382" y="102859"/>
                  <a:pt x="613614" y="102623"/>
                  <a:pt x="610786" y="102152"/>
                </a:cubicBezTo>
                <a:cubicBezTo>
                  <a:pt x="607899" y="103743"/>
                  <a:pt x="605705" y="105510"/>
                  <a:pt x="604203" y="107454"/>
                </a:cubicBezTo>
                <a:cubicBezTo>
                  <a:pt x="602700" y="109398"/>
                  <a:pt x="601949" y="111637"/>
                  <a:pt x="601949" y="114170"/>
                </a:cubicBezTo>
                <a:cubicBezTo>
                  <a:pt x="601949" y="116055"/>
                  <a:pt x="602524" y="117557"/>
                  <a:pt x="603672" y="118677"/>
                </a:cubicBezTo>
                <a:cubicBezTo>
                  <a:pt x="604821" y="119796"/>
                  <a:pt x="606485" y="120606"/>
                  <a:pt x="608665" y="121107"/>
                </a:cubicBezTo>
                <a:cubicBezTo>
                  <a:pt x="610845" y="121608"/>
                  <a:pt x="613466" y="121858"/>
                  <a:pt x="616530" y="121858"/>
                </a:cubicBezTo>
                <a:lnTo>
                  <a:pt x="633585" y="121858"/>
                </a:lnTo>
                <a:cubicBezTo>
                  <a:pt x="644130" y="121858"/>
                  <a:pt x="652215" y="124067"/>
                  <a:pt x="657841" y="128485"/>
                </a:cubicBezTo>
                <a:cubicBezTo>
                  <a:pt x="663467" y="132904"/>
                  <a:pt x="666280" y="139355"/>
                  <a:pt x="666280" y="147838"/>
                </a:cubicBezTo>
                <a:cubicBezTo>
                  <a:pt x="666280" y="158560"/>
                  <a:pt x="661921" y="166778"/>
                  <a:pt x="653202" y="172492"/>
                </a:cubicBezTo>
                <a:cubicBezTo>
                  <a:pt x="644483" y="178206"/>
                  <a:pt x="631876" y="181064"/>
                  <a:pt x="615381" y="181064"/>
                </a:cubicBezTo>
                <a:cubicBezTo>
                  <a:pt x="602656" y="181064"/>
                  <a:pt x="592848" y="178692"/>
                  <a:pt x="585955" y="173950"/>
                </a:cubicBezTo>
                <a:cubicBezTo>
                  <a:pt x="579062" y="169208"/>
                  <a:pt x="575616" y="162566"/>
                  <a:pt x="575616" y="154023"/>
                </a:cubicBezTo>
                <a:cubicBezTo>
                  <a:pt x="575616" y="147956"/>
                  <a:pt x="577545" y="142771"/>
                  <a:pt x="581404" y="138471"/>
                </a:cubicBezTo>
                <a:cubicBezTo>
                  <a:pt x="585263" y="134170"/>
                  <a:pt x="590609" y="131313"/>
                  <a:pt x="597443" y="129899"/>
                </a:cubicBezTo>
                <a:cubicBezTo>
                  <a:pt x="594909" y="128721"/>
                  <a:pt x="592744" y="126954"/>
                  <a:pt x="590948" y="124597"/>
                </a:cubicBezTo>
                <a:cubicBezTo>
                  <a:pt x="589151" y="122241"/>
                  <a:pt x="588253" y="119531"/>
                  <a:pt x="588253" y="116468"/>
                </a:cubicBezTo>
                <a:cubicBezTo>
                  <a:pt x="588253" y="112933"/>
                  <a:pt x="589239" y="109825"/>
                  <a:pt x="591213" y="107145"/>
                </a:cubicBezTo>
                <a:cubicBezTo>
                  <a:pt x="593186" y="104464"/>
                  <a:pt x="596206" y="101887"/>
                  <a:pt x="600270" y="99413"/>
                </a:cubicBezTo>
                <a:cubicBezTo>
                  <a:pt x="595204" y="97351"/>
                  <a:pt x="591095" y="93860"/>
                  <a:pt x="587943" y="88941"/>
                </a:cubicBezTo>
                <a:cubicBezTo>
                  <a:pt x="584791" y="84022"/>
                  <a:pt x="583216" y="78293"/>
                  <a:pt x="583216" y="71754"/>
                </a:cubicBezTo>
                <a:cubicBezTo>
                  <a:pt x="583216" y="64803"/>
                  <a:pt x="584659" y="58867"/>
                  <a:pt x="587546" y="53948"/>
                </a:cubicBezTo>
                <a:cubicBezTo>
                  <a:pt x="590432" y="49029"/>
                  <a:pt x="594615" y="45274"/>
                  <a:pt x="600094" y="42681"/>
                </a:cubicBezTo>
                <a:cubicBezTo>
                  <a:pt x="605572" y="40089"/>
                  <a:pt x="612200" y="38793"/>
                  <a:pt x="619976" y="38793"/>
                </a:cubicBezTo>
                <a:close/>
                <a:moveTo>
                  <a:pt x="1876425" y="8395"/>
                </a:moveTo>
                <a:lnTo>
                  <a:pt x="1891447" y="8395"/>
                </a:lnTo>
                <a:lnTo>
                  <a:pt x="1891447" y="137587"/>
                </a:lnTo>
                <a:lnTo>
                  <a:pt x="1876425" y="137587"/>
                </a:lnTo>
                <a:close/>
                <a:moveTo>
                  <a:pt x="1789695" y="8395"/>
                </a:moveTo>
                <a:lnTo>
                  <a:pt x="1801802" y="8395"/>
                </a:lnTo>
                <a:lnTo>
                  <a:pt x="1794467" y="47100"/>
                </a:lnTo>
                <a:lnTo>
                  <a:pt x="1821596" y="47100"/>
                </a:lnTo>
                <a:lnTo>
                  <a:pt x="1828930" y="8395"/>
                </a:lnTo>
                <a:lnTo>
                  <a:pt x="1840595" y="8395"/>
                </a:lnTo>
                <a:lnTo>
                  <a:pt x="1833260" y="47100"/>
                </a:lnTo>
                <a:lnTo>
                  <a:pt x="1856677" y="47100"/>
                </a:lnTo>
                <a:lnTo>
                  <a:pt x="1856677" y="58146"/>
                </a:lnTo>
                <a:lnTo>
                  <a:pt x="1831051" y="58146"/>
                </a:lnTo>
                <a:lnTo>
                  <a:pt x="1825307" y="88190"/>
                </a:lnTo>
                <a:lnTo>
                  <a:pt x="1850315" y="88190"/>
                </a:lnTo>
                <a:lnTo>
                  <a:pt x="1850315" y="99413"/>
                </a:lnTo>
                <a:lnTo>
                  <a:pt x="1823098" y="99413"/>
                </a:lnTo>
                <a:lnTo>
                  <a:pt x="1815587" y="137587"/>
                </a:lnTo>
                <a:lnTo>
                  <a:pt x="1803657" y="137587"/>
                </a:lnTo>
                <a:lnTo>
                  <a:pt x="1811169" y="99413"/>
                </a:lnTo>
                <a:lnTo>
                  <a:pt x="1784217" y="99413"/>
                </a:lnTo>
                <a:lnTo>
                  <a:pt x="1776971" y="137587"/>
                </a:lnTo>
                <a:lnTo>
                  <a:pt x="1765218" y="137587"/>
                </a:lnTo>
                <a:lnTo>
                  <a:pt x="1772199" y="99413"/>
                </a:lnTo>
                <a:lnTo>
                  <a:pt x="1749047" y="99413"/>
                </a:lnTo>
                <a:lnTo>
                  <a:pt x="1749047" y="88190"/>
                </a:lnTo>
                <a:lnTo>
                  <a:pt x="1774408" y="88190"/>
                </a:lnTo>
                <a:lnTo>
                  <a:pt x="1780329" y="58146"/>
                </a:lnTo>
                <a:lnTo>
                  <a:pt x="1755763" y="58146"/>
                </a:lnTo>
                <a:lnTo>
                  <a:pt x="1755763" y="47100"/>
                </a:lnTo>
                <a:lnTo>
                  <a:pt x="1782361" y="47100"/>
                </a:lnTo>
                <a:close/>
                <a:moveTo>
                  <a:pt x="718142" y="8395"/>
                </a:moveTo>
                <a:lnTo>
                  <a:pt x="732546" y="8395"/>
                </a:lnTo>
                <a:lnTo>
                  <a:pt x="684475" y="137587"/>
                </a:lnTo>
                <a:lnTo>
                  <a:pt x="669982" y="137587"/>
                </a:lnTo>
                <a:close/>
                <a:moveTo>
                  <a:pt x="0" y="8395"/>
                </a:moveTo>
                <a:lnTo>
                  <a:pt x="15022" y="8395"/>
                </a:lnTo>
                <a:lnTo>
                  <a:pt x="15022" y="137587"/>
                </a:lnTo>
                <a:lnTo>
                  <a:pt x="0" y="137587"/>
                </a:lnTo>
                <a:close/>
                <a:moveTo>
                  <a:pt x="2293781" y="6539"/>
                </a:moveTo>
                <a:cubicBezTo>
                  <a:pt x="2300320" y="6539"/>
                  <a:pt x="2306623" y="7187"/>
                  <a:pt x="2312691" y="8483"/>
                </a:cubicBezTo>
                <a:cubicBezTo>
                  <a:pt x="2318759" y="9780"/>
                  <a:pt x="2324238" y="11635"/>
                  <a:pt x="2329128" y="14051"/>
                </a:cubicBezTo>
                <a:lnTo>
                  <a:pt x="2323119" y="26775"/>
                </a:lnTo>
                <a:cubicBezTo>
                  <a:pt x="2318995" y="24890"/>
                  <a:pt x="2314473" y="23255"/>
                  <a:pt x="2309554" y="21871"/>
                </a:cubicBezTo>
                <a:cubicBezTo>
                  <a:pt x="2304635" y="20487"/>
                  <a:pt x="2299319" y="19794"/>
                  <a:pt x="2293604" y="19794"/>
                </a:cubicBezTo>
                <a:cubicBezTo>
                  <a:pt x="2286476" y="19794"/>
                  <a:pt x="2280069" y="21017"/>
                  <a:pt x="2274384" y="23462"/>
                </a:cubicBezTo>
                <a:cubicBezTo>
                  <a:pt x="2268700" y="25906"/>
                  <a:pt x="2263869" y="29441"/>
                  <a:pt x="2259892" y="34066"/>
                </a:cubicBezTo>
                <a:cubicBezTo>
                  <a:pt x="2255916" y="38690"/>
                  <a:pt x="2252867" y="44272"/>
                  <a:pt x="2250746" y="50811"/>
                </a:cubicBezTo>
                <a:cubicBezTo>
                  <a:pt x="2248625" y="57350"/>
                  <a:pt x="2247565" y="64714"/>
                  <a:pt x="2247565" y="72903"/>
                </a:cubicBezTo>
                <a:cubicBezTo>
                  <a:pt x="2247565" y="83742"/>
                  <a:pt x="2249259" y="93154"/>
                  <a:pt x="2252646" y="101136"/>
                </a:cubicBezTo>
                <a:cubicBezTo>
                  <a:pt x="2256033" y="109118"/>
                  <a:pt x="2261100" y="115289"/>
                  <a:pt x="2267845" y="119649"/>
                </a:cubicBezTo>
                <a:cubicBezTo>
                  <a:pt x="2274590" y="124008"/>
                  <a:pt x="2283029" y="126188"/>
                  <a:pt x="2293162" y="126188"/>
                </a:cubicBezTo>
                <a:cubicBezTo>
                  <a:pt x="2298935" y="126188"/>
                  <a:pt x="2304370" y="125702"/>
                  <a:pt x="2309466" y="124730"/>
                </a:cubicBezTo>
                <a:cubicBezTo>
                  <a:pt x="2314562" y="123758"/>
                  <a:pt x="2319525" y="122535"/>
                  <a:pt x="2324356" y="121063"/>
                </a:cubicBezTo>
                <a:lnTo>
                  <a:pt x="2324356" y="134141"/>
                </a:lnTo>
                <a:cubicBezTo>
                  <a:pt x="2319643" y="135908"/>
                  <a:pt x="2314694" y="137219"/>
                  <a:pt x="2309510" y="138073"/>
                </a:cubicBezTo>
                <a:cubicBezTo>
                  <a:pt x="2304326" y="138927"/>
                  <a:pt x="2298170" y="139355"/>
                  <a:pt x="2291041" y="139355"/>
                </a:cubicBezTo>
                <a:cubicBezTo>
                  <a:pt x="2277904" y="139355"/>
                  <a:pt x="2266932" y="136630"/>
                  <a:pt x="2258125" y="131181"/>
                </a:cubicBezTo>
                <a:cubicBezTo>
                  <a:pt x="2249318" y="125731"/>
                  <a:pt x="2242720" y="118029"/>
                  <a:pt x="2238331" y="108073"/>
                </a:cubicBezTo>
                <a:cubicBezTo>
                  <a:pt x="2233942" y="98117"/>
                  <a:pt x="2231747" y="86364"/>
                  <a:pt x="2231747" y="72814"/>
                </a:cubicBezTo>
                <a:cubicBezTo>
                  <a:pt x="2231747" y="63035"/>
                  <a:pt x="2233117" y="54095"/>
                  <a:pt x="2235856" y="45995"/>
                </a:cubicBezTo>
                <a:cubicBezTo>
                  <a:pt x="2238596" y="37895"/>
                  <a:pt x="2242602" y="30899"/>
                  <a:pt x="2247874" y="25008"/>
                </a:cubicBezTo>
                <a:cubicBezTo>
                  <a:pt x="2253147" y="19117"/>
                  <a:pt x="2259627" y="14566"/>
                  <a:pt x="2267315" y="11355"/>
                </a:cubicBezTo>
                <a:cubicBezTo>
                  <a:pt x="2275003" y="8145"/>
                  <a:pt x="2283825" y="6539"/>
                  <a:pt x="2293781" y="6539"/>
                </a:cubicBezTo>
                <a:close/>
                <a:moveTo>
                  <a:pt x="2165500" y="6539"/>
                </a:moveTo>
                <a:cubicBezTo>
                  <a:pt x="2173453" y="6539"/>
                  <a:pt x="2180316" y="7924"/>
                  <a:pt x="2186090" y="10693"/>
                </a:cubicBezTo>
                <a:cubicBezTo>
                  <a:pt x="2191863" y="13461"/>
                  <a:pt x="2196326" y="17409"/>
                  <a:pt x="2199477" y="22534"/>
                </a:cubicBezTo>
                <a:cubicBezTo>
                  <a:pt x="2202629" y="27659"/>
                  <a:pt x="2204205" y="33756"/>
                  <a:pt x="2204205" y="40826"/>
                </a:cubicBezTo>
                <a:cubicBezTo>
                  <a:pt x="2204205" y="47659"/>
                  <a:pt x="2202850" y="54007"/>
                  <a:pt x="2200140" y="59869"/>
                </a:cubicBezTo>
                <a:cubicBezTo>
                  <a:pt x="2197430" y="65730"/>
                  <a:pt x="2193630" y="71533"/>
                  <a:pt x="2188741" y="77277"/>
                </a:cubicBezTo>
                <a:cubicBezTo>
                  <a:pt x="2183851" y="83021"/>
                  <a:pt x="2178137" y="89103"/>
                  <a:pt x="2171598" y="95525"/>
                </a:cubicBezTo>
                <a:lnTo>
                  <a:pt x="2143497" y="123537"/>
                </a:lnTo>
                <a:lnTo>
                  <a:pt x="2143497" y="124156"/>
                </a:lnTo>
                <a:lnTo>
                  <a:pt x="2209507" y="124156"/>
                </a:lnTo>
                <a:lnTo>
                  <a:pt x="2209507" y="137587"/>
                </a:lnTo>
                <a:lnTo>
                  <a:pt x="2124852" y="137587"/>
                </a:lnTo>
                <a:lnTo>
                  <a:pt x="2124852" y="125304"/>
                </a:lnTo>
                <a:lnTo>
                  <a:pt x="2159403" y="90223"/>
                </a:lnTo>
                <a:cubicBezTo>
                  <a:pt x="2165824" y="83742"/>
                  <a:pt x="2171229" y="77969"/>
                  <a:pt x="2175618" y="72903"/>
                </a:cubicBezTo>
                <a:cubicBezTo>
                  <a:pt x="2180007" y="67836"/>
                  <a:pt x="2183350" y="62844"/>
                  <a:pt x="2185648" y="57925"/>
                </a:cubicBezTo>
                <a:cubicBezTo>
                  <a:pt x="2187945" y="53006"/>
                  <a:pt x="2189094" y="47600"/>
                  <a:pt x="2189094" y="41709"/>
                </a:cubicBezTo>
                <a:cubicBezTo>
                  <a:pt x="2189094" y="34404"/>
                  <a:pt x="2186929" y="28823"/>
                  <a:pt x="2182599" y="24964"/>
                </a:cubicBezTo>
                <a:cubicBezTo>
                  <a:pt x="2178269" y="21105"/>
                  <a:pt x="2172570" y="19176"/>
                  <a:pt x="2165500" y="19176"/>
                </a:cubicBezTo>
                <a:cubicBezTo>
                  <a:pt x="2159315" y="19176"/>
                  <a:pt x="2153836" y="20236"/>
                  <a:pt x="2149064" y="22357"/>
                </a:cubicBezTo>
                <a:cubicBezTo>
                  <a:pt x="2144292" y="24478"/>
                  <a:pt x="2139403" y="27482"/>
                  <a:pt x="2134395" y="31370"/>
                </a:cubicBezTo>
                <a:lnTo>
                  <a:pt x="2126531" y="21473"/>
                </a:lnTo>
                <a:cubicBezTo>
                  <a:pt x="2129947" y="18587"/>
                  <a:pt x="2133674" y="16024"/>
                  <a:pt x="2137709" y="13786"/>
                </a:cubicBezTo>
                <a:cubicBezTo>
                  <a:pt x="2141744" y="11547"/>
                  <a:pt x="2146074" y="9780"/>
                  <a:pt x="2150699" y="8483"/>
                </a:cubicBezTo>
                <a:cubicBezTo>
                  <a:pt x="2155323" y="7187"/>
                  <a:pt x="2160257" y="6539"/>
                  <a:pt x="2165500" y="6539"/>
                </a:cubicBezTo>
                <a:close/>
                <a:moveTo>
                  <a:pt x="2074706" y="6539"/>
                </a:moveTo>
                <a:cubicBezTo>
                  <a:pt x="2081245" y="6539"/>
                  <a:pt x="2087548" y="7187"/>
                  <a:pt x="2093616" y="8483"/>
                </a:cubicBezTo>
                <a:cubicBezTo>
                  <a:pt x="2099684" y="9780"/>
                  <a:pt x="2105163" y="11635"/>
                  <a:pt x="2110053" y="14051"/>
                </a:cubicBezTo>
                <a:lnTo>
                  <a:pt x="2104044" y="26775"/>
                </a:lnTo>
                <a:cubicBezTo>
                  <a:pt x="2099920" y="24890"/>
                  <a:pt x="2095398" y="23255"/>
                  <a:pt x="2090479" y="21871"/>
                </a:cubicBezTo>
                <a:cubicBezTo>
                  <a:pt x="2085560" y="20487"/>
                  <a:pt x="2080243" y="19794"/>
                  <a:pt x="2074529" y="19794"/>
                </a:cubicBezTo>
                <a:cubicBezTo>
                  <a:pt x="2067401" y="19794"/>
                  <a:pt x="2060994" y="21017"/>
                  <a:pt x="2055309" y="23462"/>
                </a:cubicBezTo>
                <a:cubicBezTo>
                  <a:pt x="2049624" y="25906"/>
                  <a:pt x="2044794" y="29441"/>
                  <a:pt x="2040817" y="34066"/>
                </a:cubicBezTo>
                <a:cubicBezTo>
                  <a:pt x="2036841" y="38690"/>
                  <a:pt x="2033792" y="44272"/>
                  <a:pt x="2031671" y="50811"/>
                </a:cubicBezTo>
                <a:cubicBezTo>
                  <a:pt x="2029550" y="57350"/>
                  <a:pt x="2028490" y="64714"/>
                  <a:pt x="2028490" y="72903"/>
                </a:cubicBezTo>
                <a:cubicBezTo>
                  <a:pt x="2028490" y="83742"/>
                  <a:pt x="2030184" y="93154"/>
                  <a:pt x="2033571" y="101136"/>
                </a:cubicBezTo>
                <a:cubicBezTo>
                  <a:pt x="2036958" y="109118"/>
                  <a:pt x="2042025" y="115289"/>
                  <a:pt x="2048770" y="119649"/>
                </a:cubicBezTo>
                <a:cubicBezTo>
                  <a:pt x="2055515" y="124008"/>
                  <a:pt x="2063954" y="126188"/>
                  <a:pt x="2074087" y="126188"/>
                </a:cubicBezTo>
                <a:cubicBezTo>
                  <a:pt x="2079860" y="126188"/>
                  <a:pt x="2085295" y="125702"/>
                  <a:pt x="2090391" y="124730"/>
                </a:cubicBezTo>
                <a:cubicBezTo>
                  <a:pt x="2095487" y="123758"/>
                  <a:pt x="2100450" y="122535"/>
                  <a:pt x="2105281" y="121063"/>
                </a:cubicBezTo>
                <a:lnTo>
                  <a:pt x="2105281" y="134141"/>
                </a:lnTo>
                <a:cubicBezTo>
                  <a:pt x="2100568" y="135908"/>
                  <a:pt x="2095619" y="137219"/>
                  <a:pt x="2090435" y="138073"/>
                </a:cubicBezTo>
                <a:cubicBezTo>
                  <a:pt x="2085251" y="138927"/>
                  <a:pt x="2079095" y="139355"/>
                  <a:pt x="2071966" y="139355"/>
                </a:cubicBezTo>
                <a:cubicBezTo>
                  <a:pt x="2058829" y="139355"/>
                  <a:pt x="2047857" y="136630"/>
                  <a:pt x="2039050" y="131181"/>
                </a:cubicBezTo>
                <a:cubicBezTo>
                  <a:pt x="2030243" y="125731"/>
                  <a:pt x="2023645" y="118029"/>
                  <a:pt x="2019256" y="108073"/>
                </a:cubicBezTo>
                <a:cubicBezTo>
                  <a:pt x="2014867" y="98117"/>
                  <a:pt x="2012672" y="86364"/>
                  <a:pt x="2012672" y="72814"/>
                </a:cubicBezTo>
                <a:cubicBezTo>
                  <a:pt x="2012672" y="63035"/>
                  <a:pt x="2014042" y="54095"/>
                  <a:pt x="2016781" y="45995"/>
                </a:cubicBezTo>
                <a:cubicBezTo>
                  <a:pt x="2019521" y="37895"/>
                  <a:pt x="2023527" y="30899"/>
                  <a:pt x="2028799" y="25008"/>
                </a:cubicBezTo>
                <a:cubicBezTo>
                  <a:pt x="2034072" y="19117"/>
                  <a:pt x="2040552" y="14566"/>
                  <a:pt x="2048240" y="11355"/>
                </a:cubicBezTo>
                <a:cubicBezTo>
                  <a:pt x="2055928" y="8145"/>
                  <a:pt x="2064750" y="6539"/>
                  <a:pt x="2074706" y="6539"/>
                </a:cubicBezTo>
                <a:close/>
                <a:moveTo>
                  <a:pt x="1958601" y="6539"/>
                </a:moveTo>
                <a:cubicBezTo>
                  <a:pt x="1965494" y="6539"/>
                  <a:pt x="1971871" y="7187"/>
                  <a:pt x="1977733" y="8483"/>
                </a:cubicBezTo>
                <a:cubicBezTo>
                  <a:pt x="1983594" y="9780"/>
                  <a:pt x="1988970" y="11517"/>
                  <a:pt x="1993860" y="13697"/>
                </a:cubicBezTo>
                <a:lnTo>
                  <a:pt x="1989176" y="26599"/>
                </a:lnTo>
                <a:cubicBezTo>
                  <a:pt x="1984522" y="24655"/>
                  <a:pt x="1979589" y="23035"/>
                  <a:pt x="1974375" y="21739"/>
                </a:cubicBezTo>
                <a:cubicBezTo>
                  <a:pt x="1969161" y="20442"/>
                  <a:pt x="1963786" y="19794"/>
                  <a:pt x="1958248" y="19794"/>
                </a:cubicBezTo>
                <a:cubicBezTo>
                  <a:pt x="1952710" y="19794"/>
                  <a:pt x="1948042" y="20604"/>
                  <a:pt x="1944242" y="22225"/>
                </a:cubicBezTo>
                <a:cubicBezTo>
                  <a:pt x="1940442" y="23845"/>
                  <a:pt x="1937541" y="26127"/>
                  <a:pt x="1935538" y="29073"/>
                </a:cubicBezTo>
                <a:cubicBezTo>
                  <a:pt x="1933535" y="32018"/>
                  <a:pt x="1932533" y="35524"/>
                  <a:pt x="1932533" y="39589"/>
                </a:cubicBezTo>
                <a:cubicBezTo>
                  <a:pt x="1932533" y="44125"/>
                  <a:pt x="1933490" y="47895"/>
                  <a:pt x="1935405" y="50900"/>
                </a:cubicBezTo>
                <a:cubicBezTo>
                  <a:pt x="1937320" y="53904"/>
                  <a:pt x="1940383" y="56570"/>
                  <a:pt x="1944595" y="58897"/>
                </a:cubicBezTo>
                <a:cubicBezTo>
                  <a:pt x="1948807" y="61224"/>
                  <a:pt x="1954389" y="63654"/>
                  <a:pt x="1961341" y="66187"/>
                </a:cubicBezTo>
                <a:cubicBezTo>
                  <a:pt x="1968940" y="68956"/>
                  <a:pt x="1975391" y="71887"/>
                  <a:pt x="1980693" y="74979"/>
                </a:cubicBezTo>
                <a:cubicBezTo>
                  <a:pt x="1985995" y="78072"/>
                  <a:pt x="1990030" y="81843"/>
                  <a:pt x="1992799" y="86290"/>
                </a:cubicBezTo>
                <a:cubicBezTo>
                  <a:pt x="1995568" y="90738"/>
                  <a:pt x="1996953" y="96379"/>
                  <a:pt x="1996953" y="103213"/>
                </a:cubicBezTo>
                <a:cubicBezTo>
                  <a:pt x="1996953" y="110871"/>
                  <a:pt x="1995053" y="117395"/>
                  <a:pt x="1991253" y="122786"/>
                </a:cubicBezTo>
                <a:cubicBezTo>
                  <a:pt x="1987453" y="128176"/>
                  <a:pt x="1982136" y="132285"/>
                  <a:pt x="1975303" y="135113"/>
                </a:cubicBezTo>
                <a:cubicBezTo>
                  <a:pt x="1968469" y="137941"/>
                  <a:pt x="1960428" y="139355"/>
                  <a:pt x="1951179" y="139355"/>
                </a:cubicBezTo>
                <a:cubicBezTo>
                  <a:pt x="1946289" y="139355"/>
                  <a:pt x="1941664" y="139119"/>
                  <a:pt x="1937305" y="138648"/>
                </a:cubicBezTo>
                <a:cubicBezTo>
                  <a:pt x="1932946" y="138176"/>
                  <a:pt x="1928939" y="137499"/>
                  <a:pt x="1925287" y="136615"/>
                </a:cubicBezTo>
                <a:cubicBezTo>
                  <a:pt x="1921635" y="135732"/>
                  <a:pt x="1918424" y="134642"/>
                  <a:pt x="1915655" y="133346"/>
                </a:cubicBezTo>
                <a:lnTo>
                  <a:pt x="1915655" y="118942"/>
                </a:lnTo>
                <a:cubicBezTo>
                  <a:pt x="1920074" y="120768"/>
                  <a:pt x="1925464" y="122462"/>
                  <a:pt x="1931826" y="124023"/>
                </a:cubicBezTo>
                <a:cubicBezTo>
                  <a:pt x="1938189" y="125584"/>
                  <a:pt x="1944845" y="126365"/>
                  <a:pt x="1951797" y="126365"/>
                </a:cubicBezTo>
                <a:cubicBezTo>
                  <a:pt x="1958277" y="126365"/>
                  <a:pt x="1963756" y="125496"/>
                  <a:pt x="1968233" y="123758"/>
                </a:cubicBezTo>
                <a:cubicBezTo>
                  <a:pt x="1972711" y="122020"/>
                  <a:pt x="1976113" y="119516"/>
                  <a:pt x="1978440" y="116247"/>
                </a:cubicBezTo>
                <a:cubicBezTo>
                  <a:pt x="1980767" y="112977"/>
                  <a:pt x="1981930" y="109045"/>
                  <a:pt x="1981930" y="104450"/>
                </a:cubicBezTo>
                <a:cubicBezTo>
                  <a:pt x="1981930" y="100031"/>
                  <a:pt x="1980958" y="96335"/>
                  <a:pt x="1979014" y="93360"/>
                </a:cubicBezTo>
                <a:cubicBezTo>
                  <a:pt x="1977070" y="90385"/>
                  <a:pt x="1973845" y="87675"/>
                  <a:pt x="1969338" y="85230"/>
                </a:cubicBezTo>
                <a:cubicBezTo>
                  <a:pt x="1964831" y="82785"/>
                  <a:pt x="1958690" y="80178"/>
                  <a:pt x="1950914" y="77410"/>
                </a:cubicBezTo>
                <a:cubicBezTo>
                  <a:pt x="1945435" y="75465"/>
                  <a:pt x="1940604" y="73330"/>
                  <a:pt x="1936421" y="71003"/>
                </a:cubicBezTo>
                <a:cubicBezTo>
                  <a:pt x="1932239" y="68676"/>
                  <a:pt x="1928734" y="66040"/>
                  <a:pt x="1925906" y="63094"/>
                </a:cubicBezTo>
                <a:cubicBezTo>
                  <a:pt x="1923078" y="60149"/>
                  <a:pt x="1920942" y="56732"/>
                  <a:pt x="1919499" y="52844"/>
                </a:cubicBezTo>
                <a:cubicBezTo>
                  <a:pt x="1918056" y="48955"/>
                  <a:pt x="1917334" y="44508"/>
                  <a:pt x="1917334" y="39500"/>
                </a:cubicBezTo>
                <a:cubicBezTo>
                  <a:pt x="1917334" y="32608"/>
                  <a:pt x="1919087" y="26702"/>
                  <a:pt x="1922592" y="21783"/>
                </a:cubicBezTo>
                <a:cubicBezTo>
                  <a:pt x="1926097" y="16864"/>
                  <a:pt x="1930957" y="13093"/>
                  <a:pt x="1937173" y="10472"/>
                </a:cubicBezTo>
                <a:cubicBezTo>
                  <a:pt x="1943387" y="7850"/>
                  <a:pt x="1950531" y="6539"/>
                  <a:pt x="1958601" y="6539"/>
                </a:cubicBezTo>
                <a:close/>
                <a:moveTo>
                  <a:pt x="807881" y="6539"/>
                </a:moveTo>
                <a:cubicBezTo>
                  <a:pt x="814420" y="6539"/>
                  <a:pt x="820724" y="7187"/>
                  <a:pt x="826791" y="8483"/>
                </a:cubicBezTo>
                <a:cubicBezTo>
                  <a:pt x="832859" y="9780"/>
                  <a:pt x="838338" y="11635"/>
                  <a:pt x="843228" y="14051"/>
                </a:cubicBezTo>
                <a:lnTo>
                  <a:pt x="837219" y="26775"/>
                </a:lnTo>
                <a:cubicBezTo>
                  <a:pt x="833095" y="24890"/>
                  <a:pt x="828573" y="23255"/>
                  <a:pt x="823654" y="21871"/>
                </a:cubicBezTo>
                <a:cubicBezTo>
                  <a:pt x="818735" y="20487"/>
                  <a:pt x="813419" y="19794"/>
                  <a:pt x="807704" y="19794"/>
                </a:cubicBezTo>
                <a:cubicBezTo>
                  <a:pt x="800576" y="19794"/>
                  <a:pt x="794169" y="21017"/>
                  <a:pt x="788484" y="23462"/>
                </a:cubicBezTo>
                <a:cubicBezTo>
                  <a:pt x="782799" y="25906"/>
                  <a:pt x="777969" y="29441"/>
                  <a:pt x="773992" y="34066"/>
                </a:cubicBezTo>
                <a:cubicBezTo>
                  <a:pt x="770016" y="38690"/>
                  <a:pt x="766967" y="44272"/>
                  <a:pt x="764846" y="50811"/>
                </a:cubicBezTo>
                <a:cubicBezTo>
                  <a:pt x="762726" y="57350"/>
                  <a:pt x="761665" y="64714"/>
                  <a:pt x="761665" y="72903"/>
                </a:cubicBezTo>
                <a:cubicBezTo>
                  <a:pt x="761665" y="83742"/>
                  <a:pt x="763359" y="93154"/>
                  <a:pt x="766746" y="101136"/>
                </a:cubicBezTo>
                <a:cubicBezTo>
                  <a:pt x="770134" y="109118"/>
                  <a:pt x="775200" y="115289"/>
                  <a:pt x="781945" y="119649"/>
                </a:cubicBezTo>
                <a:cubicBezTo>
                  <a:pt x="788691" y="124008"/>
                  <a:pt x="797130" y="126188"/>
                  <a:pt x="807262" y="126188"/>
                </a:cubicBezTo>
                <a:cubicBezTo>
                  <a:pt x="813036" y="126188"/>
                  <a:pt x="818470" y="125702"/>
                  <a:pt x="823566" y="124730"/>
                </a:cubicBezTo>
                <a:cubicBezTo>
                  <a:pt x="828662" y="123758"/>
                  <a:pt x="833625" y="122535"/>
                  <a:pt x="838456" y="121063"/>
                </a:cubicBezTo>
                <a:lnTo>
                  <a:pt x="838456" y="134141"/>
                </a:lnTo>
                <a:cubicBezTo>
                  <a:pt x="833743" y="135908"/>
                  <a:pt x="828794" y="137219"/>
                  <a:pt x="823610" y="138073"/>
                </a:cubicBezTo>
                <a:cubicBezTo>
                  <a:pt x="818426" y="138927"/>
                  <a:pt x="812270" y="139355"/>
                  <a:pt x="805142" y="139355"/>
                </a:cubicBezTo>
                <a:cubicBezTo>
                  <a:pt x="792004" y="139355"/>
                  <a:pt x="781032" y="136630"/>
                  <a:pt x="772225" y="131181"/>
                </a:cubicBezTo>
                <a:cubicBezTo>
                  <a:pt x="763418" y="125731"/>
                  <a:pt x="756820" y="118029"/>
                  <a:pt x="752431" y="108073"/>
                </a:cubicBezTo>
                <a:cubicBezTo>
                  <a:pt x="748042" y="98117"/>
                  <a:pt x="745847" y="86364"/>
                  <a:pt x="745847" y="72814"/>
                </a:cubicBezTo>
                <a:cubicBezTo>
                  <a:pt x="745847" y="63035"/>
                  <a:pt x="747217" y="54095"/>
                  <a:pt x="749957" y="45995"/>
                </a:cubicBezTo>
                <a:cubicBezTo>
                  <a:pt x="752696" y="37895"/>
                  <a:pt x="756702" y="30899"/>
                  <a:pt x="761974" y="25008"/>
                </a:cubicBezTo>
                <a:cubicBezTo>
                  <a:pt x="767247" y="19117"/>
                  <a:pt x="773727" y="14566"/>
                  <a:pt x="781415" y="11355"/>
                </a:cubicBezTo>
                <a:cubicBezTo>
                  <a:pt x="789103" y="8145"/>
                  <a:pt x="797925" y="6539"/>
                  <a:pt x="807881" y="6539"/>
                </a:cubicBezTo>
                <a:close/>
                <a:moveTo>
                  <a:pt x="289075" y="6539"/>
                </a:moveTo>
                <a:cubicBezTo>
                  <a:pt x="297028" y="6539"/>
                  <a:pt x="303892" y="7924"/>
                  <a:pt x="309665" y="10693"/>
                </a:cubicBezTo>
                <a:cubicBezTo>
                  <a:pt x="315438" y="13461"/>
                  <a:pt x="319901" y="17409"/>
                  <a:pt x="323052" y="22534"/>
                </a:cubicBezTo>
                <a:cubicBezTo>
                  <a:pt x="326204" y="27659"/>
                  <a:pt x="327780" y="33756"/>
                  <a:pt x="327780" y="40826"/>
                </a:cubicBezTo>
                <a:cubicBezTo>
                  <a:pt x="327780" y="47659"/>
                  <a:pt x="326425" y="54007"/>
                  <a:pt x="323715" y="59869"/>
                </a:cubicBezTo>
                <a:cubicBezTo>
                  <a:pt x="321005" y="65730"/>
                  <a:pt x="317205" y="71533"/>
                  <a:pt x="312316" y="77277"/>
                </a:cubicBezTo>
                <a:cubicBezTo>
                  <a:pt x="307426" y="83021"/>
                  <a:pt x="301712" y="89103"/>
                  <a:pt x="295173" y="95525"/>
                </a:cubicBezTo>
                <a:lnTo>
                  <a:pt x="267072" y="123537"/>
                </a:lnTo>
                <a:lnTo>
                  <a:pt x="267072" y="124156"/>
                </a:lnTo>
                <a:lnTo>
                  <a:pt x="333082" y="124156"/>
                </a:lnTo>
                <a:lnTo>
                  <a:pt x="333082" y="137587"/>
                </a:lnTo>
                <a:lnTo>
                  <a:pt x="248427" y="137587"/>
                </a:lnTo>
                <a:lnTo>
                  <a:pt x="248427" y="125304"/>
                </a:lnTo>
                <a:lnTo>
                  <a:pt x="282978" y="90223"/>
                </a:lnTo>
                <a:cubicBezTo>
                  <a:pt x="289399" y="83742"/>
                  <a:pt x="294805" y="77969"/>
                  <a:pt x="299193" y="72903"/>
                </a:cubicBezTo>
                <a:cubicBezTo>
                  <a:pt x="303582" y="67836"/>
                  <a:pt x="306925" y="62844"/>
                  <a:pt x="309223" y="57925"/>
                </a:cubicBezTo>
                <a:cubicBezTo>
                  <a:pt x="311521" y="53006"/>
                  <a:pt x="312669" y="47600"/>
                  <a:pt x="312669" y="41709"/>
                </a:cubicBezTo>
                <a:cubicBezTo>
                  <a:pt x="312669" y="34404"/>
                  <a:pt x="310504" y="28823"/>
                  <a:pt x="306174" y="24964"/>
                </a:cubicBezTo>
                <a:cubicBezTo>
                  <a:pt x="301844" y="21105"/>
                  <a:pt x="296145" y="19176"/>
                  <a:pt x="289075" y="19176"/>
                </a:cubicBezTo>
                <a:cubicBezTo>
                  <a:pt x="282890" y="19176"/>
                  <a:pt x="277411" y="20236"/>
                  <a:pt x="272639" y="22357"/>
                </a:cubicBezTo>
                <a:cubicBezTo>
                  <a:pt x="267867" y="24478"/>
                  <a:pt x="262978" y="27482"/>
                  <a:pt x="257970" y="31370"/>
                </a:cubicBezTo>
                <a:lnTo>
                  <a:pt x="250106" y="21473"/>
                </a:lnTo>
                <a:cubicBezTo>
                  <a:pt x="253523" y="18587"/>
                  <a:pt x="257249" y="16024"/>
                  <a:pt x="261284" y="13786"/>
                </a:cubicBezTo>
                <a:cubicBezTo>
                  <a:pt x="265319" y="11547"/>
                  <a:pt x="269649" y="9780"/>
                  <a:pt x="274274" y="8483"/>
                </a:cubicBezTo>
                <a:cubicBezTo>
                  <a:pt x="278898" y="7187"/>
                  <a:pt x="283832" y="6539"/>
                  <a:pt x="289075" y="6539"/>
                </a:cubicBezTo>
                <a:close/>
                <a:moveTo>
                  <a:pt x="198281" y="6539"/>
                </a:moveTo>
                <a:cubicBezTo>
                  <a:pt x="204820" y="6539"/>
                  <a:pt x="211124" y="7187"/>
                  <a:pt x="217191" y="8483"/>
                </a:cubicBezTo>
                <a:cubicBezTo>
                  <a:pt x="223259" y="9780"/>
                  <a:pt x="228738" y="11635"/>
                  <a:pt x="233628" y="14051"/>
                </a:cubicBezTo>
                <a:lnTo>
                  <a:pt x="227619" y="26775"/>
                </a:lnTo>
                <a:cubicBezTo>
                  <a:pt x="223495" y="24890"/>
                  <a:pt x="218974" y="23255"/>
                  <a:pt x="214054" y="21871"/>
                </a:cubicBezTo>
                <a:cubicBezTo>
                  <a:pt x="209135" y="20487"/>
                  <a:pt x="203819" y="19794"/>
                  <a:pt x="198104" y="19794"/>
                </a:cubicBezTo>
                <a:cubicBezTo>
                  <a:pt x="190976" y="19794"/>
                  <a:pt x="184569" y="21017"/>
                  <a:pt x="178884" y="23462"/>
                </a:cubicBezTo>
                <a:cubicBezTo>
                  <a:pt x="173200" y="25906"/>
                  <a:pt x="168369" y="29441"/>
                  <a:pt x="164392" y="34066"/>
                </a:cubicBezTo>
                <a:cubicBezTo>
                  <a:pt x="160416" y="38690"/>
                  <a:pt x="157367" y="44272"/>
                  <a:pt x="155246" y="50811"/>
                </a:cubicBezTo>
                <a:cubicBezTo>
                  <a:pt x="153126" y="57350"/>
                  <a:pt x="152065" y="64714"/>
                  <a:pt x="152065" y="72903"/>
                </a:cubicBezTo>
                <a:cubicBezTo>
                  <a:pt x="152065" y="83742"/>
                  <a:pt x="153759" y="93154"/>
                  <a:pt x="157146" y="101136"/>
                </a:cubicBezTo>
                <a:cubicBezTo>
                  <a:pt x="160534" y="109118"/>
                  <a:pt x="165600" y="115289"/>
                  <a:pt x="172345" y="119649"/>
                </a:cubicBezTo>
                <a:cubicBezTo>
                  <a:pt x="179091" y="124008"/>
                  <a:pt x="187530" y="126188"/>
                  <a:pt x="197662" y="126188"/>
                </a:cubicBezTo>
                <a:cubicBezTo>
                  <a:pt x="203436" y="126188"/>
                  <a:pt x="208870" y="125702"/>
                  <a:pt x="213966" y="124730"/>
                </a:cubicBezTo>
                <a:cubicBezTo>
                  <a:pt x="219062" y="123758"/>
                  <a:pt x="224025" y="122535"/>
                  <a:pt x="228856" y="121063"/>
                </a:cubicBezTo>
                <a:lnTo>
                  <a:pt x="228856" y="134141"/>
                </a:lnTo>
                <a:cubicBezTo>
                  <a:pt x="224143" y="135908"/>
                  <a:pt x="219194" y="137219"/>
                  <a:pt x="214010" y="138073"/>
                </a:cubicBezTo>
                <a:cubicBezTo>
                  <a:pt x="208826" y="138927"/>
                  <a:pt x="202670" y="139355"/>
                  <a:pt x="195542" y="139355"/>
                </a:cubicBezTo>
                <a:cubicBezTo>
                  <a:pt x="182404" y="139355"/>
                  <a:pt x="171432" y="136630"/>
                  <a:pt x="162625" y="131181"/>
                </a:cubicBezTo>
                <a:cubicBezTo>
                  <a:pt x="153818" y="125731"/>
                  <a:pt x="147220" y="118029"/>
                  <a:pt x="142831" y="108073"/>
                </a:cubicBezTo>
                <a:cubicBezTo>
                  <a:pt x="138442" y="98117"/>
                  <a:pt x="136248" y="86364"/>
                  <a:pt x="136248" y="72814"/>
                </a:cubicBezTo>
                <a:cubicBezTo>
                  <a:pt x="136248" y="63035"/>
                  <a:pt x="137617" y="54095"/>
                  <a:pt x="140357" y="45995"/>
                </a:cubicBezTo>
                <a:cubicBezTo>
                  <a:pt x="143096" y="37895"/>
                  <a:pt x="147102" y="30899"/>
                  <a:pt x="152374" y="25008"/>
                </a:cubicBezTo>
                <a:cubicBezTo>
                  <a:pt x="157647" y="19117"/>
                  <a:pt x="164127" y="14566"/>
                  <a:pt x="171815" y="11355"/>
                </a:cubicBezTo>
                <a:cubicBezTo>
                  <a:pt x="179503" y="8145"/>
                  <a:pt x="188325" y="6539"/>
                  <a:pt x="198281" y="6539"/>
                </a:cubicBezTo>
                <a:close/>
                <a:moveTo>
                  <a:pt x="82176" y="6539"/>
                </a:moveTo>
                <a:cubicBezTo>
                  <a:pt x="89069" y="6539"/>
                  <a:pt x="95446" y="7187"/>
                  <a:pt x="101308" y="8483"/>
                </a:cubicBezTo>
                <a:cubicBezTo>
                  <a:pt x="107169" y="9780"/>
                  <a:pt x="112545" y="11517"/>
                  <a:pt x="117435" y="13697"/>
                </a:cubicBezTo>
                <a:lnTo>
                  <a:pt x="112751" y="26599"/>
                </a:lnTo>
                <a:cubicBezTo>
                  <a:pt x="108097" y="24655"/>
                  <a:pt x="103163" y="23035"/>
                  <a:pt x="97950" y="21739"/>
                </a:cubicBezTo>
                <a:cubicBezTo>
                  <a:pt x="92736" y="20442"/>
                  <a:pt x="87361" y="19794"/>
                  <a:pt x="81823" y="19794"/>
                </a:cubicBezTo>
                <a:cubicBezTo>
                  <a:pt x="76285" y="19794"/>
                  <a:pt x="71617" y="20604"/>
                  <a:pt x="67817" y="22225"/>
                </a:cubicBezTo>
                <a:cubicBezTo>
                  <a:pt x="64017" y="23845"/>
                  <a:pt x="61116" y="26127"/>
                  <a:pt x="59113" y="29073"/>
                </a:cubicBezTo>
                <a:cubicBezTo>
                  <a:pt x="57110" y="32018"/>
                  <a:pt x="56108" y="35524"/>
                  <a:pt x="56108" y="39589"/>
                </a:cubicBezTo>
                <a:cubicBezTo>
                  <a:pt x="56108" y="44125"/>
                  <a:pt x="57066" y="47895"/>
                  <a:pt x="58980" y="50900"/>
                </a:cubicBezTo>
                <a:cubicBezTo>
                  <a:pt x="60895" y="53904"/>
                  <a:pt x="63958" y="56570"/>
                  <a:pt x="68170" y="58897"/>
                </a:cubicBezTo>
                <a:cubicBezTo>
                  <a:pt x="72382" y="61224"/>
                  <a:pt x="77964" y="63654"/>
                  <a:pt x="84916" y="66187"/>
                </a:cubicBezTo>
                <a:cubicBezTo>
                  <a:pt x="92515" y="68956"/>
                  <a:pt x="98966" y="71887"/>
                  <a:pt x="104268" y="74979"/>
                </a:cubicBezTo>
                <a:cubicBezTo>
                  <a:pt x="109570" y="78072"/>
                  <a:pt x="113605" y="81843"/>
                  <a:pt x="116374" y="86290"/>
                </a:cubicBezTo>
                <a:cubicBezTo>
                  <a:pt x="119143" y="90738"/>
                  <a:pt x="120528" y="96379"/>
                  <a:pt x="120528" y="103213"/>
                </a:cubicBezTo>
                <a:cubicBezTo>
                  <a:pt x="120528" y="110871"/>
                  <a:pt x="118628" y="117395"/>
                  <a:pt x="114828" y="122786"/>
                </a:cubicBezTo>
                <a:cubicBezTo>
                  <a:pt x="111028" y="128176"/>
                  <a:pt x="105711" y="132285"/>
                  <a:pt x="98878" y="135113"/>
                </a:cubicBezTo>
                <a:cubicBezTo>
                  <a:pt x="92044" y="137941"/>
                  <a:pt x="84003" y="139355"/>
                  <a:pt x="74754" y="139355"/>
                </a:cubicBezTo>
                <a:cubicBezTo>
                  <a:pt x="69864" y="139355"/>
                  <a:pt x="65239" y="139119"/>
                  <a:pt x="60880" y="138648"/>
                </a:cubicBezTo>
                <a:cubicBezTo>
                  <a:pt x="56521" y="138176"/>
                  <a:pt x="52515" y="137499"/>
                  <a:pt x="48862" y="136615"/>
                </a:cubicBezTo>
                <a:cubicBezTo>
                  <a:pt x="45210" y="135732"/>
                  <a:pt x="41999" y="134642"/>
                  <a:pt x="39230" y="133346"/>
                </a:cubicBezTo>
                <a:lnTo>
                  <a:pt x="39230" y="118942"/>
                </a:lnTo>
                <a:cubicBezTo>
                  <a:pt x="43649" y="120768"/>
                  <a:pt x="49039" y="122462"/>
                  <a:pt x="55401" y="124023"/>
                </a:cubicBezTo>
                <a:cubicBezTo>
                  <a:pt x="61764" y="125584"/>
                  <a:pt x="68421" y="126365"/>
                  <a:pt x="75372" y="126365"/>
                </a:cubicBezTo>
                <a:cubicBezTo>
                  <a:pt x="81852" y="126365"/>
                  <a:pt x="87331" y="125496"/>
                  <a:pt x="91808" y="123758"/>
                </a:cubicBezTo>
                <a:cubicBezTo>
                  <a:pt x="96286" y="122020"/>
                  <a:pt x="99688" y="119516"/>
                  <a:pt x="102015" y="116247"/>
                </a:cubicBezTo>
                <a:cubicBezTo>
                  <a:pt x="104342" y="112977"/>
                  <a:pt x="105505" y="109045"/>
                  <a:pt x="105505" y="104450"/>
                </a:cubicBezTo>
                <a:cubicBezTo>
                  <a:pt x="105505" y="100031"/>
                  <a:pt x="104533" y="96335"/>
                  <a:pt x="102589" y="93360"/>
                </a:cubicBezTo>
                <a:cubicBezTo>
                  <a:pt x="100645" y="90385"/>
                  <a:pt x="97420" y="87675"/>
                  <a:pt x="92913" y="85230"/>
                </a:cubicBezTo>
                <a:cubicBezTo>
                  <a:pt x="88406" y="82785"/>
                  <a:pt x="82265" y="80178"/>
                  <a:pt x="74488" y="77410"/>
                </a:cubicBezTo>
                <a:cubicBezTo>
                  <a:pt x="69010" y="75465"/>
                  <a:pt x="64179" y="73330"/>
                  <a:pt x="59996" y="71003"/>
                </a:cubicBezTo>
                <a:cubicBezTo>
                  <a:pt x="55814" y="68676"/>
                  <a:pt x="52308" y="66040"/>
                  <a:pt x="49481" y="63094"/>
                </a:cubicBezTo>
                <a:cubicBezTo>
                  <a:pt x="46653" y="60149"/>
                  <a:pt x="44517" y="56732"/>
                  <a:pt x="43074" y="52844"/>
                </a:cubicBezTo>
                <a:cubicBezTo>
                  <a:pt x="41631" y="48955"/>
                  <a:pt x="40909" y="44508"/>
                  <a:pt x="40909" y="39500"/>
                </a:cubicBezTo>
                <a:cubicBezTo>
                  <a:pt x="40909" y="32608"/>
                  <a:pt x="42662" y="26702"/>
                  <a:pt x="46167" y="21783"/>
                </a:cubicBezTo>
                <a:cubicBezTo>
                  <a:pt x="49672" y="16864"/>
                  <a:pt x="54532" y="13093"/>
                  <a:pt x="60747" y="10472"/>
                </a:cubicBezTo>
                <a:cubicBezTo>
                  <a:pt x="66963" y="7850"/>
                  <a:pt x="74106" y="6539"/>
                  <a:pt x="82176" y="6539"/>
                </a:cubicBezTo>
                <a:close/>
                <a:moveTo>
                  <a:pt x="1635528" y="0"/>
                </a:moveTo>
                <a:lnTo>
                  <a:pt x="1647811" y="0"/>
                </a:lnTo>
                <a:lnTo>
                  <a:pt x="1647811" y="181417"/>
                </a:lnTo>
                <a:lnTo>
                  <a:pt x="1635528" y="181417"/>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2" name="SC 2025 logo">
            <a:extLst>
              <a:ext uri="{FF2B5EF4-FFF2-40B4-BE49-F238E27FC236}">
                <a16:creationId xmlns:a16="http://schemas.microsoft.com/office/drawing/2014/main" id="{195B6A44-FBE7-776A-3F3A-1DD91B621180}"/>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1298" t="12156" r="1298" b="12156"/>
          <a:stretch>
            <a:fillRect/>
          </a:stretch>
        </p:blipFill>
        <p:spPr>
          <a:xfrm>
            <a:off x="512366" y="270118"/>
            <a:ext cx="3054920" cy="519957"/>
          </a:xfrm>
          <a:prstGeom prst="rect">
            <a:avLst/>
          </a:prstGeom>
        </p:spPr>
      </p:pic>
    </p:spTree>
    <p:custDataLst>
      <p:tags r:id="rId3"/>
    </p:custDataLst>
    <p:extLst>
      <p:ext uri="{BB962C8B-B14F-4D97-AF65-F5344CB8AC3E}">
        <p14:creationId xmlns:p14="http://schemas.microsoft.com/office/powerpoint/2010/main" val="1967492564"/>
      </p:ext>
    </p:extLst>
  </p:cSld>
  <p:clrMap bg1="lt1" tx1="dk1" bg2="lt2" tx2="dk2" accent1="accent1" accent2="accent2" accent3="accent3" accent4="accent4" accent5="accent5" accent6="accent6" hlink="hlink" folHlink="folHlink"/>
  <p:sldLayoutIdLst>
    <p:sldLayoutId id="2147483754"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algn="l" defTabSz="457109" rtl="0" eaLnBrk="1" latinLnBrk="0" hangingPunct="1">
        <a:lnSpc>
          <a:spcPct val="90000"/>
        </a:lnSpc>
        <a:spcBef>
          <a:spcPct val="0"/>
        </a:spcBef>
        <a:buNone/>
        <a:defRPr sz="4000" kern="1200">
          <a:solidFill>
            <a:schemeClr val="accent1"/>
          </a:solidFill>
          <a:latin typeface="+mj-lt"/>
          <a:ea typeface="+mj-ea"/>
          <a:cs typeface="+mj-cs"/>
        </a:defRPr>
      </a:lvl1pPr>
    </p:titleStyle>
    <p:bodyStyle>
      <a:lvl1pPr marL="0" indent="0" algn="l" defTabSz="457109" rtl="0" eaLnBrk="1" latinLnBrk="0" hangingPunct="1">
        <a:lnSpc>
          <a:spcPct val="90000"/>
        </a:lnSpc>
        <a:spcBef>
          <a:spcPts val="1000"/>
        </a:spcBef>
        <a:spcAft>
          <a:spcPts val="1000"/>
        </a:spcAft>
        <a:buFont typeface="Arial" panose="020B0604020202020204" pitchFamily="34" charset="0"/>
        <a:buNone/>
        <a:defRPr sz="2400" kern="1200">
          <a:solidFill>
            <a:schemeClr val="tx1"/>
          </a:solidFill>
          <a:latin typeface="+mn-lt"/>
          <a:ea typeface="+mn-ea"/>
          <a:cs typeface="+mn-cs"/>
        </a:defRPr>
      </a:lvl1pPr>
      <a:lvl2pPr marL="356616" indent="-356616" algn="l" defTabSz="457109" rtl="0" eaLnBrk="1" latinLnBrk="0" hangingPunct="1">
        <a:lnSpc>
          <a:spcPct val="90000"/>
        </a:lnSpc>
        <a:spcBef>
          <a:spcPts val="500"/>
        </a:spcBef>
        <a:spcAft>
          <a:spcPts val="500"/>
        </a:spcAft>
        <a:buClr>
          <a:schemeClr val="accent2"/>
        </a:buClr>
        <a:buFont typeface="Wingdings" panose="05000000000000000000" pitchFamily="2" charset="2"/>
        <a:buChar char="§"/>
        <a:defRPr sz="2000" kern="1200">
          <a:solidFill>
            <a:schemeClr val="tx1"/>
          </a:solidFill>
          <a:latin typeface="+mn-lt"/>
          <a:ea typeface="+mn-ea"/>
          <a:cs typeface="+mn-cs"/>
        </a:defRPr>
      </a:lvl2pPr>
      <a:lvl3pPr marL="685800" indent="-338328" algn="l" defTabSz="457109" rtl="0" eaLnBrk="1" latinLnBrk="0" hangingPunct="1">
        <a:lnSpc>
          <a:spcPct val="90000"/>
        </a:lnSpc>
        <a:spcBef>
          <a:spcPts val="500"/>
        </a:spcBef>
        <a:spcAft>
          <a:spcPts val="500"/>
        </a:spcAft>
        <a:buFont typeface="Arial" panose="020B0604020202020204" pitchFamily="34" charset="0"/>
        <a:buChar char="–"/>
        <a:defRPr sz="1800" kern="1200">
          <a:solidFill>
            <a:schemeClr val="tx1"/>
          </a:solidFill>
          <a:latin typeface="+mn-lt"/>
          <a:ea typeface="+mn-ea"/>
          <a:cs typeface="+mn-cs"/>
        </a:defRPr>
      </a:lvl3pPr>
      <a:lvl4pPr marL="799940" indent="-114277" algn="l" defTabSz="457109" rtl="0" eaLnBrk="1" latinLnBrk="0" hangingPunct="1">
        <a:lnSpc>
          <a:spcPct val="90000"/>
        </a:lnSpc>
        <a:spcBef>
          <a:spcPts val="250"/>
        </a:spcBef>
        <a:buFont typeface="Arial" panose="020B0604020202020204" pitchFamily="34" charset="0"/>
        <a:buChar char="•"/>
        <a:defRPr sz="1200" kern="1200">
          <a:solidFill>
            <a:schemeClr val="tx1"/>
          </a:solidFill>
          <a:latin typeface="+mn-lt"/>
          <a:ea typeface="+mn-ea"/>
          <a:cs typeface="+mn-cs"/>
        </a:defRPr>
      </a:lvl4pPr>
      <a:lvl5pPr marL="1028494" indent="-114277" algn="l" defTabSz="457109" rtl="0" eaLnBrk="1" latinLnBrk="0" hangingPunct="1">
        <a:lnSpc>
          <a:spcPct val="90000"/>
        </a:lnSpc>
        <a:spcBef>
          <a:spcPts val="250"/>
        </a:spcBef>
        <a:buFont typeface="Arial" panose="020B0604020202020204" pitchFamily="34" charset="0"/>
        <a:buChar char="•"/>
        <a:defRPr sz="1200" kern="1200">
          <a:solidFill>
            <a:schemeClr val="tx1"/>
          </a:solidFill>
          <a:latin typeface="+mn-lt"/>
          <a:ea typeface="+mn-ea"/>
          <a:cs typeface="+mn-cs"/>
        </a:defRPr>
      </a:lvl5pPr>
      <a:lvl6pPr marL="1257049"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5603"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p:bodyStyle>
    <p:otherStyle>
      <a:defPPr>
        <a:defRPr lang="en-US"/>
      </a:defPPr>
      <a:lvl1pPr marL="0" algn="l" defTabSz="457109" rtl="0" eaLnBrk="1" latinLnBrk="0" hangingPunct="1">
        <a:defRPr sz="900" kern="1200">
          <a:solidFill>
            <a:schemeClr val="tx1"/>
          </a:solidFill>
          <a:latin typeface="+mn-lt"/>
          <a:ea typeface="+mn-ea"/>
          <a:cs typeface="+mn-cs"/>
        </a:defRPr>
      </a:lvl1pPr>
      <a:lvl2pPr marL="228554" algn="l" defTabSz="457109" rtl="0" eaLnBrk="1" latinLnBrk="0" hangingPunct="1">
        <a:defRPr sz="900" kern="1200">
          <a:solidFill>
            <a:schemeClr val="tx1"/>
          </a:solidFill>
          <a:latin typeface="+mn-lt"/>
          <a:ea typeface="+mn-ea"/>
          <a:cs typeface="+mn-cs"/>
        </a:defRPr>
      </a:lvl2pPr>
      <a:lvl3pPr marL="457109" algn="l" defTabSz="457109" rtl="0" eaLnBrk="1" latinLnBrk="0" hangingPunct="1">
        <a:defRPr sz="900" kern="1200">
          <a:solidFill>
            <a:schemeClr val="tx1"/>
          </a:solidFill>
          <a:latin typeface="+mn-lt"/>
          <a:ea typeface="+mn-ea"/>
          <a:cs typeface="+mn-cs"/>
        </a:defRPr>
      </a:lvl3pPr>
      <a:lvl4pPr marL="685663" algn="l" defTabSz="457109" rtl="0" eaLnBrk="1" latinLnBrk="0" hangingPunct="1">
        <a:defRPr sz="900" kern="1200">
          <a:solidFill>
            <a:schemeClr val="tx1"/>
          </a:solidFill>
          <a:latin typeface="+mn-lt"/>
          <a:ea typeface="+mn-ea"/>
          <a:cs typeface="+mn-cs"/>
        </a:defRPr>
      </a:lvl4pPr>
      <a:lvl5pPr marL="914217" algn="l" defTabSz="457109" rtl="0" eaLnBrk="1" latinLnBrk="0" hangingPunct="1">
        <a:defRPr sz="900" kern="1200">
          <a:solidFill>
            <a:schemeClr val="tx1"/>
          </a:solidFill>
          <a:latin typeface="+mn-lt"/>
          <a:ea typeface="+mn-ea"/>
          <a:cs typeface="+mn-cs"/>
        </a:defRPr>
      </a:lvl5pPr>
      <a:lvl6pPr marL="1142771" algn="l" defTabSz="457109" rtl="0" eaLnBrk="1" latinLnBrk="0" hangingPunct="1">
        <a:defRPr sz="900" kern="1200">
          <a:solidFill>
            <a:schemeClr val="tx1"/>
          </a:solidFill>
          <a:latin typeface="+mn-lt"/>
          <a:ea typeface="+mn-ea"/>
          <a:cs typeface="+mn-cs"/>
        </a:defRPr>
      </a:lvl6pPr>
      <a:lvl7pPr marL="1371326" algn="l" defTabSz="457109" rtl="0" eaLnBrk="1" latinLnBrk="0" hangingPunct="1">
        <a:defRPr sz="900" kern="1200">
          <a:solidFill>
            <a:schemeClr val="tx1"/>
          </a:solidFill>
          <a:latin typeface="+mn-lt"/>
          <a:ea typeface="+mn-ea"/>
          <a:cs typeface="+mn-cs"/>
        </a:defRPr>
      </a:lvl7pPr>
      <a:lvl8pPr marL="1599880" algn="l" defTabSz="457109" rtl="0" eaLnBrk="1" latinLnBrk="0" hangingPunct="1">
        <a:defRPr sz="900" kern="1200">
          <a:solidFill>
            <a:schemeClr val="tx1"/>
          </a:solidFill>
          <a:latin typeface="+mn-lt"/>
          <a:ea typeface="+mn-ea"/>
          <a:cs typeface="+mn-cs"/>
        </a:defRPr>
      </a:lvl8pPr>
      <a:lvl9pPr marL="1828434" algn="l" defTabSz="457109" rtl="0" eaLnBrk="1" latinLnBrk="0" hangingPunct="1">
        <a:defRPr sz="9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522" userDrawn="1">
          <p15:clr>
            <a:srgbClr val="F26B43"/>
          </p15:clr>
        </p15:guide>
        <p15:guide id="2" pos="3839" userDrawn="1">
          <p15:clr>
            <a:srgbClr val="F26B43"/>
          </p15:clr>
        </p15:guide>
        <p15:guide id="3" pos="359" userDrawn="1">
          <p15:clr>
            <a:srgbClr val="F26B43"/>
          </p15:clr>
        </p15:guide>
        <p15:guide id="4" pos="7319" userDrawn="1">
          <p15:clr>
            <a:srgbClr val="F26B43"/>
          </p15:clr>
        </p15:guide>
        <p15:guide id="5" orient="horz" pos="1440" userDrawn="1">
          <p15:clr>
            <a:srgbClr val="F26B43"/>
          </p15:clr>
        </p15:guide>
        <p15:guide id="6" orient="horz" pos="3891" userDrawn="1">
          <p15:clr>
            <a:srgbClr val="F26B43"/>
          </p15:clr>
        </p15:guide>
        <p15:guide id="7" pos="3935" userDrawn="1">
          <p15:clr>
            <a:srgbClr val="F26B43"/>
          </p15:clr>
        </p15:guide>
        <p15:guide id="8" pos="3743" userDrawn="1">
          <p15:clr>
            <a:srgbClr val="F26B43"/>
          </p15:clr>
        </p15:guide>
        <p15:guide id="9" orient="horz" pos="5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hyperlink" Target="https://github.com/stperic/who-writes-who-finds" TargetMode="External"/><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7.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7.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7.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7.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CFB"/>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l="-44" r="-44"/>
          <a:stretch/>
        </p:blipFill>
        <p:spPr>
          <a:xfrm>
            <a:off x="6731000" y="3302000"/>
            <a:ext cx="5461000" cy="3556000"/>
          </a:xfrm>
          <a:prstGeom prst="rect">
            <a:avLst/>
          </a:prstGeom>
        </p:spPr>
      </p:pic>
      <p:pic>
        <p:nvPicPr>
          <p:cNvPr id="3" name="Image 1" descr="ISC2 Security Congress 2026"/>
          <p:cNvPicPr>
            <a:picLocks noChangeAspect="1"/>
          </p:cNvPicPr>
          <p:nvPr/>
        </p:nvPicPr>
        <p:blipFill>
          <a:blip r:embed="rId4"/>
          <a:srcRect l="-65" r="-65"/>
          <a:stretch/>
        </p:blipFill>
        <p:spPr>
          <a:xfrm>
            <a:off x="812800" y="508000"/>
            <a:ext cx="2032000" cy="444500"/>
          </a:xfrm>
          <a:prstGeom prst="rect">
            <a:avLst/>
          </a:prstGeom>
        </p:spPr>
      </p:pic>
      <p:sp>
        <p:nvSpPr>
          <p:cNvPr id="4" name="Text 0"/>
          <p:cNvSpPr>
            <a:spLocks noGrp="1"/>
          </p:cNvSpPr>
          <p:nvPr>
            <p:ph type="title"/>
          </p:nvPr>
        </p:nvSpPr>
        <p:spPr>
          <a:xfrm>
            <a:off x="812800" y="1371599"/>
            <a:ext cx="6337300" cy="1518841"/>
          </a:xfrm>
          <a:prstGeom prst="rect">
            <a:avLst/>
          </a:prstGeom>
          <a:noFill/>
          <a:ln/>
        </p:spPr>
        <p:txBody>
          <a:bodyPr wrap="square" lIns="0" tIns="0" rIns="0" bIns="0" rtlCol="0" anchor="t">
            <a:noAutofit/>
          </a:bodyPr>
          <a:lstStyle/>
          <a:p>
            <a:pPr marL="0" indent="0" algn="l">
              <a:lnSpc>
                <a:spcPct val="105000"/>
              </a:lnSpc>
              <a:buNone/>
            </a:pPr>
            <a:r>
              <a:rPr lang="en-US" sz="4000" b="1" i="0" dirty="0">
                <a:solidFill>
                  <a:srgbClr val="448334"/>
                </a:solidFill>
                <a:latin typeface="Arial" pitchFamily="34" charset="0"/>
                <a:ea typeface="Arial" pitchFamily="34" charset="-122"/>
                <a:cs typeface="Arial" pitchFamily="34" charset="-120"/>
              </a:rPr>
              <a:t>Who Writes the Bug,</a:t>
            </a:r>
            <a:br/>
            <a:r>
              <a:rPr lang="en-US" sz="4000" b="1" i="0" dirty="0">
                <a:solidFill>
                  <a:srgbClr val="448334"/>
                </a:solidFill>
                <a:latin typeface="Arial" pitchFamily="34" charset="0"/>
                <a:ea typeface="Arial" pitchFamily="34" charset="-122"/>
                <a:cs typeface="Arial" pitchFamily="34" charset="-120"/>
              </a:rPr>
              <a:t>Who Finds the Bug?</a:t>
            </a:r>
          </a:p>
        </p:txBody>
      </p:sp>
      <p:sp>
        <p:nvSpPr>
          <p:cNvPr id="5" name="Text 1"/>
          <p:cNvSpPr/>
          <p:nvPr/>
        </p:nvSpPr>
        <p:spPr>
          <a:xfrm>
            <a:off x="812800" y="3526830"/>
            <a:ext cx="5886450" cy="355600"/>
          </a:xfrm>
          <a:prstGeom prst="rect">
            <a:avLst/>
          </a:prstGeom>
          <a:noFill/>
          <a:ln/>
        </p:spPr>
        <p:txBody>
          <a:bodyPr wrap="square" lIns="0" tIns="0" rIns="0" bIns="0" rtlCol="0" anchor="t">
            <a:normAutofit/>
          </a:bodyPr>
          <a:lstStyle/>
          <a:p>
            <a:pPr marL="0" indent="0" algn="l">
              <a:lnSpc>
                <a:spcPts val="2600"/>
              </a:lnSpc>
              <a:buNone/>
            </a:pPr>
            <a:endParaRPr lang="en-US" sz="2000" dirty="0"/>
          </a:p>
        </p:txBody>
      </p:sp>
      <p:sp>
        <p:nvSpPr>
          <p:cNvPr id="6" name="Text 2"/>
          <p:cNvSpPr/>
          <p:nvPr/>
        </p:nvSpPr>
        <p:spPr>
          <a:xfrm>
            <a:off x="828675" y="3052961"/>
            <a:ext cx="5886450" cy="523081"/>
          </a:xfrm>
          <a:prstGeom prst="rect">
            <a:avLst/>
          </a:prstGeom>
          <a:noFill/>
          <a:ln/>
        </p:spPr>
        <p:txBody>
          <a:bodyPr wrap="square" lIns="0" tIns="0" rIns="0" bIns="0" rtlCol="0" anchor="t">
            <a:normAutofit/>
          </a:bodyPr>
          <a:lstStyle/>
          <a:p>
            <a:pPr marL="0" indent="0" algn="l">
              <a:lnSpc>
                <a:spcPts val="1960"/>
              </a:lnSpc>
              <a:buNone/>
            </a:pPr>
            <a:r>
              <a:rPr lang="en-US" sz="2000" dirty="0">
                <a:solidFill>
                  <a:srgbClr val="6B6B73"/>
                </a:solidFill>
                <a:latin typeface="Arial" pitchFamily="34" charset="0"/>
                <a:ea typeface="Arial" pitchFamily="34" charset="-122"/>
                <a:cs typeface="Arial" pitchFamily="34" charset="-120"/>
              </a:rPr>
              <a:t>Human-AI Security Lessons from Open Source</a:t>
            </a:r>
          </a:p>
          <a:p>
            <a:pPr marL="0" indent="0" algn="l">
              <a:lnSpc>
                <a:spcPts val="1960"/>
              </a:lnSpc>
              <a:buNone/>
            </a:pPr>
            <a:endParaRPr lang="en-US" sz="2000" dirty="0">
              <a:solidFill>
                <a:srgbClr val="6B6B73"/>
              </a:solidFill>
              <a:latin typeface="Arial" pitchFamily="34" charset="0"/>
              <a:ea typeface="Arial" pitchFamily="34" charset="-122"/>
              <a:cs typeface="Arial" pitchFamily="34" charset="-120"/>
            </a:endParaRPr>
          </a:p>
        </p:txBody>
      </p:sp>
      <p:sp>
        <p:nvSpPr>
          <p:cNvPr id="7" name="Text 3"/>
          <p:cNvSpPr/>
          <p:nvPr/>
        </p:nvSpPr>
        <p:spPr>
          <a:xfrm>
            <a:off x="812800" y="5340351"/>
            <a:ext cx="588645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3333A"/>
                </a:solidFill>
                <a:latin typeface="Arial" pitchFamily="34" charset="0"/>
                <a:ea typeface="Arial" pitchFamily="34" charset="-122"/>
                <a:cs typeface="Arial" pitchFamily="34" charset="-120"/>
              </a:rPr>
              <a:t>Eric St-Pierre, CISSP, CCSP, HCISPP</a:t>
            </a:r>
            <a:endParaRPr lang="en-US" sz="1500" dirty="0"/>
          </a:p>
        </p:txBody>
      </p:sp>
      <p:grpSp>
        <p:nvGrpSpPr>
          <p:cNvPr id="23" name="Group 22">
            <a:extLst>
              <a:ext uri="{FF2B5EF4-FFF2-40B4-BE49-F238E27FC236}">
                <a16:creationId xmlns:a16="http://schemas.microsoft.com/office/drawing/2014/main" id="{B33BAAB6-5A13-F19A-D852-205A2058D21D}"/>
              </a:ext>
            </a:extLst>
          </p:cNvPr>
          <p:cNvGrpSpPr/>
          <p:nvPr/>
        </p:nvGrpSpPr>
        <p:grpSpPr>
          <a:xfrm>
            <a:off x="945807" y="3625447"/>
            <a:ext cx="4420889" cy="1461703"/>
            <a:chOff x="6314077" y="1911350"/>
            <a:chExt cx="5913264" cy="2179241"/>
          </a:xfrm>
        </p:grpSpPr>
        <p:sp>
          <p:nvSpPr>
            <p:cNvPr id="8" name="Shape 4"/>
            <p:cNvSpPr/>
            <p:nvPr/>
          </p:nvSpPr>
          <p:spPr>
            <a:xfrm>
              <a:off x="7943850" y="1911350"/>
              <a:ext cx="2527300" cy="2179241"/>
            </a:xfrm>
            <a:prstGeom prst="roundRect">
              <a:avLst>
                <a:gd name="adj" fmla="val 5536"/>
              </a:avLst>
            </a:prstGeom>
            <a:solidFill>
              <a:srgbClr val="FFFFFF"/>
            </a:solidFill>
            <a:ln w="12700">
              <a:solidFill>
                <a:srgbClr val="E3E3E6"/>
              </a:solidFill>
              <a:prstDash val="solid"/>
            </a:ln>
            <a:effectLst>
              <a:outerShdw blurRad="254000" dist="101600" dir="5400000" algn="bl" rotWithShape="0">
                <a:srgbClr val="33333A">
                  <a:alpha val="12000"/>
                </a:srgbClr>
              </a:outerShdw>
            </a:effectLst>
          </p:spPr>
          <p:txBody>
            <a:bodyPr anchor="ctr"/>
            <a:lstStyle/>
            <a:p>
              <a:endParaRPr lang="en-US" sz="1050"/>
            </a:p>
          </p:txBody>
        </p:sp>
        <p:pic>
          <p:nvPicPr>
            <p:cNvPr id="9" name="Image 2" descr="Code"/>
            <p:cNvPicPr>
              <a:picLocks noChangeAspect="1"/>
            </p:cNvPicPr>
            <p:nvPr/>
          </p:nvPicPr>
          <p:blipFill>
            <a:blip r:embed="rId5"/>
            <a:srcRect/>
            <a:stretch/>
          </p:blipFill>
          <p:spPr>
            <a:xfrm>
              <a:off x="8153400" y="2131020"/>
              <a:ext cx="228600" cy="228600"/>
            </a:xfrm>
            <a:prstGeom prst="rect">
              <a:avLst/>
            </a:prstGeom>
          </p:spPr>
        </p:pic>
        <p:sp>
          <p:nvSpPr>
            <p:cNvPr id="10" name="Text 5"/>
            <p:cNvSpPr/>
            <p:nvPr/>
          </p:nvSpPr>
          <p:spPr>
            <a:xfrm>
              <a:off x="8483600" y="2120900"/>
              <a:ext cx="1221224" cy="274241"/>
            </a:xfrm>
            <a:prstGeom prst="rect">
              <a:avLst/>
            </a:prstGeom>
            <a:noFill/>
            <a:ln/>
          </p:spPr>
          <p:txBody>
            <a:bodyPr wrap="square" lIns="0" tIns="0" rIns="0" bIns="0" rtlCol="0" anchor="ctr">
              <a:noAutofit/>
            </a:bodyPr>
            <a:lstStyle/>
            <a:p>
              <a:pPr marL="0" indent="0" algn="l">
                <a:lnSpc>
                  <a:spcPts val="1960"/>
                </a:lnSpc>
                <a:buNone/>
              </a:pPr>
              <a:r>
                <a:rPr lang="en-US" sz="900" b="1" dirty="0">
                  <a:solidFill>
                    <a:srgbClr val="33333A"/>
                  </a:solidFill>
                  <a:latin typeface="Arial" pitchFamily="34" charset="0"/>
                  <a:ea typeface="Arial" pitchFamily="34" charset="-122"/>
                  <a:cs typeface="Arial" pitchFamily="34" charset="-120"/>
                </a:rPr>
                <a:t>Pull request</a:t>
              </a:r>
              <a:endParaRPr lang="en-US" sz="900" dirty="0"/>
            </a:p>
          </p:txBody>
        </p:sp>
        <p:sp>
          <p:nvSpPr>
            <p:cNvPr id="11" name="Shape 6"/>
            <p:cNvSpPr/>
            <p:nvPr/>
          </p:nvSpPr>
          <p:spPr>
            <a:xfrm>
              <a:off x="8153400" y="2496741"/>
              <a:ext cx="1905000" cy="88900"/>
            </a:xfrm>
            <a:prstGeom prst="roundRect">
              <a:avLst>
                <a:gd name="adj" fmla="val 50000"/>
              </a:avLst>
            </a:prstGeom>
            <a:solidFill>
              <a:srgbClr val="E3E3E6"/>
            </a:solidFill>
            <a:ln/>
          </p:spPr>
          <p:txBody>
            <a:bodyPr anchor="ctr"/>
            <a:lstStyle/>
            <a:p>
              <a:endParaRPr lang="en-US" sz="1050"/>
            </a:p>
          </p:txBody>
        </p:sp>
        <p:sp>
          <p:nvSpPr>
            <p:cNvPr id="12" name="Shape 7"/>
            <p:cNvSpPr/>
            <p:nvPr/>
          </p:nvSpPr>
          <p:spPr>
            <a:xfrm>
              <a:off x="8153400" y="2712641"/>
              <a:ext cx="1524000" cy="88900"/>
            </a:xfrm>
            <a:prstGeom prst="roundRect">
              <a:avLst>
                <a:gd name="adj" fmla="val 50000"/>
              </a:avLst>
            </a:prstGeom>
            <a:solidFill>
              <a:srgbClr val="E3E3E6"/>
            </a:solidFill>
            <a:ln/>
          </p:spPr>
          <p:txBody>
            <a:bodyPr anchor="ctr"/>
            <a:lstStyle/>
            <a:p>
              <a:endParaRPr lang="en-US" sz="1050"/>
            </a:p>
          </p:txBody>
        </p:sp>
        <p:sp>
          <p:nvSpPr>
            <p:cNvPr id="13" name="Shape 8"/>
            <p:cNvSpPr/>
            <p:nvPr/>
          </p:nvSpPr>
          <p:spPr>
            <a:xfrm>
              <a:off x="8153400" y="2928541"/>
              <a:ext cx="1778000" cy="88900"/>
            </a:xfrm>
            <a:prstGeom prst="roundRect">
              <a:avLst>
                <a:gd name="adj" fmla="val 50000"/>
              </a:avLst>
            </a:prstGeom>
            <a:solidFill>
              <a:srgbClr val="D7EAD0"/>
            </a:solidFill>
            <a:ln/>
          </p:spPr>
          <p:txBody>
            <a:bodyPr anchor="ctr"/>
            <a:lstStyle/>
            <a:p>
              <a:endParaRPr lang="en-US" sz="1050"/>
            </a:p>
          </p:txBody>
        </p:sp>
        <p:sp>
          <p:nvSpPr>
            <p:cNvPr id="14" name="Shape 9"/>
            <p:cNvSpPr/>
            <p:nvPr/>
          </p:nvSpPr>
          <p:spPr>
            <a:xfrm>
              <a:off x="8153400" y="3144441"/>
              <a:ext cx="1270000" cy="88900"/>
            </a:xfrm>
            <a:prstGeom prst="roundRect">
              <a:avLst>
                <a:gd name="adj" fmla="val 50000"/>
              </a:avLst>
            </a:prstGeom>
            <a:solidFill>
              <a:srgbClr val="D7EAD0"/>
            </a:solidFill>
            <a:ln/>
          </p:spPr>
          <p:txBody>
            <a:bodyPr anchor="ctr"/>
            <a:lstStyle/>
            <a:p>
              <a:endParaRPr lang="en-US" sz="1050"/>
            </a:p>
          </p:txBody>
        </p:sp>
        <p:sp>
          <p:nvSpPr>
            <p:cNvPr id="15" name="Shape 10"/>
            <p:cNvSpPr/>
            <p:nvPr/>
          </p:nvSpPr>
          <p:spPr>
            <a:xfrm>
              <a:off x="8153400" y="3360341"/>
              <a:ext cx="1651000" cy="88900"/>
            </a:xfrm>
            <a:prstGeom prst="roundRect">
              <a:avLst>
                <a:gd name="adj" fmla="val 50000"/>
              </a:avLst>
            </a:prstGeom>
            <a:solidFill>
              <a:srgbClr val="E3E3E6"/>
            </a:solidFill>
            <a:ln/>
          </p:spPr>
          <p:txBody>
            <a:bodyPr anchor="ctr"/>
            <a:lstStyle/>
            <a:p>
              <a:endParaRPr lang="en-US" sz="1050"/>
            </a:p>
          </p:txBody>
        </p:sp>
        <p:sp>
          <p:nvSpPr>
            <p:cNvPr id="16" name="Shape 11"/>
            <p:cNvSpPr/>
            <p:nvPr/>
          </p:nvSpPr>
          <p:spPr>
            <a:xfrm>
              <a:off x="8153400" y="3576241"/>
              <a:ext cx="1143000" cy="88900"/>
            </a:xfrm>
            <a:prstGeom prst="roundRect">
              <a:avLst>
                <a:gd name="adj" fmla="val 50000"/>
              </a:avLst>
            </a:prstGeom>
            <a:solidFill>
              <a:srgbClr val="F9D8CB"/>
            </a:solidFill>
            <a:ln/>
          </p:spPr>
          <p:txBody>
            <a:bodyPr anchor="ctr"/>
            <a:lstStyle/>
            <a:p>
              <a:endParaRPr lang="en-US" sz="1050"/>
            </a:p>
          </p:txBody>
        </p:sp>
        <p:sp>
          <p:nvSpPr>
            <p:cNvPr id="17" name="Shape 12"/>
            <p:cNvSpPr/>
            <p:nvPr/>
          </p:nvSpPr>
          <p:spPr>
            <a:xfrm>
              <a:off x="8153400" y="3792141"/>
              <a:ext cx="1905000" cy="88900"/>
            </a:xfrm>
            <a:prstGeom prst="roundRect">
              <a:avLst>
                <a:gd name="adj" fmla="val 50000"/>
              </a:avLst>
            </a:prstGeom>
            <a:solidFill>
              <a:srgbClr val="E3E3E6"/>
            </a:solidFill>
            <a:ln/>
          </p:spPr>
          <p:txBody>
            <a:bodyPr anchor="ctr"/>
            <a:lstStyle/>
            <a:p>
              <a:endParaRPr lang="en-US" sz="1050"/>
            </a:p>
          </p:txBody>
        </p:sp>
        <p:sp>
          <p:nvSpPr>
            <p:cNvPr id="18" name="Text 13"/>
            <p:cNvSpPr/>
            <p:nvPr/>
          </p:nvSpPr>
          <p:spPr>
            <a:xfrm>
              <a:off x="6314077" y="2547690"/>
              <a:ext cx="2048256" cy="383134"/>
            </a:xfrm>
            <a:prstGeom prst="roundRect">
              <a:avLst>
                <a:gd name="adj" fmla="val 50000"/>
              </a:avLst>
            </a:prstGeom>
            <a:solidFill>
              <a:srgbClr val="448334"/>
            </a:solidFill>
            <a:ln/>
            <a:effectLst>
              <a:outerShdw blurRad="127000" dist="38100" dir="5400000" algn="bl" rotWithShape="0">
                <a:srgbClr val="33333A">
                  <a:alpha val="15000"/>
                </a:srgbClr>
              </a:outerShdw>
            </a:effectLst>
          </p:spPr>
          <p:txBody>
            <a:bodyPr wrap="square" lIns="45441" tIns="20041" rIns="45441" bIns="0" rtlCol="0" anchor="b">
              <a:noAutofit/>
            </a:bodyPr>
            <a:lstStyle/>
            <a:p>
              <a:pPr marL="0" indent="0" algn="ctr">
                <a:lnSpc>
                  <a:spcPts val="1820"/>
                </a:lnSpc>
                <a:buNone/>
              </a:pPr>
              <a:r>
                <a:rPr lang="en-US" sz="900" b="1" dirty="0">
                  <a:solidFill>
                    <a:srgbClr val="FFFFFF"/>
                  </a:solidFill>
                  <a:latin typeface="Arial" pitchFamily="34" charset="0"/>
                  <a:ea typeface="Arial" pitchFamily="34" charset="-122"/>
                  <a:cs typeface="Arial" pitchFamily="34" charset="-120"/>
                </a:rPr>
                <a:t>What’s intended?</a:t>
              </a:r>
              <a:endParaRPr lang="en-US" sz="900" dirty="0"/>
            </a:p>
          </p:txBody>
        </p:sp>
        <p:sp>
          <p:nvSpPr>
            <p:cNvPr id="19" name="Text 14"/>
            <p:cNvSpPr/>
            <p:nvPr/>
          </p:nvSpPr>
          <p:spPr>
            <a:xfrm>
              <a:off x="10179085" y="2534218"/>
              <a:ext cx="2048256" cy="383134"/>
            </a:xfrm>
            <a:prstGeom prst="roundRect">
              <a:avLst>
                <a:gd name="adj" fmla="val 50000"/>
              </a:avLst>
            </a:prstGeom>
            <a:solidFill>
              <a:srgbClr val="0086B6"/>
            </a:solidFill>
            <a:ln/>
            <a:effectLst>
              <a:outerShdw blurRad="127000" dist="38100" dir="5400000" algn="bl" rotWithShape="0">
                <a:srgbClr val="33333A">
                  <a:alpha val="15000"/>
                </a:srgbClr>
              </a:outerShdw>
            </a:effectLst>
          </p:spPr>
          <p:txBody>
            <a:bodyPr wrap="square" lIns="45441" tIns="0" rIns="45441" bIns="0" rtlCol="0" anchor="ctr">
              <a:noAutofit/>
            </a:bodyPr>
            <a:lstStyle/>
            <a:p>
              <a:pPr marL="0" indent="0" algn="ctr">
                <a:lnSpc>
                  <a:spcPts val="1820"/>
                </a:lnSpc>
                <a:buNone/>
              </a:pPr>
              <a:r>
                <a:rPr lang="en-US" sz="900" b="1" dirty="0">
                  <a:solidFill>
                    <a:srgbClr val="FFFFFF"/>
                  </a:solidFill>
                  <a:latin typeface="Arial" pitchFamily="34" charset="0"/>
                  <a:ea typeface="Arial" pitchFamily="34" charset="-122"/>
                  <a:cs typeface="Arial" pitchFamily="34" charset="-120"/>
                </a:rPr>
                <a:t>What changed?</a:t>
              </a:r>
              <a:endParaRPr lang="en-US" sz="900" dirty="0"/>
            </a:p>
          </p:txBody>
        </p:sp>
        <p:sp>
          <p:nvSpPr>
            <p:cNvPr id="20" name="Text 15"/>
            <p:cNvSpPr/>
            <p:nvPr/>
          </p:nvSpPr>
          <p:spPr>
            <a:xfrm>
              <a:off x="6333743" y="3118894"/>
              <a:ext cx="2048256" cy="383134"/>
            </a:xfrm>
            <a:prstGeom prst="roundRect">
              <a:avLst>
                <a:gd name="adj" fmla="val 41330"/>
              </a:avLst>
            </a:prstGeom>
            <a:solidFill>
              <a:srgbClr val="5466AE"/>
            </a:solidFill>
            <a:ln/>
            <a:effectLst>
              <a:outerShdw blurRad="127000" dist="38100" dir="5400000" algn="bl" rotWithShape="0">
                <a:srgbClr val="33333A">
                  <a:alpha val="15000"/>
                </a:srgbClr>
              </a:outerShdw>
            </a:effectLst>
          </p:spPr>
          <p:txBody>
            <a:bodyPr wrap="square" lIns="27206" tIns="1806" rIns="27206" bIns="0" rtlCol="0" anchor="ctr">
              <a:noAutofit/>
            </a:bodyPr>
            <a:lstStyle/>
            <a:p>
              <a:pPr marL="0" indent="0" algn="ctr">
                <a:lnSpc>
                  <a:spcPts val="1820"/>
                </a:lnSpc>
                <a:buNone/>
              </a:pPr>
              <a:r>
                <a:rPr lang="en-US" sz="900" b="1" dirty="0">
                  <a:solidFill>
                    <a:srgbClr val="FFFFFF"/>
                  </a:solidFill>
                  <a:latin typeface="Arial" pitchFamily="34" charset="0"/>
                  <a:ea typeface="Arial" pitchFamily="34" charset="-122"/>
                  <a:cs typeface="Arial" pitchFamily="34" charset="-120"/>
                </a:rPr>
                <a:t>Evidence current?</a:t>
              </a:r>
              <a:endParaRPr lang="en-US" sz="900" dirty="0"/>
            </a:p>
          </p:txBody>
        </p:sp>
        <p:sp>
          <p:nvSpPr>
            <p:cNvPr id="21" name="Text 16"/>
            <p:cNvSpPr/>
            <p:nvPr/>
          </p:nvSpPr>
          <p:spPr>
            <a:xfrm>
              <a:off x="10179085" y="3118892"/>
              <a:ext cx="2048256" cy="383134"/>
            </a:xfrm>
            <a:prstGeom prst="roundRect">
              <a:avLst>
                <a:gd name="adj" fmla="val 50000"/>
              </a:avLst>
            </a:prstGeom>
            <a:solidFill>
              <a:srgbClr val="F07133"/>
            </a:solidFill>
            <a:ln/>
            <a:effectLst>
              <a:outerShdw blurRad="127000" dist="38100" dir="5400000" algn="bl" rotWithShape="0">
                <a:srgbClr val="33333A">
                  <a:alpha val="15000"/>
                </a:srgbClr>
              </a:outerShdw>
            </a:effectLst>
          </p:spPr>
          <p:txBody>
            <a:bodyPr wrap="square" lIns="45441" tIns="20041" rIns="45441" bIns="0" rtlCol="0" anchor="ctr">
              <a:noAutofit/>
            </a:bodyPr>
            <a:lstStyle/>
            <a:p>
              <a:pPr marL="0" indent="0" algn="ctr">
                <a:lnSpc>
                  <a:spcPts val="1820"/>
                </a:lnSpc>
                <a:buNone/>
              </a:pPr>
              <a:r>
                <a:rPr lang="en-US" sz="900" b="1" dirty="0">
                  <a:solidFill>
                    <a:srgbClr val="FFFFFF"/>
                  </a:solidFill>
                  <a:latin typeface="Arial" pitchFamily="34" charset="0"/>
                  <a:ea typeface="Arial" pitchFamily="34" charset="-122"/>
                  <a:cs typeface="Arial" pitchFamily="34" charset="-120"/>
                </a:rPr>
                <a:t>Who may authorize?</a:t>
              </a:r>
              <a:endParaRPr lang="en-US" sz="900" dirty="0"/>
            </a:p>
          </p:txBody>
        </p:sp>
      </p:grpSp>
      <p:sp>
        <p:nvSpPr>
          <p:cNvPr id="22" name="Text 17"/>
          <p:cNvSpPr/>
          <p:nvPr/>
        </p:nvSpPr>
        <p:spPr>
          <a:xfrm>
            <a:off x="812800" y="6238280"/>
            <a:ext cx="299537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A92"/>
                </a:solidFill>
                <a:latin typeface="Arial" pitchFamily="34" charset="0"/>
                <a:ea typeface="Arial" pitchFamily="34" charset="-122"/>
                <a:cs typeface="Arial" pitchFamily="34" charset="-120"/>
              </a:rPr>
              <a:t>ISC2.org/Congress | #ISC2Congress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4" name="Text 0"/>
          <p:cNvSpPr>
            <a:spLocks noGrp="1"/>
          </p:cNvSpPr>
          <p:nvPr>
            <p:ph type="title"/>
          </p:nvPr>
        </p:nvSpPr>
        <p:spPr>
          <a:xfrm>
            <a:off x="812800" y="812800"/>
            <a:ext cx="3792855"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448334"/>
                </a:solidFill>
                <a:latin typeface="Arial" pitchFamily="34" charset="0"/>
                <a:ea typeface="Arial" pitchFamily="34" charset="-122"/>
                <a:cs typeface="Arial" pitchFamily="34" charset="-120"/>
              </a:rPr>
              <a:t>Why OpenEMR?</a:t>
            </a:r>
            <a:endParaRPr lang="en-US" sz="3200" dirty="0"/>
          </a:p>
        </p:txBody>
      </p:sp>
      <p:sp>
        <p:nvSpPr>
          <p:cNvPr id="6" name="Shape 2"/>
          <p:cNvSpPr/>
          <p:nvPr/>
        </p:nvSpPr>
        <p:spPr>
          <a:xfrm>
            <a:off x="812800" y="1975712"/>
            <a:ext cx="3924300" cy="1828800"/>
          </a:xfrm>
          <a:prstGeom prst="roundRect">
            <a:avLst>
              <a:gd name="adj" fmla="val 4245"/>
            </a:avLst>
          </a:prstGeom>
          <a:solidFill>
            <a:srgbClr val="FFFFFF"/>
          </a:solidFill>
          <a:ln w="12700">
            <a:solidFill>
              <a:srgbClr val="E3E3E6"/>
            </a:solidFill>
            <a:prstDash val="solid"/>
          </a:ln>
          <a:effectLst>
            <a:outerShdw blurRad="203200" dist="76200" dir="5400000" algn="bl" rotWithShape="0">
              <a:srgbClr val="33333A">
                <a:alpha val="8000"/>
              </a:srgbClr>
            </a:outerShdw>
          </a:effectLst>
        </p:spPr>
        <p:txBody>
          <a:bodyPr/>
          <a:lstStyle/>
          <a:p>
            <a:endParaRPr lang="en-US"/>
          </a:p>
        </p:txBody>
      </p:sp>
      <p:sp>
        <p:nvSpPr>
          <p:cNvPr id="7" name="Shape 3"/>
          <p:cNvSpPr/>
          <p:nvPr/>
        </p:nvSpPr>
        <p:spPr>
          <a:xfrm>
            <a:off x="819150" y="1982062"/>
            <a:ext cx="3911600" cy="485080"/>
          </a:xfrm>
          <a:prstGeom prst="round2SameRect">
            <a:avLst>
              <a:gd name="adj1" fmla="val 23562"/>
              <a:gd name="adj2" fmla="val 0"/>
            </a:avLst>
          </a:prstGeom>
          <a:solidFill>
            <a:srgbClr val="33333A"/>
          </a:solidFill>
          <a:ln/>
        </p:spPr>
        <p:txBody>
          <a:bodyPr/>
          <a:lstStyle/>
          <a:p>
            <a:endParaRPr lang="en-US"/>
          </a:p>
        </p:txBody>
      </p:sp>
      <p:pic>
        <p:nvPicPr>
          <p:cNvPr id="8" name="Image 2" descr="Globe"/>
          <p:cNvPicPr>
            <a:picLocks noChangeAspect="1"/>
          </p:cNvPicPr>
          <p:nvPr/>
        </p:nvPicPr>
        <p:blipFill>
          <a:blip r:embed="rId5"/>
          <a:srcRect/>
          <a:stretch/>
        </p:blipFill>
        <p:spPr>
          <a:xfrm>
            <a:off x="1022350" y="2129302"/>
            <a:ext cx="190500" cy="190500"/>
          </a:xfrm>
          <a:prstGeom prst="rect">
            <a:avLst/>
          </a:prstGeom>
        </p:spPr>
      </p:pic>
      <p:sp>
        <p:nvSpPr>
          <p:cNvPr id="9" name="Text 4"/>
          <p:cNvSpPr/>
          <p:nvPr/>
        </p:nvSpPr>
        <p:spPr>
          <a:xfrm>
            <a:off x="1314450" y="2109062"/>
            <a:ext cx="285107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FFFF"/>
                </a:solidFill>
                <a:latin typeface="Arial" pitchFamily="34" charset="0"/>
                <a:ea typeface="Arial" pitchFamily="34" charset="-122"/>
                <a:cs typeface="Arial" pitchFamily="34" charset="-120"/>
              </a:rPr>
              <a:t>github.com/openemr/openemr</a:t>
            </a:r>
            <a:endParaRPr lang="en-US" sz="1300" dirty="0"/>
          </a:p>
        </p:txBody>
      </p:sp>
      <p:sp>
        <p:nvSpPr>
          <p:cNvPr id="10" name="Text 5"/>
          <p:cNvSpPr/>
          <p:nvPr/>
        </p:nvSpPr>
        <p:spPr>
          <a:xfrm>
            <a:off x="1022350" y="2670342"/>
            <a:ext cx="3610356" cy="487561"/>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3333A"/>
                </a:solidFill>
                <a:latin typeface="Arial" pitchFamily="34" charset="0"/>
                <a:ea typeface="Arial" pitchFamily="34" charset="-122"/>
                <a:cs typeface="Arial" pitchFamily="34" charset="-120"/>
              </a:rPr>
              <a:t>Open-source electronic health record platform</a:t>
            </a:r>
            <a:endParaRPr lang="en-US" sz="1400" dirty="0"/>
          </a:p>
        </p:txBody>
      </p:sp>
      <p:sp>
        <p:nvSpPr>
          <p:cNvPr id="11" name="Text 6"/>
          <p:cNvSpPr/>
          <p:nvPr/>
        </p:nvSpPr>
        <p:spPr>
          <a:xfrm>
            <a:off x="1022350" y="3259503"/>
            <a:ext cx="1083965" cy="314920"/>
          </a:xfrm>
          <a:prstGeom prst="roundRect">
            <a:avLst>
              <a:gd name="adj" fmla="val 50000"/>
            </a:avLst>
          </a:prstGeom>
          <a:solidFill>
            <a:srgbClr val="EAF3E6"/>
          </a:solidFill>
          <a:ln/>
        </p:spPr>
        <p:txBody>
          <a:bodyPr wrap="none" lIns="0" tIns="0" rIns="0" bIns="0" rtlCol="0" anchor="ctr">
            <a:normAutofit/>
          </a:bodyPr>
          <a:lstStyle/>
          <a:p>
            <a:pPr marL="0" indent="0" algn="ctr">
              <a:lnSpc>
                <a:spcPts val="1680"/>
              </a:lnSpc>
              <a:buNone/>
            </a:pPr>
            <a:r>
              <a:rPr lang="en-US" sz="1200" b="1" dirty="0">
                <a:solidFill>
                  <a:srgbClr val="448334"/>
                </a:solidFill>
                <a:latin typeface="Arial" pitchFamily="34" charset="0"/>
                <a:ea typeface="Arial" pitchFamily="34" charset="-122"/>
                <a:cs typeface="Arial" pitchFamily="34" charset="-120"/>
              </a:rPr>
              <a:t>Public code</a:t>
            </a:r>
            <a:endParaRPr lang="en-US" sz="1200" dirty="0"/>
          </a:p>
        </p:txBody>
      </p:sp>
      <p:sp>
        <p:nvSpPr>
          <p:cNvPr id="12" name="Text 7"/>
          <p:cNvSpPr/>
          <p:nvPr/>
        </p:nvSpPr>
        <p:spPr>
          <a:xfrm>
            <a:off x="2207915" y="3259503"/>
            <a:ext cx="1007864" cy="314920"/>
          </a:xfrm>
          <a:prstGeom prst="roundRect">
            <a:avLst>
              <a:gd name="adj" fmla="val 50000"/>
            </a:avLst>
          </a:prstGeom>
          <a:solidFill>
            <a:srgbClr val="EAF3E6"/>
          </a:solidFill>
          <a:ln/>
        </p:spPr>
        <p:txBody>
          <a:bodyPr wrap="none" lIns="0" tIns="0" rIns="0" bIns="0" rtlCol="0" anchor="ctr">
            <a:normAutofit/>
          </a:bodyPr>
          <a:lstStyle/>
          <a:p>
            <a:pPr marL="0" indent="0" algn="ctr">
              <a:lnSpc>
                <a:spcPts val="1680"/>
              </a:lnSpc>
              <a:buNone/>
            </a:pPr>
            <a:r>
              <a:rPr lang="en-US" sz="1200" b="1" dirty="0">
                <a:solidFill>
                  <a:srgbClr val="448334"/>
                </a:solidFill>
                <a:latin typeface="Arial" pitchFamily="34" charset="0"/>
                <a:ea typeface="Arial" pitchFamily="34" charset="-122"/>
                <a:cs typeface="Arial" pitchFamily="34" charset="-120"/>
              </a:rPr>
              <a:t>Advisories</a:t>
            </a:r>
            <a:endParaRPr lang="en-US" sz="1200" dirty="0"/>
          </a:p>
        </p:txBody>
      </p:sp>
      <p:sp>
        <p:nvSpPr>
          <p:cNvPr id="13" name="Text 8"/>
          <p:cNvSpPr/>
          <p:nvPr/>
        </p:nvSpPr>
        <p:spPr>
          <a:xfrm>
            <a:off x="3317379" y="3259503"/>
            <a:ext cx="1075630" cy="314920"/>
          </a:xfrm>
          <a:prstGeom prst="roundRect">
            <a:avLst>
              <a:gd name="adj" fmla="val 50000"/>
            </a:avLst>
          </a:prstGeom>
          <a:solidFill>
            <a:srgbClr val="EAF3E6"/>
          </a:solidFill>
          <a:ln/>
        </p:spPr>
        <p:txBody>
          <a:bodyPr wrap="none" lIns="0" tIns="0" rIns="0" bIns="0" rtlCol="0" anchor="ctr">
            <a:normAutofit/>
          </a:bodyPr>
          <a:lstStyle/>
          <a:p>
            <a:pPr marL="0" indent="0" algn="ctr">
              <a:lnSpc>
                <a:spcPts val="1680"/>
              </a:lnSpc>
              <a:buNone/>
            </a:pPr>
            <a:r>
              <a:rPr lang="en-US" sz="1200" b="1" dirty="0">
                <a:solidFill>
                  <a:srgbClr val="448334"/>
                </a:solidFill>
                <a:latin typeface="Arial" pitchFamily="34" charset="0"/>
                <a:ea typeface="Arial" pitchFamily="34" charset="-122"/>
                <a:cs typeface="Arial" pitchFamily="34" charset="-120"/>
              </a:rPr>
              <a:t>Public fixes</a:t>
            </a:r>
            <a:endParaRPr lang="en-US" sz="1200" dirty="0"/>
          </a:p>
        </p:txBody>
      </p:sp>
      <p:sp>
        <p:nvSpPr>
          <p:cNvPr id="18" name="Text 11"/>
          <p:cNvSpPr/>
          <p:nvPr/>
        </p:nvSpPr>
        <p:spPr>
          <a:xfrm>
            <a:off x="5108956" y="2774377"/>
            <a:ext cx="6409690" cy="585216"/>
          </a:xfrm>
          <a:prstGeom prst="rect">
            <a:avLst/>
          </a:prstGeom>
          <a:noFill/>
          <a:ln/>
        </p:spPr>
        <p:txBody>
          <a:bodyPr wrap="square" lIns="0" tIns="0" rIns="0" bIns="0" anchor="t">
            <a:noAutofit/>
          </a:bodyPr>
          <a:lstStyle/>
          <a:p>
            <a:pPr marL="0" indent="0" algn="ctr">
              <a:lnSpc>
                <a:spcPts val="2200"/>
              </a:lnSpc>
              <a:buNone/>
            </a:pPr>
            <a:r>
              <a:rPr lang="en-US" sz="1800" b="1">
                <a:solidFill>
                  <a:srgbClr val="33333A"/>
                </a:solidFill>
                <a:latin typeface="Arial"/>
              </a:rPr>
              <a:t>Real healthcare software.</a:t>
            </a:r>
            <a:endParaRPr lang="en-US" sz="1800"/>
          </a:p>
          <a:p>
            <a:pPr marL="0" indent="0" algn="ctr">
              <a:lnSpc>
                <a:spcPts val="2200"/>
              </a:lnSpc>
              <a:buNone/>
            </a:pPr>
            <a:r>
              <a:rPr lang="en-US" sz="1800" b="1">
                <a:solidFill>
                  <a:srgbClr val="33333A"/>
                </a:solidFill>
                <a:latin typeface="Arial"/>
              </a:rPr>
              <a:t>Traceable security history.</a:t>
            </a:r>
            <a:endParaRPr lang="en-US" sz="1800"/>
          </a:p>
        </p:txBody>
      </p:sp>
      <p:sp>
        <p:nvSpPr>
          <p:cNvPr id="19" name="Shape 12"/>
          <p:cNvSpPr/>
          <p:nvPr/>
        </p:nvSpPr>
        <p:spPr>
          <a:xfrm>
            <a:off x="5108956" y="3441028"/>
            <a:ext cx="1667867" cy="1173361"/>
          </a:xfrm>
          <a:prstGeom prst="roundRect">
            <a:avLst>
              <a:gd name="adj" fmla="val 8659"/>
            </a:avLst>
          </a:prstGeom>
          <a:solidFill>
            <a:srgbClr val="448334"/>
          </a:solidFill>
          <a:ln/>
        </p:spPr>
        <p:txBody>
          <a:bodyPr/>
          <a:lstStyle/>
          <a:p>
            <a:endParaRPr lang="en-US"/>
          </a:p>
        </p:txBody>
      </p:sp>
      <p:pic>
        <p:nvPicPr>
          <p:cNvPr id="20" name="Image 5" descr="Warning"/>
          <p:cNvPicPr>
            <a:picLocks noChangeAspect="1"/>
          </p:cNvPicPr>
          <p:nvPr/>
        </p:nvPicPr>
        <p:blipFill>
          <a:blip r:embed="rId6"/>
          <a:srcRect/>
          <a:stretch/>
        </p:blipFill>
        <p:spPr>
          <a:xfrm>
            <a:off x="5803190" y="3618828"/>
            <a:ext cx="279400" cy="279400"/>
          </a:xfrm>
          <a:prstGeom prst="rect">
            <a:avLst/>
          </a:prstGeom>
        </p:spPr>
      </p:pic>
      <p:sp>
        <p:nvSpPr>
          <p:cNvPr id="21" name="Text 13"/>
          <p:cNvSpPr/>
          <p:nvPr/>
        </p:nvSpPr>
        <p:spPr>
          <a:xfrm>
            <a:off x="5210556" y="3974428"/>
            <a:ext cx="1464667" cy="487561"/>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FFFFFF"/>
                </a:solidFill>
                <a:latin typeface="Arial" pitchFamily="34" charset="0"/>
                <a:ea typeface="Arial" pitchFamily="34" charset="-122"/>
                <a:cs typeface="Arial" pitchFamily="34" charset="-120"/>
              </a:rPr>
              <a:t>Verified historical flaw</a:t>
            </a:r>
            <a:endParaRPr lang="en-US" sz="1300" dirty="0"/>
          </a:p>
        </p:txBody>
      </p:sp>
      <p:pic>
        <p:nvPicPr>
          <p:cNvPr id="22" name="Image 6" descr="arrow-right"/>
          <p:cNvPicPr>
            <a:picLocks noChangeAspect="1"/>
          </p:cNvPicPr>
          <p:nvPr/>
        </p:nvPicPr>
        <p:blipFill>
          <a:blip r:embed="rId7"/>
          <a:srcRect/>
          <a:stretch/>
        </p:blipFill>
        <p:spPr>
          <a:xfrm>
            <a:off x="6903823" y="3938809"/>
            <a:ext cx="355600" cy="177800"/>
          </a:xfrm>
          <a:prstGeom prst="rect">
            <a:avLst/>
          </a:prstGeom>
        </p:spPr>
      </p:pic>
      <p:sp>
        <p:nvSpPr>
          <p:cNvPr id="23" name="Shape 14"/>
          <p:cNvSpPr/>
          <p:nvPr/>
        </p:nvSpPr>
        <p:spPr>
          <a:xfrm>
            <a:off x="7386423" y="3440933"/>
            <a:ext cx="1667966" cy="1173175"/>
          </a:xfrm>
          <a:prstGeom prst="roundRect">
            <a:avLst>
              <a:gd name="adj" fmla="val 7234"/>
            </a:avLst>
          </a:prstGeom>
          <a:solidFill>
            <a:srgbClr val="0086B6"/>
          </a:solidFill>
          <a:ln/>
        </p:spPr>
        <p:txBody>
          <a:bodyPr/>
          <a:lstStyle/>
          <a:p>
            <a:endParaRPr lang="en-US"/>
          </a:p>
        </p:txBody>
      </p:sp>
      <p:pic>
        <p:nvPicPr>
          <p:cNvPr id="24" name="Image 7" descr="Code"/>
          <p:cNvPicPr>
            <a:picLocks noChangeAspect="1"/>
          </p:cNvPicPr>
          <p:nvPr/>
        </p:nvPicPr>
        <p:blipFill>
          <a:blip r:embed="rId8"/>
          <a:srcRect/>
          <a:stretch/>
        </p:blipFill>
        <p:spPr>
          <a:xfrm>
            <a:off x="8080657" y="3619241"/>
            <a:ext cx="279400" cy="279400"/>
          </a:xfrm>
          <a:prstGeom prst="rect">
            <a:avLst/>
          </a:prstGeom>
        </p:spPr>
      </p:pic>
      <p:sp>
        <p:nvSpPr>
          <p:cNvPr id="25" name="Text 15"/>
          <p:cNvSpPr/>
          <p:nvPr/>
        </p:nvSpPr>
        <p:spPr>
          <a:xfrm>
            <a:off x="7488023" y="3974028"/>
            <a:ext cx="1464766" cy="487375"/>
          </a:xfrm>
          <a:prstGeom prst="rect">
            <a:avLst/>
          </a:prstGeom>
          <a:noFill/>
          <a:ln/>
        </p:spPr>
        <p:txBody>
          <a:bodyPr wrap="square" lIns="0" tIns="0" rIns="0" bIns="0" rtlCol="0" anchor="t">
            <a:normAutofit fontScale="92500"/>
          </a:bodyPr>
          <a:lstStyle/>
          <a:p>
            <a:pPr marL="0" indent="0" algn="ctr">
              <a:lnSpc>
                <a:spcPts val="1820"/>
              </a:lnSpc>
              <a:buNone/>
            </a:pPr>
            <a:r>
              <a:rPr lang="en-US" sz="1300" b="1" dirty="0">
                <a:solidFill>
                  <a:srgbClr val="FFFFFF"/>
                </a:solidFill>
                <a:latin typeface="Arial" pitchFamily="34" charset="0"/>
                <a:ea typeface="Arial" pitchFamily="34" charset="-122"/>
                <a:cs typeface="Arial" pitchFamily="34" charset="-120"/>
              </a:rPr>
              <a:t>Replay the change to a reviewer</a:t>
            </a:r>
            <a:endParaRPr lang="en-US" sz="1300" dirty="0"/>
          </a:p>
        </p:txBody>
      </p:sp>
      <p:pic>
        <p:nvPicPr>
          <p:cNvPr id="26" name="Image 8" descr="arrow-right"/>
          <p:cNvPicPr>
            <a:picLocks noChangeAspect="1"/>
          </p:cNvPicPr>
          <p:nvPr/>
        </p:nvPicPr>
        <p:blipFill>
          <a:blip r:embed="rId7"/>
          <a:srcRect/>
          <a:stretch/>
        </p:blipFill>
        <p:spPr>
          <a:xfrm>
            <a:off x="9181390" y="3938809"/>
            <a:ext cx="355600" cy="177800"/>
          </a:xfrm>
          <a:prstGeom prst="rect">
            <a:avLst/>
          </a:prstGeom>
        </p:spPr>
      </p:pic>
      <p:sp>
        <p:nvSpPr>
          <p:cNvPr id="27" name="Shape 16"/>
          <p:cNvSpPr/>
          <p:nvPr/>
        </p:nvSpPr>
        <p:spPr>
          <a:xfrm>
            <a:off x="9663990" y="3441028"/>
            <a:ext cx="1667966" cy="1173361"/>
          </a:xfrm>
          <a:prstGeom prst="roundRect">
            <a:avLst>
              <a:gd name="adj" fmla="val 8659"/>
            </a:avLst>
          </a:prstGeom>
          <a:solidFill>
            <a:srgbClr val="5466AE"/>
          </a:solidFill>
          <a:ln/>
        </p:spPr>
        <p:txBody>
          <a:bodyPr/>
          <a:lstStyle/>
          <a:p>
            <a:endParaRPr lang="en-US"/>
          </a:p>
        </p:txBody>
      </p:sp>
      <p:pic>
        <p:nvPicPr>
          <p:cNvPr id="28" name="Image 9" descr="CheckCircle"/>
          <p:cNvPicPr>
            <a:picLocks noChangeAspect="1"/>
          </p:cNvPicPr>
          <p:nvPr/>
        </p:nvPicPr>
        <p:blipFill>
          <a:blip r:embed="rId9"/>
          <a:srcRect/>
          <a:stretch/>
        </p:blipFill>
        <p:spPr>
          <a:xfrm>
            <a:off x="10358223" y="3618828"/>
            <a:ext cx="279400" cy="279400"/>
          </a:xfrm>
          <a:prstGeom prst="rect">
            <a:avLst/>
          </a:prstGeom>
        </p:spPr>
      </p:pic>
      <p:sp>
        <p:nvSpPr>
          <p:cNvPr id="29" name="Text 17"/>
          <p:cNvSpPr/>
          <p:nvPr/>
        </p:nvSpPr>
        <p:spPr>
          <a:xfrm>
            <a:off x="9765590" y="3974428"/>
            <a:ext cx="1464766" cy="487561"/>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FFFFFF"/>
                </a:solidFill>
                <a:latin typeface="Arial" pitchFamily="34" charset="0"/>
                <a:ea typeface="Arial" pitchFamily="34" charset="-122"/>
                <a:cs typeface="Arial" pitchFamily="34" charset="-120"/>
              </a:rPr>
              <a:t>Score the response</a:t>
            </a:r>
            <a:endParaRPr lang="en-US" sz="1300" dirty="0"/>
          </a:p>
        </p:txBody>
      </p:sp>
      <p:sp>
        <p:nvSpPr>
          <p:cNvPr id="30" name="Text 18"/>
          <p:cNvSpPr/>
          <p:nvPr/>
        </p:nvSpPr>
        <p:spPr>
          <a:xfrm>
            <a:off x="5108956" y="4894478"/>
            <a:ext cx="6409690" cy="718641"/>
          </a:xfrm>
          <a:prstGeom prst="rect">
            <a:avLst/>
          </a:prstGeom>
          <a:noFill/>
          <a:ln/>
        </p:spPr>
        <p:txBody>
          <a:bodyPr wrap="square" lIns="0" tIns="0" rIns="0" bIns="0" anchor="t">
            <a:noAutofit/>
          </a:bodyPr>
          <a:lstStyle/>
          <a:p>
            <a:pPr marL="0" indent="0" algn="l">
              <a:lnSpc>
                <a:spcPts val="2100"/>
              </a:lnSpc>
              <a:buNone/>
            </a:pPr>
            <a:r>
              <a:rPr lang="en-US" sz="1600" b="0">
                <a:solidFill>
                  <a:srgbClr val="6B6B73"/>
                </a:solidFill>
                <a:latin typeface="Arial"/>
              </a:rPr>
              <a:t>We replayed selected historical changes and scored AI reviews.</a:t>
            </a:r>
            <a:endParaRPr lang="en-US" sz="1600"/>
          </a:p>
        </p:txBody>
      </p:sp>
      <p:sp>
        <p:nvSpPr>
          <p:cNvPr id="32" name="Text 20"/>
          <p:cNvSpPr/>
          <p:nvPr/>
        </p:nvSpPr>
        <p:spPr>
          <a:xfrm>
            <a:off x="7532370" y="6238280"/>
            <a:ext cx="300863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A92"/>
                </a:solidFill>
                <a:latin typeface="Arial" pitchFamily="34" charset="0"/>
                <a:ea typeface="Arial" pitchFamily="34" charset="-122"/>
                <a:cs typeface="Arial" pitchFamily="34" charset="-120"/>
              </a:rPr>
              <a:t>ISC2.org/Congress | #ISC2Congress</a:t>
            </a:r>
            <a:endParaRPr lang="en-US" sz="1200" dirty="0"/>
          </a:p>
        </p:txBody>
      </p:sp>
      <p:pic>
        <p:nvPicPr>
          <p:cNvPr id="35" name="Picture 34">
            <a:extLst>
              <a:ext uri="{FF2B5EF4-FFF2-40B4-BE49-F238E27FC236}">
                <a16:creationId xmlns:a16="http://schemas.microsoft.com/office/drawing/2014/main" id="{5779C68E-6E10-0E94-E245-A31723B0A1AE}"/>
              </a:ext>
            </a:extLst>
          </p:cNvPr>
          <p:cNvPicPr>
            <a:picLocks noChangeAspect="1"/>
          </p:cNvPicPr>
          <p:nvPr/>
        </p:nvPicPr>
        <p:blipFill>
          <a:blip r:embed="rId10"/>
          <a:stretch>
            <a:fillRect/>
          </a:stretch>
        </p:blipFill>
        <p:spPr>
          <a:xfrm>
            <a:off x="5583382" y="1439702"/>
            <a:ext cx="5077684" cy="1130715"/>
          </a:xfrm>
          <a:prstGeom prst="rect">
            <a:avLst/>
          </a:prstGeom>
        </p:spPr>
      </p:pic>
      <p:sp>
        <p:nvSpPr>
          <p:cNvPr id="36" name="TextBox 35">
            <a:extLst>
              <a:ext uri="{FF2B5EF4-FFF2-40B4-BE49-F238E27FC236}">
                <a16:creationId xmlns:a16="http://schemas.microsoft.com/office/drawing/2014/main" id="{3E4352BB-07A5-E02C-7B2B-3F85FF7D6D5A}"/>
              </a:ext>
            </a:extLst>
          </p:cNvPr>
          <p:cNvSpPr txBox="1"/>
          <p:nvPr/>
        </p:nvSpPr>
        <p:spPr>
          <a:xfrm>
            <a:off x="1005840" y="3977640"/>
            <a:ext cx="1188720" cy="365760"/>
          </a:xfrm>
          <a:prstGeom prst="rect">
            <a:avLst/>
          </a:prstGeom>
          <a:noFill/>
        </p:spPr>
        <p:txBody>
          <a:bodyPr wrap="square" lIns="0" tIns="0" rIns="0" bIns="0" anchor="t">
            <a:noAutofit/>
          </a:bodyPr>
          <a:lstStyle/>
          <a:p>
            <a:pPr marL="0" indent="0" algn="l">
              <a:lnSpc>
                <a:spcPts val="2160"/>
              </a:lnSpc>
              <a:buNone/>
            </a:pPr>
            <a:r>
              <a:rPr lang="en-US" sz="1800" b="1">
                <a:solidFill>
                  <a:srgbClr val="33333A"/>
                </a:solidFill>
                <a:latin typeface="Arial"/>
              </a:rPr>
              <a:t>100,000+</a:t>
            </a:r>
            <a:endParaRPr lang="en-US" sz="1800"/>
          </a:p>
        </p:txBody>
      </p:sp>
      <p:sp>
        <p:nvSpPr>
          <p:cNvPr id="37" name="TextBox 36">
            <a:extLst>
              <a:ext uri="{FF2B5EF4-FFF2-40B4-BE49-F238E27FC236}">
                <a16:creationId xmlns:a16="http://schemas.microsoft.com/office/drawing/2014/main" id="{8088E061-09EE-7FEB-CDE7-3ECAC3BAA327}"/>
              </a:ext>
            </a:extLst>
          </p:cNvPr>
          <p:cNvSpPr txBox="1"/>
          <p:nvPr/>
        </p:nvSpPr>
        <p:spPr>
          <a:xfrm>
            <a:off x="1005840" y="4361688"/>
            <a:ext cx="1188720" cy="365760"/>
          </a:xfrm>
          <a:prstGeom prst="rect">
            <a:avLst/>
          </a:prstGeom>
          <a:noFill/>
        </p:spPr>
        <p:txBody>
          <a:bodyPr wrap="square" lIns="0" tIns="0" rIns="0" bIns="0" anchor="t">
            <a:noAutofit/>
          </a:bodyPr>
          <a:lstStyle/>
          <a:p>
            <a:pPr marL="0" indent="0" algn="l">
              <a:lnSpc>
                <a:spcPts val="2160"/>
              </a:lnSpc>
              <a:buNone/>
            </a:pPr>
            <a:r>
              <a:rPr lang="en-US" sz="1800" b="1">
                <a:solidFill>
                  <a:srgbClr val="33333A"/>
                </a:solidFill>
                <a:latin typeface="Arial"/>
              </a:rPr>
              <a:t>200M+</a:t>
            </a:r>
            <a:endParaRPr lang="en-US" sz="1800"/>
          </a:p>
        </p:txBody>
      </p:sp>
      <p:sp>
        <p:nvSpPr>
          <p:cNvPr id="38" name="TextBox 37">
            <a:extLst>
              <a:ext uri="{FF2B5EF4-FFF2-40B4-BE49-F238E27FC236}">
                <a16:creationId xmlns:a16="http://schemas.microsoft.com/office/drawing/2014/main" id="{4AEBA3A3-3ECB-7A61-14C8-5728F3E7577E}"/>
              </a:ext>
            </a:extLst>
          </p:cNvPr>
          <p:cNvSpPr txBox="1"/>
          <p:nvPr/>
        </p:nvSpPr>
        <p:spPr>
          <a:xfrm>
            <a:off x="1005840" y="4745736"/>
            <a:ext cx="1188720" cy="365760"/>
          </a:xfrm>
          <a:prstGeom prst="rect">
            <a:avLst/>
          </a:prstGeom>
          <a:noFill/>
        </p:spPr>
        <p:txBody>
          <a:bodyPr wrap="square" lIns="0" tIns="0" rIns="0" bIns="0" anchor="t">
            <a:noAutofit/>
          </a:bodyPr>
          <a:lstStyle/>
          <a:p>
            <a:pPr marL="0" indent="0" algn="l">
              <a:lnSpc>
                <a:spcPts val="2160"/>
              </a:lnSpc>
              <a:buNone/>
            </a:pPr>
            <a:r>
              <a:rPr lang="en-US" sz="1800" b="1">
                <a:solidFill>
                  <a:srgbClr val="33333A"/>
                </a:solidFill>
                <a:latin typeface="Arial"/>
              </a:rPr>
              <a:t>20+ years</a:t>
            </a:r>
            <a:endParaRPr lang="en-US" sz="1800"/>
          </a:p>
        </p:txBody>
      </p:sp>
      <p:sp>
        <p:nvSpPr>
          <p:cNvPr id="39" name="TextBox 38">
            <a:extLst>
              <a:ext uri="{FF2B5EF4-FFF2-40B4-BE49-F238E27FC236}">
                <a16:creationId xmlns:a16="http://schemas.microsoft.com/office/drawing/2014/main" id="{F4FE470A-B43B-3AC7-5A9B-2E421D5834A7}"/>
              </a:ext>
            </a:extLst>
          </p:cNvPr>
          <p:cNvSpPr txBox="1"/>
          <p:nvPr/>
        </p:nvSpPr>
        <p:spPr>
          <a:xfrm>
            <a:off x="2240280" y="3977640"/>
            <a:ext cx="2286000" cy="365760"/>
          </a:xfrm>
          <a:prstGeom prst="rect">
            <a:avLst/>
          </a:prstGeom>
          <a:noFill/>
        </p:spPr>
        <p:txBody>
          <a:bodyPr wrap="square" lIns="0" tIns="0" rIns="0" bIns="0" anchor="t">
            <a:noAutofit/>
          </a:bodyPr>
          <a:lstStyle/>
          <a:p>
            <a:pPr marL="0" indent="0" algn="l">
              <a:lnSpc>
                <a:spcPts val="2160"/>
              </a:lnSpc>
              <a:buNone/>
            </a:pPr>
            <a:r>
              <a:rPr lang="en-US" sz="1800" b="0">
                <a:solidFill>
                  <a:srgbClr val="33333A"/>
                </a:solidFill>
                <a:latin typeface="Arial"/>
              </a:rPr>
              <a:t>providers</a:t>
            </a:r>
            <a:endParaRPr lang="en-US" sz="1800"/>
          </a:p>
        </p:txBody>
      </p:sp>
      <p:sp>
        <p:nvSpPr>
          <p:cNvPr id="40" name="TextBox 39">
            <a:extLst>
              <a:ext uri="{FF2B5EF4-FFF2-40B4-BE49-F238E27FC236}">
                <a16:creationId xmlns:a16="http://schemas.microsoft.com/office/drawing/2014/main" id="{73A3DFB9-0968-3F08-09C3-3B377FA4837F}"/>
              </a:ext>
            </a:extLst>
          </p:cNvPr>
          <p:cNvSpPr txBox="1"/>
          <p:nvPr/>
        </p:nvSpPr>
        <p:spPr>
          <a:xfrm>
            <a:off x="2240280" y="4361688"/>
            <a:ext cx="2286000" cy="365760"/>
          </a:xfrm>
          <a:prstGeom prst="rect">
            <a:avLst/>
          </a:prstGeom>
          <a:noFill/>
        </p:spPr>
        <p:txBody>
          <a:bodyPr wrap="square" lIns="0" tIns="0" rIns="0" bIns="0" anchor="t">
            <a:noAutofit/>
          </a:bodyPr>
          <a:lstStyle/>
          <a:p>
            <a:pPr marL="0" indent="0" algn="l">
              <a:lnSpc>
                <a:spcPts val="2160"/>
              </a:lnSpc>
              <a:buNone/>
            </a:pPr>
            <a:r>
              <a:rPr lang="en-US" sz="1800" b="0">
                <a:solidFill>
                  <a:srgbClr val="33333A"/>
                </a:solidFill>
                <a:latin typeface="Arial"/>
              </a:rPr>
              <a:t>patients</a:t>
            </a:r>
            <a:endParaRPr lang="en-US" sz="1800"/>
          </a:p>
        </p:txBody>
      </p:sp>
      <p:sp>
        <p:nvSpPr>
          <p:cNvPr id="41" name="TextBox 40">
            <a:extLst>
              <a:ext uri="{FF2B5EF4-FFF2-40B4-BE49-F238E27FC236}">
                <a16:creationId xmlns:a16="http://schemas.microsoft.com/office/drawing/2014/main" id="{781B2AFD-18FA-3190-B6DC-087512205DCD}"/>
              </a:ext>
            </a:extLst>
          </p:cNvPr>
          <p:cNvSpPr txBox="1"/>
          <p:nvPr/>
        </p:nvSpPr>
        <p:spPr>
          <a:xfrm>
            <a:off x="2240280" y="4745736"/>
            <a:ext cx="2286000" cy="365760"/>
          </a:xfrm>
          <a:prstGeom prst="rect">
            <a:avLst/>
          </a:prstGeom>
          <a:noFill/>
        </p:spPr>
        <p:txBody>
          <a:bodyPr wrap="square" lIns="0" tIns="0" rIns="0" bIns="0" anchor="t">
            <a:noAutofit/>
          </a:bodyPr>
          <a:lstStyle/>
          <a:p>
            <a:pPr marL="0" indent="0" algn="l">
              <a:lnSpc>
                <a:spcPts val="2160"/>
              </a:lnSpc>
              <a:buNone/>
            </a:pPr>
            <a:r>
              <a:rPr lang="en-US" sz="1800" b="0">
                <a:solidFill>
                  <a:srgbClr val="33333A"/>
                </a:solidFill>
                <a:latin typeface="Arial"/>
              </a:rPr>
              <a:t>public releases</a:t>
            </a:r>
            <a:endParaRPr lang="en-US"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B72DE-C5DA-6E65-B4DA-7F3468AD5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1954C46-8FA5-26DC-E432-1C58183ABA5A}"/>
              </a:ext>
            </a:extLst>
          </p:cNvPr>
          <p:cNvSpPr>
            <a:spLocks noGrp="1"/>
          </p:cNvSpPr>
          <p:nvPr>
            <p:ph type="title"/>
          </p:nvPr>
        </p:nvSpPr>
        <p:spPr/>
        <p:txBody>
          <a:bodyPr/>
          <a:lstStyle/>
          <a:p>
            <a:r>
              <a:rPr lang="en-US" i="1" dirty="0"/>
              <a:t>Have you measured your AI reviewer’s detection rate?</a:t>
            </a:r>
          </a:p>
        </p:txBody>
      </p:sp>
      <p:sp>
        <p:nvSpPr>
          <p:cNvPr id="9" name="Text Placeholder 8">
            <a:extLst>
              <a:ext uri="{FF2B5EF4-FFF2-40B4-BE49-F238E27FC236}">
                <a16:creationId xmlns:a16="http://schemas.microsoft.com/office/drawing/2014/main" id="{1259DAE5-9F0D-7E04-A1D3-5FA1144BED57}"/>
              </a:ext>
            </a:extLst>
          </p:cNvPr>
          <p:cNvSpPr>
            <a:spLocks noGrp="1"/>
          </p:cNvSpPr>
          <p:nvPr>
            <p:ph type="body" sz="quarter" idx="10"/>
          </p:nvPr>
        </p:nvSpPr>
        <p:spPr/>
        <p:txBody>
          <a:bodyPr/>
          <a:lstStyle/>
          <a:p>
            <a:r>
              <a:rPr lang="en-US" dirty="0"/>
              <a:t>Yes, against seeded or known vulnerabilities</a:t>
            </a:r>
          </a:p>
          <a:p>
            <a:r>
              <a:rPr lang="en-US" dirty="0"/>
              <a:t>Partly: we track its findings, but not what it misses</a:t>
            </a:r>
          </a:p>
          <a:p>
            <a:r>
              <a:rPr lang="en-US" dirty="0"/>
              <a:t>Only informally, by gut feel</a:t>
            </a:r>
          </a:p>
          <a:p>
            <a:r>
              <a:rPr lang="en-US" dirty="0"/>
              <a:t>No, or not that I know of</a:t>
            </a:r>
          </a:p>
          <a:p>
            <a:r>
              <a:rPr lang="en-US" dirty="0"/>
              <a:t>We don’t use AI review</a:t>
            </a:r>
          </a:p>
          <a:p>
            <a:endParaRPr lang="en-US" dirty="0"/>
          </a:p>
        </p:txBody>
      </p:sp>
    </p:spTree>
    <p:extLst>
      <p:ext uri="{BB962C8B-B14F-4D97-AF65-F5344CB8AC3E}">
        <p14:creationId xmlns:p14="http://schemas.microsoft.com/office/powerpoint/2010/main" val="3755223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4" name="Text 0"/>
          <p:cNvSpPr>
            <a:spLocks noGrp="1"/>
          </p:cNvSpPr>
          <p:nvPr>
            <p:ph type="title"/>
          </p:nvPr>
        </p:nvSpPr>
        <p:spPr>
          <a:xfrm>
            <a:off x="812902" y="812902"/>
            <a:ext cx="8412480" cy="512064"/>
          </a:xfrm>
          <a:prstGeom prst="rect">
            <a:avLst/>
          </a:prstGeom>
          <a:noFill/>
          <a:ln/>
        </p:spPr>
        <p:txBody>
          <a:bodyPr wrap="square" lIns="0" tIns="0" rIns="0" bIns="0" rtlCol="0" anchor="t">
            <a:noAutofit/>
          </a:bodyPr>
          <a:lstStyle/>
          <a:p>
            <a:pPr marL="0" indent="0" algn="l">
              <a:lnSpc>
                <a:spcPts val="3800"/>
              </a:lnSpc>
              <a:spcBef>
                <a:spcPts val="0"/>
              </a:spcBef>
              <a:buNone/>
            </a:pPr>
            <a:r>
              <a:rPr lang="en-US" sz="3200" b="1" dirty="0">
                <a:solidFill>
                  <a:srgbClr val="4C8835"/>
                </a:solidFill>
                <a:latin typeface="Arial" pitchFamily="34" charset="0"/>
                <a:ea typeface="Arial" pitchFamily="34" charset="-122"/>
                <a:cs typeface="Arial" pitchFamily="34" charset="-120"/>
              </a:rPr>
              <a:t>The review improvement loop</a:t>
            </a:r>
            <a:endParaRPr lang="en-US" sz="3200"/>
          </a:p>
        </p:txBody>
      </p:sp>
      <p:sp>
        <p:nvSpPr>
          <p:cNvPr id="36" name="Text 25"/>
          <p:cNvSpPr/>
          <p:nvPr/>
        </p:nvSpPr>
        <p:spPr>
          <a:xfrm>
            <a:off x="7532370" y="6238280"/>
            <a:ext cx="300863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A92"/>
                </a:solidFill>
                <a:latin typeface="Arial" pitchFamily="34" charset="0"/>
                <a:ea typeface="Arial" pitchFamily="34" charset="-122"/>
                <a:cs typeface="Arial" pitchFamily="34" charset="-120"/>
              </a:rPr>
              <a:t>ISC2.org/Congress | #ISC2Congress</a:t>
            </a:r>
            <a:endParaRPr lang="en-US" sz="1200" dirty="0"/>
          </a:p>
        </p:txBody>
      </p:sp>
      <p:sp>
        <p:nvSpPr>
          <p:cNvPr id="1000" name="Continuous loop">
            <a:extLst>
              <a:ext uri="{FF2B5EF4-FFF2-40B4-BE49-F238E27FC236}">
                <a16:creationId xmlns:a16="http://schemas.microsoft.com/office/drawing/2014/main" id="{E704DC78-AC8A-4E65-9D42-47D3AAC86097}"/>
              </a:ext>
            </a:extLst>
          </p:cNvPr>
          <p:cNvSpPr>
            <a:spLocks noGrp="1"/>
          </p:cNvSpPr>
          <p:nvPr/>
        </p:nvSpPr>
        <p:spPr>
          <a:xfrm>
            <a:off x="4114800" y="2423160"/>
            <a:ext cx="3968496" cy="2468880"/>
          </a:xfrm>
          <a:prstGeom prst="ellipse">
            <a:avLst/>
          </a:prstGeom>
          <a:noFill/>
          <a:ln w="28575">
            <a:solidFill>
              <a:srgbClr val="DBE3E5"/>
            </a:solidFill>
            <a:prstDash val="solid"/>
          </a:ln>
        </p:spPr>
        <p:txBody>
          <a:bodyPr/>
          <a:lstStyle/>
          <a:p>
            <a:endParaRPr lang="en-US"/>
          </a:p>
        </p:txBody>
      </p:sp>
      <p:sp>
        <p:nvSpPr>
          <p:cNvPr id="1001" name="Clockwise arc 0">
            <a:extLst>
              <a:ext uri="{FF2B5EF4-FFF2-40B4-BE49-F238E27FC236}">
                <a16:creationId xmlns:a16="http://schemas.microsoft.com/office/drawing/2014/main" id="{91093FE1-86A5-4B65-9C77-591F16D3DA60}"/>
              </a:ext>
            </a:extLst>
          </p:cNvPr>
          <p:cNvSpPr>
            <a:spLocks noGrp="1"/>
          </p:cNvSpPr>
          <p:nvPr/>
        </p:nvSpPr>
        <p:spPr>
          <a:xfrm>
            <a:off x="6545407" y="2454799"/>
            <a:ext cx="1470278" cy="883305"/>
          </a:xfrm>
          <a:custGeom>
            <a:avLst/>
            <a:gdLst/>
            <a:ahLst/>
            <a:cxnLst/>
            <a:rect l="0" t="0" r="0" b="0"/>
            <a:pathLst>
              <a:path w="1470278" h="883305">
                <a:moveTo>
                  <a:pt x="0" y="0"/>
                </a:moveTo>
                <a:lnTo>
                  <a:pt x="52134" y="7951"/>
                </a:lnTo>
                <a:lnTo>
                  <a:pt x="103902" y="16777"/>
                </a:lnTo>
                <a:lnTo>
                  <a:pt x="155268" y="26471"/>
                </a:lnTo>
                <a:lnTo>
                  <a:pt x="206194" y="37025"/>
                </a:lnTo>
                <a:lnTo>
                  <a:pt x="256643" y="48433"/>
                </a:lnTo>
                <a:lnTo>
                  <a:pt x="306576" y="60685"/>
                </a:lnTo>
                <a:lnTo>
                  <a:pt x="355959" y="73774"/>
                </a:lnTo>
                <a:lnTo>
                  <a:pt x="404755" y="87688"/>
                </a:lnTo>
                <a:lnTo>
                  <a:pt x="452928" y="102419"/>
                </a:lnTo>
                <a:lnTo>
                  <a:pt x="500443" y="117954"/>
                </a:lnTo>
                <a:lnTo>
                  <a:pt x="547265" y="134284"/>
                </a:lnTo>
                <a:lnTo>
                  <a:pt x="593359" y="151396"/>
                </a:lnTo>
                <a:lnTo>
                  <a:pt x="638693" y="169277"/>
                </a:lnTo>
                <a:lnTo>
                  <a:pt x="683233" y="187914"/>
                </a:lnTo>
                <a:lnTo>
                  <a:pt x="726946" y="207294"/>
                </a:lnTo>
                <a:lnTo>
                  <a:pt x="769801" y="227402"/>
                </a:lnTo>
                <a:lnTo>
                  <a:pt x="811766" y="248225"/>
                </a:lnTo>
                <a:lnTo>
                  <a:pt x="852809" y="269746"/>
                </a:lnTo>
                <a:lnTo>
                  <a:pt x="892903" y="291949"/>
                </a:lnTo>
                <a:lnTo>
                  <a:pt x="932016" y="314820"/>
                </a:lnTo>
                <a:lnTo>
                  <a:pt x="970120" y="338340"/>
                </a:lnTo>
                <a:lnTo>
                  <a:pt x="1007188" y="362492"/>
                </a:lnTo>
                <a:lnTo>
                  <a:pt x="1043192" y="387260"/>
                </a:lnTo>
                <a:lnTo>
                  <a:pt x="1078106" y="412624"/>
                </a:lnTo>
                <a:lnTo>
                  <a:pt x="1111905" y="438567"/>
                </a:lnTo>
                <a:lnTo>
                  <a:pt x="1144563" y="465069"/>
                </a:lnTo>
                <a:lnTo>
                  <a:pt x="1176057" y="492111"/>
                </a:lnTo>
                <a:lnTo>
                  <a:pt x="1206364" y="519673"/>
                </a:lnTo>
                <a:lnTo>
                  <a:pt x="1235461" y="547735"/>
                </a:lnTo>
                <a:lnTo>
                  <a:pt x="1263327" y="576276"/>
                </a:lnTo>
                <a:lnTo>
                  <a:pt x="1289943" y="605275"/>
                </a:lnTo>
                <a:lnTo>
                  <a:pt x="1315287" y="634712"/>
                </a:lnTo>
                <a:lnTo>
                  <a:pt x="1339343" y="664565"/>
                </a:lnTo>
                <a:lnTo>
                  <a:pt x="1362091" y="694812"/>
                </a:lnTo>
                <a:lnTo>
                  <a:pt x="1383517" y="725430"/>
                </a:lnTo>
                <a:lnTo>
                  <a:pt x="1403603" y="756398"/>
                </a:lnTo>
                <a:lnTo>
                  <a:pt x="1422335" y="787692"/>
                </a:lnTo>
                <a:lnTo>
                  <a:pt x="1439700" y="819290"/>
                </a:lnTo>
                <a:lnTo>
                  <a:pt x="1455685" y="851169"/>
                </a:lnTo>
                <a:lnTo>
                  <a:pt x="1470278" y="883305"/>
                </a:lnTo>
              </a:path>
            </a:pathLst>
          </a:custGeom>
          <a:noFill/>
          <a:ln w="42863">
            <a:solidFill>
              <a:srgbClr val="0086B6"/>
            </a:solidFill>
            <a:prstDash val="solid"/>
          </a:ln>
        </p:spPr>
        <p:txBody>
          <a:bodyPr/>
          <a:lstStyle/>
          <a:p>
            <a:endParaRPr lang="en-US"/>
          </a:p>
        </p:txBody>
      </p:sp>
      <p:sp>
        <p:nvSpPr>
          <p:cNvPr id="1002" name="Arrowhead 0">
            <a:extLst>
              <a:ext uri="{FF2B5EF4-FFF2-40B4-BE49-F238E27FC236}">
                <a16:creationId xmlns:a16="http://schemas.microsoft.com/office/drawing/2014/main" id="{37FA99D3-6F44-4C52-BE4C-198EEFEBA4FF}"/>
              </a:ext>
            </a:extLst>
          </p:cNvPr>
          <p:cNvSpPr>
            <a:spLocks noGrp="1"/>
          </p:cNvSpPr>
          <p:nvPr/>
        </p:nvSpPr>
        <p:spPr>
          <a:xfrm>
            <a:off x="7859360" y="3133969"/>
            <a:ext cx="167963" cy="204135"/>
          </a:xfrm>
          <a:custGeom>
            <a:avLst/>
            <a:gdLst/>
            <a:ahLst/>
            <a:cxnLst/>
            <a:rect l="0" t="0" r="0" b="0"/>
            <a:pathLst>
              <a:path w="167963" h="204135">
                <a:moveTo>
                  <a:pt x="156324" y="204135"/>
                </a:moveTo>
                <a:lnTo>
                  <a:pt x="0" y="72342"/>
                </a:lnTo>
                <a:lnTo>
                  <a:pt x="167963" y="0"/>
                </a:lnTo>
                <a:close/>
              </a:path>
            </a:pathLst>
          </a:custGeom>
          <a:solidFill>
            <a:srgbClr val="0086B6"/>
          </a:solidFill>
          <a:ln w="0">
            <a:noFill/>
            <a:prstDash val="solid"/>
          </a:ln>
        </p:spPr>
        <p:txBody>
          <a:bodyPr/>
          <a:lstStyle/>
          <a:p>
            <a:endParaRPr lang="en-US"/>
          </a:p>
        </p:txBody>
      </p:sp>
      <p:sp>
        <p:nvSpPr>
          <p:cNvPr id="1003" name="Clockwise arc 1">
            <a:extLst>
              <a:ext uri="{FF2B5EF4-FFF2-40B4-BE49-F238E27FC236}">
                <a16:creationId xmlns:a16="http://schemas.microsoft.com/office/drawing/2014/main" id="{10A0BD84-A460-4E20-AD0E-8FD7415CED50}"/>
              </a:ext>
            </a:extLst>
          </p:cNvPr>
          <p:cNvSpPr>
            <a:spLocks noGrp="1"/>
          </p:cNvSpPr>
          <p:nvPr/>
        </p:nvSpPr>
        <p:spPr>
          <a:xfrm>
            <a:off x="6612609" y="3935289"/>
            <a:ext cx="1419831" cy="914689"/>
          </a:xfrm>
          <a:custGeom>
            <a:avLst/>
            <a:gdLst/>
            <a:ahLst/>
            <a:cxnLst/>
            <a:rect l="0" t="0" r="0" b="0"/>
            <a:pathLst>
              <a:path w="1419831" h="914689">
                <a:moveTo>
                  <a:pt x="1419831" y="0"/>
                </a:moveTo>
                <a:lnTo>
                  <a:pt x="1407050" y="32433"/>
                </a:lnTo>
                <a:lnTo>
                  <a:pt x="1392863" y="64640"/>
                </a:lnTo>
                <a:lnTo>
                  <a:pt x="1377281" y="96596"/>
                </a:lnTo>
                <a:lnTo>
                  <a:pt x="1360316" y="128278"/>
                </a:lnTo>
                <a:lnTo>
                  <a:pt x="1341979" y="159662"/>
                </a:lnTo>
                <a:lnTo>
                  <a:pt x="1322284" y="190727"/>
                </a:lnTo>
                <a:lnTo>
                  <a:pt x="1301246" y="221449"/>
                </a:lnTo>
                <a:lnTo>
                  <a:pt x="1278880" y="251806"/>
                </a:lnTo>
                <a:lnTo>
                  <a:pt x="1255202" y="281775"/>
                </a:lnTo>
                <a:lnTo>
                  <a:pt x="1230230" y="311335"/>
                </a:lnTo>
                <a:lnTo>
                  <a:pt x="1203982" y="340464"/>
                </a:lnTo>
                <a:lnTo>
                  <a:pt x="1176476" y="369141"/>
                </a:lnTo>
                <a:lnTo>
                  <a:pt x="1147734" y="397344"/>
                </a:lnTo>
                <a:lnTo>
                  <a:pt x="1117776" y="425053"/>
                </a:lnTo>
                <a:lnTo>
                  <a:pt x="1086625" y="452248"/>
                </a:lnTo>
                <a:lnTo>
                  <a:pt x="1054302" y="478908"/>
                </a:lnTo>
                <a:lnTo>
                  <a:pt x="1020832" y="505015"/>
                </a:lnTo>
                <a:lnTo>
                  <a:pt x="986240" y="530550"/>
                </a:lnTo>
                <a:lnTo>
                  <a:pt x="950549" y="555492"/>
                </a:lnTo>
                <a:lnTo>
                  <a:pt x="913787" y="579825"/>
                </a:lnTo>
                <a:lnTo>
                  <a:pt x="875981" y="603531"/>
                </a:lnTo>
                <a:lnTo>
                  <a:pt x="837158" y="626592"/>
                </a:lnTo>
                <a:lnTo>
                  <a:pt x="797346" y="648991"/>
                </a:lnTo>
                <a:lnTo>
                  <a:pt x="756575" y="670711"/>
                </a:lnTo>
                <a:lnTo>
                  <a:pt x="714875" y="691738"/>
                </a:lnTo>
                <a:lnTo>
                  <a:pt x="672275" y="712055"/>
                </a:lnTo>
                <a:lnTo>
                  <a:pt x="628808" y="731648"/>
                </a:lnTo>
                <a:lnTo>
                  <a:pt x="584505" y="750503"/>
                </a:lnTo>
                <a:lnTo>
                  <a:pt x="539398" y="768605"/>
                </a:lnTo>
                <a:lnTo>
                  <a:pt x="493521" y="785941"/>
                </a:lnTo>
                <a:lnTo>
                  <a:pt x="446907" y="802499"/>
                </a:lnTo>
                <a:lnTo>
                  <a:pt x="399589" y="818266"/>
                </a:lnTo>
                <a:lnTo>
                  <a:pt x="351604" y="833232"/>
                </a:lnTo>
                <a:lnTo>
                  <a:pt x="302985" y="847384"/>
                </a:lnTo>
                <a:lnTo>
                  <a:pt x="253769" y="860713"/>
                </a:lnTo>
                <a:lnTo>
                  <a:pt x="203992" y="873209"/>
                </a:lnTo>
                <a:lnTo>
                  <a:pt x="153689" y="884863"/>
                </a:lnTo>
                <a:lnTo>
                  <a:pt x="102898" y="895666"/>
                </a:lnTo>
                <a:lnTo>
                  <a:pt x="51656" y="905610"/>
                </a:lnTo>
                <a:lnTo>
                  <a:pt x="0" y="914689"/>
                </a:lnTo>
              </a:path>
            </a:pathLst>
          </a:custGeom>
          <a:noFill/>
          <a:ln w="42863">
            <a:solidFill>
              <a:srgbClr val="5665AE"/>
            </a:solidFill>
            <a:prstDash val="solid"/>
          </a:ln>
        </p:spPr>
        <p:txBody>
          <a:bodyPr/>
          <a:lstStyle/>
          <a:p>
            <a:endParaRPr lang="en-US"/>
          </a:p>
        </p:txBody>
      </p:sp>
      <p:sp>
        <p:nvSpPr>
          <p:cNvPr id="1004" name="Arrowhead 1">
            <a:extLst>
              <a:ext uri="{FF2B5EF4-FFF2-40B4-BE49-F238E27FC236}">
                <a16:creationId xmlns:a16="http://schemas.microsoft.com/office/drawing/2014/main" id="{983FCE1D-B29B-4C4B-A955-F7F019E4A9E6}"/>
              </a:ext>
            </a:extLst>
          </p:cNvPr>
          <p:cNvSpPr>
            <a:spLocks noGrp="1"/>
          </p:cNvSpPr>
          <p:nvPr/>
        </p:nvSpPr>
        <p:spPr>
          <a:xfrm>
            <a:off x="6612609" y="4729712"/>
            <a:ext cx="195426" cy="180391"/>
          </a:xfrm>
          <a:custGeom>
            <a:avLst/>
            <a:gdLst/>
            <a:ahLst/>
            <a:cxnLst/>
            <a:rect l="0" t="0" r="0" b="0"/>
            <a:pathLst>
              <a:path w="195426" h="180391">
                <a:moveTo>
                  <a:pt x="0" y="120266"/>
                </a:moveTo>
                <a:lnTo>
                  <a:pt x="165356" y="0"/>
                </a:lnTo>
                <a:lnTo>
                  <a:pt x="195426" y="180391"/>
                </a:lnTo>
                <a:close/>
              </a:path>
            </a:pathLst>
          </a:custGeom>
          <a:solidFill>
            <a:srgbClr val="5665AE"/>
          </a:solidFill>
          <a:ln w="0">
            <a:noFill/>
            <a:prstDash val="solid"/>
          </a:ln>
        </p:spPr>
        <p:txBody>
          <a:bodyPr/>
          <a:lstStyle/>
          <a:p>
            <a:endParaRPr lang="en-US"/>
          </a:p>
        </p:txBody>
      </p:sp>
      <p:sp>
        <p:nvSpPr>
          <p:cNvPr id="1005" name="Clockwise arc 2">
            <a:extLst>
              <a:ext uri="{FF2B5EF4-FFF2-40B4-BE49-F238E27FC236}">
                <a16:creationId xmlns:a16="http://schemas.microsoft.com/office/drawing/2014/main" id="{CE5A83F5-8682-43BE-8ABB-CCEE43F9C310}"/>
              </a:ext>
            </a:extLst>
          </p:cNvPr>
          <p:cNvSpPr>
            <a:spLocks noGrp="1"/>
          </p:cNvSpPr>
          <p:nvPr/>
        </p:nvSpPr>
        <p:spPr>
          <a:xfrm>
            <a:off x="4182412" y="3977097"/>
            <a:ext cx="1470278" cy="883305"/>
          </a:xfrm>
          <a:custGeom>
            <a:avLst/>
            <a:gdLst/>
            <a:ahLst/>
            <a:cxnLst/>
            <a:rect l="0" t="0" r="0" b="0"/>
            <a:pathLst>
              <a:path w="1470278" h="883305">
                <a:moveTo>
                  <a:pt x="1470278" y="883305"/>
                </a:moveTo>
                <a:lnTo>
                  <a:pt x="1418144" y="875353"/>
                </a:lnTo>
                <a:lnTo>
                  <a:pt x="1366375" y="866528"/>
                </a:lnTo>
                <a:lnTo>
                  <a:pt x="1315009" y="856834"/>
                </a:lnTo>
                <a:lnTo>
                  <a:pt x="1264083" y="846279"/>
                </a:lnTo>
                <a:lnTo>
                  <a:pt x="1213635" y="834872"/>
                </a:lnTo>
                <a:lnTo>
                  <a:pt x="1163701" y="822619"/>
                </a:lnTo>
                <a:lnTo>
                  <a:pt x="1114318" y="809531"/>
                </a:lnTo>
                <a:lnTo>
                  <a:pt x="1065523" y="795617"/>
                </a:lnTo>
                <a:lnTo>
                  <a:pt x="1017350" y="780886"/>
                </a:lnTo>
                <a:lnTo>
                  <a:pt x="969835" y="765350"/>
                </a:lnTo>
                <a:lnTo>
                  <a:pt x="923013" y="749021"/>
                </a:lnTo>
                <a:lnTo>
                  <a:pt x="876918" y="731909"/>
                </a:lnTo>
                <a:lnTo>
                  <a:pt x="831584" y="714028"/>
                </a:lnTo>
                <a:lnTo>
                  <a:pt x="787045" y="695391"/>
                </a:lnTo>
                <a:lnTo>
                  <a:pt x="743331" y="676011"/>
                </a:lnTo>
                <a:lnTo>
                  <a:pt x="700477" y="655902"/>
                </a:lnTo>
                <a:lnTo>
                  <a:pt x="658512" y="635080"/>
                </a:lnTo>
                <a:lnTo>
                  <a:pt x="617468" y="613559"/>
                </a:lnTo>
                <a:lnTo>
                  <a:pt x="577375" y="591355"/>
                </a:lnTo>
                <a:lnTo>
                  <a:pt x="538262" y="568485"/>
                </a:lnTo>
                <a:lnTo>
                  <a:pt x="500157" y="544965"/>
                </a:lnTo>
                <a:lnTo>
                  <a:pt x="463090" y="520812"/>
                </a:lnTo>
                <a:lnTo>
                  <a:pt x="427085" y="496045"/>
                </a:lnTo>
                <a:lnTo>
                  <a:pt x="392171" y="470680"/>
                </a:lnTo>
                <a:lnTo>
                  <a:pt x="358373" y="444738"/>
                </a:lnTo>
                <a:lnTo>
                  <a:pt x="325715" y="418236"/>
                </a:lnTo>
                <a:lnTo>
                  <a:pt x="294221" y="391194"/>
                </a:lnTo>
                <a:lnTo>
                  <a:pt x="263914" y="363632"/>
                </a:lnTo>
                <a:lnTo>
                  <a:pt x="234817" y="335570"/>
                </a:lnTo>
                <a:lnTo>
                  <a:pt x="206950" y="307029"/>
                </a:lnTo>
                <a:lnTo>
                  <a:pt x="180335" y="278029"/>
                </a:lnTo>
                <a:lnTo>
                  <a:pt x="154990" y="248592"/>
                </a:lnTo>
                <a:lnTo>
                  <a:pt x="130935" y="218740"/>
                </a:lnTo>
                <a:lnTo>
                  <a:pt x="108186" y="188493"/>
                </a:lnTo>
                <a:lnTo>
                  <a:pt x="86761" y="157875"/>
                </a:lnTo>
                <a:lnTo>
                  <a:pt x="66675" y="126907"/>
                </a:lnTo>
                <a:lnTo>
                  <a:pt x="47942" y="95613"/>
                </a:lnTo>
                <a:lnTo>
                  <a:pt x="30577" y="64015"/>
                </a:lnTo>
                <a:lnTo>
                  <a:pt x="14593" y="32136"/>
                </a:lnTo>
                <a:lnTo>
                  <a:pt x="0" y="0"/>
                </a:lnTo>
              </a:path>
            </a:pathLst>
          </a:custGeom>
          <a:noFill/>
          <a:ln w="42863">
            <a:solidFill>
              <a:srgbClr val="4C8835"/>
            </a:solidFill>
            <a:prstDash val="solid"/>
          </a:ln>
        </p:spPr>
        <p:txBody>
          <a:bodyPr/>
          <a:lstStyle/>
          <a:p>
            <a:endParaRPr lang="en-US"/>
          </a:p>
        </p:txBody>
      </p:sp>
      <p:sp>
        <p:nvSpPr>
          <p:cNvPr id="1006" name="Arrowhead 2">
            <a:extLst>
              <a:ext uri="{FF2B5EF4-FFF2-40B4-BE49-F238E27FC236}">
                <a16:creationId xmlns:a16="http://schemas.microsoft.com/office/drawing/2014/main" id="{E59885CC-9D25-4A5D-AAEA-25877311236E}"/>
              </a:ext>
            </a:extLst>
          </p:cNvPr>
          <p:cNvSpPr>
            <a:spLocks noGrp="1"/>
          </p:cNvSpPr>
          <p:nvPr/>
        </p:nvSpPr>
        <p:spPr>
          <a:xfrm>
            <a:off x="4170772" y="3977097"/>
            <a:ext cx="167963" cy="204135"/>
          </a:xfrm>
          <a:custGeom>
            <a:avLst/>
            <a:gdLst/>
            <a:ahLst/>
            <a:cxnLst/>
            <a:rect l="0" t="0" r="0" b="0"/>
            <a:pathLst>
              <a:path w="167963" h="204135">
                <a:moveTo>
                  <a:pt x="11639" y="0"/>
                </a:moveTo>
                <a:lnTo>
                  <a:pt x="167963" y="131792"/>
                </a:lnTo>
                <a:lnTo>
                  <a:pt x="0" y="204135"/>
                </a:lnTo>
                <a:close/>
              </a:path>
            </a:pathLst>
          </a:custGeom>
          <a:solidFill>
            <a:srgbClr val="4C8835"/>
          </a:solidFill>
          <a:ln w="0">
            <a:noFill/>
            <a:prstDash val="solid"/>
          </a:ln>
        </p:spPr>
        <p:txBody>
          <a:bodyPr/>
          <a:lstStyle/>
          <a:p>
            <a:endParaRPr lang="en-US"/>
          </a:p>
        </p:txBody>
      </p:sp>
      <p:sp>
        <p:nvSpPr>
          <p:cNvPr id="1007" name="Clockwise arc 3">
            <a:extLst>
              <a:ext uri="{FF2B5EF4-FFF2-40B4-BE49-F238E27FC236}">
                <a16:creationId xmlns:a16="http://schemas.microsoft.com/office/drawing/2014/main" id="{80DC1099-9294-428A-94A7-60F716D79955}"/>
              </a:ext>
            </a:extLst>
          </p:cNvPr>
          <p:cNvSpPr>
            <a:spLocks noGrp="1"/>
          </p:cNvSpPr>
          <p:nvPr/>
        </p:nvSpPr>
        <p:spPr>
          <a:xfrm>
            <a:off x="4165656" y="2465223"/>
            <a:ext cx="1419831" cy="914689"/>
          </a:xfrm>
          <a:custGeom>
            <a:avLst/>
            <a:gdLst/>
            <a:ahLst/>
            <a:cxnLst/>
            <a:rect l="0" t="0" r="0" b="0"/>
            <a:pathLst>
              <a:path w="1419831" h="914689">
                <a:moveTo>
                  <a:pt x="0" y="914689"/>
                </a:moveTo>
                <a:lnTo>
                  <a:pt x="12781" y="882256"/>
                </a:lnTo>
                <a:lnTo>
                  <a:pt x="26968" y="850049"/>
                </a:lnTo>
                <a:lnTo>
                  <a:pt x="42549" y="818093"/>
                </a:lnTo>
                <a:lnTo>
                  <a:pt x="59515" y="786411"/>
                </a:lnTo>
                <a:lnTo>
                  <a:pt x="77852" y="755026"/>
                </a:lnTo>
                <a:lnTo>
                  <a:pt x="97546" y="723962"/>
                </a:lnTo>
                <a:lnTo>
                  <a:pt x="118584" y="693240"/>
                </a:lnTo>
                <a:lnTo>
                  <a:pt x="140951" y="662883"/>
                </a:lnTo>
                <a:lnTo>
                  <a:pt x="164628" y="632913"/>
                </a:lnTo>
                <a:lnTo>
                  <a:pt x="189601" y="603354"/>
                </a:lnTo>
                <a:lnTo>
                  <a:pt x="215849" y="574225"/>
                </a:lnTo>
                <a:lnTo>
                  <a:pt x="243354" y="545548"/>
                </a:lnTo>
                <a:lnTo>
                  <a:pt x="272096" y="517345"/>
                </a:lnTo>
                <a:lnTo>
                  <a:pt x="302054" y="489636"/>
                </a:lnTo>
                <a:lnTo>
                  <a:pt x="333206" y="462441"/>
                </a:lnTo>
                <a:lnTo>
                  <a:pt x="365528" y="435780"/>
                </a:lnTo>
                <a:lnTo>
                  <a:pt x="398998" y="409673"/>
                </a:lnTo>
                <a:lnTo>
                  <a:pt x="433591" y="384139"/>
                </a:lnTo>
                <a:lnTo>
                  <a:pt x="469281" y="359196"/>
                </a:lnTo>
                <a:lnTo>
                  <a:pt x="506043" y="334863"/>
                </a:lnTo>
                <a:lnTo>
                  <a:pt x="543850" y="311158"/>
                </a:lnTo>
                <a:lnTo>
                  <a:pt x="582673" y="288097"/>
                </a:lnTo>
                <a:lnTo>
                  <a:pt x="622484" y="265698"/>
                </a:lnTo>
                <a:lnTo>
                  <a:pt x="663255" y="243978"/>
                </a:lnTo>
                <a:lnTo>
                  <a:pt x="704956" y="222951"/>
                </a:lnTo>
                <a:lnTo>
                  <a:pt x="747555" y="202634"/>
                </a:lnTo>
                <a:lnTo>
                  <a:pt x="791023" y="183041"/>
                </a:lnTo>
                <a:lnTo>
                  <a:pt x="835326" y="164186"/>
                </a:lnTo>
                <a:lnTo>
                  <a:pt x="880433" y="146084"/>
                </a:lnTo>
                <a:lnTo>
                  <a:pt x="926310" y="128748"/>
                </a:lnTo>
                <a:lnTo>
                  <a:pt x="972924" y="112190"/>
                </a:lnTo>
                <a:lnTo>
                  <a:pt x="1020241" y="96423"/>
                </a:lnTo>
                <a:lnTo>
                  <a:pt x="1068227" y="81457"/>
                </a:lnTo>
                <a:lnTo>
                  <a:pt x="1116845" y="67305"/>
                </a:lnTo>
                <a:lnTo>
                  <a:pt x="1166061" y="53976"/>
                </a:lnTo>
                <a:lnTo>
                  <a:pt x="1215839" y="41480"/>
                </a:lnTo>
                <a:lnTo>
                  <a:pt x="1266142" y="29826"/>
                </a:lnTo>
                <a:lnTo>
                  <a:pt x="1316933" y="19023"/>
                </a:lnTo>
                <a:lnTo>
                  <a:pt x="1368175" y="9078"/>
                </a:lnTo>
                <a:lnTo>
                  <a:pt x="1419831" y="0"/>
                </a:lnTo>
              </a:path>
            </a:pathLst>
          </a:custGeom>
          <a:noFill/>
          <a:ln w="42863">
            <a:solidFill>
              <a:srgbClr val="0086B6"/>
            </a:solidFill>
            <a:prstDash val="solid"/>
          </a:ln>
        </p:spPr>
        <p:txBody>
          <a:bodyPr/>
          <a:lstStyle/>
          <a:p>
            <a:endParaRPr lang="en-US"/>
          </a:p>
        </p:txBody>
      </p:sp>
      <p:sp>
        <p:nvSpPr>
          <p:cNvPr id="1008" name="Arrowhead 3">
            <a:extLst>
              <a:ext uri="{FF2B5EF4-FFF2-40B4-BE49-F238E27FC236}">
                <a16:creationId xmlns:a16="http://schemas.microsoft.com/office/drawing/2014/main" id="{E96851CB-B251-424A-8472-86A545B1B521}"/>
              </a:ext>
            </a:extLst>
          </p:cNvPr>
          <p:cNvSpPr>
            <a:spLocks noGrp="1"/>
          </p:cNvSpPr>
          <p:nvPr/>
        </p:nvSpPr>
        <p:spPr>
          <a:xfrm>
            <a:off x="5390061" y="2405098"/>
            <a:ext cx="195426" cy="180391"/>
          </a:xfrm>
          <a:custGeom>
            <a:avLst/>
            <a:gdLst/>
            <a:ahLst/>
            <a:cxnLst/>
            <a:rect l="0" t="0" r="0" b="0"/>
            <a:pathLst>
              <a:path w="195426" h="180391">
                <a:moveTo>
                  <a:pt x="195426" y="60125"/>
                </a:moveTo>
                <a:lnTo>
                  <a:pt x="30071" y="180391"/>
                </a:lnTo>
                <a:lnTo>
                  <a:pt x="0" y="0"/>
                </a:lnTo>
                <a:close/>
              </a:path>
            </a:pathLst>
          </a:custGeom>
          <a:solidFill>
            <a:srgbClr val="0086B6"/>
          </a:solidFill>
          <a:ln w="0">
            <a:noFill/>
            <a:prstDash val="solid"/>
          </a:ln>
        </p:spPr>
        <p:txBody>
          <a:bodyPr/>
          <a:lstStyle/>
          <a:p>
            <a:endParaRPr lang="en-US"/>
          </a:p>
        </p:txBody>
      </p:sp>
      <p:sp>
        <p:nvSpPr>
          <p:cNvPr id="1009" name="Study anchor">
            <a:extLst>
              <a:ext uri="{FF2B5EF4-FFF2-40B4-BE49-F238E27FC236}">
                <a16:creationId xmlns:a16="http://schemas.microsoft.com/office/drawing/2014/main" id="{72A15DE2-FA82-4963-96C6-A9B4D7123718}"/>
              </a:ext>
            </a:extLst>
          </p:cNvPr>
          <p:cNvSpPr>
            <a:spLocks noGrp="1"/>
          </p:cNvSpPr>
          <p:nvPr/>
        </p:nvSpPr>
        <p:spPr>
          <a:xfrm>
            <a:off x="4800600" y="2688336"/>
            <a:ext cx="2596896" cy="1938528"/>
          </a:xfrm>
          <a:prstGeom prst="ellipse">
            <a:avLst/>
          </a:prstGeom>
          <a:solidFill>
            <a:srgbClr val="F5F8F2"/>
          </a:solidFill>
          <a:ln w="0">
            <a:noFill/>
            <a:prstDash val="solid"/>
          </a:ln>
        </p:spPr>
        <p:txBody>
          <a:bodyPr/>
          <a:lstStyle/>
          <a:p>
            <a:endParaRPr lang="en-US"/>
          </a:p>
        </p:txBody>
      </p:sp>
      <p:sp>
        <p:nvSpPr>
          <p:cNvPr id="1010" name="Case count">
            <a:extLst>
              <a:ext uri="{FF2B5EF4-FFF2-40B4-BE49-F238E27FC236}">
                <a16:creationId xmlns:a16="http://schemas.microsoft.com/office/drawing/2014/main" id="{B24D1DAA-E631-46DD-BD68-C41DD32055F1}"/>
              </a:ext>
            </a:extLst>
          </p:cNvPr>
          <p:cNvSpPr>
            <a:spLocks noGrp="1"/>
          </p:cNvSpPr>
          <p:nvPr/>
        </p:nvSpPr>
        <p:spPr>
          <a:xfrm>
            <a:off x="4919472" y="2761488"/>
            <a:ext cx="2359152" cy="987552"/>
          </a:xfrm>
          <a:prstGeom prst="rect">
            <a:avLst/>
          </a:prstGeom>
          <a:noFill/>
          <a:ln w="0">
            <a:noFill/>
            <a:prstDash val="solid"/>
          </a:ln>
        </p:spPr>
        <p:txBody>
          <a:bodyPr wrap="none" lIns="0" tIns="0" rIns="0" bIns="0" anchor="t">
            <a:noAutofit/>
          </a:bodyPr>
          <a:lstStyle>
            <a:defPPr algn="ctr">
              <a:defRPr sz="6800" b="1">
                <a:solidFill>
                  <a:srgbClr val="4C8835"/>
                </a:solidFill>
              </a:defRPr>
            </a:defPPr>
            <a:lvl1pPr algn="ctr">
              <a:defRPr sz="6800" b="1">
                <a:solidFill>
                  <a:srgbClr val="4C8835"/>
                </a:solidFill>
              </a:defRPr>
            </a:lvl1pPr>
            <a:lvl2pPr algn="ctr">
              <a:defRPr sz="6800" b="1">
                <a:solidFill>
                  <a:srgbClr val="4C8835"/>
                </a:solidFill>
              </a:defRPr>
            </a:lvl2pPr>
            <a:lvl3pPr algn="ctr">
              <a:defRPr sz="6800" b="1">
                <a:solidFill>
                  <a:srgbClr val="4C8835"/>
                </a:solidFill>
              </a:defRPr>
            </a:lvl3pPr>
            <a:lvl4pPr algn="ctr">
              <a:defRPr sz="6800" b="1">
                <a:solidFill>
                  <a:srgbClr val="4C8835"/>
                </a:solidFill>
              </a:defRPr>
            </a:lvl4pPr>
            <a:lvl5pPr algn="ctr">
              <a:defRPr sz="6800" b="1">
                <a:solidFill>
                  <a:srgbClr val="4C8835"/>
                </a:solidFill>
              </a:defRPr>
            </a:lvl5pPr>
            <a:lvl6pPr algn="ctr">
              <a:defRPr sz="6800" b="1">
                <a:solidFill>
                  <a:srgbClr val="4C8835"/>
                </a:solidFill>
              </a:defRPr>
            </a:lvl6pPr>
            <a:lvl7pPr algn="ctr">
              <a:defRPr sz="6800" b="1">
                <a:solidFill>
                  <a:srgbClr val="4C8835"/>
                </a:solidFill>
              </a:defRPr>
            </a:lvl7pPr>
            <a:lvl8pPr algn="ctr">
              <a:defRPr sz="6800" b="1">
                <a:solidFill>
                  <a:srgbClr val="4C8835"/>
                </a:solidFill>
              </a:defRPr>
            </a:lvl8pPr>
            <a:lvl9pPr algn="ctr">
              <a:defRPr sz="6800" b="1">
                <a:solidFill>
                  <a:srgbClr val="4C8835"/>
                </a:solidFill>
              </a:defRPr>
            </a:lvl9pPr>
          </a:lstStyle>
          <a:p>
            <a:pPr algn="ctr">
              <a:defRPr sz="6800" b="1">
                <a:solidFill>
                  <a:srgbClr val="4C8835"/>
                </a:solidFill>
              </a:defRPr>
            </a:pPr>
            <a:r>
              <a:rPr sz="6800" b="1">
                <a:solidFill>
                  <a:srgbClr val="4C8835"/>
                </a:solidFill>
                <a:latin typeface="Arial"/>
                <a:ea typeface="Arial"/>
                <a:cs typeface="Arial"/>
              </a:rPr>
              <a:t>24</a:t>
            </a:r>
          </a:p>
        </p:txBody>
      </p:sp>
      <p:sp>
        <p:nvSpPr>
          <p:cNvPr id="1011" name="Case label">
            <a:extLst>
              <a:ext uri="{FF2B5EF4-FFF2-40B4-BE49-F238E27FC236}">
                <a16:creationId xmlns:a16="http://schemas.microsoft.com/office/drawing/2014/main" id="{55A6BAF4-7619-49FA-978D-E47D6251CFE0}"/>
              </a:ext>
            </a:extLst>
          </p:cNvPr>
          <p:cNvSpPr>
            <a:spLocks noGrp="1"/>
          </p:cNvSpPr>
          <p:nvPr/>
        </p:nvSpPr>
        <p:spPr>
          <a:xfrm>
            <a:off x="4731272" y="3743631"/>
            <a:ext cx="3017520" cy="320040"/>
          </a:xfrm>
          <a:prstGeom prst="rect">
            <a:avLst/>
          </a:prstGeom>
          <a:noFill/>
          <a:ln w="0">
            <a:noFill/>
            <a:prstDash val="solid"/>
          </a:ln>
        </p:spPr>
        <p:txBody>
          <a:bodyPr wrap="none" lIns="0" tIns="0" rIns="0" bIns="0" anchor="t">
            <a:noAutofit/>
          </a:bodyPr>
          <a:lstStyle>
            <a:defPPr algn="ctr">
              <a:defRPr sz="1600" b="0">
                <a:solidFill>
                  <a:srgbClr val="33333A"/>
                </a:solidFill>
              </a:defRPr>
            </a:defPPr>
            <a:lvl1pPr algn="ctr">
              <a:defRPr sz="1600" b="0">
                <a:solidFill>
                  <a:srgbClr val="33333A"/>
                </a:solidFill>
              </a:defRPr>
            </a:lvl1pPr>
            <a:lvl2pPr algn="ctr">
              <a:defRPr sz="1600" b="0">
                <a:solidFill>
                  <a:srgbClr val="33333A"/>
                </a:solidFill>
              </a:defRPr>
            </a:lvl2pPr>
            <a:lvl3pPr algn="ctr">
              <a:defRPr sz="1600" b="0">
                <a:solidFill>
                  <a:srgbClr val="33333A"/>
                </a:solidFill>
              </a:defRPr>
            </a:lvl3pPr>
            <a:lvl4pPr algn="ctr">
              <a:defRPr sz="1600" b="0">
                <a:solidFill>
                  <a:srgbClr val="33333A"/>
                </a:solidFill>
              </a:defRPr>
            </a:lvl4pPr>
            <a:lvl5pPr algn="ctr">
              <a:defRPr sz="1600" b="0">
                <a:solidFill>
                  <a:srgbClr val="33333A"/>
                </a:solidFill>
              </a:defRPr>
            </a:lvl5pPr>
            <a:lvl6pPr algn="ctr">
              <a:defRPr sz="1600" b="0">
                <a:solidFill>
                  <a:srgbClr val="33333A"/>
                </a:solidFill>
              </a:defRPr>
            </a:lvl6pPr>
            <a:lvl7pPr algn="ctr">
              <a:defRPr sz="1600" b="0">
                <a:solidFill>
                  <a:srgbClr val="33333A"/>
                </a:solidFill>
              </a:defRPr>
            </a:lvl7pPr>
            <a:lvl8pPr algn="ctr">
              <a:defRPr sz="1600" b="0">
                <a:solidFill>
                  <a:srgbClr val="33333A"/>
                </a:solidFill>
              </a:defRPr>
            </a:lvl8pPr>
            <a:lvl9pPr algn="ctr">
              <a:defRPr sz="1600" b="0">
                <a:solidFill>
                  <a:srgbClr val="33333A"/>
                </a:solidFill>
              </a:defRPr>
            </a:lvl9pPr>
          </a:lstStyle>
          <a:p>
            <a:pPr algn="ctr">
              <a:defRPr sz="1600" b="0">
                <a:solidFill>
                  <a:srgbClr val="33333A"/>
                </a:solidFill>
              </a:defRPr>
            </a:pPr>
            <a:r>
              <a:rPr lang="en-US" sz="1600" b="0" dirty="0">
                <a:solidFill>
                  <a:srgbClr val="33333A"/>
                </a:solidFill>
                <a:latin typeface="Arial"/>
                <a:ea typeface="Arial"/>
                <a:cs typeface="Arial"/>
              </a:rPr>
              <a:t>24 historical vulnerabilities, </a:t>
            </a:r>
          </a:p>
          <a:p>
            <a:pPr algn="ctr">
              <a:defRPr sz="1600" b="0">
                <a:solidFill>
                  <a:srgbClr val="33333A"/>
                </a:solidFill>
              </a:defRPr>
            </a:pPr>
            <a:r>
              <a:rPr lang="en-US" sz="1600" b="0" dirty="0">
                <a:solidFill>
                  <a:srgbClr val="33333A"/>
                </a:solidFill>
                <a:latin typeface="Arial"/>
                <a:ea typeface="Arial"/>
                <a:cs typeface="Arial"/>
              </a:rPr>
              <a:t>each linked to a published CVE.</a:t>
            </a:r>
            <a:endParaRPr sz="1600" b="0" dirty="0">
              <a:solidFill>
                <a:srgbClr val="33333A"/>
              </a:solidFill>
              <a:latin typeface="Arial"/>
              <a:ea typeface="Arial"/>
              <a:cs typeface="Arial"/>
            </a:endParaRPr>
          </a:p>
        </p:txBody>
      </p:sp>
      <p:sp>
        <p:nvSpPr>
          <p:cNvPr id="1013" name="Stage number disc 0">
            <a:extLst>
              <a:ext uri="{FF2B5EF4-FFF2-40B4-BE49-F238E27FC236}">
                <a16:creationId xmlns:a16="http://schemas.microsoft.com/office/drawing/2014/main" id="{19806F36-1068-4411-8ED9-DAF733C37428}"/>
              </a:ext>
            </a:extLst>
          </p:cNvPr>
          <p:cNvSpPr>
            <a:spLocks noGrp="1"/>
          </p:cNvSpPr>
          <p:nvPr/>
        </p:nvSpPr>
        <p:spPr>
          <a:xfrm>
            <a:off x="5888736" y="2212848"/>
            <a:ext cx="420624" cy="420624"/>
          </a:xfrm>
          <a:prstGeom prst="ellipse">
            <a:avLst/>
          </a:prstGeom>
          <a:solidFill>
            <a:srgbClr val="0086B6"/>
          </a:solidFill>
          <a:ln w="0">
            <a:noFill/>
            <a:prstDash val="solid"/>
          </a:ln>
        </p:spPr>
        <p:txBody>
          <a:bodyPr/>
          <a:lstStyle/>
          <a:p>
            <a:endParaRPr lang="en-US"/>
          </a:p>
        </p:txBody>
      </p:sp>
      <p:sp>
        <p:nvSpPr>
          <p:cNvPr id="1014" name="Stage number 0">
            <a:extLst>
              <a:ext uri="{FF2B5EF4-FFF2-40B4-BE49-F238E27FC236}">
                <a16:creationId xmlns:a16="http://schemas.microsoft.com/office/drawing/2014/main" id="{8B94A894-AE6A-4396-B65B-AAABACC358D3}"/>
              </a:ext>
            </a:extLst>
          </p:cNvPr>
          <p:cNvSpPr>
            <a:spLocks noGrp="1"/>
          </p:cNvSpPr>
          <p:nvPr/>
        </p:nvSpPr>
        <p:spPr>
          <a:xfrm>
            <a:off x="5916168" y="2265883"/>
            <a:ext cx="365760" cy="301752"/>
          </a:xfrm>
          <a:prstGeom prst="rect">
            <a:avLst/>
          </a:prstGeom>
          <a:noFill/>
          <a:ln w="0">
            <a:noFill/>
            <a:prstDash val="solid"/>
          </a:ln>
        </p:spPr>
        <p:txBody>
          <a:bodyPr wrap="none" lIns="0" tIns="0" rIns="0" bIns="0" anchor="t">
            <a:noAutofit/>
          </a:bodyPr>
          <a:lstStyle>
            <a:defPPr algn="ctr">
              <a:defRPr sz="1800" b="1">
                <a:solidFill>
                  <a:srgbClr val="FFFFFF"/>
                </a:solidFill>
              </a:defRPr>
            </a:defPPr>
            <a:lvl1pPr algn="ctr">
              <a:defRPr sz="1800" b="1">
                <a:solidFill>
                  <a:srgbClr val="FFFFFF"/>
                </a:solidFill>
              </a:defRPr>
            </a:lvl1pPr>
            <a:lvl2pPr algn="ctr">
              <a:defRPr sz="1800" b="1">
                <a:solidFill>
                  <a:srgbClr val="FFFFFF"/>
                </a:solidFill>
              </a:defRPr>
            </a:lvl2pPr>
            <a:lvl3pPr algn="ctr">
              <a:defRPr sz="1800" b="1">
                <a:solidFill>
                  <a:srgbClr val="FFFFFF"/>
                </a:solidFill>
              </a:defRPr>
            </a:lvl3pPr>
            <a:lvl4pPr algn="ctr">
              <a:defRPr sz="1800" b="1">
                <a:solidFill>
                  <a:srgbClr val="FFFFFF"/>
                </a:solidFill>
              </a:defRPr>
            </a:lvl4pPr>
            <a:lvl5pPr algn="ctr">
              <a:defRPr sz="1800" b="1">
                <a:solidFill>
                  <a:srgbClr val="FFFFFF"/>
                </a:solidFill>
              </a:defRPr>
            </a:lvl5pPr>
            <a:lvl6pPr algn="ctr">
              <a:defRPr sz="1800" b="1">
                <a:solidFill>
                  <a:srgbClr val="FFFFFF"/>
                </a:solidFill>
              </a:defRPr>
            </a:lvl6pPr>
            <a:lvl7pPr algn="ctr">
              <a:defRPr sz="1800" b="1">
                <a:solidFill>
                  <a:srgbClr val="FFFFFF"/>
                </a:solidFill>
              </a:defRPr>
            </a:lvl7pPr>
            <a:lvl8pPr algn="ctr">
              <a:defRPr sz="1800" b="1">
                <a:solidFill>
                  <a:srgbClr val="FFFFFF"/>
                </a:solidFill>
              </a:defRPr>
            </a:lvl8pPr>
            <a:lvl9pPr algn="ctr">
              <a:defRPr sz="1800" b="1">
                <a:solidFill>
                  <a:srgbClr val="FFFFFF"/>
                </a:solidFill>
              </a:defRPr>
            </a:lvl9pPr>
          </a:lstStyle>
          <a:p>
            <a:pPr algn="ctr">
              <a:defRPr sz="1800" b="1">
                <a:solidFill>
                  <a:srgbClr val="FFFFFF"/>
                </a:solidFill>
              </a:defRPr>
            </a:pPr>
            <a:r>
              <a:rPr sz="1800" b="1">
                <a:solidFill>
                  <a:srgbClr val="FFFFFF"/>
                </a:solidFill>
                <a:latin typeface="Arial"/>
                <a:ea typeface="Arial"/>
                <a:cs typeface="Arial"/>
              </a:rPr>
              <a:t>1</a:t>
            </a:r>
          </a:p>
        </p:txBody>
      </p:sp>
      <p:sp>
        <p:nvSpPr>
          <p:cNvPr id="1015" name="Stage number disc 1">
            <a:extLst>
              <a:ext uri="{FF2B5EF4-FFF2-40B4-BE49-F238E27FC236}">
                <a16:creationId xmlns:a16="http://schemas.microsoft.com/office/drawing/2014/main" id="{8E54CEF1-DB07-432C-B1FA-B9BB1F5558B1}"/>
              </a:ext>
            </a:extLst>
          </p:cNvPr>
          <p:cNvSpPr>
            <a:spLocks noGrp="1"/>
          </p:cNvSpPr>
          <p:nvPr/>
        </p:nvSpPr>
        <p:spPr>
          <a:xfrm>
            <a:off x="7872984" y="3447288"/>
            <a:ext cx="420624" cy="420624"/>
          </a:xfrm>
          <a:prstGeom prst="ellipse">
            <a:avLst/>
          </a:prstGeom>
          <a:solidFill>
            <a:srgbClr val="5665AE"/>
          </a:solidFill>
          <a:ln w="0">
            <a:noFill/>
            <a:prstDash val="solid"/>
          </a:ln>
        </p:spPr>
        <p:txBody>
          <a:bodyPr/>
          <a:lstStyle/>
          <a:p>
            <a:endParaRPr lang="en-US"/>
          </a:p>
        </p:txBody>
      </p:sp>
      <p:sp>
        <p:nvSpPr>
          <p:cNvPr id="1016" name="Stage number 1">
            <a:extLst>
              <a:ext uri="{FF2B5EF4-FFF2-40B4-BE49-F238E27FC236}">
                <a16:creationId xmlns:a16="http://schemas.microsoft.com/office/drawing/2014/main" id="{0DEBD612-62CA-4A23-8435-869F5A15DB52}"/>
              </a:ext>
            </a:extLst>
          </p:cNvPr>
          <p:cNvSpPr>
            <a:spLocks noGrp="1"/>
          </p:cNvSpPr>
          <p:nvPr/>
        </p:nvSpPr>
        <p:spPr>
          <a:xfrm>
            <a:off x="7900416" y="3500323"/>
            <a:ext cx="365760" cy="301752"/>
          </a:xfrm>
          <a:prstGeom prst="rect">
            <a:avLst/>
          </a:prstGeom>
          <a:noFill/>
          <a:ln w="0">
            <a:noFill/>
            <a:prstDash val="solid"/>
          </a:ln>
        </p:spPr>
        <p:txBody>
          <a:bodyPr wrap="none" lIns="0" tIns="0" rIns="0" bIns="0" anchor="t">
            <a:noAutofit/>
          </a:bodyPr>
          <a:lstStyle>
            <a:defPPr algn="ctr">
              <a:defRPr sz="1800" b="1">
                <a:solidFill>
                  <a:srgbClr val="FFFFFF"/>
                </a:solidFill>
              </a:defRPr>
            </a:defPPr>
            <a:lvl1pPr algn="ctr">
              <a:defRPr sz="1800" b="1">
                <a:solidFill>
                  <a:srgbClr val="FFFFFF"/>
                </a:solidFill>
              </a:defRPr>
            </a:lvl1pPr>
            <a:lvl2pPr algn="ctr">
              <a:defRPr sz="1800" b="1">
                <a:solidFill>
                  <a:srgbClr val="FFFFFF"/>
                </a:solidFill>
              </a:defRPr>
            </a:lvl2pPr>
            <a:lvl3pPr algn="ctr">
              <a:defRPr sz="1800" b="1">
                <a:solidFill>
                  <a:srgbClr val="FFFFFF"/>
                </a:solidFill>
              </a:defRPr>
            </a:lvl3pPr>
            <a:lvl4pPr algn="ctr">
              <a:defRPr sz="1800" b="1">
                <a:solidFill>
                  <a:srgbClr val="FFFFFF"/>
                </a:solidFill>
              </a:defRPr>
            </a:lvl4pPr>
            <a:lvl5pPr algn="ctr">
              <a:defRPr sz="1800" b="1">
                <a:solidFill>
                  <a:srgbClr val="FFFFFF"/>
                </a:solidFill>
              </a:defRPr>
            </a:lvl5pPr>
            <a:lvl6pPr algn="ctr">
              <a:defRPr sz="1800" b="1">
                <a:solidFill>
                  <a:srgbClr val="FFFFFF"/>
                </a:solidFill>
              </a:defRPr>
            </a:lvl6pPr>
            <a:lvl7pPr algn="ctr">
              <a:defRPr sz="1800" b="1">
                <a:solidFill>
                  <a:srgbClr val="FFFFFF"/>
                </a:solidFill>
              </a:defRPr>
            </a:lvl7pPr>
            <a:lvl8pPr algn="ctr">
              <a:defRPr sz="1800" b="1">
                <a:solidFill>
                  <a:srgbClr val="FFFFFF"/>
                </a:solidFill>
              </a:defRPr>
            </a:lvl8pPr>
            <a:lvl9pPr algn="ctr">
              <a:defRPr sz="1800" b="1">
                <a:solidFill>
                  <a:srgbClr val="FFFFFF"/>
                </a:solidFill>
              </a:defRPr>
            </a:lvl9pPr>
          </a:lstStyle>
          <a:p>
            <a:pPr algn="ctr">
              <a:defRPr sz="1800" b="1">
                <a:solidFill>
                  <a:srgbClr val="FFFFFF"/>
                </a:solidFill>
              </a:defRPr>
            </a:pPr>
            <a:r>
              <a:rPr sz="1800" b="1">
                <a:solidFill>
                  <a:srgbClr val="FFFFFF"/>
                </a:solidFill>
                <a:latin typeface="Arial"/>
                <a:ea typeface="Arial"/>
                <a:cs typeface="Arial"/>
              </a:rPr>
              <a:t>2</a:t>
            </a:r>
          </a:p>
        </p:txBody>
      </p:sp>
      <p:sp>
        <p:nvSpPr>
          <p:cNvPr id="1017" name="Stage number disc 2">
            <a:extLst>
              <a:ext uri="{FF2B5EF4-FFF2-40B4-BE49-F238E27FC236}">
                <a16:creationId xmlns:a16="http://schemas.microsoft.com/office/drawing/2014/main" id="{92D6F6D5-1622-490A-A8E6-353A77695722}"/>
              </a:ext>
            </a:extLst>
          </p:cNvPr>
          <p:cNvSpPr>
            <a:spLocks noGrp="1"/>
          </p:cNvSpPr>
          <p:nvPr/>
        </p:nvSpPr>
        <p:spPr>
          <a:xfrm>
            <a:off x="5888736" y="4681728"/>
            <a:ext cx="420624" cy="420624"/>
          </a:xfrm>
          <a:prstGeom prst="ellipse">
            <a:avLst/>
          </a:prstGeom>
          <a:solidFill>
            <a:srgbClr val="4C8835"/>
          </a:solidFill>
          <a:ln w="0">
            <a:noFill/>
            <a:prstDash val="solid"/>
          </a:ln>
        </p:spPr>
        <p:txBody>
          <a:bodyPr/>
          <a:lstStyle/>
          <a:p>
            <a:endParaRPr lang="en-US"/>
          </a:p>
        </p:txBody>
      </p:sp>
      <p:sp>
        <p:nvSpPr>
          <p:cNvPr id="1018" name="Stage number 2">
            <a:extLst>
              <a:ext uri="{FF2B5EF4-FFF2-40B4-BE49-F238E27FC236}">
                <a16:creationId xmlns:a16="http://schemas.microsoft.com/office/drawing/2014/main" id="{0AAD2339-8F53-4802-AEF7-2AE52633ECAD}"/>
              </a:ext>
            </a:extLst>
          </p:cNvPr>
          <p:cNvSpPr>
            <a:spLocks noGrp="1"/>
          </p:cNvSpPr>
          <p:nvPr/>
        </p:nvSpPr>
        <p:spPr>
          <a:xfrm>
            <a:off x="5916168" y="4734763"/>
            <a:ext cx="365760" cy="301752"/>
          </a:xfrm>
          <a:prstGeom prst="rect">
            <a:avLst/>
          </a:prstGeom>
          <a:noFill/>
          <a:ln w="0">
            <a:noFill/>
            <a:prstDash val="solid"/>
          </a:ln>
        </p:spPr>
        <p:txBody>
          <a:bodyPr wrap="none" lIns="0" tIns="0" rIns="0" bIns="0" anchor="t">
            <a:noAutofit/>
          </a:bodyPr>
          <a:lstStyle>
            <a:defPPr algn="ctr">
              <a:defRPr sz="1800" b="1">
                <a:solidFill>
                  <a:srgbClr val="FFFFFF"/>
                </a:solidFill>
              </a:defRPr>
            </a:defPPr>
            <a:lvl1pPr algn="ctr">
              <a:defRPr sz="1800" b="1">
                <a:solidFill>
                  <a:srgbClr val="FFFFFF"/>
                </a:solidFill>
              </a:defRPr>
            </a:lvl1pPr>
            <a:lvl2pPr algn="ctr">
              <a:defRPr sz="1800" b="1">
                <a:solidFill>
                  <a:srgbClr val="FFFFFF"/>
                </a:solidFill>
              </a:defRPr>
            </a:lvl2pPr>
            <a:lvl3pPr algn="ctr">
              <a:defRPr sz="1800" b="1">
                <a:solidFill>
                  <a:srgbClr val="FFFFFF"/>
                </a:solidFill>
              </a:defRPr>
            </a:lvl3pPr>
            <a:lvl4pPr algn="ctr">
              <a:defRPr sz="1800" b="1">
                <a:solidFill>
                  <a:srgbClr val="FFFFFF"/>
                </a:solidFill>
              </a:defRPr>
            </a:lvl4pPr>
            <a:lvl5pPr algn="ctr">
              <a:defRPr sz="1800" b="1">
                <a:solidFill>
                  <a:srgbClr val="FFFFFF"/>
                </a:solidFill>
              </a:defRPr>
            </a:lvl5pPr>
            <a:lvl6pPr algn="ctr">
              <a:defRPr sz="1800" b="1">
                <a:solidFill>
                  <a:srgbClr val="FFFFFF"/>
                </a:solidFill>
              </a:defRPr>
            </a:lvl6pPr>
            <a:lvl7pPr algn="ctr">
              <a:defRPr sz="1800" b="1">
                <a:solidFill>
                  <a:srgbClr val="FFFFFF"/>
                </a:solidFill>
              </a:defRPr>
            </a:lvl7pPr>
            <a:lvl8pPr algn="ctr">
              <a:defRPr sz="1800" b="1">
                <a:solidFill>
                  <a:srgbClr val="FFFFFF"/>
                </a:solidFill>
              </a:defRPr>
            </a:lvl8pPr>
            <a:lvl9pPr algn="ctr">
              <a:defRPr sz="1800" b="1">
                <a:solidFill>
                  <a:srgbClr val="FFFFFF"/>
                </a:solidFill>
              </a:defRPr>
            </a:lvl9pPr>
          </a:lstStyle>
          <a:p>
            <a:pPr algn="ctr">
              <a:defRPr sz="1800" b="1">
                <a:solidFill>
                  <a:srgbClr val="FFFFFF"/>
                </a:solidFill>
              </a:defRPr>
            </a:pPr>
            <a:r>
              <a:rPr sz="1800" b="1">
                <a:solidFill>
                  <a:srgbClr val="FFFFFF"/>
                </a:solidFill>
                <a:latin typeface="Arial"/>
                <a:ea typeface="Arial"/>
                <a:cs typeface="Arial"/>
              </a:rPr>
              <a:t>3</a:t>
            </a:r>
          </a:p>
        </p:txBody>
      </p:sp>
      <p:sp>
        <p:nvSpPr>
          <p:cNvPr id="1019" name="Stage number disc 3">
            <a:extLst>
              <a:ext uri="{FF2B5EF4-FFF2-40B4-BE49-F238E27FC236}">
                <a16:creationId xmlns:a16="http://schemas.microsoft.com/office/drawing/2014/main" id="{C4A02A69-E028-4304-86CC-EBE060D2FAFC}"/>
              </a:ext>
            </a:extLst>
          </p:cNvPr>
          <p:cNvSpPr>
            <a:spLocks noGrp="1"/>
          </p:cNvSpPr>
          <p:nvPr/>
        </p:nvSpPr>
        <p:spPr>
          <a:xfrm>
            <a:off x="3904488" y="3447288"/>
            <a:ext cx="420624" cy="420624"/>
          </a:xfrm>
          <a:prstGeom prst="ellipse">
            <a:avLst/>
          </a:prstGeom>
          <a:solidFill>
            <a:srgbClr val="0086B6"/>
          </a:solidFill>
          <a:ln w="0">
            <a:noFill/>
            <a:prstDash val="solid"/>
          </a:ln>
        </p:spPr>
        <p:txBody>
          <a:bodyPr/>
          <a:lstStyle/>
          <a:p>
            <a:endParaRPr lang="en-US"/>
          </a:p>
        </p:txBody>
      </p:sp>
      <p:sp>
        <p:nvSpPr>
          <p:cNvPr id="1020" name="Stage number 3">
            <a:extLst>
              <a:ext uri="{FF2B5EF4-FFF2-40B4-BE49-F238E27FC236}">
                <a16:creationId xmlns:a16="http://schemas.microsoft.com/office/drawing/2014/main" id="{E80387BA-8A6C-42B4-B8B5-9AA014E1256C}"/>
              </a:ext>
            </a:extLst>
          </p:cNvPr>
          <p:cNvSpPr>
            <a:spLocks noGrp="1"/>
          </p:cNvSpPr>
          <p:nvPr/>
        </p:nvSpPr>
        <p:spPr>
          <a:xfrm>
            <a:off x="3931920" y="3500323"/>
            <a:ext cx="365760" cy="301752"/>
          </a:xfrm>
          <a:prstGeom prst="rect">
            <a:avLst/>
          </a:prstGeom>
          <a:noFill/>
          <a:ln w="0">
            <a:noFill/>
            <a:prstDash val="solid"/>
          </a:ln>
        </p:spPr>
        <p:txBody>
          <a:bodyPr wrap="none" lIns="0" tIns="0" rIns="0" bIns="0" anchor="t">
            <a:noAutofit/>
          </a:bodyPr>
          <a:lstStyle>
            <a:defPPr algn="ctr">
              <a:defRPr sz="1800" b="1">
                <a:solidFill>
                  <a:srgbClr val="FFFFFF"/>
                </a:solidFill>
              </a:defRPr>
            </a:defPPr>
            <a:lvl1pPr algn="ctr">
              <a:defRPr sz="1800" b="1">
                <a:solidFill>
                  <a:srgbClr val="FFFFFF"/>
                </a:solidFill>
              </a:defRPr>
            </a:lvl1pPr>
            <a:lvl2pPr algn="ctr">
              <a:defRPr sz="1800" b="1">
                <a:solidFill>
                  <a:srgbClr val="FFFFFF"/>
                </a:solidFill>
              </a:defRPr>
            </a:lvl2pPr>
            <a:lvl3pPr algn="ctr">
              <a:defRPr sz="1800" b="1">
                <a:solidFill>
                  <a:srgbClr val="FFFFFF"/>
                </a:solidFill>
              </a:defRPr>
            </a:lvl3pPr>
            <a:lvl4pPr algn="ctr">
              <a:defRPr sz="1800" b="1">
                <a:solidFill>
                  <a:srgbClr val="FFFFFF"/>
                </a:solidFill>
              </a:defRPr>
            </a:lvl4pPr>
            <a:lvl5pPr algn="ctr">
              <a:defRPr sz="1800" b="1">
                <a:solidFill>
                  <a:srgbClr val="FFFFFF"/>
                </a:solidFill>
              </a:defRPr>
            </a:lvl5pPr>
            <a:lvl6pPr algn="ctr">
              <a:defRPr sz="1800" b="1">
                <a:solidFill>
                  <a:srgbClr val="FFFFFF"/>
                </a:solidFill>
              </a:defRPr>
            </a:lvl6pPr>
            <a:lvl7pPr algn="ctr">
              <a:defRPr sz="1800" b="1">
                <a:solidFill>
                  <a:srgbClr val="FFFFFF"/>
                </a:solidFill>
              </a:defRPr>
            </a:lvl7pPr>
            <a:lvl8pPr algn="ctr">
              <a:defRPr sz="1800" b="1">
                <a:solidFill>
                  <a:srgbClr val="FFFFFF"/>
                </a:solidFill>
              </a:defRPr>
            </a:lvl8pPr>
            <a:lvl9pPr algn="ctr">
              <a:defRPr sz="1800" b="1">
                <a:solidFill>
                  <a:srgbClr val="FFFFFF"/>
                </a:solidFill>
              </a:defRPr>
            </a:lvl9pPr>
          </a:lstStyle>
          <a:p>
            <a:pPr algn="ctr">
              <a:defRPr sz="1800" b="1">
                <a:solidFill>
                  <a:srgbClr val="FFFFFF"/>
                </a:solidFill>
              </a:defRPr>
            </a:pPr>
            <a:r>
              <a:rPr sz="1800" b="1">
                <a:solidFill>
                  <a:srgbClr val="FFFFFF"/>
                </a:solidFill>
                <a:latin typeface="Arial"/>
                <a:ea typeface="Arial"/>
                <a:cs typeface="Arial"/>
              </a:rPr>
              <a:t>4</a:t>
            </a:r>
          </a:p>
        </p:txBody>
      </p:sp>
      <p:sp>
        <p:nvSpPr>
          <p:cNvPr id="1021" name="Baseline label">
            <a:extLst>
              <a:ext uri="{FF2B5EF4-FFF2-40B4-BE49-F238E27FC236}">
                <a16:creationId xmlns:a16="http://schemas.microsoft.com/office/drawing/2014/main" id="{D872F163-1E9B-41D4-B995-DC1944D88A18}"/>
              </a:ext>
            </a:extLst>
          </p:cNvPr>
          <p:cNvSpPr>
            <a:spLocks noGrp="1"/>
          </p:cNvSpPr>
          <p:nvPr/>
        </p:nvSpPr>
        <p:spPr>
          <a:xfrm>
            <a:off x="4315968" y="1490472"/>
            <a:ext cx="3566160" cy="393192"/>
          </a:xfrm>
          <a:prstGeom prst="rect">
            <a:avLst/>
          </a:prstGeom>
          <a:noFill/>
          <a:ln w="0">
            <a:noFill/>
            <a:prstDash val="solid"/>
          </a:ln>
        </p:spPr>
        <p:txBody>
          <a:bodyPr wrap="none" lIns="0" tIns="0" rIns="0" bIns="0" anchor="t">
            <a:noAutofit/>
          </a:bodyPr>
          <a:lstStyle>
            <a:defPPr algn="ctr">
              <a:defRPr sz="2400" b="1">
                <a:solidFill>
                  <a:srgbClr val="0086B6"/>
                </a:solidFill>
              </a:defRPr>
            </a:defPPr>
            <a:lvl1pPr algn="ctr">
              <a:defRPr sz="2400" b="1">
                <a:solidFill>
                  <a:srgbClr val="0086B6"/>
                </a:solidFill>
              </a:defRPr>
            </a:lvl1pPr>
            <a:lvl2pPr algn="ctr">
              <a:defRPr sz="2400" b="1">
                <a:solidFill>
                  <a:srgbClr val="0086B6"/>
                </a:solidFill>
              </a:defRPr>
            </a:lvl2pPr>
            <a:lvl3pPr algn="ctr">
              <a:defRPr sz="2400" b="1">
                <a:solidFill>
                  <a:srgbClr val="0086B6"/>
                </a:solidFill>
              </a:defRPr>
            </a:lvl3pPr>
            <a:lvl4pPr algn="ctr">
              <a:defRPr sz="2400" b="1">
                <a:solidFill>
                  <a:srgbClr val="0086B6"/>
                </a:solidFill>
              </a:defRPr>
            </a:lvl4pPr>
            <a:lvl5pPr algn="ctr">
              <a:defRPr sz="2400" b="1">
                <a:solidFill>
                  <a:srgbClr val="0086B6"/>
                </a:solidFill>
              </a:defRPr>
            </a:lvl5pPr>
            <a:lvl6pPr algn="ctr">
              <a:defRPr sz="2400" b="1">
                <a:solidFill>
                  <a:srgbClr val="0086B6"/>
                </a:solidFill>
              </a:defRPr>
            </a:lvl6pPr>
            <a:lvl7pPr algn="ctr">
              <a:defRPr sz="2400" b="1">
                <a:solidFill>
                  <a:srgbClr val="0086B6"/>
                </a:solidFill>
              </a:defRPr>
            </a:lvl7pPr>
            <a:lvl8pPr algn="ctr">
              <a:defRPr sz="2400" b="1">
                <a:solidFill>
                  <a:srgbClr val="0086B6"/>
                </a:solidFill>
              </a:defRPr>
            </a:lvl8pPr>
            <a:lvl9pPr algn="ctr">
              <a:defRPr sz="2400" b="1">
                <a:solidFill>
                  <a:srgbClr val="0086B6"/>
                </a:solidFill>
              </a:defRPr>
            </a:lvl9pPr>
          </a:lstStyle>
          <a:p>
            <a:pPr algn="ctr">
              <a:defRPr sz="2400" b="1">
                <a:solidFill>
                  <a:srgbClr val="0086B6"/>
                </a:solidFill>
              </a:defRPr>
            </a:pPr>
            <a:r>
              <a:rPr sz="2400" b="1">
                <a:solidFill>
                  <a:srgbClr val="0086B6"/>
                </a:solidFill>
                <a:latin typeface="Arial"/>
                <a:ea typeface="Arial"/>
                <a:cs typeface="Arial"/>
              </a:rPr>
              <a:t>Establish a baseline</a:t>
            </a:r>
          </a:p>
        </p:txBody>
      </p:sp>
      <p:sp>
        <p:nvSpPr>
          <p:cNvPr id="1022" name="Baseline detail">
            <a:extLst>
              <a:ext uri="{FF2B5EF4-FFF2-40B4-BE49-F238E27FC236}">
                <a16:creationId xmlns:a16="http://schemas.microsoft.com/office/drawing/2014/main" id="{34610211-4B8B-4EC3-8205-77646F32293C}"/>
              </a:ext>
            </a:extLst>
          </p:cNvPr>
          <p:cNvSpPr>
            <a:spLocks noGrp="1"/>
          </p:cNvSpPr>
          <p:nvPr/>
        </p:nvSpPr>
        <p:spPr>
          <a:xfrm>
            <a:off x="4315968" y="1883664"/>
            <a:ext cx="3566160" cy="274320"/>
          </a:xfrm>
          <a:prstGeom prst="rect">
            <a:avLst/>
          </a:prstGeom>
          <a:noFill/>
          <a:ln w="0">
            <a:noFill/>
            <a:prstDash val="solid"/>
          </a:ln>
        </p:spPr>
        <p:txBody>
          <a:bodyPr wrap="none" lIns="0" tIns="0" rIns="0" bIns="0" anchor="t">
            <a:noAutofit/>
          </a:bodyPr>
          <a:lstStyle>
            <a:defPPr algn="ctr">
              <a:defRPr sz="1600" b="0">
                <a:solidFill>
                  <a:srgbClr val="6B6B73"/>
                </a:solidFill>
              </a:defRPr>
            </a:defPPr>
            <a:lvl1pPr algn="ctr">
              <a:defRPr sz="1600" b="0">
                <a:solidFill>
                  <a:srgbClr val="6B6B73"/>
                </a:solidFill>
              </a:defRPr>
            </a:lvl1pPr>
            <a:lvl2pPr algn="ctr">
              <a:defRPr sz="1600" b="0">
                <a:solidFill>
                  <a:srgbClr val="6B6B73"/>
                </a:solidFill>
              </a:defRPr>
            </a:lvl2pPr>
            <a:lvl3pPr algn="ctr">
              <a:defRPr sz="1600" b="0">
                <a:solidFill>
                  <a:srgbClr val="6B6B73"/>
                </a:solidFill>
              </a:defRPr>
            </a:lvl3pPr>
            <a:lvl4pPr algn="ctr">
              <a:defRPr sz="1600" b="0">
                <a:solidFill>
                  <a:srgbClr val="6B6B73"/>
                </a:solidFill>
              </a:defRPr>
            </a:lvl4pPr>
            <a:lvl5pPr algn="ctr">
              <a:defRPr sz="1600" b="0">
                <a:solidFill>
                  <a:srgbClr val="6B6B73"/>
                </a:solidFill>
              </a:defRPr>
            </a:lvl5pPr>
            <a:lvl6pPr algn="ctr">
              <a:defRPr sz="1600" b="0">
                <a:solidFill>
                  <a:srgbClr val="6B6B73"/>
                </a:solidFill>
              </a:defRPr>
            </a:lvl6pPr>
            <a:lvl7pPr algn="ctr">
              <a:defRPr sz="1600" b="0">
                <a:solidFill>
                  <a:srgbClr val="6B6B73"/>
                </a:solidFill>
              </a:defRPr>
            </a:lvl7pPr>
            <a:lvl8pPr algn="ctr">
              <a:defRPr sz="1600" b="0">
                <a:solidFill>
                  <a:srgbClr val="6B6B73"/>
                </a:solidFill>
              </a:defRPr>
            </a:lvl8pPr>
            <a:lvl9pPr algn="ctr">
              <a:defRPr sz="1600" b="0">
                <a:solidFill>
                  <a:srgbClr val="6B6B73"/>
                </a:solidFill>
              </a:defRPr>
            </a:lvl9pPr>
          </a:lstStyle>
          <a:p>
            <a:pPr algn="ctr">
              <a:defRPr sz="1600" b="0">
                <a:solidFill>
                  <a:srgbClr val="6B6B73"/>
                </a:solidFill>
              </a:defRPr>
            </a:pPr>
            <a:r>
              <a:rPr sz="1600" b="0">
                <a:solidFill>
                  <a:srgbClr val="6B6B73"/>
                </a:solidFill>
                <a:latin typeface="Arial"/>
                <a:ea typeface="Arial"/>
                <a:cs typeface="Arial"/>
              </a:rPr>
              <a:t>Generic review instructions</a:t>
            </a:r>
          </a:p>
        </p:txBody>
      </p:sp>
      <p:sp>
        <p:nvSpPr>
          <p:cNvPr id="1023" name="Gaps label">
            <a:extLst>
              <a:ext uri="{FF2B5EF4-FFF2-40B4-BE49-F238E27FC236}">
                <a16:creationId xmlns:a16="http://schemas.microsoft.com/office/drawing/2014/main" id="{4AD19479-1ABE-49E7-8C21-4ACFB28F673E}"/>
              </a:ext>
            </a:extLst>
          </p:cNvPr>
          <p:cNvSpPr>
            <a:spLocks noGrp="1"/>
          </p:cNvSpPr>
          <p:nvPr/>
        </p:nvSpPr>
        <p:spPr>
          <a:xfrm>
            <a:off x="8595360" y="3072384"/>
            <a:ext cx="2788920" cy="420624"/>
          </a:xfrm>
          <a:prstGeom prst="rect">
            <a:avLst/>
          </a:prstGeom>
          <a:noFill/>
          <a:ln w="0">
            <a:noFill/>
            <a:prstDash val="solid"/>
          </a:ln>
        </p:spPr>
        <p:txBody>
          <a:bodyPr wrap="none" lIns="0" tIns="0" rIns="0" bIns="0" anchor="t">
            <a:noAutofit/>
          </a:bodyPr>
          <a:lstStyle>
            <a:defPPr algn="l">
              <a:defRPr sz="2400" b="1">
                <a:solidFill>
                  <a:srgbClr val="5665AE"/>
                </a:solidFill>
              </a:defRPr>
            </a:defPPr>
            <a:lvl1pPr algn="l">
              <a:defRPr sz="2400" b="1">
                <a:solidFill>
                  <a:srgbClr val="5665AE"/>
                </a:solidFill>
              </a:defRPr>
            </a:lvl1pPr>
            <a:lvl2pPr algn="l">
              <a:defRPr sz="2400" b="1">
                <a:solidFill>
                  <a:srgbClr val="5665AE"/>
                </a:solidFill>
              </a:defRPr>
            </a:lvl2pPr>
            <a:lvl3pPr algn="l">
              <a:defRPr sz="2400" b="1">
                <a:solidFill>
                  <a:srgbClr val="5665AE"/>
                </a:solidFill>
              </a:defRPr>
            </a:lvl3pPr>
            <a:lvl4pPr algn="l">
              <a:defRPr sz="2400" b="1">
                <a:solidFill>
                  <a:srgbClr val="5665AE"/>
                </a:solidFill>
              </a:defRPr>
            </a:lvl4pPr>
            <a:lvl5pPr algn="l">
              <a:defRPr sz="2400" b="1">
                <a:solidFill>
                  <a:srgbClr val="5665AE"/>
                </a:solidFill>
              </a:defRPr>
            </a:lvl5pPr>
            <a:lvl6pPr algn="l">
              <a:defRPr sz="2400" b="1">
                <a:solidFill>
                  <a:srgbClr val="5665AE"/>
                </a:solidFill>
              </a:defRPr>
            </a:lvl6pPr>
            <a:lvl7pPr algn="l">
              <a:defRPr sz="2400" b="1">
                <a:solidFill>
                  <a:srgbClr val="5665AE"/>
                </a:solidFill>
              </a:defRPr>
            </a:lvl7pPr>
            <a:lvl8pPr algn="l">
              <a:defRPr sz="2400" b="1">
                <a:solidFill>
                  <a:srgbClr val="5665AE"/>
                </a:solidFill>
              </a:defRPr>
            </a:lvl8pPr>
            <a:lvl9pPr algn="l">
              <a:defRPr sz="2400" b="1">
                <a:solidFill>
                  <a:srgbClr val="5665AE"/>
                </a:solidFill>
              </a:defRPr>
            </a:lvl9pPr>
          </a:lstStyle>
          <a:p>
            <a:pPr algn="l">
              <a:defRPr sz="2400" b="1">
                <a:solidFill>
                  <a:srgbClr val="5665AE"/>
                </a:solidFill>
              </a:defRPr>
            </a:pPr>
            <a:r>
              <a:rPr sz="2400" b="1">
                <a:solidFill>
                  <a:srgbClr val="5665AE"/>
                </a:solidFill>
                <a:latin typeface="Arial"/>
                <a:ea typeface="Arial"/>
                <a:cs typeface="Arial"/>
              </a:rPr>
              <a:t>Inspect the gaps</a:t>
            </a:r>
          </a:p>
        </p:txBody>
      </p:sp>
      <p:sp>
        <p:nvSpPr>
          <p:cNvPr id="1024" name="Gaps detail">
            <a:extLst>
              <a:ext uri="{FF2B5EF4-FFF2-40B4-BE49-F238E27FC236}">
                <a16:creationId xmlns:a16="http://schemas.microsoft.com/office/drawing/2014/main" id="{2B7CD747-DC1A-4C01-B7E4-F04E47086C57}"/>
              </a:ext>
            </a:extLst>
          </p:cNvPr>
          <p:cNvSpPr>
            <a:spLocks noGrp="1"/>
          </p:cNvSpPr>
          <p:nvPr/>
        </p:nvSpPr>
        <p:spPr>
          <a:xfrm>
            <a:off x="8595360" y="3639312"/>
            <a:ext cx="2788920" cy="694944"/>
          </a:xfrm>
          <a:prstGeom prst="rect">
            <a:avLst/>
          </a:prstGeom>
          <a:noFill/>
          <a:ln w="0">
            <a:noFill/>
            <a:prstDash val="solid"/>
          </a:ln>
        </p:spPr>
        <p:txBody>
          <a:bodyPr wrap="none" lIns="0" tIns="0" rIns="0" bIns="0" anchor="t">
            <a:noAutofit/>
          </a:bodyPr>
          <a:lstStyle>
            <a:defPPr algn="l">
              <a:defRPr sz="1800" b="0">
                <a:solidFill>
                  <a:srgbClr val="6B6B73"/>
                </a:solidFill>
              </a:defRPr>
            </a:defPPr>
            <a:lvl1pPr algn="l">
              <a:defRPr sz="1800" b="0">
                <a:solidFill>
                  <a:srgbClr val="6B6B73"/>
                </a:solidFill>
              </a:defRPr>
            </a:lvl1pPr>
            <a:lvl2pPr algn="l">
              <a:defRPr sz="1800" b="0">
                <a:solidFill>
                  <a:srgbClr val="6B6B73"/>
                </a:solidFill>
              </a:defRPr>
            </a:lvl2pPr>
            <a:lvl3pPr algn="l">
              <a:defRPr sz="1800" b="0">
                <a:solidFill>
                  <a:srgbClr val="6B6B73"/>
                </a:solidFill>
              </a:defRPr>
            </a:lvl3pPr>
            <a:lvl4pPr algn="l">
              <a:defRPr sz="1800" b="0">
                <a:solidFill>
                  <a:srgbClr val="6B6B73"/>
                </a:solidFill>
              </a:defRPr>
            </a:lvl4pPr>
            <a:lvl5pPr algn="l">
              <a:defRPr sz="1800" b="0">
                <a:solidFill>
                  <a:srgbClr val="6B6B73"/>
                </a:solidFill>
              </a:defRPr>
            </a:lvl5pPr>
            <a:lvl6pPr algn="l">
              <a:defRPr sz="1800" b="0">
                <a:solidFill>
                  <a:srgbClr val="6B6B73"/>
                </a:solidFill>
              </a:defRPr>
            </a:lvl6pPr>
            <a:lvl7pPr algn="l">
              <a:defRPr sz="1800" b="0">
                <a:solidFill>
                  <a:srgbClr val="6B6B73"/>
                </a:solidFill>
              </a:defRPr>
            </a:lvl7pPr>
            <a:lvl8pPr algn="l">
              <a:defRPr sz="1800" b="0">
                <a:solidFill>
                  <a:srgbClr val="6B6B73"/>
                </a:solidFill>
              </a:defRPr>
            </a:lvl8pPr>
            <a:lvl9pPr algn="l">
              <a:defRPr sz="1800" b="0">
                <a:solidFill>
                  <a:srgbClr val="6B6B73"/>
                </a:solidFill>
              </a:defRPr>
            </a:lvl9pPr>
          </a:lstStyle>
          <a:p>
            <a:pPr algn="l">
              <a:defRPr sz="1800" b="0">
                <a:solidFill>
                  <a:srgbClr val="6B6B73"/>
                </a:solidFill>
              </a:defRPr>
            </a:pPr>
            <a:r>
              <a:rPr sz="1800" b="0">
                <a:solidFill>
                  <a:srgbClr val="6B6B73"/>
                </a:solidFill>
                <a:latin typeface="Arial"/>
                <a:ea typeface="Arial"/>
                <a:cs typeface="Arial"/>
              </a:rPr>
              <a:t>Caught, Partial</a:t>
            </a:r>
            <a:br>
              <a:rPr sz="1800" b="0">
                <a:solidFill>
                  <a:srgbClr val="6B6B73"/>
                </a:solidFill>
                <a:latin typeface="Arial"/>
                <a:ea typeface="Arial"/>
                <a:cs typeface="Arial"/>
              </a:rPr>
            </a:br>
            <a:r>
              <a:rPr sz="1800" b="0">
                <a:solidFill>
                  <a:srgbClr val="6B6B73"/>
                </a:solidFill>
                <a:latin typeface="Arial"/>
                <a:ea typeface="Arial"/>
                <a:cs typeface="Arial"/>
              </a:rPr>
              <a:t>or Missed</a:t>
            </a:r>
          </a:p>
        </p:txBody>
      </p:sp>
      <p:sp>
        <p:nvSpPr>
          <p:cNvPr id="1025" name="Change label">
            <a:extLst>
              <a:ext uri="{FF2B5EF4-FFF2-40B4-BE49-F238E27FC236}">
                <a16:creationId xmlns:a16="http://schemas.microsoft.com/office/drawing/2014/main" id="{34F7E7A4-3974-43CA-8A9B-D7CE4F7B1D52}"/>
              </a:ext>
            </a:extLst>
          </p:cNvPr>
          <p:cNvSpPr>
            <a:spLocks noGrp="1"/>
          </p:cNvSpPr>
          <p:nvPr/>
        </p:nvSpPr>
        <p:spPr>
          <a:xfrm>
            <a:off x="4224528" y="5303520"/>
            <a:ext cx="3749040" cy="393192"/>
          </a:xfrm>
          <a:prstGeom prst="rect">
            <a:avLst/>
          </a:prstGeom>
          <a:noFill/>
          <a:ln w="0">
            <a:noFill/>
            <a:prstDash val="solid"/>
          </a:ln>
        </p:spPr>
        <p:txBody>
          <a:bodyPr wrap="none" lIns="0" tIns="0" rIns="0" bIns="0" anchor="t">
            <a:noAutofit/>
          </a:bodyPr>
          <a:lstStyle>
            <a:defPPr algn="ctr">
              <a:defRPr sz="2400" b="1">
                <a:solidFill>
                  <a:srgbClr val="4C8835"/>
                </a:solidFill>
              </a:defRPr>
            </a:defPPr>
            <a:lvl1pPr algn="ctr">
              <a:defRPr sz="2400" b="1">
                <a:solidFill>
                  <a:srgbClr val="4C8835"/>
                </a:solidFill>
              </a:defRPr>
            </a:lvl1pPr>
            <a:lvl2pPr algn="ctr">
              <a:defRPr sz="2400" b="1">
                <a:solidFill>
                  <a:srgbClr val="4C8835"/>
                </a:solidFill>
              </a:defRPr>
            </a:lvl2pPr>
            <a:lvl3pPr algn="ctr">
              <a:defRPr sz="2400" b="1">
                <a:solidFill>
                  <a:srgbClr val="4C8835"/>
                </a:solidFill>
              </a:defRPr>
            </a:lvl3pPr>
            <a:lvl4pPr algn="ctr">
              <a:defRPr sz="2400" b="1">
                <a:solidFill>
                  <a:srgbClr val="4C8835"/>
                </a:solidFill>
              </a:defRPr>
            </a:lvl4pPr>
            <a:lvl5pPr algn="ctr">
              <a:defRPr sz="2400" b="1">
                <a:solidFill>
                  <a:srgbClr val="4C8835"/>
                </a:solidFill>
              </a:defRPr>
            </a:lvl5pPr>
            <a:lvl6pPr algn="ctr">
              <a:defRPr sz="2400" b="1">
                <a:solidFill>
                  <a:srgbClr val="4C8835"/>
                </a:solidFill>
              </a:defRPr>
            </a:lvl6pPr>
            <a:lvl7pPr algn="ctr">
              <a:defRPr sz="2400" b="1">
                <a:solidFill>
                  <a:srgbClr val="4C8835"/>
                </a:solidFill>
              </a:defRPr>
            </a:lvl7pPr>
            <a:lvl8pPr algn="ctr">
              <a:defRPr sz="2400" b="1">
                <a:solidFill>
                  <a:srgbClr val="4C8835"/>
                </a:solidFill>
              </a:defRPr>
            </a:lvl8pPr>
            <a:lvl9pPr algn="ctr">
              <a:defRPr sz="2400" b="1">
                <a:solidFill>
                  <a:srgbClr val="4C8835"/>
                </a:solidFill>
              </a:defRPr>
            </a:lvl9pPr>
          </a:lstStyle>
          <a:p>
            <a:pPr algn="ctr">
              <a:defRPr sz="2400" b="1">
                <a:solidFill>
                  <a:srgbClr val="4C8835"/>
                </a:solidFill>
              </a:defRPr>
            </a:pPr>
            <a:r>
              <a:rPr sz="2400" b="1">
                <a:solidFill>
                  <a:srgbClr val="4C8835"/>
                </a:solidFill>
                <a:latin typeface="Arial"/>
                <a:ea typeface="Arial"/>
                <a:cs typeface="Arial"/>
              </a:rPr>
              <a:t>Choose a change</a:t>
            </a:r>
          </a:p>
        </p:txBody>
      </p:sp>
      <p:sp>
        <p:nvSpPr>
          <p:cNvPr id="1026" name="Change detail">
            <a:extLst>
              <a:ext uri="{FF2B5EF4-FFF2-40B4-BE49-F238E27FC236}">
                <a16:creationId xmlns:a16="http://schemas.microsoft.com/office/drawing/2014/main" id="{1CCC9C12-80B3-488C-882D-9963FCF775DF}"/>
              </a:ext>
            </a:extLst>
          </p:cNvPr>
          <p:cNvSpPr>
            <a:spLocks noGrp="1"/>
          </p:cNvSpPr>
          <p:nvPr/>
        </p:nvSpPr>
        <p:spPr>
          <a:xfrm>
            <a:off x="4224528" y="5715000"/>
            <a:ext cx="3749040" cy="274320"/>
          </a:xfrm>
          <a:prstGeom prst="rect">
            <a:avLst/>
          </a:prstGeom>
          <a:noFill/>
          <a:ln w="0">
            <a:noFill/>
            <a:prstDash val="solid"/>
          </a:ln>
        </p:spPr>
        <p:txBody>
          <a:bodyPr wrap="none" lIns="0" tIns="0" rIns="0" bIns="0" anchor="t">
            <a:noAutofit/>
          </a:bodyPr>
          <a:lstStyle>
            <a:defPPr algn="ctr">
              <a:defRPr sz="1600" b="0">
                <a:solidFill>
                  <a:srgbClr val="6B6B73"/>
                </a:solidFill>
              </a:defRPr>
            </a:defPPr>
            <a:lvl1pPr algn="ctr">
              <a:defRPr sz="1600" b="0">
                <a:solidFill>
                  <a:srgbClr val="6B6B73"/>
                </a:solidFill>
              </a:defRPr>
            </a:lvl1pPr>
            <a:lvl2pPr algn="ctr">
              <a:defRPr sz="1600" b="0">
                <a:solidFill>
                  <a:srgbClr val="6B6B73"/>
                </a:solidFill>
              </a:defRPr>
            </a:lvl2pPr>
            <a:lvl3pPr algn="ctr">
              <a:defRPr sz="1600" b="0">
                <a:solidFill>
                  <a:srgbClr val="6B6B73"/>
                </a:solidFill>
              </a:defRPr>
            </a:lvl3pPr>
            <a:lvl4pPr algn="ctr">
              <a:defRPr sz="1600" b="0">
                <a:solidFill>
                  <a:srgbClr val="6B6B73"/>
                </a:solidFill>
              </a:defRPr>
            </a:lvl4pPr>
            <a:lvl5pPr algn="ctr">
              <a:defRPr sz="1600" b="0">
                <a:solidFill>
                  <a:srgbClr val="6B6B73"/>
                </a:solidFill>
              </a:defRPr>
            </a:lvl5pPr>
            <a:lvl6pPr algn="ctr">
              <a:defRPr sz="1600" b="0">
                <a:solidFill>
                  <a:srgbClr val="6B6B73"/>
                </a:solidFill>
              </a:defRPr>
            </a:lvl6pPr>
            <a:lvl7pPr algn="ctr">
              <a:defRPr sz="1600" b="0">
                <a:solidFill>
                  <a:srgbClr val="6B6B73"/>
                </a:solidFill>
              </a:defRPr>
            </a:lvl7pPr>
            <a:lvl8pPr algn="ctr">
              <a:defRPr sz="1600" b="0">
                <a:solidFill>
                  <a:srgbClr val="6B6B73"/>
                </a:solidFill>
              </a:defRPr>
            </a:lvl8pPr>
            <a:lvl9pPr algn="ctr">
              <a:defRPr sz="1600" b="0">
                <a:solidFill>
                  <a:srgbClr val="6B6B73"/>
                </a:solidFill>
              </a:defRPr>
            </a:lvl9pPr>
          </a:lstStyle>
          <a:p>
            <a:pPr algn="ctr">
              <a:defRPr sz="1600" b="0">
                <a:solidFill>
                  <a:srgbClr val="6B6B73"/>
                </a:solidFill>
              </a:defRPr>
            </a:pPr>
            <a:r>
              <a:rPr sz="1600" b="0">
                <a:solidFill>
                  <a:srgbClr val="6B6B73"/>
                </a:solidFill>
                <a:latin typeface="Arial"/>
                <a:ea typeface="Arial"/>
                <a:cs typeface="Arial"/>
              </a:rPr>
              <a:t>Model, context or prompt</a:t>
            </a:r>
          </a:p>
        </p:txBody>
      </p:sp>
      <p:sp>
        <p:nvSpPr>
          <p:cNvPr id="1027" name="Compare label">
            <a:extLst>
              <a:ext uri="{FF2B5EF4-FFF2-40B4-BE49-F238E27FC236}">
                <a16:creationId xmlns:a16="http://schemas.microsoft.com/office/drawing/2014/main" id="{4E4BF5D6-B993-413A-8983-A9F930DF7C51}"/>
              </a:ext>
            </a:extLst>
          </p:cNvPr>
          <p:cNvSpPr>
            <a:spLocks noGrp="1"/>
          </p:cNvSpPr>
          <p:nvPr/>
        </p:nvSpPr>
        <p:spPr>
          <a:xfrm>
            <a:off x="812902" y="3072384"/>
            <a:ext cx="2788920" cy="420624"/>
          </a:xfrm>
          <a:prstGeom prst="rect">
            <a:avLst/>
          </a:prstGeom>
          <a:noFill/>
          <a:ln w="0">
            <a:noFill/>
            <a:prstDash val="solid"/>
          </a:ln>
        </p:spPr>
        <p:txBody>
          <a:bodyPr wrap="none" lIns="0" tIns="0" rIns="0" bIns="0" anchor="t">
            <a:noAutofit/>
          </a:bodyPr>
          <a:lstStyle>
            <a:defPPr algn="l">
              <a:defRPr sz="2400" b="1">
                <a:solidFill>
                  <a:srgbClr val="0086B6"/>
                </a:solidFill>
              </a:defRPr>
            </a:defPPr>
            <a:lvl1pPr algn="l">
              <a:defRPr sz="2400" b="1">
                <a:solidFill>
                  <a:srgbClr val="0086B6"/>
                </a:solidFill>
              </a:defRPr>
            </a:lvl1pPr>
            <a:lvl2pPr algn="l">
              <a:defRPr sz="2400" b="1">
                <a:solidFill>
                  <a:srgbClr val="0086B6"/>
                </a:solidFill>
              </a:defRPr>
            </a:lvl2pPr>
            <a:lvl3pPr algn="l">
              <a:defRPr sz="2400" b="1">
                <a:solidFill>
                  <a:srgbClr val="0086B6"/>
                </a:solidFill>
              </a:defRPr>
            </a:lvl3pPr>
            <a:lvl4pPr algn="l">
              <a:defRPr sz="2400" b="1">
                <a:solidFill>
                  <a:srgbClr val="0086B6"/>
                </a:solidFill>
              </a:defRPr>
            </a:lvl4pPr>
            <a:lvl5pPr algn="l">
              <a:defRPr sz="2400" b="1">
                <a:solidFill>
                  <a:srgbClr val="0086B6"/>
                </a:solidFill>
              </a:defRPr>
            </a:lvl5pPr>
            <a:lvl6pPr algn="l">
              <a:defRPr sz="2400" b="1">
                <a:solidFill>
                  <a:srgbClr val="0086B6"/>
                </a:solidFill>
              </a:defRPr>
            </a:lvl6pPr>
            <a:lvl7pPr algn="l">
              <a:defRPr sz="2400" b="1">
                <a:solidFill>
                  <a:srgbClr val="0086B6"/>
                </a:solidFill>
              </a:defRPr>
            </a:lvl7pPr>
            <a:lvl8pPr algn="l">
              <a:defRPr sz="2400" b="1">
                <a:solidFill>
                  <a:srgbClr val="0086B6"/>
                </a:solidFill>
              </a:defRPr>
            </a:lvl8pPr>
            <a:lvl9pPr algn="l">
              <a:defRPr sz="2400" b="1">
                <a:solidFill>
                  <a:srgbClr val="0086B6"/>
                </a:solidFill>
              </a:defRPr>
            </a:lvl9pPr>
          </a:lstStyle>
          <a:p>
            <a:pPr algn="l">
              <a:defRPr sz="2400" b="1">
                <a:solidFill>
                  <a:srgbClr val="0086B6"/>
                </a:solidFill>
              </a:defRPr>
            </a:pPr>
            <a:r>
              <a:rPr sz="2400" b="1">
                <a:solidFill>
                  <a:srgbClr val="0086B6"/>
                </a:solidFill>
                <a:latin typeface="Arial"/>
                <a:ea typeface="Arial"/>
                <a:cs typeface="Arial"/>
              </a:rPr>
              <a:t>Compare results</a:t>
            </a:r>
          </a:p>
        </p:txBody>
      </p:sp>
      <p:sp>
        <p:nvSpPr>
          <p:cNvPr id="1028" name="Compare detail">
            <a:extLst>
              <a:ext uri="{FF2B5EF4-FFF2-40B4-BE49-F238E27FC236}">
                <a16:creationId xmlns:a16="http://schemas.microsoft.com/office/drawing/2014/main" id="{43279A03-9C93-4F95-9F2C-C69998738999}"/>
              </a:ext>
            </a:extLst>
          </p:cNvPr>
          <p:cNvSpPr>
            <a:spLocks noGrp="1"/>
          </p:cNvSpPr>
          <p:nvPr/>
        </p:nvSpPr>
        <p:spPr>
          <a:xfrm>
            <a:off x="812902" y="3639312"/>
            <a:ext cx="2788920" cy="694944"/>
          </a:xfrm>
          <a:prstGeom prst="rect">
            <a:avLst/>
          </a:prstGeom>
          <a:noFill/>
          <a:ln w="0">
            <a:noFill/>
            <a:prstDash val="solid"/>
          </a:ln>
        </p:spPr>
        <p:txBody>
          <a:bodyPr wrap="none" lIns="0" tIns="0" rIns="0" bIns="0" anchor="t">
            <a:noAutofit/>
          </a:bodyPr>
          <a:lstStyle>
            <a:defPPr algn="l">
              <a:defRPr sz="1800" b="0">
                <a:solidFill>
                  <a:srgbClr val="6B6B73"/>
                </a:solidFill>
              </a:defRPr>
            </a:defPPr>
            <a:lvl1pPr algn="l">
              <a:defRPr sz="1800" b="0">
                <a:solidFill>
                  <a:srgbClr val="6B6B73"/>
                </a:solidFill>
              </a:defRPr>
            </a:lvl1pPr>
            <a:lvl2pPr algn="l">
              <a:defRPr sz="1800" b="0">
                <a:solidFill>
                  <a:srgbClr val="6B6B73"/>
                </a:solidFill>
              </a:defRPr>
            </a:lvl2pPr>
            <a:lvl3pPr algn="l">
              <a:defRPr sz="1800" b="0">
                <a:solidFill>
                  <a:srgbClr val="6B6B73"/>
                </a:solidFill>
              </a:defRPr>
            </a:lvl3pPr>
            <a:lvl4pPr algn="l">
              <a:defRPr sz="1800" b="0">
                <a:solidFill>
                  <a:srgbClr val="6B6B73"/>
                </a:solidFill>
              </a:defRPr>
            </a:lvl4pPr>
            <a:lvl5pPr algn="l">
              <a:defRPr sz="1800" b="0">
                <a:solidFill>
                  <a:srgbClr val="6B6B73"/>
                </a:solidFill>
              </a:defRPr>
            </a:lvl5pPr>
            <a:lvl6pPr algn="l">
              <a:defRPr sz="1800" b="0">
                <a:solidFill>
                  <a:srgbClr val="6B6B73"/>
                </a:solidFill>
              </a:defRPr>
            </a:lvl6pPr>
            <a:lvl7pPr algn="l">
              <a:defRPr sz="1800" b="0">
                <a:solidFill>
                  <a:srgbClr val="6B6B73"/>
                </a:solidFill>
              </a:defRPr>
            </a:lvl7pPr>
            <a:lvl8pPr algn="l">
              <a:defRPr sz="1800" b="0">
                <a:solidFill>
                  <a:srgbClr val="6B6B73"/>
                </a:solidFill>
              </a:defRPr>
            </a:lvl8pPr>
            <a:lvl9pPr algn="l">
              <a:defRPr sz="1800" b="0">
                <a:solidFill>
                  <a:srgbClr val="6B6B73"/>
                </a:solidFill>
              </a:defRPr>
            </a:lvl9pPr>
          </a:lstStyle>
          <a:p>
            <a:pPr algn="l">
              <a:defRPr sz="1800" b="0">
                <a:solidFill>
                  <a:srgbClr val="6B6B73"/>
                </a:solidFill>
              </a:defRPr>
            </a:pPr>
            <a:r>
              <a:rPr sz="1800" b="0">
                <a:solidFill>
                  <a:srgbClr val="6B6B73"/>
                </a:solidFill>
                <a:latin typeface="Arial"/>
                <a:ea typeface="Arial"/>
                <a:cs typeface="Arial"/>
              </a:rPr>
              <a:t>Retest selected gaps</a:t>
            </a:r>
            <a:br>
              <a:rPr sz="1800" b="0">
                <a:solidFill>
                  <a:srgbClr val="6B6B73"/>
                </a:solidFill>
                <a:latin typeface="Arial"/>
                <a:ea typeface="Arial"/>
                <a:cs typeface="Arial"/>
              </a:rPr>
            </a:br>
            <a:r>
              <a:rPr sz="1800" b="0">
                <a:solidFill>
                  <a:srgbClr val="6B6B73"/>
                </a:solidFill>
                <a:latin typeface="Arial"/>
                <a:ea typeface="Arial"/>
                <a:cs typeface="Arial"/>
              </a:rPr>
              <a:t>Check false alarms</a:t>
            </a:r>
          </a:p>
        </p:txBody>
      </p:sp>
      <p:sp>
        <p:nvSpPr>
          <p:cNvPr id="1029" name="Experiment boundary">
            <a:extLst>
              <a:ext uri="{FF2B5EF4-FFF2-40B4-BE49-F238E27FC236}">
                <a16:creationId xmlns:a16="http://schemas.microsoft.com/office/drawing/2014/main" id="{AE264E75-4745-4B54-B4F6-B5D68F2A6018}"/>
              </a:ext>
            </a:extLst>
          </p:cNvPr>
          <p:cNvSpPr>
            <a:spLocks noGrp="1"/>
          </p:cNvSpPr>
          <p:nvPr/>
        </p:nvSpPr>
        <p:spPr>
          <a:xfrm>
            <a:off x="812902" y="6062472"/>
            <a:ext cx="9738360" cy="164592"/>
          </a:xfrm>
          <a:prstGeom prst="rect">
            <a:avLst/>
          </a:prstGeom>
          <a:noFill/>
          <a:ln w="0">
            <a:noFill/>
            <a:prstDash val="solid"/>
          </a:ln>
        </p:spPr>
        <p:txBody>
          <a:bodyPr wrap="none" lIns="0" tIns="0" rIns="0" bIns="0" anchor="t">
            <a:noAutofit/>
          </a:bodyPr>
          <a:lstStyle>
            <a:defPPr algn="l">
              <a:defRPr sz="1000" b="0">
                <a:solidFill>
                  <a:srgbClr val="6B6B73"/>
                </a:solidFill>
              </a:defRPr>
            </a:defPPr>
            <a:lvl1pPr algn="l">
              <a:defRPr sz="1000" b="0">
                <a:solidFill>
                  <a:srgbClr val="6B6B73"/>
                </a:solidFill>
              </a:defRPr>
            </a:lvl1pPr>
            <a:lvl2pPr algn="l">
              <a:defRPr sz="1000" b="0">
                <a:solidFill>
                  <a:srgbClr val="6B6B73"/>
                </a:solidFill>
              </a:defRPr>
            </a:lvl2pPr>
            <a:lvl3pPr algn="l">
              <a:defRPr sz="1000" b="0">
                <a:solidFill>
                  <a:srgbClr val="6B6B73"/>
                </a:solidFill>
              </a:defRPr>
            </a:lvl3pPr>
            <a:lvl4pPr algn="l">
              <a:defRPr sz="1000" b="0">
                <a:solidFill>
                  <a:srgbClr val="6B6B73"/>
                </a:solidFill>
              </a:defRPr>
            </a:lvl4pPr>
            <a:lvl5pPr algn="l">
              <a:defRPr sz="1000" b="0">
                <a:solidFill>
                  <a:srgbClr val="6B6B73"/>
                </a:solidFill>
              </a:defRPr>
            </a:lvl5pPr>
            <a:lvl6pPr algn="l">
              <a:defRPr sz="1000" b="0">
                <a:solidFill>
                  <a:srgbClr val="6B6B73"/>
                </a:solidFill>
              </a:defRPr>
            </a:lvl6pPr>
            <a:lvl7pPr algn="l">
              <a:defRPr sz="1000" b="0">
                <a:solidFill>
                  <a:srgbClr val="6B6B73"/>
                </a:solidFill>
              </a:defRPr>
            </a:lvl7pPr>
            <a:lvl8pPr algn="l">
              <a:defRPr sz="1000" b="0">
                <a:solidFill>
                  <a:srgbClr val="6B6B73"/>
                </a:solidFill>
              </a:defRPr>
            </a:lvl8pPr>
            <a:lvl9pPr algn="l">
              <a:defRPr sz="1000" b="0">
                <a:solidFill>
                  <a:srgbClr val="6B6B73"/>
                </a:solidFill>
              </a:defRPr>
            </a:lvl9pPr>
          </a:lstStyle>
          <a:p>
            <a:pPr algn="l">
              <a:defRPr sz="1000" b="0">
                <a:solidFill>
                  <a:srgbClr val="6B6B73"/>
                </a:solidFill>
              </a:defRPr>
            </a:pPr>
            <a:r>
              <a:rPr sz="1000" b="0">
                <a:solidFill>
                  <a:srgbClr val="6B6B73"/>
                </a:solidFill>
                <a:latin typeface="Arial"/>
                <a:ea typeface="Arial"/>
                <a:cs typeface="Arial"/>
              </a:rPr>
              <a:t>Follow-ups revisit selected cases. Prompt controls are separate. Added-context false alarms remain unmeasured.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2007" name="title">
            <a:extLst>
              <a:ext uri="{FF2B5EF4-FFF2-40B4-BE49-F238E27FC236}">
                <a16:creationId xmlns:a16="http://schemas.microsoft.com/office/drawing/2014/main" id="{2320AF71-E46B-4DC6-9DAA-7FD5053F6F46}"/>
              </a:ext>
            </a:extLst>
          </p:cNvPr>
          <p:cNvSpPr>
            <a:spLocks noGrp="1"/>
          </p:cNvSpPr>
          <p:nvPr/>
        </p:nvSpPr>
        <p:spPr>
          <a:xfrm>
            <a:off x="812864" y="819150"/>
            <a:ext cx="10572750" cy="514350"/>
          </a:xfrm>
          <a:prstGeom prst="rect">
            <a:avLst/>
          </a:prstGeom>
          <a:noFill/>
          <a:ln w="0">
            <a:noFill/>
          </a:ln>
        </p:spPr>
        <p:txBody>
          <a:bodyPr lIns="0" tIns="0" rIns="0" bIns="0" anchor="ctr">
            <a:noAutofit/>
          </a:bodyPr>
          <a:lstStyle>
            <a:defPPr>
              <a:defRPr sz="3000" b="1">
                <a:solidFill>
                  <a:srgbClr val="4F8734"/>
                </a:solidFill>
              </a:defRPr>
            </a:defPPr>
            <a:lvl1pPr>
              <a:defRPr sz="3000" b="1">
                <a:solidFill>
                  <a:srgbClr val="4F8734"/>
                </a:solidFill>
              </a:defRPr>
            </a:lvl1pPr>
            <a:lvl2pPr>
              <a:defRPr sz="3000" b="1">
                <a:solidFill>
                  <a:srgbClr val="4F8734"/>
                </a:solidFill>
              </a:defRPr>
            </a:lvl2pPr>
            <a:lvl3pPr>
              <a:defRPr sz="3000" b="1">
                <a:solidFill>
                  <a:srgbClr val="4F8734"/>
                </a:solidFill>
              </a:defRPr>
            </a:lvl3pPr>
            <a:lvl4pPr>
              <a:defRPr sz="3000" b="1">
                <a:solidFill>
                  <a:srgbClr val="4F8734"/>
                </a:solidFill>
              </a:defRPr>
            </a:lvl4pPr>
            <a:lvl5pPr>
              <a:defRPr sz="3000" b="1">
                <a:solidFill>
                  <a:srgbClr val="4F8734"/>
                </a:solidFill>
              </a:defRPr>
            </a:lvl5pPr>
            <a:lvl6pPr>
              <a:defRPr sz="3000" b="1">
                <a:solidFill>
                  <a:srgbClr val="4F8734"/>
                </a:solidFill>
              </a:defRPr>
            </a:lvl6pPr>
            <a:lvl7pPr>
              <a:defRPr sz="3000" b="1">
                <a:solidFill>
                  <a:srgbClr val="4F8734"/>
                </a:solidFill>
              </a:defRPr>
            </a:lvl7pPr>
            <a:lvl8pPr>
              <a:defRPr sz="3000" b="1">
                <a:solidFill>
                  <a:srgbClr val="4F8734"/>
                </a:solidFill>
              </a:defRPr>
            </a:lvl8pPr>
            <a:lvl9pPr>
              <a:defRPr sz="3000" b="1">
                <a:solidFill>
                  <a:srgbClr val="4F8734"/>
                </a:solidFill>
              </a:defRPr>
            </a:lvl9pPr>
          </a:lstStyle>
          <a:p>
            <a:pPr>
              <a:defRPr sz="3000" b="1">
                <a:solidFill>
                  <a:srgbClr val="4F8734"/>
                </a:solidFill>
              </a:defRPr>
            </a:pPr>
            <a:r>
              <a:rPr sz="3000" b="1">
                <a:solidFill>
                  <a:srgbClr val="4F8734"/>
                </a:solidFill>
              </a:rPr>
              <a:t>Scanner baseline: Snyk finds 6 of 24</a:t>
            </a:r>
          </a:p>
        </p:txBody>
      </p:sp>
      <p:sp>
        <p:nvSpPr>
          <p:cNvPr id="2002" name="subtitle">
            <a:extLst>
              <a:ext uri="{FF2B5EF4-FFF2-40B4-BE49-F238E27FC236}">
                <a16:creationId xmlns:a16="http://schemas.microsoft.com/office/drawing/2014/main" id="{573616B5-FA05-487A-B5C7-55519D7DE4AE}"/>
              </a:ext>
            </a:extLst>
          </p:cNvPr>
          <p:cNvSpPr>
            <a:spLocks noGrp="1"/>
          </p:cNvSpPr>
          <p:nvPr/>
        </p:nvSpPr>
        <p:spPr>
          <a:xfrm>
            <a:off x="812864" y="1390650"/>
            <a:ext cx="10572750" cy="409575"/>
          </a:xfrm>
          <a:prstGeom prst="rect">
            <a:avLst/>
          </a:prstGeom>
          <a:noFill/>
          <a:ln w="0">
            <a:noFill/>
          </a:ln>
        </p:spPr>
        <p:txBody>
          <a:bodyPr lIns="0" tIns="0" rIns="0" bIns="0" anchor="ctr">
            <a:noAutofit/>
          </a:bodyPr>
          <a:lstStyle>
            <a:defPPr>
              <a:defRPr sz="1725" b="0">
                <a:solidFill>
                  <a:srgbClr val="303238"/>
                </a:solidFill>
              </a:defRPr>
            </a:defPPr>
            <a:lvl1pPr>
              <a:defRPr sz="1725" b="0">
                <a:solidFill>
                  <a:srgbClr val="303238"/>
                </a:solidFill>
              </a:defRPr>
            </a:lvl1pPr>
            <a:lvl2pPr>
              <a:defRPr sz="1725" b="0">
                <a:solidFill>
                  <a:srgbClr val="303238"/>
                </a:solidFill>
              </a:defRPr>
            </a:lvl2pPr>
            <a:lvl3pPr>
              <a:defRPr sz="1725" b="0">
                <a:solidFill>
                  <a:srgbClr val="303238"/>
                </a:solidFill>
              </a:defRPr>
            </a:lvl3pPr>
            <a:lvl4pPr>
              <a:defRPr sz="1725" b="0">
                <a:solidFill>
                  <a:srgbClr val="303238"/>
                </a:solidFill>
              </a:defRPr>
            </a:lvl4pPr>
            <a:lvl5pPr>
              <a:defRPr sz="1725" b="0">
                <a:solidFill>
                  <a:srgbClr val="303238"/>
                </a:solidFill>
              </a:defRPr>
            </a:lvl5pPr>
            <a:lvl6pPr>
              <a:defRPr sz="1725" b="0">
                <a:solidFill>
                  <a:srgbClr val="303238"/>
                </a:solidFill>
              </a:defRPr>
            </a:lvl6pPr>
            <a:lvl7pPr>
              <a:defRPr sz="1725" b="0">
                <a:solidFill>
                  <a:srgbClr val="303238"/>
                </a:solidFill>
              </a:defRPr>
            </a:lvl7pPr>
            <a:lvl8pPr>
              <a:defRPr sz="1725" b="0">
                <a:solidFill>
                  <a:srgbClr val="303238"/>
                </a:solidFill>
              </a:defRPr>
            </a:lvl8pPr>
            <a:lvl9pPr>
              <a:defRPr sz="1725" b="0">
                <a:solidFill>
                  <a:srgbClr val="303238"/>
                </a:solidFill>
              </a:defRPr>
            </a:lvl9pPr>
          </a:lstStyle>
          <a:p>
            <a:pPr>
              <a:defRPr sz="1725" b="0">
                <a:solidFill>
                  <a:srgbClr val="303238"/>
                </a:solidFill>
              </a:defRPr>
            </a:pPr>
            <a:r>
              <a:rPr sz="1725" b="0" dirty="0">
                <a:solidFill>
                  <a:srgbClr val="303238"/>
                </a:solidFill>
              </a:rPr>
              <a:t>Same 24 CVE-linked cases, scanned at their historical revisions.</a:t>
            </a:r>
          </a:p>
        </p:txBody>
      </p:sp>
      <p:sp>
        <p:nvSpPr>
          <p:cNvPr id="2003" name="status">
            <a:extLst>
              <a:ext uri="{FF2B5EF4-FFF2-40B4-BE49-F238E27FC236}">
                <a16:creationId xmlns:a16="http://schemas.microsoft.com/office/drawing/2014/main" id="{7373F062-6A54-4DD6-89D1-79540B1AC973}"/>
              </a:ext>
            </a:extLst>
          </p:cNvPr>
          <p:cNvSpPr>
            <a:spLocks noGrp="1"/>
          </p:cNvSpPr>
          <p:nvPr/>
        </p:nvSpPr>
        <p:spPr>
          <a:xfrm>
            <a:off x="812864" y="1809750"/>
            <a:ext cx="10001250" cy="247650"/>
          </a:xfrm>
          <a:prstGeom prst="rect">
            <a:avLst/>
          </a:prstGeom>
          <a:noFill/>
          <a:ln w="0">
            <a:noFill/>
          </a:ln>
        </p:spPr>
        <p:txBody>
          <a:bodyPr lIns="0" tIns="0" rIns="0" bIns="0" anchor="ctr">
            <a:noAutofit/>
          </a:bodyPr>
          <a:lstStyle>
            <a:defPPr>
              <a:defRPr sz="1425" b="1">
                <a:solidFill>
                  <a:srgbClr val="666666"/>
                </a:solidFill>
              </a:defRPr>
            </a:defPPr>
            <a:lvl1pPr>
              <a:defRPr sz="1425" b="1">
                <a:solidFill>
                  <a:srgbClr val="666666"/>
                </a:solidFill>
              </a:defRPr>
            </a:lvl1pPr>
            <a:lvl2pPr>
              <a:defRPr sz="1425" b="1">
                <a:solidFill>
                  <a:srgbClr val="666666"/>
                </a:solidFill>
              </a:defRPr>
            </a:lvl2pPr>
            <a:lvl3pPr>
              <a:defRPr sz="1425" b="1">
                <a:solidFill>
                  <a:srgbClr val="666666"/>
                </a:solidFill>
              </a:defRPr>
            </a:lvl3pPr>
            <a:lvl4pPr>
              <a:defRPr sz="1425" b="1">
                <a:solidFill>
                  <a:srgbClr val="666666"/>
                </a:solidFill>
              </a:defRPr>
            </a:lvl4pPr>
            <a:lvl5pPr>
              <a:defRPr sz="1425" b="1">
                <a:solidFill>
                  <a:srgbClr val="666666"/>
                </a:solidFill>
              </a:defRPr>
            </a:lvl5pPr>
            <a:lvl6pPr>
              <a:defRPr sz="1425" b="1">
                <a:solidFill>
                  <a:srgbClr val="666666"/>
                </a:solidFill>
              </a:defRPr>
            </a:lvl6pPr>
            <a:lvl7pPr>
              <a:defRPr sz="1425" b="1">
                <a:solidFill>
                  <a:srgbClr val="666666"/>
                </a:solidFill>
              </a:defRPr>
            </a:lvl7pPr>
            <a:lvl8pPr>
              <a:defRPr sz="1425" b="1">
                <a:solidFill>
                  <a:srgbClr val="666666"/>
                </a:solidFill>
              </a:defRPr>
            </a:lvl8pPr>
            <a:lvl9pPr>
              <a:defRPr sz="1425" b="1">
                <a:solidFill>
                  <a:srgbClr val="666666"/>
                </a:solidFill>
              </a:defRPr>
            </a:lvl9pPr>
          </a:lstStyle>
          <a:p>
            <a:pPr>
              <a:defRPr sz="1425" b="1">
                <a:solidFill>
                  <a:srgbClr val="666666"/>
                </a:solidFill>
              </a:defRPr>
            </a:pPr>
            <a:r>
              <a:rPr sz="1425" b="1" dirty="0">
                <a:solidFill>
                  <a:srgbClr val="666666"/>
                </a:solidFill>
              </a:rPr>
              <a:t>One borderline result excluded. </a:t>
            </a:r>
          </a:p>
        </p:txBody>
      </p:sp>
      <p:graphicFrame>
        <p:nvGraphicFramePr>
          <p:cNvPr id="2004" name="Table 2003">
            <a:extLst>
              <a:ext uri="{FF2B5EF4-FFF2-40B4-BE49-F238E27FC236}">
                <a16:creationId xmlns:a16="http://schemas.microsoft.com/office/drawing/2014/main" id="{840EE358-D9D9-4963-8BCB-F552B65AE4A3}"/>
              </a:ext>
            </a:extLst>
          </p:cNvPr>
          <p:cNvGraphicFramePr/>
          <p:nvPr>
            <p:extLst>
              <p:ext uri="{D42A27DB-BD31-4B8C-83A1-F6EECF244321}">
                <p14:modId xmlns:p14="http://schemas.microsoft.com/office/powerpoint/2010/main" val="2662235087"/>
              </p:ext>
            </p:extLst>
          </p:nvPr>
        </p:nvGraphicFramePr>
        <p:xfrm>
          <a:off x="812864" y="2143125"/>
          <a:ext cx="10001250" cy="3230880"/>
        </p:xfrm>
        <a:graphic>
          <a:graphicData uri="http://schemas.openxmlformats.org/drawingml/2006/table">
            <a:tbl>
              <a:tblPr/>
              <a:tblGrid>
                <a:gridCol w="5905500">
                  <a:extLst>
                    <a:ext uri="{9D8B030D-6E8A-4147-A177-3AD203B41FA5}">
                      <a16:colId xmlns:a16="http://schemas.microsoft.com/office/drawing/2014/main" val="20000"/>
                    </a:ext>
                  </a:extLst>
                </a:gridCol>
                <a:gridCol w="123825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tblGrid>
              <a:tr h="542925">
                <a:tc>
                  <a:txBody>
                    <a:bodyPr/>
                    <a:lstStyle/>
                    <a:p>
                      <a:pPr algn="l"/>
                      <a:r>
                        <a:rPr sz="1500" b="1">
                          <a:solidFill>
                            <a:srgbClr val="FFFFFF"/>
                          </a:solidFill>
                        </a:rPr>
                        <a:t>OWASP Top 10 (2021) category</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0086AC"/>
                    </a:solidFill>
                  </a:tcPr>
                </a:tc>
                <a:tc>
                  <a:txBody>
                    <a:bodyPr/>
                    <a:lstStyle/>
                    <a:p>
                      <a:pPr algn="ctr"/>
                      <a:r>
                        <a:rPr sz="1500" b="1">
                          <a:solidFill>
                            <a:srgbClr val="FFFFFF"/>
                          </a:solidFill>
                        </a:rPr>
                        <a:t>Cases</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0086AC"/>
                    </a:solidFill>
                  </a:tcPr>
                </a:tc>
                <a:tc>
                  <a:txBody>
                    <a:bodyPr/>
                    <a:lstStyle/>
                    <a:p>
                      <a:pPr algn="ctr"/>
                      <a:r>
                        <a:rPr sz="1500" b="1">
                          <a:solidFill>
                            <a:srgbClr val="FFFFFF"/>
                          </a:solidFill>
                        </a:rPr>
                        <a:t>Snyk Code</a:t>
                      </a:r>
                    </a:p>
                    <a:p>
                      <a:pPr algn="ctr"/>
                      <a:r>
                        <a:rPr sz="1500" b="1">
                          <a:solidFill>
                            <a:srgbClr val="FFFFFF"/>
                          </a:solidFill>
                        </a:rPr>
                        <a:t>Clear matches</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4F8734"/>
                    </a:solidFill>
                  </a:tcPr>
                </a:tc>
                <a:extLst>
                  <a:ext uri="{0D108BD9-81ED-4DB2-BD59-A6C34878D82A}">
                    <a16:rowId xmlns:a16="http://schemas.microsoft.com/office/drawing/2014/main" val="10000"/>
                  </a:ext>
                </a:extLst>
              </a:tr>
              <a:tr h="426720">
                <a:tc>
                  <a:txBody>
                    <a:bodyPr/>
                    <a:lstStyle/>
                    <a:p>
                      <a:pPr algn="l"/>
                      <a:r>
                        <a:rPr sz="1500" b="0">
                          <a:solidFill>
                            <a:srgbClr val="303238"/>
                          </a:solidFill>
                        </a:rPr>
                        <a:t>A01  Broken Access Control</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FFFFFF"/>
                    </a:solidFill>
                  </a:tcPr>
                </a:tc>
                <a:tc>
                  <a:txBody>
                    <a:bodyPr/>
                    <a:lstStyle/>
                    <a:p>
                      <a:pPr algn="ctr"/>
                      <a:r>
                        <a:rPr sz="1650" b="0">
                          <a:solidFill>
                            <a:srgbClr val="303238"/>
                          </a:solidFill>
                        </a:rPr>
                        <a:t>8</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FFFFFF"/>
                    </a:solidFill>
                  </a:tcPr>
                </a:tc>
                <a:tc>
                  <a:txBody>
                    <a:bodyPr/>
                    <a:lstStyle/>
                    <a:p>
                      <a:pPr algn="ctr"/>
                      <a:r>
                        <a:rPr lang="en-US" sz="1650" b="0" dirty="0">
                          <a:solidFill>
                            <a:srgbClr val="303238"/>
                          </a:solidFill>
                        </a:rPr>
                        <a:t>3 of 8</a:t>
                      </a:r>
                      <a:endParaRPr sz="1650" b="0" dirty="0">
                        <a:solidFill>
                          <a:srgbClr val="586250"/>
                        </a:solidFill>
                      </a:endParaRP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F1F6ED"/>
                    </a:solidFill>
                  </a:tcPr>
                </a:tc>
                <a:extLst>
                  <a:ext uri="{0D108BD9-81ED-4DB2-BD59-A6C34878D82A}">
                    <a16:rowId xmlns:a16="http://schemas.microsoft.com/office/drawing/2014/main" val="10001"/>
                  </a:ext>
                </a:extLst>
              </a:tr>
              <a:tr h="426720">
                <a:tc>
                  <a:txBody>
                    <a:bodyPr/>
                    <a:lstStyle/>
                    <a:p>
                      <a:pPr algn="l"/>
                      <a:r>
                        <a:rPr sz="1500" b="0">
                          <a:solidFill>
                            <a:srgbClr val="303238"/>
                          </a:solidFill>
                        </a:rPr>
                        <a:t>A03  Injection</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F4F6F2"/>
                    </a:solidFill>
                  </a:tcPr>
                </a:tc>
                <a:tc>
                  <a:txBody>
                    <a:bodyPr/>
                    <a:lstStyle/>
                    <a:p>
                      <a:pPr algn="ctr"/>
                      <a:r>
                        <a:rPr sz="1650" b="0">
                          <a:solidFill>
                            <a:srgbClr val="303238"/>
                          </a:solidFill>
                        </a:rPr>
                        <a:t>11</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F4F6F2"/>
                    </a:solidFill>
                  </a:tcPr>
                </a:tc>
                <a:tc>
                  <a:txBody>
                    <a:bodyPr/>
                    <a:lstStyle/>
                    <a:p>
                      <a:pPr algn="ctr"/>
                      <a:r>
                        <a:rPr lang="en-US" sz="1650" b="0" dirty="0">
                          <a:solidFill>
                            <a:srgbClr val="303238"/>
                          </a:solidFill>
                        </a:rPr>
                        <a:t>3 of 11</a:t>
                      </a:r>
                      <a:endParaRPr sz="1650" b="0" dirty="0">
                        <a:solidFill>
                          <a:srgbClr val="586250"/>
                        </a:solidFill>
                      </a:endParaRP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F1F6ED"/>
                    </a:solidFill>
                  </a:tcPr>
                </a:tc>
                <a:extLst>
                  <a:ext uri="{0D108BD9-81ED-4DB2-BD59-A6C34878D82A}">
                    <a16:rowId xmlns:a16="http://schemas.microsoft.com/office/drawing/2014/main" val="10002"/>
                  </a:ext>
                </a:extLst>
              </a:tr>
              <a:tr h="426720">
                <a:tc>
                  <a:txBody>
                    <a:bodyPr/>
                    <a:lstStyle/>
                    <a:p>
                      <a:pPr algn="l"/>
                      <a:r>
                        <a:rPr sz="1500" b="0">
                          <a:solidFill>
                            <a:srgbClr val="303238"/>
                          </a:solidFill>
                        </a:rPr>
                        <a:t>A05  Security Misconfiguration</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FFFFFF"/>
                    </a:solidFill>
                  </a:tcPr>
                </a:tc>
                <a:tc>
                  <a:txBody>
                    <a:bodyPr/>
                    <a:lstStyle/>
                    <a:p>
                      <a:pPr algn="ctr"/>
                      <a:r>
                        <a:rPr sz="1650" b="0">
                          <a:solidFill>
                            <a:srgbClr val="303238"/>
                          </a:solidFill>
                        </a:rPr>
                        <a:t>1</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FFFFFF"/>
                    </a:solidFill>
                  </a:tcPr>
                </a:tc>
                <a:tc>
                  <a:txBody>
                    <a:bodyPr/>
                    <a:lstStyle/>
                    <a:p>
                      <a:pPr algn="ctr"/>
                      <a:r>
                        <a:rPr lang="en-US" sz="1650" b="0" dirty="0">
                          <a:solidFill>
                            <a:srgbClr val="303238"/>
                          </a:solidFill>
                        </a:rPr>
                        <a:t>0 of 1</a:t>
                      </a:r>
                      <a:endParaRPr sz="1650" b="0" dirty="0">
                        <a:solidFill>
                          <a:srgbClr val="586250"/>
                        </a:solidFill>
                      </a:endParaRP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F1F6ED"/>
                    </a:solidFill>
                  </a:tcPr>
                </a:tc>
                <a:extLst>
                  <a:ext uri="{0D108BD9-81ED-4DB2-BD59-A6C34878D82A}">
                    <a16:rowId xmlns:a16="http://schemas.microsoft.com/office/drawing/2014/main" val="10003"/>
                  </a:ext>
                </a:extLst>
              </a:tr>
              <a:tr h="542925">
                <a:tc>
                  <a:txBody>
                    <a:bodyPr/>
                    <a:lstStyle/>
                    <a:p>
                      <a:pPr algn="l"/>
                      <a:r>
                        <a:rPr sz="1500" b="0">
                          <a:solidFill>
                            <a:srgbClr val="303238"/>
                          </a:solidFill>
                        </a:rPr>
                        <a:t>A07  Identification &amp;</a:t>
                      </a:r>
                    </a:p>
                    <a:p>
                      <a:pPr algn="l"/>
                      <a:r>
                        <a:rPr sz="1500" b="0">
                          <a:solidFill>
                            <a:srgbClr val="303238"/>
                          </a:solidFill>
                        </a:rPr>
                        <a:t>Authentication Failures</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F4F6F2"/>
                    </a:solidFill>
                  </a:tcPr>
                </a:tc>
                <a:tc>
                  <a:txBody>
                    <a:bodyPr/>
                    <a:lstStyle/>
                    <a:p>
                      <a:pPr algn="ctr"/>
                      <a:r>
                        <a:rPr sz="1650" b="0">
                          <a:solidFill>
                            <a:srgbClr val="303238"/>
                          </a:solidFill>
                        </a:rPr>
                        <a:t>3</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F4F6F2"/>
                    </a:solidFill>
                  </a:tcPr>
                </a:tc>
                <a:tc>
                  <a:txBody>
                    <a:bodyPr/>
                    <a:lstStyle/>
                    <a:p>
                      <a:pPr algn="ctr"/>
                      <a:r>
                        <a:rPr lang="en-US" sz="1650" b="0" dirty="0">
                          <a:solidFill>
                            <a:srgbClr val="303238"/>
                          </a:solidFill>
                        </a:rPr>
                        <a:t>0 of 3</a:t>
                      </a:r>
                      <a:endParaRPr sz="1650" b="0" dirty="0">
                        <a:solidFill>
                          <a:srgbClr val="586250"/>
                        </a:solidFill>
                      </a:endParaRP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F1F6ED"/>
                    </a:solidFill>
                  </a:tcPr>
                </a:tc>
                <a:extLst>
                  <a:ext uri="{0D108BD9-81ED-4DB2-BD59-A6C34878D82A}">
                    <a16:rowId xmlns:a16="http://schemas.microsoft.com/office/drawing/2014/main" val="10004"/>
                  </a:ext>
                </a:extLst>
              </a:tr>
              <a:tr h="426720">
                <a:tc>
                  <a:txBody>
                    <a:bodyPr/>
                    <a:lstStyle/>
                    <a:p>
                      <a:pPr algn="l"/>
                      <a:r>
                        <a:rPr sz="1500" b="0">
                          <a:solidFill>
                            <a:srgbClr val="303238"/>
                          </a:solidFill>
                        </a:rPr>
                        <a:t>A10  SSRF</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FFFFFF"/>
                    </a:solidFill>
                  </a:tcPr>
                </a:tc>
                <a:tc>
                  <a:txBody>
                    <a:bodyPr/>
                    <a:lstStyle/>
                    <a:p>
                      <a:pPr algn="ctr"/>
                      <a:r>
                        <a:rPr sz="1650" b="0">
                          <a:solidFill>
                            <a:srgbClr val="303238"/>
                          </a:solidFill>
                        </a:rPr>
                        <a:t>1</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FFFFFF"/>
                    </a:solidFill>
                  </a:tcPr>
                </a:tc>
                <a:tc>
                  <a:txBody>
                    <a:bodyPr/>
                    <a:lstStyle/>
                    <a:p>
                      <a:pPr algn="ctr"/>
                      <a:r>
                        <a:rPr lang="en-US" sz="1650" b="0" dirty="0">
                          <a:solidFill>
                            <a:srgbClr val="303238"/>
                          </a:solidFill>
                        </a:rPr>
                        <a:t>0 of 1</a:t>
                      </a:r>
                      <a:endParaRPr sz="1650" b="0" dirty="0">
                        <a:solidFill>
                          <a:srgbClr val="586250"/>
                        </a:solidFill>
                      </a:endParaRP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F1F6ED"/>
                    </a:solidFill>
                  </a:tcPr>
                </a:tc>
                <a:extLst>
                  <a:ext uri="{0D108BD9-81ED-4DB2-BD59-A6C34878D82A}">
                    <a16:rowId xmlns:a16="http://schemas.microsoft.com/office/drawing/2014/main" val="10005"/>
                  </a:ext>
                </a:extLst>
              </a:tr>
              <a:tr h="426720">
                <a:tc>
                  <a:txBody>
                    <a:bodyPr/>
                    <a:lstStyle/>
                    <a:p>
                      <a:pPr algn="l"/>
                      <a:r>
                        <a:rPr sz="1500" b="1" dirty="0">
                          <a:solidFill>
                            <a:srgbClr val="303238"/>
                          </a:solidFill>
                        </a:rPr>
                        <a:t>Total caught</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E9F1E3"/>
                    </a:solidFill>
                  </a:tcPr>
                </a:tc>
                <a:tc>
                  <a:txBody>
                    <a:bodyPr/>
                    <a:lstStyle/>
                    <a:p>
                      <a:pPr algn="ctr"/>
                      <a:r>
                        <a:rPr sz="1650" b="1">
                          <a:solidFill>
                            <a:srgbClr val="303238"/>
                          </a:solidFill>
                        </a:rPr>
                        <a:t>24</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E9F1E3"/>
                    </a:solidFill>
                  </a:tcPr>
                </a:tc>
                <a:tc>
                  <a:txBody>
                    <a:bodyPr/>
                    <a:lstStyle/>
                    <a:p>
                      <a:pPr algn="ctr"/>
                      <a:r>
                        <a:rPr lang="en-US" sz="1650" b="1" dirty="0">
                          <a:solidFill>
                            <a:srgbClr val="303238"/>
                          </a:solidFill>
                        </a:rPr>
                        <a:t>6 of 24</a:t>
                      </a:r>
                      <a:endParaRPr sz="1650" b="1" dirty="0">
                        <a:solidFill>
                          <a:srgbClr val="586250"/>
                        </a:solidFill>
                      </a:endParaRP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E9F1E3"/>
                    </a:solidFill>
                  </a:tcPr>
                </a:tc>
                <a:extLst>
                  <a:ext uri="{0D108BD9-81ED-4DB2-BD59-A6C34878D82A}">
                    <a16:rowId xmlns:a16="http://schemas.microsoft.com/office/drawing/2014/main" val="10006"/>
                  </a:ext>
                </a:extLst>
              </a:tr>
            </a:tbl>
          </a:graphicData>
        </a:graphic>
      </p:graphicFrame>
      <p:sp>
        <p:nvSpPr>
          <p:cNvPr id="2005" name="comparison caveat">
            <a:extLst>
              <a:ext uri="{FF2B5EF4-FFF2-40B4-BE49-F238E27FC236}">
                <a16:creationId xmlns:a16="http://schemas.microsoft.com/office/drawing/2014/main" id="{B3D8AD4B-DBC5-4EC1-B121-37CC5EDD8EB6}"/>
              </a:ext>
            </a:extLst>
          </p:cNvPr>
          <p:cNvSpPr>
            <a:spLocks noGrp="1"/>
          </p:cNvSpPr>
          <p:nvPr/>
        </p:nvSpPr>
        <p:spPr>
          <a:xfrm>
            <a:off x="812864" y="5619750"/>
            <a:ext cx="9906000" cy="304800"/>
          </a:xfrm>
          <a:prstGeom prst="rect">
            <a:avLst/>
          </a:prstGeom>
          <a:noFill/>
          <a:ln w="0">
            <a:noFill/>
          </a:ln>
        </p:spPr>
        <p:txBody>
          <a:bodyPr lIns="0" tIns="0" rIns="0" bIns="0" anchor="ctr">
            <a:noAutofit/>
          </a:bodyPr>
          <a:lstStyle>
            <a:defPPr>
              <a:defRPr sz="1725" b="1">
                <a:solidFill>
                  <a:srgbClr val="303238"/>
                </a:solidFill>
              </a:defRPr>
            </a:defPPr>
            <a:lvl1pPr>
              <a:defRPr sz="1725" b="1">
                <a:solidFill>
                  <a:srgbClr val="303238"/>
                </a:solidFill>
              </a:defRPr>
            </a:lvl1pPr>
            <a:lvl2pPr>
              <a:defRPr sz="1725" b="1">
                <a:solidFill>
                  <a:srgbClr val="303238"/>
                </a:solidFill>
              </a:defRPr>
            </a:lvl2pPr>
            <a:lvl3pPr>
              <a:defRPr sz="1725" b="1">
                <a:solidFill>
                  <a:srgbClr val="303238"/>
                </a:solidFill>
              </a:defRPr>
            </a:lvl3pPr>
            <a:lvl4pPr>
              <a:defRPr sz="1725" b="1">
                <a:solidFill>
                  <a:srgbClr val="303238"/>
                </a:solidFill>
              </a:defRPr>
            </a:lvl4pPr>
            <a:lvl5pPr>
              <a:defRPr sz="1725" b="1">
                <a:solidFill>
                  <a:srgbClr val="303238"/>
                </a:solidFill>
              </a:defRPr>
            </a:lvl5pPr>
            <a:lvl6pPr>
              <a:defRPr sz="1725" b="1">
                <a:solidFill>
                  <a:srgbClr val="303238"/>
                </a:solidFill>
              </a:defRPr>
            </a:lvl6pPr>
            <a:lvl7pPr>
              <a:defRPr sz="1725" b="1">
                <a:solidFill>
                  <a:srgbClr val="303238"/>
                </a:solidFill>
              </a:defRPr>
            </a:lvl7pPr>
            <a:lvl8pPr>
              <a:defRPr sz="1725" b="1">
                <a:solidFill>
                  <a:srgbClr val="303238"/>
                </a:solidFill>
              </a:defRPr>
            </a:lvl8pPr>
            <a:lvl9pPr>
              <a:defRPr sz="1725" b="1">
                <a:solidFill>
                  <a:srgbClr val="303238"/>
                </a:solidFill>
              </a:defRPr>
            </a:lvl9pPr>
          </a:lstStyle>
          <a:p>
            <a:pPr>
              <a:defRPr sz="1725" b="1">
                <a:solidFill>
                  <a:srgbClr val="303238"/>
                </a:solidFill>
              </a:defRPr>
            </a:pPr>
            <a:r>
              <a:rPr sz="1725" b="1">
                <a:solidFill>
                  <a:srgbClr val="303238"/>
                </a:solidFill>
              </a:rPr>
              <a:t>Current Snyk engine, run after the CVEs were public.</a:t>
            </a:r>
          </a:p>
        </p:txBody>
      </p:sp>
      <p:sp>
        <p:nvSpPr>
          <p:cNvPr id="2006" name="comparison scope">
            <a:extLst>
              <a:ext uri="{FF2B5EF4-FFF2-40B4-BE49-F238E27FC236}">
                <a16:creationId xmlns:a16="http://schemas.microsoft.com/office/drawing/2014/main" id="{5CB701D8-7A67-472D-AF52-0DFA114CDC32}"/>
              </a:ext>
            </a:extLst>
          </p:cNvPr>
          <p:cNvSpPr>
            <a:spLocks noGrp="1"/>
          </p:cNvSpPr>
          <p:nvPr/>
        </p:nvSpPr>
        <p:spPr>
          <a:xfrm>
            <a:off x="812864" y="5991225"/>
            <a:ext cx="9810750" cy="295275"/>
          </a:xfrm>
          <a:prstGeom prst="rect">
            <a:avLst/>
          </a:prstGeom>
          <a:noFill/>
          <a:ln w="0">
            <a:noFill/>
          </a:ln>
        </p:spPr>
        <p:txBody>
          <a:bodyPr lIns="0" tIns="0" rIns="0" bIns="0" anchor="ctr">
            <a:noAutofit/>
          </a:bodyPr>
          <a:lstStyle>
            <a:defPPr>
              <a:defRPr sz="1650" b="0">
                <a:solidFill>
                  <a:srgbClr val="303238"/>
                </a:solidFill>
              </a:defRPr>
            </a:defPPr>
            <a:lvl1pPr>
              <a:defRPr sz="1650" b="0">
                <a:solidFill>
                  <a:srgbClr val="303238"/>
                </a:solidFill>
              </a:defRPr>
            </a:lvl1pPr>
            <a:lvl2pPr>
              <a:defRPr sz="1650" b="0">
                <a:solidFill>
                  <a:srgbClr val="303238"/>
                </a:solidFill>
              </a:defRPr>
            </a:lvl2pPr>
            <a:lvl3pPr>
              <a:defRPr sz="1650" b="0">
                <a:solidFill>
                  <a:srgbClr val="303238"/>
                </a:solidFill>
              </a:defRPr>
            </a:lvl3pPr>
            <a:lvl4pPr>
              <a:defRPr sz="1650" b="0">
                <a:solidFill>
                  <a:srgbClr val="303238"/>
                </a:solidFill>
              </a:defRPr>
            </a:lvl4pPr>
            <a:lvl5pPr>
              <a:defRPr sz="1650" b="0">
                <a:solidFill>
                  <a:srgbClr val="303238"/>
                </a:solidFill>
              </a:defRPr>
            </a:lvl5pPr>
            <a:lvl6pPr>
              <a:defRPr sz="1650" b="0">
                <a:solidFill>
                  <a:srgbClr val="303238"/>
                </a:solidFill>
              </a:defRPr>
            </a:lvl6pPr>
            <a:lvl7pPr>
              <a:defRPr sz="1650" b="0">
                <a:solidFill>
                  <a:srgbClr val="303238"/>
                </a:solidFill>
              </a:defRPr>
            </a:lvl7pPr>
            <a:lvl8pPr>
              <a:defRPr sz="1650" b="0">
                <a:solidFill>
                  <a:srgbClr val="303238"/>
                </a:solidFill>
              </a:defRPr>
            </a:lvl8pPr>
            <a:lvl9pPr>
              <a:defRPr sz="1650" b="0">
                <a:solidFill>
                  <a:srgbClr val="303238"/>
                </a:solidFill>
              </a:defRPr>
            </a:lvl9pPr>
          </a:lstStyle>
          <a:p>
            <a:pPr>
              <a:defRPr sz="1650" b="0">
                <a:solidFill>
                  <a:srgbClr val="303238"/>
                </a:solidFill>
              </a:defRPr>
            </a:pPr>
            <a:r>
              <a:rPr sz="1650" b="0">
                <a:solidFill>
                  <a:srgbClr val="303238"/>
                </a:solidFill>
              </a:rPr>
              <a:t>Full repository, not time-matched to model cutoffs. This can favor Snyk.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4" name="Text 0"/>
          <p:cNvSpPr>
            <a:spLocks noGrp="1"/>
          </p:cNvSpPr>
          <p:nvPr>
            <p:ph type="title"/>
          </p:nvPr>
        </p:nvSpPr>
        <p:spPr>
          <a:xfrm>
            <a:off x="812902" y="812902"/>
            <a:ext cx="8412480" cy="512064"/>
          </a:xfrm>
          <a:prstGeom prst="rect">
            <a:avLst/>
          </a:prstGeom>
          <a:noFill/>
          <a:ln/>
        </p:spPr>
        <p:txBody>
          <a:bodyPr wrap="square" lIns="0" tIns="0" rIns="0" bIns="0" rtlCol="0" anchor="t">
            <a:noAutofit/>
          </a:bodyPr>
          <a:lstStyle/>
          <a:p>
            <a:pPr marL="0" indent="0" algn="l">
              <a:lnSpc>
                <a:spcPts val="3800"/>
              </a:lnSpc>
              <a:spcBef>
                <a:spcPts val="0"/>
              </a:spcBef>
              <a:buNone/>
            </a:pPr>
            <a:r>
              <a:rPr lang="en-US" sz="3200" b="1" dirty="0">
                <a:solidFill>
                  <a:srgbClr val="4C8835"/>
                </a:solidFill>
                <a:latin typeface="Arial" pitchFamily="34" charset="0"/>
                <a:ea typeface="Arial" pitchFamily="34" charset="-122"/>
                <a:cs typeface="Arial" pitchFamily="34" charset="-120"/>
              </a:rPr>
              <a:t>AI review starts with a generic prompt</a:t>
            </a:r>
            <a:endParaRPr lang="en-US" sz="3200"/>
          </a:p>
        </p:txBody>
      </p:sp>
      <p:sp>
        <p:nvSpPr>
          <p:cNvPr id="36" name="Text 25"/>
          <p:cNvSpPr/>
          <p:nvPr/>
        </p:nvSpPr>
        <p:spPr>
          <a:xfrm>
            <a:off x="7532370" y="6238280"/>
            <a:ext cx="300863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A92"/>
                </a:solidFill>
                <a:latin typeface="Arial" pitchFamily="34" charset="0"/>
                <a:ea typeface="Arial" pitchFamily="34" charset="-122"/>
                <a:cs typeface="Arial" pitchFamily="34" charset="-120"/>
              </a:rPr>
              <a:t>ISC2.org/Congress | #ISC2Congress</a:t>
            </a:r>
            <a:endParaRPr lang="en-US" sz="1200" dirty="0"/>
          </a:p>
        </p:txBody>
      </p:sp>
      <p:sp>
        <p:nvSpPr>
          <p:cNvPr id="1000" name="Shared method">
            <a:extLst>
              <a:ext uri="{FF2B5EF4-FFF2-40B4-BE49-F238E27FC236}">
                <a16:creationId xmlns:a16="http://schemas.microsoft.com/office/drawing/2014/main" id="{0A837953-8979-408D-80DF-D8A10DA7EEAB}"/>
              </a:ext>
            </a:extLst>
          </p:cNvPr>
          <p:cNvSpPr>
            <a:spLocks noGrp="1"/>
          </p:cNvSpPr>
          <p:nvPr/>
        </p:nvSpPr>
        <p:spPr>
          <a:xfrm>
            <a:off x="812902" y="1399032"/>
            <a:ext cx="10561320" cy="384048"/>
          </a:xfrm>
          <a:prstGeom prst="rect">
            <a:avLst/>
          </a:prstGeom>
          <a:noFill/>
          <a:ln w="0">
            <a:noFill/>
            <a:prstDash val="solid"/>
          </a:ln>
        </p:spPr>
        <p:txBody>
          <a:bodyPr wrap="square" lIns="0" tIns="0" rIns="0" bIns="0" anchor="t">
            <a:noAutofit/>
          </a:bodyPr>
          <a:lstStyle>
            <a:defPPr>
              <a:defRPr sz="1800" b="0">
                <a:solidFill>
                  <a:srgbClr val="33333A"/>
                </a:solidFill>
              </a:defRPr>
            </a:defPPr>
            <a:lvl1pPr>
              <a:defRPr sz="1800" b="0">
                <a:solidFill>
                  <a:srgbClr val="33333A"/>
                </a:solidFill>
              </a:defRPr>
            </a:lvl1pPr>
            <a:lvl2pPr>
              <a:defRPr sz="1800" b="0">
                <a:solidFill>
                  <a:srgbClr val="33333A"/>
                </a:solidFill>
              </a:defRPr>
            </a:lvl2pPr>
            <a:lvl3pPr>
              <a:defRPr sz="1800" b="0">
                <a:solidFill>
                  <a:srgbClr val="33333A"/>
                </a:solidFill>
              </a:defRPr>
            </a:lvl3pPr>
            <a:lvl4pPr>
              <a:defRPr sz="1800" b="0">
                <a:solidFill>
                  <a:srgbClr val="33333A"/>
                </a:solidFill>
              </a:defRPr>
            </a:lvl4pPr>
            <a:lvl5pPr>
              <a:defRPr sz="1800" b="0">
                <a:solidFill>
                  <a:srgbClr val="33333A"/>
                </a:solidFill>
              </a:defRPr>
            </a:lvl5pPr>
            <a:lvl6pPr>
              <a:defRPr sz="1800" b="0">
                <a:solidFill>
                  <a:srgbClr val="33333A"/>
                </a:solidFill>
              </a:defRPr>
            </a:lvl6pPr>
            <a:lvl7pPr>
              <a:defRPr sz="1800" b="0">
                <a:solidFill>
                  <a:srgbClr val="33333A"/>
                </a:solidFill>
              </a:defRPr>
            </a:lvl7pPr>
            <a:lvl8pPr>
              <a:defRPr sz="1800" b="0">
                <a:solidFill>
                  <a:srgbClr val="33333A"/>
                </a:solidFill>
              </a:defRPr>
            </a:lvl8pPr>
            <a:lvl9pPr>
              <a:defRPr sz="1800" b="0">
                <a:solidFill>
                  <a:srgbClr val="33333A"/>
                </a:solidFill>
              </a:defRPr>
            </a:lvl9pPr>
          </a:lstStyle>
          <a:p>
            <a:pPr>
              <a:defRPr sz="1800" b="0">
                <a:solidFill>
                  <a:srgbClr val="33333A"/>
                </a:solidFill>
              </a:defRPr>
            </a:pPr>
            <a:r>
              <a:rPr sz="1800" b="0">
                <a:solidFill>
                  <a:srgbClr val="33333A"/>
                </a:solidFill>
                <a:latin typeface="Arial"/>
                <a:ea typeface="Arial"/>
                <a:cs typeface="Arial"/>
              </a:rPr>
              <a:t>Same code changes and generic instructions. Three reviews per case, for each model.</a:t>
            </a:r>
          </a:p>
        </p:txBody>
      </p:sp>
      <p:sp>
        <p:nvSpPr>
          <p:cNvPr id="1001" name="Step line 0">
            <a:extLst>
              <a:ext uri="{FF2B5EF4-FFF2-40B4-BE49-F238E27FC236}">
                <a16:creationId xmlns:a16="http://schemas.microsoft.com/office/drawing/2014/main" id="{1AC079D3-7F5D-4AE2-82FD-B981A1BD54B6}"/>
              </a:ext>
            </a:extLst>
          </p:cNvPr>
          <p:cNvSpPr>
            <a:spLocks noGrp="1"/>
          </p:cNvSpPr>
          <p:nvPr/>
        </p:nvSpPr>
        <p:spPr>
          <a:xfrm>
            <a:off x="812902" y="2240280"/>
            <a:ext cx="2157984" cy="50292"/>
          </a:xfrm>
          <a:prstGeom prst="rect">
            <a:avLst/>
          </a:prstGeom>
          <a:solidFill>
            <a:srgbClr val="0086B6"/>
          </a:solidFill>
          <a:ln w="0">
            <a:noFill/>
            <a:prstDash val="solid"/>
          </a:ln>
        </p:spPr>
        <p:txBody>
          <a:bodyPr/>
          <a:lstStyle/>
          <a:p>
            <a:endParaRPr lang="en-US"/>
          </a:p>
        </p:txBody>
      </p:sp>
      <p:sp>
        <p:nvSpPr>
          <p:cNvPr id="1002" name="Step title 0">
            <a:extLst>
              <a:ext uri="{FF2B5EF4-FFF2-40B4-BE49-F238E27FC236}">
                <a16:creationId xmlns:a16="http://schemas.microsoft.com/office/drawing/2014/main" id="{7C2ABBAA-E658-4C61-81FF-BA3780E68E43}"/>
              </a:ext>
            </a:extLst>
          </p:cNvPr>
          <p:cNvSpPr>
            <a:spLocks noGrp="1"/>
          </p:cNvSpPr>
          <p:nvPr/>
        </p:nvSpPr>
        <p:spPr>
          <a:xfrm>
            <a:off x="812902" y="2523744"/>
            <a:ext cx="2157984" cy="603504"/>
          </a:xfrm>
          <a:prstGeom prst="rect">
            <a:avLst/>
          </a:prstGeom>
          <a:noFill/>
          <a:ln w="0">
            <a:noFill/>
            <a:prstDash val="solid"/>
          </a:ln>
        </p:spPr>
        <p:txBody>
          <a:bodyPr wrap="square" lIns="0" tIns="0" rIns="0" bIns="0" anchor="t">
            <a:noAutofit/>
          </a:bodyPr>
          <a:lstStyle>
            <a:defPPr>
              <a:defRPr sz="2000" b="1">
                <a:solidFill>
                  <a:srgbClr val="0086B6"/>
                </a:solidFill>
              </a:defRPr>
            </a:defPPr>
            <a:lvl1pPr>
              <a:defRPr sz="2000" b="1">
                <a:solidFill>
                  <a:srgbClr val="0086B6"/>
                </a:solidFill>
              </a:defRPr>
            </a:lvl1pPr>
            <a:lvl2pPr>
              <a:defRPr sz="2000" b="1">
                <a:solidFill>
                  <a:srgbClr val="0086B6"/>
                </a:solidFill>
              </a:defRPr>
            </a:lvl2pPr>
            <a:lvl3pPr>
              <a:defRPr sz="2000" b="1">
                <a:solidFill>
                  <a:srgbClr val="0086B6"/>
                </a:solidFill>
              </a:defRPr>
            </a:lvl3pPr>
            <a:lvl4pPr>
              <a:defRPr sz="2000" b="1">
                <a:solidFill>
                  <a:srgbClr val="0086B6"/>
                </a:solidFill>
              </a:defRPr>
            </a:lvl4pPr>
            <a:lvl5pPr>
              <a:defRPr sz="2000" b="1">
                <a:solidFill>
                  <a:srgbClr val="0086B6"/>
                </a:solidFill>
              </a:defRPr>
            </a:lvl5pPr>
            <a:lvl6pPr>
              <a:defRPr sz="2000" b="1">
                <a:solidFill>
                  <a:srgbClr val="0086B6"/>
                </a:solidFill>
              </a:defRPr>
            </a:lvl6pPr>
            <a:lvl7pPr>
              <a:defRPr sz="2000" b="1">
                <a:solidFill>
                  <a:srgbClr val="0086B6"/>
                </a:solidFill>
              </a:defRPr>
            </a:lvl7pPr>
            <a:lvl8pPr>
              <a:defRPr sz="2000" b="1">
                <a:solidFill>
                  <a:srgbClr val="0086B6"/>
                </a:solidFill>
              </a:defRPr>
            </a:lvl8pPr>
            <a:lvl9pPr>
              <a:defRPr sz="2000" b="1">
                <a:solidFill>
                  <a:srgbClr val="0086B6"/>
                </a:solidFill>
              </a:defRPr>
            </a:lvl9pPr>
          </a:lstStyle>
          <a:p>
            <a:pPr>
              <a:defRPr sz="2000" b="1">
                <a:solidFill>
                  <a:srgbClr val="0086B6"/>
                </a:solidFill>
              </a:defRPr>
            </a:pPr>
            <a:r>
              <a:rPr sz="2000" b="1">
                <a:solidFill>
                  <a:srgbClr val="0086B6"/>
                </a:solidFill>
                <a:latin typeface="Arial"/>
                <a:ea typeface="Arial"/>
                <a:cs typeface="Arial"/>
              </a:rPr>
              <a:t>Selected file diff</a:t>
            </a:r>
          </a:p>
        </p:txBody>
      </p:sp>
      <p:sp>
        <p:nvSpPr>
          <p:cNvPr id="1003" name="Step body 0">
            <a:extLst>
              <a:ext uri="{FF2B5EF4-FFF2-40B4-BE49-F238E27FC236}">
                <a16:creationId xmlns:a16="http://schemas.microsoft.com/office/drawing/2014/main" id="{E4D223C6-0D57-4427-BC41-7F777F6F6049}"/>
              </a:ext>
            </a:extLst>
          </p:cNvPr>
          <p:cNvSpPr>
            <a:spLocks noGrp="1"/>
          </p:cNvSpPr>
          <p:nvPr/>
        </p:nvSpPr>
        <p:spPr>
          <a:xfrm>
            <a:off x="812902" y="3282696"/>
            <a:ext cx="2157984" cy="914400"/>
          </a:xfrm>
          <a:prstGeom prst="rect">
            <a:avLst/>
          </a:prstGeom>
          <a:noFill/>
          <a:ln w="0">
            <a:noFill/>
            <a:prstDash val="solid"/>
          </a:ln>
        </p:spPr>
        <p:txBody>
          <a:bodyPr wrap="square" lIns="0" tIns="0" rIns="0" bIns="0" anchor="t">
            <a:noAutofit/>
          </a:bodyPr>
          <a:lstStyle>
            <a:defPPr>
              <a:defRPr sz="1700" b="0">
                <a:solidFill>
                  <a:srgbClr val="33333A"/>
                </a:solidFill>
              </a:defRPr>
            </a:defPPr>
            <a:lvl1pPr>
              <a:defRPr sz="1700" b="0">
                <a:solidFill>
                  <a:srgbClr val="33333A"/>
                </a:solidFill>
              </a:defRPr>
            </a:lvl1pPr>
            <a:lvl2pPr>
              <a:defRPr sz="1700" b="0">
                <a:solidFill>
                  <a:srgbClr val="33333A"/>
                </a:solidFill>
              </a:defRPr>
            </a:lvl2pPr>
            <a:lvl3pPr>
              <a:defRPr sz="1700" b="0">
                <a:solidFill>
                  <a:srgbClr val="33333A"/>
                </a:solidFill>
              </a:defRPr>
            </a:lvl3pPr>
            <a:lvl4pPr>
              <a:defRPr sz="1700" b="0">
                <a:solidFill>
                  <a:srgbClr val="33333A"/>
                </a:solidFill>
              </a:defRPr>
            </a:lvl4pPr>
            <a:lvl5pPr>
              <a:defRPr sz="1700" b="0">
                <a:solidFill>
                  <a:srgbClr val="33333A"/>
                </a:solidFill>
              </a:defRPr>
            </a:lvl5pPr>
            <a:lvl6pPr>
              <a:defRPr sz="1700" b="0">
                <a:solidFill>
                  <a:srgbClr val="33333A"/>
                </a:solidFill>
              </a:defRPr>
            </a:lvl6pPr>
            <a:lvl7pPr>
              <a:defRPr sz="1700" b="0">
                <a:solidFill>
                  <a:srgbClr val="33333A"/>
                </a:solidFill>
              </a:defRPr>
            </a:lvl7pPr>
            <a:lvl8pPr>
              <a:defRPr sz="1700" b="0">
                <a:solidFill>
                  <a:srgbClr val="33333A"/>
                </a:solidFill>
              </a:defRPr>
            </a:lvl8pPr>
            <a:lvl9pPr>
              <a:defRPr sz="1700" b="0">
                <a:solidFill>
                  <a:srgbClr val="33333A"/>
                </a:solidFill>
              </a:defRPr>
            </a:lvl9pPr>
          </a:lstStyle>
          <a:p>
            <a:pPr>
              <a:defRPr sz="1700" b="0">
                <a:solidFill>
                  <a:srgbClr val="33333A"/>
                </a:solidFill>
              </a:defRPr>
            </a:pPr>
            <a:r>
              <a:rPr sz="1700" b="0">
                <a:solidFill>
                  <a:srgbClr val="33333A"/>
                </a:solidFill>
                <a:latin typeface="Arial"/>
                <a:ea typeface="Arial"/>
                <a:cs typeface="Arial"/>
              </a:rPr>
              <a:t>Code changes from a</a:t>
            </a:r>
            <a:br/>
            <a:r>
              <a:rPr sz="1700" b="0">
                <a:solidFill>
                  <a:srgbClr val="33333A"/>
                </a:solidFill>
                <a:latin typeface="Arial"/>
                <a:ea typeface="Arial"/>
                <a:cs typeface="Arial"/>
              </a:rPr>
              <a:t>known vulnerable file</a:t>
            </a:r>
          </a:p>
        </p:txBody>
      </p:sp>
      <p:sp>
        <p:nvSpPr>
          <p:cNvPr id="1004" name="Step arrow 0">
            <a:extLst>
              <a:ext uri="{FF2B5EF4-FFF2-40B4-BE49-F238E27FC236}">
                <a16:creationId xmlns:a16="http://schemas.microsoft.com/office/drawing/2014/main" id="{1EA45FC1-CD1C-4609-950F-0182BB0C38A6}"/>
              </a:ext>
            </a:extLst>
          </p:cNvPr>
          <p:cNvSpPr>
            <a:spLocks noGrp="1"/>
          </p:cNvSpPr>
          <p:nvPr/>
        </p:nvSpPr>
        <p:spPr>
          <a:xfrm>
            <a:off x="3020072" y="2597214"/>
            <a:ext cx="265176" cy="210312"/>
          </a:xfrm>
          <a:prstGeom prst="rightArrow">
            <a:avLst/>
          </a:prstGeom>
          <a:solidFill>
            <a:srgbClr val="9ABE3C"/>
          </a:solidFill>
          <a:ln w="0">
            <a:noFill/>
            <a:prstDash val="solid"/>
          </a:ln>
        </p:spPr>
        <p:txBody>
          <a:bodyPr/>
          <a:lstStyle/>
          <a:p>
            <a:endParaRPr lang="en-US"/>
          </a:p>
        </p:txBody>
      </p:sp>
      <p:sp>
        <p:nvSpPr>
          <p:cNvPr id="1005" name="Step line 1">
            <a:extLst>
              <a:ext uri="{FF2B5EF4-FFF2-40B4-BE49-F238E27FC236}">
                <a16:creationId xmlns:a16="http://schemas.microsoft.com/office/drawing/2014/main" id="{3E7DA8BE-C59B-4A3B-B1A7-0B0B43C7F610}"/>
              </a:ext>
            </a:extLst>
          </p:cNvPr>
          <p:cNvSpPr>
            <a:spLocks noGrp="1"/>
          </p:cNvSpPr>
          <p:nvPr/>
        </p:nvSpPr>
        <p:spPr>
          <a:xfrm>
            <a:off x="3456432" y="2240280"/>
            <a:ext cx="2157984" cy="50292"/>
          </a:xfrm>
          <a:prstGeom prst="rect">
            <a:avLst/>
          </a:prstGeom>
          <a:solidFill>
            <a:srgbClr val="4C8835"/>
          </a:solidFill>
          <a:ln w="0">
            <a:noFill/>
            <a:prstDash val="solid"/>
          </a:ln>
        </p:spPr>
        <p:txBody>
          <a:bodyPr/>
          <a:lstStyle/>
          <a:p>
            <a:endParaRPr lang="en-US"/>
          </a:p>
        </p:txBody>
      </p:sp>
      <p:sp>
        <p:nvSpPr>
          <p:cNvPr id="1006" name="Step title 1">
            <a:extLst>
              <a:ext uri="{FF2B5EF4-FFF2-40B4-BE49-F238E27FC236}">
                <a16:creationId xmlns:a16="http://schemas.microsoft.com/office/drawing/2014/main" id="{7A8BBA1C-5A06-4A70-BE93-09AF3E11601C}"/>
              </a:ext>
            </a:extLst>
          </p:cNvPr>
          <p:cNvSpPr>
            <a:spLocks noGrp="1"/>
          </p:cNvSpPr>
          <p:nvPr/>
        </p:nvSpPr>
        <p:spPr>
          <a:xfrm>
            <a:off x="3456432" y="2523744"/>
            <a:ext cx="2157984" cy="603504"/>
          </a:xfrm>
          <a:prstGeom prst="rect">
            <a:avLst/>
          </a:prstGeom>
          <a:noFill/>
          <a:ln w="0">
            <a:noFill/>
            <a:prstDash val="solid"/>
          </a:ln>
        </p:spPr>
        <p:txBody>
          <a:bodyPr wrap="square" lIns="0" tIns="0" rIns="0" bIns="0" anchor="t">
            <a:noAutofit/>
          </a:bodyPr>
          <a:lstStyle>
            <a:defPPr>
              <a:defRPr sz="2000" b="1">
                <a:solidFill>
                  <a:srgbClr val="4C8835"/>
                </a:solidFill>
              </a:defRPr>
            </a:defPPr>
            <a:lvl1pPr>
              <a:defRPr sz="2000" b="1">
                <a:solidFill>
                  <a:srgbClr val="4C8835"/>
                </a:solidFill>
              </a:defRPr>
            </a:lvl1pPr>
            <a:lvl2pPr>
              <a:defRPr sz="2000" b="1">
                <a:solidFill>
                  <a:srgbClr val="4C8835"/>
                </a:solidFill>
              </a:defRPr>
            </a:lvl2pPr>
            <a:lvl3pPr>
              <a:defRPr sz="2000" b="1">
                <a:solidFill>
                  <a:srgbClr val="4C8835"/>
                </a:solidFill>
              </a:defRPr>
            </a:lvl3pPr>
            <a:lvl4pPr>
              <a:defRPr sz="2000" b="1">
                <a:solidFill>
                  <a:srgbClr val="4C8835"/>
                </a:solidFill>
              </a:defRPr>
            </a:lvl4pPr>
            <a:lvl5pPr>
              <a:defRPr sz="2000" b="1">
                <a:solidFill>
                  <a:srgbClr val="4C8835"/>
                </a:solidFill>
              </a:defRPr>
            </a:lvl5pPr>
            <a:lvl6pPr>
              <a:defRPr sz="2000" b="1">
                <a:solidFill>
                  <a:srgbClr val="4C8835"/>
                </a:solidFill>
              </a:defRPr>
            </a:lvl6pPr>
            <a:lvl7pPr>
              <a:defRPr sz="2000" b="1">
                <a:solidFill>
                  <a:srgbClr val="4C8835"/>
                </a:solidFill>
              </a:defRPr>
            </a:lvl7pPr>
            <a:lvl8pPr>
              <a:defRPr sz="2000" b="1">
                <a:solidFill>
                  <a:srgbClr val="4C8835"/>
                </a:solidFill>
              </a:defRPr>
            </a:lvl8pPr>
            <a:lvl9pPr>
              <a:defRPr sz="2000" b="1">
                <a:solidFill>
                  <a:srgbClr val="4C8835"/>
                </a:solidFill>
              </a:defRPr>
            </a:lvl9pPr>
          </a:lstStyle>
          <a:p>
            <a:pPr>
              <a:defRPr sz="2000" b="1">
                <a:solidFill>
                  <a:srgbClr val="4C8835"/>
                </a:solidFill>
              </a:defRPr>
            </a:pPr>
            <a:r>
              <a:rPr sz="2000" b="1">
                <a:solidFill>
                  <a:srgbClr val="4C8835"/>
                </a:solidFill>
                <a:latin typeface="Arial"/>
                <a:ea typeface="Arial"/>
                <a:cs typeface="Arial"/>
              </a:rPr>
              <a:t>General prompt</a:t>
            </a:r>
          </a:p>
        </p:txBody>
      </p:sp>
      <p:sp>
        <p:nvSpPr>
          <p:cNvPr id="1007" name="Step body 1">
            <a:extLst>
              <a:ext uri="{FF2B5EF4-FFF2-40B4-BE49-F238E27FC236}">
                <a16:creationId xmlns:a16="http://schemas.microsoft.com/office/drawing/2014/main" id="{F1231A2D-30A6-428B-A760-7D5D2F56ACAA}"/>
              </a:ext>
            </a:extLst>
          </p:cNvPr>
          <p:cNvSpPr>
            <a:spLocks noGrp="1"/>
          </p:cNvSpPr>
          <p:nvPr/>
        </p:nvSpPr>
        <p:spPr>
          <a:xfrm>
            <a:off x="3456432" y="3282696"/>
            <a:ext cx="2157984" cy="914400"/>
          </a:xfrm>
          <a:prstGeom prst="rect">
            <a:avLst/>
          </a:prstGeom>
          <a:noFill/>
          <a:ln w="0">
            <a:noFill/>
            <a:prstDash val="solid"/>
          </a:ln>
        </p:spPr>
        <p:txBody>
          <a:bodyPr wrap="square" lIns="0" tIns="0" rIns="0" bIns="0" anchor="t">
            <a:noAutofit/>
          </a:bodyPr>
          <a:lstStyle>
            <a:defPPr>
              <a:defRPr sz="1700" b="0">
                <a:solidFill>
                  <a:srgbClr val="33333A"/>
                </a:solidFill>
              </a:defRPr>
            </a:defPPr>
            <a:lvl1pPr>
              <a:defRPr sz="1700" b="0">
                <a:solidFill>
                  <a:srgbClr val="33333A"/>
                </a:solidFill>
              </a:defRPr>
            </a:lvl1pPr>
            <a:lvl2pPr>
              <a:defRPr sz="1700" b="0">
                <a:solidFill>
                  <a:srgbClr val="33333A"/>
                </a:solidFill>
              </a:defRPr>
            </a:lvl2pPr>
            <a:lvl3pPr>
              <a:defRPr sz="1700" b="0">
                <a:solidFill>
                  <a:srgbClr val="33333A"/>
                </a:solidFill>
              </a:defRPr>
            </a:lvl3pPr>
            <a:lvl4pPr>
              <a:defRPr sz="1700" b="0">
                <a:solidFill>
                  <a:srgbClr val="33333A"/>
                </a:solidFill>
              </a:defRPr>
            </a:lvl4pPr>
            <a:lvl5pPr>
              <a:defRPr sz="1700" b="0">
                <a:solidFill>
                  <a:srgbClr val="33333A"/>
                </a:solidFill>
              </a:defRPr>
            </a:lvl5pPr>
            <a:lvl6pPr>
              <a:defRPr sz="1700" b="0">
                <a:solidFill>
                  <a:srgbClr val="33333A"/>
                </a:solidFill>
              </a:defRPr>
            </a:lvl6pPr>
            <a:lvl7pPr>
              <a:defRPr sz="1700" b="0">
                <a:solidFill>
                  <a:srgbClr val="33333A"/>
                </a:solidFill>
              </a:defRPr>
            </a:lvl7pPr>
            <a:lvl8pPr>
              <a:defRPr sz="1700" b="0">
                <a:solidFill>
                  <a:srgbClr val="33333A"/>
                </a:solidFill>
              </a:defRPr>
            </a:lvl8pPr>
            <a:lvl9pPr>
              <a:defRPr sz="1700" b="0">
                <a:solidFill>
                  <a:srgbClr val="33333A"/>
                </a:solidFill>
              </a:defRPr>
            </a:lvl9pPr>
          </a:lstStyle>
          <a:p>
            <a:pPr>
              <a:defRPr sz="1700" b="0">
                <a:solidFill>
                  <a:srgbClr val="33333A"/>
                </a:solidFill>
              </a:defRPr>
            </a:pPr>
            <a:r>
              <a:rPr sz="1700" b="0">
                <a:solidFill>
                  <a:srgbClr val="33333A"/>
                </a:solidFill>
                <a:latin typeface="Arial"/>
                <a:ea typeface="Arial"/>
                <a:cs typeface="Arial"/>
              </a:rPr>
              <a:t>Correctness, security,</a:t>
            </a:r>
            <a:br>
              <a:rPr sz="1700" b="0">
                <a:solidFill>
                  <a:srgbClr val="33333A"/>
                </a:solidFill>
                <a:latin typeface="Arial"/>
                <a:ea typeface="Arial"/>
                <a:cs typeface="Arial"/>
              </a:rPr>
            </a:br>
            <a:r>
              <a:rPr sz="1700" b="0">
                <a:solidFill>
                  <a:srgbClr val="33333A"/>
                </a:solidFill>
                <a:latin typeface="Arial"/>
                <a:ea typeface="Arial"/>
                <a:cs typeface="Arial"/>
              </a:rPr>
              <a:t>reliability, maintainability</a:t>
            </a:r>
          </a:p>
        </p:txBody>
      </p:sp>
      <p:sp>
        <p:nvSpPr>
          <p:cNvPr id="1008" name="Step arrow 1">
            <a:extLst>
              <a:ext uri="{FF2B5EF4-FFF2-40B4-BE49-F238E27FC236}">
                <a16:creationId xmlns:a16="http://schemas.microsoft.com/office/drawing/2014/main" id="{3F9A49AC-BFEB-43FA-A8C9-93B16BE2107E}"/>
              </a:ext>
            </a:extLst>
          </p:cNvPr>
          <p:cNvSpPr>
            <a:spLocks noGrp="1"/>
          </p:cNvSpPr>
          <p:nvPr/>
        </p:nvSpPr>
        <p:spPr>
          <a:xfrm>
            <a:off x="5663602" y="2597214"/>
            <a:ext cx="265176" cy="210312"/>
          </a:xfrm>
          <a:prstGeom prst="rightArrow">
            <a:avLst/>
          </a:prstGeom>
          <a:solidFill>
            <a:srgbClr val="9ABE3C"/>
          </a:solidFill>
          <a:ln w="0">
            <a:noFill/>
            <a:prstDash val="solid"/>
          </a:ln>
        </p:spPr>
        <p:txBody>
          <a:bodyPr/>
          <a:lstStyle/>
          <a:p>
            <a:endParaRPr lang="en-US"/>
          </a:p>
        </p:txBody>
      </p:sp>
      <p:sp>
        <p:nvSpPr>
          <p:cNvPr id="1009" name="Step line 2">
            <a:extLst>
              <a:ext uri="{FF2B5EF4-FFF2-40B4-BE49-F238E27FC236}">
                <a16:creationId xmlns:a16="http://schemas.microsoft.com/office/drawing/2014/main" id="{957601EF-6E30-48F0-AF39-8B12B035FC25}"/>
              </a:ext>
            </a:extLst>
          </p:cNvPr>
          <p:cNvSpPr>
            <a:spLocks noGrp="1"/>
          </p:cNvSpPr>
          <p:nvPr/>
        </p:nvSpPr>
        <p:spPr>
          <a:xfrm>
            <a:off x="6099048" y="2240280"/>
            <a:ext cx="2157984" cy="50292"/>
          </a:xfrm>
          <a:prstGeom prst="rect">
            <a:avLst/>
          </a:prstGeom>
          <a:solidFill>
            <a:srgbClr val="5665AE"/>
          </a:solidFill>
          <a:ln w="0">
            <a:noFill/>
            <a:prstDash val="solid"/>
          </a:ln>
        </p:spPr>
        <p:txBody>
          <a:bodyPr/>
          <a:lstStyle/>
          <a:p>
            <a:endParaRPr lang="en-US"/>
          </a:p>
        </p:txBody>
      </p:sp>
      <p:sp>
        <p:nvSpPr>
          <p:cNvPr id="1010" name="Step title 2">
            <a:extLst>
              <a:ext uri="{FF2B5EF4-FFF2-40B4-BE49-F238E27FC236}">
                <a16:creationId xmlns:a16="http://schemas.microsoft.com/office/drawing/2014/main" id="{E34FC092-937A-444D-988C-D767617D4FF4}"/>
              </a:ext>
            </a:extLst>
          </p:cNvPr>
          <p:cNvSpPr>
            <a:spLocks noGrp="1"/>
          </p:cNvSpPr>
          <p:nvPr/>
        </p:nvSpPr>
        <p:spPr>
          <a:xfrm>
            <a:off x="6099048" y="2523744"/>
            <a:ext cx="2157984" cy="603504"/>
          </a:xfrm>
          <a:prstGeom prst="rect">
            <a:avLst/>
          </a:prstGeom>
          <a:noFill/>
          <a:ln w="0">
            <a:noFill/>
            <a:prstDash val="solid"/>
          </a:ln>
        </p:spPr>
        <p:txBody>
          <a:bodyPr wrap="square" lIns="0" tIns="0" rIns="0" bIns="0" anchor="t">
            <a:noAutofit/>
          </a:bodyPr>
          <a:lstStyle>
            <a:defPPr>
              <a:defRPr sz="2000" b="1">
                <a:solidFill>
                  <a:srgbClr val="5665AE"/>
                </a:solidFill>
              </a:defRPr>
            </a:defPPr>
            <a:lvl1pPr>
              <a:defRPr sz="2000" b="1">
                <a:solidFill>
                  <a:srgbClr val="5665AE"/>
                </a:solidFill>
              </a:defRPr>
            </a:lvl1pPr>
            <a:lvl2pPr>
              <a:defRPr sz="2000" b="1">
                <a:solidFill>
                  <a:srgbClr val="5665AE"/>
                </a:solidFill>
              </a:defRPr>
            </a:lvl2pPr>
            <a:lvl3pPr>
              <a:defRPr sz="2000" b="1">
                <a:solidFill>
                  <a:srgbClr val="5665AE"/>
                </a:solidFill>
              </a:defRPr>
            </a:lvl3pPr>
            <a:lvl4pPr>
              <a:defRPr sz="2000" b="1">
                <a:solidFill>
                  <a:srgbClr val="5665AE"/>
                </a:solidFill>
              </a:defRPr>
            </a:lvl4pPr>
            <a:lvl5pPr>
              <a:defRPr sz="2000" b="1">
                <a:solidFill>
                  <a:srgbClr val="5665AE"/>
                </a:solidFill>
              </a:defRPr>
            </a:lvl5pPr>
            <a:lvl6pPr>
              <a:defRPr sz="2000" b="1">
                <a:solidFill>
                  <a:srgbClr val="5665AE"/>
                </a:solidFill>
              </a:defRPr>
            </a:lvl6pPr>
            <a:lvl7pPr>
              <a:defRPr sz="2000" b="1">
                <a:solidFill>
                  <a:srgbClr val="5665AE"/>
                </a:solidFill>
              </a:defRPr>
            </a:lvl7pPr>
            <a:lvl8pPr>
              <a:defRPr sz="2000" b="1">
                <a:solidFill>
                  <a:srgbClr val="5665AE"/>
                </a:solidFill>
              </a:defRPr>
            </a:lvl8pPr>
            <a:lvl9pPr>
              <a:defRPr sz="2000" b="1">
                <a:solidFill>
                  <a:srgbClr val="5665AE"/>
                </a:solidFill>
              </a:defRPr>
            </a:lvl9pPr>
          </a:lstStyle>
          <a:p>
            <a:pPr>
              <a:defRPr sz="2000" b="1">
                <a:solidFill>
                  <a:srgbClr val="5665AE"/>
                </a:solidFill>
              </a:defRPr>
            </a:pPr>
            <a:r>
              <a:rPr sz="2000" b="1">
                <a:solidFill>
                  <a:srgbClr val="5665AE"/>
                </a:solidFill>
                <a:latin typeface="Arial"/>
                <a:ea typeface="Arial"/>
                <a:cs typeface="Arial"/>
              </a:rPr>
              <a:t>Model response</a:t>
            </a:r>
          </a:p>
        </p:txBody>
      </p:sp>
      <p:sp>
        <p:nvSpPr>
          <p:cNvPr id="1011" name="Step body 2">
            <a:extLst>
              <a:ext uri="{FF2B5EF4-FFF2-40B4-BE49-F238E27FC236}">
                <a16:creationId xmlns:a16="http://schemas.microsoft.com/office/drawing/2014/main" id="{03EE52D5-49F9-4B2C-A506-1FE20CE8D638}"/>
              </a:ext>
            </a:extLst>
          </p:cNvPr>
          <p:cNvSpPr>
            <a:spLocks noGrp="1"/>
          </p:cNvSpPr>
          <p:nvPr/>
        </p:nvSpPr>
        <p:spPr>
          <a:xfrm>
            <a:off x="6099048" y="3282696"/>
            <a:ext cx="2157984" cy="914400"/>
          </a:xfrm>
          <a:prstGeom prst="rect">
            <a:avLst/>
          </a:prstGeom>
          <a:noFill/>
          <a:ln w="0">
            <a:noFill/>
            <a:prstDash val="solid"/>
          </a:ln>
        </p:spPr>
        <p:txBody>
          <a:bodyPr wrap="square" lIns="0" tIns="0" rIns="0" bIns="0" anchor="t">
            <a:noAutofit/>
          </a:bodyPr>
          <a:lstStyle>
            <a:defPPr>
              <a:defRPr sz="1700" b="0">
                <a:solidFill>
                  <a:srgbClr val="33333A"/>
                </a:solidFill>
              </a:defRPr>
            </a:defPPr>
            <a:lvl1pPr>
              <a:defRPr sz="1700" b="0">
                <a:solidFill>
                  <a:srgbClr val="33333A"/>
                </a:solidFill>
              </a:defRPr>
            </a:lvl1pPr>
            <a:lvl2pPr>
              <a:defRPr sz="1700" b="0">
                <a:solidFill>
                  <a:srgbClr val="33333A"/>
                </a:solidFill>
              </a:defRPr>
            </a:lvl2pPr>
            <a:lvl3pPr>
              <a:defRPr sz="1700" b="0">
                <a:solidFill>
                  <a:srgbClr val="33333A"/>
                </a:solidFill>
              </a:defRPr>
            </a:lvl3pPr>
            <a:lvl4pPr>
              <a:defRPr sz="1700" b="0">
                <a:solidFill>
                  <a:srgbClr val="33333A"/>
                </a:solidFill>
              </a:defRPr>
            </a:lvl4pPr>
            <a:lvl5pPr>
              <a:defRPr sz="1700" b="0">
                <a:solidFill>
                  <a:srgbClr val="33333A"/>
                </a:solidFill>
              </a:defRPr>
            </a:lvl5pPr>
            <a:lvl6pPr>
              <a:defRPr sz="1700" b="0">
                <a:solidFill>
                  <a:srgbClr val="33333A"/>
                </a:solidFill>
              </a:defRPr>
            </a:lvl6pPr>
            <a:lvl7pPr>
              <a:defRPr sz="1700" b="0">
                <a:solidFill>
                  <a:srgbClr val="33333A"/>
                </a:solidFill>
              </a:defRPr>
            </a:lvl7pPr>
            <a:lvl8pPr>
              <a:defRPr sz="1700" b="0">
                <a:solidFill>
                  <a:srgbClr val="33333A"/>
                </a:solidFill>
              </a:defRPr>
            </a:lvl8pPr>
            <a:lvl9pPr>
              <a:defRPr sz="1700" b="0">
                <a:solidFill>
                  <a:srgbClr val="33333A"/>
                </a:solidFill>
              </a:defRPr>
            </a:lvl9pPr>
          </a:lstStyle>
          <a:p>
            <a:pPr>
              <a:defRPr sz="1700" b="0">
                <a:solidFill>
                  <a:srgbClr val="33333A"/>
                </a:solidFill>
              </a:defRPr>
            </a:pPr>
            <a:r>
              <a:rPr sz="1700" b="0">
                <a:solidFill>
                  <a:srgbClr val="33333A"/>
                </a:solidFill>
                <a:latin typeface="Arial"/>
                <a:ea typeface="Arial"/>
                <a:cs typeface="Arial"/>
              </a:rPr>
              <a:t>Haiku 4.5 or</a:t>
            </a:r>
            <a:br>
              <a:rPr sz="1700" b="0">
                <a:solidFill>
                  <a:srgbClr val="33333A"/>
                </a:solidFill>
                <a:latin typeface="Arial"/>
                <a:ea typeface="Arial"/>
                <a:cs typeface="Arial"/>
              </a:rPr>
            </a:br>
            <a:r>
              <a:rPr sz="1700" b="0">
                <a:solidFill>
                  <a:srgbClr val="33333A"/>
                </a:solidFill>
                <a:latin typeface="Arial"/>
                <a:ea typeface="Arial"/>
                <a:cs typeface="Arial"/>
              </a:rPr>
              <a:t>Sonnet 5</a:t>
            </a:r>
          </a:p>
        </p:txBody>
      </p:sp>
      <p:sp>
        <p:nvSpPr>
          <p:cNvPr id="1012" name="Step arrow 2">
            <a:extLst>
              <a:ext uri="{FF2B5EF4-FFF2-40B4-BE49-F238E27FC236}">
                <a16:creationId xmlns:a16="http://schemas.microsoft.com/office/drawing/2014/main" id="{8F2BA200-C43D-41DA-85FD-C08A8DBCFEF9}"/>
              </a:ext>
            </a:extLst>
          </p:cNvPr>
          <p:cNvSpPr>
            <a:spLocks noGrp="1"/>
          </p:cNvSpPr>
          <p:nvPr/>
        </p:nvSpPr>
        <p:spPr>
          <a:xfrm>
            <a:off x="8306218" y="2597214"/>
            <a:ext cx="265176" cy="210312"/>
          </a:xfrm>
          <a:prstGeom prst="rightArrow">
            <a:avLst/>
          </a:prstGeom>
          <a:solidFill>
            <a:srgbClr val="9ABE3C"/>
          </a:solidFill>
          <a:ln w="0">
            <a:noFill/>
            <a:prstDash val="solid"/>
          </a:ln>
        </p:spPr>
        <p:txBody>
          <a:bodyPr/>
          <a:lstStyle/>
          <a:p>
            <a:endParaRPr lang="en-US"/>
          </a:p>
        </p:txBody>
      </p:sp>
      <p:sp>
        <p:nvSpPr>
          <p:cNvPr id="1013" name="Step line 3">
            <a:extLst>
              <a:ext uri="{FF2B5EF4-FFF2-40B4-BE49-F238E27FC236}">
                <a16:creationId xmlns:a16="http://schemas.microsoft.com/office/drawing/2014/main" id="{DA30ACF1-3FD3-492C-AC90-A133078E89E3}"/>
              </a:ext>
            </a:extLst>
          </p:cNvPr>
          <p:cNvSpPr>
            <a:spLocks noGrp="1"/>
          </p:cNvSpPr>
          <p:nvPr/>
        </p:nvSpPr>
        <p:spPr>
          <a:xfrm>
            <a:off x="8741664" y="2240280"/>
            <a:ext cx="2633472" cy="50292"/>
          </a:xfrm>
          <a:prstGeom prst="rect">
            <a:avLst/>
          </a:prstGeom>
          <a:solidFill>
            <a:srgbClr val="0086B6"/>
          </a:solidFill>
          <a:ln w="0">
            <a:noFill/>
            <a:prstDash val="solid"/>
          </a:ln>
        </p:spPr>
        <p:txBody>
          <a:bodyPr/>
          <a:lstStyle/>
          <a:p>
            <a:endParaRPr lang="en-US"/>
          </a:p>
        </p:txBody>
      </p:sp>
      <p:sp>
        <p:nvSpPr>
          <p:cNvPr id="1014" name="Step title 3">
            <a:extLst>
              <a:ext uri="{FF2B5EF4-FFF2-40B4-BE49-F238E27FC236}">
                <a16:creationId xmlns:a16="http://schemas.microsoft.com/office/drawing/2014/main" id="{C7D1200A-ED91-4FF2-97EB-1EF207B3A9A5}"/>
              </a:ext>
            </a:extLst>
          </p:cNvPr>
          <p:cNvSpPr>
            <a:spLocks noGrp="1"/>
          </p:cNvSpPr>
          <p:nvPr/>
        </p:nvSpPr>
        <p:spPr>
          <a:xfrm>
            <a:off x="8741664" y="2523744"/>
            <a:ext cx="2633472" cy="603504"/>
          </a:xfrm>
          <a:prstGeom prst="rect">
            <a:avLst/>
          </a:prstGeom>
          <a:noFill/>
          <a:ln w="0">
            <a:noFill/>
            <a:prstDash val="solid"/>
          </a:ln>
        </p:spPr>
        <p:txBody>
          <a:bodyPr wrap="square" lIns="0" tIns="0" rIns="0" bIns="0" anchor="t">
            <a:noAutofit/>
          </a:bodyPr>
          <a:lstStyle>
            <a:defPPr>
              <a:defRPr sz="2000" b="1">
                <a:solidFill>
                  <a:srgbClr val="0086B6"/>
                </a:solidFill>
              </a:defRPr>
            </a:defPPr>
            <a:lvl1pPr>
              <a:defRPr sz="2000" b="1">
                <a:solidFill>
                  <a:srgbClr val="0086B6"/>
                </a:solidFill>
              </a:defRPr>
            </a:lvl1pPr>
            <a:lvl2pPr>
              <a:defRPr sz="2000" b="1">
                <a:solidFill>
                  <a:srgbClr val="0086B6"/>
                </a:solidFill>
              </a:defRPr>
            </a:lvl2pPr>
            <a:lvl3pPr>
              <a:defRPr sz="2000" b="1">
                <a:solidFill>
                  <a:srgbClr val="0086B6"/>
                </a:solidFill>
              </a:defRPr>
            </a:lvl3pPr>
            <a:lvl4pPr>
              <a:defRPr sz="2000" b="1">
                <a:solidFill>
                  <a:srgbClr val="0086B6"/>
                </a:solidFill>
              </a:defRPr>
            </a:lvl4pPr>
            <a:lvl5pPr>
              <a:defRPr sz="2000" b="1">
                <a:solidFill>
                  <a:srgbClr val="0086B6"/>
                </a:solidFill>
              </a:defRPr>
            </a:lvl5pPr>
            <a:lvl6pPr>
              <a:defRPr sz="2000" b="1">
                <a:solidFill>
                  <a:srgbClr val="0086B6"/>
                </a:solidFill>
              </a:defRPr>
            </a:lvl6pPr>
            <a:lvl7pPr>
              <a:defRPr sz="2000" b="1">
                <a:solidFill>
                  <a:srgbClr val="0086B6"/>
                </a:solidFill>
              </a:defRPr>
            </a:lvl7pPr>
            <a:lvl8pPr>
              <a:defRPr sz="2000" b="1">
                <a:solidFill>
                  <a:srgbClr val="0086B6"/>
                </a:solidFill>
              </a:defRPr>
            </a:lvl8pPr>
            <a:lvl9pPr>
              <a:defRPr sz="2000" b="1">
                <a:solidFill>
                  <a:srgbClr val="0086B6"/>
                </a:solidFill>
              </a:defRPr>
            </a:lvl9pPr>
          </a:lstStyle>
          <a:p>
            <a:pPr>
              <a:defRPr sz="2000" b="1">
                <a:solidFill>
                  <a:srgbClr val="0086B6"/>
                </a:solidFill>
              </a:defRPr>
            </a:pPr>
            <a:r>
              <a:rPr sz="2000" b="1">
                <a:solidFill>
                  <a:srgbClr val="0086B6"/>
                </a:solidFill>
                <a:latin typeface="Arial"/>
                <a:ea typeface="Arial"/>
                <a:cs typeface="Arial"/>
              </a:rPr>
              <a:t>Score the finding</a:t>
            </a:r>
          </a:p>
        </p:txBody>
      </p:sp>
      <p:sp>
        <p:nvSpPr>
          <p:cNvPr id="1015" name="Step body 3">
            <a:extLst>
              <a:ext uri="{FF2B5EF4-FFF2-40B4-BE49-F238E27FC236}">
                <a16:creationId xmlns:a16="http://schemas.microsoft.com/office/drawing/2014/main" id="{BC8EDAEB-E581-4188-8329-29D842ACFD24}"/>
              </a:ext>
            </a:extLst>
          </p:cNvPr>
          <p:cNvSpPr>
            <a:spLocks noGrp="1"/>
          </p:cNvSpPr>
          <p:nvPr/>
        </p:nvSpPr>
        <p:spPr>
          <a:xfrm>
            <a:off x="8741664" y="3282696"/>
            <a:ext cx="2633472" cy="914400"/>
          </a:xfrm>
          <a:prstGeom prst="rect">
            <a:avLst/>
          </a:prstGeom>
          <a:noFill/>
          <a:ln w="0">
            <a:noFill/>
            <a:prstDash val="solid"/>
          </a:ln>
        </p:spPr>
        <p:txBody>
          <a:bodyPr wrap="square" lIns="0" tIns="0" rIns="0" bIns="0" anchor="t">
            <a:noAutofit/>
          </a:bodyPr>
          <a:lstStyle>
            <a:defPPr>
              <a:defRPr sz="1700" b="0">
                <a:solidFill>
                  <a:srgbClr val="33333A"/>
                </a:solidFill>
              </a:defRPr>
            </a:defPPr>
            <a:lvl1pPr>
              <a:defRPr sz="1700" b="0">
                <a:solidFill>
                  <a:srgbClr val="33333A"/>
                </a:solidFill>
              </a:defRPr>
            </a:lvl1pPr>
            <a:lvl2pPr>
              <a:defRPr sz="1700" b="0">
                <a:solidFill>
                  <a:srgbClr val="33333A"/>
                </a:solidFill>
              </a:defRPr>
            </a:lvl2pPr>
            <a:lvl3pPr>
              <a:defRPr sz="1700" b="0">
                <a:solidFill>
                  <a:srgbClr val="33333A"/>
                </a:solidFill>
              </a:defRPr>
            </a:lvl3pPr>
            <a:lvl4pPr>
              <a:defRPr sz="1700" b="0">
                <a:solidFill>
                  <a:srgbClr val="33333A"/>
                </a:solidFill>
              </a:defRPr>
            </a:lvl4pPr>
            <a:lvl5pPr>
              <a:defRPr sz="1700" b="0">
                <a:solidFill>
                  <a:srgbClr val="33333A"/>
                </a:solidFill>
              </a:defRPr>
            </a:lvl5pPr>
            <a:lvl6pPr>
              <a:defRPr sz="1700" b="0">
                <a:solidFill>
                  <a:srgbClr val="33333A"/>
                </a:solidFill>
              </a:defRPr>
            </a:lvl6pPr>
            <a:lvl7pPr>
              <a:defRPr sz="1700" b="0">
                <a:solidFill>
                  <a:srgbClr val="33333A"/>
                </a:solidFill>
              </a:defRPr>
            </a:lvl7pPr>
            <a:lvl8pPr>
              <a:defRPr sz="1700" b="0">
                <a:solidFill>
                  <a:srgbClr val="33333A"/>
                </a:solidFill>
              </a:defRPr>
            </a:lvl8pPr>
            <a:lvl9pPr>
              <a:defRPr sz="1700" b="0">
                <a:solidFill>
                  <a:srgbClr val="33333A"/>
                </a:solidFill>
              </a:defRPr>
            </a:lvl9pPr>
          </a:lstStyle>
          <a:p>
            <a:pPr>
              <a:defRPr sz="1700" b="0">
                <a:solidFill>
                  <a:srgbClr val="33333A"/>
                </a:solidFill>
              </a:defRPr>
            </a:pPr>
            <a:r>
              <a:rPr sz="1700" b="0">
                <a:solidFill>
                  <a:srgbClr val="33333A"/>
                </a:solidFill>
                <a:latin typeface="Arial"/>
                <a:ea typeface="Arial"/>
                <a:cs typeface="Arial"/>
              </a:rPr>
              <a:t>Compare the response</a:t>
            </a:r>
            <a:br>
              <a:rPr sz="1700" b="0">
                <a:solidFill>
                  <a:srgbClr val="33333A"/>
                </a:solidFill>
                <a:latin typeface="Arial"/>
                <a:ea typeface="Arial"/>
                <a:cs typeface="Arial"/>
              </a:rPr>
            </a:br>
            <a:r>
              <a:rPr sz="1700" b="0">
                <a:solidFill>
                  <a:srgbClr val="33333A"/>
                </a:solidFill>
                <a:latin typeface="Arial"/>
                <a:ea typeface="Arial"/>
                <a:cs typeface="Arial"/>
              </a:rPr>
              <a:t>with the known flaw</a:t>
            </a:r>
          </a:p>
        </p:txBody>
      </p:sp>
      <p:sp>
        <p:nvSpPr>
          <p:cNvPr id="1016" name="Review brief">
            <a:extLst>
              <a:ext uri="{FF2B5EF4-FFF2-40B4-BE49-F238E27FC236}">
                <a16:creationId xmlns:a16="http://schemas.microsoft.com/office/drawing/2014/main" id="{9DF17875-4F61-4ED4-AA5B-0BBAE8D6C13B}"/>
              </a:ext>
            </a:extLst>
          </p:cNvPr>
          <p:cNvSpPr>
            <a:spLocks noGrp="1"/>
          </p:cNvSpPr>
          <p:nvPr/>
        </p:nvSpPr>
        <p:spPr>
          <a:xfrm>
            <a:off x="812902" y="4562856"/>
            <a:ext cx="10561320" cy="941832"/>
          </a:xfrm>
          <a:prstGeom prst="rect">
            <a:avLst/>
          </a:prstGeom>
          <a:solidFill>
            <a:srgbClr val="F3F6F0"/>
          </a:solidFill>
          <a:ln w="0">
            <a:noFill/>
            <a:prstDash val="solid"/>
          </a:ln>
        </p:spPr>
        <p:txBody>
          <a:bodyPr/>
          <a:lstStyle/>
          <a:p>
            <a:endParaRPr lang="en-US"/>
          </a:p>
        </p:txBody>
      </p:sp>
      <p:sp>
        <p:nvSpPr>
          <p:cNvPr id="1017" name="Brief label">
            <a:extLst>
              <a:ext uri="{FF2B5EF4-FFF2-40B4-BE49-F238E27FC236}">
                <a16:creationId xmlns:a16="http://schemas.microsoft.com/office/drawing/2014/main" id="{97589D0F-429E-4717-9A4A-7F83C6CE7018}"/>
              </a:ext>
            </a:extLst>
          </p:cNvPr>
          <p:cNvSpPr>
            <a:spLocks noGrp="1"/>
          </p:cNvSpPr>
          <p:nvPr/>
        </p:nvSpPr>
        <p:spPr>
          <a:xfrm>
            <a:off x="1005840" y="4700016"/>
            <a:ext cx="9966960" cy="246888"/>
          </a:xfrm>
          <a:prstGeom prst="rect">
            <a:avLst/>
          </a:prstGeom>
          <a:noFill/>
          <a:ln w="0">
            <a:noFill/>
            <a:prstDash val="solid"/>
          </a:ln>
        </p:spPr>
        <p:txBody>
          <a:bodyPr wrap="square" lIns="0" tIns="0" rIns="0" bIns="0" anchor="t">
            <a:noAutofit/>
          </a:bodyPr>
          <a:lstStyle>
            <a:defPPr>
              <a:defRPr sz="1200" b="1">
                <a:solidFill>
                  <a:srgbClr val="4C8835"/>
                </a:solidFill>
              </a:defRPr>
            </a:defPPr>
            <a:lvl1pPr>
              <a:defRPr sz="1200" b="1">
                <a:solidFill>
                  <a:srgbClr val="4C8835"/>
                </a:solidFill>
              </a:defRPr>
            </a:lvl1pPr>
            <a:lvl2pPr>
              <a:defRPr sz="1200" b="1">
                <a:solidFill>
                  <a:srgbClr val="4C8835"/>
                </a:solidFill>
              </a:defRPr>
            </a:lvl2pPr>
            <a:lvl3pPr>
              <a:defRPr sz="1200" b="1">
                <a:solidFill>
                  <a:srgbClr val="4C8835"/>
                </a:solidFill>
              </a:defRPr>
            </a:lvl3pPr>
            <a:lvl4pPr>
              <a:defRPr sz="1200" b="1">
                <a:solidFill>
                  <a:srgbClr val="4C8835"/>
                </a:solidFill>
              </a:defRPr>
            </a:lvl4pPr>
            <a:lvl5pPr>
              <a:defRPr sz="1200" b="1">
                <a:solidFill>
                  <a:srgbClr val="4C8835"/>
                </a:solidFill>
              </a:defRPr>
            </a:lvl5pPr>
            <a:lvl6pPr>
              <a:defRPr sz="1200" b="1">
                <a:solidFill>
                  <a:srgbClr val="4C8835"/>
                </a:solidFill>
              </a:defRPr>
            </a:lvl6pPr>
            <a:lvl7pPr>
              <a:defRPr sz="1200" b="1">
                <a:solidFill>
                  <a:srgbClr val="4C8835"/>
                </a:solidFill>
              </a:defRPr>
            </a:lvl7pPr>
            <a:lvl8pPr>
              <a:defRPr sz="1200" b="1">
                <a:solidFill>
                  <a:srgbClr val="4C8835"/>
                </a:solidFill>
              </a:defRPr>
            </a:lvl8pPr>
            <a:lvl9pPr>
              <a:defRPr sz="1200" b="1">
                <a:solidFill>
                  <a:srgbClr val="4C8835"/>
                </a:solidFill>
              </a:defRPr>
            </a:lvl9pPr>
          </a:lstStyle>
          <a:p>
            <a:pPr>
              <a:defRPr sz="1200" b="1">
                <a:solidFill>
                  <a:srgbClr val="4C8835"/>
                </a:solidFill>
              </a:defRPr>
            </a:pPr>
            <a:r>
              <a:rPr sz="1200" b="1">
                <a:solidFill>
                  <a:srgbClr val="4C8835"/>
                </a:solidFill>
                <a:latin typeface="Arial"/>
                <a:ea typeface="Arial"/>
                <a:cs typeface="Arial"/>
              </a:rPr>
              <a:t>GENERAL REVIEW BRIEF, SUMMARIZED</a:t>
            </a:r>
          </a:p>
        </p:txBody>
      </p:sp>
      <p:sp>
        <p:nvSpPr>
          <p:cNvPr id="1018" name="Brief text">
            <a:extLst>
              <a:ext uri="{FF2B5EF4-FFF2-40B4-BE49-F238E27FC236}">
                <a16:creationId xmlns:a16="http://schemas.microsoft.com/office/drawing/2014/main" id="{FDF9E5EB-FF2F-4CF1-8BC1-6A9E5BF03F19}"/>
              </a:ext>
            </a:extLst>
          </p:cNvPr>
          <p:cNvSpPr>
            <a:spLocks noGrp="1"/>
          </p:cNvSpPr>
          <p:nvPr/>
        </p:nvSpPr>
        <p:spPr>
          <a:xfrm>
            <a:off x="1005840" y="5056632"/>
            <a:ext cx="9966960" cy="329184"/>
          </a:xfrm>
          <a:prstGeom prst="rect">
            <a:avLst/>
          </a:prstGeom>
          <a:noFill/>
          <a:ln w="0">
            <a:noFill/>
            <a:prstDash val="solid"/>
          </a:ln>
        </p:spPr>
        <p:txBody>
          <a:bodyPr wrap="square" lIns="0" tIns="0" rIns="0" bIns="0" anchor="t">
            <a:noAutofit/>
          </a:bodyPr>
          <a:lstStyle>
            <a:defPPr>
              <a:defRPr sz="2000" b="0">
                <a:solidFill>
                  <a:srgbClr val="33333A"/>
                </a:solidFill>
              </a:defRPr>
            </a:defPPr>
            <a:lvl1pPr>
              <a:defRPr sz="2000" b="0">
                <a:solidFill>
                  <a:srgbClr val="33333A"/>
                </a:solidFill>
              </a:defRPr>
            </a:lvl1pPr>
            <a:lvl2pPr>
              <a:defRPr sz="2000" b="0">
                <a:solidFill>
                  <a:srgbClr val="33333A"/>
                </a:solidFill>
              </a:defRPr>
            </a:lvl2pPr>
            <a:lvl3pPr>
              <a:defRPr sz="2000" b="0">
                <a:solidFill>
                  <a:srgbClr val="33333A"/>
                </a:solidFill>
              </a:defRPr>
            </a:lvl3pPr>
            <a:lvl4pPr>
              <a:defRPr sz="2000" b="0">
                <a:solidFill>
                  <a:srgbClr val="33333A"/>
                </a:solidFill>
              </a:defRPr>
            </a:lvl4pPr>
            <a:lvl5pPr>
              <a:defRPr sz="2000" b="0">
                <a:solidFill>
                  <a:srgbClr val="33333A"/>
                </a:solidFill>
              </a:defRPr>
            </a:lvl5pPr>
            <a:lvl6pPr>
              <a:defRPr sz="2000" b="0">
                <a:solidFill>
                  <a:srgbClr val="33333A"/>
                </a:solidFill>
              </a:defRPr>
            </a:lvl6pPr>
            <a:lvl7pPr>
              <a:defRPr sz="2000" b="0">
                <a:solidFill>
                  <a:srgbClr val="33333A"/>
                </a:solidFill>
              </a:defRPr>
            </a:lvl7pPr>
            <a:lvl8pPr>
              <a:defRPr sz="2000" b="0">
                <a:solidFill>
                  <a:srgbClr val="33333A"/>
                </a:solidFill>
              </a:defRPr>
            </a:lvl8pPr>
            <a:lvl9pPr>
              <a:defRPr sz="2000" b="0">
                <a:solidFill>
                  <a:srgbClr val="33333A"/>
                </a:solidFill>
              </a:defRPr>
            </a:lvl9pPr>
          </a:lstStyle>
          <a:p>
            <a:pPr>
              <a:defRPr sz="2000" b="0">
                <a:solidFill>
                  <a:srgbClr val="33333A"/>
                </a:solidFill>
              </a:defRPr>
            </a:pPr>
            <a:r>
              <a:rPr sz="2000" b="0">
                <a:solidFill>
                  <a:srgbClr val="33333A"/>
                </a:solidFill>
                <a:latin typeface="Arial"/>
                <a:ea typeface="Arial"/>
                <a:cs typeface="Arial"/>
              </a:rPr>
              <a:t>Report issues before merge. Give the location, problem and severity.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77D38BA-8B1C-29EE-18F5-EB8745B54645}"/>
              </a:ext>
            </a:extLst>
          </p:cNvPr>
          <p:cNvSpPr>
            <a:spLocks noGrp="1"/>
          </p:cNvSpPr>
          <p:nvPr>
            <p:ph type="title"/>
          </p:nvPr>
        </p:nvSpPr>
        <p:spPr/>
        <p:txBody>
          <a:bodyPr/>
          <a:lstStyle/>
          <a:p>
            <a:r>
              <a:rPr lang="en-US" i="1" dirty="0"/>
              <a:t>Which bug class do you trust AI review least to catch?</a:t>
            </a:r>
            <a:endParaRPr lang="en-US" dirty="0"/>
          </a:p>
        </p:txBody>
      </p:sp>
      <p:sp>
        <p:nvSpPr>
          <p:cNvPr id="9" name="Text Placeholder 8">
            <a:extLst>
              <a:ext uri="{FF2B5EF4-FFF2-40B4-BE49-F238E27FC236}">
                <a16:creationId xmlns:a16="http://schemas.microsoft.com/office/drawing/2014/main" id="{6F89AE2F-0AC5-364E-9460-D2A2B0F05E26}"/>
              </a:ext>
            </a:extLst>
          </p:cNvPr>
          <p:cNvSpPr>
            <a:spLocks noGrp="1"/>
          </p:cNvSpPr>
          <p:nvPr>
            <p:ph type="body" sz="quarter" idx="10"/>
          </p:nvPr>
        </p:nvSpPr>
        <p:spPr/>
        <p:txBody>
          <a:bodyPr/>
          <a:lstStyle/>
          <a:p>
            <a:r>
              <a:rPr lang="en-US" dirty="0"/>
              <a:t>Broken access control </a:t>
            </a:r>
          </a:p>
          <a:p>
            <a:r>
              <a:rPr lang="en-US" dirty="0"/>
              <a:t>Injection (SQL, XSS) </a:t>
            </a:r>
          </a:p>
          <a:p>
            <a:r>
              <a:rPr lang="en-US" dirty="0"/>
              <a:t>Misconfiguration and exposed secrets</a:t>
            </a:r>
          </a:p>
          <a:p>
            <a:r>
              <a:rPr lang="en-US" dirty="0"/>
              <a:t>Authentication failures</a:t>
            </a:r>
          </a:p>
          <a:p>
            <a:r>
              <a:rPr lang="en-US" dirty="0"/>
              <a:t>Server-side request forgery (SSRF) </a:t>
            </a:r>
          </a:p>
          <a:p>
            <a:r>
              <a:rPr lang="en-US" dirty="0"/>
              <a:t>I don’t know</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2009" name="title">
            <a:extLst>
              <a:ext uri="{FF2B5EF4-FFF2-40B4-BE49-F238E27FC236}">
                <a16:creationId xmlns:a16="http://schemas.microsoft.com/office/drawing/2014/main" id="{98AABC80-F55A-4580-BA6B-782940BD9FF0}"/>
              </a:ext>
            </a:extLst>
          </p:cNvPr>
          <p:cNvSpPr>
            <a:spLocks noGrp="1"/>
          </p:cNvSpPr>
          <p:nvPr/>
        </p:nvSpPr>
        <p:spPr>
          <a:xfrm>
            <a:off x="812864" y="819150"/>
            <a:ext cx="10572750" cy="514350"/>
          </a:xfrm>
          <a:prstGeom prst="rect">
            <a:avLst/>
          </a:prstGeom>
          <a:noFill/>
          <a:ln w="0">
            <a:noFill/>
          </a:ln>
        </p:spPr>
        <p:txBody>
          <a:bodyPr lIns="0" tIns="0" rIns="0" bIns="0" anchor="ctr">
            <a:noAutofit/>
          </a:bodyPr>
          <a:lstStyle>
            <a:defPPr>
              <a:defRPr sz="3000" b="1">
                <a:solidFill>
                  <a:srgbClr val="4F8734"/>
                </a:solidFill>
              </a:defRPr>
            </a:defPPr>
            <a:lvl1pPr>
              <a:defRPr sz="3000" b="1">
                <a:solidFill>
                  <a:srgbClr val="4F8734"/>
                </a:solidFill>
              </a:defRPr>
            </a:lvl1pPr>
            <a:lvl2pPr>
              <a:defRPr sz="3000" b="1">
                <a:solidFill>
                  <a:srgbClr val="4F8734"/>
                </a:solidFill>
              </a:defRPr>
            </a:lvl2pPr>
            <a:lvl3pPr>
              <a:defRPr sz="3000" b="1">
                <a:solidFill>
                  <a:srgbClr val="4F8734"/>
                </a:solidFill>
              </a:defRPr>
            </a:lvl3pPr>
            <a:lvl4pPr>
              <a:defRPr sz="3000" b="1">
                <a:solidFill>
                  <a:srgbClr val="4F8734"/>
                </a:solidFill>
              </a:defRPr>
            </a:lvl4pPr>
            <a:lvl5pPr>
              <a:defRPr sz="3000" b="1">
                <a:solidFill>
                  <a:srgbClr val="4F8734"/>
                </a:solidFill>
              </a:defRPr>
            </a:lvl5pPr>
            <a:lvl6pPr>
              <a:defRPr sz="3000" b="1">
                <a:solidFill>
                  <a:srgbClr val="4F8734"/>
                </a:solidFill>
              </a:defRPr>
            </a:lvl6pPr>
            <a:lvl7pPr>
              <a:defRPr sz="3000" b="1">
                <a:solidFill>
                  <a:srgbClr val="4F8734"/>
                </a:solidFill>
              </a:defRPr>
            </a:lvl7pPr>
            <a:lvl8pPr>
              <a:defRPr sz="3000" b="1">
                <a:solidFill>
                  <a:srgbClr val="4F8734"/>
                </a:solidFill>
              </a:defRPr>
            </a:lvl8pPr>
            <a:lvl9pPr>
              <a:defRPr sz="3000" b="1">
                <a:solidFill>
                  <a:srgbClr val="4F8734"/>
                </a:solidFill>
              </a:defRPr>
            </a:lvl9pPr>
          </a:lstStyle>
          <a:p>
            <a:pPr>
              <a:defRPr sz="3000" b="1">
                <a:solidFill>
                  <a:srgbClr val="4F8734"/>
                </a:solidFill>
              </a:defRPr>
            </a:pPr>
            <a:r>
              <a:rPr sz="3000" b="1">
                <a:solidFill>
                  <a:srgbClr val="4F8734"/>
                </a:solidFill>
              </a:rPr>
              <a:t>Round 1: Haiku catches 8 of 24</a:t>
            </a:r>
          </a:p>
        </p:txBody>
      </p:sp>
      <p:sp>
        <p:nvSpPr>
          <p:cNvPr id="2002" name="subtitle">
            <a:extLst>
              <a:ext uri="{FF2B5EF4-FFF2-40B4-BE49-F238E27FC236}">
                <a16:creationId xmlns:a16="http://schemas.microsoft.com/office/drawing/2014/main" id="{5B9B5B0F-720A-4550-8898-BB88F09BFB64}"/>
              </a:ext>
            </a:extLst>
          </p:cNvPr>
          <p:cNvSpPr>
            <a:spLocks noGrp="1"/>
          </p:cNvSpPr>
          <p:nvPr/>
        </p:nvSpPr>
        <p:spPr>
          <a:xfrm>
            <a:off x="812864" y="1390650"/>
            <a:ext cx="10572750" cy="409575"/>
          </a:xfrm>
          <a:prstGeom prst="rect">
            <a:avLst/>
          </a:prstGeom>
          <a:noFill/>
          <a:ln w="0">
            <a:noFill/>
          </a:ln>
        </p:spPr>
        <p:txBody>
          <a:bodyPr lIns="0" tIns="0" rIns="0" bIns="0" anchor="ctr">
            <a:noAutofit/>
          </a:bodyPr>
          <a:lstStyle>
            <a:defPPr>
              <a:defRPr sz="1725" b="0">
                <a:solidFill>
                  <a:srgbClr val="303238"/>
                </a:solidFill>
              </a:defRPr>
            </a:defPPr>
            <a:lvl1pPr>
              <a:defRPr sz="1725" b="0">
                <a:solidFill>
                  <a:srgbClr val="303238"/>
                </a:solidFill>
              </a:defRPr>
            </a:lvl1pPr>
            <a:lvl2pPr>
              <a:defRPr sz="1725" b="0">
                <a:solidFill>
                  <a:srgbClr val="303238"/>
                </a:solidFill>
              </a:defRPr>
            </a:lvl2pPr>
            <a:lvl3pPr>
              <a:defRPr sz="1725" b="0">
                <a:solidFill>
                  <a:srgbClr val="303238"/>
                </a:solidFill>
              </a:defRPr>
            </a:lvl3pPr>
            <a:lvl4pPr>
              <a:defRPr sz="1725" b="0">
                <a:solidFill>
                  <a:srgbClr val="303238"/>
                </a:solidFill>
              </a:defRPr>
            </a:lvl4pPr>
            <a:lvl5pPr>
              <a:defRPr sz="1725" b="0">
                <a:solidFill>
                  <a:srgbClr val="303238"/>
                </a:solidFill>
              </a:defRPr>
            </a:lvl5pPr>
            <a:lvl6pPr>
              <a:defRPr sz="1725" b="0">
                <a:solidFill>
                  <a:srgbClr val="303238"/>
                </a:solidFill>
              </a:defRPr>
            </a:lvl6pPr>
            <a:lvl7pPr>
              <a:defRPr sz="1725" b="0">
                <a:solidFill>
                  <a:srgbClr val="303238"/>
                </a:solidFill>
              </a:defRPr>
            </a:lvl7pPr>
            <a:lvl8pPr>
              <a:defRPr sz="1725" b="0">
                <a:solidFill>
                  <a:srgbClr val="303238"/>
                </a:solidFill>
              </a:defRPr>
            </a:lvl8pPr>
            <a:lvl9pPr>
              <a:defRPr sz="1725" b="0">
                <a:solidFill>
                  <a:srgbClr val="303238"/>
                </a:solidFill>
              </a:defRPr>
            </a:lvl9pPr>
          </a:lstStyle>
          <a:p>
            <a:pPr>
              <a:defRPr sz="1725" b="0">
                <a:solidFill>
                  <a:srgbClr val="303238"/>
                </a:solidFill>
              </a:defRPr>
            </a:pPr>
            <a:r>
              <a:rPr sz="1725" b="0">
                <a:solidFill>
                  <a:srgbClr val="303238"/>
                </a:solidFill>
              </a:rPr>
              <a:t>Fully caught cases by OWASP Top 10 category</a:t>
            </a:r>
          </a:p>
        </p:txBody>
      </p:sp>
      <p:sp>
        <p:nvSpPr>
          <p:cNvPr id="2003" name="original group">
            <a:extLst>
              <a:ext uri="{FF2B5EF4-FFF2-40B4-BE49-F238E27FC236}">
                <a16:creationId xmlns:a16="http://schemas.microsoft.com/office/drawing/2014/main" id="{02996521-286A-4E62-824F-68414059E832}"/>
              </a:ext>
            </a:extLst>
          </p:cNvPr>
          <p:cNvSpPr>
            <a:spLocks noGrp="1"/>
          </p:cNvSpPr>
          <p:nvPr/>
        </p:nvSpPr>
        <p:spPr>
          <a:xfrm>
            <a:off x="4289489" y="1809750"/>
            <a:ext cx="1419225" cy="228600"/>
          </a:xfrm>
          <a:prstGeom prst="rect">
            <a:avLst/>
          </a:prstGeom>
          <a:noFill/>
          <a:ln w="0">
            <a:noFill/>
          </a:ln>
        </p:spPr>
        <p:txBody>
          <a:bodyPr lIns="0" tIns="0" rIns="0" bIns="0" anchor="ctr">
            <a:noAutofit/>
          </a:bodyPr>
          <a:lstStyle>
            <a:defPPr>
              <a:defRPr sz="1200" b="1">
                <a:solidFill>
                  <a:srgbClr val="0086AC"/>
                </a:solidFill>
              </a:defRPr>
            </a:defPPr>
            <a:lvl1pPr>
              <a:defRPr sz="1200" b="1">
                <a:solidFill>
                  <a:srgbClr val="0086AC"/>
                </a:solidFill>
              </a:defRPr>
            </a:lvl1pPr>
            <a:lvl2pPr>
              <a:defRPr sz="1200" b="1">
                <a:solidFill>
                  <a:srgbClr val="0086AC"/>
                </a:solidFill>
              </a:defRPr>
            </a:lvl2pPr>
            <a:lvl3pPr>
              <a:defRPr sz="1200" b="1">
                <a:solidFill>
                  <a:srgbClr val="0086AC"/>
                </a:solidFill>
              </a:defRPr>
            </a:lvl3pPr>
            <a:lvl4pPr>
              <a:defRPr sz="1200" b="1">
                <a:solidFill>
                  <a:srgbClr val="0086AC"/>
                </a:solidFill>
              </a:defRPr>
            </a:lvl4pPr>
            <a:lvl5pPr>
              <a:defRPr sz="1200" b="1">
                <a:solidFill>
                  <a:srgbClr val="0086AC"/>
                </a:solidFill>
              </a:defRPr>
            </a:lvl5pPr>
            <a:lvl6pPr>
              <a:defRPr sz="1200" b="1">
                <a:solidFill>
                  <a:srgbClr val="0086AC"/>
                </a:solidFill>
              </a:defRPr>
            </a:lvl6pPr>
            <a:lvl7pPr>
              <a:defRPr sz="1200" b="1">
                <a:solidFill>
                  <a:srgbClr val="0086AC"/>
                </a:solidFill>
              </a:defRPr>
            </a:lvl7pPr>
            <a:lvl8pPr>
              <a:defRPr sz="1200" b="1">
                <a:solidFill>
                  <a:srgbClr val="0086AC"/>
                </a:solidFill>
              </a:defRPr>
            </a:lvl8pPr>
            <a:lvl9pPr>
              <a:defRPr sz="1200" b="1">
                <a:solidFill>
                  <a:srgbClr val="0086AC"/>
                </a:solidFill>
              </a:defRPr>
            </a:lvl9pPr>
          </a:lstStyle>
          <a:p>
            <a:pPr>
              <a:defRPr sz="1200" b="1">
                <a:solidFill>
                  <a:srgbClr val="0086AC"/>
                </a:solidFill>
              </a:defRPr>
            </a:pPr>
            <a:r>
              <a:rPr sz="1200" b="1">
                <a:solidFill>
                  <a:srgbClr val="0086AC"/>
                </a:solidFill>
              </a:rPr>
              <a:t>Original study</a:t>
            </a:r>
          </a:p>
        </p:txBody>
      </p:sp>
      <p:graphicFrame>
        <p:nvGraphicFramePr>
          <p:cNvPr id="2004" name="Table 2003">
            <a:extLst>
              <a:ext uri="{FF2B5EF4-FFF2-40B4-BE49-F238E27FC236}">
                <a16:creationId xmlns:a16="http://schemas.microsoft.com/office/drawing/2014/main" id="{68F55C24-B1C7-4C0E-9B42-3492ADFB94E5}"/>
              </a:ext>
            </a:extLst>
          </p:cNvPr>
          <p:cNvGraphicFramePr/>
          <p:nvPr/>
        </p:nvGraphicFramePr>
        <p:xfrm>
          <a:off x="812864" y="2105025"/>
          <a:ext cx="4895850" cy="3219450"/>
        </p:xfrm>
        <a:graphic>
          <a:graphicData uri="http://schemas.openxmlformats.org/drawingml/2006/table">
            <a:tbl>
              <a:tblPr/>
              <a:tblGrid>
                <a:gridCol w="2762250">
                  <a:extLst>
                    <a:ext uri="{9D8B030D-6E8A-4147-A177-3AD203B41FA5}">
                      <a16:colId xmlns:a16="http://schemas.microsoft.com/office/drawing/2014/main" val="20000"/>
                    </a:ext>
                  </a:extLst>
                </a:gridCol>
                <a:gridCol w="714375">
                  <a:extLst>
                    <a:ext uri="{9D8B030D-6E8A-4147-A177-3AD203B41FA5}">
                      <a16:colId xmlns:a16="http://schemas.microsoft.com/office/drawing/2014/main" val="20001"/>
                    </a:ext>
                  </a:extLst>
                </a:gridCol>
                <a:gridCol w="1419225">
                  <a:extLst>
                    <a:ext uri="{9D8B030D-6E8A-4147-A177-3AD203B41FA5}">
                      <a16:colId xmlns:a16="http://schemas.microsoft.com/office/drawing/2014/main" val="20002"/>
                    </a:ext>
                  </a:extLst>
                </a:gridCol>
              </a:tblGrid>
              <a:tr h="542925">
                <a:tc>
                  <a:txBody>
                    <a:bodyPr/>
                    <a:lstStyle/>
                    <a:p>
                      <a:pPr algn="l"/>
                      <a:r>
                        <a:rPr sz="1275" b="1">
                          <a:solidFill>
                            <a:srgbClr val="FFFFFF"/>
                          </a:solidFill>
                        </a:rPr>
                        <a:t>OWASP category</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0086AC"/>
                    </a:solidFill>
                  </a:tcPr>
                </a:tc>
                <a:tc>
                  <a:txBody>
                    <a:bodyPr/>
                    <a:lstStyle/>
                    <a:p>
                      <a:pPr algn="ctr"/>
                      <a:r>
                        <a:rPr sz="1275" b="1">
                          <a:solidFill>
                            <a:srgbClr val="FFFFFF"/>
                          </a:solidFill>
                        </a:rPr>
                        <a:t>Cases</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a:solidFill>
                        <a:srgbClr val="D7DDD4"/>
                      </a:solidFill>
                      <a:prstDash val="solid"/>
                    </a:lnT>
                    <a:lnB w="4763">
                      <a:solidFill>
                        <a:srgbClr val="D7DDD4"/>
                      </a:solidFill>
                      <a:prstDash val="solid"/>
                    </a:lnB>
                    <a:solidFill>
                      <a:srgbClr val="0086AC"/>
                    </a:solidFill>
                  </a:tcPr>
                </a:tc>
                <a:tc>
                  <a:txBody>
                    <a:bodyPr/>
                    <a:lstStyle/>
                    <a:p>
                      <a:pPr algn="ctr"/>
                      <a:r>
                        <a:rPr sz="1275" b="1">
                          <a:solidFill>
                            <a:srgbClr val="FFFFFF"/>
                          </a:solidFill>
                        </a:rPr>
                        <a:t>Haiku 4.5</a:t>
                      </a:r>
                    </a:p>
                    <a:p>
                      <a:pPr algn="ctr"/>
                      <a:r>
                        <a:rPr sz="1275" b="1">
                          <a:solidFill>
                            <a:srgbClr val="FFFFFF"/>
                          </a:solidFill>
                        </a:rPr>
                        <a:t>Generic prompt</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a:solidFill>
                        <a:srgbClr val="D7DDD4"/>
                      </a:solidFill>
                      <a:prstDash val="solid"/>
                    </a:lnT>
                    <a:lnB w="4763">
                      <a:solidFill>
                        <a:srgbClr val="D7DDD4"/>
                      </a:solidFill>
                      <a:prstDash val="solid"/>
                    </a:lnB>
                    <a:solidFill>
                      <a:srgbClr val="4F8734"/>
                    </a:solidFill>
                  </a:tcPr>
                </a:tc>
                <a:extLst>
                  <a:ext uri="{0D108BD9-81ED-4DB2-BD59-A6C34878D82A}">
                    <a16:rowId xmlns:a16="http://schemas.microsoft.com/office/drawing/2014/main" val="10000"/>
                  </a:ext>
                </a:extLst>
              </a:tr>
              <a:tr h="426720">
                <a:tc>
                  <a:txBody>
                    <a:bodyPr/>
                    <a:lstStyle/>
                    <a:p>
                      <a:pPr algn="l"/>
                      <a:r>
                        <a:rPr sz="1425" b="0">
                          <a:solidFill>
                            <a:srgbClr val="303238"/>
                          </a:solidFill>
                        </a:rPr>
                        <a:t>A01  Broken Access Control</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8</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1">
                          <a:solidFill>
                            <a:srgbClr val="3D7327"/>
                          </a:solidFill>
                        </a:rPr>
                        <a:t>3 of 8</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DCEBD2"/>
                    </a:solidFill>
                  </a:tcPr>
                </a:tc>
                <a:extLst>
                  <a:ext uri="{0D108BD9-81ED-4DB2-BD59-A6C34878D82A}">
                    <a16:rowId xmlns:a16="http://schemas.microsoft.com/office/drawing/2014/main" val="10001"/>
                  </a:ext>
                </a:extLst>
              </a:tr>
              <a:tr h="426720">
                <a:tc>
                  <a:txBody>
                    <a:bodyPr/>
                    <a:lstStyle/>
                    <a:p>
                      <a:pPr algn="l"/>
                      <a:r>
                        <a:rPr sz="1425" b="0">
                          <a:solidFill>
                            <a:srgbClr val="303238"/>
                          </a:solidFill>
                        </a:rPr>
                        <a:t>A03  Injection</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11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1">
                          <a:solidFill>
                            <a:srgbClr val="3D7327"/>
                          </a:solidFill>
                        </a:rPr>
                        <a:t>5 of 11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DCEBD2"/>
                    </a:solidFill>
                  </a:tcPr>
                </a:tc>
                <a:extLst>
                  <a:ext uri="{0D108BD9-81ED-4DB2-BD59-A6C34878D82A}">
                    <a16:rowId xmlns:a16="http://schemas.microsoft.com/office/drawing/2014/main" val="10002"/>
                  </a:ext>
                </a:extLst>
              </a:tr>
              <a:tr h="426720">
                <a:tc>
                  <a:txBody>
                    <a:bodyPr/>
                    <a:lstStyle/>
                    <a:p>
                      <a:pPr algn="l"/>
                      <a:r>
                        <a:rPr sz="1425" b="0">
                          <a:solidFill>
                            <a:srgbClr val="303238"/>
                          </a:solidFill>
                        </a:rPr>
                        <a:t>A05  Security Misconfiguration</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0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1F6ED"/>
                    </a:solidFill>
                  </a:tcPr>
                </a:tc>
                <a:extLst>
                  <a:ext uri="{0D108BD9-81ED-4DB2-BD59-A6C34878D82A}">
                    <a16:rowId xmlns:a16="http://schemas.microsoft.com/office/drawing/2014/main" val="10003"/>
                  </a:ext>
                </a:extLst>
              </a:tr>
              <a:tr h="542925">
                <a:tc>
                  <a:txBody>
                    <a:bodyPr/>
                    <a:lstStyle/>
                    <a:p>
                      <a:pPr algn="l"/>
                      <a:r>
                        <a:rPr sz="1425" b="0">
                          <a:solidFill>
                            <a:srgbClr val="303238"/>
                          </a:solidFill>
                        </a:rPr>
                        <a:t>A07  Identification &amp;</a:t>
                      </a:r>
                    </a:p>
                    <a:p>
                      <a:pPr algn="l"/>
                      <a:r>
                        <a:rPr sz="1425" b="0">
                          <a:solidFill>
                            <a:srgbClr val="303238"/>
                          </a:solidFill>
                        </a:rPr>
                        <a:t>Authentication Failures</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3</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0 of 3</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1F6ED"/>
                    </a:solidFill>
                  </a:tcPr>
                </a:tc>
                <a:extLst>
                  <a:ext uri="{0D108BD9-81ED-4DB2-BD59-A6C34878D82A}">
                    <a16:rowId xmlns:a16="http://schemas.microsoft.com/office/drawing/2014/main" val="10004"/>
                  </a:ext>
                </a:extLst>
              </a:tr>
              <a:tr h="426720">
                <a:tc>
                  <a:txBody>
                    <a:bodyPr/>
                    <a:lstStyle/>
                    <a:p>
                      <a:pPr algn="l"/>
                      <a:r>
                        <a:rPr sz="1425" b="0">
                          <a:solidFill>
                            <a:srgbClr val="303238"/>
                          </a:solidFill>
                        </a:rPr>
                        <a:t>A10  SSRF</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0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1F6ED"/>
                    </a:solidFill>
                  </a:tcPr>
                </a:tc>
                <a:extLst>
                  <a:ext uri="{0D108BD9-81ED-4DB2-BD59-A6C34878D82A}">
                    <a16:rowId xmlns:a16="http://schemas.microsoft.com/office/drawing/2014/main" val="10005"/>
                  </a:ext>
                </a:extLst>
              </a:tr>
              <a:tr h="426720">
                <a:tc>
                  <a:txBody>
                    <a:bodyPr/>
                    <a:lstStyle/>
                    <a:p>
                      <a:pPr algn="l"/>
                      <a:r>
                        <a:rPr sz="1575" b="1">
                          <a:solidFill>
                            <a:srgbClr val="303238"/>
                          </a:solidFill>
                        </a:rPr>
                        <a:t>Total caught</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E9F1E3"/>
                    </a:solidFill>
                  </a:tcPr>
                </a:tc>
                <a:tc>
                  <a:txBody>
                    <a:bodyPr/>
                    <a:lstStyle/>
                    <a:p>
                      <a:pPr algn="ctr"/>
                      <a:r>
                        <a:rPr sz="1575" b="1">
                          <a:solidFill>
                            <a:srgbClr val="303238"/>
                          </a:solidFill>
                        </a:rPr>
                        <a:t>24</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E9F1E3"/>
                    </a:solidFill>
                  </a:tcPr>
                </a:tc>
                <a:tc>
                  <a:txBody>
                    <a:bodyPr/>
                    <a:lstStyle/>
                    <a:p>
                      <a:pPr algn="ctr"/>
                      <a:r>
                        <a:rPr sz="1575" b="1">
                          <a:solidFill>
                            <a:srgbClr val="303238"/>
                          </a:solidFill>
                        </a:rPr>
                        <a:t>8 of 24</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E9F1E3"/>
                    </a:solidFill>
                  </a:tcPr>
                </a:tc>
                <a:extLst>
                  <a:ext uri="{0D108BD9-81ED-4DB2-BD59-A6C34878D82A}">
                    <a16:rowId xmlns:a16="http://schemas.microsoft.com/office/drawing/2014/main" val="10006"/>
                  </a:ext>
                </a:extLst>
              </a:tr>
            </a:tbl>
          </a:graphicData>
        </a:graphic>
      </p:graphicFrame>
      <p:sp>
        <p:nvSpPr>
          <p:cNvPr id="2005" name="audience question">
            <a:extLst>
              <a:ext uri="{FF2B5EF4-FFF2-40B4-BE49-F238E27FC236}">
                <a16:creationId xmlns:a16="http://schemas.microsoft.com/office/drawing/2014/main" id="{BE72A66B-1786-4CF4-AF17-743788DA8658}"/>
              </a:ext>
            </a:extLst>
          </p:cNvPr>
          <p:cNvSpPr>
            <a:spLocks noGrp="1"/>
          </p:cNvSpPr>
          <p:nvPr/>
        </p:nvSpPr>
        <p:spPr>
          <a:xfrm>
            <a:off x="6286500" y="2857500"/>
            <a:ext cx="4524375" cy="2000250"/>
          </a:xfrm>
          <a:prstGeom prst="rect">
            <a:avLst/>
          </a:prstGeom>
          <a:noFill/>
          <a:ln w="0">
            <a:noFill/>
          </a:ln>
        </p:spPr>
        <p:txBody>
          <a:bodyPr lIns="0" tIns="0" rIns="0" bIns="0" anchor="ctr">
            <a:noAutofit/>
          </a:bodyPr>
          <a:lstStyle>
            <a:defPPr>
              <a:defRPr sz="2100" b="1">
                <a:solidFill>
                  <a:srgbClr val="4F8734"/>
                </a:solidFill>
              </a:defRPr>
            </a:defPPr>
            <a:lvl1pPr>
              <a:defRPr sz="2100" b="1">
                <a:solidFill>
                  <a:srgbClr val="4F8734"/>
                </a:solidFill>
              </a:defRPr>
            </a:lvl1pPr>
            <a:lvl2pPr>
              <a:defRPr sz="2100" b="1">
                <a:solidFill>
                  <a:srgbClr val="4F8734"/>
                </a:solidFill>
              </a:defRPr>
            </a:lvl2pPr>
            <a:lvl3pPr>
              <a:defRPr sz="2100" b="1">
                <a:solidFill>
                  <a:srgbClr val="4F8734"/>
                </a:solidFill>
              </a:defRPr>
            </a:lvl3pPr>
            <a:lvl4pPr>
              <a:defRPr sz="2100" b="1">
                <a:solidFill>
                  <a:srgbClr val="4F8734"/>
                </a:solidFill>
              </a:defRPr>
            </a:lvl4pPr>
            <a:lvl5pPr>
              <a:defRPr sz="2100" b="1">
                <a:solidFill>
                  <a:srgbClr val="4F8734"/>
                </a:solidFill>
              </a:defRPr>
            </a:lvl5pPr>
            <a:lvl6pPr>
              <a:defRPr sz="2100" b="1">
                <a:solidFill>
                  <a:srgbClr val="4F8734"/>
                </a:solidFill>
              </a:defRPr>
            </a:lvl6pPr>
            <a:lvl7pPr>
              <a:defRPr sz="2100" b="1">
                <a:solidFill>
                  <a:srgbClr val="4F8734"/>
                </a:solidFill>
              </a:defRPr>
            </a:lvl7pPr>
            <a:lvl8pPr>
              <a:defRPr sz="2100" b="1">
                <a:solidFill>
                  <a:srgbClr val="4F8734"/>
                </a:solidFill>
              </a:defRPr>
            </a:lvl8pPr>
            <a:lvl9pPr>
              <a:defRPr sz="2100" b="1">
                <a:solidFill>
                  <a:srgbClr val="4F8734"/>
                </a:solidFill>
              </a:defRPr>
            </a:lvl9pPr>
          </a:lstStyle>
          <a:p>
            <a:pPr>
              <a:defRPr sz="2100" b="1">
                <a:solidFill>
                  <a:srgbClr val="4F8734"/>
                </a:solidFill>
              </a:defRPr>
            </a:pPr>
            <a:r>
              <a:rPr sz="2100" b="1">
                <a:solidFill>
                  <a:srgbClr val="4F8734"/>
                </a:solidFill>
              </a:rPr>
              <a:t>What would you change next?</a:t>
            </a:r>
          </a:p>
          <a:p>
            <a:endParaRPr sz="2100" b="1">
              <a:solidFill>
                <a:srgbClr val="4F8734"/>
              </a:solidFill>
            </a:endParaRPr>
          </a:p>
          <a:p>
            <a:pPr>
              <a:defRPr sz="2100" b="1">
                <a:solidFill>
                  <a:srgbClr val="4F8734"/>
                </a:solidFill>
              </a:defRPr>
            </a:pPr>
            <a:r>
              <a:rPr sz="2100" b="1">
                <a:solidFill>
                  <a:srgbClr val="4F8734"/>
                </a:solidFill>
              </a:rPr>
              <a:t>The model?</a:t>
            </a:r>
          </a:p>
          <a:p>
            <a:pPr>
              <a:defRPr sz="2100" b="1">
                <a:solidFill>
                  <a:srgbClr val="4F8734"/>
                </a:solidFill>
              </a:defRPr>
            </a:pPr>
            <a:r>
              <a:rPr sz="2100" b="1">
                <a:solidFill>
                  <a:srgbClr val="4F8734"/>
                </a:solidFill>
              </a:rPr>
              <a:t>The prompt?</a:t>
            </a:r>
          </a:p>
        </p:txBody>
      </p:sp>
      <p:sp>
        <p:nvSpPr>
          <p:cNvPr id="2006" name="takeaway">
            <a:extLst>
              <a:ext uri="{FF2B5EF4-FFF2-40B4-BE49-F238E27FC236}">
                <a16:creationId xmlns:a16="http://schemas.microsoft.com/office/drawing/2014/main" id="{7FE0B21A-E9E7-4DD5-AF99-D702A4710B61}"/>
              </a:ext>
            </a:extLst>
          </p:cNvPr>
          <p:cNvSpPr>
            <a:spLocks noGrp="1"/>
          </p:cNvSpPr>
          <p:nvPr/>
        </p:nvSpPr>
        <p:spPr>
          <a:xfrm>
            <a:off x="812864" y="5476875"/>
            <a:ext cx="10572750" cy="266700"/>
          </a:xfrm>
          <a:prstGeom prst="rect">
            <a:avLst/>
          </a:prstGeom>
          <a:noFill/>
          <a:ln w="0">
            <a:noFill/>
          </a:ln>
        </p:spPr>
        <p:txBody>
          <a:bodyPr lIns="0" tIns="0" rIns="0" bIns="0" anchor="ctr">
            <a:noAutofit/>
          </a:bodyPr>
          <a:lstStyle>
            <a:defPPr>
              <a:defRPr sz="1575" b="1">
                <a:solidFill>
                  <a:srgbClr val="303238"/>
                </a:solidFill>
              </a:defRPr>
            </a:defPPr>
            <a:lvl1pPr>
              <a:defRPr sz="1575" b="1">
                <a:solidFill>
                  <a:srgbClr val="303238"/>
                </a:solidFill>
              </a:defRPr>
            </a:lvl1pPr>
            <a:lvl2pPr>
              <a:defRPr sz="1575" b="1">
                <a:solidFill>
                  <a:srgbClr val="303238"/>
                </a:solidFill>
              </a:defRPr>
            </a:lvl2pPr>
            <a:lvl3pPr>
              <a:defRPr sz="1575" b="1">
                <a:solidFill>
                  <a:srgbClr val="303238"/>
                </a:solidFill>
              </a:defRPr>
            </a:lvl3pPr>
            <a:lvl4pPr>
              <a:defRPr sz="1575" b="1">
                <a:solidFill>
                  <a:srgbClr val="303238"/>
                </a:solidFill>
              </a:defRPr>
            </a:lvl4pPr>
            <a:lvl5pPr>
              <a:defRPr sz="1575" b="1">
                <a:solidFill>
                  <a:srgbClr val="303238"/>
                </a:solidFill>
              </a:defRPr>
            </a:lvl5pPr>
            <a:lvl6pPr>
              <a:defRPr sz="1575" b="1">
                <a:solidFill>
                  <a:srgbClr val="303238"/>
                </a:solidFill>
              </a:defRPr>
            </a:lvl6pPr>
            <a:lvl7pPr>
              <a:defRPr sz="1575" b="1">
                <a:solidFill>
                  <a:srgbClr val="303238"/>
                </a:solidFill>
              </a:defRPr>
            </a:lvl7pPr>
            <a:lvl8pPr>
              <a:defRPr sz="1575" b="1">
                <a:solidFill>
                  <a:srgbClr val="303238"/>
                </a:solidFill>
              </a:defRPr>
            </a:lvl8pPr>
            <a:lvl9pPr>
              <a:defRPr sz="1575" b="1">
                <a:solidFill>
                  <a:srgbClr val="303238"/>
                </a:solidFill>
              </a:defRPr>
            </a:lvl9pPr>
          </a:lstStyle>
          <a:p>
            <a:pPr>
              <a:defRPr sz="1575" b="1">
                <a:solidFill>
                  <a:srgbClr val="303238"/>
                </a:solidFill>
              </a:defRPr>
            </a:pPr>
            <a:r>
              <a:rPr sz="1575" b="1">
                <a:solidFill>
                  <a:srgbClr val="303238"/>
                </a:solidFill>
              </a:rPr>
              <a:t>Caught: access control and injection cases.</a:t>
            </a:r>
          </a:p>
        </p:txBody>
      </p:sp>
      <p:sp>
        <p:nvSpPr>
          <p:cNvPr id="2007" name="detail">
            <a:extLst>
              <a:ext uri="{FF2B5EF4-FFF2-40B4-BE49-F238E27FC236}">
                <a16:creationId xmlns:a16="http://schemas.microsoft.com/office/drawing/2014/main" id="{A54C42F4-7F99-4DBE-A90C-30398BA46655}"/>
              </a:ext>
            </a:extLst>
          </p:cNvPr>
          <p:cNvSpPr>
            <a:spLocks noGrp="1"/>
          </p:cNvSpPr>
          <p:nvPr/>
        </p:nvSpPr>
        <p:spPr>
          <a:xfrm>
            <a:off x="812864" y="5781675"/>
            <a:ext cx="10572750" cy="266700"/>
          </a:xfrm>
          <a:prstGeom prst="rect">
            <a:avLst/>
          </a:prstGeom>
          <a:noFill/>
          <a:ln w="0">
            <a:noFill/>
          </a:ln>
        </p:spPr>
        <p:txBody>
          <a:bodyPr lIns="0" tIns="0" rIns="0" bIns="0" anchor="ctr">
            <a:noAutofit/>
          </a:bodyPr>
          <a:lstStyle>
            <a:defPPr>
              <a:defRPr sz="1500" b="0">
                <a:solidFill>
                  <a:srgbClr val="505050"/>
                </a:solidFill>
              </a:defRPr>
            </a:defPPr>
            <a:lvl1pPr>
              <a:defRPr sz="1500" b="0">
                <a:solidFill>
                  <a:srgbClr val="505050"/>
                </a:solidFill>
              </a:defRPr>
            </a:lvl1pPr>
            <a:lvl2pPr>
              <a:defRPr sz="1500" b="0">
                <a:solidFill>
                  <a:srgbClr val="505050"/>
                </a:solidFill>
              </a:defRPr>
            </a:lvl2pPr>
            <a:lvl3pPr>
              <a:defRPr sz="1500" b="0">
                <a:solidFill>
                  <a:srgbClr val="505050"/>
                </a:solidFill>
              </a:defRPr>
            </a:lvl3pPr>
            <a:lvl4pPr>
              <a:defRPr sz="1500" b="0">
                <a:solidFill>
                  <a:srgbClr val="505050"/>
                </a:solidFill>
              </a:defRPr>
            </a:lvl4pPr>
            <a:lvl5pPr>
              <a:defRPr sz="1500" b="0">
                <a:solidFill>
                  <a:srgbClr val="505050"/>
                </a:solidFill>
              </a:defRPr>
            </a:lvl5pPr>
            <a:lvl6pPr>
              <a:defRPr sz="1500" b="0">
                <a:solidFill>
                  <a:srgbClr val="505050"/>
                </a:solidFill>
              </a:defRPr>
            </a:lvl6pPr>
            <a:lvl7pPr>
              <a:defRPr sz="1500" b="0">
                <a:solidFill>
                  <a:srgbClr val="505050"/>
                </a:solidFill>
              </a:defRPr>
            </a:lvl7pPr>
            <a:lvl8pPr>
              <a:defRPr sz="1500" b="0">
                <a:solidFill>
                  <a:srgbClr val="505050"/>
                </a:solidFill>
              </a:defRPr>
            </a:lvl8pPr>
            <a:lvl9pPr>
              <a:defRPr sz="1500" b="0">
                <a:solidFill>
                  <a:srgbClr val="505050"/>
                </a:solidFill>
              </a:defRPr>
            </a:lvl9pPr>
          </a:lstStyle>
          <a:p>
            <a:pPr>
              <a:defRPr sz="1500" b="0">
                <a:solidFill>
                  <a:srgbClr val="505050"/>
                </a:solidFill>
              </a:defRPr>
            </a:pPr>
            <a:r>
              <a:rPr sz="1500" b="0">
                <a:solidFill>
                  <a:srgbClr val="505050"/>
                </a:solidFill>
              </a:rPr>
              <a:t>8 Caught, 7 Partial, 9 Missed. Partial findings are excluded from the total.</a:t>
            </a:r>
          </a:p>
        </p:txBody>
      </p:sp>
      <p:sp>
        <p:nvSpPr>
          <p:cNvPr id="5" name="TextBox 4">
            <a:extLst>
              <a:ext uri="{FF2B5EF4-FFF2-40B4-BE49-F238E27FC236}">
                <a16:creationId xmlns:a16="http://schemas.microsoft.com/office/drawing/2014/main" id="{56BE160B-6661-2464-AC10-D91E4F54E5A1}"/>
              </a:ext>
            </a:extLst>
          </p:cNvPr>
          <p:cNvSpPr txBox="1"/>
          <p:nvPr/>
        </p:nvSpPr>
        <p:spPr>
          <a:xfrm>
            <a:off x="6096000" y="2038350"/>
            <a:ext cx="5283136" cy="646331"/>
          </a:xfrm>
          <a:prstGeom prst="rect">
            <a:avLst/>
          </a:prstGeom>
          <a:noFill/>
        </p:spPr>
        <p:txBody>
          <a:bodyPr wrap="square">
            <a:spAutoFit/>
          </a:bodyPr>
          <a:lstStyle/>
          <a:p>
            <a:r>
              <a:rPr lang="en-US" dirty="0"/>
              <a:t>The 16 recent CVEs were disclosed after both recorded training cutoffs; 8 older CVEs may have been seen.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2009" name="title">
            <a:extLst>
              <a:ext uri="{FF2B5EF4-FFF2-40B4-BE49-F238E27FC236}">
                <a16:creationId xmlns:a16="http://schemas.microsoft.com/office/drawing/2014/main" id="{80CC19DD-C99C-42D2-A699-147CE4E0265A}"/>
              </a:ext>
            </a:extLst>
          </p:cNvPr>
          <p:cNvSpPr>
            <a:spLocks noGrp="1"/>
          </p:cNvSpPr>
          <p:nvPr/>
        </p:nvSpPr>
        <p:spPr>
          <a:xfrm>
            <a:off x="812864" y="819150"/>
            <a:ext cx="10572750" cy="514350"/>
          </a:xfrm>
          <a:prstGeom prst="rect">
            <a:avLst/>
          </a:prstGeom>
          <a:noFill/>
          <a:ln w="0">
            <a:noFill/>
          </a:ln>
        </p:spPr>
        <p:txBody>
          <a:bodyPr lIns="0" tIns="0" rIns="0" bIns="0" anchor="ctr">
            <a:noAutofit/>
          </a:bodyPr>
          <a:lstStyle>
            <a:defPPr>
              <a:defRPr sz="3000" b="1">
                <a:solidFill>
                  <a:srgbClr val="4F8734"/>
                </a:solidFill>
              </a:defRPr>
            </a:defPPr>
            <a:lvl1pPr>
              <a:defRPr sz="3000" b="1">
                <a:solidFill>
                  <a:srgbClr val="4F8734"/>
                </a:solidFill>
              </a:defRPr>
            </a:lvl1pPr>
            <a:lvl2pPr>
              <a:defRPr sz="3000" b="1">
                <a:solidFill>
                  <a:srgbClr val="4F8734"/>
                </a:solidFill>
              </a:defRPr>
            </a:lvl2pPr>
            <a:lvl3pPr>
              <a:defRPr sz="3000" b="1">
                <a:solidFill>
                  <a:srgbClr val="4F8734"/>
                </a:solidFill>
              </a:defRPr>
            </a:lvl3pPr>
            <a:lvl4pPr>
              <a:defRPr sz="3000" b="1">
                <a:solidFill>
                  <a:srgbClr val="4F8734"/>
                </a:solidFill>
              </a:defRPr>
            </a:lvl4pPr>
            <a:lvl5pPr>
              <a:defRPr sz="3000" b="1">
                <a:solidFill>
                  <a:srgbClr val="4F8734"/>
                </a:solidFill>
              </a:defRPr>
            </a:lvl5pPr>
            <a:lvl6pPr>
              <a:defRPr sz="3000" b="1">
                <a:solidFill>
                  <a:srgbClr val="4F8734"/>
                </a:solidFill>
              </a:defRPr>
            </a:lvl6pPr>
            <a:lvl7pPr>
              <a:defRPr sz="3000" b="1">
                <a:solidFill>
                  <a:srgbClr val="4F8734"/>
                </a:solidFill>
              </a:defRPr>
            </a:lvl7pPr>
            <a:lvl8pPr>
              <a:defRPr sz="3000" b="1">
                <a:solidFill>
                  <a:srgbClr val="4F8734"/>
                </a:solidFill>
              </a:defRPr>
            </a:lvl8pPr>
            <a:lvl9pPr>
              <a:defRPr sz="3000" b="1">
                <a:solidFill>
                  <a:srgbClr val="4F8734"/>
                </a:solidFill>
              </a:defRPr>
            </a:lvl9pPr>
          </a:lstStyle>
          <a:p>
            <a:pPr>
              <a:defRPr sz="3000" b="1">
                <a:solidFill>
                  <a:srgbClr val="4F8734"/>
                </a:solidFill>
              </a:defRPr>
            </a:pPr>
            <a:r>
              <a:rPr sz="3000" b="1">
                <a:solidFill>
                  <a:srgbClr val="4F8734"/>
                </a:solidFill>
              </a:rPr>
              <a:t>Round 2: Sonnet catches 20 of 24</a:t>
            </a:r>
          </a:p>
        </p:txBody>
      </p:sp>
      <p:sp>
        <p:nvSpPr>
          <p:cNvPr id="2002" name="subtitle">
            <a:extLst>
              <a:ext uri="{FF2B5EF4-FFF2-40B4-BE49-F238E27FC236}">
                <a16:creationId xmlns:a16="http://schemas.microsoft.com/office/drawing/2014/main" id="{1C667795-9FBD-4503-9106-8A00BE750EDA}"/>
              </a:ext>
            </a:extLst>
          </p:cNvPr>
          <p:cNvSpPr>
            <a:spLocks noGrp="1"/>
          </p:cNvSpPr>
          <p:nvPr/>
        </p:nvSpPr>
        <p:spPr>
          <a:xfrm>
            <a:off x="812864" y="1390650"/>
            <a:ext cx="10572750" cy="409575"/>
          </a:xfrm>
          <a:prstGeom prst="rect">
            <a:avLst/>
          </a:prstGeom>
          <a:noFill/>
          <a:ln w="0">
            <a:noFill/>
          </a:ln>
        </p:spPr>
        <p:txBody>
          <a:bodyPr lIns="0" tIns="0" rIns="0" bIns="0" anchor="ctr">
            <a:noAutofit/>
          </a:bodyPr>
          <a:lstStyle>
            <a:defPPr>
              <a:defRPr sz="1725" b="0">
                <a:solidFill>
                  <a:srgbClr val="303238"/>
                </a:solidFill>
              </a:defRPr>
            </a:defPPr>
            <a:lvl1pPr>
              <a:defRPr sz="1725" b="0">
                <a:solidFill>
                  <a:srgbClr val="303238"/>
                </a:solidFill>
              </a:defRPr>
            </a:lvl1pPr>
            <a:lvl2pPr>
              <a:defRPr sz="1725" b="0">
                <a:solidFill>
                  <a:srgbClr val="303238"/>
                </a:solidFill>
              </a:defRPr>
            </a:lvl2pPr>
            <a:lvl3pPr>
              <a:defRPr sz="1725" b="0">
                <a:solidFill>
                  <a:srgbClr val="303238"/>
                </a:solidFill>
              </a:defRPr>
            </a:lvl3pPr>
            <a:lvl4pPr>
              <a:defRPr sz="1725" b="0">
                <a:solidFill>
                  <a:srgbClr val="303238"/>
                </a:solidFill>
              </a:defRPr>
            </a:lvl4pPr>
            <a:lvl5pPr>
              <a:defRPr sz="1725" b="0">
                <a:solidFill>
                  <a:srgbClr val="303238"/>
                </a:solidFill>
              </a:defRPr>
            </a:lvl5pPr>
            <a:lvl6pPr>
              <a:defRPr sz="1725" b="0">
                <a:solidFill>
                  <a:srgbClr val="303238"/>
                </a:solidFill>
              </a:defRPr>
            </a:lvl6pPr>
            <a:lvl7pPr>
              <a:defRPr sz="1725" b="0">
                <a:solidFill>
                  <a:srgbClr val="303238"/>
                </a:solidFill>
              </a:defRPr>
            </a:lvl7pPr>
            <a:lvl8pPr>
              <a:defRPr sz="1725" b="0">
                <a:solidFill>
                  <a:srgbClr val="303238"/>
                </a:solidFill>
              </a:defRPr>
            </a:lvl8pPr>
            <a:lvl9pPr>
              <a:defRPr sz="1725" b="0">
                <a:solidFill>
                  <a:srgbClr val="303238"/>
                </a:solidFill>
              </a:defRPr>
            </a:lvl9pPr>
          </a:lstStyle>
          <a:p>
            <a:pPr>
              <a:defRPr sz="1725" b="0">
                <a:solidFill>
                  <a:srgbClr val="303238"/>
                </a:solidFill>
              </a:defRPr>
            </a:pPr>
            <a:r>
              <a:rPr sz="1725" b="0">
                <a:solidFill>
                  <a:srgbClr val="303238"/>
                </a:solidFill>
              </a:rPr>
              <a:t>Fully caught cases by OWASP Top 10 category</a:t>
            </a:r>
          </a:p>
        </p:txBody>
      </p:sp>
      <p:sp>
        <p:nvSpPr>
          <p:cNvPr id="2003" name="original group">
            <a:extLst>
              <a:ext uri="{FF2B5EF4-FFF2-40B4-BE49-F238E27FC236}">
                <a16:creationId xmlns:a16="http://schemas.microsoft.com/office/drawing/2014/main" id="{3F7EC75B-F634-4B0F-8751-40E2F59AB641}"/>
              </a:ext>
            </a:extLst>
          </p:cNvPr>
          <p:cNvSpPr>
            <a:spLocks noGrp="1"/>
          </p:cNvSpPr>
          <p:nvPr/>
        </p:nvSpPr>
        <p:spPr>
          <a:xfrm>
            <a:off x="4289489" y="1809750"/>
            <a:ext cx="2838450" cy="228600"/>
          </a:xfrm>
          <a:prstGeom prst="rect">
            <a:avLst/>
          </a:prstGeom>
          <a:noFill/>
          <a:ln w="0">
            <a:noFill/>
          </a:ln>
        </p:spPr>
        <p:txBody>
          <a:bodyPr lIns="0" tIns="0" rIns="0" bIns="0" anchor="ctr">
            <a:noAutofit/>
          </a:bodyPr>
          <a:lstStyle>
            <a:defPPr>
              <a:defRPr sz="1200" b="1">
                <a:solidFill>
                  <a:srgbClr val="0086AC"/>
                </a:solidFill>
              </a:defRPr>
            </a:defPPr>
            <a:lvl1pPr>
              <a:defRPr sz="1200" b="1">
                <a:solidFill>
                  <a:srgbClr val="0086AC"/>
                </a:solidFill>
              </a:defRPr>
            </a:lvl1pPr>
            <a:lvl2pPr>
              <a:defRPr sz="1200" b="1">
                <a:solidFill>
                  <a:srgbClr val="0086AC"/>
                </a:solidFill>
              </a:defRPr>
            </a:lvl2pPr>
            <a:lvl3pPr>
              <a:defRPr sz="1200" b="1">
                <a:solidFill>
                  <a:srgbClr val="0086AC"/>
                </a:solidFill>
              </a:defRPr>
            </a:lvl3pPr>
            <a:lvl4pPr>
              <a:defRPr sz="1200" b="1">
                <a:solidFill>
                  <a:srgbClr val="0086AC"/>
                </a:solidFill>
              </a:defRPr>
            </a:lvl4pPr>
            <a:lvl5pPr>
              <a:defRPr sz="1200" b="1">
                <a:solidFill>
                  <a:srgbClr val="0086AC"/>
                </a:solidFill>
              </a:defRPr>
            </a:lvl5pPr>
            <a:lvl6pPr>
              <a:defRPr sz="1200" b="1">
                <a:solidFill>
                  <a:srgbClr val="0086AC"/>
                </a:solidFill>
              </a:defRPr>
            </a:lvl6pPr>
            <a:lvl7pPr>
              <a:defRPr sz="1200" b="1">
                <a:solidFill>
                  <a:srgbClr val="0086AC"/>
                </a:solidFill>
              </a:defRPr>
            </a:lvl7pPr>
            <a:lvl8pPr>
              <a:defRPr sz="1200" b="1">
                <a:solidFill>
                  <a:srgbClr val="0086AC"/>
                </a:solidFill>
              </a:defRPr>
            </a:lvl8pPr>
            <a:lvl9pPr>
              <a:defRPr sz="1200" b="1">
                <a:solidFill>
                  <a:srgbClr val="0086AC"/>
                </a:solidFill>
              </a:defRPr>
            </a:lvl9pPr>
          </a:lstStyle>
          <a:p>
            <a:pPr>
              <a:defRPr sz="1200" b="1">
                <a:solidFill>
                  <a:srgbClr val="0086AC"/>
                </a:solidFill>
              </a:defRPr>
            </a:pPr>
            <a:r>
              <a:rPr sz="1200" b="1">
                <a:solidFill>
                  <a:srgbClr val="0086AC"/>
                </a:solidFill>
              </a:rPr>
              <a:t>Original study: all 24 cases</a:t>
            </a:r>
          </a:p>
        </p:txBody>
      </p:sp>
      <p:graphicFrame>
        <p:nvGraphicFramePr>
          <p:cNvPr id="2004" name="Table 2003">
            <a:extLst>
              <a:ext uri="{FF2B5EF4-FFF2-40B4-BE49-F238E27FC236}">
                <a16:creationId xmlns:a16="http://schemas.microsoft.com/office/drawing/2014/main" id="{2123B24A-B0BD-4125-9A6C-7BE44D44F851}"/>
              </a:ext>
            </a:extLst>
          </p:cNvPr>
          <p:cNvGraphicFramePr/>
          <p:nvPr/>
        </p:nvGraphicFramePr>
        <p:xfrm>
          <a:off x="812864" y="2105025"/>
          <a:ext cx="6315075" cy="3219450"/>
        </p:xfrm>
        <a:graphic>
          <a:graphicData uri="http://schemas.openxmlformats.org/drawingml/2006/table">
            <a:tbl>
              <a:tblPr/>
              <a:tblGrid>
                <a:gridCol w="2762250">
                  <a:extLst>
                    <a:ext uri="{9D8B030D-6E8A-4147-A177-3AD203B41FA5}">
                      <a16:colId xmlns:a16="http://schemas.microsoft.com/office/drawing/2014/main" val="20000"/>
                    </a:ext>
                  </a:extLst>
                </a:gridCol>
                <a:gridCol w="714375">
                  <a:extLst>
                    <a:ext uri="{9D8B030D-6E8A-4147-A177-3AD203B41FA5}">
                      <a16:colId xmlns:a16="http://schemas.microsoft.com/office/drawing/2014/main" val="20001"/>
                    </a:ext>
                  </a:extLst>
                </a:gridCol>
                <a:gridCol w="1419225">
                  <a:extLst>
                    <a:ext uri="{9D8B030D-6E8A-4147-A177-3AD203B41FA5}">
                      <a16:colId xmlns:a16="http://schemas.microsoft.com/office/drawing/2014/main" val="20002"/>
                    </a:ext>
                  </a:extLst>
                </a:gridCol>
                <a:gridCol w="1419225">
                  <a:extLst>
                    <a:ext uri="{9D8B030D-6E8A-4147-A177-3AD203B41FA5}">
                      <a16:colId xmlns:a16="http://schemas.microsoft.com/office/drawing/2014/main" val="20003"/>
                    </a:ext>
                  </a:extLst>
                </a:gridCol>
              </a:tblGrid>
              <a:tr h="542925">
                <a:tc>
                  <a:txBody>
                    <a:bodyPr/>
                    <a:lstStyle/>
                    <a:p>
                      <a:pPr algn="l"/>
                      <a:r>
                        <a:rPr sz="1275" b="1">
                          <a:solidFill>
                            <a:srgbClr val="FFFFFF"/>
                          </a:solidFill>
                        </a:rPr>
                        <a:t>OWASP category</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0086AC"/>
                    </a:solidFill>
                  </a:tcPr>
                </a:tc>
                <a:tc>
                  <a:txBody>
                    <a:bodyPr/>
                    <a:lstStyle/>
                    <a:p>
                      <a:pPr algn="ctr"/>
                      <a:r>
                        <a:rPr sz="1275" b="1">
                          <a:solidFill>
                            <a:srgbClr val="FFFFFF"/>
                          </a:solidFill>
                        </a:rPr>
                        <a:t>Cases</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a:solidFill>
                        <a:srgbClr val="D7DDD4"/>
                      </a:solidFill>
                      <a:prstDash val="solid"/>
                    </a:lnT>
                    <a:lnB w="4763">
                      <a:solidFill>
                        <a:srgbClr val="D7DDD4"/>
                      </a:solidFill>
                      <a:prstDash val="solid"/>
                    </a:lnB>
                    <a:solidFill>
                      <a:srgbClr val="0086AC"/>
                    </a:solidFill>
                  </a:tcPr>
                </a:tc>
                <a:tc>
                  <a:txBody>
                    <a:bodyPr/>
                    <a:lstStyle/>
                    <a:p>
                      <a:pPr algn="ctr"/>
                      <a:r>
                        <a:rPr sz="1275" b="1">
                          <a:solidFill>
                            <a:srgbClr val="FFFFFF"/>
                          </a:solidFill>
                        </a:rPr>
                        <a:t>Haiku 4.5</a:t>
                      </a:r>
                    </a:p>
                    <a:p>
                      <a:pPr algn="ctr"/>
                      <a:r>
                        <a:rPr sz="1275" b="1">
                          <a:solidFill>
                            <a:srgbClr val="FFFFFF"/>
                          </a:solidFill>
                        </a:rPr>
                        <a:t>Generic prompt</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a:solidFill>
                        <a:srgbClr val="D7DDD4"/>
                      </a:solidFill>
                      <a:prstDash val="solid"/>
                    </a:lnT>
                    <a:lnB w="4763">
                      <a:solidFill>
                        <a:srgbClr val="D7DDD4"/>
                      </a:solidFill>
                      <a:prstDash val="solid"/>
                    </a:lnB>
                    <a:solidFill>
                      <a:srgbClr val="0086AC"/>
                    </a:solidFill>
                  </a:tcPr>
                </a:tc>
                <a:tc>
                  <a:txBody>
                    <a:bodyPr/>
                    <a:lstStyle/>
                    <a:p>
                      <a:pPr algn="ctr"/>
                      <a:r>
                        <a:rPr sz="1275" b="1">
                          <a:solidFill>
                            <a:srgbClr val="FFFFFF"/>
                          </a:solidFill>
                        </a:rPr>
                        <a:t>Sonnet 5</a:t>
                      </a:r>
                    </a:p>
                    <a:p>
                      <a:pPr algn="ctr"/>
                      <a:r>
                        <a:rPr sz="1275" b="1">
                          <a:solidFill>
                            <a:srgbClr val="FFFFFF"/>
                          </a:solidFill>
                        </a:rPr>
                        <a:t>Generic prompt</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a:solidFill>
                        <a:srgbClr val="D7DDD4"/>
                      </a:solidFill>
                      <a:prstDash val="solid"/>
                    </a:lnT>
                    <a:lnB w="4763">
                      <a:solidFill>
                        <a:srgbClr val="D7DDD4"/>
                      </a:solidFill>
                      <a:prstDash val="solid"/>
                    </a:lnB>
                    <a:solidFill>
                      <a:srgbClr val="4F8734"/>
                    </a:solidFill>
                  </a:tcPr>
                </a:tc>
                <a:extLst>
                  <a:ext uri="{0D108BD9-81ED-4DB2-BD59-A6C34878D82A}">
                    <a16:rowId xmlns:a16="http://schemas.microsoft.com/office/drawing/2014/main" val="10000"/>
                  </a:ext>
                </a:extLst>
              </a:tr>
              <a:tr h="426720">
                <a:tc>
                  <a:txBody>
                    <a:bodyPr/>
                    <a:lstStyle/>
                    <a:p>
                      <a:pPr algn="l"/>
                      <a:r>
                        <a:rPr sz="1425" b="0">
                          <a:solidFill>
                            <a:srgbClr val="303238"/>
                          </a:solidFill>
                        </a:rPr>
                        <a:t>A01  Broken Access Control</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8</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3 of 8</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1">
                          <a:solidFill>
                            <a:srgbClr val="3D7327"/>
                          </a:solidFill>
                        </a:rPr>
                        <a:t>7 of 8</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DCEBD2"/>
                    </a:solidFill>
                  </a:tcPr>
                </a:tc>
                <a:extLst>
                  <a:ext uri="{0D108BD9-81ED-4DB2-BD59-A6C34878D82A}">
                    <a16:rowId xmlns:a16="http://schemas.microsoft.com/office/drawing/2014/main" val="10001"/>
                  </a:ext>
                </a:extLst>
              </a:tr>
              <a:tr h="426720">
                <a:tc>
                  <a:txBody>
                    <a:bodyPr/>
                    <a:lstStyle/>
                    <a:p>
                      <a:pPr algn="l"/>
                      <a:r>
                        <a:rPr sz="1425" b="0">
                          <a:solidFill>
                            <a:srgbClr val="303238"/>
                          </a:solidFill>
                        </a:rPr>
                        <a:t>A03  Injection</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11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5 of 11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1">
                          <a:solidFill>
                            <a:srgbClr val="3D7327"/>
                          </a:solidFill>
                        </a:rPr>
                        <a:t>10 of 11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DCEBD2"/>
                    </a:solidFill>
                  </a:tcPr>
                </a:tc>
                <a:extLst>
                  <a:ext uri="{0D108BD9-81ED-4DB2-BD59-A6C34878D82A}">
                    <a16:rowId xmlns:a16="http://schemas.microsoft.com/office/drawing/2014/main" val="10002"/>
                  </a:ext>
                </a:extLst>
              </a:tr>
              <a:tr h="426720">
                <a:tc>
                  <a:txBody>
                    <a:bodyPr/>
                    <a:lstStyle/>
                    <a:p>
                      <a:pPr algn="l"/>
                      <a:r>
                        <a:rPr sz="1425" b="0">
                          <a:solidFill>
                            <a:srgbClr val="303238"/>
                          </a:solidFill>
                        </a:rPr>
                        <a:t>A05  Security Misconfiguration</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0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0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1F6ED"/>
                    </a:solidFill>
                  </a:tcPr>
                </a:tc>
                <a:extLst>
                  <a:ext uri="{0D108BD9-81ED-4DB2-BD59-A6C34878D82A}">
                    <a16:rowId xmlns:a16="http://schemas.microsoft.com/office/drawing/2014/main" val="10003"/>
                  </a:ext>
                </a:extLst>
              </a:tr>
              <a:tr h="542925">
                <a:tc>
                  <a:txBody>
                    <a:bodyPr/>
                    <a:lstStyle/>
                    <a:p>
                      <a:pPr algn="l"/>
                      <a:r>
                        <a:rPr sz="1425" b="0">
                          <a:solidFill>
                            <a:srgbClr val="303238"/>
                          </a:solidFill>
                        </a:rPr>
                        <a:t>A07  Identification &amp;</a:t>
                      </a:r>
                    </a:p>
                    <a:p>
                      <a:pPr algn="l"/>
                      <a:r>
                        <a:rPr sz="1425" b="0">
                          <a:solidFill>
                            <a:srgbClr val="303238"/>
                          </a:solidFill>
                        </a:rPr>
                        <a:t>Authentication Failures</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3</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0 of 3</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1">
                          <a:solidFill>
                            <a:srgbClr val="3D7327"/>
                          </a:solidFill>
                        </a:rPr>
                        <a:t>3 of 3</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DCEBD2"/>
                    </a:solidFill>
                  </a:tcPr>
                </a:tc>
                <a:extLst>
                  <a:ext uri="{0D108BD9-81ED-4DB2-BD59-A6C34878D82A}">
                    <a16:rowId xmlns:a16="http://schemas.microsoft.com/office/drawing/2014/main" val="10004"/>
                  </a:ext>
                </a:extLst>
              </a:tr>
              <a:tr h="426720">
                <a:tc>
                  <a:txBody>
                    <a:bodyPr/>
                    <a:lstStyle/>
                    <a:p>
                      <a:pPr algn="l"/>
                      <a:r>
                        <a:rPr sz="1425" b="0">
                          <a:solidFill>
                            <a:srgbClr val="303238"/>
                          </a:solidFill>
                        </a:rPr>
                        <a:t>A10  SSRF</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0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0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1F6ED"/>
                    </a:solidFill>
                  </a:tcPr>
                </a:tc>
                <a:extLst>
                  <a:ext uri="{0D108BD9-81ED-4DB2-BD59-A6C34878D82A}">
                    <a16:rowId xmlns:a16="http://schemas.microsoft.com/office/drawing/2014/main" val="10005"/>
                  </a:ext>
                </a:extLst>
              </a:tr>
              <a:tr h="426720">
                <a:tc>
                  <a:txBody>
                    <a:bodyPr/>
                    <a:lstStyle/>
                    <a:p>
                      <a:pPr algn="l"/>
                      <a:r>
                        <a:rPr sz="1575" b="1">
                          <a:solidFill>
                            <a:srgbClr val="303238"/>
                          </a:solidFill>
                        </a:rPr>
                        <a:t>Total caught</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E9F1E3"/>
                    </a:solidFill>
                  </a:tcPr>
                </a:tc>
                <a:tc>
                  <a:txBody>
                    <a:bodyPr/>
                    <a:lstStyle/>
                    <a:p>
                      <a:pPr algn="ctr"/>
                      <a:r>
                        <a:rPr sz="1575" b="1">
                          <a:solidFill>
                            <a:srgbClr val="303238"/>
                          </a:solidFill>
                        </a:rPr>
                        <a:t>24</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E9F1E3"/>
                    </a:solidFill>
                  </a:tcPr>
                </a:tc>
                <a:tc>
                  <a:txBody>
                    <a:bodyPr/>
                    <a:lstStyle/>
                    <a:p>
                      <a:pPr algn="ctr"/>
                      <a:r>
                        <a:rPr sz="1575" b="1">
                          <a:solidFill>
                            <a:srgbClr val="303238"/>
                          </a:solidFill>
                        </a:rPr>
                        <a:t>8 of 24</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E9F1E3"/>
                    </a:solidFill>
                  </a:tcPr>
                </a:tc>
                <a:tc>
                  <a:txBody>
                    <a:bodyPr/>
                    <a:lstStyle/>
                    <a:p>
                      <a:pPr algn="ctr"/>
                      <a:r>
                        <a:rPr sz="1575" b="1">
                          <a:solidFill>
                            <a:srgbClr val="303238"/>
                          </a:solidFill>
                        </a:rPr>
                        <a:t>20 of 24</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E9F1E3"/>
                    </a:solidFill>
                  </a:tcPr>
                </a:tc>
                <a:extLst>
                  <a:ext uri="{0D108BD9-81ED-4DB2-BD59-A6C34878D82A}">
                    <a16:rowId xmlns:a16="http://schemas.microsoft.com/office/drawing/2014/main" val="10006"/>
                  </a:ext>
                </a:extLst>
              </a:tr>
            </a:tbl>
          </a:graphicData>
        </a:graphic>
      </p:graphicFrame>
      <p:sp>
        <p:nvSpPr>
          <p:cNvPr id="2005" name="audience question">
            <a:extLst>
              <a:ext uri="{FF2B5EF4-FFF2-40B4-BE49-F238E27FC236}">
                <a16:creationId xmlns:a16="http://schemas.microsoft.com/office/drawing/2014/main" id="{878BA920-15A8-47BC-AD1B-08E3453D76FB}"/>
              </a:ext>
            </a:extLst>
          </p:cNvPr>
          <p:cNvSpPr>
            <a:spLocks noGrp="1"/>
          </p:cNvSpPr>
          <p:nvPr/>
        </p:nvSpPr>
        <p:spPr>
          <a:xfrm>
            <a:off x="7905750" y="2857500"/>
            <a:ext cx="3286125" cy="2000250"/>
          </a:xfrm>
          <a:prstGeom prst="rect">
            <a:avLst/>
          </a:prstGeom>
          <a:noFill/>
          <a:ln w="0">
            <a:noFill/>
          </a:ln>
        </p:spPr>
        <p:txBody>
          <a:bodyPr lIns="0" tIns="0" rIns="0" bIns="0" anchor="ctr">
            <a:noAutofit/>
          </a:bodyPr>
          <a:lstStyle>
            <a:defPPr>
              <a:defRPr sz="1950" b="1">
                <a:solidFill>
                  <a:srgbClr val="4F8734"/>
                </a:solidFill>
              </a:defRPr>
            </a:defPPr>
            <a:lvl1pPr>
              <a:defRPr sz="1950" b="1">
                <a:solidFill>
                  <a:srgbClr val="4F8734"/>
                </a:solidFill>
              </a:defRPr>
            </a:lvl1pPr>
            <a:lvl2pPr>
              <a:defRPr sz="1950" b="1">
                <a:solidFill>
                  <a:srgbClr val="4F8734"/>
                </a:solidFill>
              </a:defRPr>
            </a:lvl2pPr>
            <a:lvl3pPr>
              <a:defRPr sz="1950" b="1">
                <a:solidFill>
                  <a:srgbClr val="4F8734"/>
                </a:solidFill>
              </a:defRPr>
            </a:lvl3pPr>
            <a:lvl4pPr>
              <a:defRPr sz="1950" b="1">
                <a:solidFill>
                  <a:srgbClr val="4F8734"/>
                </a:solidFill>
              </a:defRPr>
            </a:lvl4pPr>
            <a:lvl5pPr>
              <a:defRPr sz="1950" b="1">
                <a:solidFill>
                  <a:srgbClr val="4F8734"/>
                </a:solidFill>
              </a:defRPr>
            </a:lvl5pPr>
            <a:lvl6pPr>
              <a:defRPr sz="1950" b="1">
                <a:solidFill>
                  <a:srgbClr val="4F8734"/>
                </a:solidFill>
              </a:defRPr>
            </a:lvl6pPr>
            <a:lvl7pPr>
              <a:defRPr sz="1950" b="1">
                <a:solidFill>
                  <a:srgbClr val="4F8734"/>
                </a:solidFill>
              </a:defRPr>
            </a:lvl7pPr>
            <a:lvl8pPr>
              <a:defRPr sz="1950" b="1">
                <a:solidFill>
                  <a:srgbClr val="4F8734"/>
                </a:solidFill>
              </a:defRPr>
            </a:lvl8pPr>
            <a:lvl9pPr>
              <a:defRPr sz="1950" b="1">
                <a:solidFill>
                  <a:srgbClr val="4F8734"/>
                </a:solidFill>
              </a:defRPr>
            </a:lvl9pPr>
          </a:lstStyle>
          <a:p>
            <a:pPr>
              <a:defRPr sz="1950" b="1">
                <a:solidFill>
                  <a:srgbClr val="4F8734"/>
                </a:solidFill>
              </a:defRPr>
            </a:pPr>
            <a:r>
              <a:rPr sz="1950" b="1">
                <a:solidFill>
                  <a:srgbClr val="4F8734"/>
                </a:solidFill>
              </a:rPr>
              <a:t>What could explain the four incomplete cases?</a:t>
            </a:r>
          </a:p>
        </p:txBody>
      </p:sp>
      <p:sp>
        <p:nvSpPr>
          <p:cNvPr id="2006" name="takeaway">
            <a:extLst>
              <a:ext uri="{FF2B5EF4-FFF2-40B4-BE49-F238E27FC236}">
                <a16:creationId xmlns:a16="http://schemas.microsoft.com/office/drawing/2014/main" id="{D489560D-AF0E-4F7D-9E41-2B7F4A14F620}"/>
              </a:ext>
            </a:extLst>
          </p:cNvPr>
          <p:cNvSpPr>
            <a:spLocks noGrp="1"/>
          </p:cNvSpPr>
          <p:nvPr/>
        </p:nvSpPr>
        <p:spPr>
          <a:xfrm>
            <a:off x="812864" y="5476875"/>
            <a:ext cx="10572750" cy="266700"/>
          </a:xfrm>
          <a:prstGeom prst="rect">
            <a:avLst/>
          </a:prstGeom>
          <a:noFill/>
          <a:ln w="0">
            <a:noFill/>
          </a:ln>
        </p:spPr>
        <p:txBody>
          <a:bodyPr lIns="0" tIns="0" rIns="0" bIns="0" anchor="ctr">
            <a:noAutofit/>
          </a:bodyPr>
          <a:lstStyle>
            <a:defPPr>
              <a:defRPr sz="1575" b="1">
                <a:solidFill>
                  <a:srgbClr val="303238"/>
                </a:solidFill>
              </a:defRPr>
            </a:defPPr>
            <a:lvl1pPr>
              <a:defRPr sz="1575" b="1">
                <a:solidFill>
                  <a:srgbClr val="303238"/>
                </a:solidFill>
              </a:defRPr>
            </a:lvl1pPr>
            <a:lvl2pPr>
              <a:defRPr sz="1575" b="1">
                <a:solidFill>
                  <a:srgbClr val="303238"/>
                </a:solidFill>
              </a:defRPr>
            </a:lvl2pPr>
            <a:lvl3pPr>
              <a:defRPr sz="1575" b="1">
                <a:solidFill>
                  <a:srgbClr val="303238"/>
                </a:solidFill>
              </a:defRPr>
            </a:lvl3pPr>
            <a:lvl4pPr>
              <a:defRPr sz="1575" b="1">
                <a:solidFill>
                  <a:srgbClr val="303238"/>
                </a:solidFill>
              </a:defRPr>
            </a:lvl4pPr>
            <a:lvl5pPr>
              <a:defRPr sz="1575" b="1">
                <a:solidFill>
                  <a:srgbClr val="303238"/>
                </a:solidFill>
              </a:defRPr>
            </a:lvl5pPr>
            <a:lvl6pPr>
              <a:defRPr sz="1575" b="1">
                <a:solidFill>
                  <a:srgbClr val="303238"/>
                </a:solidFill>
              </a:defRPr>
            </a:lvl6pPr>
            <a:lvl7pPr>
              <a:defRPr sz="1575" b="1">
                <a:solidFill>
                  <a:srgbClr val="303238"/>
                </a:solidFill>
              </a:defRPr>
            </a:lvl7pPr>
            <a:lvl8pPr>
              <a:defRPr sz="1575" b="1">
                <a:solidFill>
                  <a:srgbClr val="303238"/>
                </a:solidFill>
              </a:defRPr>
            </a:lvl8pPr>
            <a:lvl9pPr>
              <a:defRPr sz="1575" b="1">
                <a:solidFill>
                  <a:srgbClr val="303238"/>
                </a:solidFill>
              </a:defRPr>
            </a:lvl9pPr>
          </a:lstStyle>
          <a:p>
            <a:pPr>
              <a:defRPr sz="1575" b="1">
                <a:solidFill>
                  <a:srgbClr val="303238"/>
                </a:solidFill>
              </a:defRPr>
            </a:pPr>
            <a:r>
              <a:rPr sz="1575" b="1">
                <a:solidFill>
                  <a:srgbClr val="303238"/>
                </a:solidFill>
              </a:rPr>
              <a:t>Sonnet adds catches in access control, injection and authentication.</a:t>
            </a:r>
          </a:p>
        </p:txBody>
      </p:sp>
      <p:sp>
        <p:nvSpPr>
          <p:cNvPr id="2007" name="detail">
            <a:extLst>
              <a:ext uri="{FF2B5EF4-FFF2-40B4-BE49-F238E27FC236}">
                <a16:creationId xmlns:a16="http://schemas.microsoft.com/office/drawing/2014/main" id="{E17C5F62-EECC-4FE0-AF56-B51B35579171}"/>
              </a:ext>
            </a:extLst>
          </p:cNvPr>
          <p:cNvSpPr>
            <a:spLocks noGrp="1"/>
          </p:cNvSpPr>
          <p:nvPr/>
        </p:nvSpPr>
        <p:spPr>
          <a:xfrm>
            <a:off x="812864" y="5781675"/>
            <a:ext cx="10572750" cy="266700"/>
          </a:xfrm>
          <a:prstGeom prst="rect">
            <a:avLst/>
          </a:prstGeom>
          <a:noFill/>
          <a:ln w="0">
            <a:noFill/>
          </a:ln>
        </p:spPr>
        <p:txBody>
          <a:bodyPr lIns="0" tIns="0" rIns="0" bIns="0" anchor="ctr">
            <a:noAutofit/>
          </a:bodyPr>
          <a:lstStyle>
            <a:defPPr>
              <a:defRPr sz="1500" b="0">
                <a:solidFill>
                  <a:srgbClr val="505050"/>
                </a:solidFill>
              </a:defRPr>
            </a:defPPr>
            <a:lvl1pPr>
              <a:defRPr sz="1500" b="0">
                <a:solidFill>
                  <a:srgbClr val="505050"/>
                </a:solidFill>
              </a:defRPr>
            </a:lvl1pPr>
            <a:lvl2pPr>
              <a:defRPr sz="1500" b="0">
                <a:solidFill>
                  <a:srgbClr val="505050"/>
                </a:solidFill>
              </a:defRPr>
            </a:lvl2pPr>
            <a:lvl3pPr>
              <a:defRPr sz="1500" b="0">
                <a:solidFill>
                  <a:srgbClr val="505050"/>
                </a:solidFill>
              </a:defRPr>
            </a:lvl3pPr>
            <a:lvl4pPr>
              <a:defRPr sz="1500" b="0">
                <a:solidFill>
                  <a:srgbClr val="505050"/>
                </a:solidFill>
              </a:defRPr>
            </a:lvl4pPr>
            <a:lvl5pPr>
              <a:defRPr sz="1500" b="0">
                <a:solidFill>
                  <a:srgbClr val="505050"/>
                </a:solidFill>
              </a:defRPr>
            </a:lvl5pPr>
            <a:lvl6pPr>
              <a:defRPr sz="1500" b="0">
                <a:solidFill>
                  <a:srgbClr val="505050"/>
                </a:solidFill>
              </a:defRPr>
            </a:lvl6pPr>
            <a:lvl7pPr>
              <a:defRPr sz="1500" b="0">
                <a:solidFill>
                  <a:srgbClr val="505050"/>
                </a:solidFill>
              </a:defRPr>
            </a:lvl7pPr>
            <a:lvl8pPr>
              <a:defRPr sz="1500" b="0">
                <a:solidFill>
                  <a:srgbClr val="505050"/>
                </a:solidFill>
              </a:defRPr>
            </a:lvl8pPr>
            <a:lvl9pPr>
              <a:defRPr sz="1500" b="0">
                <a:solidFill>
                  <a:srgbClr val="505050"/>
                </a:solidFill>
              </a:defRPr>
            </a:lvl9pPr>
          </a:lstStyle>
          <a:p>
            <a:pPr>
              <a:defRPr sz="1500" b="0">
                <a:solidFill>
                  <a:srgbClr val="505050"/>
                </a:solidFill>
              </a:defRPr>
            </a:pPr>
            <a:r>
              <a:rPr sz="1500" b="0">
                <a:solidFill>
                  <a:srgbClr val="505050"/>
                </a:solidFill>
              </a:rPr>
              <a:t>Four cases remain incomplete: 3 Partial and 1 Missed.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EBC1F-A114-1C0A-F784-810D487D92F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29CB264-116B-9E0B-9425-EC1BB40A40DF}"/>
              </a:ext>
            </a:extLst>
          </p:cNvPr>
          <p:cNvSpPr>
            <a:spLocks noGrp="1"/>
          </p:cNvSpPr>
          <p:nvPr>
            <p:ph type="title"/>
          </p:nvPr>
        </p:nvSpPr>
        <p:spPr/>
        <p:txBody>
          <a:bodyPr/>
          <a:lstStyle/>
          <a:p>
            <a:r>
              <a:rPr lang="en-US" i="1" dirty="0"/>
              <a:t>What does your AI reviewer receive today?</a:t>
            </a:r>
            <a:endParaRPr lang="en-US" dirty="0"/>
          </a:p>
        </p:txBody>
      </p:sp>
      <p:sp>
        <p:nvSpPr>
          <p:cNvPr id="9" name="Text Placeholder 8">
            <a:extLst>
              <a:ext uri="{FF2B5EF4-FFF2-40B4-BE49-F238E27FC236}">
                <a16:creationId xmlns:a16="http://schemas.microsoft.com/office/drawing/2014/main" id="{6236E4F4-3941-B062-C5E9-6FC494FC8061}"/>
              </a:ext>
            </a:extLst>
          </p:cNvPr>
          <p:cNvSpPr>
            <a:spLocks noGrp="1"/>
          </p:cNvSpPr>
          <p:nvPr>
            <p:ph type="body" sz="quarter" idx="10"/>
          </p:nvPr>
        </p:nvSpPr>
        <p:spPr/>
        <p:txBody>
          <a:bodyPr/>
          <a:lstStyle/>
          <a:p>
            <a:r>
              <a:rPr lang="en-US" dirty="0"/>
              <a:t>The PR diff only</a:t>
            </a:r>
          </a:p>
          <a:p>
            <a:r>
              <a:rPr lang="en-US" dirty="0"/>
              <a:t>The diff and related code</a:t>
            </a:r>
          </a:p>
          <a:p>
            <a:r>
              <a:rPr lang="en-US" dirty="0"/>
              <a:t>Code plus design documents or a threat model</a:t>
            </a:r>
          </a:p>
          <a:p>
            <a:r>
              <a:rPr lang="en-US" dirty="0"/>
              <a:t>I don’t know</a:t>
            </a:r>
          </a:p>
          <a:p>
            <a:r>
              <a:rPr lang="en-US" dirty="0"/>
              <a:t>We don’t use AI review</a:t>
            </a:r>
          </a:p>
          <a:p>
            <a:endParaRPr lang="en-US" dirty="0"/>
          </a:p>
        </p:txBody>
      </p:sp>
    </p:spTree>
    <p:extLst>
      <p:ext uri="{BB962C8B-B14F-4D97-AF65-F5344CB8AC3E}">
        <p14:creationId xmlns:p14="http://schemas.microsoft.com/office/powerpoint/2010/main" val="5440601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4" name="Text 0"/>
          <p:cNvSpPr>
            <a:spLocks noGrp="1"/>
          </p:cNvSpPr>
          <p:nvPr>
            <p:ph type="title"/>
          </p:nvPr>
        </p:nvSpPr>
        <p:spPr>
          <a:xfrm>
            <a:off x="812902" y="812902"/>
            <a:ext cx="8412480" cy="512064"/>
          </a:xfrm>
          <a:prstGeom prst="rect">
            <a:avLst/>
          </a:prstGeom>
          <a:noFill/>
          <a:ln/>
        </p:spPr>
        <p:txBody>
          <a:bodyPr wrap="square" lIns="0" tIns="0" rIns="0" bIns="0" rtlCol="0" anchor="t">
            <a:noAutofit/>
          </a:bodyPr>
          <a:lstStyle/>
          <a:p>
            <a:pPr marL="0" indent="0" algn="l">
              <a:lnSpc>
                <a:spcPts val="3800"/>
              </a:lnSpc>
              <a:spcBef>
                <a:spcPts val="0"/>
              </a:spcBef>
              <a:buNone/>
            </a:pPr>
            <a:r>
              <a:rPr lang="en-US" sz="3200" b="1" dirty="0">
                <a:solidFill>
                  <a:srgbClr val="4C8835"/>
                </a:solidFill>
                <a:latin typeface="Arial" pitchFamily="34" charset="0"/>
                <a:ea typeface="Arial" pitchFamily="34" charset="-122"/>
                <a:cs typeface="Arial" pitchFamily="34" charset="-120"/>
              </a:rPr>
              <a:t>Give the agent the context it needs</a:t>
            </a:r>
            <a:endParaRPr lang="en-US" sz="3200"/>
          </a:p>
        </p:txBody>
      </p:sp>
      <p:sp>
        <p:nvSpPr>
          <p:cNvPr id="36" name="Text 25"/>
          <p:cNvSpPr/>
          <p:nvPr/>
        </p:nvSpPr>
        <p:spPr>
          <a:xfrm>
            <a:off x="7532370" y="6238280"/>
            <a:ext cx="300863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A92"/>
                </a:solidFill>
                <a:latin typeface="Arial" pitchFamily="34" charset="0"/>
                <a:ea typeface="Arial" pitchFamily="34" charset="-122"/>
                <a:cs typeface="Arial" pitchFamily="34" charset="-120"/>
              </a:rPr>
              <a:t>ISC2.org/Congress | #ISC2Congress</a:t>
            </a:r>
            <a:endParaRPr lang="en-US" sz="1200" dirty="0"/>
          </a:p>
        </p:txBody>
      </p:sp>
      <p:sp>
        <p:nvSpPr>
          <p:cNvPr id="1000" name="Context principle">
            <a:extLst>
              <a:ext uri="{FF2B5EF4-FFF2-40B4-BE49-F238E27FC236}">
                <a16:creationId xmlns:a16="http://schemas.microsoft.com/office/drawing/2014/main" id="{35F360F7-B2A6-4751-8D89-0BEAB49925A3}"/>
              </a:ext>
            </a:extLst>
          </p:cNvPr>
          <p:cNvSpPr>
            <a:spLocks noGrp="1"/>
          </p:cNvSpPr>
          <p:nvPr/>
        </p:nvSpPr>
        <p:spPr>
          <a:xfrm>
            <a:off x="812902" y="1399032"/>
            <a:ext cx="10561320" cy="411480"/>
          </a:xfrm>
          <a:prstGeom prst="rect">
            <a:avLst/>
          </a:prstGeom>
          <a:noFill/>
          <a:ln w="0">
            <a:noFill/>
            <a:prstDash val="solid"/>
          </a:ln>
        </p:spPr>
        <p:txBody>
          <a:bodyPr wrap="square" lIns="0" tIns="0" rIns="0" bIns="0" anchor="t">
            <a:noAutofit/>
          </a:bodyPr>
          <a:lstStyle>
            <a:defPPr>
              <a:defRPr sz="1800" b="0">
                <a:solidFill>
                  <a:srgbClr val="33333A"/>
                </a:solidFill>
              </a:defRPr>
            </a:defPPr>
            <a:lvl1pPr>
              <a:defRPr sz="1800" b="0">
                <a:solidFill>
                  <a:srgbClr val="33333A"/>
                </a:solidFill>
              </a:defRPr>
            </a:lvl1pPr>
            <a:lvl2pPr>
              <a:defRPr sz="1800" b="0">
                <a:solidFill>
                  <a:srgbClr val="33333A"/>
                </a:solidFill>
              </a:defRPr>
            </a:lvl2pPr>
            <a:lvl3pPr>
              <a:defRPr sz="1800" b="0">
                <a:solidFill>
                  <a:srgbClr val="33333A"/>
                </a:solidFill>
              </a:defRPr>
            </a:lvl3pPr>
            <a:lvl4pPr>
              <a:defRPr sz="1800" b="0">
                <a:solidFill>
                  <a:srgbClr val="33333A"/>
                </a:solidFill>
              </a:defRPr>
            </a:lvl4pPr>
            <a:lvl5pPr>
              <a:defRPr sz="1800" b="0">
                <a:solidFill>
                  <a:srgbClr val="33333A"/>
                </a:solidFill>
              </a:defRPr>
            </a:lvl5pPr>
            <a:lvl6pPr>
              <a:defRPr sz="1800" b="0">
                <a:solidFill>
                  <a:srgbClr val="33333A"/>
                </a:solidFill>
              </a:defRPr>
            </a:lvl6pPr>
            <a:lvl7pPr>
              <a:defRPr sz="1800" b="0">
                <a:solidFill>
                  <a:srgbClr val="33333A"/>
                </a:solidFill>
              </a:defRPr>
            </a:lvl7pPr>
            <a:lvl8pPr>
              <a:defRPr sz="1800" b="0">
                <a:solidFill>
                  <a:srgbClr val="33333A"/>
                </a:solidFill>
              </a:defRPr>
            </a:lvl8pPr>
            <a:lvl9pPr>
              <a:defRPr sz="1800" b="0">
                <a:solidFill>
                  <a:srgbClr val="33333A"/>
                </a:solidFill>
              </a:defRPr>
            </a:lvl9pPr>
          </a:lstStyle>
          <a:p>
            <a:pPr>
              <a:defRPr sz="1800" b="0">
                <a:solidFill>
                  <a:srgbClr val="33333A"/>
                </a:solidFill>
              </a:defRPr>
            </a:pPr>
            <a:r>
              <a:rPr sz="1800" b="0">
                <a:solidFill>
                  <a:srgbClr val="33333A"/>
                </a:solidFill>
                <a:latin typeface="Arial"/>
                <a:ea typeface="Arial"/>
                <a:cs typeface="Arial"/>
              </a:rPr>
              <a:t>Select the information that explains this change, then retain its source.</a:t>
            </a:r>
          </a:p>
        </p:txBody>
      </p:sp>
      <p:sp>
        <p:nvSpPr>
          <p:cNvPr id="1001" name="Context merge bus">
            <a:extLst>
              <a:ext uri="{FF2B5EF4-FFF2-40B4-BE49-F238E27FC236}">
                <a16:creationId xmlns:a16="http://schemas.microsoft.com/office/drawing/2014/main" id="{31CAC5CD-5F71-4441-AA8C-7C818FAE4934}"/>
              </a:ext>
            </a:extLst>
          </p:cNvPr>
          <p:cNvSpPr>
            <a:spLocks noGrp="1"/>
          </p:cNvSpPr>
          <p:nvPr/>
        </p:nvSpPr>
        <p:spPr>
          <a:xfrm>
            <a:off x="5715000" y="2331720"/>
            <a:ext cx="22860" cy="2688336"/>
          </a:xfrm>
          <a:prstGeom prst="rect">
            <a:avLst/>
          </a:prstGeom>
          <a:solidFill>
            <a:srgbClr val="BEC6CA"/>
          </a:solidFill>
          <a:ln w="0">
            <a:noFill/>
            <a:prstDash val="solid"/>
          </a:ln>
        </p:spPr>
        <p:txBody>
          <a:bodyPr/>
          <a:lstStyle/>
          <a:p>
            <a:endParaRPr lang="en-US"/>
          </a:p>
        </p:txBody>
      </p:sp>
      <p:sp>
        <p:nvSpPr>
          <p:cNvPr id="1002" name="Context source 0">
            <a:extLst>
              <a:ext uri="{FF2B5EF4-FFF2-40B4-BE49-F238E27FC236}">
                <a16:creationId xmlns:a16="http://schemas.microsoft.com/office/drawing/2014/main" id="{DB787D46-2836-4ECA-97B0-B47248711859}"/>
              </a:ext>
            </a:extLst>
          </p:cNvPr>
          <p:cNvSpPr>
            <a:spLocks noGrp="1"/>
          </p:cNvSpPr>
          <p:nvPr/>
        </p:nvSpPr>
        <p:spPr>
          <a:xfrm>
            <a:off x="812902" y="2039112"/>
            <a:ext cx="4663440" cy="365760"/>
          </a:xfrm>
          <a:prstGeom prst="rect">
            <a:avLst/>
          </a:prstGeom>
          <a:noFill/>
          <a:ln w="0">
            <a:noFill/>
            <a:prstDash val="solid"/>
          </a:ln>
        </p:spPr>
        <p:txBody>
          <a:bodyPr wrap="square" lIns="0" tIns="0" rIns="0" bIns="0" anchor="t">
            <a:noAutofit/>
          </a:bodyPr>
          <a:lstStyle>
            <a:defPPr>
              <a:defRPr sz="2200" b="1">
                <a:solidFill>
                  <a:srgbClr val="0086B6"/>
                </a:solidFill>
              </a:defRPr>
            </a:defPPr>
            <a:lvl1pPr>
              <a:defRPr sz="2200" b="1">
                <a:solidFill>
                  <a:srgbClr val="0086B6"/>
                </a:solidFill>
              </a:defRPr>
            </a:lvl1pPr>
            <a:lvl2pPr>
              <a:defRPr sz="2200" b="1">
                <a:solidFill>
                  <a:srgbClr val="0086B6"/>
                </a:solidFill>
              </a:defRPr>
            </a:lvl2pPr>
            <a:lvl3pPr>
              <a:defRPr sz="2200" b="1">
                <a:solidFill>
                  <a:srgbClr val="0086B6"/>
                </a:solidFill>
              </a:defRPr>
            </a:lvl3pPr>
            <a:lvl4pPr>
              <a:defRPr sz="2200" b="1">
                <a:solidFill>
                  <a:srgbClr val="0086B6"/>
                </a:solidFill>
              </a:defRPr>
            </a:lvl4pPr>
            <a:lvl5pPr>
              <a:defRPr sz="2200" b="1">
                <a:solidFill>
                  <a:srgbClr val="0086B6"/>
                </a:solidFill>
              </a:defRPr>
            </a:lvl5pPr>
            <a:lvl6pPr>
              <a:defRPr sz="2200" b="1">
                <a:solidFill>
                  <a:srgbClr val="0086B6"/>
                </a:solidFill>
              </a:defRPr>
            </a:lvl6pPr>
            <a:lvl7pPr>
              <a:defRPr sz="2200" b="1">
                <a:solidFill>
                  <a:srgbClr val="0086B6"/>
                </a:solidFill>
              </a:defRPr>
            </a:lvl7pPr>
            <a:lvl8pPr>
              <a:defRPr sz="2200" b="1">
                <a:solidFill>
                  <a:srgbClr val="0086B6"/>
                </a:solidFill>
              </a:defRPr>
            </a:lvl8pPr>
            <a:lvl9pPr>
              <a:defRPr sz="2200" b="1">
                <a:solidFill>
                  <a:srgbClr val="0086B6"/>
                </a:solidFill>
              </a:defRPr>
            </a:lvl9pPr>
          </a:lstStyle>
          <a:p>
            <a:pPr>
              <a:defRPr sz="2200" b="1">
                <a:solidFill>
                  <a:srgbClr val="0086B6"/>
                </a:solidFill>
              </a:defRPr>
            </a:pPr>
            <a:r>
              <a:rPr sz="2200" b="1">
                <a:solidFill>
                  <a:srgbClr val="0086B6"/>
                </a:solidFill>
                <a:latin typeface="Arial"/>
                <a:ea typeface="Arial"/>
                <a:cs typeface="Arial"/>
              </a:rPr>
              <a:t>Project map</a:t>
            </a:r>
          </a:p>
        </p:txBody>
      </p:sp>
      <p:sp>
        <p:nvSpPr>
          <p:cNvPr id="1003" name="Context example 0">
            <a:extLst>
              <a:ext uri="{FF2B5EF4-FFF2-40B4-BE49-F238E27FC236}">
                <a16:creationId xmlns:a16="http://schemas.microsoft.com/office/drawing/2014/main" id="{F37A5DC4-C58B-4844-BBAE-910D37589050}"/>
              </a:ext>
            </a:extLst>
          </p:cNvPr>
          <p:cNvSpPr>
            <a:spLocks noGrp="1"/>
          </p:cNvSpPr>
          <p:nvPr/>
        </p:nvSpPr>
        <p:spPr>
          <a:xfrm>
            <a:off x="812902" y="2459736"/>
            <a:ext cx="4663440" cy="365760"/>
          </a:xfrm>
          <a:prstGeom prst="rect">
            <a:avLst/>
          </a:prstGeom>
          <a:noFill/>
          <a:ln w="0">
            <a:noFill/>
            <a:prstDash val="solid"/>
          </a:ln>
        </p:spPr>
        <p:txBody>
          <a:bodyPr wrap="square" lIns="0" tIns="0" rIns="0" bIns="0" anchor="t">
            <a:noAutofit/>
          </a:bodyPr>
          <a:lstStyle>
            <a:defPPr>
              <a:defRPr sz="1500" b="0">
                <a:solidFill>
                  <a:srgbClr val="6B6B73"/>
                </a:solidFill>
              </a:defRPr>
            </a:defPPr>
            <a:lvl1pPr>
              <a:defRPr sz="1500" b="0">
                <a:solidFill>
                  <a:srgbClr val="6B6B73"/>
                </a:solidFill>
              </a:defRPr>
            </a:lvl1pPr>
            <a:lvl2pPr>
              <a:defRPr sz="1500" b="0">
                <a:solidFill>
                  <a:srgbClr val="6B6B73"/>
                </a:solidFill>
              </a:defRPr>
            </a:lvl2pPr>
            <a:lvl3pPr>
              <a:defRPr sz="1500" b="0">
                <a:solidFill>
                  <a:srgbClr val="6B6B73"/>
                </a:solidFill>
              </a:defRPr>
            </a:lvl3pPr>
            <a:lvl4pPr>
              <a:defRPr sz="1500" b="0">
                <a:solidFill>
                  <a:srgbClr val="6B6B73"/>
                </a:solidFill>
              </a:defRPr>
            </a:lvl4pPr>
            <a:lvl5pPr>
              <a:defRPr sz="1500" b="0">
                <a:solidFill>
                  <a:srgbClr val="6B6B73"/>
                </a:solidFill>
              </a:defRPr>
            </a:lvl5pPr>
            <a:lvl6pPr>
              <a:defRPr sz="1500" b="0">
                <a:solidFill>
                  <a:srgbClr val="6B6B73"/>
                </a:solidFill>
              </a:defRPr>
            </a:lvl6pPr>
            <a:lvl7pPr>
              <a:defRPr sz="1500" b="0">
                <a:solidFill>
                  <a:srgbClr val="6B6B73"/>
                </a:solidFill>
              </a:defRPr>
            </a:lvl7pPr>
            <a:lvl8pPr>
              <a:defRPr sz="1500" b="0">
                <a:solidFill>
                  <a:srgbClr val="6B6B73"/>
                </a:solidFill>
              </a:defRPr>
            </a:lvl8pPr>
            <a:lvl9pPr>
              <a:defRPr sz="1500" b="0">
                <a:solidFill>
                  <a:srgbClr val="6B6B73"/>
                </a:solidFill>
              </a:defRPr>
            </a:lvl9pPr>
          </a:lstStyle>
          <a:p>
            <a:pPr>
              <a:defRPr sz="1500" b="0">
                <a:solidFill>
                  <a:srgbClr val="6B6B73"/>
                </a:solidFill>
              </a:defRPr>
            </a:pPr>
            <a:r>
              <a:rPr sz="1500" b="0">
                <a:solidFill>
                  <a:srgbClr val="6B6B73"/>
                </a:solidFill>
                <a:latin typeface="Arial"/>
                <a:ea typeface="Arial"/>
                <a:cs typeface="Arial"/>
              </a:rPr>
              <a:t>Architecture, data flows and trust boundaries</a:t>
            </a:r>
          </a:p>
        </p:txBody>
      </p:sp>
      <p:sp>
        <p:nvSpPr>
          <p:cNvPr id="1004" name="Source connection 0">
            <a:extLst>
              <a:ext uri="{FF2B5EF4-FFF2-40B4-BE49-F238E27FC236}">
                <a16:creationId xmlns:a16="http://schemas.microsoft.com/office/drawing/2014/main" id="{8E5C689D-ABCB-4092-944C-821FA7CDCFD1}"/>
              </a:ext>
            </a:extLst>
          </p:cNvPr>
          <p:cNvSpPr>
            <a:spLocks noGrp="1"/>
          </p:cNvSpPr>
          <p:nvPr/>
        </p:nvSpPr>
        <p:spPr>
          <a:xfrm>
            <a:off x="5212080" y="2331720"/>
            <a:ext cx="525780" cy="22860"/>
          </a:xfrm>
          <a:prstGeom prst="rect">
            <a:avLst/>
          </a:prstGeom>
          <a:solidFill>
            <a:srgbClr val="BEC6CA"/>
          </a:solidFill>
          <a:ln w="0">
            <a:noFill/>
            <a:prstDash val="solid"/>
          </a:ln>
        </p:spPr>
        <p:txBody>
          <a:bodyPr/>
          <a:lstStyle/>
          <a:p>
            <a:endParaRPr lang="en-US"/>
          </a:p>
        </p:txBody>
      </p:sp>
      <p:sp>
        <p:nvSpPr>
          <p:cNvPr id="1005" name="Context source 1">
            <a:extLst>
              <a:ext uri="{FF2B5EF4-FFF2-40B4-BE49-F238E27FC236}">
                <a16:creationId xmlns:a16="http://schemas.microsoft.com/office/drawing/2014/main" id="{B4DF0E52-FADE-4011-88C5-67CEC084DF5B}"/>
              </a:ext>
            </a:extLst>
          </p:cNvPr>
          <p:cNvSpPr>
            <a:spLocks noGrp="1"/>
          </p:cNvSpPr>
          <p:nvPr/>
        </p:nvSpPr>
        <p:spPr>
          <a:xfrm>
            <a:off x="812902" y="2935224"/>
            <a:ext cx="4663440" cy="365760"/>
          </a:xfrm>
          <a:prstGeom prst="rect">
            <a:avLst/>
          </a:prstGeom>
          <a:noFill/>
          <a:ln w="0">
            <a:noFill/>
            <a:prstDash val="solid"/>
          </a:ln>
        </p:spPr>
        <p:txBody>
          <a:bodyPr wrap="square" lIns="0" tIns="0" rIns="0" bIns="0" anchor="t">
            <a:noAutofit/>
          </a:bodyPr>
          <a:lstStyle>
            <a:defPPr>
              <a:defRPr sz="2200" b="1">
                <a:solidFill>
                  <a:srgbClr val="4C8835"/>
                </a:solidFill>
              </a:defRPr>
            </a:defPPr>
            <a:lvl1pPr>
              <a:defRPr sz="2200" b="1">
                <a:solidFill>
                  <a:srgbClr val="4C8835"/>
                </a:solidFill>
              </a:defRPr>
            </a:lvl1pPr>
            <a:lvl2pPr>
              <a:defRPr sz="2200" b="1">
                <a:solidFill>
                  <a:srgbClr val="4C8835"/>
                </a:solidFill>
              </a:defRPr>
            </a:lvl2pPr>
            <a:lvl3pPr>
              <a:defRPr sz="2200" b="1">
                <a:solidFill>
                  <a:srgbClr val="4C8835"/>
                </a:solidFill>
              </a:defRPr>
            </a:lvl3pPr>
            <a:lvl4pPr>
              <a:defRPr sz="2200" b="1">
                <a:solidFill>
                  <a:srgbClr val="4C8835"/>
                </a:solidFill>
              </a:defRPr>
            </a:lvl4pPr>
            <a:lvl5pPr>
              <a:defRPr sz="2200" b="1">
                <a:solidFill>
                  <a:srgbClr val="4C8835"/>
                </a:solidFill>
              </a:defRPr>
            </a:lvl5pPr>
            <a:lvl6pPr>
              <a:defRPr sz="2200" b="1">
                <a:solidFill>
                  <a:srgbClr val="4C8835"/>
                </a:solidFill>
              </a:defRPr>
            </a:lvl6pPr>
            <a:lvl7pPr>
              <a:defRPr sz="2200" b="1">
                <a:solidFill>
                  <a:srgbClr val="4C8835"/>
                </a:solidFill>
              </a:defRPr>
            </a:lvl7pPr>
            <a:lvl8pPr>
              <a:defRPr sz="2200" b="1">
                <a:solidFill>
                  <a:srgbClr val="4C8835"/>
                </a:solidFill>
              </a:defRPr>
            </a:lvl8pPr>
            <a:lvl9pPr>
              <a:defRPr sz="2200" b="1">
                <a:solidFill>
                  <a:srgbClr val="4C8835"/>
                </a:solidFill>
              </a:defRPr>
            </a:lvl9pPr>
          </a:lstStyle>
          <a:p>
            <a:pPr>
              <a:defRPr sz="2200" b="1">
                <a:solidFill>
                  <a:srgbClr val="4C8835"/>
                </a:solidFill>
              </a:defRPr>
            </a:pPr>
            <a:r>
              <a:rPr sz="2200" b="1">
                <a:solidFill>
                  <a:srgbClr val="4C8835"/>
                </a:solidFill>
                <a:latin typeface="Arial"/>
                <a:ea typeface="Arial"/>
                <a:cs typeface="Arial"/>
              </a:rPr>
              <a:t>Local guidance</a:t>
            </a:r>
          </a:p>
        </p:txBody>
      </p:sp>
      <p:sp>
        <p:nvSpPr>
          <p:cNvPr id="1006" name="Context example 1">
            <a:extLst>
              <a:ext uri="{FF2B5EF4-FFF2-40B4-BE49-F238E27FC236}">
                <a16:creationId xmlns:a16="http://schemas.microsoft.com/office/drawing/2014/main" id="{2906DC37-20AA-434F-85D1-4683C8DE5175}"/>
              </a:ext>
            </a:extLst>
          </p:cNvPr>
          <p:cNvSpPr>
            <a:spLocks noGrp="1"/>
          </p:cNvSpPr>
          <p:nvPr/>
        </p:nvSpPr>
        <p:spPr>
          <a:xfrm>
            <a:off x="812902" y="3355848"/>
            <a:ext cx="4663440" cy="365760"/>
          </a:xfrm>
          <a:prstGeom prst="rect">
            <a:avLst/>
          </a:prstGeom>
          <a:noFill/>
          <a:ln w="0">
            <a:noFill/>
            <a:prstDash val="solid"/>
          </a:ln>
        </p:spPr>
        <p:txBody>
          <a:bodyPr wrap="square" lIns="0" tIns="0" rIns="0" bIns="0" anchor="t">
            <a:noAutofit/>
          </a:bodyPr>
          <a:lstStyle>
            <a:defPPr>
              <a:defRPr sz="1500" b="0">
                <a:solidFill>
                  <a:srgbClr val="6B6B73"/>
                </a:solidFill>
              </a:defRPr>
            </a:defPPr>
            <a:lvl1pPr>
              <a:defRPr sz="1500" b="0">
                <a:solidFill>
                  <a:srgbClr val="6B6B73"/>
                </a:solidFill>
              </a:defRPr>
            </a:lvl1pPr>
            <a:lvl2pPr>
              <a:defRPr sz="1500" b="0">
                <a:solidFill>
                  <a:srgbClr val="6B6B73"/>
                </a:solidFill>
              </a:defRPr>
            </a:lvl2pPr>
            <a:lvl3pPr>
              <a:defRPr sz="1500" b="0">
                <a:solidFill>
                  <a:srgbClr val="6B6B73"/>
                </a:solidFill>
              </a:defRPr>
            </a:lvl3pPr>
            <a:lvl4pPr>
              <a:defRPr sz="1500" b="0">
                <a:solidFill>
                  <a:srgbClr val="6B6B73"/>
                </a:solidFill>
              </a:defRPr>
            </a:lvl4pPr>
            <a:lvl5pPr>
              <a:defRPr sz="1500" b="0">
                <a:solidFill>
                  <a:srgbClr val="6B6B73"/>
                </a:solidFill>
              </a:defRPr>
            </a:lvl5pPr>
            <a:lvl6pPr>
              <a:defRPr sz="1500" b="0">
                <a:solidFill>
                  <a:srgbClr val="6B6B73"/>
                </a:solidFill>
              </a:defRPr>
            </a:lvl6pPr>
            <a:lvl7pPr>
              <a:defRPr sz="1500" b="0">
                <a:solidFill>
                  <a:srgbClr val="6B6B73"/>
                </a:solidFill>
              </a:defRPr>
            </a:lvl7pPr>
            <a:lvl8pPr>
              <a:defRPr sz="1500" b="0">
                <a:solidFill>
                  <a:srgbClr val="6B6B73"/>
                </a:solidFill>
              </a:defRPr>
            </a:lvl8pPr>
            <a:lvl9pPr>
              <a:defRPr sz="1500" b="0">
                <a:solidFill>
                  <a:srgbClr val="6B6B73"/>
                </a:solidFill>
              </a:defRPr>
            </a:lvl9pPr>
          </a:lstStyle>
          <a:p>
            <a:pPr>
              <a:defRPr sz="1500" b="0">
                <a:solidFill>
                  <a:srgbClr val="6B6B73"/>
                </a:solidFill>
              </a:defRPr>
            </a:pPr>
            <a:r>
              <a:rPr sz="1500" b="0">
                <a:solidFill>
                  <a:srgbClr val="6B6B73"/>
                </a:solidFill>
                <a:latin typeface="Arial"/>
                <a:ea typeface="Arial"/>
                <a:cs typeface="Arial"/>
              </a:rPr>
              <a:t>Requirements, risk controls and review procedures</a:t>
            </a:r>
          </a:p>
        </p:txBody>
      </p:sp>
      <p:sp>
        <p:nvSpPr>
          <p:cNvPr id="1007" name="Source connection 1">
            <a:extLst>
              <a:ext uri="{FF2B5EF4-FFF2-40B4-BE49-F238E27FC236}">
                <a16:creationId xmlns:a16="http://schemas.microsoft.com/office/drawing/2014/main" id="{EE7E41F9-A017-444D-8AAD-AE1AC23DC758}"/>
              </a:ext>
            </a:extLst>
          </p:cNvPr>
          <p:cNvSpPr>
            <a:spLocks noGrp="1"/>
          </p:cNvSpPr>
          <p:nvPr/>
        </p:nvSpPr>
        <p:spPr>
          <a:xfrm>
            <a:off x="5212080" y="3227832"/>
            <a:ext cx="525780" cy="22860"/>
          </a:xfrm>
          <a:prstGeom prst="rect">
            <a:avLst/>
          </a:prstGeom>
          <a:solidFill>
            <a:srgbClr val="BEC6CA"/>
          </a:solidFill>
          <a:ln w="0">
            <a:noFill/>
            <a:prstDash val="solid"/>
          </a:ln>
        </p:spPr>
        <p:txBody>
          <a:bodyPr/>
          <a:lstStyle/>
          <a:p>
            <a:endParaRPr lang="en-US"/>
          </a:p>
        </p:txBody>
      </p:sp>
      <p:sp>
        <p:nvSpPr>
          <p:cNvPr id="1008" name="Context source 2">
            <a:extLst>
              <a:ext uri="{FF2B5EF4-FFF2-40B4-BE49-F238E27FC236}">
                <a16:creationId xmlns:a16="http://schemas.microsoft.com/office/drawing/2014/main" id="{6ADE06E3-7B3B-47FD-A2DD-3C35161DE577}"/>
              </a:ext>
            </a:extLst>
          </p:cNvPr>
          <p:cNvSpPr>
            <a:spLocks noGrp="1"/>
          </p:cNvSpPr>
          <p:nvPr/>
        </p:nvSpPr>
        <p:spPr>
          <a:xfrm>
            <a:off x="812902" y="3831336"/>
            <a:ext cx="4663440" cy="365760"/>
          </a:xfrm>
          <a:prstGeom prst="rect">
            <a:avLst/>
          </a:prstGeom>
          <a:noFill/>
          <a:ln w="0">
            <a:noFill/>
            <a:prstDash val="solid"/>
          </a:ln>
        </p:spPr>
        <p:txBody>
          <a:bodyPr wrap="square" lIns="0" tIns="0" rIns="0" bIns="0" anchor="t">
            <a:noAutofit/>
          </a:bodyPr>
          <a:lstStyle>
            <a:defPPr>
              <a:defRPr sz="2200" b="1">
                <a:solidFill>
                  <a:srgbClr val="5665AE"/>
                </a:solidFill>
              </a:defRPr>
            </a:defPPr>
            <a:lvl1pPr>
              <a:defRPr sz="2200" b="1">
                <a:solidFill>
                  <a:srgbClr val="5665AE"/>
                </a:solidFill>
              </a:defRPr>
            </a:lvl1pPr>
            <a:lvl2pPr>
              <a:defRPr sz="2200" b="1">
                <a:solidFill>
                  <a:srgbClr val="5665AE"/>
                </a:solidFill>
              </a:defRPr>
            </a:lvl2pPr>
            <a:lvl3pPr>
              <a:defRPr sz="2200" b="1">
                <a:solidFill>
                  <a:srgbClr val="5665AE"/>
                </a:solidFill>
              </a:defRPr>
            </a:lvl3pPr>
            <a:lvl4pPr>
              <a:defRPr sz="2200" b="1">
                <a:solidFill>
                  <a:srgbClr val="5665AE"/>
                </a:solidFill>
              </a:defRPr>
            </a:lvl4pPr>
            <a:lvl5pPr>
              <a:defRPr sz="2200" b="1">
                <a:solidFill>
                  <a:srgbClr val="5665AE"/>
                </a:solidFill>
              </a:defRPr>
            </a:lvl5pPr>
            <a:lvl6pPr>
              <a:defRPr sz="2200" b="1">
                <a:solidFill>
                  <a:srgbClr val="5665AE"/>
                </a:solidFill>
              </a:defRPr>
            </a:lvl6pPr>
            <a:lvl7pPr>
              <a:defRPr sz="2200" b="1">
                <a:solidFill>
                  <a:srgbClr val="5665AE"/>
                </a:solidFill>
              </a:defRPr>
            </a:lvl7pPr>
            <a:lvl8pPr>
              <a:defRPr sz="2200" b="1">
                <a:solidFill>
                  <a:srgbClr val="5665AE"/>
                </a:solidFill>
              </a:defRPr>
            </a:lvl8pPr>
            <a:lvl9pPr>
              <a:defRPr sz="2200" b="1">
                <a:solidFill>
                  <a:srgbClr val="5665AE"/>
                </a:solidFill>
              </a:defRPr>
            </a:lvl9pPr>
          </a:lstStyle>
          <a:p>
            <a:pPr>
              <a:defRPr sz="2200" b="1">
                <a:solidFill>
                  <a:srgbClr val="5665AE"/>
                </a:solidFill>
              </a:defRPr>
            </a:pPr>
            <a:r>
              <a:rPr sz="2200" b="1">
                <a:solidFill>
                  <a:srgbClr val="5665AE"/>
                </a:solidFill>
                <a:latin typeface="Arial"/>
                <a:ea typeface="Arial"/>
                <a:cs typeface="Arial"/>
              </a:rPr>
              <a:t>Code relationships</a:t>
            </a:r>
          </a:p>
        </p:txBody>
      </p:sp>
      <p:sp>
        <p:nvSpPr>
          <p:cNvPr id="1009" name="Context example 2">
            <a:extLst>
              <a:ext uri="{FF2B5EF4-FFF2-40B4-BE49-F238E27FC236}">
                <a16:creationId xmlns:a16="http://schemas.microsoft.com/office/drawing/2014/main" id="{734C378F-B8EE-491E-94C4-F2E1152CF40F}"/>
              </a:ext>
            </a:extLst>
          </p:cNvPr>
          <p:cNvSpPr>
            <a:spLocks noGrp="1"/>
          </p:cNvSpPr>
          <p:nvPr/>
        </p:nvSpPr>
        <p:spPr>
          <a:xfrm>
            <a:off x="812902" y="4251960"/>
            <a:ext cx="4663440" cy="365760"/>
          </a:xfrm>
          <a:prstGeom prst="rect">
            <a:avLst/>
          </a:prstGeom>
          <a:noFill/>
          <a:ln w="0">
            <a:noFill/>
            <a:prstDash val="solid"/>
          </a:ln>
        </p:spPr>
        <p:txBody>
          <a:bodyPr wrap="square" lIns="0" tIns="0" rIns="0" bIns="0" anchor="t">
            <a:noAutofit/>
          </a:bodyPr>
          <a:lstStyle>
            <a:defPPr>
              <a:defRPr sz="1500" b="0">
                <a:solidFill>
                  <a:srgbClr val="6B6B73"/>
                </a:solidFill>
              </a:defRPr>
            </a:defPPr>
            <a:lvl1pPr>
              <a:defRPr sz="1500" b="0">
                <a:solidFill>
                  <a:srgbClr val="6B6B73"/>
                </a:solidFill>
              </a:defRPr>
            </a:lvl1pPr>
            <a:lvl2pPr>
              <a:defRPr sz="1500" b="0">
                <a:solidFill>
                  <a:srgbClr val="6B6B73"/>
                </a:solidFill>
              </a:defRPr>
            </a:lvl2pPr>
            <a:lvl3pPr>
              <a:defRPr sz="1500" b="0">
                <a:solidFill>
                  <a:srgbClr val="6B6B73"/>
                </a:solidFill>
              </a:defRPr>
            </a:lvl3pPr>
            <a:lvl4pPr>
              <a:defRPr sz="1500" b="0">
                <a:solidFill>
                  <a:srgbClr val="6B6B73"/>
                </a:solidFill>
              </a:defRPr>
            </a:lvl4pPr>
            <a:lvl5pPr>
              <a:defRPr sz="1500" b="0">
                <a:solidFill>
                  <a:srgbClr val="6B6B73"/>
                </a:solidFill>
              </a:defRPr>
            </a:lvl5pPr>
            <a:lvl6pPr>
              <a:defRPr sz="1500" b="0">
                <a:solidFill>
                  <a:srgbClr val="6B6B73"/>
                </a:solidFill>
              </a:defRPr>
            </a:lvl6pPr>
            <a:lvl7pPr>
              <a:defRPr sz="1500" b="0">
                <a:solidFill>
                  <a:srgbClr val="6B6B73"/>
                </a:solidFill>
              </a:defRPr>
            </a:lvl7pPr>
            <a:lvl8pPr>
              <a:defRPr sz="1500" b="0">
                <a:solidFill>
                  <a:srgbClr val="6B6B73"/>
                </a:solidFill>
              </a:defRPr>
            </a:lvl8pPr>
            <a:lvl9pPr>
              <a:defRPr sz="1500" b="0">
                <a:solidFill>
                  <a:srgbClr val="6B6B73"/>
                </a:solidFill>
              </a:defRPr>
            </a:lvl9pPr>
          </a:lstStyle>
          <a:p>
            <a:pPr>
              <a:defRPr sz="1500" b="0">
                <a:solidFill>
                  <a:srgbClr val="6B6B73"/>
                </a:solidFill>
              </a:defRPr>
            </a:pPr>
            <a:r>
              <a:rPr sz="1500" b="0">
                <a:solidFill>
                  <a:srgbClr val="6B6B73"/>
                </a:solidFill>
                <a:latin typeface="Arial"/>
                <a:ea typeface="Arial"/>
                <a:cs typeface="Arial"/>
              </a:rPr>
              <a:t>Callers, configuration, APIs and dependencies</a:t>
            </a:r>
          </a:p>
        </p:txBody>
      </p:sp>
      <p:sp>
        <p:nvSpPr>
          <p:cNvPr id="1010" name="Source connection 2">
            <a:extLst>
              <a:ext uri="{FF2B5EF4-FFF2-40B4-BE49-F238E27FC236}">
                <a16:creationId xmlns:a16="http://schemas.microsoft.com/office/drawing/2014/main" id="{4AF87668-1A18-47A5-B338-AE66CB4BA166}"/>
              </a:ext>
            </a:extLst>
          </p:cNvPr>
          <p:cNvSpPr>
            <a:spLocks noGrp="1"/>
          </p:cNvSpPr>
          <p:nvPr/>
        </p:nvSpPr>
        <p:spPr>
          <a:xfrm>
            <a:off x="5212080" y="4123944"/>
            <a:ext cx="525780" cy="22860"/>
          </a:xfrm>
          <a:prstGeom prst="rect">
            <a:avLst/>
          </a:prstGeom>
          <a:solidFill>
            <a:srgbClr val="BEC6CA"/>
          </a:solidFill>
          <a:ln w="0">
            <a:noFill/>
            <a:prstDash val="solid"/>
          </a:ln>
        </p:spPr>
        <p:txBody>
          <a:bodyPr/>
          <a:lstStyle/>
          <a:p>
            <a:endParaRPr lang="en-US"/>
          </a:p>
        </p:txBody>
      </p:sp>
      <p:sp>
        <p:nvSpPr>
          <p:cNvPr id="1011" name="Context source 3">
            <a:extLst>
              <a:ext uri="{FF2B5EF4-FFF2-40B4-BE49-F238E27FC236}">
                <a16:creationId xmlns:a16="http://schemas.microsoft.com/office/drawing/2014/main" id="{FB591BB3-2A80-4642-82EB-4CD3E7402599}"/>
              </a:ext>
            </a:extLst>
          </p:cNvPr>
          <p:cNvSpPr>
            <a:spLocks noGrp="1"/>
          </p:cNvSpPr>
          <p:nvPr/>
        </p:nvSpPr>
        <p:spPr>
          <a:xfrm>
            <a:off x="812902" y="4727448"/>
            <a:ext cx="4663440" cy="365760"/>
          </a:xfrm>
          <a:prstGeom prst="rect">
            <a:avLst/>
          </a:prstGeom>
          <a:noFill/>
          <a:ln w="0">
            <a:noFill/>
            <a:prstDash val="solid"/>
          </a:ln>
        </p:spPr>
        <p:txBody>
          <a:bodyPr wrap="square" lIns="0" tIns="0" rIns="0" bIns="0" anchor="t">
            <a:noAutofit/>
          </a:bodyPr>
          <a:lstStyle>
            <a:defPPr>
              <a:defRPr sz="2200" b="1">
                <a:solidFill>
                  <a:srgbClr val="0086B6"/>
                </a:solidFill>
              </a:defRPr>
            </a:defPPr>
            <a:lvl1pPr>
              <a:defRPr sz="2200" b="1">
                <a:solidFill>
                  <a:srgbClr val="0086B6"/>
                </a:solidFill>
              </a:defRPr>
            </a:lvl1pPr>
            <a:lvl2pPr>
              <a:defRPr sz="2200" b="1">
                <a:solidFill>
                  <a:srgbClr val="0086B6"/>
                </a:solidFill>
              </a:defRPr>
            </a:lvl2pPr>
            <a:lvl3pPr>
              <a:defRPr sz="2200" b="1">
                <a:solidFill>
                  <a:srgbClr val="0086B6"/>
                </a:solidFill>
              </a:defRPr>
            </a:lvl3pPr>
            <a:lvl4pPr>
              <a:defRPr sz="2200" b="1">
                <a:solidFill>
                  <a:srgbClr val="0086B6"/>
                </a:solidFill>
              </a:defRPr>
            </a:lvl4pPr>
            <a:lvl5pPr>
              <a:defRPr sz="2200" b="1">
                <a:solidFill>
                  <a:srgbClr val="0086B6"/>
                </a:solidFill>
              </a:defRPr>
            </a:lvl5pPr>
            <a:lvl6pPr>
              <a:defRPr sz="2200" b="1">
                <a:solidFill>
                  <a:srgbClr val="0086B6"/>
                </a:solidFill>
              </a:defRPr>
            </a:lvl6pPr>
            <a:lvl7pPr>
              <a:defRPr sz="2200" b="1">
                <a:solidFill>
                  <a:srgbClr val="0086B6"/>
                </a:solidFill>
              </a:defRPr>
            </a:lvl7pPr>
            <a:lvl8pPr>
              <a:defRPr sz="2200" b="1">
                <a:solidFill>
                  <a:srgbClr val="0086B6"/>
                </a:solidFill>
              </a:defRPr>
            </a:lvl8pPr>
            <a:lvl9pPr>
              <a:defRPr sz="2200" b="1">
                <a:solidFill>
                  <a:srgbClr val="0086B6"/>
                </a:solidFill>
              </a:defRPr>
            </a:lvl9pPr>
          </a:lstStyle>
          <a:p>
            <a:pPr>
              <a:defRPr sz="2200" b="1">
                <a:solidFill>
                  <a:srgbClr val="0086B6"/>
                </a:solidFill>
              </a:defRPr>
            </a:pPr>
            <a:r>
              <a:rPr sz="2200" b="1">
                <a:solidFill>
                  <a:srgbClr val="0086B6"/>
                </a:solidFill>
                <a:latin typeface="Arial"/>
                <a:ea typeface="Arial"/>
                <a:cs typeface="Arial"/>
              </a:rPr>
              <a:t>Observed evidence</a:t>
            </a:r>
          </a:p>
        </p:txBody>
      </p:sp>
      <p:sp>
        <p:nvSpPr>
          <p:cNvPr id="1012" name="Context example 3">
            <a:extLst>
              <a:ext uri="{FF2B5EF4-FFF2-40B4-BE49-F238E27FC236}">
                <a16:creationId xmlns:a16="http://schemas.microsoft.com/office/drawing/2014/main" id="{C20B0F4D-8CFA-4CE3-BD63-6738374243D4}"/>
              </a:ext>
            </a:extLst>
          </p:cNvPr>
          <p:cNvSpPr>
            <a:spLocks noGrp="1"/>
          </p:cNvSpPr>
          <p:nvPr/>
        </p:nvSpPr>
        <p:spPr>
          <a:xfrm>
            <a:off x="812902" y="5148072"/>
            <a:ext cx="4663440" cy="365760"/>
          </a:xfrm>
          <a:prstGeom prst="rect">
            <a:avLst/>
          </a:prstGeom>
          <a:noFill/>
          <a:ln w="0">
            <a:noFill/>
            <a:prstDash val="solid"/>
          </a:ln>
        </p:spPr>
        <p:txBody>
          <a:bodyPr wrap="square" lIns="0" tIns="0" rIns="0" bIns="0" anchor="t">
            <a:noAutofit/>
          </a:bodyPr>
          <a:lstStyle>
            <a:defPPr>
              <a:defRPr sz="1500" b="0">
                <a:solidFill>
                  <a:srgbClr val="6B6B73"/>
                </a:solidFill>
              </a:defRPr>
            </a:defPPr>
            <a:lvl1pPr>
              <a:defRPr sz="1500" b="0">
                <a:solidFill>
                  <a:srgbClr val="6B6B73"/>
                </a:solidFill>
              </a:defRPr>
            </a:lvl1pPr>
            <a:lvl2pPr>
              <a:defRPr sz="1500" b="0">
                <a:solidFill>
                  <a:srgbClr val="6B6B73"/>
                </a:solidFill>
              </a:defRPr>
            </a:lvl2pPr>
            <a:lvl3pPr>
              <a:defRPr sz="1500" b="0">
                <a:solidFill>
                  <a:srgbClr val="6B6B73"/>
                </a:solidFill>
              </a:defRPr>
            </a:lvl3pPr>
            <a:lvl4pPr>
              <a:defRPr sz="1500" b="0">
                <a:solidFill>
                  <a:srgbClr val="6B6B73"/>
                </a:solidFill>
              </a:defRPr>
            </a:lvl4pPr>
            <a:lvl5pPr>
              <a:defRPr sz="1500" b="0">
                <a:solidFill>
                  <a:srgbClr val="6B6B73"/>
                </a:solidFill>
              </a:defRPr>
            </a:lvl5pPr>
            <a:lvl6pPr>
              <a:defRPr sz="1500" b="0">
                <a:solidFill>
                  <a:srgbClr val="6B6B73"/>
                </a:solidFill>
              </a:defRPr>
            </a:lvl6pPr>
            <a:lvl7pPr>
              <a:defRPr sz="1500" b="0">
                <a:solidFill>
                  <a:srgbClr val="6B6B73"/>
                </a:solidFill>
              </a:defRPr>
            </a:lvl7pPr>
            <a:lvl8pPr>
              <a:defRPr sz="1500" b="0">
                <a:solidFill>
                  <a:srgbClr val="6B6B73"/>
                </a:solidFill>
              </a:defRPr>
            </a:lvl8pPr>
            <a:lvl9pPr>
              <a:defRPr sz="1500" b="0">
                <a:solidFill>
                  <a:srgbClr val="6B6B73"/>
                </a:solidFill>
              </a:defRPr>
            </a:lvl9pPr>
          </a:lstStyle>
          <a:p>
            <a:pPr>
              <a:defRPr sz="1500" b="0">
                <a:solidFill>
                  <a:srgbClr val="6B6B73"/>
                </a:solidFill>
              </a:defRPr>
            </a:pPr>
            <a:r>
              <a:rPr sz="1500" b="0">
                <a:solidFill>
                  <a:srgbClr val="6B6B73"/>
                </a:solidFill>
                <a:latin typeface="Arial"/>
                <a:ea typeface="Arial"/>
                <a:cs typeface="Arial"/>
              </a:rPr>
              <a:t>Tests, security findings, relevant traces and logs</a:t>
            </a:r>
          </a:p>
        </p:txBody>
      </p:sp>
      <p:sp>
        <p:nvSpPr>
          <p:cNvPr id="1013" name="Source connection 3">
            <a:extLst>
              <a:ext uri="{FF2B5EF4-FFF2-40B4-BE49-F238E27FC236}">
                <a16:creationId xmlns:a16="http://schemas.microsoft.com/office/drawing/2014/main" id="{ED61941A-25A2-4BF6-ADA7-A17F40DF18C5}"/>
              </a:ext>
            </a:extLst>
          </p:cNvPr>
          <p:cNvSpPr>
            <a:spLocks noGrp="1"/>
          </p:cNvSpPr>
          <p:nvPr/>
        </p:nvSpPr>
        <p:spPr>
          <a:xfrm>
            <a:off x="5212080" y="5020056"/>
            <a:ext cx="525780" cy="22860"/>
          </a:xfrm>
          <a:prstGeom prst="rect">
            <a:avLst/>
          </a:prstGeom>
          <a:solidFill>
            <a:srgbClr val="BEC6CA"/>
          </a:solidFill>
          <a:ln w="0">
            <a:noFill/>
            <a:prstDash val="solid"/>
          </a:ln>
        </p:spPr>
        <p:txBody>
          <a:bodyPr/>
          <a:lstStyle/>
          <a:p>
            <a:endParaRPr lang="en-US"/>
          </a:p>
        </p:txBody>
      </p:sp>
      <p:sp>
        <p:nvSpPr>
          <p:cNvPr id="1014" name="Selection input">
            <a:extLst>
              <a:ext uri="{FF2B5EF4-FFF2-40B4-BE49-F238E27FC236}">
                <a16:creationId xmlns:a16="http://schemas.microsoft.com/office/drawing/2014/main" id="{91F67389-371D-4760-8CAE-A53127C41850}"/>
              </a:ext>
            </a:extLst>
          </p:cNvPr>
          <p:cNvSpPr>
            <a:spLocks noGrp="1"/>
          </p:cNvSpPr>
          <p:nvPr/>
        </p:nvSpPr>
        <p:spPr>
          <a:xfrm>
            <a:off x="5733288" y="3584448"/>
            <a:ext cx="411480" cy="173736"/>
          </a:xfrm>
          <a:prstGeom prst="rightArrow">
            <a:avLst/>
          </a:prstGeom>
          <a:solidFill>
            <a:srgbClr val="0086B6"/>
          </a:solidFill>
          <a:ln w="0">
            <a:noFill/>
            <a:prstDash val="solid"/>
          </a:ln>
        </p:spPr>
        <p:txBody>
          <a:bodyPr/>
          <a:lstStyle/>
          <a:p>
            <a:endParaRPr lang="en-US"/>
          </a:p>
        </p:txBody>
      </p:sp>
      <p:sp>
        <p:nvSpPr>
          <p:cNvPr id="1015" name="Selection process">
            <a:extLst>
              <a:ext uri="{FF2B5EF4-FFF2-40B4-BE49-F238E27FC236}">
                <a16:creationId xmlns:a16="http://schemas.microsoft.com/office/drawing/2014/main" id="{C7EA3265-A081-4B74-89F5-F167433D7BB2}"/>
              </a:ext>
            </a:extLst>
          </p:cNvPr>
          <p:cNvSpPr>
            <a:spLocks noGrp="1"/>
          </p:cNvSpPr>
          <p:nvPr/>
        </p:nvSpPr>
        <p:spPr>
          <a:xfrm>
            <a:off x="6263640" y="2962656"/>
            <a:ext cx="2359152" cy="1426464"/>
          </a:xfrm>
          <a:prstGeom prst="rect">
            <a:avLst/>
          </a:prstGeom>
          <a:solidFill>
            <a:srgbClr val="EDF4F7"/>
          </a:solidFill>
          <a:ln w="9525">
            <a:solidFill>
              <a:srgbClr val="0086B6"/>
            </a:solidFill>
            <a:prstDash val="solid"/>
          </a:ln>
        </p:spPr>
        <p:txBody>
          <a:bodyPr/>
          <a:lstStyle/>
          <a:p>
            <a:endParaRPr lang="en-US"/>
          </a:p>
        </p:txBody>
      </p:sp>
      <p:sp>
        <p:nvSpPr>
          <p:cNvPr id="1016" name="Selection title">
            <a:extLst>
              <a:ext uri="{FF2B5EF4-FFF2-40B4-BE49-F238E27FC236}">
                <a16:creationId xmlns:a16="http://schemas.microsoft.com/office/drawing/2014/main" id="{539FD466-E449-4104-8970-82F019BDEF5D}"/>
              </a:ext>
            </a:extLst>
          </p:cNvPr>
          <p:cNvSpPr>
            <a:spLocks noGrp="1"/>
          </p:cNvSpPr>
          <p:nvPr/>
        </p:nvSpPr>
        <p:spPr>
          <a:xfrm>
            <a:off x="6473952" y="3246120"/>
            <a:ext cx="1965960" cy="777240"/>
          </a:xfrm>
          <a:prstGeom prst="rect">
            <a:avLst/>
          </a:prstGeom>
          <a:noFill/>
          <a:ln w="0">
            <a:noFill/>
            <a:prstDash val="solid"/>
          </a:ln>
        </p:spPr>
        <p:txBody>
          <a:bodyPr wrap="square" lIns="0" tIns="0" rIns="0" bIns="0" anchor="t">
            <a:noAutofit/>
          </a:bodyPr>
          <a:lstStyle>
            <a:defPPr>
              <a:defRPr sz="2200" b="1">
                <a:solidFill>
                  <a:srgbClr val="0086B6"/>
                </a:solidFill>
              </a:defRPr>
            </a:defPPr>
            <a:lvl1pPr>
              <a:defRPr sz="2200" b="1">
                <a:solidFill>
                  <a:srgbClr val="0086B6"/>
                </a:solidFill>
              </a:defRPr>
            </a:lvl1pPr>
            <a:lvl2pPr>
              <a:defRPr sz="2200" b="1">
                <a:solidFill>
                  <a:srgbClr val="0086B6"/>
                </a:solidFill>
              </a:defRPr>
            </a:lvl2pPr>
            <a:lvl3pPr>
              <a:defRPr sz="2200" b="1">
                <a:solidFill>
                  <a:srgbClr val="0086B6"/>
                </a:solidFill>
              </a:defRPr>
            </a:lvl3pPr>
            <a:lvl4pPr>
              <a:defRPr sz="2200" b="1">
                <a:solidFill>
                  <a:srgbClr val="0086B6"/>
                </a:solidFill>
              </a:defRPr>
            </a:lvl4pPr>
            <a:lvl5pPr>
              <a:defRPr sz="2200" b="1">
                <a:solidFill>
                  <a:srgbClr val="0086B6"/>
                </a:solidFill>
              </a:defRPr>
            </a:lvl5pPr>
            <a:lvl6pPr>
              <a:defRPr sz="2200" b="1">
                <a:solidFill>
                  <a:srgbClr val="0086B6"/>
                </a:solidFill>
              </a:defRPr>
            </a:lvl6pPr>
            <a:lvl7pPr>
              <a:defRPr sz="2200" b="1">
                <a:solidFill>
                  <a:srgbClr val="0086B6"/>
                </a:solidFill>
              </a:defRPr>
            </a:lvl7pPr>
            <a:lvl8pPr>
              <a:defRPr sz="2200" b="1">
                <a:solidFill>
                  <a:srgbClr val="0086B6"/>
                </a:solidFill>
              </a:defRPr>
            </a:lvl8pPr>
            <a:lvl9pPr>
              <a:defRPr sz="2200" b="1">
                <a:solidFill>
                  <a:srgbClr val="0086B6"/>
                </a:solidFill>
              </a:defRPr>
            </a:lvl9pPr>
          </a:lstStyle>
          <a:p>
            <a:pPr>
              <a:defRPr sz="2200" b="1">
                <a:solidFill>
                  <a:srgbClr val="0086B6"/>
                </a:solidFill>
              </a:defRPr>
            </a:pPr>
            <a:r>
              <a:rPr sz="2200" b="1">
                <a:solidFill>
                  <a:srgbClr val="0086B6"/>
                </a:solidFill>
                <a:latin typeface="Arial"/>
                <a:ea typeface="Arial"/>
                <a:cs typeface="Arial"/>
              </a:rPr>
              <a:t>Retrieve what</a:t>
            </a:r>
            <a:br>
              <a:rPr sz="2200" b="1">
                <a:solidFill>
                  <a:srgbClr val="0086B6"/>
                </a:solidFill>
                <a:latin typeface="Arial"/>
                <a:ea typeface="Arial"/>
                <a:cs typeface="Arial"/>
              </a:rPr>
            </a:br>
            <a:r>
              <a:rPr sz="2200" b="1">
                <a:solidFill>
                  <a:srgbClr val="0086B6"/>
                </a:solidFill>
                <a:latin typeface="Arial"/>
                <a:ea typeface="Arial"/>
                <a:cs typeface="Arial"/>
              </a:rPr>
              <a:t>this PR needs</a:t>
            </a:r>
          </a:p>
        </p:txBody>
      </p:sp>
      <p:sp>
        <p:nvSpPr>
          <p:cNvPr id="1017" name="Selected evidence">
            <a:extLst>
              <a:ext uri="{FF2B5EF4-FFF2-40B4-BE49-F238E27FC236}">
                <a16:creationId xmlns:a16="http://schemas.microsoft.com/office/drawing/2014/main" id="{8A86D86C-2731-4900-AEE7-81480BB2098D}"/>
              </a:ext>
            </a:extLst>
          </p:cNvPr>
          <p:cNvSpPr>
            <a:spLocks noGrp="1"/>
          </p:cNvSpPr>
          <p:nvPr/>
        </p:nvSpPr>
        <p:spPr>
          <a:xfrm>
            <a:off x="8796528" y="3584448"/>
            <a:ext cx="411480" cy="173736"/>
          </a:xfrm>
          <a:prstGeom prst="rightArrow">
            <a:avLst/>
          </a:prstGeom>
          <a:solidFill>
            <a:srgbClr val="4C8835"/>
          </a:solidFill>
          <a:ln w="0">
            <a:noFill/>
            <a:prstDash val="solid"/>
          </a:ln>
        </p:spPr>
        <p:txBody>
          <a:bodyPr/>
          <a:lstStyle/>
          <a:p>
            <a:endParaRPr lang="en-US"/>
          </a:p>
        </p:txBody>
      </p:sp>
      <p:sp>
        <p:nvSpPr>
          <p:cNvPr id="1018" name="Review destination">
            <a:extLst>
              <a:ext uri="{FF2B5EF4-FFF2-40B4-BE49-F238E27FC236}">
                <a16:creationId xmlns:a16="http://schemas.microsoft.com/office/drawing/2014/main" id="{541D8ED4-31D5-4D3D-986F-33338C6ACFF6}"/>
              </a:ext>
            </a:extLst>
          </p:cNvPr>
          <p:cNvSpPr>
            <a:spLocks noGrp="1"/>
          </p:cNvSpPr>
          <p:nvPr/>
        </p:nvSpPr>
        <p:spPr>
          <a:xfrm>
            <a:off x="9427464" y="3310128"/>
            <a:ext cx="1920240" cy="868680"/>
          </a:xfrm>
          <a:prstGeom prst="rect">
            <a:avLst/>
          </a:prstGeom>
          <a:noFill/>
          <a:ln w="0">
            <a:noFill/>
            <a:prstDash val="solid"/>
          </a:ln>
        </p:spPr>
        <p:txBody>
          <a:bodyPr wrap="square" lIns="0" tIns="0" rIns="0" bIns="0" anchor="t">
            <a:noAutofit/>
          </a:bodyPr>
          <a:lstStyle>
            <a:defPPr>
              <a:defRPr sz="2500" b="1">
                <a:solidFill>
                  <a:srgbClr val="4C8835"/>
                </a:solidFill>
              </a:defRPr>
            </a:defPPr>
            <a:lvl1pPr>
              <a:defRPr sz="2500" b="1">
                <a:solidFill>
                  <a:srgbClr val="4C8835"/>
                </a:solidFill>
              </a:defRPr>
            </a:lvl1pPr>
            <a:lvl2pPr>
              <a:defRPr sz="2500" b="1">
                <a:solidFill>
                  <a:srgbClr val="4C8835"/>
                </a:solidFill>
              </a:defRPr>
            </a:lvl2pPr>
            <a:lvl3pPr>
              <a:defRPr sz="2500" b="1">
                <a:solidFill>
                  <a:srgbClr val="4C8835"/>
                </a:solidFill>
              </a:defRPr>
            </a:lvl3pPr>
            <a:lvl4pPr>
              <a:defRPr sz="2500" b="1">
                <a:solidFill>
                  <a:srgbClr val="4C8835"/>
                </a:solidFill>
              </a:defRPr>
            </a:lvl4pPr>
            <a:lvl5pPr>
              <a:defRPr sz="2500" b="1">
                <a:solidFill>
                  <a:srgbClr val="4C8835"/>
                </a:solidFill>
              </a:defRPr>
            </a:lvl5pPr>
            <a:lvl6pPr>
              <a:defRPr sz="2500" b="1">
                <a:solidFill>
                  <a:srgbClr val="4C8835"/>
                </a:solidFill>
              </a:defRPr>
            </a:lvl6pPr>
            <a:lvl7pPr>
              <a:defRPr sz="2500" b="1">
                <a:solidFill>
                  <a:srgbClr val="4C8835"/>
                </a:solidFill>
              </a:defRPr>
            </a:lvl7pPr>
            <a:lvl8pPr>
              <a:defRPr sz="2500" b="1">
                <a:solidFill>
                  <a:srgbClr val="4C8835"/>
                </a:solidFill>
              </a:defRPr>
            </a:lvl8pPr>
            <a:lvl9pPr>
              <a:defRPr sz="2500" b="1">
                <a:solidFill>
                  <a:srgbClr val="4C8835"/>
                </a:solidFill>
              </a:defRPr>
            </a:lvl9pPr>
          </a:lstStyle>
          <a:p>
            <a:pPr>
              <a:defRPr sz="2500" b="1">
                <a:solidFill>
                  <a:srgbClr val="4C8835"/>
                </a:solidFill>
              </a:defRPr>
            </a:pPr>
            <a:r>
              <a:rPr sz="2500" b="1">
                <a:solidFill>
                  <a:srgbClr val="4C8835"/>
                </a:solidFill>
                <a:latin typeface="Arial"/>
                <a:ea typeface="Arial"/>
                <a:cs typeface="Arial"/>
              </a:rPr>
              <a:t>Focused</a:t>
            </a:r>
            <a:br>
              <a:rPr sz="2500" b="1">
                <a:solidFill>
                  <a:srgbClr val="4C8835"/>
                </a:solidFill>
                <a:latin typeface="Arial"/>
                <a:ea typeface="Arial"/>
                <a:cs typeface="Arial"/>
              </a:rPr>
            </a:br>
            <a:r>
              <a:rPr sz="2500" b="1">
                <a:solidFill>
                  <a:srgbClr val="4C8835"/>
                </a:solidFill>
                <a:latin typeface="Arial"/>
                <a:ea typeface="Arial"/>
                <a:cs typeface="Arial"/>
              </a:rPr>
              <a:t>AI review</a:t>
            </a:r>
          </a:p>
        </p:txBody>
      </p:sp>
      <p:sp>
        <p:nvSpPr>
          <p:cNvPr id="1019" name="Selection constraints">
            <a:extLst>
              <a:ext uri="{FF2B5EF4-FFF2-40B4-BE49-F238E27FC236}">
                <a16:creationId xmlns:a16="http://schemas.microsoft.com/office/drawing/2014/main" id="{50363BF9-7020-4B0F-AE9C-6CBD0BB88AAF}"/>
              </a:ext>
            </a:extLst>
          </p:cNvPr>
          <p:cNvSpPr>
            <a:spLocks noGrp="1"/>
          </p:cNvSpPr>
          <p:nvPr/>
        </p:nvSpPr>
        <p:spPr>
          <a:xfrm>
            <a:off x="6263640" y="4672584"/>
            <a:ext cx="5111496" cy="365760"/>
          </a:xfrm>
          <a:prstGeom prst="rect">
            <a:avLst/>
          </a:prstGeom>
          <a:noFill/>
          <a:ln w="0">
            <a:noFill/>
            <a:prstDash val="solid"/>
          </a:ln>
        </p:spPr>
        <p:txBody>
          <a:bodyPr wrap="square" lIns="0" tIns="0" rIns="0" bIns="0" anchor="t">
            <a:noAutofit/>
          </a:bodyPr>
          <a:lstStyle>
            <a:defPPr>
              <a:defRPr sz="1700" b="0">
                <a:solidFill>
                  <a:srgbClr val="6B6B73"/>
                </a:solidFill>
              </a:defRPr>
            </a:defPPr>
            <a:lvl1pPr>
              <a:defRPr sz="1700" b="0">
                <a:solidFill>
                  <a:srgbClr val="6B6B73"/>
                </a:solidFill>
              </a:defRPr>
            </a:lvl1pPr>
            <a:lvl2pPr>
              <a:defRPr sz="1700" b="0">
                <a:solidFill>
                  <a:srgbClr val="6B6B73"/>
                </a:solidFill>
              </a:defRPr>
            </a:lvl2pPr>
            <a:lvl3pPr>
              <a:defRPr sz="1700" b="0">
                <a:solidFill>
                  <a:srgbClr val="6B6B73"/>
                </a:solidFill>
              </a:defRPr>
            </a:lvl3pPr>
            <a:lvl4pPr>
              <a:defRPr sz="1700" b="0">
                <a:solidFill>
                  <a:srgbClr val="6B6B73"/>
                </a:solidFill>
              </a:defRPr>
            </a:lvl4pPr>
            <a:lvl5pPr>
              <a:defRPr sz="1700" b="0">
                <a:solidFill>
                  <a:srgbClr val="6B6B73"/>
                </a:solidFill>
              </a:defRPr>
            </a:lvl5pPr>
            <a:lvl6pPr>
              <a:defRPr sz="1700" b="0">
                <a:solidFill>
                  <a:srgbClr val="6B6B73"/>
                </a:solidFill>
              </a:defRPr>
            </a:lvl6pPr>
            <a:lvl7pPr>
              <a:defRPr sz="1700" b="0">
                <a:solidFill>
                  <a:srgbClr val="6B6B73"/>
                </a:solidFill>
              </a:defRPr>
            </a:lvl7pPr>
            <a:lvl8pPr>
              <a:defRPr sz="1700" b="0">
                <a:solidFill>
                  <a:srgbClr val="6B6B73"/>
                </a:solidFill>
              </a:defRPr>
            </a:lvl8pPr>
            <a:lvl9pPr>
              <a:defRPr sz="1700" b="0">
                <a:solidFill>
                  <a:srgbClr val="6B6B73"/>
                </a:solidFill>
              </a:defRPr>
            </a:lvl9pPr>
          </a:lstStyle>
          <a:p>
            <a:pPr>
              <a:defRPr sz="1700" b="0">
                <a:solidFill>
                  <a:srgbClr val="6B6B73"/>
                </a:solidFill>
              </a:defRPr>
            </a:pPr>
            <a:r>
              <a:rPr sz="1700" b="0">
                <a:solidFill>
                  <a:srgbClr val="6B6B73"/>
                </a:solidFill>
                <a:latin typeface="Arial"/>
                <a:ea typeface="Arial"/>
                <a:cs typeface="Arial"/>
              </a:rPr>
              <a:t>Relevant • permitted • current</a:t>
            </a:r>
          </a:p>
        </p:txBody>
      </p:sp>
      <p:sp>
        <p:nvSpPr>
          <p:cNvPr id="1020" name="Context accountability">
            <a:extLst>
              <a:ext uri="{FF2B5EF4-FFF2-40B4-BE49-F238E27FC236}">
                <a16:creationId xmlns:a16="http://schemas.microsoft.com/office/drawing/2014/main" id="{5FDFECE2-A79C-4920-BD26-59914053DC97}"/>
              </a:ext>
            </a:extLst>
          </p:cNvPr>
          <p:cNvSpPr>
            <a:spLocks noGrp="1"/>
          </p:cNvSpPr>
          <p:nvPr/>
        </p:nvSpPr>
        <p:spPr>
          <a:xfrm>
            <a:off x="812902" y="5678424"/>
            <a:ext cx="10561320" cy="310896"/>
          </a:xfrm>
          <a:prstGeom prst="rect">
            <a:avLst/>
          </a:prstGeom>
          <a:noFill/>
          <a:ln w="0">
            <a:noFill/>
            <a:prstDash val="solid"/>
          </a:ln>
        </p:spPr>
        <p:txBody>
          <a:bodyPr wrap="square" lIns="0" tIns="0" rIns="0" bIns="0" anchor="t">
            <a:noAutofit/>
          </a:bodyPr>
          <a:lstStyle>
            <a:defPPr>
              <a:defRPr sz="1800" b="1">
                <a:solidFill>
                  <a:srgbClr val="33333A"/>
                </a:solidFill>
              </a:defRPr>
            </a:defPPr>
            <a:lvl1pPr>
              <a:defRPr sz="1800" b="1">
                <a:solidFill>
                  <a:srgbClr val="33333A"/>
                </a:solidFill>
              </a:defRPr>
            </a:lvl1pPr>
            <a:lvl2pPr>
              <a:defRPr sz="1800" b="1">
                <a:solidFill>
                  <a:srgbClr val="33333A"/>
                </a:solidFill>
              </a:defRPr>
            </a:lvl2pPr>
            <a:lvl3pPr>
              <a:defRPr sz="1800" b="1">
                <a:solidFill>
                  <a:srgbClr val="33333A"/>
                </a:solidFill>
              </a:defRPr>
            </a:lvl3pPr>
            <a:lvl4pPr>
              <a:defRPr sz="1800" b="1">
                <a:solidFill>
                  <a:srgbClr val="33333A"/>
                </a:solidFill>
              </a:defRPr>
            </a:lvl4pPr>
            <a:lvl5pPr>
              <a:defRPr sz="1800" b="1">
                <a:solidFill>
                  <a:srgbClr val="33333A"/>
                </a:solidFill>
              </a:defRPr>
            </a:lvl5pPr>
            <a:lvl6pPr>
              <a:defRPr sz="1800" b="1">
                <a:solidFill>
                  <a:srgbClr val="33333A"/>
                </a:solidFill>
              </a:defRPr>
            </a:lvl6pPr>
            <a:lvl7pPr>
              <a:defRPr sz="1800" b="1">
                <a:solidFill>
                  <a:srgbClr val="33333A"/>
                </a:solidFill>
              </a:defRPr>
            </a:lvl7pPr>
            <a:lvl8pPr>
              <a:defRPr sz="1800" b="1">
                <a:solidFill>
                  <a:srgbClr val="33333A"/>
                </a:solidFill>
              </a:defRPr>
            </a:lvl8pPr>
            <a:lvl9pPr>
              <a:defRPr sz="1800" b="1">
                <a:solidFill>
                  <a:srgbClr val="33333A"/>
                </a:solidFill>
              </a:defRPr>
            </a:lvl9pPr>
          </a:lstStyle>
          <a:p>
            <a:pPr>
              <a:defRPr sz="1800" b="1">
                <a:solidFill>
                  <a:srgbClr val="33333A"/>
                </a:solidFill>
              </a:defRPr>
            </a:pPr>
            <a:r>
              <a:rPr sz="1800" b="1">
                <a:solidFill>
                  <a:srgbClr val="33333A"/>
                </a:solidFill>
                <a:latin typeface="Arial"/>
                <a:ea typeface="Arial"/>
                <a:cs typeface="Arial"/>
              </a:rPr>
              <a:t>Record context supplied and retrieved, with its source, revision and time.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4" name="Text 0"/>
          <p:cNvSpPr>
            <a:spLocks noGrp="1"/>
          </p:cNvSpPr>
          <p:nvPr>
            <p:ph type="title"/>
          </p:nvPr>
        </p:nvSpPr>
        <p:spPr>
          <a:xfrm>
            <a:off x="812902" y="812902"/>
            <a:ext cx="8412480" cy="512064"/>
          </a:xfrm>
          <a:prstGeom prst="rect">
            <a:avLst/>
          </a:prstGeom>
          <a:noFill/>
          <a:ln/>
        </p:spPr>
        <p:txBody>
          <a:bodyPr wrap="square" lIns="0" tIns="0" rIns="0" bIns="0" rtlCol="0" anchor="t">
            <a:noAutofit/>
          </a:bodyPr>
          <a:lstStyle/>
          <a:p>
            <a:pPr marL="0" indent="0" algn="l">
              <a:lnSpc>
                <a:spcPts val="3800"/>
              </a:lnSpc>
              <a:spcBef>
                <a:spcPts val="0"/>
              </a:spcBef>
              <a:buNone/>
            </a:pPr>
            <a:r>
              <a:rPr lang="en-US" sz="3200" b="1" dirty="0">
                <a:solidFill>
                  <a:srgbClr val="4C8835"/>
                </a:solidFill>
                <a:latin typeface="Arial" pitchFamily="34" charset="0"/>
                <a:ea typeface="Arial" pitchFamily="34" charset="-122"/>
                <a:cs typeface="Arial" pitchFamily="34" charset="-120"/>
              </a:rPr>
              <a:t>Why the payment finding changed</a:t>
            </a:r>
            <a:endParaRPr lang="en-US" sz="3200"/>
          </a:p>
        </p:txBody>
      </p:sp>
      <p:sp>
        <p:nvSpPr>
          <p:cNvPr id="36" name="Text 25"/>
          <p:cNvSpPr/>
          <p:nvPr/>
        </p:nvSpPr>
        <p:spPr>
          <a:xfrm>
            <a:off x="7532370" y="6238280"/>
            <a:ext cx="300863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A92"/>
                </a:solidFill>
                <a:latin typeface="Arial" pitchFamily="34" charset="0"/>
                <a:ea typeface="Arial" pitchFamily="34" charset="-122"/>
                <a:cs typeface="Arial" pitchFamily="34" charset="-120"/>
              </a:rPr>
              <a:t>ISC2.org/Congress | #ISC2Congress</a:t>
            </a:r>
            <a:endParaRPr lang="en-US" sz="1200" dirty="0"/>
          </a:p>
        </p:txBody>
      </p:sp>
      <p:sp>
        <p:nvSpPr>
          <p:cNvPr id="1000" name="Matched pair">
            <a:extLst>
              <a:ext uri="{FF2B5EF4-FFF2-40B4-BE49-F238E27FC236}">
                <a16:creationId xmlns:a16="http://schemas.microsoft.com/office/drawing/2014/main" id="{474D3AB6-987C-4B48-A516-C1BA76E350C4}"/>
              </a:ext>
            </a:extLst>
          </p:cNvPr>
          <p:cNvSpPr>
            <a:spLocks noGrp="1"/>
          </p:cNvSpPr>
          <p:nvPr/>
        </p:nvSpPr>
        <p:spPr>
          <a:xfrm>
            <a:off x="812902" y="1399032"/>
            <a:ext cx="10561320" cy="384048"/>
          </a:xfrm>
          <a:prstGeom prst="rect">
            <a:avLst/>
          </a:prstGeom>
          <a:noFill/>
          <a:ln w="0">
            <a:noFill/>
            <a:prstDash val="solid"/>
          </a:ln>
        </p:spPr>
        <p:txBody>
          <a:bodyPr wrap="square" lIns="0" tIns="0" rIns="0" bIns="0" anchor="t">
            <a:noAutofit/>
          </a:bodyPr>
          <a:lstStyle>
            <a:defPPr>
              <a:defRPr sz="1800" b="0">
                <a:solidFill>
                  <a:srgbClr val="33333A"/>
                </a:solidFill>
              </a:defRPr>
            </a:defPPr>
            <a:lvl1pPr>
              <a:defRPr sz="1800" b="0">
                <a:solidFill>
                  <a:srgbClr val="33333A"/>
                </a:solidFill>
              </a:defRPr>
            </a:lvl1pPr>
            <a:lvl2pPr>
              <a:defRPr sz="1800" b="0">
                <a:solidFill>
                  <a:srgbClr val="33333A"/>
                </a:solidFill>
              </a:defRPr>
            </a:lvl2pPr>
            <a:lvl3pPr>
              <a:defRPr sz="1800" b="0">
                <a:solidFill>
                  <a:srgbClr val="33333A"/>
                </a:solidFill>
              </a:defRPr>
            </a:lvl3pPr>
            <a:lvl4pPr>
              <a:defRPr sz="1800" b="0">
                <a:solidFill>
                  <a:srgbClr val="33333A"/>
                </a:solidFill>
              </a:defRPr>
            </a:lvl4pPr>
            <a:lvl5pPr>
              <a:defRPr sz="1800" b="0">
                <a:solidFill>
                  <a:srgbClr val="33333A"/>
                </a:solidFill>
              </a:defRPr>
            </a:lvl5pPr>
            <a:lvl6pPr>
              <a:defRPr sz="1800" b="0">
                <a:solidFill>
                  <a:srgbClr val="33333A"/>
                </a:solidFill>
              </a:defRPr>
            </a:lvl6pPr>
            <a:lvl7pPr>
              <a:defRPr sz="1800" b="0">
                <a:solidFill>
                  <a:srgbClr val="33333A"/>
                </a:solidFill>
              </a:defRPr>
            </a:lvl7pPr>
            <a:lvl8pPr>
              <a:defRPr sz="1800" b="0">
                <a:solidFill>
                  <a:srgbClr val="33333A"/>
                </a:solidFill>
              </a:defRPr>
            </a:lvl8pPr>
            <a:lvl9pPr>
              <a:defRPr sz="1800" b="0">
                <a:solidFill>
                  <a:srgbClr val="33333A"/>
                </a:solidFill>
              </a:defRPr>
            </a:lvl9pPr>
          </a:lstStyle>
          <a:p>
            <a:pPr>
              <a:defRPr sz="1800" b="0">
                <a:solidFill>
                  <a:srgbClr val="33333A"/>
                </a:solidFill>
              </a:defRPr>
            </a:pPr>
            <a:r>
              <a:rPr sz="1800" b="0">
                <a:solidFill>
                  <a:srgbClr val="33333A"/>
                </a:solidFill>
                <a:latin typeface="Arial"/>
                <a:ea typeface="Arial"/>
                <a:cs typeface="Arial"/>
              </a:rPr>
              <a:t>Same Sonnet 5, same generic prompt. Add the credential configuration.</a:t>
            </a:r>
          </a:p>
        </p:txBody>
      </p:sp>
      <p:sp>
        <p:nvSpPr>
          <p:cNvPr id="1001" name="Diff label">
            <a:extLst>
              <a:ext uri="{FF2B5EF4-FFF2-40B4-BE49-F238E27FC236}">
                <a16:creationId xmlns:a16="http://schemas.microsoft.com/office/drawing/2014/main" id="{96061E30-6311-4EA5-B016-BFE786D6F4E8}"/>
              </a:ext>
            </a:extLst>
          </p:cNvPr>
          <p:cNvSpPr>
            <a:spLocks noGrp="1"/>
          </p:cNvSpPr>
          <p:nvPr/>
        </p:nvSpPr>
        <p:spPr>
          <a:xfrm>
            <a:off x="812902" y="1993392"/>
            <a:ext cx="10561320" cy="274320"/>
          </a:xfrm>
          <a:prstGeom prst="rect">
            <a:avLst/>
          </a:prstGeom>
          <a:noFill/>
          <a:ln w="0">
            <a:noFill/>
            <a:prstDash val="solid"/>
          </a:ln>
        </p:spPr>
        <p:txBody>
          <a:bodyPr wrap="square" lIns="0" tIns="0" rIns="0" bIns="0" anchor="t">
            <a:noAutofit/>
          </a:bodyPr>
          <a:lstStyle>
            <a:defPPr>
              <a:defRPr sz="1200" b="1">
                <a:solidFill>
                  <a:srgbClr val="0086B6"/>
                </a:solidFill>
              </a:defRPr>
            </a:defPPr>
            <a:lvl1pPr>
              <a:defRPr sz="1200" b="1">
                <a:solidFill>
                  <a:srgbClr val="0086B6"/>
                </a:solidFill>
              </a:defRPr>
            </a:lvl1pPr>
            <a:lvl2pPr>
              <a:defRPr sz="1200" b="1">
                <a:solidFill>
                  <a:srgbClr val="0086B6"/>
                </a:solidFill>
              </a:defRPr>
            </a:lvl2pPr>
            <a:lvl3pPr>
              <a:defRPr sz="1200" b="1">
                <a:solidFill>
                  <a:srgbClr val="0086B6"/>
                </a:solidFill>
              </a:defRPr>
            </a:lvl3pPr>
            <a:lvl4pPr>
              <a:defRPr sz="1200" b="1">
                <a:solidFill>
                  <a:srgbClr val="0086B6"/>
                </a:solidFill>
              </a:defRPr>
            </a:lvl4pPr>
            <a:lvl5pPr>
              <a:defRPr sz="1200" b="1">
                <a:solidFill>
                  <a:srgbClr val="0086B6"/>
                </a:solidFill>
              </a:defRPr>
            </a:lvl5pPr>
            <a:lvl6pPr>
              <a:defRPr sz="1200" b="1">
                <a:solidFill>
                  <a:srgbClr val="0086B6"/>
                </a:solidFill>
              </a:defRPr>
            </a:lvl6pPr>
            <a:lvl7pPr>
              <a:defRPr sz="1200" b="1">
                <a:solidFill>
                  <a:srgbClr val="0086B6"/>
                </a:solidFill>
              </a:defRPr>
            </a:lvl7pPr>
            <a:lvl8pPr>
              <a:defRPr sz="1200" b="1">
                <a:solidFill>
                  <a:srgbClr val="0086B6"/>
                </a:solidFill>
              </a:defRPr>
            </a:lvl8pPr>
            <a:lvl9pPr>
              <a:defRPr sz="1200" b="1">
                <a:solidFill>
                  <a:srgbClr val="0086B6"/>
                </a:solidFill>
              </a:defRPr>
            </a:lvl9pPr>
          </a:lstStyle>
          <a:p>
            <a:pPr>
              <a:defRPr sz="1200" b="1">
                <a:solidFill>
                  <a:srgbClr val="0086B6"/>
                </a:solidFill>
              </a:defRPr>
            </a:pPr>
            <a:r>
              <a:rPr sz="1200" b="1">
                <a:solidFill>
                  <a:srgbClr val="0086B6"/>
                </a:solidFill>
                <a:latin typeface="Arial"/>
                <a:ea typeface="Arial"/>
                <a:cs typeface="Arial"/>
              </a:rPr>
              <a:t>THE CODE CHANGE</a:t>
            </a:r>
          </a:p>
        </p:txBody>
      </p:sp>
      <p:sp>
        <p:nvSpPr>
          <p:cNvPr id="1002" name="Exact diff">
            <a:extLst>
              <a:ext uri="{FF2B5EF4-FFF2-40B4-BE49-F238E27FC236}">
                <a16:creationId xmlns:a16="http://schemas.microsoft.com/office/drawing/2014/main" id="{8973DB07-BB63-4427-844B-BCD4264F1C93}"/>
              </a:ext>
            </a:extLst>
          </p:cNvPr>
          <p:cNvSpPr>
            <a:spLocks noGrp="1"/>
          </p:cNvSpPr>
          <p:nvPr/>
        </p:nvSpPr>
        <p:spPr>
          <a:xfrm>
            <a:off x="812902" y="2359152"/>
            <a:ext cx="10561320" cy="402336"/>
          </a:xfrm>
          <a:prstGeom prst="rect">
            <a:avLst/>
          </a:prstGeom>
          <a:noFill/>
          <a:ln w="0">
            <a:noFill/>
            <a:prstDash val="solid"/>
          </a:ln>
        </p:spPr>
        <p:txBody>
          <a:bodyPr wrap="square" lIns="0" tIns="0" rIns="0" bIns="0" anchor="t">
            <a:noAutofit/>
          </a:bodyPr>
          <a:lstStyle>
            <a:defPPr>
              <a:defRPr sz="1700" b="1">
                <a:solidFill>
                  <a:srgbClr val="33333A"/>
                </a:solidFill>
              </a:defRPr>
            </a:defPPr>
            <a:lvl1pPr>
              <a:defRPr sz="1700" b="1">
                <a:solidFill>
                  <a:srgbClr val="33333A"/>
                </a:solidFill>
              </a:defRPr>
            </a:lvl1pPr>
            <a:lvl2pPr>
              <a:defRPr sz="1700" b="1">
                <a:solidFill>
                  <a:srgbClr val="33333A"/>
                </a:solidFill>
              </a:defRPr>
            </a:lvl2pPr>
            <a:lvl3pPr>
              <a:defRPr sz="1700" b="1">
                <a:solidFill>
                  <a:srgbClr val="33333A"/>
                </a:solidFill>
              </a:defRPr>
            </a:lvl3pPr>
            <a:lvl4pPr>
              <a:defRPr sz="1700" b="1">
                <a:solidFill>
                  <a:srgbClr val="33333A"/>
                </a:solidFill>
              </a:defRPr>
            </a:lvl4pPr>
            <a:lvl5pPr>
              <a:defRPr sz="1700" b="1">
                <a:solidFill>
                  <a:srgbClr val="33333A"/>
                </a:solidFill>
              </a:defRPr>
            </a:lvl5pPr>
            <a:lvl6pPr>
              <a:defRPr sz="1700" b="1">
                <a:solidFill>
                  <a:srgbClr val="33333A"/>
                </a:solidFill>
              </a:defRPr>
            </a:lvl6pPr>
            <a:lvl7pPr>
              <a:defRPr sz="1700" b="1">
                <a:solidFill>
                  <a:srgbClr val="33333A"/>
                </a:solidFill>
              </a:defRPr>
            </a:lvl7pPr>
            <a:lvl8pPr>
              <a:defRPr sz="1700" b="1">
                <a:solidFill>
                  <a:srgbClr val="33333A"/>
                </a:solidFill>
              </a:defRPr>
            </a:lvl8pPr>
            <a:lvl9pPr>
              <a:defRPr sz="1700" b="1">
                <a:solidFill>
                  <a:srgbClr val="33333A"/>
                </a:solidFill>
              </a:defRPr>
            </a:lvl9pPr>
          </a:lstStyle>
          <a:p>
            <a:pPr>
              <a:defRPr sz="1700" b="1">
                <a:solidFill>
                  <a:srgbClr val="33333A"/>
                </a:solidFill>
              </a:defRPr>
            </a:pPr>
            <a:r>
              <a:rPr sz="1700" b="1">
                <a:solidFill>
                  <a:srgbClr val="33333A"/>
                </a:solidFill>
                <a:latin typeface="Arial"/>
                <a:ea typeface="Arial"/>
                <a:cs typeface="Arial"/>
              </a:rPr>
              <a:t>+ var apiKey = &lt;?php echo json_encode($GLOBALS['gateway_api_key']); ?&gt;;</a:t>
            </a:r>
          </a:p>
        </p:txBody>
      </p:sp>
      <p:sp>
        <p:nvSpPr>
          <p:cNvPr id="1003" name="Context label">
            <a:extLst>
              <a:ext uri="{FF2B5EF4-FFF2-40B4-BE49-F238E27FC236}">
                <a16:creationId xmlns:a16="http://schemas.microsoft.com/office/drawing/2014/main" id="{0BC5FF4F-2F9F-44EB-9C0B-9A94547670AA}"/>
              </a:ext>
            </a:extLst>
          </p:cNvPr>
          <p:cNvSpPr>
            <a:spLocks noGrp="1"/>
          </p:cNvSpPr>
          <p:nvPr/>
        </p:nvSpPr>
        <p:spPr>
          <a:xfrm>
            <a:off x="812902" y="2944368"/>
            <a:ext cx="10561320" cy="274320"/>
          </a:xfrm>
          <a:prstGeom prst="rect">
            <a:avLst/>
          </a:prstGeom>
          <a:noFill/>
          <a:ln w="0">
            <a:noFill/>
            <a:prstDash val="solid"/>
          </a:ln>
        </p:spPr>
        <p:txBody>
          <a:bodyPr wrap="square" lIns="0" tIns="0" rIns="0" bIns="0" anchor="t">
            <a:noAutofit/>
          </a:bodyPr>
          <a:lstStyle>
            <a:defPPr>
              <a:defRPr sz="1200" b="1">
                <a:solidFill>
                  <a:srgbClr val="0086B6"/>
                </a:solidFill>
              </a:defRPr>
            </a:defPPr>
            <a:lvl1pPr>
              <a:defRPr sz="1200" b="1">
                <a:solidFill>
                  <a:srgbClr val="0086B6"/>
                </a:solidFill>
              </a:defRPr>
            </a:lvl1pPr>
            <a:lvl2pPr>
              <a:defRPr sz="1200" b="1">
                <a:solidFill>
                  <a:srgbClr val="0086B6"/>
                </a:solidFill>
              </a:defRPr>
            </a:lvl2pPr>
            <a:lvl3pPr>
              <a:defRPr sz="1200" b="1">
                <a:solidFill>
                  <a:srgbClr val="0086B6"/>
                </a:solidFill>
              </a:defRPr>
            </a:lvl3pPr>
            <a:lvl4pPr>
              <a:defRPr sz="1200" b="1">
                <a:solidFill>
                  <a:srgbClr val="0086B6"/>
                </a:solidFill>
              </a:defRPr>
            </a:lvl4pPr>
            <a:lvl5pPr>
              <a:defRPr sz="1200" b="1">
                <a:solidFill>
                  <a:srgbClr val="0086B6"/>
                </a:solidFill>
              </a:defRPr>
            </a:lvl5pPr>
            <a:lvl6pPr>
              <a:defRPr sz="1200" b="1">
                <a:solidFill>
                  <a:srgbClr val="0086B6"/>
                </a:solidFill>
              </a:defRPr>
            </a:lvl6pPr>
            <a:lvl7pPr>
              <a:defRPr sz="1200" b="1">
                <a:solidFill>
                  <a:srgbClr val="0086B6"/>
                </a:solidFill>
              </a:defRPr>
            </a:lvl7pPr>
            <a:lvl8pPr>
              <a:defRPr sz="1200" b="1">
                <a:solidFill>
                  <a:srgbClr val="0086B6"/>
                </a:solidFill>
              </a:defRPr>
            </a:lvl8pPr>
            <a:lvl9pPr>
              <a:defRPr sz="1200" b="1">
                <a:solidFill>
                  <a:srgbClr val="0086B6"/>
                </a:solidFill>
              </a:defRPr>
            </a:lvl9pPr>
          </a:lstStyle>
          <a:p>
            <a:pPr>
              <a:defRPr sz="1200" b="1">
                <a:solidFill>
                  <a:srgbClr val="0086B6"/>
                </a:solidFill>
              </a:defRPr>
            </a:pPr>
            <a:r>
              <a:rPr sz="1200" b="1">
                <a:solidFill>
                  <a:srgbClr val="0086B6"/>
                </a:solidFill>
                <a:latin typeface="Arial"/>
                <a:ea typeface="Arial"/>
                <a:cs typeface="Arial"/>
              </a:rPr>
              <a:t>THE RELATED FILE</a:t>
            </a:r>
          </a:p>
        </p:txBody>
      </p:sp>
      <p:sp>
        <p:nvSpPr>
          <p:cNvPr id="1004" name="Configuration excerpt">
            <a:extLst>
              <a:ext uri="{FF2B5EF4-FFF2-40B4-BE49-F238E27FC236}">
                <a16:creationId xmlns:a16="http://schemas.microsoft.com/office/drawing/2014/main" id="{FBC9999B-34E3-4747-A064-A5B700F3C4EE}"/>
              </a:ext>
            </a:extLst>
          </p:cNvPr>
          <p:cNvSpPr>
            <a:spLocks noGrp="1"/>
          </p:cNvSpPr>
          <p:nvPr/>
        </p:nvSpPr>
        <p:spPr>
          <a:xfrm>
            <a:off x="812902" y="3310128"/>
            <a:ext cx="10561320" cy="411480"/>
          </a:xfrm>
          <a:prstGeom prst="rect">
            <a:avLst/>
          </a:prstGeom>
          <a:noFill/>
          <a:ln w="0">
            <a:noFill/>
            <a:prstDash val="solid"/>
          </a:ln>
        </p:spPr>
        <p:txBody>
          <a:bodyPr wrap="square" lIns="0" tIns="0" rIns="0" bIns="0" anchor="t">
            <a:noAutofit/>
          </a:bodyPr>
          <a:lstStyle>
            <a:defPPr>
              <a:defRPr sz="2000" b="0">
                <a:solidFill>
                  <a:srgbClr val="33333A"/>
                </a:solidFill>
              </a:defRPr>
            </a:defPPr>
            <a:lvl1pPr>
              <a:defRPr sz="2000" b="0">
                <a:solidFill>
                  <a:srgbClr val="33333A"/>
                </a:solidFill>
              </a:defRPr>
            </a:lvl1pPr>
            <a:lvl2pPr>
              <a:defRPr sz="2000" b="0">
                <a:solidFill>
                  <a:srgbClr val="33333A"/>
                </a:solidFill>
              </a:defRPr>
            </a:lvl2pPr>
            <a:lvl3pPr>
              <a:defRPr sz="2000" b="0">
                <a:solidFill>
                  <a:srgbClr val="33333A"/>
                </a:solidFill>
              </a:defRPr>
            </a:lvl3pPr>
            <a:lvl4pPr>
              <a:defRPr sz="2000" b="0">
                <a:solidFill>
                  <a:srgbClr val="33333A"/>
                </a:solidFill>
              </a:defRPr>
            </a:lvl4pPr>
            <a:lvl5pPr>
              <a:defRPr sz="2000" b="0">
                <a:solidFill>
                  <a:srgbClr val="33333A"/>
                </a:solidFill>
              </a:defRPr>
            </a:lvl5pPr>
            <a:lvl6pPr>
              <a:defRPr sz="2000" b="0">
                <a:solidFill>
                  <a:srgbClr val="33333A"/>
                </a:solidFill>
              </a:defRPr>
            </a:lvl6pPr>
            <a:lvl7pPr>
              <a:defRPr sz="2000" b="0">
                <a:solidFill>
                  <a:srgbClr val="33333A"/>
                </a:solidFill>
              </a:defRPr>
            </a:lvl7pPr>
            <a:lvl8pPr>
              <a:defRPr sz="2000" b="0">
                <a:solidFill>
                  <a:srgbClr val="33333A"/>
                </a:solidFill>
              </a:defRPr>
            </a:lvl8pPr>
            <a:lvl9pPr>
              <a:defRPr sz="2000" b="0">
                <a:solidFill>
                  <a:srgbClr val="33333A"/>
                </a:solidFill>
              </a:defRPr>
            </a:lvl9pPr>
          </a:lstStyle>
          <a:p>
            <a:pPr>
              <a:defRPr sz="2000" b="0">
                <a:solidFill>
                  <a:srgbClr val="33333A"/>
                </a:solidFill>
              </a:defRPr>
            </a:pPr>
            <a:r>
              <a:rPr sz="2000" b="0">
                <a:solidFill>
                  <a:srgbClr val="33333A"/>
                </a:solidFill>
                <a:latin typeface="Arial"/>
                <a:ea typeface="Arial"/>
                <a:cs typeface="Arial"/>
              </a:rPr>
              <a:t>The configuration describes this value as “API Secret for Stripe”.</a:t>
            </a:r>
          </a:p>
        </p:txBody>
      </p:sp>
      <p:sp>
        <p:nvSpPr>
          <p:cNvPr id="1005" name="Before label">
            <a:extLst>
              <a:ext uri="{FF2B5EF4-FFF2-40B4-BE49-F238E27FC236}">
                <a16:creationId xmlns:a16="http://schemas.microsoft.com/office/drawing/2014/main" id="{293A3BF2-FD79-4A22-8E26-22413601C06A}"/>
              </a:ext>
            </a:extLst>
          </p:cNvPr>
          <p:cNvSpPr>
            <a:spLocks noGrp="1"/>
          </p:cNvSpPr>
          <p:nvPr/>
        </p:nvSpPr>
        <p:spPr>
          <a:xfrm>
            <a:off x="812902" y="4041648"/>
            <a:ext cx="4937760" cy="320040"/>
          </a:xfrm>
          <a:prstGeom prst="rect">
            <a:avLst/>
          </a:prstGeom>
          <a:noFill/>
          <a:ln w="0">
            <a:noFill/>
            <a:prstDash val="solid"/>
          </a:ln>
        </p:spPr>
        <p:txBody>
          <a:bodyPr wrap="square" lIns="0" tIns="0" rIns="0" bIns="0" anchor="t">
            <a:noAutofit/>
          </a:bodyPr>
          <a:lstStyle>
            <a:defPPr>
              <a:defRPr sz="1500" b="1">
                <a:solidFill>
                  <a:srgbClr val="B76521"/>
                </a:solidFill>
              </a:defRPr>
            </a:defPPr>
            <a:lvl1pPr>
              <a:defRPr sz="1500" b="1">
                <a:solidFill>
                  <a:srgbClr val="B76521"/>
                </a:solidFill>
              </a:defRPr>
            </a:lvl1pPr>
            <a:lvl2pPr>
              <a:defRPr sz="1500" b="1">
                <a:solidFill>
                  <a:srgbClr val="B76521"/>
                </a:solidFill>
              </a:defRPr>
            </a:lvl2pPr>
            <a:lvl3pPr>
              <a:defRPr sz="1500" b="1">
                <a:solidFill>
                  <a:srgbClr val="B76521"/>
                </a:solidFill>
              </a:defRPr>
            </a:lvl3pPr>
            <a:lvl4pPr>
              <a:defRPr sz="1500" b="1">
                <a:solidFill>
                  <a:srgbClr val="B76521"/>
                </a:solidFill>
              </a:defRPr>
            </a:lvl4pPr>
            <a:lvl5pPr>
              <a:defRPr sz="1500" b="1">
                <a:solidFill>
                  <a:srgbClr val="B76521"/>
                </a:solidFill>
              </a:defRPr>
            </a:lvl5pPr>
            <a:lvl6pPr>
              <a:defRPr sz="1500" b="1">
                <a:solidFill>
                  <a:srgbClr val="B76521"/>
                </a:solidFill>
              </a:defRPr>
            </a:lvl6pPr>
            <a:lvl7pPr>
              <a:defRPr sz="1500" b="1">
                <a:solidFill>
                  <a:srgbClr val="B76521"/>
                </a:solidFill>
              </a:defRPr>
            </a:lvl7pPr>
            <a:lvl8pPr>
              <a:defRPr sz="1500" b="1">
                <a:solidFill>
                  <a:srgbClr val="B76521"/>
                </a:solidFill>
              </a:defRPr>
            </a:lvl8pPr>
            <a:lvl9pPr>
              <a:defRPr sz="1500" b="1">
                <a:solidFill>
                  <a:srgbClr val="B76521"/>
                </a:solidFill>
              </a:defRPr>
            </a:lvl9pPr>
          </a:lstStyle>
          <a:p>
            <a:pPr>
              <a:defRPr sz="1500" b="1">
                <a:solidFill>
                  <a:srgbClr val="B76521"/>
                </a:solidFill>
              </a:defRPr>
            </a:pPr>
            <a:r>
              <a:rPr sz="1500" b="1">
                <a:solidFill>
                  <a:srgbClr val="B76521"/>
                </a:solidFill>
                <a:latin typeface="Arial"/>
                <a:ea typeface="Arial"/>
                <a:cs typeface="Arial"/>
              </a:rPr>
              <a:t>DIFF ONLY: PARTIAL</a:t>
            </a:r>
          </a:p>
        </p:txBody>
      </p:sp>
      <p:sp>
        <p:nvSpPr>
          <p:cNvPr id="1006" name="Before quotation">
            <a:extLst>
              <a:ext uri="{FF2B5EF4-FFF2-40B4-BE49-F238E27FC236}">
                <a16:creationId xmlns:a16="http://schemas.microsoft.com/office/drawing/2014/main" id="{25E5D65B-3766-4BD9-95CB-372B5F6548A3}"/>
              </a:ext>
            </a:extLst>
          </p:cNvPr>
          <p:cNvSpPr>
            <a:spLocks noGrp="1"/>
          </p:cNvSpPr>
          <p:nvPr/>
        </p:nvSpPr>
        <p:spPr>
          <a:xfrm>
            <a:off x="812902" y="4526280"/>
            <a:ext cx="4892040" cy="914400"/>
          </a:xfrm>
          <a:prstGeom prst="rect">
            <a:avLst/>
          </a:prstGeom>
          <a:noFill/>
          <a:ln w="0">
            <a:noFill/>
            <a:prstDash val="solid"/>
          </a:ln>
        </p:spPr>
        <p:txBody>
          <a:bodyPr wrap="square" lIns="0" tIns="0" rIns="0" bIns="0" anchor="t">
            <a:noAutofit/>
          </a:bodyPr>
          <a:lstStyle>
            <a:defPPr>
              <a:defRPr sz="1800" b="0">
                <a:solidFill>
                  <a:srgbClr val="33333A"/>
                </a:solidFill>
              </a:defRPr>
            </a:defPPr>
            <a:lvl1pPr>
              <a:defRPr sz="1800" b="0">
                <a:solidFill>
                  <a:srgbClr val="33333A"/>
                </a:solidFill>
              </a:defRPr>
            </a:lvl1pPr>
            <a:lvl2pPr>
              <a:defRPr sz="1800" b="0">
                <a:solidFill>
                  <a:srgbClr val="33333A"/>
                </a:solidFill>
              </a:defRPr>
            </a:lvl2pPr>
            <a:lvl3pPr>
              <a:defRPr sz="1800" b="0">
                <a:solidFill>
                  <a:srgbClr val="33333A"/>
                </a:solidFill>
              </a:defRPr>
            </a:lvl3pPr>
            <a:lvl4pPr>
              <a:defRPr sz="1800" b="0">
                <a:solidFill>
                  <a:srgbClr val="33333A"/>
                </a:solidFill>
              </a:defRPr>
            </a:lvl4pPr>
            <a:lvl5pPr>
              <a:defRPr sz="1800" b="0">
                <a:solidFill>
                  <a:srgbClr val="33333A"/>
                </a:solidFill>
              </a:defRPr>
            </a:lvl5pPr>
            <a:lvl6pPr>
              <a:defRPr sz="1800" b="0">
                <a:solidFill>
                  <a:srgbClr val="33333A"/>
                </a:solidFill>
              </a:defRPr>
            </a:lvl6pPr>
            <a:lvl7pPr>
              <a:defRPr sz="1800" b="0">
                <a:solidFill>
                  <a:srgbClr val="33333A"/>
                </a:solidFill>
              </a:defRPr>
            </a:lvl7pPr>
            <a:lvl8pPr>
              <a:defRPr sz="1800" b="0">
                <a:solidFill>
                  <a:srgbClr val="33333A"/>
                </a:solidFill>
              </a:defRPr>
            </a:lvl8pPr>
            <a:lvl9pPr>
              <a:defRPr sz="1800" b="0">
                <a:solidFill>
                  <a:srgbClr val="33333A"/>
                </a:solidFill>
              </a:defRPr>
            </a:lvl9pPr>
          </a:lstStyle>
          <a:p>
            <a:pPr>
              <a:defRPr sz="1800" b="0">
                <a:solidFill>
                  <a:srgbClr val="33333A"/>
                </a:solidFill>
              </a:defRPr>
            </a:pPr>
            <a:r>
              <a:rPr sz="1800" b="0">
                <a:solidFill>
                  <a:srgbClr val="33333A"/>
                </a:solidFill>
                <a:latin typeface="Arial"/>
                <a:ea typeface="Arial"/>
                <a:cs typeface="Arial"/>
              </a:rPr>
              <a:t>“Need to confirm `gateway_api_key` is the safe-to-expose client/public identifier…”</a:t>
            </a:r>
          </a:p>
        </p:txBody>
      </p:sp>
      <p:sp>
        <p:nvSpPr>
          <p:cNvPr id="1007" name="After label">
            <a:extLst>
              <a:ext uri="{FF2B5EF4-FFF2-40B4-BE49-F238E27FC236}">
                <a16:creationId xmlns:a16="http://schemas.microsoft.com/office/drawing/2014/main" id="{6D662FE7-57BF-45E1-95EE-4F00B0548EED}"/>
              </a:ext>
            </a:extLst>
          </p:cNvPr>
          <p:cNvSpPr>
            <a:spLocks noGrp="1"/>
          </p:cNvSpPr>
          <p:nvPr/>
        </p:nvSpPr>
        <p:spPr>
          <a:xfrm>
            <a:off x="6263640" y="4041648"/>
            <a:ext cx="5111496" cy="320040"/>
          </a:xfrm>
          <a:prstGeom prst="rect">
            <a:avLst/>
          </a:prstGeom>
          <a:noFill/>
          <a:ln w="0">
            <a:noFill/>
            <a:prstDash val="solid"/>
          </a:ln>
        </p:spPr>
        <p:txBody>
          <a:bodyPr wrap="square" lIns="0" tIns="0" rIns="0" bIns="0" anchor="t">
            <a:noAutofit/>
          </a:bodyPr>
          <a:lstStyle>
            <a:defPPr>
              <a:defRPr sz="1500" b="1">
                <a:solidFill>
                  <a:srgbClr val="4C8835"/>
                </a:solidFill>
              </a:defRPr>
            </a:defPPr>
            <a:lvl1pPr>
              <a:defRPr sz="1500" b="1">
                <a:solidFill>
                  <a:srgbClr val="4C8835"/>
                </a:solidFill>
              </a:defRPr>
            </a:lvl1pPr>
            <a:lvl2pPr>
              <a:defRPr sz="1500" b="1">
                <a:solidFill>
                  <a:srgbClr val="4C8835"/>
                </a:solidFill>
              </a:defRPr>
            </a:lvl2pPr>
            <a:lvl3pPr>
              <a:defRPr sz="1500" b="1">
                <a:solidFill>
                  <a:srgbClr val="4C8835"/>
                </a:solidFill>
              </a:defRPr>
            </a:lvl3pPr>
            <a:lvl4pPr>
              <a:defRPr sz="1500" b="1">
                <a:solidFill>
                  <a:srgbClr val="4C8835"/>
                </a:solidFill>
              </a:defRPr>
            </a:lvl4pPr>
            <a:lvl5pPr>
              <a:defRPr sz="1500" b="1">
                <a:solidFill>
                  <a:srgbClr val="4C8835"/>
                </a:solidFill>
              </a:defRPr>
            </a:lvl5pPr>
            <a:lvl6pPr>
              <a:defRPr sz="1500" b="1">
                <a:solidFill>
                  <a:srgbClr val="4C8835"/>
                </a:solidFill>
              </a:defRPr>
            </a:lvl6pPr>
            <a:lvl7pPr>
              <a:defRPr sz="1500" b="1">
                <a:solidFill>
                  <a:srgbClr val="4C8835"/>
                </a:solidFill>
              </a:defRPr>
            </a:lvl7pPr>
            <a:lvl8pPr>
              <a:defRPr sz="1500" b="1">
                <a:solidFill>
                  <a:srgbClr val="4C8835"/>
                </a:solidFill>
              </a:defRPr>
            </a:lvl8pPr>
            <a:lvl9pPr>
              <a:defRPr sz="1500" b="1">
                <a:solidFill>
                  <a:srgbClr val="4C8835"/>
                </a:solidFill>
              </a:defRPr>
            </a:lvl9pPr>
          </a:lstStyle>
          <a:p>
            <a:pPr>
              <a:defRPr sz="1500" b="1">
                <a:solidFill>
                  <a:srgbClr val="4C8835"/>
                </a:solidFill>
              </a:defRPr>
            </a:pPr>
            <a:r>
              <a:rPr sz="1500" b="1">
                <a:solidFill>
                  <a:srgbClr val="4C8835"/>
                </a:solidFill>
                <a:latin typeface="Arial"/>
                <a:ea typeface="Arial"/>
                <a:cs typeface="Arial"/>
              </a:rPr>
              <a:t>WITH RELATED FILE: CAUGHT</a:t>
            </a:r>
          </a:p>
        </p:txBody>
      </p:sp>
      <p:sp>
        <p:nvSpPr>
          <p:cNvPr id="1008" name="After quotation">
            <a:extLst>
              <a:ext uri="{FF2B5EF4-FFF2-40B4-BE49-F238E27FC236}">
                <a16:creationId xmlns:a16="http://schemas.microsoft.com/office/drawing/2014/main" id="{29C4A42A-1BC9-41BE-845F-1AC205555F57}"/>
              </a:ext>
            </a:extLst>
          </p:cNvPr>
          <p:cNvSpPr>
            <a:spLocks noGrp="1"/>
          </p:cNvSpPr>
          <p:nvPr/>
        </p:nvSpPr>
        <p:spPr>
          <a:xfrm>
            <a:off x="6263640" y="4526280"/>
            <a:ext cx="5111496" cy="1188720"/>
          </a:xfrm>
          <a:prstGeom prst="rect">
            <a:avLst/>
          </a:prstGeom>
          <a:noFill/>
          <a:ln w="0">
            <a:noFill/>
            <a:prstDash val="solid"/>
          </a:ln>
        </p:spPr>
        <p:txBody>
          <a:bodyPr wrap="square" lIns="0" tIns="0" rIns="0" bIns="0" anchor="t">
            <a:noAutofit/>
          </a:bodyPr>
          <a:lstStyle>
            <a:defPPr>
              <a:defRPr sz="1800" b="0">
                <a:solidFill>
                  <a:srgbClr val="33333A"/>
                </a:solidFill>
              </a:defRPr>
            </a:defPPr>
            <a:lvl1pPr>
              <a:defRPr sz="1800" b="0">
                <a:solidFill>
                  <a:srgbClr val="33333A"/>
                </a:solidFill>
              </a:defRPr>
            </a:lvl1pPr>
            <a:lvl2pPr>
              <a:defRPr sz="1800" b="0">
                <a:solidFill>
                  <a:srgbClr val="33333A"/>
                </a:solidFill>
              </a:defRPr>
            </a:lvl2pPr>
            <a:lvl3pPr>
              <a:defRPr sz="1800" b="0">
                <a:solidFill>
                  <a:srgbClr val="33333A"/>
                </a:solidFill>
              </a:defRPr>
            </a:lvl3pPr>
            <a:lvl4pPr>
              <a:defRPr sz="1800" b="0">
                <a:solidFill>
                  <a:srgbClr val="33333A"/>
                </a:solidFill>
              </a:defRPr>
            </a:lvl4pPr>
            <a:lvl5pPr>
              <a:defRPr sz="1800" b="0">
                <a:solidFill>
                  <a:srgbClr val="33333A"/>
                </a:solidFill>
              </a:defRPr>
            </a:lvl5pPr>
            <a:lvl6pPr>
              <a:defRPr sz="1800" b="0">
                <a:solidFill>
                  <a:srgbClr val="33333A"/>
                </a:solidFill>
              </a:defRPr>
            </a:lvl6pPr>
            <a:lvl7pPr>
              <a:defRPr sz="1800" b="0">
                <a:solidFill>
                  <a:srgbClr val="33333A"/>
                </a:solidFill>
              </a:defRPr>
            </a:lvl7pPr>
            <a:lvl8pPr>
              <a:defRPr sz="1800" b="0">
                <a:solidFill>
                  <a:srgbClr val="33333A"/>
                </a:solidFill>
              </a:defRPr>
            </a:lvl8pPr>
            <a:lvl9pPr>
              <a:defRPr sz="1800" b="0">
                <a:solidFill>
                  <a:srgbClr val="33333A"/>
                </a:solidFill>
              </a:defRPr>
            </a:lvl9pPr>
          </a:lstStyle>
          <a:p>
            <a:pPr>
              <a:defRPr sz="1800" b="0">
                <a:solidFill>
                  <a:srgbClr val="33333A"/>
                </a:solidFill>
              </a:defRPr>
            </a:pPr>
            <a:r>
              <a:rPr sz="1800" b="0">
                <a:solidFill>
                  <a:srgbClr val="33333A"/>
                </a:solidFill>
                <a:latin typeface="Arial"/>
                <a:ea typeface="Arial"/>
                <a:cs typeface="Arial"/>
              </a:rPr>
              <a:t>“Gateway secret key sent to the browser”</a:t>
            </a:r>
            <a:br>
              <a:rPr sz="1800" b="0">
                <a:solidFill>
                  <a:srgbClr val="33333A"/>
                </a:solidFill>
                <a:latin typeface="Arial"/>
                <a:ea typeface="Arial"/>
                <a:cs typeface="Arial"/>
              </a:rPr>
            </a:br>
            <a:r>
              <a:rPr sz="1800" b="0">
                <a:solidFill>
                  <a:srgbClr val="33333A"/>
                </a:solidFill>
                <a:latin typeface="Arial"/>
                <a:ea typeface="Arial"/>
                <a:cs typeface="Arial"/>
              </a:rPr>
              <a:t>“This risks leaking a merchant secret key to every page view.”</a:t>
            </a:r>
          </a:p>
        </p:txBody>
      </p:sp>
      <p:sp>
        <p:nvSpPr>
          <p:cNvPr id="1009" name="Source boundary">
            <a:extLst>
              <a:ext uri="{FF2B5EF4-FFF2-40B4-BE49-F238E27FC236}">
                <a16:creationId xmlns:a16="http://schemas.microsoft.com/office/drawing/2014/main" id="{F9473065-AD0E-4D6E-8494-18A0CEF2B9DF}"/>
              </a:ext>
            </a:extLst>
          </p:cNvPr>
          <p:cNvSpPr>
            <a:spLocks noGrp="1"/>
          </p:cNvSpPr>
          <p:nvPr/>
        </p:nvSpPr>
        <p:spPr>
          <a:xfrm>
            <a:off x="812902" y="5925312"/>
            <a:ext cx="9875520" cy="320040"/>
          </a:xfrm>
          <a:prstGeom prst="rect">
            <a:avLst/>
          </a:prstGeom>
          <a:noFill/>
          <a:ln w="0">
            <a:noFill/>
            <a:prstDash val="solid"/>
          </a:ln>
        </p:spPr>
        <p:txBody>
          <a:bodyPr wrap="square" lIns="0" tIns="0" rIns="0" bIns="0" anchor="t">
            <a:noAutofit/>
          </a:bodyPr>
          <a:lstStyle>
            <a:defPPr>
              <a:defRPr sz="1100" b="0">
                <a:solidFill>
                  <a:srgbClr val="6B6B73"/>
                </a:solidFill>
              </a:defRPr>
            </a:defPPr>
            <a:lvl1pPr>
              <a:defRPr sz="1100" b="0">
                <a:solidFill>
                  <a:srgbClr val="6B6B73"/>
                </a:solidFill>
              </a:defRPr>
            </a:lvl1pPr>
            <a:lvl2pPr>
              <a:defRPr sz="1100" b="0">
                <a:solidFill>
                  <a:srgbClr val="6B6B73"/>
                </a:solidFill>
              </a:defRPr>
            </a:lvl2pPr>
            <a:lvl3pPr>
              <a:defRPr sz="1100" b="0">
                <a:solidFill>
                  <a:srgbClr val="6B6B73"/>
                </a:solidFill>
              </a:defRPr>
            </a:lvl3pPr>
            <a:lvl4pPr>
              <a:defRPr sz="1100" b="0">
                <a:solidFill>
                  <a:srgbClr val="6B6B73"/>
                </a:solidFill>
              </a:defRPr>
            </a:lvl4pPr>
            <a:lvl5pPr>
              <a:defRPr sz="1100" b="0">
                <a:solidFill>
                  <a:srgbClr val="6B6B73"/>
                </a:solidFill>
              </a:defRPr>
            </a:lvl5pPr>
            <a:lvl6pPr>
              <a:defRPr sz="1100" b="0">
                <a:solidFill>
                  <a:srgbClr val="6B6B73"/>
                </a:solidFill>
              </a:defRPr>
            </a:lvl6pPr>
            <a:lvl7pPr>
              <a:defRPr sz="1100" b="0">
                <a:solidFill>
                  <a:srgbClr val="6B6B73"/>
                </a:solidFill>
              </a:defRPr>
            </a:lvl7pPr>
            <a:lvl8pPr>
              <a:defRPr sz="1100" b="0">
                <a:solidFill>
                  <a:srgbClr val="6B6B73"/>
                </a:solidFill>
              </a:defRPr>
            </a:lvl8pPr>
            <a:lvl9pPr>
              <a:defRPr sz="1100" b="0">
                <a:solidFill>
                  <a:srgbClr val="6B6B73"/>
                </a:solidFill>
              </a:defRPr>
            </a:lvl9pPr>
          </a:lstStyle>
          <a:p>
            <a:pPr>
              <a:defRPr sz="1100" b="0">
                <a:solidFill>
                  <a:srgbClr val="6B6B73"/>
                </a:solidFill>
              </a:defRPr>
            </a:pPr>
            <a:r>
              <a:rPr sz="1100" b="0">
                <a:solidFill>
                  <a:srgbClr val="6B6B73"/>
                </a:solidFill>
                <a:latin typeface="Arial"/>
                <a:ea typeface="Arial"/>
                <a:cs typeface="Arial"/>
              </a:rPr>
              <a:t>C3, matched follow-up run 1. Researcher selected the file. Model-judged score; independent human verification pending.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2009" name="title">
            <a:extLst>
              <a:ext uri="{FF2B5EF4-FFF2-40B4-BE49-F238E27FC236}">
                <a16:creationId xmlns:a16="http://schemas.microsoft.com/office/drawing/2014/main" id="{FCC98285-5217-4DAA-9A8F-D770211A5ACA}"/>
              </a:ext>
            </a:extLst>
          </p:cNvPr>
          <p:cNvSpPr>
            <a:spLocks noGrp="1"/>
          </p:cNvSpPr>
          <p:nvPr/>
        </p:nvSpPr>
        <p:spPr>
          <a:xfrm>
            <a:off x="812864" y="819150"/>
            <a:ext cx="10572750" cy="514350"/>
          </a:xfrm>
          <a:prstGeom prst="rect">
            <a:avLst/>
          </a:prstGeom>
          <a:noFill/>
          <a:ln w="0">
            <a:noFill/>
          </a:ln>
        </p:spPr>
        <p:txBody>
          <a:bodyPr lIns="0" tIns="0" rIns="0" bIns="0" anchor="ctr">
            <a:noAutofit/>
          </a:bodyPr>
          <a:lstStyle>
            <a:defPPr>
              <a:defRPr sz="3000" b="1">
                <a:solidFill>
                  <a:srgbClr val="4F8734"/>
                </a:solidFill>
              </a:defRPr>
            </a:defPPr>
            <a:lvl1pPr>
              <a:defRPr sz="3000" b="1">
                <a:solidFill>
                  <a:srgbClr val="4F8734"/>
                </a:solidFill>
              </a:defRPr>
            </a:lvl1pPr>
            <a:lvl2pPr>
              <a:defRPr sz="3000" b="1">
                <a:solidFill>
                  <a:srgbClr val="4F8734"/>
                </a:solidFill>
              </a:defRPr>
            </a:lvl2pPr>
            <a:lvl3pPr>
              <a:defRPr sz="3000" b="1">
                <a:solidFill>
                  <a:srgbClr val="4F8734"/>
                </a:solidFill>
              </a:defRPr>
            </a:lvl3pPr>
            <a:lvl4pPr>
              <a:defRPr sz="3000" b="1">
                <a:solidFill>
                  <a:srgbClr val="4F8734"/>
                </a:solidFill>
              </a:defRPr>
            </a:lvl4pPr>
            <a:lvl5pPr>
              <a:defRPr sz="3000" b="1">
                <a:solidFill>
                  <a:srgbClr val="4F8734"/>
                </a:solidFill>
              </a:defRPr>
            </a:lvl5pPr>
            <a:lvl6pPr>
              <a:defRPr sz="3000" b="1">
                <a:solidFill>
                  <a:srgbClr val="4F8734"/>
                </a:solidFill>
              </a:defRPr>
            </a:lvl6pPr>
            <a:lvl7pPr>
              <a:defRPr sz="3000" b="1">
                <a:solidFill>
                  <a:srgbClr val="4F8734"/>
                </a:solidFill>
              </a:defRPr>
            </a:lvl7pPr>
            <a:lvl8pPr>
              <a:defRPr sz="3000" b="1">
                <a:solidFill>
                  <a:srgbClr val="4F8734"/>
                </a:solidFill>
              </a:defRPr>
            </a:lvl8pPr>
            <a:lvl9pPr>
              <a:defRPr sz="3000" b="1">
                <a:solidFill>
                  <a:srgbClr val="4F8734"/>
                </a:solidFill>
              </a:defRPr>
            </a:lvl9pPr>
          </a:lstStyle>
          <a:p>
            <a:pPr>
              <a:defRPr sz="3000" b="1">
                <a:solidFill>
                  <a:srgbClr val="4F8734"/>
                </a:solidFill>
              </a:defRPr>
            </a:pPr>
            <a:r>
              <a:rPr sz="3000" b="1">
                <a:solidFill>
                  <a:srgbClr val="4F8734"/>
                </a:solidFill>
              </a:rPr>
              <a:t>Round 3: context brings coverage to 22 of 24</a:t>
            </a:r>
          </a:p>
        </p:txBody>
      </p:sp>
      <p:sp>
        <p:nvSpPr>
          <p:cNvPr id="2002" name="subtitle">
            <a:extLst>
              <a:ext uri="{FF2B5EF4-FFF2-40B4-BE49-F238E27FC236}">
                <a16:creationId xmlns:a16="http://schemas.microsoft.com/office/drawing/2014/main" id="{A66D4F76-8831-4CD3-8FE2-4103BA15326C}"/>
              </a:ext>
            </a:extLst>
          </p:cNvPr>
          <p:cNvSpPr>
            <a:spLocks noGrp="1"/>
          </p:cNvSpPr>
          <p:nvPr/>
        </p:nvSpPr>
        <p:spPr>
          <a:xfrm>
            <a:off x="812864" y="1390650"/>
            <a:ext cx="10572750" cy="409575"/>
          </a:xfrm>
          <a:prstGeom prst="rect">
            <a:avLst/>
          </a:prstGeom>
          <a:noFill/>
          <a:ln w="0">
            <a:noFill/>
          </a:ln>
        </p:spPr>
        <p:txBody>
          <a:bodyPr lIns="0" tIns="0" rIns="0" bIns="0" anchor="ctr">
            <a:noAutofit/>
          </a:bodyPr>
          <a:lstStyle>
            <a:defPPr>
              <a:defRPr sz="1725" b="0">
                <a:solidFill>
                  <a:srgbClr val="303238"/>
                </a:solidFill>
              </a:defRPr>
            </a:defPPr>
            <a:lvl1pPr>
              <a:defRPr sz="1725" b="0">
                <a:solidFill>
                  <a:srgbClr val="303238"/>
                </a:solidFill>
              </a:defRPr>
            </a:lvl1pPr>
            <a:lvl2pPr>
              <a:defRPr sz="1725" b="0">
                <a:solidFill>
                  <a:srgbClr val="303238"/>
                </a:solidFill>
              </a:defRPr>
            </a:lvl2pPr>
            <a:lvl3pPr>
              <a:defRPr sz="1725" b="0">
                <a:solidFill>
                  <a:srgbClr val="303238"/>
                </a:solidFill>
              </a:defRPr>
            </a:lvl3pPr>
            <a:lvl4pPr>
              <a:defRPr sz="1725" b="0">
                <a:solidFill>
                  <a:srgbClr val="303238"/>
                </a:solidFill>
              </a:defRPr>
            </a:lvl4pPr>
            <a:lvl5pPr>
              <a:defRPr sz="1725" b="0">
                <a:solidFill>
                  <a:srgbClr val="303238"/>
                </a:solidFill>
              </a:defRPr>
            </a:lvl5pPr>
            <a:lvl6pPr>
              <a:defRPr sz="1725" b="0">
                <a:solidFill>
                  <a:srgbClr val="303238"/>
                </a:solidFill>
              </a:defRPr>
            </a:lvl6pPr>
            <a:lvl7pPr>
              <a:defRPr sz="1725" b="0">
                <a:solidFill>
                  <a:srgbClr val="303238"/>
                </a:solidFill>
              </a:defRPr>
            </a:lvl7pPr>
            <a:lvl8pPr>
              <a:defRPr sz="1725" b="0">
                <a:solidFill>
                  <a:srgbClr val="303238"/>
                </a:solidFill>
              </a:defRPr>
            </a:lvl8pPr>
            <a:lvl9pPr>
              <a:defRPr sz="1725" b="0">
                <a:solidFill>
                  <a:srgbClr val="303238"/>
                </a:solidFill>
              </a:defRPr>
            </a:lvl9pPr>
          </a:lstStyle>
          <a:p>
            <a:pPr>
              <a:defRPr sz="1725" b="0">
                <a:solidFill>
                  <a:srgbClr val="303238"/>
                </a:solidFill>
              </a:defRPr>
            </a:pPr>
            <a:r>
              <a:rPr sz="1725" b="0">
                <a:solidFill>
                  <a:srgbClr val="303238"/>
                </a:solidFill>
              </a:rPr>
              <a:t>Fully caught cases by OWASP Top 10 category</a:t>
            </a:r>
          </a:p>
        </p:txBody>
      </p:sp>
      <p:sp>
        <p:nvSpPr>
          <p:cNvPr id="2003" name="original group">
            <a:extLst>
              <a:ext uri="{FF2B5EF4-FFF2-40B4-BE49-F238E27FC236}">
                <a16:creationId xmlns:a16="http://schemas.microsoft.com/office/drawing/2014/main" id="{11A7C31B-3077-46EF-A1F9-B8C0D580F661}"/>
              </a:ext>
            </a:extLst>
          </p:cNvPr>
          <p:cNvSpPr>
            <a:spLocks noGrp="1"/>
          </p:cNvSpPr>
          <p:nvPr/>
        </p:nvSpPr>
        <p:spPr>
          <a:xfrm>
            <a:off x="4289489" y="1809750"/>
            <a:ext cx="2838450" cy="228600"/>
          </a:xfrm>
          <a:prstGeom prst="rect">
            <a:avLst/>
          </a:prstGeom>
          <a:noFill/>
          <a:ln w="0">
            <a:noFill/>
          </a:ln>
        </p:spPr>
        <p:txBody>
          <a:bodyPr lIns="0" tIns="0" rIns="0" bIns="0" anchor="ctr">
            <a:noAutofit/>
          </a:bodyPr>
          <a:lstStyle>
            <a:defPPr>
              <a:defRPr sz="1200" b="1">
                <a:solidFill>
                  <a:srgbClr val="0086AC"/>
                </a:solidFill>
              </a:defRPr>
            </a:defPPr>
            <a:lvl1pPr>
              <a:defRPr sz="1200" b="1">
                <a:solidFill>
                  <a:srgbClr val="0086AC"/>
                </a:solidFill>
              </a:defRPr>
            </a:lvl1pPr>
            <a:lvl2pPr>
              <a:defRPr sz="1200" b="1">
                <a:solidFill>
                  <a:srgbClr val="0086AC"/>
                </a:solidFill>
              </a:defRPr>
            </a:lvl2pPr>
            <a:lvl3pPr>
              <a:defRPr sz="1200" b="1">
                <a:solidFill>
                  <a:srgbClr val="0086AC"/>
                </a:solidFill>
              </a:defRPr>
            </a:lvl3pPr>
            <a:lvl4pPr>
              <a:defRPr sz="1200" b="1">
                <a:solidFill>
                  <a:srgbClr val="0086AC"/>
                </a:solidFill>
              </a:defRPr>
            </a:lvl4pPr>
            <a:lvl5pPr>
              <a:defRPr sz="1200" b="1">
                <a:solidFill>
                  <a:srgbClr val="0086AC"/>
                </a:solidFill>
              </a:defRPr>
            </a:lvl5pPr>
            <a:lvl6pPr>
              <a:defRPr sz="1200" b="1">
                <a:solidFill>
                  <a:srgbClr val="0086AC"/>
                </a:solidFill>
              </a:defRPr>
            </a:lvl6pPr>
            <a:lvl7pPr>
              <a:defRPr sz="1200" b="1">
                <a:solidFill>
                  <a:srgbClr val="0086AC"/>
                </a:solidFill>
              </a:defRPr>
            </a:lvl7pPr>
            <a:lvl8pPr>
              <a:defRPr sz="1200" b="1">
                <a:solidFill>
                  <a:srgbClr val="0086AC"/>
                </a:solidFill>
              </a:defRPr>
            </a:lvl8pPr>
            <a:lvl9pPr>
              <a:defRPr sz="1200" b="1">
                <a:solidFill>
                  <a:srgbClr val="0086AC"/>
                </a:solidFill>
              </a:defRPr>
            </a:lvl9pPr>
          </a:lstStyle>
          <a:p>
            <a:pPr>
              <a:defRPr sz="1200" b="1">
                <a:solidFill>
                  <a:srgbClr val="0086AC"/>
                </a:solidFill>
              </a:defRPr>
            </a:pPr>
            <a:r>
              <a:rPr sz="1200" b="1">
                <a:solidFill>
                  <a:srgbClr val="0086AC"/>
                </a:solidFill>
              </a:rPr>
              <a:t>Original study: all 24 cases</a:t>
            </a:r>
          </a:p>
        </p:txBody>
      </p:sp>
      <p:sp>
        <p:nvSpPr>
          <p:cNvPr id="2004" name="followup group">
            <a:extLst>
              <a:ext uri="{FF2B5EF4-FFF2-40B4-BE49-F238E27FC236}">
                <a16:creationId xmlns:a16="http://schemas.microsoft.com/office/drawing/2014/main" id="{E9722ACE-35B2-433F-9DB3-1B11A59264D7}"/>
              </a:ext>
            </a:extLst>
          </p:cNvPr>
          <p:cNvSpPr>
            <a:spLocks noGrp="1"/>
          </p:cNvSpPr>
          <p:nvPr/>
        </p:nvSpPr>
        <p:spPr>
          <a:xfrm>
            <a:off x="7127939" y="1809750"/>
            <a:ext cx="1419225" cy="228600"/>
          </a:xfrm>
          <a:prstGeom prst="rect">
            <a:avLst/>
          </a:prstGeom>
          <a:noFill/>
          <a:ln w="0">
            <a:noFill/>
          </a:ln>
        </p:spPr>
        <p:txBody>
          <a:bodyPr lIns="0" tIns="0" rIns="0" bIns="0" anchor="ctr">
            <a:noAutofit/>
          </a:bodyPr>
          <a:lstStyle>
            <a:defPPr>
              <a:defRPr sz="1200" b="1">
                <a:solidFill>
                  <a:srgbClr val="4F8734"/>
                </a:solidFill>
              </a:defRPr>
            </a:defPPr>
            <a:lvl1pPr>
              <a:defRPr sz="1200" b="1">
                <a:solidFill>
                  <a:srgbClr val="4F8734"/>
                </a:solidFill>
              </a:defRPr>
            </a:lvl1pPr>
            <a:lvl2pPr>
              <a:defRPr sz="1200" b="1">
                <a:solidFill>
                  <a:srgbClr val="4F8734"/>
                </a:solidFill>
              </a:defRPr>
            </a:lvl2pPr>
            <a:lvl3pPr>
              <a:defRPr sz="1200" b="1">
                <a:solidFill>
                  <a:srgbClr val="4F8734"/>
                </a:solidFill>
              </a:defRPr>
            </a:lvl3pPr>
            <a:lvl4pPr>
              <a:defRPr sz="1200" b="1">
                <a:solidFill>
                  <a:srgbClr val="4F8734"/>
                </a:solidFill>
              </a:defRPr>
            </a:lvl4pPr>
            <a:lvl5pPr>
              <a:defRPr sz="1200" b="1">
                <a:solidFill>
                  <a:srgbClr val="4F8734"/>
                </a:solidFill>
              </a:defRPr>
            </a:lvl5pPr>
            <a:lvl6pPr>
              <a:defRPr sz="1200" b="1">
                <a:solidFill>
                  <a:srgbClr val="4F8734"/>
                </a:solidFill>
              </a:defRPr>
            </a:lvl6pPr>
            <a:lvl7pPr>
              <a:defRPr sz="1200" b="1">
                <a:solidFill>
                  <a:srgbClr val="4F8734"/>
                </a:solidFill>
              </a:defRPr>
            </a:lvl7pPr>
            <a:lvl8pPr>
              <a:defRPr sz="1200" b="1">
                <a:solidFill>
                  <a:srgbClr val="4F8734"/>
                </a:solidFill>
              </a:defRPr>
            </a:lvl8pPr>
            <a:lvl9pPr>
              <a:defRPr sz="1200" b="1">
                <a:solidFill>
                  <a:srgbClr val="4F8734"/>
                </a:solidFill>
              </a:defRPr>
            </a:lvl9pPr>
          </a:lstStyle>
          <a:p>
            <a:pPr>
              <a:defRPr sz="1200" b="1">
                <a:solidFill>
                  <a:srgbClr val="4F8734"/>
                </a:solidFill>
              </a:defRPr>
            </a:pPr>
            <a:r>
              <a:rPr sz="1200" b="1">
                <a:solidFill>
                  <a:srgbClr val="4F8734"/>
                </a:solidFill>
              </a:rPr>
              <a:t>Four-gap retests</a:t>
            </a:r>
          </a:p>
        </p:txBody>
      </p:sp>
      <p:graphicFrame>
        <p:nvGraphicFramePr>
          <p:cNvPr id="2005" name="Table 2004">
            <a:extLst>
              <a:ext uri="{FF2B5EF4-FFF2-40B4-BE49-F238E27FC236}">
                <a16:creationId xmlns:a16="http://schemas.microsoft.com/office/drawing/2014/main" id="{122688B9-581C-44D9-8829-9FFFABA3D1C0}"/>
              </a:ext>
            </a:extLst>
          </p:cNvPr>
          <p:cNvGraphicFramePr/>
          <p:nvPr>
            <p:extLst>
              <p:ext uri="{D42A27DB-BD31-4B8C-83A1-F6EECF244321}">
                <p14:modId xmlns:p14="http://schemas.microsoft.com/office/powerpoint/2010/main" val="1268717122"/>
              </p:ext>
            </p:extLst>
          </p:nvPr>
        </p:nvGraphicFramePr>
        <p:xfrm>
          <a:off x="812864" y="2105025"/>
          <a:ext cx="7734300" cy="3219450"/>
        </p:xfrm>
        <a:graphic>
          <a:graphicData uri="http://schemas.openxmlformats.org/drawingml/2006/table">
            <a:tbl>
              <a:tblPr/>
              <a:tblGrid>
                <a:gridCol w="2762250">
                  <a:extLst>
                    <a:ext uri="{9D8B030D-6E8A-4147-A177-3AD203B41FA5}">
                      <a16:colId xmlns:a16="http://schemas.microsoft.com/office/drawing/2014/main" val="20000"/>
                    </a:ext>
                  </a:extLst>
                </a:gridCol>
                <a:gridCol w="714375">
                  <a:extLst>
                    <a:ext uri="{9D8B030D-6E8A-4147-A177-3AD203B41FA5}">
                      <a16:colId xmlns:a16="http://schemas.microsoft.com/office/drawing/2014/main" val="20001"/>
                    </a:ext>
                  </a:extLst>
                </a:gridCol>
                <a:gridCol w="1419225">
                  <a:extLst>
                    <a:ext uri="{9D8B030D-6E8A-4147-A177-3AD203B41FA5}">
                      <a16:colId xmlns:a16="http://schemas.microsoft.com/office/drawing/2014/main" val="20002"/>
                    </a:ext>
                  </a:extLst>
                </a:gridCol>
                <a:gridCol w="1419225">
                  <a:extLst>
                    <a:ext uri="{9D8B030D-6E8A-4147-A177-3AD203B41FA5}">
                      <a16:colId xmlns:a16="http://schemas.microsoft.com/office/drawing/2014/main" val="20003"/>
                    </a:ext>
                  </a:extLst>
                </a:gridCol>
                <a:gridCol w="1419225">
                  <a:extLst>
                    <a:ext uri="{9D8B030D-6E8A-4147-A177-3AD203B41FA5}">
                      <a16:colId xmlns:a16="http://schemas.microsoft.com/office/drawing/2014/main" val="20004"/>
                    </a:ext>
                  </a:extLst>
                </a:gridCol>
              </a:tblGrid>
              <a:tr h="542925">
                <a:tc>
                  <a:txBody>
                    <a:bodyPr/>
                    <a:lstStyle/>
                    <a:p>
                      <a:pPr algn="l"/>
                      <a:r>
                        <a:rPr sz="1275" b="1">
                          <a:solidFill>
                            <a:srgbClr val="FFFFFF"/>
                          </a:solidFill>
                        </a:rPr>
                        <a:t>OWASP category</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0086AC"/>
                    </a:solidFill>
                  </a:tcPr>
                </a:tc>
                <a:tc>
                  <a:txBody>
                    <a:bodyPr/>
                    <a:lstStyle/>
                    <a:p>
                      <a:pPr algn="ctr"/>
                      <a:r>
                        <a:rPr sz="1275" b="1">
                          <a:solidFill>
                            <a:srgbClr val="FFFFFF"/>
                          </a:solidFill>
                        </a:rPr>
                        <a:t>Cases</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a:solidFill>
                        <a:srgbClr val="D7DDD4"/>
                      </a:solidFill>
                      <a:prstDash val="solid"/>
                    </a:lnT>
                    <a:lnB w="4763">
                      <a:solidFill>
                        <a:srgbClr val="D7DDD4"/>
                      </a:solidFill>
                      <a:prstDash val="solid"/>
                    </a:lnB>
                    <a:solidFill>
                      <a:srgbClr val="0086AC"/>
                    </a:solidFill>
                  </a:tcPr>
                </a:tc>
                <a:tc>
                  <a:txBody>
                    <a:bodyPr/>
                    <a:lstStyle/>
                    <a:p>
                      <a:pPr algn="ctr"/>
                      <a:r>
                        <a:rPr sz="1275" b="1">
                          <a:solidFill>
                            <a:srgbClr val="FFFFFF"/>
                          </a:solidFill>
                        </a:rPr>
                        <a:t>Haiku 4.5</a:t>
                      </a:r>
                    </a:p>
                    <a:p>
                      <a:pPr algn="ctr"/>
                      <a:r>
                        <a:rPr sz="1275" b="1">
                          <a:solidFill>
                            <a:srgbClr val="FFFFFF"/>
                          </a:solidFill>
                        </a:rPr>
                        <a:t>Generic prompt</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a:solidFill>
                        <a:srgbClr val="D7DDD4"/>
                      </a:solidFill>
                      <a:prstDash val="solid"/>
                    </a:lnT>
                    <a:lnB w="4763">
                      <a:solidFill>
                        <a:srgbClr val="D7DDD4"/>
                      </a:solidFill>
                      <a:prstDash val="solid"/>
                    </a:lnB>
                    <a:solidFill>
                      <a:srgbClr val="0086AC"/>
                    </a:solidFill>
                  </a:tcPr>
                </a:tc>
                <a:tc>
                  <a:txBody>
                    <a:bodyPr/>
                    <a:lstStyle/>
                    <a:p>
                      <a:pPr algn="ctr"/>
                      <a:r>
                        <a:rPr sz="1275" b="1">
                          <a:solidFill>
                            <a:srgbClr val="FFFFFF"/>
                          </a:solidFill>
                        </a:rPr>
                        <a:t>Sonnet 5</a:t>
                      </a:r>
                    </a:p>
                    <a:p>
                      <a:pPr algn="ctr"/>
                      <a:r>
                        <a:rPr sz="1275" b="1">
                          <a:solidFill>
                            <a:srgbClr val="FFFFFF"/>
                          </a:solidFill>
                        </a:rPr>
                        <a:t>Generic prompt</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a:solidFill>
                        <a:srgbClr val="D7DDD4"/>
                      </a:solidFill>
                      <a:prstDash val="solid"/>
                    </a:lnT>
                    <a:lnB w="4763">
                      <a:solidFill>
                        <a:srgbClr val="D7DDD4"/>
                      </a:solidFill>
                      <a:prstDash val="solid"/>
                    </a:lnB>
                    <a:solidFill>
                      <a:srgbClr val="0086AC"/>
                    </a:solidFill>
                  </a:tcPr>
                </a:tc>
                <a:tc>
                  <a:txBody>
                    <a:bodyPr/>
                    <a:lstStyle/>
                    <a:p>
                      <a:pPr algn="ctr"/>
                      <a:r>
                        <a:rPr sz="1275" b="1" dirty="0">
                          <a:solidFill>
                            <a:srgbClr val="FFFFFF"/>
                          </a:solidFill>
                        </a:rPr>
                        <a:t>Sonnet 5</a:t>
                      </a:r>
                    </a:p>
                    <a:p>
                      <a:pPr algn="ctr"/>
                      <a:r>
                        <a:rPr sz="1275" b="1" dirty="0">
                          <a:solidFill>
                            <a:srgbClr val="FFFFFF"/>
                          </a:solidFill>
                        </a:rPr>
                        <a:t>+ related file</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a:solidFill>
                        <a:srgbClr val="D7DDD4"/>
                      </a:solidFill>
                      <a:prstDash val="solid"/>
                    </a:lnT>
                    <a:lnB w="4763">
                      <a:solidFill>
                        <a:srgbClr val="D7DDD4"/>
                      </a:solidFill>
                      <a:prstDash val="solid"/>
                    </a:lnB>
                    <a:solidFill>
                      <a:srgbClr val="4F8734"/>
                    </a:solidFill>
                  </a:tcPr>
                </a:tc>
                <a:extLst>
                  <a:ext uri="{0D108BD9-81ED-4DB2-BD59-A6C34878D82A}">
                    <a16:rowId xmlns:a16="http://schemas.microsoft.com/office/drawing/2014/main" val="10000"/>
                  </a:ext>
                </a:extLst>
              </a:tr>
              <a:tr h="426720">
                <a:tc>
                  <a:txBody>
                    <a:bodyPr/>
                    <a:lstStyle/>
                    <a:p>
                      <a:pPr algn="l"/>
                      <a:r>
                        <a:rPr sz="1425" b="0">
                          <a:solidFill>
                            <a:srgbClr val="303238"/>
                          </a:solidFill>
                        </a:rPr>
                        <a:t>A01  Broken Access Control</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8</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3 of 8</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7 of 8</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1">
                          <a:solidFill>
                            <a:srgbClr val="3D7327"/>
                          </a:solidFill>
                        </a:rPr>
                        <a:t>8 of 8</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DCEBD2"/>
                    </a:solidFill>
                  </a:tcPr>
                </a:tc>
                <a:extLst>
                  <a:ext uri="{0D108BD9-81ED-4DB2-BD59-A6C34878D82A}">
                    <a16:rowId xmlns:a16="http://schemas.microsoft.com/office/drawing/2014/main" val="10001"/>
                  </a:ext>
                </a:extLst>
              </a:tr>
              <a:tr h="426720">
                <a:tc>
                  <a:txBody>
                    <a:bodyPr/>
                    <a:lstStyle/>
                    <a:p>
                      <a:pPr algn="l"/>
                      <a:r>
                        <a:rPr sz="1425" b="0">
                          <a:solidFill>
                            <a:srgbClr val="303238"/>
                          </a:solidFill>
                        </a:rPr>
                        <a:t>A03  Injection</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11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5 of 11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10 of 11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10 of 11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1F6ED"/>
                    </a:solidFill>
                  </a:tcPr>
                </a:tc>
                <a:extLst>
                  <a:ext uri="{0D108BD9-81ED-4DB2-BD59-A6C34878D82A}">
                    <a16:rowId xmlns:a16="http://schemas.microsoft.com/office/drawing/2014/main" val="10002"/>
                  </a:ext>
                </a:extLst>
              </a:tr>
              <a:tr h="426720">
                <a:tc>
                  <a:txBody>
                    <a:bodyPr/>
                    <a:lstStyle/>
                    <a:p>
                      <a:pPr algn="l"/>
                      <a:r>
                        <a:rPr sz="1425" b="0">
                          <a:solidFill>
                            <a:srgbClr val="303238"/>
                          </a:solidFill>
                        </a:rPr>
                        <a:t>A05  Security Misconfiguration</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0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0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1">
                          <a:solidFill>
                            <a:srgbClr val="3D7327"/>
                          </a:solidFill>
                        </a:rPr>
                        <a:t>1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DCEBD2"/>
                    </a:solidFill>
                  </a:tcPr>
                </a:tc>
                <a:extLst>
                  <a:ext uri="{0D108BD9-81ED-4DB2-BD59-A6C34878D82A}">
                    <a16:rowId xmlns:a16="http://schemas.microsoft.com/office/drawing/2014/main" val="10003"/>
                  </a:ext>
                </a:extLst>
              </a:tr>
              <a:tr h="542925">
                <a:tc>
                  <a:txBody>
                    <a:bodyPr/>
                    <a:lstStyle/>
                    <a:p>
                      <a:pPr algn="l"/>
                      <a:r>
                        <a:rPr sz="1425" b="0">
                          <a:solidFill>
                            <a:srgbClr val="303238"/>
                          </a:solidFill>
                        </a:rPr>
                        <a:t>A07  Identification &amp;</a:t>
                      </a:r>
                    </a:p>
                    <a:p>
                      <a:pPr algn="l"/>
                      <a:r>
                        <a:rPr sz="1425" b="0">
                          <a:solidFill>
                            <a:srgbClr val="303238"/>
                          </a:solidFill>
                        </a:rPr>
                        <a:t>Authentication Failures</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3</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0 of 3</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3 of 3</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3 of 3</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1F6ED"/>
                    </a:solidFill>
                  </a:tcPr>
                </a:tc>
                <a:extLst>
                  <a:ext uri="{0D108BD9-81ED-4DB2-BD59-A6C34878D82A}">
                    <a16:rowId xmlns:a16="http://schemas.microsoft.com/office/drawing/2014/main" val="10004"/>
                  </a:ext>
                </a:extLst>
              </a:tr>
              <a:tr h="426720">
                <a:tc>
                  <a:txBody>
                    <a:bodyPr/>
                    <a:lstStyle/>
                    <a:p>
                      <a:pPr algn="l"/>
                      <a:r>
                        <a:rPr sz="1425" b="0">
                          <a:solidFill>
                            <a:srgbClr val="303238"/>
                          </a:solidFill>
                        </a:rPr>
                        <a:t>A10  SSRF</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0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0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0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1F6ED"/>
                    </a:solidFill>
                  </a:tcPr>
                </a:tc>
                <a:extLst>
                  <a:ext uri="{0D108BD9-81ED-4DB2-BD59-A6C34878D82A}">
                    <a16:rowId xmlns:a16="http://schemas.microsoft.com/office/drawing/2014/main" val="10005"/>
                  </a:ext>
                </a:extLst>
              </a:tr>
              <a:tr h="426720">
                <a:tc>
                  <a:txBody>
                    <a:bodyPr/>
                    <a:lstStyle/>
                    <a:p>
                      <a:pPr algn="l"/>
                      <a:r>
                        <a:rPr sz="1575" b="1">
                          <a:solidFill>
                            <a:srgbClr val="303238"/>
                          </a:solidFill>
                        </a:rPr>
                        <a:t>Total caught</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E9F1E3"/>
                    </a:solidFill>
                  </a:tcPr>
                </a:tc>
                <a:tc>
                  <a:txBody>
                    <a:bodyPr/>
                    <a:lstStyle/>
                    <a:p>
                      <a:pPr algn="ctr"/>
                      <a:r>
                        <a:rPr sz="1575" b="1">
                          <a:solidFill>
                            <a:srgbClr val="303238"/>
                          </a:solidFill>
                        </a:rPr>
                        <a:t>24</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E9F1E3"/>
                    </a:solidFill>
                  </a:tcPr>
                </a:tc>
                <a:tc>
                  <a:txBody>
                    <a:bodyPr/>
                    <a:lstStyle/>
                    <a:p>
                      <a:pPr algn="ctr"/>
                      <a:r>
                        <a:rPr sz="1575" b="1">
                          <a:solidFill>
                            <a:srgbClr val="303238"/>
                          </a:solidFill>
                        </a:rPr>
                        <a:t>8 of 24</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E9F1E3"/>
                    </a:solidFill>
                  </a:tcPr>
                </a:tc>
                <a:tc>
                  <a:txBody>
                    <a:bodyPr/>
                    <a:lstStyle/>
                    <a:p>
                      <a:pPr algn="ctr"/>
                      <a:r>
                        <a:rPr sz="1575" b="1">
                          <a:solidFill>
                            <a:srgbClr val="303238"/>
                          </a:solidFill>
                        </a:rPr>
                        <a:t>20 of 24</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E9F1E3"/>
                    </a:solidFill>
                  </a:tcPr>
                </a:tc>
                <a:tc>
                  <a:txBody>
                    <a:bodyPr/>
                    <a:lstStyle/>
                    <a:p>
                      <a:pPr algn="ctr"/>
                      <a:r>
                        <a:rPr sz="1575" b="1" dirty="0">
                          <a:solidFill>
                            <a:srgbClr val="303238"/>
                          </a:solidFill>
                        </a:rPr>
                        <a:t>22 of 24</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E9F1E3"/>
                    </a:solidFill>
                  </a:tcPr>
                </a:tc>
                <a:extLst>
                  <a:ext uri="{0D108BD9-81ED-4DB2-BD59-A6C34878D82A}">
                    <a16:rowId xmlns:a16="http://schemas.microsoft.com/office/drawing/2014/main" val="10006"/>
                  </a:ext>
                </a:extLst>
              </a:tr>
            </a:tbl>
          </a:graphicData>
        </a:graphic>
      </p:graphicFrame>
      <p:sp>
        <p:nvSpPr>
          <p:cNvPr id="2006" name="takeaway">
            <a:extLst>
              <a:ext uri="{FF2B5EF4-FFF2-40B4-BE49-F238E27FC236}">
                <a16:creationId xmlns:a16="http://schemas.microsoft.com/office/drawing/2014/main" id="{0F87615D-D4BE-44E7-B09F-9ED0055B579F}"/>
              </a:ext>
            </a:extLst>
          </p:cNvPr>
          <p:cNvSpPr>
            <a:spLocks noGrp="1"/>
          </p:cNvSpPr>
          <p:nvPr/>
        </p:nvSpPr>
        <p:spPr>
          <a:xfrm>
            <a:off x="812864" y="5476875"/>
            <a:ext cx="10572750" cy="266700"/>
          </a:xfrm>
          <a:prstGeom prst="rect">
            <a:avLst/>
          </a:prstGeom>
          <a:noFill/>
          <a:ln w="0">
            <a:noFill/>
          </a:ln>
        </p:spPr>
        <p:txBody>
          <a:bodyPr lIns="0" tIns="0" rIns="0" bIns="0" anchor="ctr">
            <a:noAutofit/>
          </a:bodyPr>
          <a:lstStyle>
            <a:defPPr>
              <a:defRPr sz="1575" b="1">
                <a:solidFill>
                  <a:srgbClr val="303238"/>
                </a:solidFill>
              </a:defRPr>
            </a:defPPr>
            <a:lvl1pPr>
              <a:defRPr sz="1575" b="1">
                <a:solidFill>
                  <a:srgbClr val="303238"/>
                </a:solidFill>
              </a:defRPr>
            </a:lvl1pPr>
            <a:lvl2pPr>
              <a:defRPr sz="1575" b="1">
                <a:solidFill>
                  <a:srgbClr val="303238"/>
                </a:solidFill>
              </a:defRPr>
            </a:lvl2pPr>
            <a:lvl3pPr>
              <a:defRPr sz="1575" b="1">
                <a:solidFill>
                  <a:srgbClr val="303238"/>
                </a:solidFill>
              </a:defRPr>
            </a:lvl3pPr>
            <a:lvl4pPr>
              <a:defRPr sz="1575" b="1">
                <a:solidFill>
                  <a:srgbClr val="303238"/>
                </a:solidFill>
              </a:defRPr>
            </a:lvl4pPr>
            <a:lvl5pPr>
              <a:defRPr sz="1575" b="1">
                <a:solidFill>
                  <a:srgbClr val="303238"/>
                </a:solidFill>
              </a:defRPr>
            </a:lvl5pPr>
            <a:lvl6pPr>
              <a:defRPr sz="1575" b="1">
                <a:solidFill>
                  <a:srgbClr val="303238"/>
                </a:solidFill>
              </a:defRPr>
            </a:lvl6pPr>
            <a:lvl7pPr>
              <a:defRPr sz="1575" b="1">
                <a:solidFill>
                  <a:srgbClr val="303238"/>
                </a:solidFill>
              </a:defRPr>
            </a:lvl7pPr>
            <a:lvl8pPr>
              <a:defRPr sz="1575" b="1">
                <a:solidFill>
                  <a:srgbClr val="303238"/>
                </a:solidFill>
              </a:defRPr>
            </a:lvl8pPr>
            <a:lvl9pPr>
              <a:defRPr sz="1575" b="1">
                <a:solidFill>
                  <a:srgbClr val="303238"/>
                </a:solidFill>
              </a:defRPr>
            </a:lvl9pPr>
          </a:lstStyle>
          <a:p>
            <a:pPr>
              <a:defRPr sz="1575" b="1">
                <a:solidFill>
                  <a:srgbClr val="303238"/>
                </a:solidFill>
              </a:defRPr>
            </a:pPr>
            <a:r>
              <a:rPr sz="1575" b="1">
                <a:solidFill>
                  <a:srgbClr val="303238"/>
                </a:solidFill>
              </a:rPr>
              <a:t>Context recovers patient access and payment-secret exposure.</a:t>
            </a:r>
          </a:p>
        </p:txBody>
      </p:sp>
      <p:sp>
        <p:nvSpPr>
          <p:cNvPr id="2007" name="detail">
            <a:extLst>
              <a:ext uri="{FF2B5EF4-FFF2-40B4-BE49-F238E27FC236}">
                <a16:creationId xmlns:a16="http://schemas.microsoft.com/office/drawing/2014/main" id="{C165F8BD-E826-4B89-AC71-A5DC35BF2525}"/>
              </a:ext>
            </a:extLst>
          </p:cNvPr>
          <p:cNvSpPr>
            <a:spLocks noGrp="1"/>
          </p:cNvSpPr>
          <p:nvPr/>
        </p:nvSpPr>
        <p:spPr>
          <a:xfrm>
            <a:off x="812864" y="5781675"/>
            <a:ext cx="10572750" cy="266700"/>
          </a:xfrm>
          <a:prstGeom prst="rect">
            <a:avLst/>
          </a:prstGeom>
          <a:noFill/>
          <a:ln w="0">
            <a:noFill/>
          </a:ln>
        </p:spPr>
        <p:txBody>
          <a:bodyPr lIns="0" tIns="0" rIns="0" bIns="0" anchor="ctr">
            <a:noAutofit/>
          </a:bodyPr>
          <a:lstStyle>
            <a:defPPr>
              <a:defRPr sz="1500" b="0">
                <a:solidFill>
                  <a:srgbClr val="505050"/>
                </a:solidFill>
              </a:defRPr>
            </a:defPPr>
            <a:lvl1pPr>
              <a:defRPr sz="1500" b="0">
                <a:solidFill>
                  <a:srgbClr val="505050"/>
                </a:solidFill>
              </a:defRPr>
            </a:lvl1pPr>
            <a:lvl2pPr>
              <a:defRPr sz="1500" b="0">
                <a:solidFill>
                  <a:srgbClr val="505050"/>
                </a:solidFill>
              </a:defRPr>
            </a:lvl2pPr>
            <a:lvl3pPr>
              <a:defRPr sz="1500" b="0">
                <a:solidFill>
                  <a:srgbClr val="505050"/>
                </a:solidFill>
              </a:defRPr>
            </a:lvl3pPr>
            <a:lvl4pPr>
              <a:defRPr sz="1500" b="0">
                <a:solidFill>
                  <a:srgbClr val="505050"/>
                </a:solidFill>
              </a:defRPr>
            </a:lvl4pPr>
            <a:lvl5pPr>
              <a:defRPr sz="1500" b="0">
                <a:solidFill>
                  <a:srgbClr val="505050"/>
                </a:solidFill>
              </a:defRPr>
            </a:lvl5pPr>
            <a:lvl6pPr>
              <a:defRPr sz="1500" b="0">
                <a:solidFill>
                  <a:srgbClr val="505050"/>
                </a:solidFill>
              </a:defRPr>
            </a:lvl6pPr>
            <a:lvl7pPr>
              <a:defRPr sz="1500" b="0">
                <a:solidFill>
                  <a:srgbClr val="505050"/>
                </a:solidFill>
              </a:defRPr>
            </a:lvl7pPr>
            <a:lvl8pPr>
              <a:defRPr sz="1500" b="0">
                <a:solidFill>
                  <a:srgbClr val="505050"/>
                </a:solidFill>
              </a:defRPr>
            </a:lvl8pPr>
            <a:lvl9pPr>
              <a:defRPr sz="1500" b="0">
                <a:solidFill>
                  <a:srgbClr val="505050"/>
                </a:solidFill>
              </a:defRPr>
            </a:lvl9pPr>
          </a:lstStyle>
          <a:p>
            <a:pPr>
              <a:defRPr sz="1500" b="0">
                <a:solidFill>
                  <a:srgbClr val="505050"/>
                </a:solidFill>
              </a:defRPr>
            </a:pPr>
            <a:r>
              <a:rPr sz="1500" b="0">
                <a:solidFill>
                  <a:srgbClr val="505050"/>
                </a:solidFill>
              </a:rPr>
              <a:t>Still partial: stored XSS and PDF-rendering SSRF.</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4" name="Text 0"/>
          <p:cNvSpPr>
            <a:spLocks noGrp="1"/>
          </p:cNvSpPr>
          <p:nvPr>
            <p:ph type="title"/>
          </p:nvPr>
        </p:nvSpPr>
        <p:spPr>
          <a:xfrm>
            <a:off x="812902" y="812902"/>
            <a:ext cx="8321040" cy="512064"/>
          </a:xfrm>
          <a:prstGeom prst="rect">
            <a:avLst/>
          </a:prstGeom>
          <a:noFill/>
          <a:ln/>
        </p:spPr>
        <p:txBody>
          <a:bodyPr wrap="square" lIns="0" tIns="0" rIns="0" bIns="0" rtlCol="0" anchor="t">
            <a:noAutofit/>
          </a:bodyPr>
          <a:lstStyle/>
          <a:p>
            <a:pPr marL="0" indent="0" algn="l">
              <a:lnSpc>
                <a:spcPts val="3600"/>
              </a:lnSpc>
              <a:spcBef>
                <a:spcPts val="0"/>
              </a:spcBef>
              <a:buNone/>
            </a:pPr>
            <a:r>
              <a:rPr lang="en-US" sz="3000" b="1" dirty="0">
                <a:solidFill>
                  <a:srgbClr val="4C8835"/>
                </a:solidFill>
                <a:latin typeface="Arial" pitchFamily="34" charset="0"/>
                <a:ea typeface="Arial" pitchFamily="34" charset="-122"/>
                <a:cs typeface="Arial" pitchFamily="34" charset="-120"/>
              </a:rPr>
              <a:t>A decision support for pull-request review</a:t>
            </a:r>
            <a:endParaRPr lang="en-US" sz="3000" dirty="0"/>
          </a:p>
        </p:txBody>
      </p:sp>
      <p:sp>
        <p:nvSpPr>
          <p:cNvPr id="36" name="Text 25"/>
          <p:cNvSpPr/>
          <p:nvPr/>
        </p:nvSpPr>
        <p:spPr>
          <a:xfrm>
            <a:off x="7532370" y="6238280"/>
            <a:ext cx="300863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A92"/>
                </a:solidFill>
                <a:latin typeface="Arial" pitchFamily="34" charset="0"/>
                <a:ea typeface="Arial" pitchFamily="34" charset="-122"/>
                <a:cs typeface="Arial" pitchFamily="34" charset="-120"/>
              </a:rPr>
              <a:t>ISC2.org/Congress | #ISC2Congress</a:t>
            </a:r>
            <a:endParaRPr lang="en-US" sz="1200" dirty="0"/>
          </a:p>
        </p:txBody>
      </p:sp>
      <p:sp>
        <p:nvSpPr>
          <p:cNvPr id="1000" name="Jev definition">
            <a:extLst>
              <a:ext uri="{FF2B5EF4-FFF2-40B4-BE49-F238E27FC236}">
                <a16:creationId xmlns:a16="http://schemas.microsoft.com/office/drawing/2014/main" id="{4E5629DA-449C-4613-9D0F-A34E27BFB98E}"/>
              </a:ext>
            </a:extLst>
          </p:cNvPr>
          <p:cNvSpPr>
            <a:spLocks noGrp="1"/>
          </p:cNvSpPr>
          <p:nvPr/>
        </p:nvSpPr>
        <p:spPr>
          <a:xfrm>
            <a:off x="812902" y="1399032"/>
            <a:ext cx="10561320" cy="347472"/>
          </a:xfrm>
          <a:prstGeom prst="rect">
            <a:avLst/>
          </a:prstGeom>
          <a:noFill/>
          <a:ln w="0">
            <a:noFill/>
            <a:prstDash val="solid"/>
          </a:ln>
        </p:spPr>
        <p:txBody>
          <a:bodyPr wrap="square" lIns="0" tIns="0" rIns="0" bIns="0" anchor="t">
            <a:noAutofit/>
          </a:bodyPr>
          <a:lstStyle>
            <a:defPPr>
              <a:defRPr sz="1700" b="0">
                <a:solidFill>
                  <a:srgbClr val="6B6B73"/>
                </a:solidFill>
              </a:defRPr>
            </a:defPPr>
            <a:lvl1pPr>
              <a:defRPr sz="1700" b="0">
                <a:solidFill>
                  <a:srgbClr val="6B6B73"/>
                </a:solidFill>
              </a:defRPr>
            </a:lvl1pPr>
            <a:lvl2pPr>
              <a:defRPr sz="1700" b="0">
                <a:solidFill>
                  <a:srgbClr val="6B6B73"/>
                </a:solidFill>
              </a:defRPr>
            </a:lvl2pPr>
            <a:lvl3pPr>
              <a:defRPr sz="1700" b="0">
                <a:solidFill>
                  <a:srgbClr val="6B6B73"/>
                </a:solidFill>
              </a:defRPr>
            </a:lvl3pPr>
            <a:lvl4pPr>
              <a:defRPr sz="1700" b="0">
                <a:solidFill>
                  <a:srgbClr val="6B6B73"/>
                </a:solidFill>
              </a:defRPr>
            </a:lvl4pPr>
            <a:lvl5pPr>
              <a:defRPr sz="1700" b="0">
                <a:solidFill>
                  <a:srgbClr val="6B6B73"/>
                </a:solidFill>
              </a:defRPr>
            </a:lvl5pPr>
            <a:lvl6pPr>
              <a:defRPr sz="1700" b="0">
                <a:solidFill>
                  <a:srgbClr val="6B6B73"/>
                </a:solidFill>
              </a:defRPr>
            </a:lvl6pPr>
            <a:lvl7pPr>
              <a:defRPr sz="1700" b="0">
                <a:solidFill>
                  <a:srgbClr val="6B6B73"/>
                </a:solidFill>
              </a:defRPr>
            </a:lvl7pPr>
            <a:lvl8pPr>
              <a:defRPr sz="1700" b="0">
                <a:solidFill>
                  <a:srgbClr val="6B6B73"/>
                </a:solidFill>
              </a:defRPr>
            </a:lvl8pPr>
            <a:lvl9pPr>
              <a:defRPr sz="1700" b="0">
                <a:solidFill>
                  <a:srgbClr val="6B6B73"/>
                </a:solidFill>
              </a:defRPr>
            </a:lvl9pPr>
          </a:lstStyle>
          <a:p>
            <a:pPr>
              <a:defRPr sz="1700" b="0">
                <a:solidFill>
                  <a:srgbClr val="6B6B73"/>
                </a:solidFill>
              </a:defRPr>
            </a:pPr>
            <a:r>
              <a:rPr lang="en-US" sz="1700" b="0" dirty="0">
                <a:solidFill>
                  <a:srgbClr val="6B6B73"/>
                </a:solidFill>
                <a:latin typeface="Arial"/>
                <a:ea typeface="Arial"/>
                <a:cs typeface="Arial"/>
              </a:rPr>
              <a:t>A solution like </a:t>
            </a:r>
            <a:r>
              <a:rPr sz="1700" b="0" dirty="0" err="1">
                <a:solidFill>
                  <a:srgbClr val="6B6B73"/>
                </a:solidFill>
                <a:latin typeface="Arial"/>
                <a:ea typeface="Arial"/>
                <a:cs typeface="Arial"/>
              </a:rPr>
              <a:t>Jev</a:t>
            </a:r>
            <a:r>
              <a:rPr sz="1700" b="0" dirty="0">
                <a:solidFill>
                  <a:srgbClr val="6B6B73"/>
                </a:solidFill>
                <a:latin typeface="Arial"/>
                <a:ea typeface="Arial"/>
                <a:cs typeface="Arial"/>
              </a:rPr>
              <a:t> turns focused questions about supplied context into structured answers.</a:t>
            </a:r>
          </a:p>
        </p:txBody>
      </p:sp>
      <p:sp>
        <p:nvSpPr>
          <p:cNvPr id="1002" name="PR application">
            <a:extLst>
              <a:ext uri="{FF2B5EF4-FFF2-40B4-BE49-F238E27FC236}">
                <a16:creationId xmlns:a16="http://schemas.microsoft.com/office/drawing/2014/main" id="{EA21CAAF-18FE-47D5-A5F4-A361DB1672A9}"/>
              </a:ext>
            </a:extLst>
          </p:cNvPr>
          <p:cNvSpPr>
            <a:spLocks noGrp="1"/>
          </p:cNvSpPr>
          <p:nvPr/>
        </p:nvSpPr>
        <p:spPr>
          <a:xfrm>
            <a:off x="812902" y="4547724"/>
            <a:ext cx="10561320" cy="365760"/>
          </a:xfrm>
          <a:prstGeom prst="rect">
            <a:avLst/>
          </a:prstGeom>
          <a:noFill/>
          <a:ln w="0">
            <a:noFill/>
            <a:prstDash val="solid"/>
          </a:ln>
        </p:spPr>
        <p:txBody>
          <a:bodyPr wrap="square" lIns="0" tIns="0" rIns="0" bIns="0" anchor="t">
            <a:noAutofit/>
          </a:bodyPr>
          <a:lstStyle>
            <a:defPPr>
              <a:defRPr sz="2100" b="1">
                <a:solidFill>
                  <a:srgbClr val="4C8835"/>
                </a:solidFill>
              </a:defRPr>
            </a:defPPr>
            <a:lvl1pPr>
              <a:defRPr sz="2100" b="1">
                <a:solidFill>
                  <a:srgbClr val="4C8835"/>
                </a:solidFill>
              </a:defRPr>
            </a:lvl1pPr>
            <a:lvl2pPr>
              <a:defRPr sz="2100" b="1">
                <a:solidFill>
                  <a:srgbClr val="4C8835"/>
                </a:solidFill>
              </a:defRPr>
            </a:lvl2pPr>
            <a:lvl3pPr>
              <a:defRPr sz="2100" b="1">
                <a:solidFill>
                  <a:srgbClr val="4C8835"/>
                </a:solidFill>
              </a:defRPr>
            </a:lvl3pPr>
            <a:lvl4pPr>
              <a:defRPr sz="2100" b="1">
                <a:solidFill>
                  <a:srgbClr val="4C8835"/>
                </a:solidFill>
              </a:defRPr>
            </a:lvl4pPr>
            <a:lvl5pPr>
              <a:defRPr sz="2100" b="1">
                <a:solidFill>
                  <a:srgbClr val="4C8835"/>
                </a:solidFill>
              </a:defRPr>
            </a:lvl5pPr>
            <a:lvl6pPr>
              <a:defRPr sz="2100" b="1">
                <a:solidFill>
                  <a:srgbClr val="4C8835"/>
                </a:solidFill>
              </a:defRPr>
            </a:lvl6pPr>
            <a:lvl7pPr>
              <a:defRPr sz="2100" b="1">
                <a:solidFill>
                  <a:srgbClr val="4C8835"/>
                </a:solidFill>
              </a:defRPr>
            </a:lvl7pPr>
            <a:lvl8pPr>
              <a:defRPr sz="2100" b="1">
                <a:solidFill>
                  <a:srgbClr val="4C8835"/>
                </a:solidFill>
              </a:defRPr>
            </a:lvl8pPr>
            <a:lvl9pPr>
              <a:defRPr sz="2100" b="1">
                <a:solidFill>
                  <a:srgbClr val="4C8835"/>
                </a:solidFill>
              </a:defRPr>
            </a:lvl9pPr>
          </a:lstStyle>
          <a:p>
            <a:pPr>
              <a:defRPr sz="2100" b="1">
                <a:solidFill>
                  <a:srgbClr val="4C8835"/>
                </a:solidFill>
              </a:defRPr>
            </a:pPr>
            <a:r>
              <a:rPr sz="2100" b="1" dirty="0">
                <a:solidFill>
                  <a:srgbClr val="4C8835"/>
                </a:solidFill>
                <a:latin typeface="Arial"/>
                <a:ea typeface="Arial"/>
                <a:cs typeface="Arial"/>
              </a:rPr>
              <a:t>How we would use it for PR review</a:t>
            </a:r>
          </a:p>
        </p:txBody>
      </p:sp>
      <p:sp>
        <p:nvSpPr>
          <p:cNvPr id="1003" name="Review step 0">
            <a:extLst>
              <a:ext uri="{FF2B5EF4-FFF2-40B4-BE49-F238E27FC236}">
                <a16:creationId xmlns:a16="http://schemas.microsoft.com/office/drawing/2014/main" id="{171E7201-7DDE-4B76-8771-3A24E446A6BE}"/>
              </a:ext>
            </a:extLst>
          </p:cNvPr>
          <p:cNvSpPr>
            <a:spLocks noGrp="1"/>
          </p:cNvSpPr>
          <p:nvPr/>
        </p:nvSpPr>
        <p:spPr>
          <a:xfrm>
            <a:off x="812902" y="5078076"/>
            <a:ext cx="3355848" cy="320040"/>
          </a:xfrm>
          <a:prstGeom prst="rect">
            <a:avLst/>
          </a:prstGeom>
          <a:noFill/>
          <a:ln w="0">
            <a:noFill/>
            <a:prstDash val="solid"/>
          </a:ln>
        </p:spPr>
        <p:txBody>
          <a:bodyPr wrap="square" lIns="0" tIns="0" rIns="0" bIns="0" anchor="t">
            <a:noAutofit/>
          </a:bodyPr>
          <a:lstStyle>
            <a:defPPr>
              <a:defRPr sz="1700" b="1">
                <a:solidFill>
                  <a:srgbClr val="0086B6"/>
                </a:solidFill>
              </a:defRPr>
            </a:defPPr>
            <a:lvl1pPr>
              <a:defRPr sz="1700" b="1">
                <a:solidFill>
                  <a:srgbClr val="0086B6"/>
                </a:solidFill>
              </a:defRPr>
            </a:lvl1pPr>
            <a:lvl2pPr>
              <a:defRPr sz="1700" b="1">
                <a:solidFill>
                  <a:srgbClr val="0086B6"/>
                </a:solidFill>
              </a:defRPr>
            </a:lvl2pPr>
            <a:lvl3pPr>
              <a:defRPr sz="1700" b="1">
                <a:solidFill>
                  <a:srgbClr val="0086B6"/>
                </a:solidFill>
              </a:defRPr>
            </a:lvl3pPr>
            <a:lvl4pPr>
              <a:defRPr sz="1700" b="1">
                <a:solidFill>
                  <a:srgbClr val="0086B6"/>
                </a:solidFill>
              </a:defRPr>
            </a:lvl4pPr>
            <a:lvl5pPr>
              <a:defRPr sz="1700" b="1">
                <a:solidFill>
                  <a:srgbClr val="0086B6"/>
                </a:solidFill>
              </a:defRPr>
            </a:lvl5pPr>
            <a:lvl6pPr>
              <a:defRPr sz="1700" b="1">
                <a:solidFill>
                  <a:srgbClr val="0086B6"/>
                </a:solidFill>
              </a:defRPr>
            </a:lvl6pPr>
            <a:lvl7pPr>
              <a:defRPr sz="1700" b="1">
                <a:solidFill>
                  <a:srgbClr val="0086B6"/>
                </a:solidFill>
              </a:defRPr>
            </a:lvl7pPr>
            <a:lvl8pPr>
              <a:defRPr sz="1700" b="1">
                <a:solidFill>
                  <a:srgbClr val="0086B6"/>
                </a:solidFill>
              </a:defRPr>
            </a:lvl8pPr>
            <a:lvl9pPr>
              <a:defRPr sz="1700" b="1">
                <a:solidFill>
                  <a:srgbClr val="0086B6"/>
                </a:solidFill>
              </a:defRPr>
            </a:lvl9pPr>
          </a:lstStyle>
          <a:p>
            <a:pPr>
              <a:defRPr sz="1700" b="1">
                <a:solidFill>
                  <a:srgbClr val="0086B6"/>
                </a:solidFill>
              </a:defRPr>
            </a:pPr>
            <a:r>
              <a:rPr sz="1700" b="1">
                <a:solidFill>
                  <a:srgbClr val="0086B6"/>
                </a:solidFill>
                <a:latin typeface="Arial"/>
                <a:ea typeface="Arial"/>
                <a:cs typeface="Arial"/>
              </a:rPr>
              <a:t>Identify review topics</a:t>
            </a:r>
          </a:p>
        </p:txBody>
      </p:sp>
      <p:sp>
        <p:nvSpPr>
          <p:cNvPr id="1004" name="Review detail 0">
            <a:extLst>
              <a:ext uri="{FF2B5EF4-FFF2-40B4-BE49-F238E27FC236}">
                <a16:creationId xmlns:a16="http://schemas.microsoft.com/office/drawing/2014/main" id="{0B224910-7D4E-433D-962D-2022F36CF5C0}"/>
              </a:ext>
            </a:extLst>
          </p:cNvPr>
          <p:cNvSpPr>
            <a:spLocks noGrp="1"/>
          </p:cNvSpPr>
          <p:nvPr/>
        </p:nvSpPr>
        <p:spPr>
          <a:xfrm>
            <a:off x="812902" y="5498700"/>
            <a:ext cx="3355848" cy="594360"/>
          </a:xfrm>
          <a:prstGeom prst="rect">
            <a:avLst/>
          </a:prstGeom>
          <a:noFill/>
          <a:ln w="0">
            <a:noFill/>
            <a:prstDash val="solid"/>
          </a:ln>
        </p:spPr>
        <p:txBody>
          <a:bodyPr wrap="square" lIns="0" tIns="0" rIns="0" bIns="0" anchor="t">
            <a:noAutofit/>
          </a:bodyPr>
          <a:lstStyle>
            <a:defPPr>
              <a:defRPr sz="1600" b="0">
                <a:solidFill>
                  <a:srgbClr val="33333A"/>
                </a:solidFill>
              </a:defRPr>
            </a:defPPr>
            <a:lvl1pPr>
              <a:defRPr sz="1600" b="0">
                <a:solidFill>
                  <a:srgbClr val="33333A"/>
                </a:solidFill>
              </a:defRPr>
            </a:lvl1pPr>
            <a:lvl2pPr>
              <a:defRPr sz="1600" b="0">
                <a:solidFill>
                  <a:srgbClr val="33333A"/>
                </a:solidFill>
              </a:defRPr>
            </a:lvl2pPr>
            <a:lvl3pPr>
              <a:defRPr sz="1600" b="0">
                <a:solidFill>
                  <a:srgbClr val="33333A"/>
                </a:solidFill>
              </a:defRPr>
            </a:lvl3pPr>
            <a:lvl4pPr>
              <a:defRPr sz="1600" b="0">
                <a:solidFill>
                  <a:srgbClr val="33333A"/>
                </a:solidFill>
              </a:defRPr>
            </a:lvl4pPr>
            <a:lvl5pPr>
              <a:defRPr sz="1600" b="0">
                <a:solidFill>
                  <a:srgbClr val="33333A"/>
                </a:solidFill>
              </a:defRPr>
            </a:lvl5pPr>
            <a:lvl6pPr>
              <a:defRPr sz="1600" b="0">
                <a:solidFill>
                  <a:srgbClr val="33333A"/>
                </a:solidFill>
              </a:defRPr>
            </a:lvl6pPr>
            <a:lvl7pPr>
              <a:defRPr sz="1600" b="0">
                <a:solidFill>
                  <a:srgbClr val="33333A"/>
                </a:solidFill>
              </a:defRPr>
            </a:lvl7pPr>
            <a:lvl8pPr>
              <a:defRPr sz="1600" b="0">
                <a:solidFill>
                  <a:srgbClr val="33333A"/>
                </a:solidFill>
              </a:defRPr>
            </a:lvl8pPr>
            <a:lvl9pPr>
              <a:defRPr sz="1600" b="0">
                <a:solidFill>
                  <a:srgbClr val="33333A"/>
                </a:solidFill>
              </a:defRPr>
            </a:lvl9pPr>
          </a:lstStyle>
          <a:p>
            <a:pPr>
              <a:defRPr sz="1600" b="0">
                <a:solidFill>
                  <a:srgbClr val="33333A"/>
                </a:solidFill>
              </a:defRPr>
            </a:pPr>
            <a:r>
              <a:rPr sz="1600" b="0">
                <a:solidFill>
                  <a:srgbClr val="33333A"/>
                </a:solidFill>
                <a:latin typeface="Arial"/>
                <a:ea typeface="Arial"/>
                <a:cs typeface="Arial"/>
              </a:rPr>
              <a:t>Ask about access, secrets</a:t>
            </a:r>
          </a:p>
          <a:p>
            <a:pPr>
              <a:defRPr sz="1600" b="0">
                <a:solidFill>
                  <a:srgbClr val="33333A"/>
                </a:solidFill>
              </a:defRPr>
            </a:pPr>
            <a:r>
              <a:rPr sz="1600" b="0">
                <a:solidFill>
                  <a:srgbClr val="33333A"/>
                </a:solidFill>
                <a:latin typeface="Arial"/>
                <a:ea typeface="Arial"/>
                <a:cs typeface="Arial"/>
              </a:rPr>
              <a:t>and sensitive data in the PR.</a:t>
            </a:r>
          </a:p>
        </p:txBody>
      </p:sp>
      <p:sp>
        <p:nvSpPr>
          <p:cNvPr id="1005" name="Review step 1">
            <a:extLst>
              <a:ext uri="{FF2B5EF4-FFF2-40B4-BE49-F238E27FC236}">
                <a16:creationId xmlns:a16="http://schemas.microsoft.com/office/drawing/2014/main" id="{466919ED-46E2-43FE-8976-3CA9C2ADAAF0}"/>
              </a:ext>
            </a:extLst>
          </p:cNvPr>
          <p:cNvSpPr>
            <a:spLocks noGrp="1"/>
          </p:cNvSpPr>
          <p:nvPr/>
        </p:nvSpPr>
        <p:spPr>
          <a:xfrm>
            <a:off x="4415638" y="5078076"/>
            <a:ext cx="3355848" cy="320040"/>
          </a:xfrm>
          <a:prstGeom prst="rect">
            <a:avLst/>
          </a:prstGeom>
          <a:noFill/>
          <a:ln w="0">
            <a:noFill/>
            <a:prstDash val="solid"/>
          </a:ln>
        </p:spPr>
        <p:txBody>
          <a:bodyPr wrap="square" lIns="0" tIns="0" rIns="0" bIns="0" anchor="t">
            <a:noAutofit/>
          </a:bodyPr>
          <a:lstStyle>
            <a:defPPr>
              <a:defRPr sz="1700" b="1">
                <a:solidFill>
                  <a:srgbClr val="0086B6"/>
                </a:solidFill>
              </a:defRPr>
            </a:defPPr>
            <a:lvl1pPr>
              <a:defRPr sz="1700" b="1">
                <a:solidFill>
                  <a:srgbClr val="0086B6"/>
                </a:solidFill>
              </a:defRPr>
            </a:lvl1pPr>
            <a:lvl2pPr>
              <a:defRPr sz="1700" b="1">
                <a:solidFill>
                  <a:srgbClr val="0086B6"/>
                </a:solidFill>
              </a:defRPr>
            </a:lvl2pPr>
            <a:lvl3pPr>
              <a:defRPr sz="1700" b="1">
                <a:solidFill>
                  <a:srgbClr val="0086B6"/>
                </a:solidFill>
              </a:defRPr>
            </a:lvl3pPr>
            <a:lvl4pPr>
              <a:defRPr sz="1700" b="1">
                <a:solidFill>
                  <a:srgbClr val="0086B6"/>
                </a:solidFill>
              </a:defRPr>
            </a:lvl4pPr>
            <a:lvl5pPr>
              <a:defRPr sz="1700" b="1">
                <a:solidFill>
                  <a:srgbClr val="0086B6"/>
                </a:solidFill>
              </a:defRPr>
            </a:lvl5pPr>
            <a:lvl6pPr>
              <a:defRPr sz="1700" b="1">
                <a:solidFill>
                  <a:srgbClr val="0086B6"/>
                </a:solidFill>
              </a:defRPr>
            </a:lvl6pPr>
            <a:lvl7pPr>
              <a:defRPr sz="1700" b="1">
                <a:solidFill>
                  <a:srgbClr val="0086B6"/>
                </a:solidFill>
              </a:defRPr>
            </a:lvl7pPr>
            <a:lvl8pPr>
              <a:defRPr sz="1700" b="1">
                <a:solidFill>
                  <a:srgbClr val="0086B6"/>
                </a:solidFill>
              </a:defRPr>
            </a:lvl8pPr>
            <a:lvl9pPr>
              <a:defRPr sz="1700" b="1">
                <a:solidFill>
                  <a:srgbClr val="0086B6"/>
                </a:solidFill>
              </a:defRPr>
            </a:lvl9pPr>
          </a:lstStyle>
          <a:p>
            <a:pPr>
              <a:defRPr sz="1700" b="1">
                <a:solidFill>
                  <a:srgbClr val="0086B6"/>
                </a:solidFill>
              </a:defRPr>
            </a:pPr>
            <a:r>
              <a:rPr sz="1700" b="1">
                <a:solidFill>
                  <a:srgbClr val="0086B6"/>
                </a:solidFill>
                <a:latin typeface="Arial"/>
                <a:ea typeface="Arial"/>
                <a:cs typeface="Arial"/>
              </a:rPr>
              <a:t>Select prompt and context</a:t>
            </a:r>
          </a:p>
        </p:txBody>
      </p:sp>
      <p:sp>
        <p:nvSpPr>
          <p:cNvPr id="1006" name="Review detail 1">
            <a:extLst>
              <a:ext uri="{FF2B5EF4-FFF2-40B4-BE49-F238E27FC236}">
                <a16:creationId xmlns:a16="http://schemas.microsoft.com/office/drawing/2014/main" id="{D07D2C88-8ED9-49A5-8C76-3215B026787D}"/>
              </a:ext>
            </a:extLst>
          </p:cNvPr>
          <p:cNvSpPr>
            <a:spLocks noGrp="1"/>
          </p:cNvSpPr>
          <p:nvPr/>
        </p:nvSpPr>
        <p:spPr>
          <a:xfrm>
            <a:off x="4415638" y="5498700"/>
            <a:ext cx="3355848" cy="594360"/>
          </a:xfrm>
          <a:prstGeom prst="rect">
            <a:avLst/>
          </a:prstGeom>
          <a:noFill/>
          <a:ln w="0">
            <a:noFill/>
            <a:prstDash val="solid"/>
          </a:ln>
        </p:spPr>
        <p:txBody>
          <a:bodyPr wrap="square" lIns="0" tIns="0" rIns="0" bIns="0" anchor="t">
            <a:noAutofit/>
          </a:bodyPr>
          <a:lstStyle>
            <a:defPPr>
              <a:defRPr sz="1600" b="0">
                <a:solidFill>
                  <a:srgbClr val="33333A"/>
                </a:solidFill>
              </a:defRPr>
            </a:defPPr>
            <a:lvl1pPr>
              <a:defRPr sz="1600" b="0">
                <a:solidFill>
                  <a:srgbClr val="33333A"/>
                </a:solidFill>
              </a:defRPr>
            </a:lvl1pPr>
            <a:lvl2pPr>
              <a:defRPr sz="1600" b="0">
                <a:solidFill>
                  <a:srgbClr val="33333A"/>
                </a:solidFill>
              </a:defRPr>
            </a:lvl2pPr>
            <a:lvl3pPr>
              <a:defRPr sz="1600" b="0">
                <a:solidFill>
                  <a:srgbClr val="33333A"/>
                </a:solidFill>
              </a:defRPr>
            </a:lvl3pPr>
            <a:lvl4pPr>
              <a:defRPr sz="1600" b="0">
                <a:solidFill>
                  <a:srgbClr val="33333A"/>
                </a:solidFill>
              </a:defRPr>
            </a:lvl4pPr>
            <a:lvl5pPr>
              <a:defRPr sz="1600" b="0">
                <a:solidFill>
                  <a:srgbClr val="33333A"/>
                </a:solidFill>
              </a:defRPr>
            </a:lvl5pPr>
            <a:lvl6pPr>
              <a:defRPr sz="1600" b="0">
                <a:solidFill>
                  <a:srgbClr val="33333A"/>
                </a:solidFill>
              </a:defRPr>
            </a:lvl6pPr>
            <a:lvl7pPr>
              <a:defRPr sz="1600" b="0">
                <a:solidFill>
                  <a:srgbClr val="33333A"/>
                </a:solidFill>
              </a:defRPr>
            </a:lvl7pPr>
            <a:lvl8pPr>
              <a:defRPr sz="1600" b="0">
                <a:solidFill>
                  <a:srgbClr val="33333A"/>
                </a:solidFill>
              </a:defRPr>
            </a:lvl8pPr>
            <a:lvl9pPr>
              <a:defRPr sz="1600" b="0">
                <a:solidFill>
                  <a:srgbClr val="33333A"/>
                </a:solidFill>
              </a:defRPr>
            </a:lvl9pPr>
          </a:lstStyle>
          <a:p>
            <a:pPr>
              <a:defRPr sz="1600" b="0">
                <a:solidFill>
                  <a:srgbClr val="33333A"/>
                </a:solidFill>
              </a:defRPr>
            </a:pPr>
            <a:r>
              <a:rPr sz="1600" b="0">
                <a:solidFill>
                  <a:srgbClr val="33333A"/>
                </a:solidFill>
                <a:latin typeface="Arial"/>
                <a:ea typeface="Arial"/>
                <a:cs typeface="Arial"/>
              </a:rPr>
              <a:t>Policy maps the answers to</a:t>
            </a:r>
          </a:p>
          <a:p>
            <a:pPr>
              <a:defRPr sz="1600" b="0">
                <a:solidFill>
                  <a:srgbClr val="33333A"/>
                </a:solidFill>
              </a:defRPr>
            </a:pPr>
            <a:r>
              <a:rPr sz="1600" b="0">
                <a:solidFill>
                  <a:srgbClr val="33333A"/>
                </a:solidFill>
                <a:latin typeface="Arial"/>
                <a:ea typeface="Arial"/>
                <a:cs typeface="Arial"/>
              </a:rPr>
              <a:t>reviewed prompts and files.</a:t>
            </a:r>
          </a:p>
        </p:txBody>
      </p:sp>
      <p:sp>
        <p:nvSpPr>
          <p:cNvPr id="1007" name="Review step 2">
            <a:extLst>
              <a:ext uri="{FF2B5EF4-FFF2-40B4-BE49-F238E27FC236}">
                <a16:creationId xmlns:a16="http://schemas.microsoft.com/office/drawing/2014/main" id="{90DE5760-9A7B-4199-B832-B7D2498B7583}"/>
              </a:ext>
            </a:extLst>
          </p:cNvPr>
          <p:cNvSpPr>
            <a:spLocks noGrp="1"/>
          </p:cNvSpPr>
          <p:nvPr/>
        </p:nvSpPr>
        <p:spPr>
          <a:xfrm>
            <a:off x="8018374" y="5078076"/>
            <a:ext cx="3355848" cy="320040"/>
          </a:xfrm>
          <a:prstGeom prst="rect">
            <a:avLst/>
          </a:prstGeom>
          <a:noFill/>
          <a:ln w="0">
            <a:noFill/>
            <a:prstDash val="solid"/>
          </a:ln>
        </p:spPr>
        <p:txBody>
          <a:bodyPr wrap="square" lIns="0" tIns="0" rIns="0" bIns="0" anchor="t">
            <a:noAutofit/>
          </a:bodyPr>
          <a:lstStyle>
            <a:defPPr>
              <a:defRPr sz="1700" b="1">
                <a:solidFill>
                  <a:srgbClr val="0086B6"/>
                </a:solidFill>
              </a:defRPr>
            </a:defPPr>
            <a:lvl1pPr>
              <a:defRPr sz="1700" b="1">
                <a:solidFill>
                  <a:srgbClr val="0086B6"/>
                </a:solidFill>
              </a:defRPr>
            </a:lvl1pPr>
            <a:lvl2pPr>
              <a:defRPr sz="1700" b="1">
                <a:solidFill>
                  <a:srgbClr val="0086B6"/>
                </a:solidFill>
              </a:defRPr>
            </a:lvl2pPr>
            <a:lvl3pPr>
              <a:defRPr sz="1700" b="1">
                <a:solidFill>
                  <a:srgbClr val="0086B6"/>
                </a:solidFill>
              </a:defRPr>
            </a:lvl3pPr>
            <a:lvl4pPr>
              <a:defRPr sz="1700" b="1">
                <a:solidFill>
                  <a:srgbClr val="0086B6"/>
                </a:solidFill>
              </a:defRPr>
            </a:lvl4pPr>
            <a:lvl5pPr>
              <a:defRPr sz="1700" b="1">
                <a:solidFill>
                  <a:srgbClr val="0086B6"/>
                </a:solidFill>
              </a:defRPr>
            </a:lvl5pPr>
            <a:lvl6pPr>
              <a:defRPr sz="1700" b="1">
                <a:solidFill>
                  <a:srgbClr val="0086B6"/>
                </a:solidFill>
              </a:defRPr>
            </a:lvl6pPr>
            <a:lvl7pPr>
              <a:defRPr sz="1700" b="1">
                <a:solidFill>
                  <a:srgbClr val="0086B6"/>
                </a:solidFill>
              </a:defRPr>
            </a:lvl7pPr>
            <a:lvl8pPr>
              <a:defRPr sz="1700" b="1">
                <a:solidFill>
                  <a:srgbClr val="0086B6"/>
                </a:solidFill>
              </a:defRPr>
            </a:lvl8pPr>
            <a:lvl9pPr>
              <a:defRPr sz="1700" b="1">
                <a:solidFill>
                  <a:srgbClr val="0086B6"/>
                </a:solidFill>
              </a:defRPr>
            </a:lvl9pPr>
          </a:lstStyle>
          <a:p>
            <a:pPr>
              <a:defRPr sz="1700" b="1">
                <a:solidFill>
                  <a:srgbClr val="0086B6"/>
                </a:solidFill>
              </a:defRPr>
            </a:pPr>
            <a:r>
              <a:rPr sz="1700" b="1">
                <a:solidFill>
                  <a:srgbClr val="0086B6"/>
                </a:solidFill>
                <a:latin typeface="Arial"/>
                <a:ea typeface="Arial"/>
                <a:cs typeface="Arial"/>
              </a:rPr>
              <a:t>Run the focused review</a:t>
            </a:r>
          </a:p>
        </p:txBody>
      </p:sp>
      <p:sp>
        <p:nvSpPr>
          <p:cNvPr id="1008" name="Review detail 2">
            <a:extLst>
              <a:ext uri="{FF2B5EF4-FFF2-40B4-BE49-F238E27FC236}">
                <a16:creationId xmlns:a16="http://schemas.microsoft.com/office/drawing/2014/main" id="{4030D0F8-0454-4E33-9108-61B78189D0ED}"/>
              </a:ext>
            </a:extLst>
          </p:cNvPr>
          <p:cNvSpPr>
            <a:spLocks noGrp="1"/>
          </p:cNvSpPr>
          <p:nvPr/>
        </p:nvSpPr>
        <p:spPr>
          <a:xfrm>
            <a:off x="8018374" y="5498700"/>
            <a:ext cx="3355848" cy="594360"/>
          </a:xfrm>
          <a:prstGeom prst="rect">
            <a:avLst/>
          </a:prstGeom>
          <a:noFill/>
          <a:ln w="0">
            <a:noFill/>
            <a:prstDash val="solid"/>
          </a:ln>
        </p:spPr>
        <p:txBody>
          <a:bodyPr wrap="square" lIns="0" tIns="0" rIns="0" bIns="0" anchor="t">
            <a:noAutofit/>
          </a:bodyPr>
          <a:lstStyle>
            <a:defPPr>
              <a:defRPr sz="1600" b="0">
                <a:solidFill>
                  <a:srgbClr val="33333A"/>
                </a:solidFill>
              </a:defRPr>
            </a:defPPr>
            <a:lvl1pPr>
              <a:defRPr sz="1600" b="0">
                <a:solidFill>
                  <a:srgbClr val="33333A"/>
                </a:solidFill>
              </a:defRPr>
            </a:lvl1pPr>
            <a:lvl2pPr>
              <a:defRPr sz="1600" b="0">
                <a:solidFill>
                  <a:srgbClr val="33333A"/>
                </a:solidFill>
              </a:defRPr>
            </a:lvl2pPr>
            <a:lvl3pPr>
              <a:defRPr sz="1600" b="0">
                <a:solidFill>
                  <a:srgbClr val="33333A"/>
                </a:solidFill>
              </a:defRPr>
            </a:lvl3pPr>
            <a:lvl4pPr>
              <a:defRPr sz="1600" b="0">
                <a:solidFill>
                  <a:srgbClr val="33333A"/>
                </a:solidFill>
              </a:defRPr>
            </a:lvl4pPr>
            <a:lvl5pPr>
              <a:defRPr sz="1600" b="0">
                <a:solidFill>
                  <a:srgbClr val="33333A"/>
                </a:solidFill>
              </a:defRPr>
            </a:lvl5pPr>
            <a:lvl6pPr>
              <a:defRPr sz="1600" b="0">
                <a:solidFill>
                  <a:srgbClr val="33333A"/>
                </a:solidFill>
              </a:defRPr>
            </a:lvl6pPr>
            <a:lvl7pPr>
              <a:defRPr sz="1600" b="0">
                <a:solidFill>
                  <a:srgbClr val="33333A"/>
                </a:solidFill>
              </a:defRPr>
            </a:lvl7pPr>
            <a:lvl8pPr>
              <a:defRPr sz="1600" b="0">
                <a:solidFill>
                  <a:srgbClr val="33333A"/>
                </a:solidFill>
              </a:defRPr>
            </a:lvl8pPr>
            <a:lvl9pPr>
              <a:defRPr sz="1600" b="0">
                <a:solidFill>
                  <a:srgbClr val="33333A"/>
                </a:solidFill>
              </a:defRPr>
            </a:lvl9pPr>
          </a:lstStyle>
          <a:p>
            <a:pPr>
              <a:defRPr sz="1600" b="0">
                <a:solidFill>
                  <a:srgbClr val="33333A"/>
                </a:solidFill>
              </a:defRPr>
            </a:pPr>
            <a:r>
              <a:rPr sz="1600" b="0">
                <a:solidFill>
                  <a:srgbClr val="33333A"/>
                </a:solidFill>
                <a:latin typeface="Arial"/>
                <a:ea typeface="Arial"/>
                <a:cs typeface="Arial"/>
              </a:rPr>
              <a:t>Sonnet 5 reviews the code.</a:t>
            </a:r>
          </a:p>
          <a:p>
            <a:pPr>
              <a:defRPr sz="1600" b="0">
                <a:solidFill>
                  <a:srgbClr val="33333A"/>
                </a:solidFill>
              </a:defRPr>
            </a:pPr>
            <a:r>
              <a:rPr sz="1600" b="0">
                <a:solidFill>
                  <a:srgbClr val="33333A"/>
                </a:solidFill>
                <a:latin typeface="Arial"/>
                <a:ea typeface="Arial"/>
                <a:cs typeface="Arial"/>
              </a:rPr>
              <a:t>Owners authorize merge.</a:t>
            </a:r>
          </a:p>
        </p:txBody>
      </p:sp>
      <p:pic>
        <p:nvPicPr>
          <p:cNvPr id="7" name="Picture 6">
            <a:extLst>
              <a:ext uri="{FF2B5EF4-FFF2-40B4-BE49-F238E27FC236}">
                <a16:creationId xmlns:a16="http://schemas.microsoft.com/office/drawing/2014/main" id="{6ED32D38-D1E9-8D2E-69BC-2E0CA08BE29D}"/>
              </a:ext>
            </a:extLst>
          </p:cNvPr>
          <p:cNvPicPr>
            <a:picLocks noChangeAspect="1"/>
          </p:cNvPicPr>
          <p:nvPr/>
        </p:nvPicPr>
        <p:blipFill>
          <a:blip r:embed="rId5"/>
          <a:stretch>
            <a:fillRect/>
          </a:stretch>
        </p:blipFill>
        <p:spPr>
          <a:xfrm>
            <a:off x="696602" y="1742339"/>
            <a:ext cx="9781210" cy="280538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4">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4" name="Text 0"/>
          <p:cNvSpPr>
            <a:spLocks noGrp="1"/>
          </p:cNvSpPr>
          <p:nvPr>
            <p:ph type="title"/>
          </p:nvPr>
        </p:nvSpPr>
        <p:spPr>
          <a:xfrm>
            <a:off x="812902" y="812902"/>
            <a:ext cx="8412480" cy="512064"/>
          </a:xfrm>
          <a:prstGeom prst="rect">
            <a:avLst/>
          </a:prstGeom>
          <a:noFill/>
          <a:ln/>
        </p:spPr>
        <p:txBody>
          <a:bodyPr wrap="square" lIns="0" tIns="0" rIns="0" bIns="0" rtlCol="0" anchor="t">
            <a:noAutofit/>
          </a:bodyPr>
          <a:lstStyle/>
          <a:p>
            <a:pPr marL="0" indent="0" algn="l">
              <a:lnSpc>
                <a:spcPts val="3800"/>
              </a:lnSpc>
              <a:spcBef>
                <a:spcPts val="0"/>
              </a:spcBef>
              <a:buNone/>
            </a:pPr>
            <a:r>
              <a:rPr lang="en-US" sz="3200" b="1" dirty="0">
                <a:solidFill>
                  <a:srgbClr val="4C8835"/>
                </a:solidFill>
                <a:latin typeface="Arial" pitchFamily="34" charset="0"/>
                <a:ea typeface="Arial" pitchFamily="34" charset="-122"/>
                <a:cs typeface="Arial" pitchFamily="34" charset="-120"/>
              </a:rPr>
              <a:t>A specialized security prompt</a:t>
            </a:r>
            <a:endParaRPr lang="en-US" sz="3200"/>
          </a:p>
        </p:txBody>
      </p:sp>
      <p:sp>
        <p:nvSpPr>
          <p:cNvPr id="36" name="Text 25"/>
          <p:cNvSpPr/>
          <p:nvPr/>
        </p:nvSpPr>
        <p:spPr>
          <a:xfrm>
            <a:off x="7532370" y="6238280"/>
            <a:ext cx="300863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A92"/>
                </a:solidFill>
                <a:latin typeface="Arial" pitchFamily="34" charset="0"/>
                <a:ea typeface="Arial" pitchFamily="34" charset="-122"/>
                <a:cs typeface="Arial" pitchFamily="34" charset="-120"/>
              </a:rPr>
              <a:t>ISC2.org/Congress | #ISC2Congress</a:t>
            </a:r>
            <a:endParaRPr lang="en-US" sz="1200" dirty="0"/>
          </a:p>
        </p:txBody>
      </p:sp>
      <p:sp>
        <p:nvSpPr>
          <p:cNvPr id="1000" name="Fixed inputs">
            <a:extLst>
              <a:ext uri="{FF2B5EF4-FFF2-40B4-BE49-F238E27FC236}">
                <a16:creationId xmlns:a16="http://schemas.microsoft.com/office/drawing/2014/main" id="{CDD97382-6954-4810-8E44-B231E1ACD8B2}"/>
              </a:ext>
            </a:extLst>
          </p:cNvPr>
          <p:cNvSpPr>
            <a:spLocks noGrp="1"/>
          </p:cNvSpPr>
          <p:nvPr/>
        </p:nvSpPr>
        <p:spPr>
          <a:xfrm>
            <a:off x="812902" y="1399032"/>
            <a:ext cx="10561320" cy="384048"/>
          </a:xfrm>
          <a:prstGeom prst="rect">
            <a:avLst/>
          </a:prstGeom>
          <a:noFill/>
          <a:ln w="0">
            <a:noFill/>
            <a:prstDash val="solid"/>
          </a:ln>
        </p:spPr>
        <p:txBody>
          <a:bodyPr wrap="square" lIns="0" tIns="0" rIns="0" bIns="0" anchor="t">
            <a:noAutofit/>
          </a:bodyPr>
          <a:lstStyle>
            <a:defPPr>
              <a:defRPr sz="1800" b="0">
                <a:solidFill>
                  <a:srgbClr val="33333A"/>
                </a:solidFill>
              </a:defRPr>
            </a:defPPr>
            <a:lvl1pPr>
              <a:defRPr sz="1800" b="0">
                <a:solidFill>
                  <a:srgbClr val="33333A"/>
                </a:solidFill>
              </a:defRPr>
            </a:lvl1pPr>
            <a:lvl2pPr>
              <a:defRPr sz="1800" b="0">
                <a:solidFill>
                  <a:srgbClr val="33333A"/>
                </a:solidFill>
              </a:defRPr>
            </a:lvl2pPr>
            <a:lvl3pPr>
              <a:defRPr sz="1800" b="0">
                <a:solidFill>
                  <a:srgbClr val="33333A"/>
                </a:solidFill>
              </a:defRPr>
            </a:lvl3pPr>
            <a:lvl4pPr>
              <a:defRPr sz="1800" b="0">
                <a:solidFill>
                  <a:srgbClr val="33333A"/>
                </a:solidFill>
              </a:defRPr>
            </a:lvl4pPr>
            <a:lvl5pPr>
              <a:defRPr sz="1800" b="0">
                <a:solidFill>
                  <a:srgbClr val="33333A"/>
                </a:solidFill>
              </a:defRPr>
            </a:lvl5pPr>
            <a:lvl6pPr>
              <a:defRPr sz="1800" b="0">
                <a:solidFill>
                  <a:srgbClr val="33333A"/>
                </a:solidFill>
              </a:defRPr>
            </a:lvl6pPr>
            <a:lvl7pPr>
              <a:defRPr sz="1800" b="0">
                <a:solidFill>
                  <a:srgbClr val="33333A"/>
                </a:solidFill>
              </a:defRPr>
            </a:lvl7pPr>
            <a:lvl8pPr>
              <a:defRPr sz="1800" b="0">
                <a:solidFill>
                  <a:srgbClr val="33333A"/>
                </a:solidFill>
              </a:defRPr>
            </a:lvl8pPr>
            <a:lvl9pPr>
              <a:defRPr sz="1800" b="0">
                <a:solidFill>
                  <a:srgbClr val="33333A"/>
                </a:solidFill>
              </a:defRPr>
            </a:lvl9pPr>
          </a:lstStyle>
          <a:p>
            <a:pPr>
              <a:defRPr sz="1800" b="0">
                <a:solidFill>
                  <a:srgbClr val="33333A"/>
                </a:solidFill>
              </a:defRPr>
            </a:pPr>
            <a:r>
              <a:rPr sz="1800" b="0">
                <a:solidFill>
                  <a:srgbClr val="33333A"/>
                </a:solidFill>
                <a:latin typeface="Arial"/>
                <a:ea typeface="Arial"/>
                <a:cs typeface="Arial"/>
              </a:rPr>
              <a:t>Keep Sonnet 5, the code change and the related file fixed. Change the review instructions.</a:t>
            </a:r>
          </a:p>
        </p:txBody>
      </p:sp>
      <p:sp>
        <p:nvSpPr>
          <p:cNvPr id="1001" name="Prompt rule 0">
            <a:extLst>
              <a:ext uri="{FF2B5EF4-FFF2-40B4-BE49-F238E27FC236}">
                <a16:creationId xmlns:a16="http://schemas.microsoft.com/office/drawing/2014/main" id="{C59AA5C6-03AD-4558-944C-11917A27E844}"/>
              </a:ext>
            </a:extLst>
          </p:cNvPr>
          <p:cNvSpPr>
            <a:spLocks noGrp="1"/>
          </p:cNvSpPr>
          <p:nvPr/>
        </p:nvSpPr>
        <p:spPr>
          <a:xfrm>
            <a:off x="812902" y="2295144"/>
            <a:ext cx="2971800" cy="50292"/>
          </a:xfrm>
          <a:prstGeom prst="rect">
            <a:avLst/>
          </a:prstGeom>
          <a:solidFill>
            <a:srgbClr val="0086B6"/>
          </a:solidFill>
          <a:ln w="0">
            <a:noFill/>
            <a:prstDash val="solid"/>
          </a:ln>
        </p:spPr>
        <p:txBody>
          <a:bodyPr/>
          <a:lstStyle/>
          <a:p>
            <a:endParaRPr lang="en-US"/>
          </a:p>
        </p:txBody>
      </p:sp>
      <p:sp>
        <p:nvSpPr>
          <p:cNvPr id="1002" name="Prompt title 0">
            <a:extLst>
              <a:ext uri="{FF2B5EF4-FFF2-40B4-BE49-F238E27FC236}">
                <a16:creationId xmlns:a16="http://schemas.microsoft.com/office/drawing/2014/main" id="{78AAF97C-3441-4866-8C27-616749EBE851}"/>
              </a:ext>
            </a:extLst>
          </p:cNvPr>
          <p:cNvSpPr>
            <a:spLocks noGrp="1"/>
          </p:cNvSpPr>
          <p:nvPr/>
        </p:nvSpPr>
        <p:spPr>
          <a:xfrm>
            <a:off x="812902" y="2578608"/>
            <a:ext cx="2971800" cy="457200"/>
          </a:xfrm>
          <a:prstGeom prst="rect">
            <a:avLst/>
          </a:prstGeom>
          <a:noFill/>
          <a:ln w="0">
            <a:noFill/>
            <a:prstDash val="solid"/>
          </a:ln>
        </p:spPr>
        <p:txBody>
          <a:bodyPr wrap="square" lIns="0" tIns="0" rIns="0" bIns="0" anchor="t">
            <a:noAutofit/>
          </a:bodyPr>
          <a:lstStyle>
            <a:defPPr>
              <a:defRPr sz="2100" b="1">
                <a:solidFill>
                  <a:srgbClr val="0086B6"/>
                </a:solidFill>
              </a:defRPr>
            </a:defPPr>
            <a:lvl1pPr>
              <a:defRPr sz="2100" b="1">
                <a:solidFill>
                  <a:srgbClr val="0086B6"/>
                </a:solidFill>
              </a:defRPr>
            </a:lvl1pPr>
            <a:lvl2pPr>
              <a:defRPr sz="2100" b="1">
                <a:solidFill>
                  <a:srgbClr val="0086B6"/>
                </a:solidFill>
              </a:defRPr>
            </a:lvl2pPr>
            <a:lvl3pPr>
              <a:defRPr sz="2100" b="1">
                <a:solidFill>
                  <a:srgbClr val="0086B6"/>
                </a:solidFill>
              </a:defRPr>
            </a:lvl3pPr>
            <a:lvl4pPr>
              <a:defRPr sz="2100" b="1">
                <a:solidFill>
                  <a:srgbClr val="0086B6"/>
                </a:solidFill>
              </a:defRPr>
            </a:lvl4pPr>
            <a:lvl5pPr>
              <a:defRPr sz="2100" b="1">
                <a:solidFill>
                  <a:srgbClr val="0086B6"/>
                </a:solidFill>
              </a:defRPr>
            </a:lvl5pPr>
            <a:lvl6pPr>
              <a:defRPr sz="2100" b="1">
                <a:solidFill>
                  <a:srgbClr val="0086B6"/>
                </a:solidFill>
              </a:defRPr>
            </a:lvl6pPr>
            <a:lvl7pPr>
              <a:defRPr sz="2100" b="1">
                <a:solidFill>
                  <a:srgbClr val="0086B6"/>
                </a:solidFill>
              </a:defRPr>
            </a:lvl7pPr>
            <a:lvl8pPr>
              <a:defRPr sz="2100" b="1">
                <a:solidFill>
                  <a:srgbClr val="0086B6"/>
                </a:solidFill>
              </a:defRPr>
            </a:lvl8pPr>
            <a:lvl9pPr>
              <a:defRPr sz="2100" b="1">
                <a:solidFill>
                  <a:srgbClr val="0086B6"/>
                </a:solidFill>
              </a:defRPr>
            </a:lvl9pPr>
          </a:lstStyle>
          <a:p>
            <a:pPr>
              <a:defRPr sz="2100" b="1">
                <a:solidFill>
                  <a:srgbClr val="0086B6"/>
                </a:solidFill>
              </a:defRPr>
            </a:pPr>
            <a:r>
              <a:rPr sz="2100" b="1">
                <a:solidFill>
                  <a:srgbClr val="0086B6"/>
                </a:solidFill>
                <a:latin typeface="Arial"/>
                <a:ea typeface="Arial"/>
                <a:cs typeface="Arial"/>
              </a:rPr>
              <a:t>Security role</a:t>
            </a:r>
          </a:p>
        </p:txBody>
      </p:sp>
      <p:sp>
        <p:nvSpPr>
          <p:cNvPr id="1003" name="Prompt detail 0">
            <a:extLst>
              <a:ext uri="{FF2B5EF4-FFF2-40B4-BE49-F238E27FC236}">
                <a16:creationId xmlns:a16="http://schemas.microsoft.com/office/drawing/2014/main" id="{E502C171-17A0-437F-8B21-E0D3126763E0}"/>
              </a:ext>
            </a:extLst>
          </p:cNvPr>
          <p:cNvSpPr>
            <a:spLocks noGrp="1"/>
          </p:cNvSpPr>
          <p:nvPr/>
        </p:nvSpPr>
        <p:spPr>
          <a:xfrm>
            <a:off x="812902" y="3191256"/>
            <a:ext cx="2971800" cy="731520"/>
          </a:xfrm>
          <a:prstGeom prst="rect">
            <a:avLst/>
          </a:prstGeom>
          <a:noFill/>
          <a:ln w="0">
            <a:noFill/>
            <a:prstDash val="solid"/>
          </a:ln>
        </p:spPr>
        <p:txBody>
          <a:bodyPr wrap="square" lIns="0" tIns="0" rIns="0" bIns="0" anchor="t">
            <a:noAutofit/>
          </a:bodyPr>
          <a:lstStyle>
            <a:defPPr>
              <a:defRPr sz="1800" b="0">
                <a:solidFill>
                  <a:srgbClr val="33333A"/>
                </a:solidFill>
              </a:defRPr>
            </a:defPPr>
            <a:lvl1pPr>
              <a:defRPr sz="1800" b="0">
                <a:solidFill>
                  <a:srgbClr val="33333A"/>
                </a:solidFill>
              </a:defRPr>
            </a:lvl1pPr>
            <a:lvl2pPr>
              <a:defRPr sz="1800" b="0">
                <a:solidFill>
                  <a:srgbClr val="33333A"/>
                </a:solidFill>
              </a:defRPr>
            </a:lvl2pPr>
            <a:lvl3pPr>
              <a:defRPr sz="1800" b="0">
                <a:solidFill>
                  <a:srgbClr val="33333A"/>
                </a:solidFill>
              </a:defRPr>
            </a:lvl3pPr>
            <a:lvl4pPr>
              <a:defRPr sz="1800" b="0">
                <a:solidFill>
                  <a:srgbClr val="33333A"/>
                </a:solidFill>
              </a:defRPr>
            </a:lvl4pPr>
            <a:lvl5pPr>
              <a:defRPr sz="1800" b="0">
                <a:solidFill>
                  <a:srgbClr val="33333A"/>
                </a:solidFill>
              </a:defRPr>
            </a:lvl5pPr>
            <a:lvl6pPr>
              <a:defRPr sz="1800" b="0">
                <a:solidFill>
                  <a:srgbClr val="33333A"/>
                </a:solidFill>
              </a:defRPr>
            </a:lvl6pPr>
            <a:lvl7pPr>
              <a:defRPr sz="1800" b="0">
                <a:solidFill>
                  <a:srgbClr val="33333A"/>
                </a:solidFill>
              </a:defRPr>
            </a:lvl7pPr>
            <a:lvl8pPr>
              <a:defRPr sz="1800" b="0">
                <a:solidFill>
                  <a:srgbClr val="33333A"/>
                </a:solidFill>
              </a:defRPr>
            </a:lvl8pPr>
            <a:lvl9pPr>
              <a:defRPr sz="1800" b="0">
                <a:solidFill>
                  <a:srgbClr val="33333A"/>
                </a:solidFill>
              </a:defRPr>
            </a:lvl9pPr>
          </a:lstStyle>
          <a:p>
            <a:pPr>
              <a:defRPr sz="1800" b="0">
                <a:solidFill>
                  <a:srgbClr val="33333A"/>
                </a:solidFill>
              </a:defRPr>
            </a:pPr>
            <a:r>
              <a:rPr sz="1800" b="0">
                <a:solidFill>
                  <a:srgbClr val="33333A"/>
                </a:solidFill>
                <a:latin typeface="Arial"/>
                <a:ea typeface="Arial"/>
                <a:cs typeface="Arial"/>
              </a:rPr>
              <a:t>Ask a security engineer</a:t>
            </a:r>
            <a:br>
              <a:rPr sz="1800" b="0">
                <a:solidFill>
                  <a:srgbClr val="33333A"/>
                </a:solidFill>
                <a:latin typeface="Arial"/>
                <a:ea typeface="Arial"/>
                <a:cs typeface="Arial"/>
              </a:rPr>
            </a:br>
            <a:r>
              <a:rPr sz="1800" b="0">
                <a:solidFill>
                  <a:srgbClr val="33333A"/>
                </a:solidFill>
                <a:latin typeface="Arial"/>
                <a:ea typeface="Arial"/>
                <a:cs typeface="Arial"/>
              </a:rPr>
              <a:t>to review the change.</a:t>
            </a:r>
          </a:p>
        </p:txBody>
      </p:sp>
      <p:sp>
        <p:nvSpPr>
          <p:cNvPr id="1004" name="Prompt rule 1">
            <a:extLst>
              <a:ext uri="{FF2B5EF4-FFF2-40B4-BE49-F238E27FC236}">
                <a16:creationId xmlns:a16="http://schemas.microsoft.com/office/drawing/2014/main" id="{E6BB72A4-423B-4C81-85C9-B946A10330B4}"/>
              </a:ext>
            </a:extLst>
          </p:cNvPr>
          <p:cNvSpPr>
            <a:spLocks noGrp="1"/>
          </p:cNvSpPr>
          <p:nvPr/>
        </p:nvSpPr>
        <p:spPr>
          <a:xfrm>
            <a:off x="4370832" y="2295144"/>
            <a:ext cx="2971800" cy="50292"/>
          </a:xfrm>
          <a:prstGeom prst="rect">
            <a:avLst/>
          </a:prstGeom>
          <a:solidFill>
            <a:srgbClr val="4C8835"/>
          </a:solidFill>
          <a:ln w="0">
            <a:noFill/>
            <a:prstDash val="solid"/>
          </a:ln>
        </p:spPr>
        <p:txBody>
          <a:bodyPr/>
          <a:lstStyle/>
          <a:p>
            <a:endParaRPr lang="en-US"/>
          </a:p>
        </p:txBody>
      </p:sp>
      <p:sp>
        <p:nvSpPr>
          <p:cNvPr id="1005" name="Prompt title 1">
            <a:extLst>
              <a:ext uri="{FF2B5EF4-FFF2-40B4-BE49-F238E27FC236}">
                <a16:creationId xmlns:a16="http://schemas.microsoft.com/office/drawing/2014/main" id="{637A8D82-0C4E-458C-93C9-8288D7ECCD1C}"/>
              </a:ext>
            </a:extLst>
          </p:cNvPr>
          <p:cNvSpPr>
            <a:spLocks noGrp="1"/>
          </p:cNvSpPr>
          <p:nvPr/>
        </p:nvSpPr>
        <p:spPr>
          <a:xfrm>
            <a:off x="4370832" y="2578608"/>
            <a:ext cx="2971800" cy="457200"/>
          </a:xfrm>
          <a:prstGeom prst="rect">
            <a:avLst/>
          </a:prstGeom>
          <a:noFill/>
          <a:ln w="0">
            <a:noFill/>
            <a:prstDash val="solid"/>
          </a:ln>
        </p:spPr>
        <p:txBody>
          <a:bodyPr wrap="square" lIns="0" tIns="0" rIns="0" bIns="0" anchor="t">
            <a:noAutofit/>
          </a:bodyPr>
          <a:lstStyle>
            <a:defPPr>
              <a:defRPr sz="2100" b="1">
                <a:solidFill>
                  <a:srgbClr val="4C8835"/>
                </a:solidFill>
              </a:defRPr>
            </a:defPPr>
            <a:lvl1pPr>
              <a:defRPr sz="2100" b="1">
                <a:solidFill>
                  <a:srgbClr val="4C8835"/>
                </a:solidFill>
              </a:defRPr>
            </a:lvl1pPr>
            <a:lvl2pPr>
              <a:defRPr sz="2100" b="1">
                <a:solidFill>
                  <a:srgbClr val="4C8835"/>
                </a:solidFill>
              </a:defRPr>
            </a:lvl2pPr>
            <a:lvl3pPr>
              <a:defRPr sz="2100" b="1">
                <a:solidFill>
                  <a:srgbClr val="4C8835"/>
                </a:solidFill>
              </a:defRPr>
            </a:lvl3pPr>
            <a:lvl4pPr>
              <a:defRPr sz="2100" b="1">
                <a:solidFill>
                  <a:srgbClr val="4C8835"/>
                </a:solidFill>
              </a:defRPr>
            </a:lvl4pPr>
            <a:lvl5pPr>
              <a:defRPr sz="2100" b="1">
                <a:solidFill>
                  <a:srgbClr val="4C8835"/>
                </a:solidFill>
              </a:defRPr>
            </a:lvl5pPr>
            <a:lvl6pPr>
              <a:defRPr sz="2100" b="1">
                <a:solidFill>
                  <a:srgbClr val="4C8835"/>
                </a:solidFill>
              </a:defRPr>
            </a:lvl6pPr>
            <a:lvl7pPr>
              <a:defRPr sz="2100" b="1">
                <a:solidFill>
                  <a:srgbClr val="4C8835"/>
                </a:solidFill>
              </a:defRPr>
            </a:lvl7pPr>
            <a:lvl8pPr>
              <a:defRPr sz="2100" b="1">
                <a:solidFill>
                  <a:srgbClr val="4C8835"/>
                </a:solidFill>
              </a:defRPr>
            </a:lvl8pPr>
            <a:lvl9pPr>
              <a:defRPr sz="2100" b="1">
                <a:solidFill>
                  <a:srgbClr val="4C8835"/>
                </a:solidFill>
              </a:defRPr>
            </a:lvl9pPr>
          </a:lstStyle>
          <a:p>
            <a:pPr>
              <a:defRPr sz="2100" b="1">
                <a:solidFill>
                  <a:srgbClr val="4C8835"/>
                </a:solidFill>
              </a:defRPr>
            </a:pPr>
            <a:r>
              <a:rPr sz="2100" b="1">
                <a:solidFill>
                  <a:srgbClr val="4C8835"/>
                </a:solidFill>
                <a:latin typeface="Arial"/>
                <a:ea typeface="Arial"/>
                <a:cs typeface="Arial"/>
              </a:rPr>
              <a:t>Security checklist</a:t>
            </a:r>
          </a:p>
        </p:txBody>
      </p:sp>
      <p:sp>
        <p:nvSpPr>
          <p:cNvPr id="1006" name="Prompt detail 1">
            <a:extLst>
              <a:ext uri="{FF2B5EF4-FFF2-40B4-BE49-F238E27FC236}">
                <a16:creationId xmlns:a16="http://schemas.microsoft.com/office/drawing/2014/main" id="{BBB35338-FE0D-4AC8-BCAA-FA7C8108A005}"/>
              </a:ext>
            </a:extLst>
          </p:cNvPr>
          <p:cNvSpPr>
            <a:spLocks noGrp="1"/>
          </p:cNvSpPr>
          <p:nvPr/>
        </p:nvSpPr>
        <p:spPr>
          <a:xfrm>
            <a:off x="4370832" y="3191256"/>
            <a:ext cx="2971800" cy="731520"/>
          </a:xfrm>
          <a:prstGeom prst="rect">
            <a:avLst/>
          </a:prstGeom>
          <a:noFill/>
          <a:ln w="0">
            <a:noFill/>
            <a:prstDash val="solid"/>
          </a:ln>
        </p:spPr>
        <p:txBody>
          <a:bodyPr wrap="square" lIns="0" tIns="0" rIns="0" bIns="0" anchor="t">
            <a:noAutofit/>
          </a:bodyPr>
          <a:lstStyle>
            <a:defPPr>
              <a:defRPr sz="1800" b="0">
                <a:solidFill>
                  <a:srgbClr val="33333A"/>
                </a:solidFill>
              </a:defRPr>
            </a:defPPr>
            <a:lvl1pPr>
              <a:defRPr sz="1800" b="0">
                <a:solidFill>
                  <a:srgbClr val="33333A"/>
                </a:solidFill>
              </a:defRPr>
            </a:lvl1pPr>
            <a:lvl2pPr>
              <a:defRPr sz="1800" b="0">
                <a:solidFill>
                  <a:srgbClr val="33333A"/>
                </a:solidFill>
              </a:defRPr>
            </a:lvl2pPr>
            <a:lvl3pPr>
              <a:defRPr sz="1800" b="0">
                <a:solidFill>
                  <a:srgbClr val="33333A"/>
                </a:solidFill>
              </a:defRPr>
            </a:lvl3pPr>
            <a:lvl4pPr>
              <a:defRPr sz="1800" b="0">
                <a:solidFill>
                  <a:srgbClr val="33333A"/>
                </a:solidFill>
              </a:defRPr>
            </a:lvl4pPr>
            <a:lvl5pPr>
              <a:defRPr sz="1800" b="0">
                <a:solidFill>
                  <a:srgbClr val="33333A"/>
                </a:solidFill>
              </a:defRPr>
            </a:lvl5pPr>
            <a:lvl6pPr>
              <a:defRPr sz="1800" b="0">
                <a:solidFill>
                  <a:srgbClr val="33333A"/>
                </a:solidFill>
              </a:defRPr>
            </a:lvl6pPr>
            <a:lvl7pPr>
              <a:defRPr sz="1800" b="0">
                <a:solidFill>
                  <a:srgbClr val="33333A"/>
                </a:solidFill>
              </a:defRPr>
            </a:lvl7pPr>
            <a:lvl8pPr>
              <a:defRPr sz="1800" b="0">
                <a:solidFill>
                  <a:srgbClr val="33333A"/>
                </a:solidFill>
              </a:defRPr>
            </a:lvl8pPr>
            <a:lvl9pPr>
              <a:defRPr sz="1800" b="0">
                <a:solidFill>
                  <a:srgbClr val="33333A"/>
                </a:solidFill>
              </a:defRPr>
            </a:lvl9pPr>
          </a:lstStyle>
          <a:p>
            <a:pPr>
              <a:defRPr sz="1800" b="0">
                <a:solidFill>
                  <a:srgbClr val="33333A"/>
                </a:solidFill>
              </a:defRPr>
            </a:pPr>
            <a:r>
              <a:rPr sz="1800" b="0">
                <a:solidFill>
                  <a:srgbClr val="33333A"/>
                </a:solidFill>
                <a:latin typeface="Arial"/>
                <a:ea typeface="Arial"/>
                <a:cs typeface="Arial"/>
              </a:rPr>
              <a:t>Use OWASP Top 10</a:t>
            </a:r>
            <a:br>
              <a:rPr sz="1800" b="0">
                <a:solidFill>
                  <a:srgbClr val="33333A"/>
                </a:solidFill>
                <a:latin typeface="Arial"/>
                <a:ea typeface="Arial"/>
                <a:cs typeface="Arial"/>
              </a:rPr>
            </a:br>
            <a:r>
              <a:rPr sz="1800" b="0">
                <a:solidFill>
                  <a:srgbClr val="33333A"/>
                </a:solidFill>
                <a:latin typeface="Arial"/>
                <a:ea typeface="Arial"/>
                <a:cs typeface="Arial"/>
              </a:rPr>
              <a:t>web-security categories.</a:t>
            </a:r>
          </a:p>
        </p:txBody>
      </p:sp>
      <p:sp>
        <p:nvSpPr>
          <p:cNvPr id="1007" name="Prompt rule 2">
            <a:extLst>
              <a:ext uri="{FF2B5EF4-FFF2-40B4-BE49-F238E27FC236}">
                <a16:creationId xmlns:a16="http://schemas.microsoft.com/office/drawing/2014/main" id="{6540FE06-AE5D-4295-90DE-5A254DF2331A}"/>
              </a:ext>
            </a:extLst>
          </p:cNvPr>
          <p:cNvSpPr>
            <a:spLocks noGrp="1"/>
          </p:cNvSpPr>
          <p:nvPr/>
        </p:nvSpPr>
        <p:spPr>
          <a:xfrm>
            <a:off x="7927848" y="2295144"/>
            <a:ext cx="3447288" cy="50292"/>
          </a:xfrm>
          <a:prstGeom prst="rect">
            <a:avLst/>
          </a:prstGeom>
          <a:solidFill>
            <a:srgbClr val="5665AE"/>
          </a:solidFill>
          <a:ln w="0">
            <a:noFill/>
            <a:prstDash val="solid"/>
          </a:ln>
        </p:spPr>
        <p:txBody>
          <a:bodyPr/>
          <a:lstStyle/>
          <a:p>
            <a:endParaRPr lang="en-US"/>
          </a:p>
        </p:txBody>
      </p:sp>
      <p:sp>
        <p:nvSpPr>
          <p:cNvPr id="1008" name="Prompt title 2">
            <a:extLst>
              <a:ext uri="{FF2B5EF4-FFF2-40B4-BE49-F238E27FC236}">
                <a16:creationId xmlns:a16="http://schemas.microsoft.com/office/drawing/2014/main" id="{F46AD09A-2CBB-4C9F-9443-4B01BFB24056}"/>
              </a:ext>
            </a:extLst>
          </p:cNvPr>
          <p:cNvSpPr>
            <a:spLocks noGrp="1"/>
          </p:cNvSpPr>
          <p:nvPr/>
        </p:nvSpPr>
        <p:spPr>
          <a:xfrm>
            <a:off x="7927848" y="2578608"/>
            <a:ext cx="3447288" cy="457200"/>
          </a:xfrm>
          <a:prstGeom prst="rect">
            <a:avLst/>
          </a:prstGeom>
          <a:noFill/>
          <a:ln w="0">
            <a:noFill/>
            <a:prstDash val="solid"/>
          </a:ln>
        </p:spPr>
        <p:txBody>
          <a:bodyPr wrap="square" lIns="0" tIns="0" rIns="0" bIns="0" anchor="t">
            <a:noAutofit/>
          </a:bodyPr>
          <a:lstStyle>
            <a:defPPr>
              <a:defRPr sz="2100" b="1">
                <a:solidFill>
                  <a:srgbClr val="5665AE"/>
                </a:solidFill>
              </a:defRPr>
            </a:defPPr>
            <a:lvl1pPr>
              <a:defRPr sz="2100" b="1">
                <a:solidFill>
                  <a:srgbClr val="5665AE"/>
                </a:solidFill>
              </a:defRPr>
            </a:lvl1pPr>
            <a:lvl2pPr>
              <a:defRPr sz="2100" b="1">
                <a:solidFill>
                  <a:srgbClr val="5665AE"/>
                </a:solidFill>
              </a:defRPr>
            </a:lvl2pPr>
            <a:lvl3pPr>
              <a:defRPr sz="2100" b="1">
                <a:solidFill>
                  <a:srgbClr val="5665AE"/>
                </a:solidFill>
              </a:defRPr>
            </a:lvl3pPr>
            <a:lvl4pPr>
              <a:defRPr sz="2100" b="1">
                <a:solidFill>
                  <a:srgbClr val="5665AE"/>
                </a:solidFill>
              </a:defRPr>
            </a:lvl4pPr>
            <a:lvl5pPr>
              <a:defRPr sz="2100" b="1">
                <a:solidFill>
                  <a:srgbClr val="5665AE"/>
                </a:solidFill>
              </a:defRPr>
            </a:lvl5pPr>
            <a:lvl6pPr>
              <a:defRPr sz="2100" b="1">
                <a:solidFill>
                  <a:srgbClr val="5665AE"/>
                </a:solidFill>
              </a:defRPr>
            </a:lvl6pPr>
            <a:lvl7pPr>
              <a:defRPr sz="2100" b="1">
                <a:solidFill>
                  <a:srgbClr val="5665AE"/>
                </a:solidFill>
              </a:defRPr>
            </a:lvl7pPr>
            <a:lvl8pPr>
              <a:defRPr sz="2100" b="1">
                <a:solidFill>
                  <a:srgbClr val="5665AE"/>
                </a:solidFill>
              </a:defRPr>
            </a:lvl8pPr>
            <a:lvl9pPr>
              <a:defRPr sz="2100" b="1">
                <a:solidFill>
                  <a:srgbClr val="5665AE"/>
                </a:solidFill>
              </a:defRPr>
            </a:lvl9pPr>
          </a:lstStyle>
          <a:p>
            <a:pPr>
              <a:defRPr sz="2100" b="1">
                <a:solidFill>
                  <a:srgbClr val="5665AE"/>
                </a:solidFill>
              </a:defRPr>
            </a:pPr>
            <a:r>
              <a:rPr sz="2100" b="1">
                <a:solidFill>
                  <a:srgbClr val="5665AE"/>
                </a:solidFill>
                <a:latin typeface="Arial"/>
                <a:ea typeface="Arial"/>
                <a:cs typeface="Arial"/>
              </a:rPr>
              <a:t>Explicit scope</a:t>
            </a:r>
          </a:p>
        </p:txBody>
      </p:sp>
      <p:sp>
        <p:nvSpPr>
          <p:cNvPr id="1009" name="Prompt detail 2">
            <a:extLst>
              <a:ext uri="{FF2B5EF4-FFF2-40B4-BE49-F238E27FC236}">
                <a16:creationId xmlns:a16="http://schemas.microsoft.com/office/drawing/2014/main" id="{B233A4A6-450A-416A-9AE5-DB1E69F86152}"/>
              </a:ext>
            </a:extLst>
          </p:cNvPr>
          <p:cNvSpPr>
            <a:spLocks noGrp="1"/>
          </p:cNvSpPr>
          <p:nvPr/>
        </p:nvSpPr>
        <p:spPr>
          <a:xfrm>
            <a:off x="7927848" y="3191256"/>
            <a:ext cx="3447288" cy="731520"/>
          </a:xfrm>
          <a:prstGeom prst="rect">
            <a:avLst/>
          </a:prstGeom>
          <a:noFill/>
          <a:ln w="0">
            <a:noFill/>
            <a:prstDash val="solid"/>
          </a:ln>
        </p:spPr>
        <p:txBody>
          <a:bodyPr wrap="square" lIns="0" tIns="0" rIns="0" bIns="0" anchor="t">
            <a:noAutofit/>
          </a:bodyPr>
          <a:lstStyle>
            <a:defPPr>
              <a:defRPr sz="1800" b="0">
                <a:solidFill>
                  <a:srgbClr val="33333A"/>
                </a:solidFill>
              </a:defRPr>
            </a:defPPr>
            <a:lvl1pPr>
              <a:defRPr sz="1800" b="0">
                <a:solidFill>
                  <a:srgbClr val="33333A"/>
                </a:solidFill>
              </a:defRPr>
            </a:lvl1pPr>
            <a:lvl2pPr>
              <a:defRPr sz="1800" b="0">
                <a:solidFill>
                  <a:srgbClr val="33333A"/>
                </a:solidFill>
              </a:defRPr>
            </a:lvl2pPr>
            <a:lvl3pPr>
              <a:defRPr sz="1800" b="0">
                <a:solidFill>
                  <a:srgbClr val="33333A"/>
                </a:solidFill>
              </a:defRPr>
            </a:lvl3pPr>
            <a:lvl4pPr>
              <a:defRPr sz="1800" b="0">
                <a:solidFill>
                  <a:srgbClr val="33333A"/>
                </a:solidFill>
              </a:defRPr>
            </a:lvl4pPr>
            <a:lvl5pPr>
              <a:defRPr sz="1800" b="0">
                <a:solidFill>
                  <a:srgbClr val="33333A"/>
                </a:solidFill>
              </a:defRPr>
            </a:lvl5pPr>
            <a:lvl6pPr>
              <a:defRPr sz="1800" b="0">
                <a:solidFill>
                  <a:srgbClr val="33333A"/>
                </a:solidFill>
              </a:defRPr>
            </a:lvl6pPr>
            <a:lvl7pPr>
              <a:defRPr sz="1800" b="0">
                <a:solidFill>
                  <a:srgbClr val="33333A"/>
                </a:solidFill>
              </a:defRPr>
            </a:lvl7pPr>
            <a:lvl8pPr>
              <a:defRPr sz="1800" b="0">
                <a:solidFill>
                  <a:srgbClr val="33333A"/>
                </a:solidFill>
              </a:defRPr>
            </a:lvl8pPr>
            <a:lvl9pPr>
              <a:defRPr sz="1800" b="0">
                <a:solidFill>
                  <a:srgbClr val="33333A"/>
                </a:solidFill>
              </a:defRPr>
            </a:lvl9pPr>
          </a:lstStyle>
          <a:p>
            <a:pPr>
              <a:defRPr sz="1800" b="0">
                <a:solidFill>
                  <a:srgbClr val="33333A"/>
                </a:solidFill>
              </a:defRPr>
            </a:pPr>
            <a:r>
              <a:rPr sz="1800" b="0">
                <a:solidFill>
                  <a:srgbClr val="33333A"/>
                </a:solidFill>
                <a:latin typeface="Arial"/>
                <a:ea typeface="Arial"/>
                <a:cs typeface="Arial"/>
              </a:rPr>
              <a:t>Include existing flaws in</a:t>
            </a:r>
            <a:br>
              <a:rPr sz="1800" b="0">
                <a:solidFill>
                  <a:srgbClr val="33333A"/>
                </a:solidFill>
                <a:latin typeface="Arial"/>
                <a:ea typeface="Arial"/>
                <a:cs typeface="Arial"/>
              </a:rPr>
            </a:br>
            <a:r>
              <a:rPr sz="1800" b="0">
                <a:solidFill>
                  <a:srgbClr val="33333A"/>
                </a:solidFill>
                <a:latin typeface="Arial"/>
                <a:ea typeface="Arial"/>
                <a:cs typeface="Arial"/>
              </a:rPr>
              <a:t>touched or relied-on code.</a:t>
            </a:r>
          </a:p>
        </p:txBody>
      </p:sp>
      <p:sp>
        <p:nvSpPr>
          <p:cNvPr id="1010" name="Scope quote background">
            <a:extLst>
              <a:ext uri="{FF2B5EF4-FFF2-40B4-BE49-F238E27FC236}">
                <a16:creationId xmlns:a16="http://schemas.microsoft.com/office/drawing/2014/main" id="{6E19CB34-6AE4-4F94-87F8-5F319612314A}"/>
              </a:ext>
            </a:extLst>
          </p:cNvPr>
          <p:cNvSpPr>
            <a:spLocks noGrp="1"/>
          </p:cNvSpPr>
          <p:nvPr/>
        </p:nvSpPr>
        <p:spPr>
          <a:xfrm>
            <a:off x="812902" y="4361688"/>
            <a:ext cx="10561320" cy="1197864"/>
          </a:xfrm>
          <a:prstGeom prst="rect">
            <a:avLst/>
          </a:prstGeom>
          <a:solidFill>
            <a:srgbClr val="F3F6F0"/>
          </a:solidFill>
          <a:ln w="0">
            <a:noFill/>
            <a:prstDash val="solid"/>
          </a:ln>
        </p:spPr>
        <p:txBody>
          <a:bodyPr/>
          <a:lstStyle/>
          <a:p>
            <a:endParaRPr lang="en-US"/>
          </a:p>
        </p:txBody>
      </p:sp>
      <p:sp>
        <p:nvSpPr>
          <p:cNvPr id="1011" name="Scope quote label">
            <a:extLst>
              <a:ext uri="{FF2B5EF4-FFF2-40B4-BE49-F238E27FC236}">
                <a16:creationId xmlns:a16="http://schemas.microsoft.com/office/drawing/2014/main" id="{8693D0C4-0394-4454-AA9B-A0C8E51B4B6F}"/>
              </a:ext>
            </a:extLst>
          </p:cNvPr>
          <p:cNvSpPr>
            <a:spLocks noGrp="1"/>
          </p:cNvSpPr>
          <p:nvPr/>
        </p:nvSpPr>
        <p:spPr>
          <a:xfrm>
            <a:off x="1005840" y="4535424"/>
            <a:ext cx="9966960" cy="256032"/>
          </a:xfrm>
          <a:prstGeom prst="rect">
            <a:avLst/>
          </a:prstGeom>
          <a:noFill/>
          <a:ln w="0">
            <a:noFill/>
            <a:prstDash val="solid"/>
          </a:ln>
        </p:spPr>
        <p:txBody>
          <a:bodyPr wrap="square" lIns="0" tIns="0" rIns="0" bIns="0" anchor="t">
            <a:noAutofit/>
          </a:bodyPr>
          <a:lstStyle>
            <a:defPPr>
              <a:defRPr sz="1200" b="1">
                <a:solidFill>
                  <a:srgbClr val="4C8835"/>
                </a:solidFill>
              </a:defRPr>
            </a:defPPr>
            <a:lvl1pPr>
              <a:defRPr sz="1200" b="1">
                <a:solidFill>
                  <a:srgbClr val="4C8835"/>
                </a:solidFill>
              </a:defRPr>
            </a:lvl1pPr>
            <a:lvl2pPr>
              <a:defRPr sz="1200" b="1">
                <a:solidFill>
                  <a:srgbClr val="4C8835"/>
                </a:solidFill>
              </a:defRPr>
            </a:lvl2pPr>
            <a:lvl3pPr>
              <a:defRPr sz="1200" b="1">
                <a:solidFill>
                  <a:srgbClr val="4C8835"/>
                </a:solidFill>
              </a:defRPr>
            </a:lvl3pPr>
            <a:lvl4pPr>
              <a:defRPr sz="1200" b="1">
                <a:solidFill>
                  <a:srgbClr val="4C8835"/>
                </a:solidFill>
              </a:defRPr>
            </a:lvl4pPr>
            <a:lvl5pPr>
              <a:defRPr sz="1200" b="1">
                <a:solidFill>
                  <a:srgbClr val="4C8835"/>
                </a:solidFill>
              </a:defRPr>
            </a:lvl5pPr>
            <a:lvl6pPr>
              <a:defRPr sz="1200" b="1">
                <a:solidFill>
                  <a:srgbClr val="4C8835"/>
                </a:solidFill>
              </a:defRPr>
            </a:lvl6pPr>
            <a:lvl7pPr>
              <a:defRPr sz="1200" b="1">
                <a:solidFill>
                  <a:srgbClr val="4C8835"/>
                </a:solidFill>
              </a:defRPr>
            </a:lvl7pPr>
            <a:lvl8pPr>
              <a:defRPr sz="1200" b="1">
                <a:solidFill>
                  <a:srgbClr val="4C8835"/>
                </a:solidFill>
              </a:defRPr>
            </a:lvl8pPr>
            <a:lvl9pPr>
              <a:defRPr sz="1200" b="1">
                <a:solidFill>
                  <a:srgbClr val="4C8835"/>
                </a:solidFill>
              </a:defRPr>
            </a:lvl9pPr>
          </a:lstStyle>
          <a:p>
            <a:pPr>
              <a:defRPr sz="1200" b="1">
                <a:solidFill>
                  <a:srgbClr val="4C8835"/>
                </a:solidFill>
              </a:defRPr>
            </a:pPr>
            <a:r>
              <a:rPr sz="1200" b="1">
                <a:solidFill>
                  <a:srgbClr val="4C8835"/>
                </a:solidFill>
                <a:latin typeface="Arial"/>
                <a:ea typeface="Arial"/>
                <a:cs typeface="Arial"/>
              </a:rPr>
              <a:t>EXCERPT FROM THE STRONGER PROMPT</a:t>
            </a:r>
          </a:p>
        </p:txBody>
      </p:sp>
      <p:sp>
        <p:nvSpPr>
          <p:cNvPr id="1012" name="Scope quote">
            <a:extLst>
              <a:ext uri="{FF2B5EF4-FFF2-40B4-BE49-F238E27FC236}">
                <a16:creationId xmlns:a16="http://schemas.microsoft.com/office/drawing/2014/main" id="{68983141-CF7A-4215-99D6-9816674351A8}"/>
              </a:ext>
            </a:extLst>
          </p:cNvPr>
          <p:cNvSpPr>
            <a:spLocks noGrp="1"/>
          </p:cNvSpPr>
          <p:nvPr/>
        </p:nvSpPr>
        <p:spPr>
          <a:xfrm>
            <a:off x="1005840" y="4882896"/>
            <a:ext cx="9966960" cy="548640"/>
          </a:xfrm>
          <a:prstGeom prst="rect">
            <a:avLst/>
          </a:prstGeom>
          <a:noFill/>
          <a:ln w="0">
            <a:noFill/>
            <a:prstDash val="solid"/>
          </a:ln>
        </p:spPr>
        <p:txBody>
          <a:bodyPr wrap="square" lIns="0" tIns="0" rIns="0" bIns="0" anchor="t">
            <a:noAutofit/>
          </a:bodyPr>
          <a:lstStyle>
            <a:defPPr>
              <a:defRPr sz="2000" b="0">
                <a:solidFill>
                  <a:srgbClr val="33333A"/>
                </a:solidFill>
              </a:defRPr>
            </a:defPPr>
            <a:lvl1pPr>
              <a:defRPr sz="2000" b="0">
                <a:solidFill>
                  <a:srgbClr val="33333A"/>
                </a:solidFill>
              </a:defRPr>
            </a:lvl1pPr>
            <a:lvl2pPr>
              <a:defRPr sz="2000" b="0">
                <a:solidFill>
                  <a:srgbClr val="33333A"/>
                </a:solidFill>
              </a:defRPr>
            </a:lvl2pPr>
            <a:lvl3pPr>
              <a:defRPr sz="2000" b="0">
                <a:solidFill>
                  <a:srgbClr val="33333A"/>
                </a:solidFill>
              </a:defRPr>
            </a:lvl3pPr>
            <a:lvl4pPr>
              <a:defRPr sz="2000" b="0">
                <a:solidFill>
                  <a:srgbClr val="33333A"/>
                </a:solidFill>
              </a:defRPr>
            </a:lvl4pPr>
            <a:lvl5pPr>
              <a:defRPr sz="2000" b="0">
                <a:solidFill>
                  <a:srgbClr val="33333A"/>
                </a:solidFill>
              </a:defRPr>
            </a:lvl5pPr>
            <a:lvl6pPr>
              <a:defRPr sz="2000" b="0">
                <a:solidFill>
                  <a:srgbClr val="33333A"/>
                </a:solidFill>
              </a:defRPr>
            </a:lvl6pPr>
            <a:lvl7pPr>
              <a:defRPr sz="2000" b="0">
                <a:solidFill>
                  <a:srgbClr val="33333A"/>
                </a:solidFill>
              </a:defRPr>
            </a:lvl7pPr>
            <a:lvl8pPr>
              <a:defRPr sz="2000" b="0">
                <a:solidFill>
                  <a:srgbClr val="33333A"/>
                </a:solidFill>
              </a:defRPr>
            </a:lvl8pPr>
            <a:lvl9pPr>
              <a:defRPr sz="2000" b="0">
                <a:solidFill>
                  <a:srgbClr val="33333A"/>
                </a:solidFill>
              </a:defRPr>
            </a:lvl9pPr>
          </a:lstStyle>
          <a:p>
            <a:pPr>
              <a:defRPr sz="2000" b="0">
                <a:solidFill>
                  <a:srgbClr val="33333A"/>
                </a:solidFill>
              </a:defRPr>
            </a:pPr>
            <a:r>
              <a:rPr sz="2000" b="0">
                <a:solidFill>
                  <a:srgbClr val="33333A"/>
                </a:solidFill>
                <a:latin typeface="Arial"/>
                <a:ea typeface="Arial"/>
                <a:cs typeface="Arial"/>
              </a:rPr>
              <a:t>“Also report security flaws in code that this change touches or relies on, even if they existed before this change.”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2009" name="title">
            <a:extLst>
              <a:ext uri="{FF2B5EF4-FFF2-40B4-BE49-F238E27FC236}">
                <a16:creationId xmlns:a16="http://schemas.microsoft.com/office/drawing/2014/main" id="{F088CF9B-6397-4109-B75D-520E211E9958}"/>
              </a:ext>
            </a:extLst>
          </p:cNvPr>
          <p:cNvSpPr>
            <a:spLocks noGrp="1"/>
          </p:cNvSpPr>
          <p:nvPr/>
        </p:nvSpPr>
        <p:spPr>
          <a:xfrm>
            <a:off x="812864" y="819150"/>
            <a:ext cx="10572750" cy="514350"/>
          </a:xfrm>
          <a:prstGeom prst="rect">
            <a:avLst/>
          </a:prstGeom>
          <a:noFill/>
          <a:ln w="0">
            <a:noFill/>
          </a:ln>
        </p:spPr>
        <p:txBody>
          <a:bodyPr lIns="0" tIns="0" rIns="0" bIns="0" anchor="ctr">
            <a:noAutofit/>
          </a:bodyPr>
          <a:lstStyle>
            <a:defPPr>
              <a:defRPr sz="3000" b="1">
                <a:solidFill>
                  <a:srgbClr val="4F8734"/>
                </a:solidFill>
              </a:defRPr>
            </a:defPPr>
            <a:lvl1pPr>
              <a:defRPr sz="3000" b="1">
                <a:solidFill>
                  <a:srgbClr val="4F8734"/>
                </a:solidFill>
              </a:defRPr>
            </a:lvl1pPr>
            <a:lvl2pPr>
              <a:defRPr sz="3000" b="1">
                <a:solidFill>
                  <a:srgbClr val="4F8734"/>
                </a:solidFill>
              </a:defRPr>
            </a:lvl2pPr>
            <a:lvl3pPr>
              <a:defRPr sz="3000" b="1">
                <a:solidFill>
                  <a:srgbClr val="4F8734"/>
                </a:solidFill>
              </a:defRPr>
            </a:lvl3pPr>
            <a:lvl4pPr>
              <a:defRPr sz="3000" b="1">
                <a:solidFill>
                  <a:srgbClr val="4F8734"/>
                </a:solidFill>
              </a:defRPr>
            </a:lvl4pPr>
            <a:lvl5pPr>
              <a:defRPr sz="3000" b="1">
                <a:solidFill>
                  <a:srgbClr val="4F8734"/>
                </a:solidFill>
              </a:defRPr>
            </a:lvl5pPr>
            <a:lvl6pPr>
              <a:defRPr sz="3000" b="1">
                <a:solidFill>
                  <a:srgbClr val="4F8734"/>
                </a:solidFill>
              </a:defRPr>
            </a:lvl6pPr>
            <a:lvl7pPr>
              <a:defRPr sz="3000" b="1">
                <a:solidFill>
                  <a:srgbClr val="4F8734"/>
                </a:solidFill>
              </a:defRPr>
            </a:lvl7pPr>
            <a:lvl8pPr>
              <a:defRPr sz="3000" b="1">
                <a:solidFill>
                  <a:srgbClr val="4F8734"/>
                </a:solidFill>
              </a:defRPr>
            </a:lvl8pPr>
            <a:lvl9pPr>
              <a:defRPr sz="3000" b="1">
                <a:solidFill>
                  <a:srgbClr val="4F8734"/>
                </a:solidFill>
              </a:defRPr>
            </a:lvl9pPr>
          </a:lstStyle>
          <a:p>
            <a:pPr>
              <a:defRPr sz="3000" b="1">
                <a:solidFill>
                  <a:srgbClr val="4F8734"/>
                </a:solidFill>
              </a:defRPr>
            </a:pPr>
            <a:r>
              <a:rPr sz="3000" b="1">
                <a:solidFill>
                  <a:srgbClr val="4F8734"/>
                </a:solidFill>
              </a:rPr>
              <a:t>Round 4: specialized prompt reaches 23 of 24</a:t>
            </a:r>
          </a:p>
        </p:txBody>
      </p:sp>
      <p:sp>
        <p:nvSpPr>
          <p:cNvPr id="2002" name="subtitle">
            <a:extLst>
              <a:ext uri="{FF2B5EF4-FFF2-40B4-BE49-F238E27FC236}">
                <a16:creationId xmlns:a16="http://schemas.microsoft.com/office/drawing/2014/main" id="{97C82B0F-0883-45FD-963F-0E571A1F4BD4}"/>
              </a:ext>
            </a:extLst>
          </p:cNvPr>
          <p:cNvSpPr>
            <a:spLocks noGrp="1"/>
          </p:cNvSpPr>
          <p:nvPr/>
        </p:nvSpPr>
        <p:spPr>
          <a:xfrm>
            <a:off x="812864" y="1390650"/>
            <a:ext cx="10572750" cy="409575"/>
          </a:xfrm>
          <a:prstGeom prst="rect">
            <a:avLst/>
          </a:prstGeom>
          <a:noFill/>
          <a:ln w="0">
            <a:noFill/>
          </a:ln>
        </p:spPr>
        <p:txBody>
          <a:bodyPr lIns="0" tIns="0" rIns="0" bIns="0" anchor="ctr">
            <a:noAutofit/>
          </a:bodyPr>
          <a:lstStyle>
            <a:defPPr>
              <a:defRPr sz="1725" b="0">
                <a:solidFill>
                  <a:srgbClr val="303238"/>
                </a:solidFill>
              </a:defRPr>
            </a:defPPr>
            <a:lvl1pPr>
              <a:defRPr sz="1725" b="0">
                <a:solidFill>
                  <a:srgbClr val="303238"/>
                </a:solidFill>
              </a:defRPr>
            </a:lvl1pPr>
            <a:lvl2pPr>
              <a:defRPr sz="1725" b="0">
                <a:solidFill>
                  <a:srgbClr val="303238"/>
                </a:solidFill>
              </a:defRPr>
            </a:lvl2pPr>
            <a:lvl3pPr>
              <a:defRPr sz="1725" b="0">
                <a:solidFill>
                  <a:srgbClr val="303238"/>
                </a:solidFill>
              </a:defRPr>
            </a:lvl3pPr>
            <a:lvl4pPr>
              <a:defRPr sz="1725" b="0">
                <a:solidFill>
                  <a:srgbClr val="303238"/>
                </a:solidFill>
              </a:defRPr>
            </a:lvl4pPr>
            <a:lvl5pPr>
              <a:defRPr sz="1725" b="0">
                <a:solidFill>
                  <a:srgbClr val="303238"/>
                </a:solidFill>
              </a:defRPr>
            </a:lvl5pPr>
            <a:lvl6pPr>
              <a:defRPr sz="1725" b="0">
                <a:solidFill>
                  <a:srgbClr val="303238"/>
                </a:solidFill>
              </a:defRPr>
            </a:lvl6pPr>
            <a:lvl7pPr>
              <a:defRPr sz="1725" b="0">
                <a:solidFill>
                  <a:srgbClr val="303238"/>
                </a:solidFill>
              </a:defRPr>
            </a:lvl7pPr>
            <a:lvl8pPr>
              <a:defRPr sz="1725" b="0">
                <a:solidFill>
                  <a:srgbClr val="303238"/>
                </a:solidFill>
              </a:defRPr>
            </a:lvl8pPr>
            <a:lvl9pPr>
              <a:defRPr sz="1725" b="0">
                <a:solidFill>
                  <a:srgbClr val="303238"/>
                </a:solidFill>
              </a:defRPr>
            </a:lvl9pPr>
          </a:lstStyle>
          <a:p>
            <a:pPr>
              <a:defRPr sz="1725" b="0">
                <a:solidFill>
                  <a:srgbClr val="303238"/>
                </a:solidFill>
              </a:defRPr>
            </a:pPr>
            <a:r>
              <a:rPr sz="1725" b="0">
                <a:solidFill>
                  <a:srgbClr val="303238"/>
                </a:solidFill>
              </a:rPr>
              <a:t>Fully caught cases by OWASP Top 10 category</a:t>
            </a:r>
          </a:p>
        </p:txBody>
      </p:sp>
      <p:sp>
        <p:nvSpPr>
          <p:cNvPr id="2003" name="original group">
            <a:extLst>
              <a:ext uri="{FF2B5EF4-FFF2-40B4-BE49-F238E27FC236}">
                <a16:creationId xmlns:a16="http://schemas.microsoft.com/office/drawing/2014/main" id="{D2EFCC7F-309E-42B9-8008-843E23762BB7}"/>
              </a:ext>
            </a:extLst>
          </p:cNvPr>
          <p:cNvSpPr>
            <a:spLocks noGrp="1"/>
          </p:cNvSpPr>
          <p:nvPr/>
        </p:nvSpPr>
        <p:spPr>
          <a:xfrm>
            <a:off x="4289489" y="1809750"/>
            <a:ext cx="2838450" cy="228600"/>
          </a:xfrm>
          <a:prstGeom prst="rect">
            <a:avLst/>
          </a:prstGeom>
          <a:noFill/>
          <a:ln w="0">
            <a:noFill/>
          </a:ln>
        </p:spPr>
        <p:txBody>
          <a:bodyPr lIns="0" tIns="0" rIns="0" bIns="0" anchor="ctr">
            <a:noAutofit/>
          </a:bodyPr>
          <a:lstStyle>
            <a:defPPr>
              <a:defRPr sz="1200" b="1">
                <a:solidFill>
                  <a:srgbClr val="0086AC"/>
                </a:solidFill>
              </a:defRPr>
            </a:defPPr>
            <a:lvl1pPr>
              <a:defRPr sz="1200" b="1">
                <a:solidFill>
                  <a:srgbClr val="0086AC"/>
                </a:solidFill>
              </a:defRPr>
            </a:lvl1pPr>
            <a:lvl2pPr>
              <a:defRPr sz="1200" b="1">
                <a:solidFill>
                  <a:srgbClr val="0086AC"/>
                </a:solidFill>
              </a:defRPr>
            </a:lvl2pPr>
            <a:lvl3pPr>
              <a:defRPr sz="1200" b="1">
                <a:solidFill>
                  <a:srgbClr val="0086AC"/>
                </a:solidFill>
              </a:defRPr>
            </a:lvl3pPr>
            <a:lvl4pPr>
              <a:defRPr sz="1200" b="1">
                <a:solidFill>
                  <a:srgbClr val="0086AC"/>
                </a:solidFill>
              </a:defRPr>
            </a:lvl4pPr>
            <a:lvl5pPr>
              <a:defRPr sz="1200" b="1">
                <a:solidFill>
                  <a:srgbClr val="0086AC"/>
                </a:solidFill>
              </a:defRPr>
            </a:lvl5pPr>
            <a:lvl6pPr>
              <a:defRPr sz="1200" b="1">
                <a:solidFill>
                  <a:srgbClr val="0086AC"/>
                </a:solidFill>
              </a:defRPr>
            </a:lvl6pPr>
            <a:lvl7pPr>
              <a:defRPr sz="1200" b="1">
                <a:solidFill>
                  <a:srgbClr val="0086AC"/>
                </a:solidFill>
              </a:defRPr>
            </a:lvl7pPr>
            <a:lvl8pPr>
              <a:defRPr sz="1200" b="1">
                <a:solidFill>
                  <a:srgbClr val="0086AC"/>
                </a:solidFill>
              </a:defRPr>
            </a:lvl8pPr>
            <a:lvl9pPr>
              <a:defRPr sz="1200" b="1">
                <a:solidFill>
                  <a:srgbClr val="0086AC"/>
                </a:solidFill>
              </a:defRPr>
            </a:lvl9pPr>
          </a:lstStyle>
          <a:p>
            <a:pPr>
              <a:defRPr sz="1200" b="1">
                <a:solidFill>
                  <a:srgbClr val="0086AC"/>
                </a:solidFill>
              </a:defRPr>
            </a:pPr>
            <a:r>
              <a:rPr sz="1200" b="1">
                <a:solidFill>
                  <a:srgbClr val="0086AC"/>
                </a:solidFill>
              </a:rPr>
              <a:t>Original study: all 24 cases</a:t>
            </a:r>
          </a:p>
        </p:txBody>
      </p:sp>
      <p:sp>
        <p:nvSpPr>
          <p:cNvPr id="2004" name="followup group">
            <a:extLst>
              <a:ext uri="{FF2B5EF4-FFF2-40B4-BE49-F238E27FC236}">
                <a16:creationId xmlns:a16="http://schemas.microsoft.com/office/drawing/2014/main" id="{E64BAD80-B86C-4D7D-94D7-7EF33B20F9C4}"/>
              </a:ext>
            </a:extLst>
          </p:cNvPr>
          <p:cNvSpPr>
            <a:spLocks noGrp="1"/>
          </p:cNvSpPr>
          <p:nvPr/>
        </p:nvSpPr>
        <p:spPr>
          <a:xfrm>
            <a:off x="7127939" y="1809750"/>
            <a:ext cx="2838450" cy="228600"/>
          </a:xfrm>
          <a:prstGeom prst="rect">
            <a:avLst/>
          </a:prstGeom>
          <a:noFill/>
          <a:ln w="0">
            <a:noFill/>
          </a:ln>
        </p:spPr>
        <p:txBody>
          <a:bodyPr lIns="0" tIns="0" rIns="0" bIns="0" anchor="ctr">
            <a:noAutofit/>
          </a:bodyPr>
          <a:lstStyle>
            <a:defPPr>
              <a:defRPr sz="1200" b="1">
                <a:solidFill>
                  <a:srgbClr val="4F8734"/>
                </a:solidFill>
              </a:defRPr>
            </a:defPPr>
            <a:lvl1pPr>
              <a:defRPr sz="1200" b="1">
                <a:solidFill>
                  <a:srgbClr val="4F8734"/>
                </a:solidFill>
              </a:defRPr>
            </a:lvl1pPr>
            <a:lvl2pPr>
              <a:defRPr sz="1200" b="1">
                <a:solidFill>
                  <a:srgbClr val="4F8734"/>
                </a:solidFill>
              </a:defRPr>
            </a:lvl2pPr>
            <a:lvl3pPr>
              <a:defRPr sz="1200" b="1">
                <a:solidFill>
                  <a:srgbClr val="4F8734"/>
                </a:solidFill>
              </a:defRPr>
            </a:lvl3pPr>
            <a:lvl4pPr>
              <a:defRPr sz="1200" b="1">
                <a:solidFill>
                  <a:srgbClr val="4F8734"/>
                </a:solidFill>
              </a:defRPr>
            </a:lvl4pPr>
            <a:lvl5pPr>
              <a:defRPr sz="1200" b="1">
                <a:solidFill>
                  <a:srgbClr val="4F8734"/>
                </a:solidFill>
              </a:defRPr>
            </a:lvl5pPr>
            <a:lvl6pPr>
              <a:defRPr sz="1200" b="1">
                <a:solidFill>
                  <a:srgbClr val="4F8734"/>
                </a:solidFill>
              </a:defRPr>
            </a:lvl6pPr>
            <a:lvl7pPr>
              <a:defRPr sz="1200" b="1">
                <a:solidFill>
                  <a:srgbClr val="4F8734"/>
                </a:solidFill>
              </a:defRPr>
            </a:lvl7pPr>
            <a:lvl8pPr>
              <a:defRPr sz="1200" b="1">
                <a:solidFill>
                  <a:srgbClr val="4F8734"/>
                </a:solidFill>
              </a:defRPr>
            </a:lvl8pPr>
            <a:lvl9pPr>
              <a:defRPr sz="1200" b="1">
                <a:solidFill>
                  <a:srgbClr val="4F8734"/>
                </a:solidFill>
              </a:defRPr>
            </a:lvl9pPr>
          </a:lstStyle>
          <a:p>
            <a:pPr>
              <a:defRPr sz="1200" b="1">
                <a:solidFill>
                  <a:srgbClr val="4F8734"/>
                </a:solidFill>
              </a:defRPr>
            </a:pPr>
            <a:r>
              <a:rPr sz="1200" b="1">
                <a:solidFill>
                  <a:srgbClr val="4F8734"/>
                </a:solidFill>
              </a:rPr>
              <a:t>Coverage after four-gap retests</a:t>
            </a:r>
          </a:p>
        </p:txBody>
      </p:sp>
      <p:graphicFrame>
        <p:nvGraphicFramePr>
          <p:cNvPr id="2005" name="Table 2004">
            <a:extLst>
              <a:ext uri="{FF2B5EF4-FFF2-40B4-BE49-F238E27FC236}">
                <a16:creationId xmlns:a16="http://schemas.microsoft.com/office/drawing/2014/main" id="{7A6BF881-3BF7-4C1B-A42D-C18BA0EB95D4}"/>
              </a:ext>
            </a:extLst>
          </p:cNvPr>
          <p:cNvGraphicFramePr/>
          <p:nvPr>
            <p:extLst>
              <p:ext uri="{D42A27DB-BD31-4B8C-83A1-F6EECF244321}">
                <p14:modId xmlns:p14="http://schemas.microsoft.com/office/powerpoint/2010/main" val="3508707159"/>
              </p:ext>
            </p:extLst>
          </p:nvPr>
        </p:nvGraphicFramePr>
        <p:xfrm>
          <a:off x="812864" y="2105025"/>
          <a:ext cx="9153525" cy="3219450"/>
        </p:xfrm>
        <a:graphic>
          <a:graphicData uri="http://schemas.openxmlformats.org/drawingml/2006/table">
            <a:tbl>
              <a:tblPr/>
              <a:tblGrid>
                <a:gridCol w="2762250">
                  <a:extLst>
                    <a:ext uri="{9D8B030D-6E8A-4147-A177-3AD203B41FA5}">
                      <a16:colId xmlns:a16="http://schemas.microsoft.com/office/drawing/2014/main" val="20000"/>
                    </a:ext>
                  </a:extLst>
                </a:gridCol>
                <a:gridCol w="714375">
                  <a:extLst>
                    <a:ext uri="{9D8B030D-6E8A-4147-A177-3AD203B41FA5}">
                      <a16:colId xmlns:a16="http://schemas.microsoft.com/office/drawing/2014/main" val="20001"/>
                    </a:ext>
                  </a:extLst>
                </a:gridCol>
                <a:gridCol w="1419225">
                  <a:extLst>
                    <a:ext uri="{9D8B030D-6E8A-4147-A177-3AD203B41FA5}">
                      <a16:colId xmlns:a16="http://schemas.microsoft.com/office/drawing/2014/main" val="20002"/>
                    </a:ext>
                  </a:extLst>
                </a:gridCol>
                <a:gridCol w="1419225">
                  <a:extLst>
                    <a:ext uri="{9D8B030D-6E8A-4147-A177-3AD203B41FA5}">
                      <a16:colId xmlns:a16="http://schemas.microsoft.com/office/drawing/2014/main" val="20003"/>
                    </a:ext>
                  </a:extLst>
                </a:gridCol>
                <a:gridCol w="1419225">
                  <a:extLst>
                    <a:ext uri="{9D8B030D-6E8A-4147-A177-3AD203B41FA5}">
                      <a16:colId xmlns:a16="http://schemas.microsoft.com/office/drawing/2014/main" val="20004"/>
                    </a:ext>
                  </a:extLst>
                </a:gridCol>
                <a:gridCol w="1419225">
                  <a:extLst>
                    <a:ext uri="{9D8B030D-6E8A-4147-A177-3AD203B41FA5}">
                      <a16:colId xmlns:a16="http://schemas.microsoft.com/office/drawing/2014/main" val="20005"/>
                    </a:ext>
                  </a:extLst>
                </a:gridCol>
              </a:tblGrid>
              <a:tr h="542925">
                <a:tc>
                  <a:txBody>
                    <a:bodyPr/>
                    <a:lstStyle/>
                    <a:p>
                      <a:pPr algn="l"/>
                      <a:r>
                        <a:rPr sz="1275" b="1">
                          <a:solidFill>
                            <a:srgbClr val="FFFFFF"/>
                          </a:solidFill>
                        </a:rPr>
                        <a:t>OWASP category</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0086AC"/>
                    </a:solidFill>
                  </a:tcPr>
                </a:tc>
                <a:tc>
                  <a:txBody>
                    <a:bodyPr/>
                    <a:lstStyle/>
                    <a:p>
                      <a:pPr algn="ctr"/>
                      <a:r>
                        <a:rPr sz="1275" b="1">
                          <a:solidFill>
                            <a:srgbClr val="FFFFFF"/>
                          </a:solidFill>
                        </a:rPr>
                        <a:t>Cases</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a:solidFill>
                        <a:srgbClr val="D7DDD4"/>
                      </a:solidFill>
                      <a:prstDash val="solid"/>
                    </a:lnT>
                    <a:lnB w="4763">
                      <a:solidFill>
                        <a:srgbClr val="D7DDD4"/>
                      </a:solidFill>
                      <a:prstDash val="solid"/>
                    </a:lnB>
                    <a:solidFill>
                      <a:srgbClr val="0086AC"/>
                    </a:solidFill>
                  </a:tcPr>
                </a:tc>
                <a:tc>
                  <a:txBody>
                    <a:bodyPr/>
                    <a:lstStyle/>
                    <a:p>
                      <a:pPr algn="ctr"/>
                      <a:r>
                        <a:rPr sz="1275" b="1">
                          <a:solidFill>
                            <a:srgbClr val="FFFFFF"/>
                          </a:solidFill>
                        </a:rPr>
                        <a:t>Haiku 4.5</a:t>
                      </a:r>
                    </a:p>
                    <a:p>
                      <a:pPr algn="ctr"/>
                      <a:r>
                        <a:rPr sz="1275" b="1">
                          <a:solidFill>
                            <a:srgbClr val="FFFFFF"/>
                          </a:solidFill>
                        </a:rPr>
                        <a:t>Generic prompt</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a:solidFill>
                        <a:srgbClr val="D7DDD4"/>
                      </a:solidFill>
                      <a:prstDash val="solid"/>
                    </a:lnT>
                    <a:lnB w="4763">
                      <a:solidFill>
                        <a:srgbClr val="D7DDD4"/>
                      </a:solidFill>
                      <a:prstDash val="solid"/>
                    </a:lnB>
                    <a:solidFill>
                      <a:srgbClr val="0086AC"/>
                    </a:solidFill>
                  </a:tcPr>
                </a:tc>
                <a:tc>
                  <a:txBody>
                    <a:bodyPr/>
                    <a:lstStyle/>
                    <a:p>
                      <a:pPr algn="ctr"/>
                      <a:r>
                        <a:rPr sz="1275" b="1">
                          <a:solidFill>
                            <a:srgbClr val="FFFFFF"/>
                          </a:solidFill>
                        </a:rPr>
                        <a:t>Sonnet 5</a:t>
                      </a:r>
                    </a:p>
                    <a:p>
                      <a:pPr algn="ctr"/>
                      <a:r>
                        <a:rPr sz="1275" b="1">
                          <a:solidFill>
                            <a:srgbClr val="FFFFFF"/>
                          </a:solidFill>
                        </a:rPr>
                        <a:t>Generic prompt</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a:solidFill>
                        <a:srgbClr val="D7DDD4"/>
                      </a:solidFill>
                      <a:prstDash val="solid"/>
                    </a:lnT>
                    <a:lnB w="4763">
                      <a:solidFill>
                        <a:srgbClr val="D7DDD4"/>
                      </a:solidFill>
                      <a:prstDash val="solid"/>
                    </a:lnB>
                    <a:solidFill>
                      <a:srgbClr val="0086AC"/>
                    </a:solidFill>
                  </a:tcPr>
                </a:tc>
                <a:tc>
                  <a:txBody>
                    <a:bodyPr/>
                    <a:lstStyle/>
                    <a:p>
                      <a:pPr algn="ctr"/>
                      <a:r>
                        <a:rPr sz="1275" b="1" dirty="0">
                          <a:solidFill>
                            <a:srgbClr val="FFFFFF"/>
                          </a:solidFill>
                        </a:rPr>
                        <a:t>Sonnet 5</a:t>
                      </a:r>
                    </a:p>
                    <a:p>
                      <a:pPr algn="ctr"/>
                      <a:r>
                        <a:rPr sz="1275" b="1" dirty="0">
                          <a:solidFill>
                            <a:srgbClr val="FFFFFF"/>
                          </a:solidFill>
                        </a:rPr>
                        <a:t>+ related file</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a:solidFill>
                        <a:srgbClr val="D7DDD4"/>
                      </a:solidFill>
                      <a:prstDash val="solid"/>
                    </a:lnT>
                    <a:lnB w="4763">
                      <a:solidFill>
                        <a:srgbClr val="D7DDD4"/>
                      </a:solidFill>
                      <a:prstDash val="solid"/>
                    </a:lnB>
                    <a:solidFill>
                      <a:srgbClr val="0086AC"/>
                    </a:solidFill>
                  </a:tcPr>
                </a:tc>
                <a:tc>
                  <a:txBody>
                    <a:bodyPr/>
                    <a:lstStyle/>
                    <a:p>
                      <a:pPr algn="ctr"/>
                      <a:r>
                        <a:rPr sz="1275" b="1" dirty="0">
                          <a:solidFill>
                            <a:srgbClr val="FFFFFF"/>
                          </a:solidFill>
                        </a:rPr>
                        <a:t>Sonnet 5</a:t>
                      </a:r>
                    </a:p>
                    <a:p>
                      <a:pPr algn="ctr"/>
                      <a:r>
                        <a:rPr sz="1275" b="1" dirty="0">
                          <a:solidFill>
                            <a:srgbClr val="FFFFFF"/>
                          </a:solidFill>
                        </a:rPr>
                        <a:t>+ prompt</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a:solidFill>
                        <a:srgbClr val="D7DDD4"/>
                      </a:solidFill>
                      <a:prstDash val="solid"/>
                    </a:lnT>
                    <a:lnB w="4763">
                      <a:solidFill>
                        <a:srgbClr val="D7DDD4"/>
                      </a:solidFill>
                      <a:prstDash val="solid"/>
                    </a:lnB>
                    <a:solidFill>
                      <a:srgbClr val="4F8734"/>
                    </a:solidFill>
                  </a:tcPr>
                </a:tc>
                <a:extLst>
                  <a:ext uri="{0D108BD9-81ED-4DB2-BD59-A6C34878D82A}">
                    <a16:rowId xmlns:a16="http://schemas.microsoft.com/office/drawing/2014/main" val="10000"/>
                  </a:ext>
                </a:extLst>
              </a:tr>
              <a:tr h="426720">
                <a:tc>
                  <a:txBody>
                    <a:bodyPr/>
                    <a:lstStyle/>
                    <a:p>
                      <a:pPr algn="l"/>
                      <a:r>
                        <a:rPr sz="1425" b="0">
                          <a:solidFill>
                            <a:srgbClr val="303238"/>
                          </a:solidFill>
                        </a:rPr>
                        <a:t>A01  Broken Access Control</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8</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3 of 8</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7 of 8</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8 of 8</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8 of 8</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1F6ED"/>
                    </a:solidFill>
                  </a:tcPr>
                </a:tc>
                <a:extLst>
                  <a:ext uri="{0D108BD9-81ED-4DB2-BD59-A6C34878D82A}">
                    <a16:rowId xmlns:a16="http://schemas.microsoft.com/office/drawing/2014/main" val="10001"/>
                  </a:ext>
                </a:extLst>
              </a:tr>
              <a:tr h="426720">
                <a:tc>
                  <a:txBody>
                    <a:bodyPr/>
                    <a:lstStyle/>
                    <a:p>
                      <a:pPr algn="l"/>
                      <a:r>
                        <a:rPr sz="1425" b="0">
                          <a:solidFill>
                            <a:srgbClr val="303238"/>
                          </a:solidFill>
                        </a:rPr>
                        <a:t>A03  Injection</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11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5 of 11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10 of 11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10 of 11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1">
                          <a:solidFill>
                            <a:srgbClr val="3D7327"/>
                          </a:solidFill>
                        </a:rPr>
                        <a:t>11 of 11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DCEBD2"/>
                    </a:solidFill>
                  </a:tcPr>
                </a:tc>
                <a:extLst>
                  <a:ext uri="{0D108BD9-81ED-4DB2-BD59-A6C34878D82A}">
                    <a16:rowId xmlns:a16="http://schemas.microsoft.com/office/drawing/2014/main" val="10002"/>
                  </a:ext>
                </a:extLst>
              </a:tr>
              <a:tr h="426720">
                <a:tc>
                  <a:txBody>
                    <a:bodyPr/>
                    <a:lstStyle/>
                    <a:p>
                      <a:pPr algn="l"/>
                      <a:r>
                        <a:rPr sz="1425" b="0">
                          <a:solidFill>
                            <a:srgbClr val="303238"/>
                          </a:solidFill>
                        </a:rPr>
                        <a:t>A05  Security Misconfiguration</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0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0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1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1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1F6ED"/>
                    </a:solidFill>
                  </a:tcPr>
                </a:tc>
                <a:extLst>
                  <a:ext uri="{0D108BD9-81ED-4DB2-BD59-A6C34878D82A}">
                    <a16:rowId xmlns:a16="http://schemas.microsoft.com/office/drawing/2014/main" val="10003"/>
                  </a:ext>
                </a:extLst>
              </a:tr>
              <a:tr h="542925">
                <a:tc>
                  <a:txBody>
                    <a:bodyPr/>
                    <a:lstStyle/>
                    <a:p>
                      <a:pPr algn="l"/>
                      <a:r>
                        <a:rPr sz="1425" b="0">
                          <a:solidFill>
                            <a:srgbClr val="303238"/>
                          </a:solidFill>
                        </a:rPr>
                        <a:t>A07  Identification &amp;</a:t>
                      </a:r>
                    </a:p>
                    <a:p>
                      <a:pPr algn="l"/>
                      <a:r>
                        <a:rPr sz="1425" b="0">
                          <a:solidFill>
                            <a:srgbClr val="303238"/>
                          </a:solidFill>
                        </a:rPr>
                        <a:t>Authentication Failures</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3</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0 of 3</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3 of 3</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3 of 3</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3 of 3</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1F6ED"/>
                    </a:solidFill>
                  </a:tcPr>
                </a:tc>
                <a:extLst>
                  <a:ext uri="{0D108BD9-81ED-4DB2-BD59-A6C34878D82A}">
                    <a16:rowId xmlns:a16="http://schemas.microsoft.com/office/drawing/2014/main" val="10004"/>
                  </a:ext>
                </a:extLst>
              </a:tr>
              <a:tr h="426720">
                <a:tc>
                  <a:txBody>
                    <a:bodyPr/>
                    <a:lstStyle/>
                    <a:p>
                      <a:pPr algn="l"/>
                      <a:r>
                        <a:rPr sz="1425" b="0">
                          <a:solidFill>
                            <a:srgbClr val="303238"/>
                          </a:solidFill>
                        </a:rPr>
                        <a:t>A10  SSRF</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0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0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0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0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1F6ED"/>
                    </a:solidFill>
                  </a:tcPr>
                </a:tc>
                <a:extLst>
                  <a:ext uri="{0D108BD9-81ED-4DB2-BD59-A6C34878D82A}">
                    <a16:rowId xmlns:a16="http://schemas.microsoft.com/office/drawing/2014/main" val="10005"/>
                  </a:ext>
                </a:extLst>
              </a:tr>
              <a:tr h="426720">
                <a:tc>
                  <a:txBody>
                    <a:bodyPr/>
                    <a:lstStyle/>
                    <a:p>
                      <a:pPr algn="l"/>
                      <a:r>
                        <a:rPr sz="1575" b="1">
                          <a:solidFill>
                            <a:srgbClr val="303238"/>
                          </a:solidFill>
                        </a:rPr>
                        <a:t>Total caught</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E9F1E3"/>
                    </a:solidFill>
                  </a:tcPr>
                </a:tc>
                <a:tc>
                  <a:txBody>
                    <a:bodyPr/>
                    <a:lstStyle/>
                    <a:p>
                      <a:pPr algn="ctr"/>
                      <a:r>
                        <a:rPr sz="1575" b="1">
                          <a:solidFill>
                            <a:srgbClr val="303238"/>
                          </a:solidFill>
                        </a:rPr>
                        <a:t>24</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E9F1E3"/>
                    </a:solidFill>
                  </a:tcPr>
                </a:tc>
                <a:tc>
                  <a:txBody>
                    <a:bodyPr/>
                    <a:lstStyle/>
                    <a:p>
                      <a:pPr algn="ctr"/>
                      <a:r>
                        <a:rPr sz="1575" b="1">
                          <a:solidFill>
                            <a:srgbClr val="303238"/>
                          </a:solidFill>
                        </a:rPr>
                        <a:t>8 of 24</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E9F1E3"/>
                    </a:solidFill>
                  </a:tcPr>
                </a:tc>
                <a:tc>
                  <a:txBody>
                    <a:bodyPr/>
                    <a:lstStyle/>
                    <a:p>
                      <a:pPr algn="ctr"/>
                      <a:r>
                        <a:rPr sz="1575" b="1">
                          <a:solidFill>
                            <a:srgbClr val="303238"/>
                          </a:solidFill>
                        </a:rPr>
                        <a:t>20 of 24</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E9F1E3"/>
                    </a:solidFill>
                  </a:tcPr>
                </a:tc>
                <a:tc>
                  <a:txBody>
                    <a:bodyPr/>
                    <a:lstStyle/>
                    <a:p>
                      <a:pPr algn="ctr"/>
                      <a:r>
                        <a:rPr sz="1575" b="1">
                          <a:solidFill>
                            <a:srgbClr val="303238"/>
                          </a:solidFill>
                        </a:rPr>
                        <a:t>22 of 24</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E9F1E3"/>
                    </a:solidFill>
                  </a:tcPr>
                </a:tc>
                <a:tc>
                  <a:txBody>
                    <a:bodyPr/>
                    <a:lstStyle/>
                    <a:p>
                      <a:pPr algn="ctr"/>
                      <a:r>
                        <a:rPr sz="1575" b="1" dirty="0">
                          <a:solidFill>
                            <a:srgbClr val="303238"/>
                          </a:solidFill>
                        </a:rPr>
                        <a:t>23 of 24</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E9F1E3"/>
                    </a:solidFill>
                  </a:tcPr>
                </a:tc>
                <a:extLst>
                  <a:ext uri="{0D108BD9-81ED-4DB2-BD59-A6C34878D82A}">
                    <a16:rowId xmlns:a16="http://schemas.microsoft.com/office/drawing/2014/main" val="10006"/>
                  </a:ext>
                </a:extLst>
              </a:tr>
            </a:tbl>
          </a:graphicData>
        </a:graphic>
      </p:graphicFrame>
      <p:sp>
        <p:nvSpPr>
          <p:cNvPr id="2006" name="takeaway">
            <a:extLst>
              <a:ext uri="{FF2B5EF4-FFF2-40B4-BE49-F238E27FC236}">
                <a16:creationId xmlns:a16="http://schemas.microsoft.com/office/drawing/2014/main" id="{6EAA5CD2-B527-4403-B884-3C57C2E50D17}"/>
              </a:ext>
            </a:extLst>
          </p:cNvPr>
          <p:cNvSpPr>
            <a:spLocks noGrp="1"/>
          </p:cNvSpPr>
          <p:nvPr/>
        </p:nvSpPr>
        <p:spPr>
          <a:xfrm>
            <a:off x="812864" y="5476875"/>
            <a:ext cx="10572750" cy="266700"/>
          </a:xfrm>
          <a:prstGeom prst="rect">
            <a:avLst/>
          </a:prstGeom>
          <a:noFill/>
          <a:ln w="0">
            <a:noFill/>
          </a:ln>
        </p:spPr>
        <p:txBody>
          <a:bodyPr lIns="0" tIns="0" rIns="0" bIns="0" anchor="ctr">
            <a:noAutofit/>
          </a:bodyPr>
          <a:lstStyle>
            <a:defPPr>
              <a:defRPr sz="1575" b="1">
                <a:solidFill>
                  <a:srgbClr val="303238"/>
                </a:solidFill>
              </a:defRPr>
            </a:defPPr>
            <a:lvl1pPr>
              <a:defRPr sz="1575" b="1">
                <a:solidFill>
                  <a:srgbClr val="303238"/>
                </a:solidFill>
              </a:defRPr>
            </a:lvl1pPr>
            <a:lvl2pPr>
              <a:defRPr sz="1575" b="1">
                <a:solidFill>
                  <a:srgbClr val="303238"/>
                </a:solidFill>
              </a:defRPr>
            </a:lvl2pPr>
            <a:lvl3pPr>
              <a:defRPr sz="1575" b="1">
                <a:solidFill>
                  <a:srgbClr val="303238"/>
                </a:solidFill>
              </a:defRPr>
            </a:lvl3pPr>
            <a:lvl4pPr>
              <a:defRPr sz="1575" b="1">
                <a:solidFill>
                  <a:srgbClr val="303238"/>
                </a:solidFill>
              </a:defRPr>
            </a:lvl4pPr>
            <a:lvl5pPr>
              <a:defRPr sz="1575" b="1">
                <a:solidFill>
                  <a:srgbClr val="303238"/>
                </a:solidFill>
              </a:defRPr>
            </a:lvl5pPr>
            <a:lvl6pPr>
              <a:defRPr sz="1575" b="1">
                <a:solidFill>
                  <a:srgbClr val="303238"/>
                </a:solidFill>
              </a:defRPr>
            </a:lvl6pPr>
            <a:lvl7pPr>
              <a:defRPr sz="1575" b="1">
                <a:solidFill>
                  <a:srgbClr val="303238"/>
                </a:solidFill>
              </a:defRPr>
            </a:lvl7pPr>
            <a:lvl8pPr>
              <a:defRPr sz="1575" b="1">
                <a:solidFill>
                  <a:srgbClr val="303238"/>
                </a:solidFill>
              </a:defRPr>
            </a:lvl8pPr>
            <a:lvl9pPr>
              <a:defRPr sz="1575" b="1">
                <a:solidFill>
                  <a:srgbClr val="303238"/>
                </a:solidFill>
              </a:defRPr>
            </a:lvl9pPr>
          </a:lstStyle>
          <a:p>
            <a:pPr>
              <a:defRPr sz="1575" b="1">
                <a:solidFill>
                  <a:srgbClr val="303238"/>
                </a:solidFill>
              </a:defRPr>
            </a:pPr>
            <a:r>
              <a:rPr sz="1575" b="1">
                <a:solidFill>
                  <a:srgbClr val="303238"/>
                </a:solidFill>
              </a:rPr>
              <a:t>The specialized prompt adds stored XSS with the same related files.</a:t>
            </a:r>
          </a:p>
        </p:txBody>
      </p:sp>
      <p:sp>
        <p:nvSpPr>
          <p:cNvPr id="2007" name="detail">
            <a:extLst>
              <a:ext uri="{FF2B5EF4-FFF2-40B4-BE49-F238E27FC236}">
                <a16:creationId xmlns:a16="http://schemas.microsoft.com/office/drawing/2014/main" id="{313793CC-0642-467A-B836-5D138EC69D09}"/>
              </a:ext>
            </a:extLst>
          </p:cNvPr>
          <p:cNvSpPr>
            <a:spLocks noGrp="1"/>
          </p:cNvSpPr>
          <p:nvPr/>
        </p:nvSpPr>
        <p:spPr>
          <a:xfrm>
            <a:off x="812864" y="5781675"/>
            <a:ext cx="10572750" cy="266700"/>
          </a:xfrm>
          <a:prstGeom prst="rect">
            <a:avLst/>
          </a:prstGeom>
          <a:noFill/>
          <a:ln w="0">
            <a:noFill/>
          </a:ln>
        </p:spPr>
        <p:txBody>
          <a:bodyPr lIns="0" tIns="0" rIns="0" bIns="0" anchor="ctr">
            <a:noAutofit/>
          </a:bodyPr>
          <a:lstStyle>
            <a:defPPr>
              <a:defRPr sz="1500" b="0">
                <a:solidFill>
                  <a:srgbClr val="505050"/>
                </a:solidFill>
              </a:defRPr>
            </a:defPPr>
            <a:lvl1pPr>
              <a:defRPr sz="1500" b="0">
                <a:solidFill>
                  <a:srgbClr val="505050"/>
                </a:solidFill>
              </a:defRPr>
            </a:lvl1pPr>
            <a:lvl2pPr>
              <a:defRPr sz="1500" b="0">
                <a:solidFill>
                  <a:srgbClr val="505050"/>
                </a:solidFill>
              </a:defRPr>
            </a:lvl2pPr>
            <a:lvl3pPr>
              <a:defRPr sz="1500" b="0">
                <a:solidFill>
                  <a:srgbClr val="505050"/>
                </a:solidFill>
              </a:defRPr>
            </a:lvl3pPr>
            <a:lvl4pPr>
              <a:defRPr sz="1500" b="0">
                <a:solidFill>
                  <a:srgbClr val="505050"/>
                </a:solidFill>
              </a:defRPr>
            </a:lvl4pPr>
            <a:lvl5pPr>
              <a:defRPr sz="1500" b="0">
                <a:solidFill>
                  <a:srgbClr val="505050"/>
                </a:solidFill>
              </a:defRPr>
            </a:lvl5pPr>
            <a:lvl6pPr>
              <a:defRPr sz="1500" b="0">
                <a:solidFill>
                  <a:srgbClr val="505050"/>
                </a:solidFill>
              </a:defRPr>
            </a:lvl6pPr>
            <a:lvl7pPr>
              <a:defRPr sz="1500" b="0">
                <a:solidFill>
                  <a:srgbClr val="505050"/>
                </a:solidFill>
              </a:defRPr>
            </a:lvl7pPr>
            <a:lvl8pPr>
              <a:defRPr sz="1500" b="0">
                <a:solidFill>
                  <a:srgbClr val="505050"/>
                </a:solidFill>
              </a:defRPr>
            </a:lvl8pPr>
            <a:lvl9pPr>
              <a:defRPr sz="1500" b="0">
                <a:solidFill>
                  <a:srgbClr val="505050"/>
                </a:solidFill>
              </a:defRPr>
            </a:lvl9pPr>
          </a:lstStyle>
          <a:p>
            <a:pPr>
              <a:defRPr sz="1500" b="0">
                <a:solidFill>
                  <a:srgbClr val="505050"/>
                </a:solidFill>
              </a:defRPr>
            </a:pPr>
            <a:r>
              <a:rPr sz="1500" b="0">
                <a:solidFill>
                  <a:srgbClr val="505050"/>
                </a:solidFill>
              </a:rPr>
              <a:t>One case remains: PDF-rendering SSRF. What behavior must the PDF preserve?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4">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cxnSp>
        <p:nvCxnSpPr>
          <p:cNvPr id="2017" name="Straight Arrow Connector 2016">
            <a:extLst>
              <a:ext uri="{FF2B5EF4-FFF2-40B4-BE49-F238E27FC236}">
                <a16:creationId xmlns:a16="http://schemas.microsoft.com/office/drawing/2014/main" id="{7D860485-F47D-493B-852F-41A2773A0385}"/>
              </a:ext>
            </a:extLst>
          </p:cNvPr>
          <p:cNvCxnSpPr>
            <a:stCxn id="2009" idx="3"/>
            <a:endCxn id="2012" idx="1"/>
          </p:cNvCxnSpPr>
          <p:nvPr/>
        </p:nvCxnSpPr>
        <p:spPr>
          <a:xfrm>
            <a:off x="8623364" y="3381375"/>
            <a:ext cx="333375" cy="0"/>
          </a:xfrm>
          <a:prstGeom prst="straightConnector1">
            <a:avLst/>
          </a:prstGeom>
          <a:ln w="23813">
            <a:solidFill>
              <a:srgbClr val="4F8734"/>
            </a:solidFill>
            <a:tailEnd type="triangle" w="med" len="med"/>
          </a:ln>
        </p:spPr>
      </p:cxnSp>
      <p:cxnSp>
        <p:nvCxnSpPr>
          <p:cNvPr id="2016" name="Straight Arrow Connector 2015">
            <a:extLst>
              <a:ext uri="{FF2B5EF4-FFF2-40B4-BE49-F238E27FC236}">
                <a16:creationId xmlns:a16="http://schemas.microsoft.com/office/drawing/2014/main" id="{1D799447-CAB9-4B44-8A5D-2AC8BA9C5A06}"/>
              </a:ext>
            </a:extLst>
          </p:cNvPr>
          <p:cNvCxnSpPr>
            <a:stCxn id="2006" idx="3"/>
            <a:endCxn id="2009" idx="1"/>
          </p:cNvCxnSpPr>
          <p:nvPr/>
        </p:nvCxnSpPr>
        <p:spPr>
          <a:xfrm>
            <a:off x="5908739" y="3381375"/>
            <a:ext cx="333375" cy="0"/>
          </a:xfrm>
          <a:prstGeom prst="straightConnector1">
            <a:avLst/>
          </a:prstGeom>
          <a:ln w="23813">
            <a:solidFill>
              <a:srgbClr val="4F8734"/>
            </a:solidFill>
            <a:tailEnd type="triangle" w="med" len="med"/>
          </a:ln>
        </p:spPr>
      </p:cxnSp>
      <p:cxnSp>
        <p:nvCxnSpPr>
          <p:cNvPr id="2015" name="Straight Arrow Connector 2014">
            <a:extLst>
              <a:ext uri="{FF2B5EF4-FFF2-40B4-BE49-F238E27FC236}">
                <a16:creationId xmlns:a16="http://schemas.microsoft.com/office/drawing/2014/main" id="{0C2745F0-276C-4FE7-A82D-02C0C6C5D5C2}"/>
              </a:ext>
            </a:extLst>
          </p:cNvPr>
          <p:cNvCxnSpPr>
            <a:stCxn id="2003" idx="3"/>
            <a:endCxn id="2006" idx="1"/>
          </p:cNvCxnSpPr>
          <p:nvPr/>
        </p:nvCxnSpPr>
        <p:spPr>
          <a:xfrm>
            <a:off x="3194114" y="3381375"/>
            <a:ext cx="333375" cy="0"/>
          </a:xfrm>
          <a:prstGeom prst="straightConnector1">
            <a:avLst/>
          </a:prstGeom>
          <a:ln w="23813">
            <a:solidFill>
              <a:srgbClr val="4F8734"/>
            </a:solidFill>
            <a:tailEnd type="triangle" w="med" len="med"/>
          </a:ln>
        </p:spPr>
      </p:cxnSp>
      <p:sp>
        <p:nvSpPr>
          <p:cNvPr id="2021" name="title">
            <a:extLst>
              <a:ext uri="{FF2B5EF4-FFF2-40B4-BE49-F238E27FC236}">
                <a16:creationId xmlns:a16="http://schemas.microsoft.com/office/drawing/2014/main" id="{1519CE75-3EF7-4DA3-BE96-A8B4AC6FB5E1}"/>
              </a:ext>
            </a:extLst>
          </p:cNvPr>
          <p:cNvSpPr>
            <a:spLocks noGrp="1"/>
          </p:cNvSpPr>
          <p:nvPr/>
        </p:nvSpPr>
        <p:spPr>
          <a:xfrm>
            <a:off x="812864" y="819150"/>
            <a:ext cx="10572750" cy="514350"/>
          </a:xfrm>
          <a:prstGeom prst="rect">
            <a:avLst/>
          </a:prstGeom>
          <a:noFill/>
          <a:ln w="0">
            <a:noFill/>
          </a:ln>
        </p:spPr>
        <p:txBody>
          <a:bodyPr lIns="0" tIns="0" rIns="0" bIns="0" anchor="ctr">
            <a:noAutofit/>
          </a:bodyPr>
          <a:lstStyle>
            <a:defPPr>
              <a:defRPr sz="3000" b="1">
                <a:solidFill>
                  <a:srgbClr val="4F8734"/>
                </a:solidFill>
              </a:defRPr>
            </a:defPPr>
            <a:lvl1pPr>
              <a:defRPr sz="3000" b="1">
                <a:solidFill>
                  <a:srgbClr val="4F8734"/>
                </a:solidFill>
              </a:defRPr>
            </a:lvl1pPr>
            <a:lvl2pPr>
              <a:defRPr sz="3000" b="1">
                <a:solidFill>
                  <a:srgbClr val="4F8734"/>
                </a:solidFill>
              </a:defRPr>
            </a:lvl2pPr>
            <a:lvl3pPr>
              <a:defRPr sz="3000" b="1">
                <a:solidFill>
                  <a:srgbClr val="4F8734"/>
                </a:solidFill>
              </a:defRPr>
            </a:lvl3pPr>
            <a:lvl4pPr>
              <a:defRPr sz="3000" b="1">
                <a:solidFill>
                  <a:srgbClr val="4F8734"/>
                </a:solidFill>
              </a:defRPr>
            </a:lvl4pPr>
            <a:lvl5pPr>
              <a:defRPr sz="3000" b="1">
                <a:solidFill>
                  <a:srgbClr val="4F8734"/>
                </a:solidFill>
              </a:defRPr>
            </a:lvl5pPr>
            <a:lvl6pPr>
              <a:defRPr sz="3000" b="1">
                <a:solidFill>
                  <a:srgbClr val="4F8734"/>
                </a:solidFill>
              </a:defRPr>
            </a:lvl6pPr>
            <a:lvl7pPr>
              <a:defRPr sz="3000" b="1">
                <a:solidFill>
                  <a:srgbClr val="4F8734"/>
                </a:solidFill>
              </a:defRPr>
            </a:lvl7pPr>
            <a:lvl8pPr>
              <a:defRPr sz="3000" b="1">
                <a:solidFill>
                  <a:srgbClr val="4F8734"/>
                </a:solidFill>
              </a:defRPr>
            </a:lvl8pPr>
            <a:lvl9pPr>
              <a:defRPr sz="3000" b="1">
                <a:solidFill>
                  <a:srgbClr val="4F8734"/>
                </a:solidFill>
              </a:defRPr>
            </a:lvl9pPr>
          </a:lstStyle>
          <a:p>
            <a:pPr>
              <a:defRPr sz="3000" b="1">
                <a:solidFill>
                  <a:srgbClr val="4F8734"/>
                </a:solidFill>
              </a:defRPr>
            </a:pPr>
            <a:r>
              <a:rPr sz="3000" b="1" dirty="0">
                <a:solidFill>
                  <a:srgbClr val="4F8734"/>
                </a:solidFill>
              </a:rPr>
              <a:t>Trace</a:t>
            </a:r>
            <a:r>
              <a:rPr lang="en-US" sz="3000" b="1" dirty="0">
                <a:solidFill>
                  <a:srgbClr val="4F8734"/>
                </a:solidFill>
              </a:rPr>
              <a:t> engine (OSTF format)</a:t>
            </a:r>
            <a:r>
              <a:rPr sz="3000" b="1" dirty="0">
                <a:solidFill>
                  <a:srgbClr val="4F8734"/>
                </a:solidFill>
              </a:rPr>
              <a:t> links code to requirements</a:t>
            </a:r>
          </a:p>
        </p:txBody>
      </p:sp>
      <p:sp>
        <p:nvSpPr>
          <p:cNvPr id="2002" name="subtitle">
            <a:extLst>
              <a:ext uri="{FF2B5EF4-FFF2-40B4-BE49-F238E27FC236}">
                <a16:creationId xmlns:a16="http://schemas.microsoft.com/office/drawing/2014/main" id="{A4C2432E-E083-4EF3-8B36-138B65F42F65}"/>
              </a:ext>
            </a:extLst>
          </p:cNvPr>
          <p:cNvSpPr>
            <a:spLocks noGrp="1"/>
          </p:cNvSpPr>
          <p:nvPr/>
        </p:nvSpPr>
        <p:spPr>
          <a:xfrm>
            <a:off x="812864" y="1390650"/>
            <a:ext cx="10572750" cy="409575"/>
          </a:xfrm>
          <a:prstGeom prst="rect">
            <a:avLst/>
          </a:prstGeom>
          <a:noFill/>
          <a:ln w="0">
            <a:noFill/>
          </a:ln>
        </p:spPr>
        <p:txBody>
          <a:bodyPr lIns="0" tIns="0" rIns="0" bIns="0" anchor="ctr">
            <a:noAutofit/>
          </a:bodyPr>
          <a:lstStyle>
            <a:defPPr>
              <a:defRPr sz="1725" b="0">
                <a:solidFill>
                  <a:srgbClr val="303238"/>
                </a:solidFill>
              </a:defRPr>
            </a:defPPr>
            <a:lvl1pPr>
              <a:defRPr sz="1725" b="0">
                <a:solidFill>
                  <a:srgbClr val="303238"/>
                </a:solidFill>
              </a:defRPr>
            </a:lvl1pPr>
            <a:lvl2pPr>
              <a:defRPr sz="1725" b="0">
                <a:solidFill>
                  <a:srgbClr val="303238"/>
                </a:solidFill>
              </a:defRPr>
            </a:lvl2pPr>
            <a:lvl3pPr>
              <a:defRPr sz="1725" b="0">
                <a:solidFill>
                  <a:srgbClr val="303238"/>
                </a:solidFill>
              </a:defRPr>
            </a:lvl3pPr>
            <a:lvl4pPr>
              <a:defRPr sz="1725" b="0">
                <a:solidFill>
                  <a:srgbClr val="303238"/>
                </a:solidFill>
              </a:defRPr>
            </a:lvl4pPr>
            <a:lvl5pPr>
              <a:defRPr sz="1725" b="0">
                <a:solidFill>
                  <a:srgbClr val="303238"/>
                </a:solidFill>
              </a:defRPr>
            </a:lvl5pPr>
            <a:lvl6pPr>
              <a:defRPr sz="1725" b="0">
                <a:solidFill>
                  <a:srgbClr val="303238"/>
                </a:solidFill>
              </a:defRPr>
            </a:lvl6pPr>
            <a:lvl7pPr>
              <a:defRPr sz="1725" b="0">
                <a:solidFill>
                  <a:srgbClr val="303238"/>
                </a:solidFill>
              </a:defRPr>
            </a:lvl7pPr>
            <a:lvl8pPr>
              <a:defRPr sz="1725" b="0">
                <a:solidFill>
                  <a:srgbClr val="303238"/>
                </a:solidFill>
              </a:defRPr>
            </a:lvl8pPr>
            <a:lvl9pPr>
              <a:defRPr sz="1725" b="0">
                <a:solidFill>
                  <a:srgbClr val="303238"/>
                </a:solidFill>
              </a:defRPr>
            </a:lvl9pPr>
          </a:lstStyle>
          <a:p>
            <a:pPr>
              <a:defRPr sz="1725" b="0">
                <a:solidFill>
                  <a:srgbClr val="303238"/>
                </a:solidFill>
              </a:defRPr>
            </a:pPr>
            <a:r>
              <a:rPr sz="1725" b="0">
                <a:solidFill>
                  <a:srgbClr val="303238"/>
                </a:solidFill>
              </a:rPr>
              <a:t>One case remains. What is PDF export required to prevent?</a:t>
            </a:r>
          </a:p>
        </p:txBody>
      </p:sp>
      <p:sp>
        <p:nvSpPr>
          <p:cNvPr id="2003" name="trace step 0">
            <a:extLst>
              <a:ext uri="{FF2B5EF4-FFF2-40B4-BE49-F238E27FC236}">
                <a16:creationId xmlns:a16="http://schemas.microsoft.com/office/drawing/2014/main" id="{5A80C0A2-53EC-474A-B5A2-35507F8BE88D}"/>
              </a:ext>
            </a:extLst>
          </p:cNvPr>
          <p:cNvSpPr>
            <a:spLocks noGrp="1"/>
          </p:cNvSpPr>
          <p:nvPr/>
        </p:nvSpPr>
        <p:spPr>
          <a:xfrm>
            <a:off x="812864" y="2543175"/>
            <a:ext cx="2381250" cy="1676400"/>
          </a:xfrm>
          <a:prstGeom prst="roundRect">
            <a:avLst>
              <a:gd name="adj" fmla="val 4545"/>
            </a:avLst>
          </a:prstGeom>
          <a:solidFill>
            <a:srgbClr val="F1F5F5"/>
          </a:solidFill>
          <a:ln w="9525">
            <a:solidFill>
              <a:srgbClr val="CDD9DB"/>
            </a:solidFill>
          </a:ln>
        </p:spPr>
        <p:txBody>
          <a:bodyPr/>
          <a:lstStyle/>
          <a:p>
            <a:endParaRPr lang="en-US"/>
          </a:p>
        </p:txBody>
      </p:sp>
      <p:sp>
        <p:nvSpPr>
          <p:cNvPr id="2004" name="step heading 0">
            <a:extLst>
              <a:ext uri="{FF2B5EF4-FFF2-40B4-BE49-F238E27FC236}">
                <a16:creationId xmlns:a16="http://schemas.microsoft.com/office/drawing/2014/main" id="{4334065A-4213-4D01-9784-96BFCF0765D5}"/>
              </a:ext>
            </a:extLst>
          </p:cNvPr>
          <p:cNvSpPr>
            <a:spLocks noGrp="1"/>
          </p:cNvSpPr>
          <p:nvPr/>
        </p:nvSpPr>
        <p:spPr>
          <a:xfrm>
            <a:off x="984314" y="2733675"/>
            <a:ext cx="2038350" cy="371475"/>
          </a:xfrm>
          <a:prstGeom prst="rect">
            <a:avLst/>
          </a:prstGeom>
          <a:noFill/>
          <a:ln w="0">
            <a:noFill/>
          </a:ln>
        </p:spPr>
        <p:txBody>
          <a:bodyPr lIns="0" tIns="0" rIns="0" bIns="0" anchor="ctr">
            <a:noAutofit/>
          </a:bodyPr>
          <a:lstStyle>
            <a:defPPr>
              <a:defRPr sz="2025" b="1">
                <a:solidFill>
                  <a:srgbClr val="0086AC"/>
                </a:solidFill>
              </a:defRPr>
            </a:defPPr>
            <a:lvl1pPr>
              <a:defRPr sz="2025" b="1">
                <a:solidFill>
                  <a:srgbClr val="0086AC"/>
                </a:solidFill>
              </a:defRPr>
            </a:lvl1pPr>
            <a:lvl2pPr>
              <a:defRPr sz="2025" b="1">
                <a:solidFill>
                  <a:srgbClr val="0086AC"/>
                </a:solidFill>
              </a:defRPr>
            </a:lvl2pPr>
            <a:lvl3pPr>
              <a:defRPr sz="2025" b="1">
                <a:solidFill>
                  <a:srgbClr val="0086AC"/>
                </a:solidFill>
              </a:defRPr>
            </a:lvl3pPr>
            <a:lvl4pPr>
              <a:defRPr sz="2025" b="1">
                <a:solidFill>
                  <a:srgbClr val="0086AC"/>
                </a:solidFill>
              </a:defRPr>
            </a:lvl4pPr>
            <a:lvl5pPr>
              <a:defRPr sz="2025" b="1">
                <a:solidFill>
                  <a:srgbClr val="0086AC"/>
                </a:solidFill>
              </a:defRPr>
            </a:lvl5pPr>
            <a:lvl6pPr>
              <a:defRPr sz="2025" b="1">
                <a:solidFill>
                  <a:srgbClr val="0086AC"/>
                </a:solidFill>
              </a:defRPr>
            </a:lvl6pPr>
            <a:lvl7pPr>
              <a:defRPr sz="2025" b="1">
                <a:solidFill>
                  <a:srgbClr val="0086AC"/>
                </a:solidFill>
              </a:defRPr>
            </a:lvl7pPr>
            <a:lvl8pPr>
              <a:defRPr sz="2025" b="1">
                <a:solidFill>
                  <a:srgbClr val="0086AC"/>
                </a:solidFill>
              </a:defRPr>
            </a:lvl8pPr>
            <a:lvl9pPr>
              <a:defRPr sz="2025" b="1">
                <a:solidFill>
                  <a:srgbClr val="0086AC"/>
                </a:solidFill>
              </a:defRPr>
            </a:lvl9pPr>
          </a:lstStyle>
          <a:p>
            <a:pPr>
              <a:defRPr sz="2025" b="1">
                <a:solidFill>
                  <a:srgbClr val="0086AC"/>
                </a:solidFill>
              </a:defRPr>
            </a:pPr>
            <a:r>
              <a:rPr sz="2025" b="1">
                <a:solidFill>
                  <a:srgbClr val="0086AC"/>
                </a:solidFill>
              </a:rPr>
              <a:t>Changed code</a:t>
            </a:r>
          </a:p>
        </p:txBody>
      </p:sp>
      <p:sp>
        <p:nvSpPr>
          <p:cNvPr id="2005" name="step body 0">
            <a:extLst>
              <a:ext uri="{FF2B5EF4-FFF2-40B4-BE49-F238E27FC236}">
                <a16:creationId xmlns:a16="http://schemas.microsoft.com/office/drawing/2014/main" id="{0CEC600D-3D51-4B68-8B76-8E634C784CE4}"/>
              </a:ext>
            </a:extLst>
          </p:cNvPr>
          <p:cNvSpPr>
            <a:spLocks noGrp="1"/>
          </p:cNvSpPr>
          <p:nvPr/>
        </p:nvSpPr>
        <p:spPr>
          <a:xfrm>
            <a:off x="984314" y="3219450"/>
            <a:ext cx="2038350" cy="723900"/>
          </a:xfrm>
          <a:prstGeom prst="rect">
            <a:avLst/>
          </a:prstGeom>
          <a:noFill/>
          <a:ln w="0">
            <a:noFill/>
          </a:ln>
        </p:spPr>
        <p:txBody>
          <a:bodyPr lIns="0" tIns="0" rIns="0" bIns="0" anchor="ctr">
            <a:noAutofit/>
          </a:bodyPr>
          <a:lstStyle>
            <a:defPPr>
              <a:defRPr sz="1725" b="0">
                <a:solidFill>
                  <a:srgbClr val="303238"/>
                </a:solidFill>
              </a:defRPr>
            </a:defPPr>
            <a:lvl1pPr>
              <a:defRPr sz="1725" b="0">
                <a:solidFill>
                  <a:srgbClr val="303238"/>
                </a:solidFill>
              </a:defRPr>
            </a:lvl1pPr>
            <a:lvl2pPr>
              <a:defRPr sz="1725" b="0">
                <a:solidFill>
                  <a:srgbClr val="303238"/>
                </a:solidFill>
              </a:defRPr>
            </a:lvl2pPr>
            <a:lvl3pPr>
              <a:defRPr sz="1725" b="0">
                <a:solidFill>
                  <a:srgbClr val="303238"/>
                </a:solidFill>
              </a:defRPr>
            </a:lvl3pPr>
            <a:lvl4pPr>
              <a:defRPr sz="1725" b="0">
                <a:solidFill>
                  <a:srgbClr val="303238"/>
                </a:solidFill>
              </a:defRPr>
            </a:lvl4pPr>
            <a:lvl5pPr>
              <a:defRPr sz="1725" b="0">
                <a:solidFill>
                  <a:srgbClr val="303238"/>
                </a:solidFill>
              </a:defRPr>
            </a:lvl5pPr>
            <a:lvl6pPr>
              <a:defRPr sz="1725" b="0">
                <a:solidFill>
                  <a:srgbClr val="303238"/>
                </a:solidFill>
              </a:defRPr>
            </a:lvl6pPr>
            <a:lvl7pPr>
              <a:defRPr sz="1725" b="0">
                <a:solidFill>
                  <a:srgbClr val="303238"/>
                </a:solidFill>
              </a:defRPr>
            </a:lvl7pPr>
            <a:lvl8pPr>
              <a:defRPr sz="1725" b="0">
                <a:solidFill>
                  <a:srgbClr val="303238"/>
                </a:solidFill>
              </a:defRPr>
            </a:lvl8pPr>
            <a:lvl9pPr>
              <a:defRPr sz="1725" b="0">
                <a:solidFill>
                  <a:srgbClr val="303238"/>
                </a:solidFill>
              </a:defRPr>
            </a:lvl9pPr>
          </a:lstStyle>
          <a:p>
            <a:pPr>
              <a:defRPr sz="1725" b="0">
                <a:solidFill>
                  <a:srgbClr val="303238"/>
                </a:solidFill>
              </a:defRPr>
            </a:pPr>
            <a:r>
              <a:rPr sz="1725" b="0">
                <a:solidFill>
                  <a:srgbClr val="303238"/>
                </a:solidFill>
              </a:rPr>
              <a:t>Eye Exam</a:t>
            </a:r>
          </a:p>
          <a:p>
            <a:pPr>
              <a:defRPr sz="1725" b="0">
                <a:solidFill>
                  <a:srgbClr val="303238"/>
                </a:solidFill>
              </a:defRPr>
            </a:pPr>
            <a:r>
              <a:rPr sz="1725" b="0">
                <a:solidFill>
                  <a:srgbClr val="303238"/>
                </a:solidFill>
              </a:rPr>
              <a:t>PDF export</a:t>
            </a:r>
          </a:p>
        </p:txBody>
      </p:sp>
      <p:sp>
        <p:nvSpPr>
          <p:cNvPr id="2006" name="trace step 1">
            <a:extLst>
              <a:ext uri="{FF2B5EF4-FFF2-40B4-BE49-F238E27FC236}">
                <a16:creationId xmlns:a16="http://schemas.microsoft.com/office/drawing/2014/main" id="{2343B006-36FA-4DB6-9F48-C8D35B6A1F1A}"/>
              </a:ext>
            </a:extLst>
          </p:cNvPr>
          <p:cNvSpPr>
            <a:spLocks noGrp="1"/>
          </p:cNvSpPr>
          <p:nvPr/>
        </p:nvSpPr>
        <p:spPr>
          <a:xfrm>
            <a:off x="3527489" y="2543175"/>
            <a:ext cx="2381250" cy="1676400"/>
          </a:xfrm>
          <a:prstGeom prst="roundRect">
            <a:avLst>
              <a:gd name="adj" fmla="val 4545"/>
            </a:avLst>
          </a:prstGeom>
          <a:solidFill>
            <a:srgbClr val="E8F1E1"/>
          </a:solidFill>
          <a:ln w="9525">
            <a:solidFill>
              <a:srgbClr val="4F8734"/>
            </a:solidFill>
          </a:ln>
        </p:spPr>
        <p:txBody>
          <a:bodyPr/>
          <a:lstStyle/>
          <a:p>
            <a:endParaRPr lang="en-US"/>
          </a:p>
        </p:txBody>
      </p:sp>
      <p:sp>
        <p:nvSpPr>
          <p:cNvPr id="2007" name="step heading 1">
            <a:extLst>
              <a:ext uri="{FF2B5EF4-FFF2-40B4-BE49-F238E27FC236}">
                <a16:creationId xmlns:a16="http://schemas.microsoft.com/office/drawing/2014/main" id="{F72F1C97-26A0-453F-A967-7EADEC2D2266}"/>
              </a:ext>
            </a:extLst>
          </p:cNvPr>
          <p:cNvSpPr>
            <a:spLocks noGrp="1"/>
          </p:cNvSpPr>
          <p:nvPr/>
        </p:nvSpPr>
        <p:spPr>
          <a:xfrm>
            <a:off x="3698939" y="2733675"/>
            <a:ext cx="2038350" cy="371475"/>
          </a:xfrm>
          <a:prstGeom prst="rect">
            <a:avLst/>
          </a:prstGeom>
          <a:noFill/>
          <a:ln w="0">
            <a:noFill/>
          </a:ln>
        </p:spPr>
        <p:txBody>
          <a:bodyPr lIns="0" tIns="0" rIns="0" bIns="0" anchor="ctr">
            <a:noAutofit/>
          </a:bodyPr>
          <a:lstStyle>
            <a:defPPr>
              <a:defRPr sz="2025" b="1">
                <a:solidFill>
                  <a:srgbClr val="4F8734"/>
                </a:solidFill>
              </a:defRPr>
            </a:defPPr>
            <a:lvl1pPr>
              <a:defRPr sz="2025" b="1">
                <a:solidFill>
                  <a:srgbClr val="4F8734"/>
                </a:solidFill>
              </a:defRPr>
            </a:lvl1pPr>
            <a:lvl2pPr>
              <a:defRPr sz="2025" b="1">
                <a:solidFill>
                  <a:srgbClr val="4F8734"/>
                </a:solidFill>
              </a:defRPr>
            </a:lvl2pPr>
            <a:lvl3pPr>
              <a:defRPr sz="2025" b="1">
                <a:solidFill>
                  <a:srgbClr val="4F8734"/>
                </a:solidFill>
              </a:defRPr>
            </a:lvl3pPr>
            <a:lvl4pPr>
              <a:defRPr sz="2025" b="1">
                <a:solidFill>
                  <a:srgbClr val="4F8734"/>
                </a:solidFill>
              </a:defRPr>
            </a:lvl4pPr>
            <a:lvl5pPr>
              <a:defRPr sz="2025" b="1">
                <a:solidFill>
                  <a:srgbClr val="4F8734"/>
                </a:solidFill>
              </a:defRPr>
            </a:lvl5pPr>
            <a:lvl6pPr>
              <a:defRPr sz="2025" b="1">
                <a:solidFill>
                  <a:srgbClr val="4F8734"/>
                </a:solidFill>
              </a:defRPr>
            </a:lvl6pPr>
            <a:lvl7pPr>
              <a:defRPr sz="2025" b="1">
                <a:solidFill>
                  <a:srgbClr val="4F8734"/>
                </a:solidFill>
              </a:defRPr>
            </a:lvl7pPr>
            <a:lvl8pPr>
              <a:defRPr sz="2025" b="1">
                <a:solidFill>
                  <a:srgbClr val="4F8734"/>
                </a:solidFill>
              </a:defRPr>
            </a:lvl8pPr>
            <a:lvl9pPr>
              <a:defRPr sz="2025" b="1">
                <a:solidFill>
                  <a:srgbClr val="4F8734"/>
                </a:solidFill>
              </a:defRPr>
            </a:lvl9pPr>
          </a:lstStyle>
          <a:p>
            <a:pPr>
              <a:defRPr sz="2025" b="1">
                <a:solidFill>
                  <a:srgbClr val="4F8734"/>
                </a:solidFill>
              </a:defRPr>
            </a:pPr>
            <a:r>
              <a:rPr lang="en-US" sz="2025" b="1" dirty="0">
                <a:solidFill>
                  <a:srgbClr val="4F8734"/>
                </a:solidFill>
              </a:rPr>
              <a:t>Trace Engine</a:t>
            </a:r>
            <a:endParaRPr sz="2025" b="1" dirty="0">
              <a:solidFill>
                <a:srgbClr val="4F8734"/>
              </a:solidFill>
            </a:endParaRPr>
          </a:p>
        </p:txBody>
      </p:sp>
      <p:sp>
        <p:nvSpPr>
          <p:cNvPr id="2008" name="step body 1">
            <a:extLst>
              <a:ext uri="{FF2B5EF4-FFF2-40B4-BE49-F238E27FC236}">
                <a16:creationId xmlns:a16="http://schemas.microsoft.com/office/drawing/2014/main" id="{1FF2BE1E-0209-4263-BCBF-28092A272E05}"/>
              </a:ext>
            </a:extLst>
          </p:cNvPr>
          <p:cNvSpPr>
            <a:spLocks noGrp="1"/>
          </p:cNvSpPr>
          <p:nvPr/>
        </p:nvSpPr>
        <p:spPr>
          <a:xfrm>
            <a:off x="3698939" y="3219450"/>
            <a:ext cx="2038350" cy="723900"/>
          </a:xfrm>
          <a:prstGeom prst="rect">
            <a:avLst/>
          </a:prstGeom>
          <a:noFill/>
          <a:ln w="0">
            <a:noFill/>
          </a:ln>
        </p:spPr>
        <p:txBody>
          <a:bodyPr lIns="0" tIns="0" rIns="0" bIns="0" anchor="ctr">
            <a:noAutofit/>
          </a:bodyPr>
          <a:lstStyle>
            <a:defPPr>
              <a:defRPr sz="1725" b="0">
                <a:solidFill>
                  <a:srgbClr val="303238"/>
                </a:solidFill>
              </a:defRPr>
            </a:defPPr>
            <a:lvl1pPr>
              <a:defRPr sz="1725" b="0">
                <a:solidFill>
                  <a:srgbClr val="303238"/>
                </a:solidFill>
              </a:defRPr>
            </a:lvl1pPr>
            <a:lvl2pPr>
              <a:defRPr sz="1725" b="0">
                <a:solidFill>
                  <a:srgbClr val="303238"/>
                </a:solidFill>
              </a:defRPr>
            </a:lvl2pPr>
            <a:lvl3pPr>
              <a:defRPr sz="1725" b="0">
                <a:solidFill>
                  <a:srgbClr val="303238"/>
                </a:solidFill>
              </a:defRPr>
            </a:lvl3pPr>
            <a:lvl4pPr>
              <a:defRPr sz="1725" b="0">
                <a:solidFill>
                  <a:srgbClr val="303238"/>
                </a:solidFill>
              </a:defRPr>
            </a:lvl4pPr>
            <a:lvl5pPr>
              <a:defRPr sz="1725" b="0">
                <a:solidFill>
                  <a:srgbClr val="303238"/>
                </a:solidFill>
              </a:defRPr>
            </a:lvl5pPr>
            <a:lvl6pPr>
              <a:defRPr sz="1725" b="0">
                <a:solidFill>
                  <a:srgbClr val="303238"/>
                </a:solidFill>
              </a:defRPr>
            </a:lvl6pPr>
            <a:lvl7pPr>
              <a:defRPr sz="1725" b="0">
                <a:solidFill>
                  <a:srgbClr val="303238"/>
                </a:solidFill>
              </a:defRPr>
            </a:lvl7pPr>
            <a:lvl8pPr>
              <a:defRPr sz="1725" b="0">
                <a:solidFill>
                  <a:srgbClr val="303238"/>
                </a:solidFill>
              </a:defRPr>
            </a:lvl8pPr>
            <a:lvl9pPr>
              <a:defRPr sz="1725" b="0">
                <a:solidFill>
                  <a:srgbClr val="303238"/>
                </a:solidFill>
              </a:defRPr>
            </a:lvl9pPr>
          </a:lstStyle>
          <a:p>
            <a:pPr>
              <a:defRPr sz="1725" b="0">
                <a:solidFill>
                  <a:srgbClr val="303238"/>
                </a:solidFill>
              </a:defRPr>
            </a:pPr>
            <a:r>
              <a:rPr sz="1725" b="0" dirty="0">
                <a:solidFill>
                  <a:srgbClr val="303238"/>
                </a:solidFill>
              </a:rPr>
              <a:t>Links code to</a:t>
            </a:r>
          </a:p>
          <a:p>
            <a:pPr>
              <a:defRPr sz="1725" b="0">
                <a:solidFill>
                  <a:srgbClr val="303238"/>
                </a:solidFill>
              </a:defRPr>
            </a:pPr>
            <a:r>
              <a:rPr sz="1725" b="0" dirty="0">
                <a:solidFill>
                  <a:srgbClr val="303238"/>
                </a:solidFill>
              </a:rPr>
              <a:t>relevant requirements</a:t>
            </a:r>
          </a:p>
        </p:txBody>
      </p:sp>
      <p:sp>
        <p:nvSpPr>
          <p:cNvPr id="2009" name="trace step 2">
            <a:extLst>
              <a:ext uri="{FF2B5EF4-FFF2-40B4-BE49-F238E27FC236}">
                <a16:creationId xmlns:a16="http://schemas.microsoft.com/office/drawing/2014/main" id="{9547C099-E1A1-4619-BF61-C5EB7FA12246}"/>
              </a:ext>
            </a:extLst>
          </p:cNvPr>
          <p:cNvSpPr>
            <a:spLocks noGrp="1"/>
          </p:cNvSpPr>
          <p:nvPr/>
        </p:nvSpPr>
        <p:spPr>
          <a:xfrm>
            <a:off x="6242114" y="2543175"/>
            <a:ext cx="2381250" cy="1676400"/>
          </a:xfrm>
          <a:prstGeom prst="roundRect">
            <a:avLst>
              <a:gd name="adj" fmla="val 4545"/>
            </a:avLst>
          </a:prstGeom>
          <a:solidFill>
            <a:srgbClr val="F1F5F5"/>
          </a:solidFill>
          <a:ln w="9525">
            <a:solidFill>
              <a:srgbClr val="CDD9DB"/>
            </a:solidFill>
          </a:ln>
        </p:spPr>
        <p:txBody>
          <a:bodyPr/>
          <a:lstStyle/>
          <a:p>
            <a:endParaRPr lang="en-US"/>
          </a:p>
        </p:txBody>
      </p:sp>
      <p:sp>
        <p:nvSpPr>
          <p:cNvPr id="2010" name="step heading 2">
            <a:extLst>
              <a:ext uri="{FF2B5EF4-FFF2-40B4-BE49-F238E27FC236}">
                <a16:creationId xmlns:a16="http://schemas.microsoft.com/office/drawing/2014/main" id="{F8E562B6-C420-469C-BFE0-5F81CBE6BC50}"/>
              </a:ext>
            </a:extLst>
          </p:cNvPr>
          <p:cNvSpPr>
            <a:spLocks noGrp="1"/>
          </p:cNvSpPr>
          <p:nvPr/>
        </p:nvSpPr>
        <p:spPr>
          <a:xfrm>
            <a:off x="6413564" y="2733675"/>
            <a:ext cx="2038350" cy="371475"/>
          </a:xfrm>
          <a:prstGeom prst="rect">
            <a:avLst/>
          </a:prstGeom>
          <a:noFill/>
          <a:ln w="0">
            <a:noFill/>
          </a:ln>
        </p:spPr>
        <p:txBody>
          <a:bodyPr lIns="0" tIns="0" rIns="0" bIns="0" anchor="ctr">
            <a:noAutofit/>
          </a:bodyPr>
          <a:lstStyle>
            <a:defPPr>
              <a:defRPr sz="2025" b="1">
                <a:solidFill>
                  <a:srgbClr val="0086AC"/>
                </a:solidFill>
              </a:defRPr>
            </a:defPPr>
            <a:lvl1pPr>
              <a:defRPr sz="2025" b="1">
                <a:solidFill>
                  <a:srgbClr val="0086AC"/>
                </a:solidFill>
              </a:defRPr>
            </a:lvl1pPr>
            <a:lvl2pPr>
              <a:defRPr sz="2025" b="1">
                <a:solidFill>
                  <a:srgbClr val="0086AC"/>
                </a:solidFill>
              </a:defRPr>
            </a:lvl2pPr>
            <a:lvl3pPr>
              <a:defRPr sz="2025" b="1">
                <a:solidFill>
                  <a:srgbClr val="0086AC"/>
                </a:solidFill>
              </a:defRPr>
            </a:lvl3pPr>
            <a:lvl4pPr>
              <a:defRPr sz="2025" b="1">
                <a:solidFill>
                  <a:srgbClr val="0086AC"/>
                </a:solidFill>
              </a:defRPr>
            </a:lvl4pPr>
            <a:lvl5pPr>
              <a:defRPr sz="2025" b="1">
                <a:solidFill>
                  <a:srgbClr val="0086AC"/>
                </a:solidFill>
              </a:defRPr>
            </a:lvl5pPr>
            <a:lvl6pPr>
              <a:defRPr sz="2025" b="1">
                <a:solidFill>
                  <a:srgbClr val="0086AC"/>
                </a:solidFill>
              </a:defRPr>
            </a:lvl6pPr>
            <a:lvl7pPr>
              <a:defRPr sz="2025" b="1">
                <a:solidFill>
                  <a:srgbClr val="0086AC"/>
                </a:solidFill>
              </a:defRPr>
            </a:lvl7pPr>
            <a:lvl8pPr>
              <a:defRPr sz="2025" b="1">
                <a:solidFill>
                  <a:srgbClr val="0086AC"/>
                </a:solidFill>
              </a:defRPr>
            </a:lvl8pPr>
            <a:lvl9pPr>
              <a:defRPr sz="2025" b="1">
                <a:solidFill>
                  <a:srgbClr val="0086AC"/>
                </a:solidFill>
              </a:defRPr>
            </a:lvl9pPr>
          </a:lstStyle>
          <a:p>
            <a:pPr>
              <a:defRPr sz="2025" b="1">
                <a:solidFill>
                  <a:srgbClr val="0086AC"/>
                </a:solidFill>
              </a:defRPr>
            </a:pPr>
            <a:r>
              <a:rPr sz="2025" b="1">
                <a:solidFill>
                  <a:srgbClr val="0086AC"/>
                </a:solidFill>
              </a:rPr>
              <a:t>Requirement</a:t>
            </a:r>
          </a:p>
        </p:txBody>
      </p:sp>
      <p:sp>
        <p:nvSpPr>
          <p:cNvPr id="2011" name="step body 2">
            <a:extLst>
              <a:ext uri="{FF2B5EF4-FFF2-40B4-BE49-F238E27FC236}">
                <a16:creationId xmlns:a16="http://schemas.microsoft.com/office/drawing/2014/main" id="{D00719C1-1F80-4E5C-8532-4D1B93FB1263}"/>
              </a:ext>
            </a:extLst>
          </p:cNvPr>
          <p:cNvSpPr>
            <a:spLocks noGrp="1"/>
          </p:cNvSpPr>
          <p:nvPr/>
        </p:nvSpPr>
        <p:spPr>
          <a:xfrm>
            <a:off x="6413564" y="3219450"/>
            <a:ext cx="2038350" cy="723900"/>
          </a:xfrm>
          <a:prstGeom prst="rect">
            <a:avLst/>
          </a:prstGeom>
          <a:noFill/>
          <a:ln w="0">
            <a:noFill/>
          </a:ln>
        </p:spPr>
        <p:txBody>
          <a:bodyPr lIns="0" tIns="0" rIns="0" bIns="0" anchor="ctr">
            <a:noAutofit/>
          </a:bodyPr>
          <a:lstStyle>
            <a:defPPr>
              <a:defRPr sz="1725" b="0">
                <a:solidFill>
                  <a:srgbClr val="303238"/>
                </a:solidFill>
              </a:defRPr>
            </a:defPPr>
            <a:lvl1pPr>
              <a:defRPr sz="1725" b="0">
                <a:solidFill>
                  <a:srgbClr val="303238"/>
                </a:solidFill>
              </a:defRPr>
            </a:lvl1pPr>
            <a:lvl2pPr>
              <a:defRPr sz="1725" b="0">
                <a:solidFill>
                  <a:srgbClr val="303238"/>
                </a:solidFill>
              </a:defRPr>
            </a:lvl2pPr>
            <a:lvl3pPr>
              <a:defRPr sz="1725" b="0">
                <a:solidFill>
                  <a:srgbClr val="303238"/>
                </a:solidFill>
              </a:defRPr>
            </a:lvl3pPr>
            <a:lvl4pPr>
              <a:defRPr sz="1725" b="0">
                <a:solidFill>
                  <a:srgbClr val="303238"/>
                </a:solidFill>
              </a:defRPr>
            </a:lvl4pPr>
            <a:lvl5pPr>
              <a:defRPr sz="1725" b="0">
                <a:solidFill>
                  <a:srgbClr val="303238"/>
                </a:solidFill>
              </a:defRPr>
            </a:lvl5pPr>
            <a:lvl6pPr>
              <a:defRPr sz="1725" b="0">
                <a:solidFill>
                  <a:srgbClr val="303238"/>
                </a:solidFill>
              </a:defRPr>
            </a:lvl6pPr>
            <a:lvl7pPr>
              <a:defRPr sz="1725" b="0">
                <a:solidFill>
                  <a:srgbClr val="303238"/>
                </a:solidFill>
              </a:defRPr>
            </a:lvl7pPr>
            <a:lvl8pPr>
              <a:defRPr sz="1725" b="0">
                <a:solidFill>
                  <a:srgbClr val="303238"/>
                </a:solidFill>
              </a:defRPr>
            </a:lvl8pPr>
            <a:lvl9pPr>
              <a:defRPr sz="1725" b="0">
                <a:solidFill>
                  <a:srgbClr val="303238"/>
                </a:solidFill>
              </a:defRPr>
            </a:lvl9pPr>
          </a:lstStyle>
          <a:p>
            <a:pPr>
              <a:defRPr sz="1725" b="0">
                <a:solidFill>
                  <a:srgbClr val="303238"/>
                </a:solidFill>
              </a:defRPr>
            </a:pPr>
            <a:r>
              <a:rPr sz="1725" b="0">
                <a:solidFill>
                  <a:srgbClr val="303238"/>
                </a:solidFill>
              </a:rPr>
              <a:t>The AI reads the</a:t>
            </a:r>
          </a:p>
          <a:p>
            <a:pPr>
              <a:defRPr sz="1725" b="0">
                <a:solidFill>
                  <a:srgbClr val="303238"/>
                </a:solidFill>
              </a:defRPr>
            </a:pPr>
            <a:r>
              <a:rPr sz="1725" b="0">
                <a:solidFill>
                  <a:srgbClr val="303238"/>
                </a:solidFill>
              </a:rPr>
              <a:t>required behavior</a:t>
            </a:r>
          </a:p>
        </p:txBody>
      </p:sp>
      <p:sp>
        <p:nvSpPr>
          <p:cNvPr id="2012" name="trace step 3">
            <a:extLst>
              <a:ext uri="{FF2B5EF4-FFF2-40B4-BE49-F238E27FC236}">
                <a16:creationId xmlns:a16="http://schemas.microsoft.com/office/drawing/2014/main" id="{EFE78504-CCF4-468A-BA82-570C88A237A3}"/>
              </a:ext>
            </a:extLst>
          </p:cNvPr>
          <p:cNvSpPr>
            <a:spLocks noGrp="1"/>
          </p:cNvSpPr>
          <p:nvPr/>
        </p:nvSpPr>
        <p:spPr>
          <a:xfrm>
            <a:off x="8956739" y="2543175"/>
            <a:ext cx="2381250" cy="1676400"/>
          </a:xfrm>
          <a:prstGeom prst="roundRect">
            <a:avLst>
              <a:gd name="adj" fmla="val 4545"/>
            </a:avLst>
          </a:prstGeom>
          <a:solidFill>
            <a:srgbClr val="F1F5F5"/>
          </a:solidFill>
          <a:ln w="9525">
            <a:solidFill>
              <a:srgbClr val="CDD9DB"/>
            </a:solidFill>
          </a:ln>
        </p:spPr>
        <p:txBody>
          <a:bodyPr/>
          <a:lstStyle/>
          <a:p>
            <a:endParaRPr lang="en-US"/>
          </a:p>
        </p:txBody>
      </p:sp>
      <p:sp>
        <p:nvSpPr>
          <p:cNvPr id="2013" name="step heading 3">
            <a:extLst>
              <a:ext uri="{FF2B5EF4-FFF2-40B4-BE49-F238E27FC236}">
                <a16:creationId xmlns:a16="http://schemas.microsoft.com/office/drawing/2014/main" id="{63C11C1A-5B90-40F6-A421-03CDE0AC280D}"/>
              </a:ext>
            </a:extLst>
          </p:cNvPr>
          <p:cNvSpPr>
            <a:spLocks noGrp="1"/>
          </p:cNvSpPr>
          <p:nvPr/>
        </p:nvSpPr>
        <p:spPr>
          <a:xfrm>
            <a:off x="9128189" y="2733675"/>
            <a:ext cx="2038350" cy="371475"/>
          </a:xfrm>
          <a:prstGeom prst="rect">
            <a:avLst/>
          </a:prstGeom>
          <a:noFill/>
          <a:ln w="0">
            <a:noFill/>
          </a:ln>
        </p:spPr>
        <p:txBody>
          <a:bodyPr lIns="0" tIns="0" rIns="0" bIns="0" anchor="ctr">
            <a:noAutofit/>
          </a:bodyPr>
          <a:lstStyle>
            <a:defPPr>
              <a:defRPr sz="2025" b="1">
                <a:solidFill>
                  <a:srgbClr val="0086AC"/>
                </a:solidFill>
              </a:defRPr>
            </a:defPPr>
            <a:lvl1pPr>
              <a:defRPr sz="2025" b="1">
                <a:solidFill>
                  <a:srgbClr val="0086AC"/>
                </a:solidFill>
              </a:defRPr>
            </a:lvl1pPr>
            <a:lvl2pPr>
              <a:defRPr sz="2025" b="1">
                <a:solidFill>
                  <a:srgbClr val="0086AC"/>
                </a:solidFill>
              </a:defRPr>
            </a:lvl2pPr>
            <a:lvl3pPr>
              <a:defRPr sz="2025" b="1">
                <a:solidFill>
                  <a:srgbClr val="0086AC"/>
                </a:solidFill>
              </a:defRPr>
            </a:lvl3pPr>
            <a:lvl4pPr>
              <a:defRPr sz="2025" b="1">
                <a:solidFill>
                  <a:srgbClr val="0086AC"/>
                </a:solidFill>
              </a:defRPr>
            </a:lvl4pPr>
            <a:lvl5pPr>
              <a:defRPr sz="2025" b="1">
                <a:solidFill>
                  <a:srgbClr val="0086AC"/>
                </a:solidFill>
              </a:defRPr>
            </a:lvl5pPr>
            <a:lvl6pPr>
              <a:defRPr sz="2025" b="1">
                <a:solidFill>
                  <a:srgbClr val="0086AC"/>
                </a:solidFill>
              </a:defRPr>
            </a:lvl6pPr>
            <a:lvl7pPr>
              <a:defRPr sz="2025" b="1">
                <a:solidFill>
                  <a:srgbClr val="0086AC"/>
                </a:solidFill>
              </a:defRPr>
            </a:lvl7pPr>
            <a:lvl8pPr>
              <a:defRPr sz="2025" b="1">
                <a:solidFill>
                  <a:srgbClr val="0086AC"/>
                </a:solidFill>
              </a:defRPr>
            </a:lvl8pPr>
            <a:lvl9pPr>
              <a:defRPr sz="2025" b="1">
                <a:solidFill>
                  <a:srgbClr val="0086AC"/>
                </a:solidFill>
              </a:defRPr>
            </a:lvl9pPr>
          </a:lstStyle>
          <a:p>
            <a:pPr>
              <a:defRPr sz="2025" b="1">
                <a:solidFill>
                  <a:srgbClr val="0086AC"/>
                </a:solidFill>
              </a:defRPr>
            </a:pPr>
            <a:r>
              <a:rPr sz="2025" b="1">
                <a:solidFill>
                  <a:srgbClr val="0086AC"/>
                </a:solidFill>
              </a:rPr>
              <a:t>AI review</a:t>
            </a:r>
          </a:p>
        </p:txBody>
      </p:sp>
      <p:sp>
        <p:nvSpPr>
          <p:cNvPr id="2014" name="step body 3">
            <a:extLst>
              <a:ext uri="{FF2B5EF4-FFF2-40B4-BE49-F238E27FC236}">
                <a16:creationId xmlns:a16="http://schemas.microsoft.com/office/drawing/2014/main" id="{B988D8CD-2C45-4A6C-B754-789909A5936C}"/>
              </a:ext>
            </a:extLst>
          </p:cNvPr>
          <p:cNvSpPr>
            <a:spLocks noGrp="1"/>
          </p:cNvSpPr>
          <p:nvPr/>
        </p:nvSpPr>
        <p:spPr>
          <a:xfrm>
            <a:off x="9128189" y="3219450"/>
            <a:ext cx="2038350" cy="723900"/>
          </a:xfrm>
          <a:prstGeom prst="rect">
            <a:avLst/>
          </a:prstGeom>
          <a:noFill/>
          <a:ln w="0">
            <a:noFill/>
          </a:ln>
        </p:spPr>
        <p:txBody>
          <a:bodyPr lIns="0" tIns="0" rIns="0" bIns="0" anchor="ctr">
            <a:noAutofit/>
          </a:bodyPr>
          <a:lstStyle>
            <a:defPPr>
              <a:defRPr sz="1725" b="0">
                <a:solidFill>
                  <a:srgbClr val="303238"/>
                </a:solidFill>
              </a:defRPr>
            </a:defPPr>
            <a:lvl1pPr>
              <a:defRPr sz="1725" b="0">
                <a:solidFill>
                  <a:srgbClr val="303238"/>
                </a:solidFill>
              </a:defRPr>
            </a:lvl1pPr>
            <a:lvl2pPr>
              <a:defRPr sz="1725" b="0">
                <a:solidFill>
                  <a:srgbClr val="303238"/>
                </a:solidFill>
              </a:defRPr>
            </a:lvl2pPr>
            <a:lvl3pPr>
              <a:defRPr sz="1725" b="0">
                <a:solidFill>
                  <a:srgbClr val="303238"/>
                </a:solidFill>
              </a:defRPr>
            </a:lvl3pPr>
            <a:lvl4pPr>
              <a:defRPr sz="1725" b="0">
                <a:solidFill>
                  <a:srgbClr val="303238"/>
                </a:solidFill>
              </a:defRPr>
            </a:lvl4pPr>
            <a:lvl5pPr>
              <a:defRPr sz="1725" b="0">
                <a:solidFill>
                  <a:srgbClr val="303238"/>
                </a:solidFill>
              </a:defRPr>
            </a:lvl5pPr>
            <a:lvl6pPr>
              <a:defRPr sz="1725" b="0">
                <a:solidFill>
                  <a:srgbClr val="303238"/>
                </a:solidFill>
              </a:defRPr>
            </a:lvl6pPr>
            <a:lvl7pPr>
              <a:defRPr sz="1725" b="0">
                <a:solidFill>
                  <a:srgbClr val="303238"/>
                </a:solidFill>
              </a:defRPr>
            </a:lvl7pPr>
            <a:lvl8pPr>
              <a:defRPr sz="1725" b="0">
                <a:solidFill>
                  <a:srgbClr val="303238"/>
                </a:solidFill>
              </a:defRPr>
            </a:lvl8pPr>
            <a:lvl9pPr>
              <a:defRPr sz="1725" b="0">
                <a:solidFill>
                  <a:srgbClr val="303238"/>
                </a:solidFill>
              </a:defRPr>
            </a:lvl9pPr>
          </a:lstStyle>
          <a:p>
            <a:pPr>
              <a:defRPr sz="1725" b="0">
                <a:solidFill>
                  <a:srgbClr val="303238"/>
                </a:solidFill>
              </a:defRPr>
            </a:pPr>
            <a:r>
              <a:rPr sz="1725" b="0">
                <a:solidFill>
                  <a:srgbClr val="303238"/>
                </a:solidFill>
              </a:rPr>
              <a:t>Checks the code</a:t>
            </a:r>
          </a:p>
          <a:p>
            <a:pPr>
              <a:defRPr sz="1725" b="0">
                <a:solidFill>
                  <a:srgbClr val="303238"/>
                </a:solidFill>
              </a:defRPr>
            </a:pPr>
            <a:r>
              <a:rPr sz="1725" b="0">
                <a:solidFill>
                  <a:srgbClr val="303238"/>
                </a:solidFill>
              </a:rPr>
              <a:t>against that behavior</a:t>
            </a:r>
          </a:p>
        </p:txBody>
      </p:sp>
      <p:sp>
        <p:nvSpPr>
          <p:cNvPr id="2018" name="key point">
            <a:extLst>
              <a:ext uri="{FF2B5EF4-FFF2-40B4-BE49-F238E27FC236}">
                <a16:creationId xmlns:a16="http://schemas.microsoft.com/office/drawing/2014/main" id="{C94511AB-8778-4CC8-AD27-E2C5CC2A664F}"/>
              </a:ext>
            </a:extLst>
          </p:cNvPr>
          <p:cNvSpPr>
            <a:spLocks noGrp="1"/>
          </p:cNvSpPr>
          <p:nvPr/>
        </p:nvSpPr>
        <p:spPr>
          <a:xfrm>
            <a:off x="812864" y="4591050"/>
            <a:ext cx="10572750" cy="552450"/>
          </a:xfrm>
          <a:prstGeom prst="rect">
            <a:avLst/>
          </a:prstGeom>
          <a:noFill/>
          <a:ln w="0">
            <a:noFill/>
          </a:ln>
        </p:spPr>
        <p:txBody>
          <a:bodyPr lIns="0" tIns="0" rIns="0" bIns="0" anchor="ctr">
            <a:noAutofit/>
          </a:bodyPr>
          <a:lstStyle>
            <a:defPPr>
              <a:defRPr sz="2025" b="1">
                <a:solidFill>
                  <a:srgbClr val="303238"/>
                </a:solidFill>
              </a:defRPr>
            </a:defPPr>
            <a:lvl1pPr>
              <a:defRPr sz="2025" b="1">
                <a:solidFill>
                  <a:srgbClr val="303238"/>
                </a:solidFill>
              </a:defRPr>
            </a:lvl1pPr>
            <a:lvl2pPr>
              <a:defRPr sz="2025" b="1">
                <a:solidFill>
                  <a:srgbClr val="303238"/>
                </a:solidFill>
              </a:defRPr>
            </a:lvl2pPr>
            <a:lvl3pPr>
              <a:defRPr sz="2025" b="1">
                <a:solidFill>
                  <a:srgbClr val="303238"/>
                </a:solidFill>
              </a:defRPr>
            </a:lvl3pPr>
            <a:lvl4pPr>
              <a:defRPr sz="2025" b="1">
                <a:solidFill>
                  <a:srgbClr val="303238"/>
                </a:solidFill>
              </a:defRPr>
            </a:lvl4pPr>
            <a:lvl5pPr>
              <a:defRPr sz="2025" b="1">
                <a:solidFill>
                  <a:srgbClr val="303238"/>
                </a:solidFill>
              </a:defRPr>
            </a:lvl5pPr>
            <a:lvl6pPr>
              <a:defRPr sz="2025" b="1">
                <a:solidFill>
                  <a:srgbClr val="303238"/>
                </a:solidFill>
              </a:defRPr>
            </a:lvl6pPr>
            <a:lvl7pPr>
              <a:defRPr sz="2025" b="1">
                <a:solidFill>
                  <a:srgbClr val="303238"/>
                </a:solidFill>
              </a:defRPr>
            </a:lvl7pPr>
            <a:lvl8pPr>
              <a:defRPr sz="2025" b="1">
                <a:solidFill>
                  <a:srgbClr val="303238"/>
                </a:solidFill>
              </a:defRPr>
            </a:lvl8pPr>
            <a:lvl9pPr>
              <a:defRPr sz="2025" b="1">
                <a:solidFill>
                  <a:srgbClr val="303238"/>
                </a:solidFill>
              </a:defRPr>
            </a:lvl9pPr>
          </a:lstStyle>
          <a:p>
            <a:pPr>
              <a:defRPr sz="2025" b="1">
                <a:solidFill>
                  <a:srgbClr val="303238"/>
                </a:solidFill>
              </a:defRPr>
            </a:pPr>
            <a:r>
              <a:rPr sz="2025" b="1">
                <a:solidFill>
                  <a:srgbClr val="303238"/>
                </a:solidFill>
              </a:rPr>
              <a:t>Traceability makes the requirement available at the reviewed revision.</a:t>
            </a:r>
          </a:p>
        </p:txBody>
      </p:sp>
      <p:sp>
        <p:nvSpPr>
          <p:cNvPr id="2019" name="ostf">
            <a:extLst>
              <a:ext uri="{FF2B5EF4-FFF2-40B4-BE49-F238E27FC236}">
                <a16:creationId xmlns:a16="http://schemas.microsoft.com/office/drawing/2014/main" id="{7EAE247E-6542-454F-94C5-A6E6CC6969A2}"/>
              </a:ext>
            </a:extLst>
          </p:cNvPr>
          <p:cNvSpPr>
            <a:spLocks noGrp="1"/>
          </p:cNvSpPr>
          <p:nvPr/>
        </p:nvSpPr>
        <p:spPr>
          <a:xfrm>
            <a:off x="812864" y="5267325"/>
            <a:ext cx="10572750" cy="457200"/>
          </a:xfrm>
          <a:prstGeom prst="rect">
            <a:avLst/>
          </a:prstGeom>
          <a:noFill/>
          <a:ln w="0">
            <a:noFill/>
          </a:ln>
        </p:spPr>
        <p:txBody>
          <a:bodyPr lIns="0" tIns="0" rIns="0" bIns="0" anchor="ctr">
            <a:noAutofit/>
          </a:bodyPr>
          <a:lstStyle>
            <a:defPPr>
              <a:defRPr sz="1650" b="0">
                <a:solidFill>
                  <a:srgbClr val="666666"/>
                </a:solidFill>
              </a:defRPr>
            </a:defPPr>
            <a:lvl1pPr>
              <a:defRPr sz="1650" b="0">
                <a:solidFill>
                  <a:srgbClr val="666666"/>
                </a:solidFill>
              </a:defRPr>
            </a:lvl1pPr>
            <a:lvl2pPr>
              <a:defRPr sz="1650" b="0">
                <a:solidFill>
                  <a:srgbClr val="666666"/>
                </a:solidFill>
              </a:defRPr>
            </a:lvl2pPr>
            <a:lvl3pPr>
              <a:defRPr sz="1650" b="0">
                <a:solidFill>
                  <a:srgbClr val="666666"/>
                </a:solidFill>
              </a:defRPr>
            </a:lvl3pPr>
            <a:lvl4pPr>
              <a:defRPr sz="1650" b="0">
                <a:solidFill>
                  <a:srgbClr val="666666"/>
                </a:solidFill>
              </a:defRPr>
            </a:lvl4pPr>
            <a:lvl5pPr>
              <a:defRPr sz="1650" b="0">
                <a:solidFill>
                  <a:srgbClr val="666666"/>
                </a:solidFill>
              </a:defRPr>
            </a:lvl5pPr>
            <a:lvl6pPr>
              <a:defRPr sz="1650" b="0">
                <a:solidFill>
                  <a:srgbClr val="666666"/>
                </a:solidFill>
              </a:defRPr>
            </a:lvl6pPr>
            <a:lvl7pPr>
              <a:defRPr sz="1650" b="0">
                <a:solidFill>
                  <a:srgbClr val="666666"/>
                </a:solidFill>
              </a:defRPr>
            </a:lvl7pPr>
            <a:lvl8pPr>
              <a:defRPr sz="1650" b="0">
                <a:solidFill>
                  <a:srgbClr val="666666"/>
                </a:solidFill>
              </a:defRPr>
            </a:lvl8pPr>
            <a:lvl9pPr>
              <a:defRPr sz="1650" b="0">
                <a:solidFill>
                  <a:srgbClr val="666666"/>
                </a:solidFill>
              </a:defRPr>
            </a:lvl9pPr>
          </a:lstStyle>
          <a:p>
            <a:pPr>
              <a:defRPr sz="1650" b="0">
                <a:solidFill>
                  <a:srgbClr val="666666"/>
                </a:solidFill>
              </a:defRPr>
            </a:pPr>
            <a:r>
              <a:rPr sz="1650" b="0" dirty="0">
                <a:solidFill>
                  <a:srgbClr val="666666"/>
                </a:solidFill>
              </a:rPr>
              <a:t>OSTF: Open Software Traceability Format, a working format for these links.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4">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2013" name="title">
            <a:extLst>
              <a:ext uri="{FF2B5EF4-FFF2-40B4-BE49-F238E27FC236}">
                <a16:creationId xmlns:a16="http://schemas.microsoft.com/office/drawing/2014/main" id="{D76D3578-A6F4-4150-BB0B-1A517AA70165}"/>
              </a:ext>
            </a:extLst>
          </p:cNvPr>
          <p:cNvSpPr>
            <a:spLocks noGrp="1"/>
          </p:cNvSpPr>
          <p:nvPr/>
        </p:nvSpPr>
        <p:spPr>
          <a:xfrm>
            <a:off x="812864" y="819150"/>
            <a:ext cx="10572750" cy="514350"/>
          </a:xfrm>
          <a:prstGeom prst="rect">
            <a:avLst/>
          </a:prstGeom>
          <a:noFill/>
          <a:ln w="0">
            <a:noFill/>
          </a:ln>
        </p:spPr>
        <p:txBody>
          <a:bodyPr lIns="0" tIns="0" rIns="0" bIns="0" anchor="ctr">
            <a:noAutofit/>
          </a:bodyPr>
          <a:lstStyle>
            <a:defPPr>
              <a:defRPr sz="3000" b="1">
                <a:solidFill>
                  <a:srgbClr val="4F8734"/>
                </a:solidFill>
              </a:defRPr>
            </a:defPPr>
            <a:lvl1pPr>
              <a:defRPr sz="3000" b="1">
                <a:solidFill>
                  <a:srgbClr val="4F8734"/>
                </a:solidFill>
              </a:defRPr>
            </a:lvl1pPr>
            <a:lvl2pPr>
              <a:defRPr sz="3000" b="1">
                <a:solidFill>
                  <a:srgbClr val="4F8734"/>
                </a:solidFill>
              </a:defRPr>
            </a:lvl2pPr>
            <a:lvl3pPr>
              <a:defRPr sz="3000" b="1">
                <a:solidFill>
                  <a:srgbClr val="4F8734"/>
                </a:solidFill>
              </a:defRPr>
            </a:lvl3pPr>
            <a:lvl4pPr>
              <a:defRPr sz="3000" b="1">
                <a:solidFill>
                  <a:srgbClr val="4F8734"/>
                </a:solidFill>
              </a:defRPr>
            </a:lvl4pPr>
            <a:lvl5pPr>
              <a:defRPr sz="3000" b="1">
                <a:solidFill>
                  <a:srgbClr val="4F8734"/>
                </a:solidFill>
              </a:defRPr>
            </a:lvl5pPr>
            <a:lvl6pPr>
              <a:defRPr sz="3000" b="1">
                <a:solidFill>
                  <a:srgbClr val="4F8734"/>
                </a:solidFill>
              </a:defRPr>
            </a:lvl6pPr>
            <a:lvl7pPr>
              <a:defRPr sz="3000" b="1">
                <a:solidFill>
                  <a:srgbClr val="4F8734"/>
                </a:solidFill>
              </a:defRPr>
            </a:lvl7pPr>
            <a:lvl8pPr>
              <a:defRPr sz="3000" b="1">
                <a:solidFill>
                  <a:srgbClr val="4F8734"/>
                </a:solidFill>
              </a:defRPr>
            </a:lvl8pPr>
            <a:lvl9pPr>
              <a:defRPr sz="3000" b="1">
                <a:solidFill>
                  <a:srgbClr val="4F8734"/>
                </a:solidFill>
              </a:defRPr>
            </a:lvl9pPr>
          </a:lstStyle>
          <a:p>
            <a:pPr>
              <a:defRPr sz="3000" b="1">
                <a:solidFill>
                  <a:srgbClr val="4F8734"/>
                </a:solidFill>
              </a:defRPr>
            </a:pPr>
            <a:r>
              <a:rPr sz="3000" b="1">
                <a:solidFill>
                  <a:srgbClr val="4F8734"/>
                </a:solidFill>
              </a:rPr>
              <a:t>The PDF requirement changes the finding</a:t>
            </a:r>
          </a:p>
        </p:txBody>
      </p:sp>
      <p:sp>
        <p:nvSpPr>
          <p:cNvPr id="2002" name="subtitle">
            <a:extLst>
              <a:ext uri="{FF2B5EF4-FFF2-40B4-BE49-F238E27FC236}">
                <a16:creationId xmlns:a16="http://schemas.microsoft.com/office/drawing/2014/main" id="{729E404A-3C4A-4EB2-9AF2-B751DEDC767C}"/>
              </a:ext>
            </a:extLst>
          </p:cNvPr>
          <p:cNvSpPr>
            <a:spLocks noGrp="1"/>
          </p:cNvSpPr>
          <p:nvPr/>
        </p:nvSpPr>
        <p:spPr>
          <a:xfrm>
            <a:off x="812864" y="1390650"/>
            <a:ext cx="10572750" cy="409575"/>
          </a:xfrm>
          <a:prstGeom prst="rect">
            <a:avLst/>
          </a:prstGeom>
          <a:noFill/>
          <a:ln w="0">
            <a:noFill/>
          </a:ln>
        </p:spPr>
        <p:txBody>
          <a:bodyPr lIns="0" tIns="0" rIns="0" bIns="0" anchor="ctr">
            <a:noAutofit/>
          </a:bodyPr>
          <a:lstStyle>
            <a:defPPr>
              <a:defRPr sz="1725" b="0">
                <a:solidFill>
                  <a:srgbClr val="303238"/>
                </a:solidFill>
              </a:defRPr>
            </a:defPPr>
            <a:lvl1pPr>
              <a:defRPr sz="1725" b="0">
                <a:solidFill>
                  <a:srgbClr val="303238"/>
                </a:solidFill>
              </a:defRPr>
            </a:lvl1pPr>
            <a:lvl2pPr>
              <a:defRPr sz="1725" b="0">
                <a:solidFill>
                  <a:srgbClr val="303238"/>
                </a:solidFill>
              </a:defRPr>
            </a:lvl2pPr>
            <a:lvl3pPr>
              <a:defRPr sz="1725" b="0">
                <a:solidFill>
                  <a:srgbClr val="303238"/>
                </a:solidFill>
              </a:defRPr>
            </a:lvl3pPr>
            <a:lvl4pPr>
              <a:defRPr sz="1725" b="0">
                <a:solidFill>
                  <a:srgbClr val="303238"/>
                </a:solidFill>
              </a:defRPr>
            </a:lvl4pPr>
            <a:lvl5pPr>
              <a:defRPr sz="1725" b="0">
                <a:solidFill>
                  <a:srgbClr val="303238"/>
                </a:solidFill>
              </a:defRPr>
            </a:lvl5pPr>
            <a:lvl6pPr>
              <a:defRPr sz="1725" b="0">
                <a:solidFill>
                  <a:srgbClr val="303238"/>
                </a:solidFill>
              </a:defRPr>
            </a:lvl6pPr>
            <a:lvl7pPr>
              <a:defRPr sz="1725" b="0">
                <a:solidFill>
                  <a:srgbClr val="303238"/>
                </a:solidFill>
              </a:defRPr>
            </a:lvl7pPr>
            <a:lvl8pPr>
              <a:defRPr sz="1725" b="0">
                <a:solidFill>
                  <a:srgbClr val="303238"/>
                </a:solidFill>
              </a:defRPr>
            </a:lvl8pPr>
            <a:lvl9pPr>
              <a:defRPr sz="1725" b="0">
                <a:solidFill>
                  <a:srgbClr val="303238"/>
                </a:solidFill>
              </a:defRPr>
            </a:lvl9pPr>
          </a:lstStyle>
          <a:p>
            <a:pPr>
              <a:defRPr sz="1725" b="0">
                <a:solidFill>
                  <a:srgbClr val="303238"/>
                </a:solidFill>
              </a:defRPr>
            </a:pPr>
            <a:r>
              <a:rPr sz="1725" b="0">
                <a:solidFill>
                  <a:srgbClr val="303238"/>
                </a:solidFill>
              </a:rPr>
              <a:t>Same historical diff, security prompt and Sonnet 5. Only the requirement card changes.</a:t>
            </a:r>
          </a:p>
        </p:txBody>
      </p:sp>
      <p:sp>
        <p:nvSpPr>
          <p:cNvPr id="2003" name="functional heading">
            <a:extLst>
              <a:ext uri="{FF2B5EF4-FFF2-40B4-BE49-F238E27FC236}">
                <a16:creationId xmlns:a16="http://schemas.microsoft.com/office/drawing/2014/main" id="{CA1D1CB2-1F70-4CEF-A421-815ABBA4FF6D}"/>
              </a:ext>
            </a:extLst>
          </p:cNvPr>
          <p:cNvSpPr>
            <a:spLocks noGrp="1"/>
          </p:cNvSpPr>
          <p:nvPr/>
        </p:nvSpPr>
        <p:spPr>
          <a:xfrm>
            <a:off x="812864" y="2143125"/>
            <a:ext cx="4572000" cy="381000"/>
          </a:xfrm>
          <a:prstGeom prst="rect">
            <a:avLst/>
          </a:prstGeom>
          <a:noFill/>
          <a:ln w="0">
            <a:noFill/>
          </a:ln>
        </p:spPr>
        <p:txBody>
          <a:bodyPr lIns="0" tIns="0" rIns="0" bIns="0" anchor="ctr">
            <a:noAutofit/>
          </a:bodyPr>
          <a:lstStyle>
            <a:defPPr>
              <a:defRPr sz="2100" b="1">
                <a:solidFill>
                  <a:srgbClr val="0086AC"/>
                </a:solidFill>
              </a:defRPr>
            </a:defPPr>
            <a:lvl1pPr>
              <a:defRPr sz="2100" b="1">
                <a:solidFill>
                  <a:srgbClr val="0086AC"/>
                </a:solidFill>
              </a:defRPr>
            </a:lvl1pPr>
            <a:lvl2pPr>
              <a:defRPr sz="2100" b="1">
                <a:solidFill>
                  <a:srgbClr val="0086AC"/>
                </a:solidFill>
              </a:defRPr>
            </a:lvl2pPr>
            <a:lvl3pPr>
              <a:defRPr sz="2100" b="1">
                <a:solidFill>
                  <a:srgbClr val="0086AC"/>
                </a:solidFill>
              </a:defRPr>
            </a:lvl3pPr>
            <a:lvl4pPr>
              <a:defRPr sz="2100" b="1">
                <a:solidFill>
                  <a:srgbClr val="0086AC"/>
                </a:solidFill>
              </a:defRPr>
            </a:lvl4pPr>
            <a:lvl5pPr>
              <a:defRPr sz="2100" b="1">
                <a:solidFill>
                  <a:srgbClr val="0086AC"/>
                </a:solidFill>
              </a:defRPr>
            </a:lvl5pPr>
            <a:lvl6pPr>
              <a:defRPr sz="2100" b="1">
                <a:solidFill>
                  <a:srgbClr val="0086AC"/>
                </a:solidFill>
              </a:defRPr>
            </a:lvl6pPr>
            <a:lvl7pPr>
              <a:defRPr sz="2100" b="1">
                <a:solidFill>
                  <a:srgbClr val="0086AC"/>
                </a:solidFill>
              </a:defRPr>
            </a:lvl7pPr>
            <a:lvl8pPr>
              <a:defRPr sz="2100" b="1">
                <a:solidFill>
                  <a:srgbClr val="0086AC"/>
                </a:solidFill>
              </a:defRPr>
            </a:lvl8pPr>
            <a:lvl9pPr>
              <a:defRPr sz="2100" b="1">
                <a:solidFill>
                  <a:srgbClr val="0086AC"/>
                </a:solidFill>
              </a:defRPr>
            </a:lvl9pPr>
          </a:lstStyle>
          <a:p>
            <a:pPr>
              <a:defRPr sz="2100" b="1">
                <a:solidFill>
                  <a:srgbClr val="0086AC"/>
                </a:solidFill>
              </a:defRPr>
            </a:pPr>
            <a:r>
              <a:rPr sz="2100" b="1">
                <a:solidFill>
                  <a:srgbClr val="0086AC"/>
                </a:solidFill>
              </a:rPr>
              <a:t>Functional requirement</a:t>
            </a:r>
          </a:p>
        </p:txBody>
      </p:sp>
      <p:sp>
        <p:nvSpPr>
          <p:cNvPr id="2004" name="functional text">
            <a:extLst>
              <a:ext uri="{FF2B5EF4-FFF2-40B4-BE49-F238E27FC236}">
                <a16:creationId xmlns:a16="http://schemas.microsoft.com/office/drawing/2014/main" id="{407A317C-6A71-46D0-A37B-AC7767F0A2F7}"/>
              </a:ext>
            </a:extLst>
          </p:cNvPr>
          <p:cNvSpPr>
            <a:spLocks noGrp="1"/>
          </p:cNvSpPr>
          <p:nvPr/>
        </p:nvSpPr>
        <p:spPr>
          <a:xfrm>
            <a:off x="812864" y="2686050"/>
            <a:ext cx="4572000" cy="876300"/>
          </a:xfrm>
          <a:prstGeom prst="rect">
            <a:avLst/>
          </a:prstGeom>
          <a:noFill/>
          <a:ln w="0">
            <a:noFill/>
          </a:ln>
        </p:spPr>
        <p:txBody>
          <a:bodyPr lIns="0" tIns="0" rIns="0" bIns="0" anchor="ctr">
            <a:noAutofit/>
          </a:bodyPr>
          <a:lstStyle>
            <a:defPPr>
              <a:defRPr sz="1875" b="0">
                <a:solidFill>
                  <a:srgbClr val="303238"/>
                </a:solidFill>
              </a:defRPr>
            </a:defPPr>
            <a:lvl1pPr>
              <a:defRPr sz="1875" b="0">
                <a:solidFill>
                  <a:srgbClr val="303238"/>
                </a:solidFill>
              </a:defRPr>
            </a:lvl1pPr>
            <a:lvl2pPr>
              <a:defRPr sz="1875" b="0">
                <a:solidFill>
                  <a:srgbClr val="303238"/>
                </a:solidFill>
              </a:defRPr>
            </a:lvl2pPr>
            <a:lvl3pPr>
              <a:defRPr sz="1875" b="0">
                <a:solidFill>
                  <a:srgbClr val="303238"/>
                </a:solidFill>
              </a:defRPr>
            </a:lvl3pPr>
            <a:lvl4pPr>
              <a:defRPr sz="1875" b="0">
                <a:solidFill>
                  <a:srgbClr val="303238"/>
                </a:solidFill>
              </a:defRPr>
            </a:lvl4pPr>
            <a:lvl5pPr>
              <a:defRPr sz="1875" b="0">
                <a:solidFill>
                  <a:srgbClr val="303238"/>
                </a:solidFill>
              </a:defRPr>
            </a:lvl5pPr>
            <a:lvl6pPr>
              <a:defRPr sz="1875" b="0">
                <a:solidFill>
                  <a:srgbClr val="303238"/>
                </a:solidFill>
              </a:defRPr>
            </a:lvl6pPr>
            <a:lvl7pPr>
              <a:defRPr sz="1875" b="0">
                <a:solidFill>
                  <a:srgbClr val="303238"/>
                </a:solidFill>
              </a:defRPr>
            </a:lvl7pPr>
            <a:lvl8pPr>
              <a:defRPr sz="1875" b="0">
                <a:solidFill>
                  <a:srgbClr val="303238"/>
                </a:solidFill>
              </a:defRPr>
            </a:lvl8pPr>
            <a:lvl9pPr>
              <a:defRPr sz="1875" b="0">
                <a:solidFill>
                  <a:srgbClr val="303238"/>
                </a:solidFill>
              </a:defRPr>
            </a:lvl9pPr>
          </a:lstStyle>
          <a:p>
            <a:pPr>
              <a:defRPr sz="1875" b="0">
                <a:solidFill>
                  <a:srgbClr val="303238"/>
                </a:solidFill>
              </a:defRPr>
            </a:pPr>
            <a:r>
              <a:rPr sz="1875" b="0">
                <a:solidFill>
                  <a:srgbClr val="303238"/>
                </a:solidFill>
              </a:rPr>
              <a:t>Include saved clinical narrative</a:t>
            </a:r>
          </a:p>
          <a:p>
            <a:pPr>
              <a:defRPr sz="1875" b="0">
                <a:solidFill>
                  <a:srgbClr val="303238"/>
                </a:solidFill>
              </a:defRPr>
            </a:pPr>
            <a:r>
              <a:rPr sz="1875" b="0">
                <a:solidFill>
                  <a:srgbClr val="303238"/>
                </a:solidFill>
              </a:rPr>
              <a:t>and relevant report images.</a:t>
            </a:r>
          </a:p>
        </p:txBody>
      </p:sp>
      <p:sp>
        <p:nvSpPr>
          <p:cNvPr id="2005" name="functional result">
            <a:extLst>
              <a:ext uri="{FF2B5EF4-FFF2-40B4-BE49-F238E27FC236}">
                <a16:creationId xmlns:a16="http://schemas.microsoft.com/office/drawing/2014/main" id="{82C015BC-C9AA-4EF8-BD8B-04227BC31E8C}"/>
              </a:ext>
            </a:extLst>
          </p:cNvPr>
          <p:cNvSpPr>
            <a:spLocks noGrp="1"/>
          </p:cNvSpPr>
          <p:nvPr/>
        </p:nvSpPr>
        <p:spPr>
          <a:xfrm>
            <a:off x="812864" y="4057650"/>
            <a:ext cx="4476750" cy="742950"/>
          </a:xfrm>
          <a:prstGeom prst="rect">
            <a:avLst/>
          </a:prstGeom>
          <a:noFill/>
          <a:ln w="0">
            <a:noFill/>
          </a:ln>
        </p:spPr>
        <p:txBody>
          <a:bodyPr lIns="0" tIns="0" rIns="0" bIns="0" anchor="ctr">
            <a:noAutofit/>
          </a:bodyPr>
          <a:lstStyle>
            <a:defPPr>
              <a:defRPr sz="4800" b="1">
                <a:solidFill>
                  <a:srgbClr val="0086AC"/>
                </a:solidFill>
              </a:defRPr>
            </a:defPPr>
            <a:lvl1pPr>
              <a:defRPr sz="4800" b="1">
                <a:solidFill>
                  <a:srgbClr val="0086AC"/>
                </a:solidFill>
              </a:defRPr>
            </a:lvl1pPr>
            <a:lvl2pPr>
              <a:defRPr sz="4800" b="1">
                <a:solidFill>
                  <a:srgbClr val="0086AC"/>
                </a:solidFill>
              </a:defRPr>
            </a:lvl2pPr>
            <a:lvl3pPr>
              <a:defRPr sz="4800" b="1">
                <a:solidFill>
                  <a:srgbClr val="0086AC"/>
                </a:solidFill>
              </a:defRPr>
            </a:lvl3pPr>
            <a:lvl4pPr>
              <a:defRPr sz="4800" b="1">
                <a:solidFill>
                  <a:srgbClr val="0086AC"/>
                </a:solidFill>
              </a:defRPr>
            </a:lvl4pPr>
            <a:lvl5pPr>
              <a:defRPr sz="4800" b="1">
                <a:solidFill>
                  <a:srgbClr val="0086AC"/>
                </a:solidFill>
              </a:defRPr>
            </a:lvl5pPr>
            <a:lvl6pPr>
              <a:defRPr sz="4800" b="1">
                <a:solidFill>
                  <a:srgbClr val="0086AC"/>
                </a:solidFill>
              </a:defRPr>
            </a:lvl6pPr>
            <a:lvl7pPr>
              <a:defRPr sz="4800" b="1">
                <a:solidFill>
                  <a:srgbClr val="0086AC"/>
                </a:solidFill>
              </a:defRPr>
            </a:lvl7pPr>
            <a:lvl8pPr>
              <a:defRPr sz="4800" b="1">
                <a:solidFill>
                  <a:srgbClr val="0086AC"/>
                </a:solidFill>
              </a:defRPr>
            </a:lvl8pPr>
            <a:lvl9pPr>
              <a:defRPr sz="4800" b="1">
                <a:solidFill>
                  <a:srgbClr val="0086AC"/>
                </a:solidFill>
              </a:defRPr>
            </a:lvl9pPr>
          </a:lstStyle>
          <a:p>
            <a:pPr>
              <a:defRPr sz="4800" b="1">
                <a:solidFill>
                  <a:srgbClr val="0086AC"/>
                </a:solidFill>
              </a:defRPr>
            </a:pPr>
            <a:r>
              <a:rPr sz="4800" b="1">
                <a:solidFill>
                  <a:srgbClr val="0086AC"/>
                </a:solidFill>
              </a:rPr>
              <a:t>0 of 3</a:t>
            </a:r>
          </a:p>
        </p:txBody>
      </p:sp>
      <p:sp>
        <p:nvSpPr>
          <p:cNvPr id="2006" name="functional metric">
            <a:extLst>
              <a:ext uri="{FF2B5EF4-FFF2-40B4-BE49-F238E27FC236}">
                <a16:creationId xmlns:a16="http://schemas.microsoft.com/office/drawing/2014/main" id="{B8A12C75-C73D-40FA-AC8A-B905B3FD02F2}"/>
              </a:ext>
            </a:extLst>
          </p:cNvPr>
          <p:cNvSpPr>
            <a:spLocks noGrp="1"/>
          </p:cNvSpPr>
          <p:nvPr/>
        </p:nvSpPr>
        <p:spPr>
          <a:xfrm>
            <a:off x="812864" y="4848225"/>
            <a:ext cx="4572000" cy="409575"/>
          </a:xfrm>
          <a:prstGeom prst="rect">
            <a:avLst/>
          </a:prstGeom>
          <a:noFill/>
          <a:ln w="0">
            <a:noFill/>
          </a:ln>
        </p:spPr>
        <p:txBody>
          <a:bodyPr lIns="0" tIns="0" rIns="0" bIns="0" anchor="ctr">
            <a:noAutofit/>
          </a:bodyPr>
          <a:lstStyle>
            <a:defPPr>
              <a:defRPr sz="1650" b="0">
                <a:solidFill>
                  <a:srgbClr val="303238"/>
                </a:solidFill>
              </a:defRPr>
            </a:defPPr>
            <a:lvl1pPr>
              <a:defRPr sz="1650" b="0">
                <a:solidFill>
                  <a:srgbClr val="303238"/>
                </a:solidFill>
              </a:defRPr>
            </a:lvl1pPr>
            <a:lvl2pPr>
              <a:defRPr sz="1650" b="0">
                <a:solidFill>
                  <a:srgbClr val="303238"/>
                </a:solidFill>
              </a:defRPr>
            </a:lvl2pPr>
            <a:lvl3pPr>
              <a:defRPr sz="1650" b="0">
                <a:solidFill>
                  <a:srgbClr val="303238"/>
                </a:solidFill>
              </a:defRPr>
            </a:lvl3pPr>
            <a:lvl4pPr>
              <a:defRPr sz="1650" b="0">
                <a:solidFill>
                  <a:srgbClr val="303238"/>
                </a:solidFill>
              </a:defRPr>
            </a:lvl4pPr>
            <a:lvl5pPr>
              <a:defRPr sz="1650" b="0">
                <a:solidFill>
                  <a:srgbClr val="303238"/>
                </a:solidFill>
              </a:defRPr>
            </a:lvl5pPr>
            <a:lvl6pPr>
              <a:defRPr sz="1650" b="0">
                <a:solidFill>
                  <a:srgbClr val="303238"/>
                </a:solidFill>
              </a:defRPr>
            </a:lvl6pPr>
            <a:lvl7pPr>
              <a:defRPr sz="1650" b="0">
                <a:solidFill>
                  <a:srgbClr val="303238"/>
                </a:solidFill>
              </a:defRPr>
            </a:lvl7pPr>
            <a:lvl8pPr>
              <a:defRPr sz="1650" b="0">
                <a:solidFill>
                  <a:srgbClr val="303238"/>
                </a:solidFill>
              </a:defRPr>
            </a:lvl8pPr>
            <a:lvl9pPr>
              <a:defRPr sz="1650" b="0">
                <a:solidFill>
                  <a:srgbClr val="303238"/>
                </a:solidFill>
              </a:defRPr>
            </a:lvl9pPr>
          </a:lstStyle>
          <a:p>
            <a:pPr>
              <a:defRPr sz="1650" b="0">
                <a:solidFill>
                  <a:srgbClr val="303238"/>
                </a:solidFill>
              </a:defRPr>
            </a:pPr>
            <a:r>
              <a:rPr sz="1650" b="0">
                <a:solidFill>
                  <a:srgbClr val="303238"/>
                </a:solidFill>
              </a:rPr>
              <a:t>reviews identified PDF-related SSRF</a:t>
            </a:r>
          </a:p>
        </p:txBody>
      </p:sp>
      <p:sp>
        <p:nvSpPr>
          <p:cNvPr id="2007" name="security heading">
            <a:extLst>
              <a:ext uri="{FF2B5EF4-FFF2-40B4-BE49-F238E27FC236}">
                <a16:creationId xmlns:a16="http://schemas.microsoft.com/office/drawing/2014/main" id="{3511BE87-BA6C-4C84-9227-8002D2EF9789}"/>
              </a:ext>
            </a:extLst>
          </p:cNvPr>
          <p:cNvSpPr>
            <a:spLocks noGrp="1"/>
          </p:cNvSpPr>
          <p:nvPr/>
        </p:nvSpPr>
        <p:spPr>
          <a:xfrm>
            <a:off x="6191250" y="2143125"/>
            <a:ext cx="5191125" cy="381000"/>
          </a:xfrm>
          <a:prstGeom prst="rect">
            <a:avLst/>
          </a:prstGeom>
          <a:noFill/>
          <a:ln w="0">
            <a:noFill/>
          </a:ln>
        </p:spPr>
        <p:txBody>
          <a:bodyPr lIns="0" tIns="0" rIns="0" bIns="0" anchor="ctr">
            <a:noAutofit/>
          </a:bodyPr>
          <a:lstStyle>
            <a:defPPr>
              <a:defRPr sz="2100" b="1">
                <a:solidFill>
                  <a:srgbClr val="4F8734"/>
                </a:solidFill>
              </a:defRPr>
            </a:defPPr>
            <a:lvl1pPr>
              <a:defRPr sz="2100" b="1">
                <a:solidFill>
                  <a:srgbClr val="4F8734"/>
                </a:solidFill>
              </a:defRPr>
            </a:lvl1pPr>
            <a:lvl2pPr>
              <a:defRPr sz="2100" b="1">
                <a:solidFill>
                  <a:srgbClr val="4F8734"/>
                </a:solidFill>
              </a:defRPr>
            </a:lvl2pPr>
            <a:lvl3pPr>
              <a:defRPr sz="2100" b="1">
                <a:solidFill>
                  <a:srgbClr val="4F8734"/>
                </a:solidFill>
              </a:defRPr>
            </a:lvl3pPr>
            <a:lvl4pPr>
              <a:defRPr sz="2100" b="1">
                <a:solidFill>
                  <a:srgbClr val="4F8734"/>
                </a:solidFill>
              </a:defRPr>
            </a:lvl4pPr>
            <a:lvl5pPr>
              <a:defRPr sz="2100" b="1">
                <a:solidFill>
                  <a:srgbClr val="4F8734"/>
                </a:solidFill>
              </a:defRPr>
            </a:lvl5pPr>
            <a:lvl6pPr>
              <a:defRPr sz="2100" b="1">
                <a:solidFill>
                  <a:srgbClr val="4F8734"/>
                </a:solidFill>
              </a:defRPr>
            </a:lvl6pPr>
            <a:lvl7pPr>
              <a:defRPr sz="2100" b="1">
                <a:solidFill>
                  <a:srgbClr val="4F8734"/>
                </a:solidFill>
              </a:defRPr>
            </a:lvl7pPr>
            <a:lvl8pPr>
              <a:defRPr sz="2100" b="1">
                <a:solidFill>
                  <a:srgbClr val="4F8734"/>
                </a:solidFill>
              </a:defRPr>
            </a:lvl8pPr>
            <a:lvl9pPr>
              <a:defRPr sz="2100" b="1">
                <a:solidFill>
                  <a:srgbClr val="4F8734"/>
                </a:solidFill>
              </a:defRPr>
            </a:lvl9pPr>
          </a:lstStyle>
          <a:p>
            <a:pPr>
              <a:defRPr sz="2100" b="1">
                <a:solidFill>
                  <a:srgbClr val="4F8734"/>
                </a:solidFill>
              </a:defRPr>
            </a:pPr>
            <a:r>
              <a:rPr sz="2100" b="1">
                <a:solidFill>
                  <a:srgbClr val="4F8734"/>
                </a:solidFill>
              </a:rPr>
              <a:t>Proposed security requirement</a:t>
            </a:r>
          </a:p>
        </p:txBody>
      </p:sp>
      <p:sp>
        <p:nvSpPr>
          <p:cNvPr id="2008" name="security text">
            <a:extLst>
              <a:ext uri="{FF2B5EF4-FFF2-40B4-BE49-F238E27FC236}">
                <a16:creationId xmlns:a16="http://schemas.microsoft.com/office/drawing/2014/main" id="{A63C7861-34FF-42BB-A5B5-15DDC6D87C24}"/>
              </a:ext>
            </a:extLst>
          </p:cNvPr>
          <p:cNvSpPr>
            <a:spLocks noGrp="1"/>
          </p:cNvSpPr>
          <p:nvPr/>
        </p:nvSpPr>
        <p:spPr>
          <a:xfrm>
            <a:off x="6191250" y="2667000"/>
            <a:ext cx="5191125" cy="1314450"/>
          </a:xfrm>
          <a:prstGeom prst="rect">
            <a:avLst/>
          </a:prstGeom>
          <a:noFill/>
          <a:ln w="0">
            <a:noFill/>
          </a:ln>
        </p:spPr>
        <p:txBody>
          <a:bodyPr lIns="0" tIns="0" rIns="0" bIns="0" anchor="ctr">
            <a:noAutofit/>
          </a:bodyPr>
          <a:lstStyle>
            <a:defPPr>
              <a:defRPr sz="1800" b="0">
                <a:solidFill>
                  <a:srgbClr val="303238"/>
                </a:solidFill>
              </a:defRPr>
            </a:defPPr>
            <a:lvl1pPr>
              <a:defRPr sz="1800" b="0">
                <a:solidFill>
                  <a:srgbClr val="303238"/>
                </a:solidFill>
              </a:defRPr>
            </a:lvl1pPr>
            <a:lvl2pPr>
              <a:defRPr sz="1800" b="0">
                <a:solidFill>
                  <a:srgbClr val="303238"/>
                </a:solidFill>
              </a:defRPr>
            </a:lvl2pPr>
            <a:lvl3pPr>
              <a:defRPr sz="1800" b="0">
                <a:solidFill>
                  <a:srgbClr val="303238"/>
                </a:solidFill>
              </a:defRPr>
            </a:lvl3pPr>
            <a:lvl4pPr>
              <a:defRPr sz="1800" b="0">
                <a:solidFill>
                  <a:srgbClr val="303238"/>
                </a:solidFill>
              </a:defRPr>
            </a:lvl4pPr>
            <a:lvl5pPr>
              <a:defRPr sz="1800" b="0">
                <a:solidFill>
                  <a:srgbClr val="303238"/>
                </a:solidFill>
              </a:defRPr>
            </a:lvl5pPr>
            <a:lvl6pPr>
              <a:defRPr sz="1800" b="0">
                <a:solidFill>
                  <a:srgbClr val="303238"/>
                </a:solidFill>
              </a:defRPr>
            </a:lvl6pPr>
            <a:lvl7pPr>
              <a:defRPr sz="1800" b="0">
                <a:solidFill>
                  <a:srgbClr val="303238"/>
                </a:solidFill>
              </a:defRPr>
            </a:lvl7pPr>
            <a:lvl8pPr>
              <a:defRPr sz="1800" b="0">
                <a:solidFill>
                  <a:srgbClr val="303238"/>
                </a:solidFill>
              </a:defRPr>
            </a:lvl8pPr>
            <a:lvl9pPr>
              <a:defRPr sz="1800" b="0">
                <a:solidFill>
                  <a:srgbClr val="303238"/>
                </a:solidFill>
              </a:defRPr>
            </a:lvl9pPr>
          </a:lstStyle>
          <a:p>
            <a:pPr>
              <a:defRPr sz="1800" b="0">
                <a:solidFill>
                  <a:srgbClr val="303238"/>
                </a:solidFill>
              </a:defRPr>
            </a:pPr>
            <a:r>
              <a:rPr sz="1800" b="0">
                <a:solidFill>
                  <a:srgbClr val="303238"/>
                </a:solidFill>
              </a:rPr>
              <a:t>Render narrative as content.</a:t>
            </a:r>
          </a:p>
          <a:p>
            <a:pPr>
              <a:defRPr sz="1800" b="0">
                <a:solidFill>
                  <a:srgbClr val="303238"/>
                </a:solidFill>
              </a:defRPr>
            </a:pPr>
            <a:r>
              <a:rPr sz="1800" b="0">
                <a:solidFill>
                  <a:srgbClr val="303238"/>
                </a:solidFill>
              </a:rPr>
              <a:t>Narrative cannot direct resource loading.</a:t>
            </a:r>
          </a:p>
          <a:p>
            <a:pPr>
              <a:defRPr sz="1800" b="0">
                <a:solidFill>
                  <a:srgbClr val="303238"/>
                </a:solidFill>
              </a:defRPr>
            </a:pPr>
            <a:r>
              <a:rPr sz="1800" b="0">
                <a:solidFill>
                  <a:srgbClr val="303238"/>
                </a:solidFill>
              </a:rPr>
              <a:t>Allow application-controlled references</a:t>
            </a:r>
          </a:p>
          <a:p>
            <a:pPr>
              <a:defRPr sz="1800" b="0">
                <a:solidFill>
                  <a:srgbClr val="303238"/>
                </a:solidFill>
              </a:defRPr>
            </a:pPr>
            <a:r>
              <a:rPr sz="1800" b="0">
                <a:solidFill>
                  <a:srgbClr val="303238"/>
                </a:solidFill>
              </a:rPr>
              <a:t>to authorized media and approved assets.</a:t>
            </a:r>
          </a:p>
        </p:txBody>
      </p:sp>
      <p:sp>
        <p:nvSpPr>
          <p:cNvPr id="2009" name="security result">
            <a:extLst>
              <a:ext uri="{FF2B5EF4-FFF2-40B4-BE49-F238E27FC236}">
                <a16:creationId xmlns:a16="http://schemas.microsoft.com/office/drawing/2014/main" id="{DAB8A885-93F6-4249-A11D-42DA818EA8AC}"/>
              </a:ext>
            </a:extLst>
          </p:cNvPr>
          <p:cNvSpPr>
            <a:spLocks noGrp="1"/>
          </p:cNvSpPr>
          <p:nvPr/>
        </p:nvSpPr>
        <p:spPr>
          <a:xfrm>
            <a:off x="6191250" y="4057650"/>
            <a:ext cx="5191125" cy="742950"/>
          </a:xfrm>
          <a:prstGeom prst="rect">
            <a:avLst/>
          </a:prstGeom>
          <a:noFill/>
          <a:ln w="0">
            <a:noFill/>
          </a:ln>
        </p:spPr>
        <p:txBody>
          <a:bodyPr lIns="0" tIns="0" rIns="0" bIns="0" anchor="ctr">
            <a:noAutofit/>
          </a:bodyPr>
          <a:lstStyle>
            <a:defPPr>
              <a:defRPr sz="4800" b="1">
                <a:solidFill>
                  <a:srgbClr val="4F8734"/>
                </a:solidFill>
              </a:defRPr>
            </a:defPPr>
            <a:lvl1pPr>
              <a:defRPr sz="4800" b="1">
                <a:solidFill>
                  <a:srgbClr val="4F8734"/>
                </a:solidFill>
              </a:defRPr>
            </a:lvl1pPr>
            <a:lvl2pPr>
              <a:defRPr sz="4800" b="1">
                <a:solidFill>
                  <a:srgbClr val="4F8734"/>
                </a:solidFill>
              </a:defRPr>
            </a:lvl2pPr>
            <a:lvl3pPr>
              <a:defRPr sz="4800" b="1">
                <a:solidFill>
                  <a:srgbClr val="4F8734"/>
                </a:solidFill>
              </a:defRPr>
            </a:lvl3pPr>
            <a:lvl4pPr>
              <a:defRPr sz="4800" b="1">
                <a:solidFill>
                  <a:srgbClr val="4F8734"/>
                </a:solidFill>
              </a:defRPr>
            </a:lvl4pPr>
            <a:lvl5pPr>
              <a:defRPr sz="4800" b="1">
                <a:solidFill>
                  <a:srgbClr val="4F8734"/>
                </a:solidFill>
              </a:defRPr>
            </a:lvl5pPr>
            <a:lvl6pPr>
              <a:defRPr sz="4800" b="1">
                <a:solidFill>
                  <a:srgbClr val="4F8734"/>
                </a:solidFill>
              </a:defRPr>
            </a:lvl6pPr>
            <a:lvl7pPr>
              <a:defRPr sz="4800" b="1">
                <a:solidFill>
                  <a:srgbClr val="4F8734"/>
                </a:solidFill>
              </a:defRPr>
            </a:lvl7pPr>
            <a:lvl8pPr>
              <a:defRPr sz="4800" b="1">
                <a:solidFill>
                  <a:srgbClr val="4F8734"/>
                </a:solidFill>
              </a:defRPr>
            </a:lvl8pPr>
            <a:lvl9pPr>
              <a:defRPr sz="4800" b="1">
                <a:solidFill>
                  <a:srgbClr val="4F8734"/>
                </a:solidFill>
              </a:defRPr>
            </a:lvl9pPr>
          </a:lstStyle>
          <a:p>
            <a:pPr>
              <a:defRPr sz="4800" b="1">
                <a:solidFill>
                  <a:srgbClr val="4F8734"/>
                </a:solidFill>
              </a:defRPr>
            </a:pPr>
            <a:r>
              <a:rPr sz="4800" b="1">
                <a:solidFill>
                  <a:srgbClr val="4F8734"/>
                </a:solidFill>
              </a:rPr>
              <a:t>3 of 3</a:t>
            </a:r>
          </a:p>
        </p:txBody>
      </p:sp>
      <p:sp>
        <p:nvSpPr>
          <p:cNvPr id="2010" name="security metric">
            <a:extLst>
              <a:ext uri="{FF2B5EF4-FFF2-40B4-BE49-F238E27FC236}">
                <a16:creationId xmlns:a16="http://schemas.microsoft.com/office/drawing/2014/main" id="{3DE27C52-D55D-47A9-AC2C-CD3D3BD1FFF6}"/>
              </a:ext>
            </a:extLst>
          </p:cNvPr>
          <p:cNvSpPr>
            <a:spLocks noGrp="1"/>
          </p:cNvSpPr>
          <p:nvPr/>
        </p:nvSpPr>
        <p:spPr>
          <a:xfrm>
            <a:off x="6191250" y="4848225"/>
            <a:ext cx="5191125" cy="409575"/>
          </a:xfrm>
          <a:prstGeom prst="rect">
            <a:avLst/>
          </a:prstGeom>
          <a:noFill/>
          <a:ln w="0">
            <a:noFill/>
          </a:ln>
        </p:spPr>
        <p:txBody>
          <a:bodyPr lIns="0" tIns="0" rIns="0" bIns="0" anchor="ctr">
            <a:noAutofit/>
          </a:bodyPr>
          <a:lstStyle>
            <a:defPPr>
              <a:defRPr sz="1650" b="0">
                <a:solidFill>
                  <a:srgbClr val="303238"/>
                </a:solidFill>
              </a:defRPr>
            </a:defPPr>
            <a:lvl1pPr>
              <a:defRPr sz="1650" b="0">
                <a:solidFill>
                  <a:srgbClr val="303238"/>
                </a:solidFill>
              </a:defRPr>
            </a:lvl1pPr>
            <a:lvl2pPr>
              <a:defRPr sz="1650" b="0">
                <a:solidFill>
                  <a:srgbClr val="303238"/>
                </a:solidFill>
              </a:defRPr>
            </a:lvl2pPr>
            <a:lvl3pPr>
              <a:defRPr sz="1650" b="0">
                <a:solidFill>
                  <a:srgbClr val="303238"/>
                </a:solidFill>
              </a:defRPr>
            </a:lvl3pPr>
            <a:lvl4pPr>
              <a:defRPr sz="1650" b="0">
                <a:solidFill>
                  <a:srgbClr val="303238"/>
                </a:solidFill>
              </a:defRPr>
            </a:lvl4pPr>
            <a:lvl5pPr>
              <a:defRPr sz="1650" b="0">
                <a:solidFill>
                  <a:srgbClr val="303238"/>
                </a:solidFill>
              </a:defRPr>
            </a:lvl5pPr>
            <a:lvl6pPr>
              <a:defRPr sz="1650" b="0">
                <a:solidFill>
                  <a:srgbClr val="303238"/>
                </a:solidFill>
              </a:defRPr>
            </a:lvl6pPr>
            <a:lvl7pPr>
              <a:defRPr sz="1650" b="0">
                <a:solidFill>
                  <a:srgbClr val="303238"/>
                </a:solidFill>
              </a:defRPr>
            </a:lvl7pPr>
            <a:lvl8pPr>
              <a:defRPr sz="1650" b="0">
                <a:solidFill>
                  <a:srgbClr val="303238"/>
                </a:solidFill>
              </a:defRPr>
            </a:lvl8pPr>
            <a:lvl9pPr>
              <a:defRPr sz="1650" b="0">
                <a:solidFill>
                  <a:srgbClr val="303238"/>
                </a:solidFill>
              </a:defRPr>
            </a:lvl9pPr>
          </a:lstStyle>
          <a:p>
            <a:pPr>
              <a:defRPr sz="1650" b="0">
                <a:solidFill>
                  <a:srgbClr val="303238"/>
                </a:solidFill>
              </a:defRPr>
            </a:pPr>
            <a:r>
              <a:rPr sz="1650" b="0">
                <a:solidFill>
                  <a:srgbClr val="303238"/>
                </a:solidFill>
              </a:rPr>
              <a:t>reviews identified PDF-related SSRF</a:t>
            </a:r>
          </a:p>
        </p:txBody>
      </p:sp>
      <p:sp>
        <p:nvSpPr>
          <p:cNvPr id="2011" name="function preserved">
            <a:extLst>
              <a:ext uri="{FF2B5EF4-FFF2-40B4-BE49-F238E27FC236}">
                <a16:creationId xmlns:a16="http://schemas.microsoft.com/office/drawing/2014/main" id="{CC2AB0AD-1BF1-4122-AD16-54D03717E668}"/>
              </a:ext>
            </a:extLst>
          </p:cNvPr>
          <p:cNvSpPr>
            <a:spLocks noGrp="1"/>
          </p:cNvSpPr>
          <p:nvPr/>
        </p:nvSpPr>
        <p:spPr>
          <a:xfrm>
            <a:off x="812864" y="5524500"/>
            <a:ext cx="10572750" cy="342900"/>
          </a:xfrm>
          <a:prstGeom prst="rect">
            <a:avLst/>
          </a:prstGeom>
          <a:noFill/>
          <a:ln w="0">
            <a:noFill/>
          </a:ln>
        </p:spPr>
        <p:txBody>
          <a:bodyPr lIns="0" tIns="0" rIns="0" bIns="0" anchor="ctr">
            <a:noAutofit/>
          </a:bodyPr>
          <a:lstStyle>
            <a:defPPr>
              <a:defRPr sz="1800" b="1">
                <a:solidFill>
                  <a:srgbClr val="303238"/>
                </a:solidFill>
              </a:defRPr>
            </a:defPPr>
            <a:lvl1pPr>
              <a:defRPr sz="1800" b="1">
                <a:solidFill>
                  <a:srgbClr val="303238"/>
                </a:solidFill>
              </a:defRPr>
            </a:lvl1pPr>
            <a:lvl2pPr>
              <a:defRPr sz="1800" b="1">
                <a:solidFill>
                  <a:srgbClr val="303238"/>
                </a:solidFill>
              </a:defRPr>
            </a:lvl2pPr>
            <a:lvl3pPr>
              <a:defRPr sz="1800" b="1">
                <a:solidFill>
                  <a:srgbClr val="303238"/>
                </a:solidFill>
              </a:defRPr>
            </a:lvl3pPr>
            <a:lvl4pPr>
              <a:defRPr sz="1800" b="1">
                <a:solidFill>
                  <a:srgbClr val="303238"/>
                </a:solidFill>
              </a:defRPr>
            </a:lvl4pPr>
            <a:lvl5pPr>
              <a:defRPr sz="1800" b="1">
                <a:solidFill>
                  <a:srgbClr val="303238"/>
                </a:solidFill>
              </a:defRPr>
            </a:lvl5pPr>
            <a:lvl6pPr>
              <a:defRPr sz="1800" b="1">
                <a:solidFill>
                  <a:srgbClr val="303238"/>
                </a:solidFill>
              </a:defRPr>
            </a:lvl6pPr>
            <a:lvl7pPr>
              <a:defRPr sz="1800" b="1">
                <a:solidFill>
                  <a:srgbClr val="303238"/>
                </a:solidFill>
              </a:defRPr>
            </a:lvl7pPr>
            <a:lvl8pPr>
              <a:defRPr sz="1800" b="1">
                <a:solidFill>
                  <a:srgbClr val="303238"/>
                </a:solidFill>
              </a:defRPr>
            </a:lvl8pPr>
            <a:lvl9pPr>
              <a:defRPr sz="1800" b="1">
                <a:solidFill>
                  <a:srgbClr val="303238"/>
                </a:solidFill>
              </a:defRPr>
            </a:lvl9pPr>
          </a:lstStyle>
          <a:p>
            <a:pPr>
              <a:defRPr sz="1800" b="1">
                <a:solidFill>
                  <a:srgbClr val="303238"/>
                </a:solidFill>
              </a:defRPr>
            </a:pPr>
            <a:r>
              <a:rPr sz="1800" b="1">
                <a:solidFill>
                  <a:srgbClr val="303238"/>
                </a:solidFill>
              </a:rPr>
              <a:t>Preserve authorized clinical images. Prevent narrative-driven resource access.</a:t>
            </a:r>
          </a:p>
        </p:txBody>
      </p:sp>
      <p:sp>
        <p:nvSpPr>
          <p:cNvPr id="2012" name="comparison limits">
            <a:extLst>
              <a:ext uri="{FF2B5EF4-FFF2-40B4-BE49-F238E27FC236}">
                <a16:creationId xmlns:a16="http://schemas.microsoft.com/office/drawing/2014/main" id="{45A28673-F7D1-4915-9579-233AE426F7D9}"/>
              </a:ext>
            </a:extLst>
          </p:cNvPr>
          <p:cNvSpPr>
            <a:spLocks noGrp="1"/>
          </p:cNvSpPr>
          <p:nvPr/>
        </p:nvSpPr>
        <p:spPr>
          <a:xfrm>
            <a:off x="812864" y="6067425"/>
            <a:ext cx="9715500" cy="428625"/>
          </a:xfrm>
          <a:prstGeom prst="rect">
            <a:avLst/>
          </a:prstGeom>
          <a:noFill/>
          <a:ln w="0">
            <a:noFill/>
          </a:ln>
        </p:spPr>
        <p:txBody>
          <a:bodyPr lIns="0" tIns="0" rIns="0" bIns="0" anchor="ctr">
            <a:noAutofit/>
          </a:bodyPr>
          <a:lstStyle>
            <a:defPPr>
              <a:defRPr sz="1200" b="0">
                <a:solidFill>
                  <a:srgbClr val="666666"/>
                </a:solidFill>
              </a:defRPr>
            </a:defPPr>
            <a:lvl1pPr>
              <a:defRPr sz="1200" b="0">
                <a:solidFill>
                  <a:srgbClr val="666666"/>
                </a:solidFill>
              </a:defRPr>
            </a:lvl1pPr>
            <a:lvl2pPr>
              <a:defRPr sz="1200" b="0">
                <a:solidFill>
                  <a:srgbClr val="666666"/>
                </a:solidFill>
              </a:defRPr>
            </a:lvl2pPr>
            <a:lvl3pPr>
              <a:defRPr sz="1200" b="0">
                <a:solidFill>
                  <a:srgbClr val="666666"/>
                </a:solidFill>
              </a:defRPr>
            </a:lvl3pPr>
            <a:lvl4pPr>
              <a:defRPr sz="1200" b="0">
                <a:solidFill>
                  <a:srgbClr val="666666"/>
                </a:solidFill>
              </a:defRPr>
            </a:lvl4pPr>
            <a:lvl5pPr>
              <a:defRPr sz="1200" b="0">
                <a:solidFill>
                  <a:srgbClr val="666666"/>
                </a:solidFill>
              </a:defRPr>
            </a:lvl5pPr>
            <a:lvl6pPr>
              <a:defRPr sz="1200" b="0">
                <a:solidFill>
                  <a:srgbClr val="666666"/>
                </a:solidFill>
              </a:defRPr>
            </a:lvl6pPr>
            <a:lvl7pPr>
              <a:defRPr sz="1200" b="0">
                <a:solidFill>
                  <a:srgbClr val="666666"/>
                </a:solidFill>
              </a:defRPr>
            </a:lvl7pPr>
            <a:lvl8pPr>
              <a:defRPr sz="1200" b="0">
                <a:solidFill>
                  <a:srgbClr val="666666"/>
                </a:solidFill>
              </a:defRPr>
            </a:lvl8pPr>
            <a:lvl9pPr>
              <a:defRPr sz="1200" b="0">
                <a:solidFill>
                  <a:srgbClr val="666666"/>
                </a:solidFill>
              </a:defRPr>
            </a:lvl9pPr>
          </a:lstStyle>
          <a:p>
            <a:pPr>
              <a:defRPr sz="1200" b="0">
                <a:solidFill>
                  <a:srgbClr val="666666"/>
                </a:solidFill>
              </a:defRPr>
            </a:pPr>
            <a:r>
              <a:rPr sz="1200" b="0">
                <a:solidFill>
                  <a:srgbClr val="666666"/>
                </a:solidFill>
              </a:rPr>
              <a:t>One original case, three completed reviews per card. Requirement drafted with hindsight; owner approval and independent verification pending.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8">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2009" name="title">
            <a:extLst>
              <a:ext uri="{FF2B5EF4-FFF2-40B4-BE49-F238E27FC236}">
                <a16:creationId xmlns:a16="http://schemas.microsoft.com/office/drawing/2014/main" id="{2ADA135F-BCA7-401E-A61A-98302D3B3515}"/>
              </a:ext>
            </a:extLst>
          </p:cNvPr>
          <p:cNvSpPr>
            <a:spLocks noGrp="1"/>
          </p:cNvSpPr>
          <p:nvPr/>
        </p:nvSpPr>
        <p:spPr>
          <a:xfrm>
            <a:off x="812864" y="819150"/>
            <a:ext cx="11379136" cy="514350"/>
          </a:xfrm>
          <a:prstGeom prst="rect">
            <a:avLst/>
          </a:prstGeom>
          <a:noFill/>
          <a:ln w="0">
            <a:noFill/>
          </a:ln>
        </p:spPr>
        <p:txBody>
          <a:bodyPr lIns="0" tIns="0" rIns="0" bIns="0" anchor="ctr">
            <a:noAutofit/>
          </a:bodyPr>
          <a:lstStyle>
            <a:defPPr>
              <a:defRPr sz="3000" b="1">
                <a:solidFill>
                  <a:srgbClr val="4F8734"/>
                </a:solidFill>
              </a:defRPr>
            </a:defPPr>
            <a:lvl1pPr>
              <a:defRPr sz="3000" b="1">
                <a:solidFill>
                  <a:srgbClr val="4F8734"/>
                </a:solidFill>
              </a:defRPr>
            </a:lvl1pPr>
            <a:lvl2pPr>
              <a:defRPr sz="3000" b="1">
                <a:solidFill>
                  <a:srgbClr val="4F8734"/>
                </a:solidFill>
              </a:defRPr>
            </a:lvl2pPr>
            <a:lvl3pPr>
              <a:defRPr sz="3000" b="1">
                <a:solidFill>
                  <a:srgbClr val="4F8734"/>
                </a:solidFill>
              </a:defRPr>
            </a:lvl3pPr>
            <a:lvl4pPr>
              <a:defRPr sz="3000" b="1">
                <a:solidFill>
                  <a:srgbClr val="4F8734"/>
                </a:solidFill>
              </a:defRPr>
            </a:lvl4pPr>
            <a:lvl5pPr>
              <a:defRPr sz="3000" b="1">
                <a:solidFill>
                  <a:srgbClr val="4F8734"/>
                </a:solidFill>
              </a:defRPr>
            </a:lvl5pPr>
            <a:lvl6pPr>
              <a:defRPr sz="3000" b="1">
                <a:solidFill>
                  <a:srgbClr val="4F8734"/>
                </a:solidFill>
              </a:defRPr>
            </a:lvl6pPr>
            <a:lvl7pPr>
              <a:defRPr sz="3000" b="1">
                <a:solidFill>
                  <a:srgbClr val="4F8734"/>
                </a:solidFill>
              </a:defRPr>
            </a:lvl7pPr>
            <a:lvl8pPr>
              <a:defRPr sz="3000" b="1">
                <a:solidFill>
                  <a:srgbClr val="4F8734"/>
                </a:solidFill>
              </a:defRPr>
            </a:lvl8pPr>
            <a:lvl9pPr>
              <a:defRPr sz="3000" b="1">
                <a:solidFill>
                  <a:srgbClr val="4F8734"/>
                </a:solidFill>
              </a:defRPr>
            </a:lvl9pPr>
          </a:lstStyle>
          <a:p>
            <a:pPr>
              <a:defRPr sz="3000" b="1">
                <a:solidFill>
                  <a:srgbClr val="4F8734"/>
                </a:solidFill>
              </a:defRPr>
            </a:pPr>
            <a:r>
              <a:rPr lang="en-US" dirty="0"/>
              <a:t>Round 5: a requirement brings findings to 24 of 24</a:t>
            </a:r>
            <a:endParaRPr sz="3000" b="1" dirty="0">
              <a:solidFill>
                <a:srgbClr val="4F8734"/>
              </a:solidFill>
            </a:endParaRPr>
          </a:p>
        </p:txBody>
      </p:sp>
      <p:sp>
        <p:nvSpPr>
          <p:cNvPr id="2002" name="subtitle">
            <a:extLst>
              <a:ext uri="{FF2B5EF4-FFF2-40B4-BE49-F238E27FC236}">
                <a16:creationId xmlns:a16="http://schemas.microsoft.com/office/drawing/2014/main" id="{007091C8-32F7-4B54-AF9A-D1E808F9B7F2}"/>
              </a:ext>
            </a:extLst>
          </p:cNvPr>
          <p:cNvSpPr>
            <a:spLocks noGrp="1"/>
          </p:cNvSpPr>
          <p:nvPr/>
        </p:nvSpPr>
        <p:spPr>
          <a:xfrm>
            <a:off x="812864" y="1390650"/>
            <a:ext cx="10572750" cy="409575"/>
          </a:xfrm>
          <a:prstGeom prst="rect">
            <a:avLst/>
          </a:prstGeom>
          <a:noFill/>
          <a:ln w="0">
            <a:noFill/>
          </a:ln>
        </p:spPr>
        <p:txBody>
          <a:bodyPr lIns="0" tIns="0" rIns="0" bIns="0" anchor="ctr">
            <a:noAutofit/>
          </a:bodyPr>
          <a:lstStyle>
            <a:defPPr>
              <a:defRPr sz="1725" b="0">
                <a:solidFill>
                  <a:srgbClr val="303238"/>
                </a:solidFill>
              </a:defRPr>
            </a:defPPr>
            <a:lvl1pPr>
              <a:defRPr sz="1725" b="0">
                <a:solidFill>
                  <a:srgbClr val="303238"/>
                </a:solidFill>
              </a:defRPr>
            </a:lvl1pPr>
            <a:lvl2pPr>
              <a:defRPr sz="1725" b="0">
                <a:solidFill>
                  <a:srgbClr val="303238"/>
                </a:solidFill>
              </a:defRPr>
            </a:lvl2pPr>
            <a:lvl3pPr>
              <a:defRPr sz="1725" b="0">
                <a:solidFill>
                  <a:srgbClr val="303238"/>
                </a:solidFill>
              </a:defRPr>
            </a:lvl3pPr>
            <a:lvl4pPr>
              <a:defRPr sz="1725" b="0">
                <a:solidFill>
                  <a:srgbClr val="303238"/>
                </a:solidFill>
              </a:defRPr>
            </a:lvl4pPr>
            <a:lvl5pPr>
              <a:defRPr sz="1725" b="0">
                <a:solidFill>
                  <a:srgbClr val="303238"/>
                </a:solidFill>
              </a:defRPr>
            </a:lvl5pPr>
            <a:lvl6pPr>
              <a:defRPr sz="1725" b="0">
                <a:solidFill>
                  <a:srgbClr val="303238"/>
                </a:solidFill>
              </a:defRPr>
            </a:lvl6pPr>
            <a:lvl7pPr>
              <a:defRPr sz="1725" b="0">
                <a:solidFill>
                  <a:srgbClr val="303238"/>
                </a:solidFill>
              </a:defRPr>
            </a:lvl7pPr>
            <a:lvl8pPr>
              <a:defRPr sz="1725" b="0">
                <a:solidFill>
                  <a:srgbClr val="303238"/>
                </a:solidFill>
              </a:defRPr>
            </a:lvl8pPr>
            <a:lvl9pPr>
              <a:defRPr sz="1725" b="0">
                <a:solidFill>
                  <a:srgbClr val="303238"/>
                </a:solidFill>
              </a:defRPr>
            </a:lvl9pPr>
          </a:lstStyle>
          <a:p>
            <a:pPr>
              <a:defRPr sz="1725" b="0">
                <a:solidFill>
                  <a:srgbClr val="303238"/>
                </a:solidFill>
              </a:defRPr>
            </a:pPr>
            <a:r>
              <a:rPr sz="1725" b="0">
                <a:solidFill>
                  <a:srgbClr val="303238"/>
                </a:solidFill>
              </a:rPr>
              <a:t>Case coverage by OWASP Top 10 category</a:t>
            </a:r>
          </a:p>
        </p:txBody>
      </p:sp>
      <p:sp>
        <p:nvSpPr>
          <p:cNvPr id="2003" name="original group">
            <a:extLst>
              <a:ext uri="{FF2B5EF4-FFF2-40B4-BE49-F238E27FC236}">
                <a16:creationId xmlns:a16="http://schemas.microsoft.com/office/drawing/2014/main" id="{872AECC4-F0C7-4554-9521-129137F08761}"/>
              </a:ext>
            </a:extLst>
          </p:cNvPr>
          <p:cNvSpPr>
            <a:spLocks noGrp="1"/>
          </p:cNvSpPr>
          <p:nvPr/>
        </p:nvSpPr>
        <p:spPr>
          <a:xfrm>
            <a:off x="4289489" y="1809750"/>
            <a:ext cx="2838450" cy="228600"/>
          </a:xfrm>
          <a:prstGeom prst="rect">
            <a:avLst/>
          </a:prstGeom>
          <a:noFill/>
          <a:ln w="0">
            <a:noFill/>
          </a:ln>
        </p:spPr>
        <p:txBody>
          <a:bodyPr lIns="0" tIns="0" rIns="0" bIns="0" anchor="ctr">
            <a:noAutofit/>
          </a:bodyPr>
          <a:lstStyle>
            <a:defPPr>
              <a:defRPr sz="1200" b="1">
                <a:solidFill>
                  <a:srgbClr val="0086AC"/>
                </a:solidFill>
              </a:defRPr>
            </a:defPPr>
            <a:lvl1pPr>
              <a:defRPr sz="1200" b="1">
                <a:solidFill>
                  <a:srgbClr val="0086AC"/>
                </a:solidFill>
              </a:defRPr>
            </a:lvl1pPr>
            <a:lvl2pPr>
              <a:defRPr sz="1200" b="1">
                <a:solidFill>
                  <a:srgbClr val="0086AC"/>
                </a:solidFill>
              </a:defRPr>
            </a:lvl2pPr>
            <a:lvl3pPr>
              <a:defRPr sz="1200" b="1">
                <a:solidFill>
                  <a:srgbClr val="0086AC"/>
                </a:solidFill>
              </a:defRPr>
            </a:lvl3pPr>
            <a:lvl4pPr>
              <a:defRPr sz="1200" b="1">
                <a:solidFill>
                  <a:srgbClr val="0086AC"/>
                </a:solidFill>
              </a:defRPr>
            </a:lvl4pPr>
            <a:lvl5pPr>
              <a:defRPr sz="1200" b="1">
                <a:solidFill>
                  <a:srgbClr val="0086AC"/>
                </a:solidFill>
              </a:defRPr>
            </a:lvl5pPr>
            <a:lvl6pPr>
              <a:defRPr sz="1200" b="1">
                <a:solidFill>
                  <a:srgbClr val="0086AC"/>
                </a:solidFill>
              </a:defRPr>
            </a:lvl6pPr>
            <a:lvl7pPr>
              <a:defRPr sz="1200" b="1">
                <a:solidFill>
                  <a:srgbClr val="0086AC"/>
                </a:solidFill>
              </a:defRPr>
            </a:lvl7pPr>
            <a:lvl8pPr>
              <a:defRPr sz="1200" b="1">
                <a:solidFill>
                  <a:srgbClr val="0086AC"/>
                </a:solidFill>
              </a:defRPr>
            </a:lvl8pPr>
            <a:lvl9pPr>
              <a:defRPr sz="1200" b="1">
                <a:solidFill>
                  <a:srgbClr val="0086AC"/>
                </a:solidFill>
              </a:defRPr>
            </a:lvl9pPr>
          </a:lstStyle>
          <a:p>
            <a:pPr>
              <a:defRPr sz="1200" b="1">
                <a:solidFill>
                  <a:srgbClr val="0086AC"/>
                </a:solidFill>
              </a:defRPr>
            </a:pPr>
            <a:r>
              <a:rPr sz="1200" b="1">
                <a:solidFill>
                  <a:srgbClr val="0086AC"/>
                </a:solidFill>
              </a:rPr>
              <a:t>Original study: all 24 cases</a:t>
            </a:r>
          </a:p>
        </p:txBody>
      </p:sp>
      <p:sp>
        <p:nvSpPr>
          <p:cNvPr id="2004" name="followup group">
            <a:extLst>
              <a:ext uri="{FF2B5EF4-FFF2-40B4-BE49-F238E27FC236}">
                <a16:creationId xmlns:a16="http://schemas.microsoft.com/office/drawing/2014/main" id="{E3FF2BD7-E29F-493B-865E-3F917991FA5C}"/>
              </a:ext>
            </a:extLst>
          </p:cNvPr>
          <p:cNvSpPr>
            <a:spLocks noGrp="1"/>
          </p:cNvSpPr>
          <p:nvPr/>
        </p:nvSpPr>
        <p:spPr>
          <a:xfrm>
            <a:off x="7127939" y="1809750"/>
            <a:ext cx="4257675" cy="228600"/>
          </a:xfrm>
          <a:prstGeom prst="rect">
            <a:avLst/>
          </a:prstGeom>
          <a:noFill/>
          <a:ln w="0">
            <a:noFill/>
          </a:ln>
        </p:spPr>
        <p:txBody>
          <a:bodyPr lIns="0" tIns="0" rIns="0" bIns="0" anchor="ctr">
            <a:noAutofit/>
          </a:bodyPr>
          <a:lstStyle>
            <a:defPPr>
              <a:defRPr sz="1200" b="1">
                <a:solidFill>
                  <a:srgbClr val="4F8734"/>
                </a:solidFill>
              </a:defRPr>
            </a:defPPr>
            <a:lvl1pPr>
              <a:defRPr sz="1200" b="1">
                <a:solidFill>
                  <a:srgbClr val="4F8734"/>
                </a:solidFill>
              </a:defRPr>
            </a:lvl1pPr>
            <a:lvl2pPr>
              <a:defRPr sz="1200" b="1">
                <a:solidFill>
                  <a:srgbClr val="4F8734"/>
                </a:solidFill>
              </a:defRPr>
            </a:lvl2pPr>
            <a:lvl3pPr>
              <a:defRPr sz="1200" b="1">
                <a:solidFill>
                  <a:srgbClr val="4F8734"/>
                </a:solidFill>
              </a:defRPr>
            </a:lvl3pPr>
            <a:lvl4pPr>
              <a:defRPr sz="1200" b="1">
                <a:solidFill>
                  <a:srgbClr val="4F8734"/>
                </a:solidFill>
              </a:defRPr>
            </a:lvl4pPr>
            <a:lvl5pPr>
              <a:defRPr sz="1200" b="1">
                <a:solidFill>
                  <a:srgbClr val="4F8734"/>
                </a:solidFill>
              </a:defRPr>
            </a:lvl5pPr>
            <a:lvl6pPr>
              <a:defRPr sz="1200" b="1">
                <a:solidFill>
                  <a:srgbClr val="4F8734"/>
                </a:solidFill>
              </a:defRPr>
            </a:lvl6pPr>
            <a:lvl7pPr>
              <a:defRPr sz="1200" b="1">
                <a:solidFill>
                  <a:srgbClr val="4F8734"/>
                </a:solidFill>
              </a:defRPr>
            </a:lvl7pPr>
            <a:lvl8pPr>
              <a:defRPr sz="1200" b="1">
                <a:solidFill>
                  <a:srgbClr val="4F8734"/>
                </a:solidFill>
              </a:defRPr>
            </a:lvl8pPr>
            <a:lvl9pPr>
              <a:defRPr sz="1200" b="1">
                <a:solidFill>
                  <a:srgbClr val="4F8734"/>
                </a:solidFill>
              </a:defRPr>
            </a:lvl9pPr>
          </a:lstStyle>
          <a:p>
            <a:pPr>
              <a:defRPr sz="1200" b="1">
                <a:solidFill>
                  <a:srgbClr val="4F8734"/>
                </a:solidFill>
              </a:defRPr>
            </a:pPr>
            <a:r>
              <a:rPr sz="1200" b="1">
                <a:solidFill>
                  <a:srgbClr val="4F8734"/>
                </a:solidFill>
              </a:rPr>
              <a:t>Targeted follow-up rounds</a:t>
            </a:r>
          </a:p>
        </p:txBody>
      </p:sp>
      <p:graphicFrame>
        <p:nvGraphicFramePr>
          <p:cNvPr id="2005" name="Table 2004">
            <a:extLst>
              <a:ext uri="{FF2B5EF4-FFF2-40B4-BE49-F238E27FC236}">
                <a16:creationId xmlns:a16="http://schemas.microsoft.com/office/drawing/2014/main" id="{AC32AEA9-2EC1-4F33-93F3-3F02238ADBD4}"/>
              </a:ext>
            </a:extLst>
          </p:cNvPr>
          <p:cNvGraphicFramePr/>
          <p:nvPr>
            <p:extLst>
              <p:ext uri="{D42A27DB-BD31-4B8C-83A1-F6EECF244321}">
                <p14:modId xmlns:p14="http://schemas.microsoft.com/office/powerpoint/2010/main" val="342293055"/>
              </p:ext>
            </p:extLst>
          </p:nvPr>
        </p:nvGraphicFramePr>
        <p:xfrm>
          <a:off x="812864" y="2105025"/>
          <a:ext cx="10572750" cy="3219450"/>
        </p:xfrm>
        <a:graphic>
          <a:graphicData uri="http://schemas.openxmlformats.org/drawingml/2006/table">
            <a:tbl>
              <a:tblPr/>
              <a:tblGrid>
                <a:gridCol w="2762250">
                  <a:extLst>
                    <a:ext uri="{9D8B030D-6E8A-4147-A177-3AD203B41FA5}">
                      <a16:colId xmlns:a16="http://schemas.microsoft.com/office/drawing/2014/main" val="20000"/>
                    </a:ext>
                  </a:extLst>
                </a:gridCol>
                <a:gridCol w="714375">
                  <a:extLst>
                    <a:ext uri="{9D8B030D-6E8A-4147-A177-3AD203B41FA5}">
                      <a16:colId xmlns:a16="http://schemas.microsoft.com/office/drawing/2014/main" val="20001"/>
                    </a:ext>
                  </a:extLst>
                </a:gridCol>
                <a:gridCol w="1419225">
                  <a:extLst>
                    <a:ext uri="{9D8B030D-6E8A-4147-A177-3AD203B41FA5}">
                      <a16:colId xmlns:a16="http://schemas.microsoft.com/office/drawing/2014/main" val="20002"/>
                    </a:ext>
                  </a:extLst>
                </a:gridCol>
                <a:gridCol w="1419225">
                  <a:extLst>
                    <a:ext uri="{9D8B030D-6E8A-4147-A177-3AD203B41FA5}">
                      <a16:colId xmlns:a16="http://schemas.microsoft.com/office/drawing/2014/main" val="20003"/>
                    </a:ext>
                  </a:extLst>
                </a:gridCol>
                <a:gridCol w="1419225">
                  <a:extLst>
                    <a:ext uri="{9D8B030D-6E8A-4147-A177-3AD203B41FA5}">
                      <a16:colId xmlns:a16="http://schemas.microsoft.com/office/drawing/2014/main" val="20004"/>
                    </a:ext>
                  </a:extLst>
                </a:gridCol>
                <a:gridCol w="1419225">
                  <a:extLst>
                    <a:ext uri="{9D8B030D-6E8A-4147-A177-3AD203B41FA5}">
                      <a16:colId xmlns:a16="http://schemas.microsoft.com/office/drawing/2014/main" val="20005"/>
                    </a:ext>
                  </a:extLst>
                </a:gridCol>
                <a:gridCol w="1419225">
                  <a:extLst>
                    <a:ext uri="{9D8B030D-6E8A-4147-A177-3AD203B41FA5}">
                      <a16:colId xmlns:a16="http://schemas.microsoft.com/office/drawing/2014/main" val="20006"/>
                    </a:ext>
                  </a:extLst>
                </a:gridCol>
              </a:tblGrid>
              <a:tr h="542925">
                <a:tc>
                  <a:txBody>
                    <a:bodyPr/>
                    <a:lstStyle/>
                    <a:p>
                      <a:pPr algn="l"/>
                      <a:r>
                        <a:rPr sz="1275" b="1">
                          <a:solidFill>
                            <a:srgbClr val="FFFFFF"/>
                          </a:solidFill>
                        </a:rPr>
                        <a:t>OWASP category</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0086AC"/>
                    </a:solidFill>
                  </a:tcPr>
                </a:tc>
                <a:tc>
                  <a:txBody>
                    <a:bodyPr/>
                    <a:lstStyle/>
                    <a:p>
                      <a:pPr algn="ctr"/>
                      <a:r>
                        <a:rPr sz="1275" b="1">
                          <a:solidFill>
                            <a:srgbClr val="FFFFFF"/>
                          </a:solidFill>
                        </a:rPr>
                        <a:t>Cases</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a:solidFill>
                        <a:srgbClr val="D7DDD4"/>
                      </a:solidFill>
                      <a:prstDash val="solid"/>
                    </a:lnT>
                    <a:lnB w="4763">
                      <a:solidFill>
                        <a:srgbClr val="D7DDD4"/>
                      </a:solidFill>
                      <a:prstDash val="solid"/>
                    </a:lnB>
                    <a:solidFill>
                      <a:srgbClr val="0086AC"/>
                    </a:solidFill>
                  </a:tcPr>
                </a:tc>
                <a:tc>
                  <a:txBody>
                    <a:bodyPr/>
                    <a:lstStyle/>
                    <a:p>
                      <a:pPr algn="ctr"/>
                      <a:r>
                        <a:rPr sz="1275" b="1">
                          <a:solidFill>
                            <a:srgbClr val="FFFFFF"/>
                          </a:solidFill>
                        </a:rPr>
                        <a:t>Haiku 4.5</a:t>
                      </a:r>
                    </a:p>
                    <a:p>
                      <a:pPr algn="ctr"/>
                      <a:r>
                        <a:rPr sz="1275" b="1">
                          <a:solidFill>
                            <a:srgbClr val="FFFFFF"/>
                          </a:solidFill>
                        </a:rPr>
                        <a:t>Generic prompt</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a:solidFill>
                        <a:srgbClr val="D7DDD4"/>
                      </a:solidFill>
                      <a:prstDash val="solid"/>
                    </a:lnT>
                    <a:lnB w="4763">
                      <a:solidFill>
                        <a:srgbClr val="D7DDD4"/>
                      </a:solidFill>
                      <a:prstDash val="solid"/>
                    </a:lnB>
                    <a:solidFill>
                      <a:srgbClr val="0086AC"/>
                    </a:solidFill>
                  </a:tcPr>
                </a:tc>
                <a:tc>
                  <a:txBody>
                    <a:bodyPr/>
                    <a:lstStyle/>
                    <a:p>
                      <a:pPr algn="ctr"/>
                      <a:r>
                        <a:rPr sz="1275" b="1">
                          <a:solidFill>
                            <a:srgbClr val="FFFFFF"/>
                          </a:solidFill>
                        </a:rPr>
                        <a:t>Sonnet 5</a:t>
                      </a:r>
                    </a:p>
                    <a:p>
                      <a:pPr algn="ctr"/>
                      <a:r>
                        <a:rPr sz="1275" b="1">
                          <a:solidFill>
                            <a:srgbClr val="FFFFFF"/>
                          </a:solidFill>
                        </a:rPr>
                        <a:t>Generic prompt</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a:solidFill>
                        <a:srgbClr val="D7DDD4"/>
                      </a:solidFill>
                      <a:prstDash val="solid"/>
                    </a:lnT>
                    <a:lnB w="4763">
                      <a:solidFill>
                        <a:srgbClr val="D7DDD4"/>
                      </a:solidFill>
                      <a:prstDash val="solid"/>
                    </a:lnB>
                    <a:solidFill>
                      <a:srgbClr val="0086AC"/>
                    </a:solidFill>
                  </a:tcPr>
                </a:tc>
                <a:tc>
                  <a:txBody>
                    <a:bodyPr/>
                    <a:lstStyle/>
                    <a:p>
                      <a:pPr algn="ctr"/>
                      <a:r>
                        <a:rPr sz="1275" b="1" dirty="0">
                          <a:solidFill>
                            <a:srgbClr val="FFFFFF"/>
                          </a:solidFill>
                        </a:rPr>
                        <a:t>Sonnet 5</a:t>
                      </a:r>
                    </a:p>
                    <a:p>
                      <a:pPr algn="ctr"/>
                      <a:r>
                        <a:rPr sz="1275" b="1" dirty="0">
                          <a:solidFill>
                            <a:srgbClr val="FFFFFF"/>
                          </a:solidFill>
                        </a:rPr>
                        <a:t>+ related file</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a:solidFill>
                        <a:srgbClr val="D7DDD4"/>
                      </a:solidFill>
                      <a:prstDash val="solid"/>
                    </a:lnT>
                    <a:lnB w="4763">
                      <a:solidFill>
                        <a:srgbClr val="D7DDD4"/>
                      </a:solidFill>
                      <a:prstDash val="solid"/>
                    </a:lnB>
                    <a:solidFill>
                      <a:srgbClr val="0086AC"/>
                    </a:solidFill>
                  </a:tcPr>
                </a:tc>
                <a:tc>
                  <a:txBody>
                    <a:bodyPr/>
                    <a:lstStyle/>
                    <a:p>
                      <a:pPr algn="ctr"/>
                      <a:r>
                        <a:rPr sz="1275" b="1" dirty="0">
                          <a:solidFill>
                            <a:srgbClr val="FFFFFF"/>
                          </a:solidFill>
                        </a:rPr>
                        <a:t>Sonnet 5</a:t>
                      </a:r>
                    </a:p>
                    <a:p>
                      <a:pPr algn="ctr"/>
                      <a:r>
                        <a:rPr sz="1275" b="1" dirty="0">
                          <a:solidFill>
                            <a:srgbClr val="FFFFFF"/>
                          </a:solidFill>
                        </a:rPr>
                        <a:t>+ prompt</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a:solidFill>
                        <a:srgbClr val="D7DDD4"/>
                      </a:solidFill>
                      <a:prstDash val="solid"/>
                    </a:lnT>
                    <a:lnB w="4763">
                      <a:solidFill>
                        <a:srgbClr val="D7DDD4"/>
                      </a:solidFill>
                      <a:prstDash val="solid"/>
                    </a:lnB>
                    <a:solidFill>
                      <a:srgbClr val="0086AC"/>
                    </a:solidFill>
                  </a:tcPr>
                </a:tc>
                <a:tc>
                  <a:txBody>
                    <a:bodyPr/>
                    <a:lstStyle/>
                    <a:p>
                      <a:pPr algn="ctr"/>
                      <a:r>
                        <a:rPr sz="1275" b="1" dirty="0">
                          <a:solidFill>
                            <a:srgbClr val="FFFFFF"/>
                          </a:solidFill>
                        </a:rPr>
                        <a:t>Sonnet 5</a:t>
                      </a:r>
                    </a:p>
                    <a:p>
                      <a:pPr algn="ctr"/>
                      <a:r>
                        <a:rPr sz="1275" b="1" dirty="0">
                          <a:solidFill>
                            <a:srgbClr val="FFFFFF"/>
                          </a:solidFill>
                        </a:rPr>
                        <a:t>Requirement</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a:solidFill>
                        <a:srgbClr val="D7DDD4"/>
                      </a:solidFill>
                      <a:prstDash val="solid"/>
                    </a:lnT>
                    <a:lnB w="4763">
                      <a:solidFill>
                        <a:srgbClr val="D7DDD4"/>
                      </a:solidFill>
                      <a:prstDash val="solid"/>
                    </a:lnB>
                    <a:solidFill>
                      <a:srgbClr val="4F8734"/>
                    </a:solidFill>
                  </a:tcPr>
                </a:tc>
                <a:extLst>
                  <a:ext uri="{0D108BD9-81ED-4DB2-BD59-A6C34878D82A}">
                    <a16:rowId xmlns:a16="http://schemas.microsoft.com/office/drawing/2014/main" val="10000"/>
                  </a:ext>
                </a:extLst>
              </a:tr>
              <a:tr h="426720">
                <a:tc>
                  <a:txBody>
                    <a:bodyPr/>
                    <a:lstStyle/>
                    <a:p>
                      <a:pPr algn="l"/>
                      <a:r>
                        <a:rPr sz="1425" b="0">
                          <a:solidFill>
                            <a:srgbClr val="303238"/>
                          </a:solidFill>
                        </a:rPr>
                        <a:t>A01  Broken Access Control</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8</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3 of 8</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7 of 8</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8 of 8</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8 of 8</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8 of 8</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1F6ED"/>
                    </a:solidFill>
                  </a:tcPr>
                </a:tc>
                <a:extLst>
                  <a:ext uri="{0D108BD9-81ED-4DB2-BD59-A6C34878D82A}">
                    <a16:rowId xmlns:a16="http://schemas.microsoft.com/office/drawing/2014/main" val="10001"/>
                  </a:ext>
                </a:extLst>
              </a:tr>
              <a:tr h="426720">
                <a:tc>
                  <a:txBody>
                    <a:bodyPr/>
                    <a:lstStyle/>
                    <a:p>
                      <a:pPr algn="l"/>
                      <a:r>
                        <a:rPr sz="1425" b="0">
                          <a:solidFill>
                            <a:srgbClr val="303238"/>
                          </a:solidFill>
                        </a:rPr>
                        <a:t>A03  Injection</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11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5 of 11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10 of 11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10 of 11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11 of 11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11 of 11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1F6ED"/>
                    </a:solidFill>
                  </a:tcPr>
                </a:tc>
                <a:extLst>
                  <a:ext uri="{0D108BD9-81ED-4DB2-BD59-A6C34878D82A}">
                    <a16:rowId xmlns:a16="http://schemas.microsoft.com/office/drawing/2014/main" val="10002"/>
                  </a:ext>
                </a:extLst>
              </a:tr>
              <a:tr h="426720">
                <a:tc>
                  <a:txBody>
                    <a:bodyPr/>
                    <a:lstStyle/>
                    <a:p>
                      <a:pPr algn="l"/>
                      <a:r>
                        <a:rPr sz="1425" b="0">
                          <a:solidFill>
                            <a:srgbClr val="303238"/>
                          </a:solidFill>
                        </a:rPr>
                        <a:t>A05  Security Misconfiguration</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0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0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1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1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1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1F6ED"/>
                    </a:solidFill>
                  </a:tcPr>
                </a:tc>
                <a:extLst>
                  <a:ext uri="{0D108BD9-81ED-4DB2-BD59-A6C34878D82A}">
                    <a16:rowId xmlns:a16="http://schemas.microsoft.com/office/drawing/2014/main" val="10003"/>
                  </a:ext>
                </a:extLst>
              </a:tr>
              <a:tr h="542925">
                <a:tc>
                  <a:txBody>
                    <a:bodyPr/>
                    <a:lstStyle/>
                    <a:p>
                      <a:pPr algn="l"/>
                      <a:r>
                        <a:rPr sz="1425" b="0">
                          <a:solidFill>
                            <a:srgbClr val="303238"/>
                          </a:solidFill>
                        </a:rPr>
                        <a:t>A07  Identification &amp;</a:t>
                      </a:r>
                    </a:p>
                    <a:p>
                      <a:pPr algn="l"/>
                      <a:r>
                        <a:rPr sz="1425" b="0">
                          <a:solidFill>
                            <a:srgbClr val="303238"/>
                          </a:solidFill>
                        </a:rPr>
                        <a:t>Authentication Failures</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3</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0 of 3</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3 of 3</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3 of 3</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3 of 3</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4F6F2"/>
                    </a:solidFill>
                  </a:tcPr>
                </a:tc>
                <a:tc>
                  <a:txBody>
                    <a:bodyPr/>
                    <a:lstStyle/>
                    <a:p>
                      <a:pPr algn="ctr"/>
                      <a:r>
                        <a:rPr sz="1650" b="0">
                          <a:solidFill>
                            <a:srgbClr val="303238"/>
                          </a:solidFill>
                        </a:rPr>
                        <a:t>3 of 3</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1F6ED"/>
                    </a:solidFill>
                  </a:tcPr>
                </a:tc>
                <a:extLst>
                  <a:ext uri="{0D108BD9-81ED-4DB2-BD59-A6C34878D82A}">
                    <a16:rowId xmlns:a16="http://schemas.microsoft.com/office/drawing/2014/main" val="10004"/>
                  </a:ext>
                </a:extLst>
              </a:tr>
              <a:tr h="426720">
                <a:tc>
                  <a:txBody>
                    <a:bodyPr/>
                    <a:lstStyle/>
                    <a:p>
                      <a:pPr algn="l"/>
                      <a:r>
                        <a:rPr sz="1425" b="0">
                          <a:solidFill>
                            <a:srgbClr val="303238"/>
                          </a:solidFill>
                        </a:rPr>
                        <a:t>A10  SSRF</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0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0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0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0">
                          <a:solidFill>
                            <a:srgbClr val="303238"/>
                          </a:solidFill>
                        </a:rPr>
                        <a:t>0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FFFFFF"/>
                    </a:solidFill>
                  </a:tcPr>
                </a:tc>
                <a:tc>
                  <a:txBody>
                    <a:bodyPr/>
                    <a:lstStyle/>
                    <a:p>
                      <a:pPr algn="ctr"/>
                      <a:r>
                        <a:rPr sz="1650" b="1">
                          <a:solidFill>
                            <a:srgbClr val="3D7327"/>
                          </a:solidFill>
                        </a:rPr>
                        <a:t>1 of 1</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DCEBD2"/>
                    </a:solidFill>
                  </a:tcPr>
                </a:tc>
                <a:extLst>
                  <a:ext uri="{0D108BD9-81ED-4DB2-BD59-A6C34878D82A}">
                    <a16:rowId xmlns:a16="http://schemas.microsoft.com/office/drawing/2014/main" val="10005"/>
                  </a:ext>
                </a:extLst>
              </a:tr>
              <a:tr h="426720">
                <a:tc>
                  <a:txBody>
                    <a:bodyPr/>
                    <a:lstStyle/>
                    <a:p>
                      <a:pPr algn="l"/>
                      <a:r>
                        <a:rPr sz="1575" b="1">
                          <a:solidFill>
                            <a:srgbClr val="303238"/>
                          </a:solidFill>
                        </a:rPr>
                        <a:t>Cases identified</a:t>
                      </a:r>
                    </a:p>
                  </a:txBody>
                  <a:tcPr anchor="ctr">
                    <a:lnL w="4763">
                      <a:solidFill>
                        <a:srgbClr val="D7DDD4"/>
                      </a:solidFill>
                      <a:prstDash val="soli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E9F1E3"/>
                    </a:solidFill>
                  </a:tcPr>
                </a:tc>
                <a:tc>
                  <a:txBody>
                    <a:bodyPr/>
                    <a:lstStyle/>
                    <a:p>
                      <a:pPr algn="ctr"/>
                      <a:r>
                        <a:rPr sz="1575" b="1">
                          <a:solidFill>
                            <a:srgbClr val="303238"/>
                          </a:solidFill>
                        </a:rPr>
                        <a:t>24</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E9F1E3"/>
                    </a:solidFill>
                  </a:tcPr>
                </a:tc>
                <a:tc>
                  <a:txBody>
                    <a:bodyPr/>
                    <a:lstStyle/>
                    <a:p>
                      <a:pPr algn="ctr"/>
                      <a:r>
                        <a:rPr sz="1575" b="1">
                          <a:solidFill>
                            <a:srgbClr val="303238"/>
                          </a:solidFill>
                        </a:rPr>
                        <a:t>8 of 24</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E9F1E3"/>
                    </a:solidFill>
                  </a:tcPr>
                </a:tc>
                <a:tc>
                  <a:txBody>
                    <a:bodyPr/>
                    <a:lstStyle/>
                    <a:p>
                      <a:pPr algn="ctr"/>
                      <a:r>
                        <a:rPr sz="1575" b="1">
                          <a:solidFill>
                            <a:srgbClr val="303238"/>
                          </a:solidFill>
                        </a:rPr>
                        <a:t>20 of 24</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E9F1E3"/>
                    </a:solidFill>
                  </a:tcPr>
                </a:tc>
                <a:tc>
                  <a:txBody>
                    <a:bodyPr/>
                    <a:lstStyle/>
                    <a:p>
                      <a:pPr algn="ctr"/>
                      <a:r>
                        <a:rPr sz="1575" b="1">
                          <a:solidFill>
                            <a:srgbClr val="303238"/>
                          </a:solidFill>
                        </a:rPr>
                        <a:t>22 of 24</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E9F1E3"/>
                    </a:solidFill>
                  </a:tcPr>
                </a:tc>
                <a:tc>
                  <a:txBody>
                    <a:bodyPr/>
                    <a:lstStyle/>
                    <a:p>
                      <a:pPr algn="ctr"/>
                      <a:r>
                        <a:rPr sz="1575" b="1">
                          <a:solidFill>
                            <a:srgbClr val="303238"/>
                          </a:solidFill>
                        </a:rPr>
                        <a:t>23 of 24</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E9F1E3"/>
                    </a:solidFill>
                  </a:tcPr>
                </a:tc>
                <a:tc>
                  <a:txBody>
                    <a:bodyPr/>
                    <a:lstStyle/>
                    <a:p>
                      <a:pPr algn="ctr"/>
                      <a:r>
                        <a:rPr sz="1575" b="1" dirty="0">
                          <a:solidFill>
                            <a:srgbClr val="303238"/>
                          </a:solidFill>
                        </a:rPr>
                        <a:t>24 of 24</a:t>
                      </a:r>
                    </a:p>
                  </a:txBody>
                  <a:tcPr anchor="ctr">
                    <a:lnL w="4763" cap="flat" cmpd="sng" algn="ctr">
                      <a:solidFill>
                        <a:srgbClr val="D7DDD4"/>
                      </a:solidFill>
                      <a:prstDash val="solid"/>
                      <a:round/>
                      <a:headEnd type="none" w="med" len="med"/>
                      <a:tailEnd type="none" w="med" len="med"/>
                    </a:lnL>
                    <a:lnR w="4763">
                      <a:solidFill>
                        <a:srgbClr val="D7DDD4"/>
                      </a:solidFill>
                      <a:prstDash val="solid"/>
                    </a:lnR>
                    <a:lnT w="4763" cap="flat" cmpd="sng" algn="ctr">
                      <a:solidFill>
                        <a:srgbClr val="D7DDD4"/>
                      </a:solidFill>
                      <a:prstDash val="solid"/>
                      <a:round/>
                      <a:headEnd type="none" w="med" len="med"/>
                      <a:tailEnd type="none" w="med" len="med"/>
                    </a:lnT>
                    <a:lnB w="4763">
                      <a:solidFill>
                        <a:srgbClr val="D7DDD4"/>
                      </a:solidFill>
                      <a:prstDash val="solid"/>
                    </a:lnB>
                    <a:solidFill>
                      <a:srgbClr val="E9F1E3"/>
                    </a:solidFill>
                  </a:tcPr>
                </a:tc>
                <a:extLst>
                  <a:ext uri="{0D108BD9-81ED-4DB2-BD59-A6C34878D82A}">
                    <a16:rowId xmlns:a16="http://schemas.microsoft.com/office/drawing/2014/main" val="10006"/>
                  </a:ext>
                </a:extLst>
              </a:tr>
            </a:tbl>
          </a:graphicData>
        </a:graphic>
      </p:graphicFrame>
      <p:sp>
        <p:nvSpPr>
          <p:cNvPr id="2006" name="takeaway">
            <a:extLst>
              <a:ext uri="{FF2B5EF4-FFF2-40B4-BE49-F238E27FC236}">
                <a16:creationId xmlns:a16="http://schemas.microsoft.com/office/drawing/2014/main" id="{12FE31C1-A090-424F-BE23-D25363D99850}"/>
              </a:ext>
            </a:extLst>
          </p:cNvPr>
          <p:cNvSpPr>
            <a:spLocks noGrp="1"/>
          </p:cNvSpPr>
          <p:nvPr/>
        </p:nvSpPr>
        <p:spPr>
          <a:xfrm>
            <a:off x="812864" y="5476875"/>
            <a:ext cx="10572750" cy="266700"/>
          </a:xfrm>
          <a:prstGeom prst="rect">
            <a:avLst/>
          </a:prstGeom>
          <a:noFill/>
          <a:ln w="0">
            <a:noFill/>
          </a:ln>
        </p:spPr>
        <p:txBody>
          <a:bodyPr lIns="0" tIns="0" rIns="0" bIns="0" anchor="ctr">
            <a:noAutofit/>
          </a:bodyPr>
          <a:lstStyle>
            <a:defPPr>
              <a:defRPr sz="1575" b="1">
                <a:solidFill>
                  <a:srgbClr val="303238"/>
                </a:solidFill>
              </a:defRPr>
            </a:defPPr>
            <a:lvl1pPr>
              <a:defRPr sz="1575" b="1">
                <a:solidFill>
                  <a:srgbClr val="303238"/>
                </a:solidFill>
              </a:defRPr>
            </a:lvl1pPr>
            <a:lvl2pPr>
              <a:defRPr sz="1575" b="1">
                <a:solidFill>
                  <a:srgbClr val="303238"/>
                </a:solidFill>
              </a:defRPr>
            </a:lvl2pPr>
            <a:lvl3pPr>
              <a:defRPr sz="1575" b="1">
                <a:solidFill>
                  <a:srgbClr val="303238"/>
                </a:solidFill>
              </a:defRPr>
            </a:lvl3pPr>
            <a:lvl4pPr>
              <a:defRPr sz="1575" b="1">
                <a:solidFill>
                  <a:srgbClr val="303238"/>
                </a:solidFill>
              </a:defRPr>
            </a:lvl4pPr>
            <a:lvl5pPr>
              <a:defRPr sz="1575" b="1">
                <a:solidFill>
                  <a:srgbClr val="303238"/>
                </a:solidFill>
              </a:defRPr>
            </a:lvl5pPr>
            <a:lvl6pPr>
              <a:defRPr sz="1575" b="1">
                <a:solidFill>
                  <a:srgbClr val="303238"/>
                </a:solidFill>
              </a:defRPr>
            </a:lvl6pPr>
            <a:lvl7pPr>
              <a:defRPr sz="1575" b="1">
                <a:solidFill>
                  <a:srgbClr val="303238"/>
                </a:solidFill>
              </a:defRPr>
            </a:lvl7pPr>
            <a:lvl8pPr>
              <a:defRPr sz="1575" b="1">
                <a:solidFill>
                  <a:srgbClr val="303238"/>
                </a:solidFill>
              </a:defRPr>
            </a:lvl8pPr>
            <a:lvl9pPr>
              <a:defRPr sz="1575" b="1">
                <a:solidFill>
                  <a:srgbClr val="303238"/>
                </a:solidFill>
              </a:defRPr>
            </a:lvl9pPr>
          </a:lstStyle>
          <a:p>
            <a:pPr>
              <a:defRPr sz="1575" b="1">
                <a:solidFill>
                  <a:srgbClr val="303238"/>
                </a:solidFill>
              </a:defRPr>
            </a:pPr>
            <a:r>
              <a:rPr sz="1575" b="1">
                <a:solidFill>
                  <a:srgbClr val="303238"/>
                </a:solidFill>
              </a:rPr>
              <a:t>The requirement-assisted review identifies the remaining PDF SSRF case.</a:t>
            </a:r>
          </a:p>
        </p:txBody>
      </p:sp>
      <p:sp>
        <p:nvSpPr>
          <p:cNvPr id="2007" name="detail">
            <a:extLst>
              <a:ext uri="{FF2B5EF4-FFF2-40B4-BE49-F238E27FC236}">
                <a16:creationId xmlns:a16="http://schemas.microsoft.com/office/drawing/2014/main" id="{D9B3C991-6096-494A-B539-C62FE9EAF023}"/>
              </a:ext>
            </a:extLst>
          </p:cNvPr>
          <p:cNvSpPr>
            <a:spLocks noGrp="1"/>
          </p:cNvSpPr>
          <p:nvPr/>
        </p:nvSpPr>
        <p:spPr>
          <a:xfrm>
            <a:off x="812864" y="5781675"/>
            <a:ext cx="10572750" cy="266700"/>
          </a:xfrm>
          <a:prstGeom prst="rect">
            <a:avLst/>
          </a:prstGeom>
          <a:noFill/>
          <a:ln w="0">
            <a:noFill/>
          </a:ln>
        </p:spPr>
        <p:txBody>
          <a:bodyPr lIns="0" tIns="0" rIns="0" bIns="0" anchor="ctr">
            <a:noAutofit/>
          </a:bodyPr>
          <a:lstStyle>
            <a:defPPr>
              <a:defRPr sz="1500" b="1">
                <a:solidFill>
                  <a:srgbClr val="4F8734"/>
                </a:solidFill>
              </a:defRPr>
            </a:defPPr>
            <a:lvl1pPr>
              <a:defRPr sz="1500" b="1">
                <a:solidFill>
                  <a:srgbClr val="4F8734"/>
                </a:solidFill>
              </a:defRPr>
            </a:lvl1pPr>
            <a:lvl2pPr>
              <a:defRPr sz="1500" b="1">
                <a:solidFill>
                  <a:srgbClr val="4F8734"/>
                </a:solidFill>
              </a:defRPr>
            </a:lvl2pPr>
            <a:lvl3pPr>
              <a:defRPr sz="1500" b="1">
                <a:solidFill>
                  <a:srgbClr val="4F8734"/>
                </a:solidFill>
              </a:defRPr>
            </a:lvl3pPr>
            <a:lvl4pPr>
              <a:defRPr sz="1500" b="1">
                <a:solidFill>
                  <a:srgbClr val="4F8734"/>
                </a:solidFill>
              </a:defRPr>
            </a:lvl4pPr>
            <a:lvl5pPr>
              <a:defRPr sz="1500" b="1">
                <a:solidFill>
                  <a:srgbClr val="4F8734"/>
                </a:solidFill>
              </a:defRPr>
            </a:lvl5pPr>
            <a:lvl6pPr>
              <a:defRPr sz="1500" b="1">
                <a:solidFill>
                  <a:srgbClr val="4F8734"/>
                </a:solidFill>
              </a:defRPr>
            </a:lvl6pPr>
            <a:lvl7pPr>
              <a:defRPr sz="1500" b="1">
                <a:solidFill>
                  <a:srgbClr val="4F8734"/>
                </a:solidFill>
              </a:defRPr>
            </a:lvl7pPr>
            <a:lvl8pPr>
              <a:defRPr sz="1500" b="1">
                <a:solidFill>
                  <a:srgbClr val="4F8734"/>
                </a:solidFill>
              </a:defRPr>
            </a:lvl8pPr>
            <a:lvl9pPr>
              <a:defRPr sz="1500" b="1">
                <a:solidFill>
                  <a:srgbClr val="4F8734"/>
                </a:solidFill>
              </a:defRPr>
            </a:lvl9pPr>
          </a:lstStyle>
          <a:p>
            <a:pPr>
              <a:defRPr sz="1500" b="1">
                <a:solidFill>
                  <a:srgbClr val="4F8734"/>
                </a:solidFill>
              </a:defRPr>
            </a:pPr>
            <a:r>
              <a:rPr sz="1500" b="1">
                <a:solidFill>
                  <a:srgbClr val="4F8734"/>
                </a:solidFill>
              </a:rPr>
              <a:t>Final case: explicit SSRF findings in 3 of 3 completed reviews.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4">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4" name="Text 0"/>
          <p:cNvSpPr>
            <a:spLocks noGrp="1"/>
          </p:cNvSpPr>
          <p:nvPr>
            <p:ph type="title"/>
          </p:nvPr>
        </p:nvSpPr>
        <p:spPr>
          <a:xfrm>
            <a:off x="812902" y="812902"/>
            <a:ext cx="8412480" cy="512064"/>
          </a:xfrm>
          <a:prstGeom prst="rect">
            <a:avLst/>
          </a:prstGeom>
          <a:noFill/>
          <a:ln/>
        </p:spPr>
        <p:txBody>
          <a:bodyPr wrap="square" lIns="0" tIns="0" rIns="0" bIns="0" rtlCol="0" anchor="t">
            <a:noAutofit/>
          </a:bodyPr>
          <a:lstStyle/>
          <a:p>
            <a:pPr marL="0" indent="0" algn="l">
              <a:lnSpc>
                <a:spcPts val="3800"/>
              </a:lnSpc>
              <a:spcBef>
                <a:spcPts val="0"/>
              </a:spcBef>
              <a:buNone/>
            </a:pPr>
            <a:r>
              <a:rPr lang="en-US" sz="3200" b="1" dirty="0">
                <a:solidFill>
                  <a:srgbClr val="4C8835"/>
                </a:solidFill>
                <a:latin typeface="Arial" pitchFamily="34" charset="0"/>
                <a:ea typeface="Arial" pitchFamily="34" charset="-122"/>
                <a:cs typeface="Arial" pitchFamily="34" charset="-120"/>
              </a:rPr>
              <a:t>Better coverage has a review cost</a:t>
            </a:r>
            <a:endParaRPr lang="en-US" sz="3200"/>
          </a:p>
        </p:txBody>
      </p:sp>
      <p:sp>
        <p:nvSpPr>
          <p:cNvPr id="36" name="Text 25"/>
          <p:cNvSpPr/>
          <p:nvPr/>
        </p:nvSpPr>
        <p:spPr>
          <a:xfrm>
            <a:off x="7532370" y="6238280"/>
            <a:ext cx="300863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A92"/>
                </a:solidFill>
                <a:latin typeface="Arial" pitchFamily="34" charset="0"/>
                <a:ea typeface="Arial" pitchFamily="34" charset="-122"/>
                <a:cs typeface="Arial" pitchFamily="34" charset="-120"/>
              </a:rPr>
              <a:t>ISC2.org/Congress | #ISC2Congress</a:t>
            </a:r>
            <a:endParaRPr lang="en-US" sz="1200" dirty="0"/>
          </a:p>
        </p:txBody>
      </p:sp>
      <p:sp>
        <p:nvSpPr>
          <p:cNvPr id="1000" name="Separate sample">
            <a:extLst>
              <a:ext uri="{FF2B5EF4-FFF2-40B4-BE49-F238E27FC236}">
                <a16:creationId xmlns:a16="http://schemas.microsoft.com/office/drawing/2014/main" id="{65E08E31-8542-4969-8675-A4AAB9729A4D}"/>
              </a:ext>
            </a:extLst>
          </p:cNvPr>
          <p:cNvSpPr>
            <a:spLocks noGrp="1"/>
          </p:cNvSpPr>
          <p:nvPr/>
        </p:nvSpPr>
        <p:spPr>
          <a:xfrm>
            <a:off x="812902" y="1399032"/>
            <a:ext cx="10561320" cy="393192"/>
          </a:xfrm>
          <a:prstGeom prst="rect">
            <a:avLst/>
          </a:prstGeom>
          <a:noFill/>
          <a:ln w="0">
            <a:noFill/>
            <a:prstDash val="solid"/>
          </a:ln>
        </p:spPr>
        <p:txBody>
          <a:bodyPr wrap="square" lIns="0" tIns="0" rIns="0" bIns="0" anchor="t">
            <a:noAutofit/>
          </a:bodyPr>
          <a:lstStyle>
            <a:defPPr>
              <a:defRPr sz="1700" b="0">
                <a:solidFill>
                  <a:srgbClr val="33333A"/>
                </a:solidFill>
              </a:defRPr>
            </a:defPPr>
            <a:lvl1pPr>
              <a:defRPr sz="1700" b="0">
                <a:solidFill>
                  <a:srgbClr val="33333A"/>
                </a:solidFill>
              </a:defRPr>
            </a:lvl1pPr>
            <a:lvl2pPr>
              <a:defRPr sz="1700" b="0">
                <a:solidFill>
                  <a:srgbClr val="33333A"/>
                </a:solidFill>
              </a:defRPr>
            </a:lvl2pPr>
            <a:lvl3pPr>
              <a:defRPr sz="1700" b="0">
                <a:solidFill>
                  <a:srgbClr val="33333A"/>
                </a:solidFill>
              </a:defRPr>
            </a:lvl3pPr>
            <a:lvl4pPr>
              <a:defRPr sz="1700" b="0">
                <a:solidFill>
                  <a:srgbClr val="33333A"/>
                </a:solidFill>
              </a:defRPr>
            </a:lvl4pPr>
            <a:lvl5pPr>
              <a:defRPr sz="1700" b="0">
                <a:solidFill>
                  <a:srgbClr val="33333A"/>
                </a:solidFill>
              </a:defRPr>
            </a:lvl5pPr>
            <a:lvl6pPr>
              <a:defRPr sz="1700" b="0">
                <a:solidFill>
                  <a:srgbClr val="33333A"/>
                </a:solidFill>
              </a:defRPr>
            </a:lvl6pPr>
            <a:lvl7pPr>
              <a:defRPr sz="1700" b="0">
                <a:solidFill>
                  <a:srgbClr val="33333A"/>
                </a:solidFill>
              </a:defRPr>
            </a:lvl7pPr>
            <a:lvl8pPr>
              <a:defRPr sz="1700" b="0">
                <a:solidFill>
                  <a:srgbClr val="33333A"/>
                </a:solidFill>
              </a:defRPr>
            </a:lvl8pPr>
            <a:lvl9pPr>
              <a:defRPr sz="1700" b="0">
                <a:solidFill>
                  <a:srgbClr val="33333A"/>
                </a:solidFill>
              </a:defRPr>
            </a:lvl9pPr>
          </a:lstStyle>
          <a:p>
            <a:pPr>
              <a:defRPr sz="1700" b="0">
                <a:solidFill>
                  <a:srgbClr val="33333A"/>
                </a:solidFill>
              </a:defRPr>
            </a:pPr>
            <a:r>
              <a:rPr sz="1700" b="0">
                <a:solidFill>
                  <a:srgbClr val="33333A"/>
                </a:solidFill>
                <a:latin typeface="Arial"/>
                <a:ea typeface="Arial"/>
                <a:cs typeface="Arial"/>
              </a:rPr>
              <a:t>Separate Sonnet 5 controls: the same 10 comparison changes, one review per prompt.</a:t>
            </a:r>
          </a:p>
        </p:txBody>
      </p:sp>
      <p:sp>
        <p:nvSpPr>
          <p:cNvPr id="1001" name="Generic label">
            <a:extLst>
              <a:ext uri="{FF2B5EF4-FFF2-40B4-BE49-F238E27FC236}">
                <a16:creationId xmlns:a16="http://schemas.microsoft.com/office/drawing/2014/main" id="{FFEDF534-7121-47BA-92F5-58ACEFED70BB}"/>
              </a:ext>
            </a:extLst>
          </p:cNvPr>
          <p:cNvSpPr>
            <a:spLocks noGrp="1"/>
          </p:cNvSpPr>
          <p:nvPr/>
        </p:nvSpPr>
        <p:spPr>
          <a:xfrm>
            <a:off x="1005840" y="2157984"/>
            <a:ext cx="4663440" cy="320040"/>
          </a:xfrm>
          <a:prstGeom prst="rect">
            <a:avLst/>
          </a:prstGeom>
          <a:noFill/>
          <a:ln w="0">
            <a:noFill/>
            <a:prstDash val="solid"/>
          </a:ln>
        </p:spPr>
        <p:txBody>
          <a:bodyPr wrap="square" lIns="0" tIns="0" rIns="0" bIns="0" anchor="t">
            <a:noAutofit/>
          </a:bodyPr>
          <a:lstStyle>
            <a:defPPr>
              <a:defRPr sz="1500" b="1">
                <a:solidFill>
                  <a:srgbClr val="0086B6"/>
                </a:solidFill>
              </a:defRPr>
            </a:defPPr>
            <a:lvl1pPr>
              <a:defRPr sz="1500" b="1">
                <a:solidFill>
                  <a:srgbClr val="0086B6"/>
                </a:solidFill>
              </a:defRPr>
            </a:lvl1pPr>
            <a:lvl2pPr>
              <a:defRPr sz="1500" b="1">
                <a:solidFill>
                  <a:srgbClr val="0086B6"/>
                </a:solidFill>
              </a:defRPr>
            </a:lvl2pPr>
            <a:lvl3pPr>
              <a:defRPr sz="1500" b="1">
                <a:solidFill>
                  <a:srgbClr val="0086B6"/>
                </a:solidFill>
              </a:defRPr>
            </a:lvl3pPr>
            <a:lvl4pPr>
              <a:defRPr sz="1500" b="1">
                <a:solidFill>
                  <a:srgbClr val="0086B6"/>
                </a:solidFill>
              </a:defRPr>
            </a:lvl4pPr>
            <a:lvl5pPr>
              <a:defRPr sz="1500" b="1">
                <a:solidFill>
                  <a:srgbClr val="0086B6"/>
                </a:solidFill>
              </a:defRPr>
            </a:lvl5pPr>
            <a:lvl6pPr>
              <a:defRPr sz="1500" b="1">
                <a:solidFill>
                  <a:srgbClr val="0086B6"/>
                </a:solidFill>
              </a:defRPr>
            </a:lvl6pPr>
            <a:lvl7pPr>
              <a:defRPr sz="1500" b="1">
                <a:solidFill>
                  <a:srgbClr val="0086B6"/>
                </a:solidFill>
              </a:defRPr>
            </a:lvl7pPr>
            <a:lvl8pPr>
              <a:defRPr sz="1500" b="1">
                <a:solidFill>
                  <a:srgbClr val="0086B6"/>
                </a:solidFill>
              </a:defRPr>
            </a:lvl8pPr>
            <a:lvl9pPr>
              <a:defRPr sz="1500" b="1">
                <a:solidFill>
                  <a:srgbClr val="0086B6"/>
                </a:solidFill>
              </a:defRPr>
            </a:lvl9pPr>
          </a:lstStyle>
          <a:p>
            <a:pPr>
              <a:defRPr sz="1500" b="1">
                <a:solidFill>
                  <a:srgbClr val="0086B6"/>
                </a:solidFill>
              </a:defRPr>
            </a:pPr>
            <a:r>
              <a:rPr sz="1500" b="1">
                <a:solidFill>
                  <a:srgbClr val="0086B6"/>
                </a:solidFill>
                <a:latin typeface="Arial"/>
                <a:ea typeface="Arial"/>
                <a:cs typeface="Arial"/>
              </a:rPr>
              <a:t>GENERIC PROMPT</a:t>
            </a:r>
          </a:p>
        </p:txBody>
      </p:sp>
      <p:sp>
        <p:nvSpPr>
          <p:cNvPr id="1002" name="Generic count">
            <a:extLst>
              <a:ext uri="{FF2B5EF4-FFF2-40B4-BE49-F238E27FC236}">
                <a16:creationId xmlns:a16="http://schemas.microsoft.com/office/drawing/2014/main" id="{5FC45201-7900-4BBA-873B-AB22381B3D7E}"/>
              </a:ext>
            </a:extLst>
          </p:cNvPr>
          <p:cNvSpPr>
            <a:spLocks noGrp="1"/>
          </p:cNvSpPr>
          <p:nvPr/>
        </p:nvSpPr>
        <p:spPr>
          <a:xfrm>
            <a:off x="1005840" y="2715768"/>
            <a:ext cx="4663440" cy="877824"/>
          </a:xfrm>
          <a:prstGeom prst="rect">
            <a:avLst/>
          </a:prstGeom>
          <a:noFill/>
          <a:ln w="0">
            <a:noFill/>
            <a:prstDash val="solid"/>
          </a:ln>
        </p:spPr>
        <p:txBody>
          <a:bodyPr wrap="square" lIns="0" tIns="0" rIns="0" bIns="0" anchor="t">
            <a:noAutofit/>
          </a:bodyPr>
          <a:lstStyle>
            <a:defPPr>
              <a:defRPr sz="6000" b="1">
                <a:solidFill>
                  <a:srgbClr val="4C8835"/>
                </a:solidFill>
              </a:defRPr>
            </a:defPPr>
            <a:lvl1pPr>
              <a:defRPr sz="6000" b="1">
                <a:solidFill>
                  <a:srgbClr val="4C8835"/>
                </a:solidFill>
              </a:defRPr>
            </a:lvl1pPr>
            <a:lvl2pPr>
              <a:defRPr sz="6000" b="1">
                <a:solidFill>
                  <a:srgbClr val="4C8835"/>
                </a:solidFill>
              </a:defRPr>
            </a:lvl2pPr>
            <a:lvl3pPr>
              <a:defRPr sz="6000" b="1">
                <a:solidFill>
                  <a:srgbClr val="4C8835"/>
                </a:solidFill>
              </a:defRPr>
            </a:lvl3pPr>
            <a:lvl4pPr>
              <a:defRPr sz="6000" b="1">
                <a:solidFill>
                  <a:srgbClr val="4C8835"/>
                </a:solidFill>
              </a:defRPr>
            </a:lvl4pPr>
            <a:lvl5pPr>
              <a:defRPr sz="6000" b="1">
                <a:solidFill>
                  <a:srgbClr val="4C8835"/>
                </a:solidFill>
              </a:defRPr>
            </a:lvl5pPr>
            <a:lvl6pPr>
              <a:defRPr sz="6000" b="1">
                <a:solidFill>
                  <a:srgbClr val="4C8835"/>
                </a:solidFill>
              </a:defRPr>
            </a:lvl6pPr>
            <a:lvl7pPr>
              <a:defRPr sz="6000" b="1">
                <a:solidFill>
                  <a:srgbClr val="4C8835"/>
                </a:solidFill>
              </a:defRPr>
            </a:lvl7pPr>
            <a:lvl8pPr>
              <a:defRPr sz="6000" b="1">
                <a:solidFill>
                  <a:srgbClr val="4C8835"/>
                </a:solidFill>
              </a:defRPr>
            </a:lvl8pPr>
            <a:lvl9pPr>
              <a:defRPr sz="6000" b="1">
                <a:solidFill>
                  <a:srgbClr val="4C8835"/>
                </a:solidFill>
              </a:defRPr>
            </a:lvl9pPr>
          </a:lstStyle>
          <a:p>
            <a:pPr>
              <a:defRPr sz="6000" b="1">
                <a:solidFill>
                  <a:srgbClr val="4C8835"/>
                </a:solidFill>
              </a:defRPr>
            </a:pPr>
            <a:r>
              <a:rPr sz="6000" b="1">
                <a:solidFill>
                  <a:srgbClr val="4C8835"/>
                </a:solidFill>
                <a:latin typeface="Arial"/>
                <a:ea typeface="Arial"/>
                <a:cs typeface="Arial"/>
              </a:rPr>
              <a:t>0 of 10</a:t>
            </a:r>
          </a:p>
        </p:txBody>
      </p:sp>
      <p:sp>
        <p:nvSpPr>
          <p:cNvPr id="1003" name="Generic unit">
            <a:extLst>
              <a:ext uri="{FF2B5EF4-FFF2-40B4-BE49-F238E27FC236}">
                <a16:creationId xmlns:a16="http://schemas.microsoft.com/office/drawing/2014/main" id="{2AD8A496-21BA-479F-BC96-CC2461474ADA}"/>
              </a:ext>
            </a:extLst>
          </p:cNvPr>
          <p:cNvSpPr>
            <a:spLocks noGrp="1"/>
          </p:cNvSpPr>
          <p:nvPr/>
        </p:nvSpPr>
        <p:spPr>
          <a:xfrm>
            <a:off x="1005840" y="3767328"/>
            <a:ext cx="4663440" cy="685800"/>
          </a:xfrm>
          <a:prstGeom prst="rect">
            <a:avLst/>
          </a:prstGeom>
          <a:noFill/>
          <a:ln w="0">
            <a:noFill/>
            <a:prstDash val="solid"/>
          </a:ln>
        </p:spPr>
        <p:txBody>
          <a:bodyPr wrap="square" lIns="0" tIns="0" rIns="0" bIns="0" anchor="t">
            <a:noAutofit/>
          </a:bodyPr>
          <a:lstStyle>
            <a:defPPr>
              <a:defRPr sz="1900" b="0">
                <a:solidFill>
                  <a:srgbClr val="33333A"/>
                </a:solidFill>
              </a:defRPr>
            </a:defPPr>
            <a:lvl1pPr>
              <a:defRPr sz="1900" b="0">
                <a:solidFill>
                  <a:srgbClr val="33333A"/>
                </a:solidFill>
              </a:defRPr>
            </a:lvl1pPr>
            <a:lvl2pPr>
              <a:defRPr sz="1900" b="0">
                <a:solidFill>
                  <a:srgbClr val="33333A"/>
                </a:solidFill>
              </a:defRPr>
            </a:lvl2pPr>
            <a:lvl3pPr>
              <a:defRPr sz="1900" b="0">
                <a:solidFill>
                  <a:srgbClr val="33333A"/>
                </a:solidFill>
              </a:defRPr>
            </a:lvl3pPr>
            <a:lvl4pPr>
              <a:defRPr sz="1900" b="0">
                <a:solidFill>
                  <a:srgbClr val="33333A"/>
                </a:solidFill>
              </a:defRPr>
            </a:lvl4pPr>
            <a:lvl5pPr>
              <a:defRPr sz="1900" b="0">
                <a:solidFill>
                  <a:srgbClr val="33333A"/>
                </a:solidFill>
              </a:defRPr>
            </a:lvl5pPr>
            <a:lvl6pPr>
              <a:defRPr sz="1900" b="0">
                <a:solidFill>
                  <a:srgbClr val="33333A"/>
                </a:solidFill>
              </a:defRPr>
            </a:lvl6pPr>
            <a:lvl7pPr>
              <a:defRPr sz="1900" b="0">
                <a:solidFill>
                  <a:srgbClr val="33333A"/>
                </a:solidFill>
              </a:defRPr>
            </a:lvl7pPr>
            <a:lvl8pPr>
              <a:defRPr sz="1900" b="0">
                <a:solidFill>
                  <a:srgbClr val="33333A"/>
                </a:solidFill>
              </a:defRPr>
            </a:lvl8pPr>
            <a:lvl9pPr>
              <a:defRPr sz="1900" b="0">
                <a:solidFill>
                  <a:srgbClr val="33333A"/>
                </a:solidFill>
              </a:defRPr>
            </a:lvl9pPr>
          </a:lstStyle>
          <a:p>
            <a:pPr>
              <a:defRPr sz="1900" b="0">
                <a:solidFill>
                  <a:srgbClr val="33333A"/>
                </a:solidFill>
              </a:defRPr>
            </a:pPr>
            <a:r>
              <a:rPr sz="1900" b="0">
                <a:solidFill>
                  <a:srgbClr val="33333A"/>
                </a:solidFill>
                <a:latin typeface="Arial"/>
                <a:ea typeface="Arial"/>
                <a:cs typeface="Arial"/>
              </a:rPr>
              <a:t>reviews raised a false security alarm</a:t>
            </a:r>
          </a:p>
        </p:txBody>
      </p:sp>
      <p:sp>
        <p:nvSpPr>
          <p:cNvPr id="1004" name="Security label">
            <a:extLst>
              <a:ext uri="{FF2B5EF4-FFF2-40B4-BE49-F238E27FC236}">
                <a16:creationId xmlns:a16="http://schemas.microsoft.com/office/drawing/2014/main" id="{9E8A7969-DA24-4F3F-937E-9F1F62F9CB96}"/>
              </a:ext>
            </a:extLst>
          </p:cNvPr>
          <p:cNvSpPr>
            <a:spLocks noGrp="1"/>
          </p:cNvSpPr>
          <p:nvPr/>
        </p:nvSpPr>
        <p:spPr>
          <a:xfrm>
            <a:off x="6400800" y="2157984"/>
            <a:ext cx="4800600" cy="320040"/>
          </a:xfrm>
          <a:prstGeom prst="rect">
            <a:avLst/>
          </a:prstGeom>
          <a:noFill/>
          <a:ln w="0">
            <a:noFill/>
            <a:prstDash val="solid"/>
          </a:ln>
        </p:spPr>
        <p:txBody>
          <a:bodyPr wrap="square" lIns="0" tIns="0" rIns="0" bIns="0" anchor="t">
            <a:noAutofit/>
          </a:bodyPr>
          <a:lstStyle>
            <a:defPPr>
              <a:defRPr sz="1500" b="1">
                <a:solidFill>
                  <a:srgbClr val="0086B6"/>
                </a:solidFill>
              </a:defRPr>
            </a:defPPr>
            <a:lvl1pPr>
              <a:defRPr sz="1500" b="1">
                <a:solidFill>
                  <a:srgbClr val="0086B6"/>
                </a:solidFill>
              </a:defRPr>
            </a:lvl1pPr>
            <a:lvl2pPr>
              <a:defRPr sz="1500" b="1">
                <a:solidFill>
                  <a:srgbClr val="0086B6"/>
                </a:solidFill>
              </a:defRPr>
            </a:lvl2pPr>
            <a:lvl3pPr>
              <a:defRPr sz="1500" b="1">
                <a:solidFill>
                  <a:srgbClr val="0086B6"/>
                </a:solidFill>
              </a:defRPr>
            </a:lvl3pPr>
            <a:lvl4pPr>
              <a:defRPr sz="1500" b="1">
                <a:solidFill>
                  <a:srgbClr val="0086B6"/>
                </a:solidFill>
              </a:defRPr>
            </a:lvl4pPr>
            <a:lvl5pPr>
              <a:defRPr sz="1500" b="1">
                <a:solidFill>
                  <a:srgbClr val="0086B6"/>
                </a:solidFill>
              </a:defRPr>
            </a:lvl5pPr>
            <a:lvl6pPr>
              <a:defRPr sz="1500" b="1">
                <a:solidFill>
                  <a:srgbClr val="0086B6"/>
                </a:solidFill>
              </a:defRPr>
            </a:lvl6pPr>
            <a:lvl7pPr>
              <a:defRPr sz="1500" b="1">
                <a:solidFill>
                  <a:srgbClr val="0086B6"/>
                </a:solidFill>
              </a:defRPr>
            </a:lvl7pPr>
            <a:lvl8pPr>
              <a:defRPr sz="1500" b="1">
                <a:solidFill>
                  <a:srgbClr val="0086B6"/>
                </a:solidFill>
              </a:defRPr>
            </a:lvl8pPr>
            <a:lvl9pPr>
              <a:defRPr sz="1500" b="1">
                <a:solidFill>
                  <a:srgbClr val="0086B6"/>
                </a:solidFill>
              </a:defRPr>
            </a:lvl9pPr>
          </a:lstStyle>
          <a:p>
            <a:pPr>
              <a:defRPr sz="1500" b="1">
                <a:solidFill>
                  <a:srgbClr val="0086B6"/>
                </a:solidFill>
              </a:defRPr>
            </a:pPr>
            <a:r>
              <a:rPr sz="1500" b="1">
                <a:solidFill>
                  <a:srgbClr val="0086B6"/>
                </a:solidFill>
                <a:latin typeface="Arial"/>
                <a:ea typeface="Arial"/>
                <a:cs typeface="Arial"/>
              </a:rPr>
              <a:t>SECURITY + EXISTING FLAWS</a:t>
            </a:r>
          </a:p>
        </p:txBody>
      </p:sp>
      <p:sp>
        <p:nvSpPr>
          <p:cNvPr id="1005" name="Security count">
            <a:extLst>
              <a:ext uri="{FF2B5EF4-FFF2-40B4-BE49-F238E27FC236}">
                <a16:creationId xmlns:a16="http://schemas.microsoft.com/office/drawing/2014/main" id="{F3CB3D3A-5EC7-4008-9562-F6E2F75C5821}"/>
              </a:ext>
            </a:extLst>
          </p:cNvPr>
          <p:cNvSpPr>
            <a:spLocks noGrp="1"/>
          </p:cNvSpPr>
          <p:nvPr/>
        </p:nvSpPr>
        <p:spPr>
          <a:xfrm>
            <a:off x="6400800" y="2715768"/>
            <a:ext cx="4800600" cy="877824"/>
          </a:xfrm>
          <a:prstGeom prst="rect">
            <a:avLst/>
          </a:prstGeom>
          <a:noFill/>
          <a:ln w="0">
            <a:noFill/>
            <a:prstDash val="solid"/>
          </a:ln>
        </p:spPr>
        <p:txBody>
          <a:bodyPr wrap="square" lIns="0" tIns="0" rIns="0" bIns="0" anchor="t">
            <a:noAutofit/>
          </a:bodyPr>
          <a:lstStyle>
            <a:defPPr>
              <a:defRPr sz="6000" b="1">
                <a:solidFill>
                  <a:srgbClr val="B76521"/>
                </a:solidFill>
              </a:defRPr>
            </a:defPPr>
            <a:lvl1pPr>
              <a:defRPr sz="6000" b="1">
                <a:solidFill>
                  <a:srgbClr val="B76521"/>
                </a:solidFill>
              </a:defRPr>
            </a:lvl1pPr>
            <a:lvl2pPr>
              <a:defRPr sz="6000" b="1">
                <a:solidFill>
                  <a:srgbClr val="B76521"/>
                </a:solidFill>
              </a:defRPr>
            </a:lvl2pPr>
            <a:lvl3pPr>
              <a:defRPr sz="6000" b="1">
                <a:solidFill>
                  <a:srgbClr val="B76521"/>
                </a:solidFill>
              </a:defRPr>
            </a:lvl3pPr>
            <a:lvl4pPr>
              <a:defRPr sz="6000" b="1">
                <a:solidFill>
                  <a:srgbClr val="B76521"/>
                </a:solidFill>
              </a:defRPr>
            </a:lvl4pPr>
            <a:lvl5pPr>
              <a:defRPr sz="6000" b="1">
                <a:solidFill>
                  <a:srgbClr val="B76521"/>
                </a:solidFill>
              </a:defRPr>
            </a:lvl5pPr>
            <a:lvl6pPr>
              <a:defRPr sz="6000" b="1">
                <a:solidFill>
                  <a:srgbClr val="B76521"/>
                </a:solidFill>
              </a:defRPr>
            </a:lvl6pPr>
            <a:lvl7pPr>
              <a:defRPr sz="6000" b="1">
                <a:solidFill>
                  <a:srgbClr val="B76521"/>
                </a:solidFill>
              </a:defRPr>
            </a:lvl7pPr>
            <a:lvl8pPr>
              <a:defRPr sz="6000" b="1">
                <a:solidFill>
                  <a:srgbClr val="B76521"/>
                </a:solidFill>
              </a:defRPr>
            </a:lvl8pPr>
            <a:lvl9pPr>
              <a:defRPr sz="6000" b="1">
                <a:solidFill>
                  <a:srgbClr val="B76521"/>
                </a:solidFill>
              </a:defRPr>
            </a:lvl9pPr>
          </a:lstStyle>
          <a:p>
            <a:pPr>
              <a:defRPr sz="6000" b="1">
                <a:solidFill>
                  <a:srgbClr val="B76521"/>
                </a:solidFill>
              </a:defRPr>
            </a:pPr>
            <a:r>
              <a:rPr sz="6000" b="1">
                <a:solidFill>
                  <a:srgbClr val="B76521"/>
                </a:solidFill>
                <a:latin typeface="Arial"/>
                <a:ea typeface="Arial"/>
                <a:cs typeface="Arial"/>
              </a:rPr>
              <a:t>5 of 10</a:t>
            </a:r>
          </a:p>
        </p:txBody>
      </p:sp>
      <p:sp>
        <p:nvSpPr>
          <p:cNvPr id="1006" name="Security unit">
            <a:extLst>
              <a:ext uri="{FF2B5EF4-FFF2-40B4-BE49-F238E27FC236}">
                <a16:creationId xmlns:a16="http://schemas.microsoft.com/office/drawing/2014/main" id="{1FA61562-9658-4B9B-9B49-EE9FFABABD8F}"/>
              </a:ext>
            </a:extLst>
          </p:cNvPr>
          <p:cNvSpPr>
            <a:spLocks noGrp="1"/>
          </p:cNvSpPr>
          <p:nvPr/>
        </p:nvSpPr>
        <p:spPr>
          <a:xfrm>
            <a:off x="6400800" y="3767328"/>
            <a:ext cx="4800600" cy="731520"/>
          </a:xfrm>
          <a:prstGeom prst="rect">
            <a:avLst/>
          </a:prstGeom>
          <a:noFill/>
          <a:ln w="0">
            <a:noFill/>
            <a:prstDash val="solid"/>
          </a:ln>
        </p:spPr>
        <p:txBody>
          <a:bodyPr wrap="square" lIns="0" tIns="0" rIns="0" bIns="0" anchor="t">
            <a:noAutofit/>
          </a:bodyPr>
          <a:lstStyle>
            <a:defPPr>
              <a:defRPr sz="1900" b="0">
                <a:solidFill>
                  <a:srgbClr val="33333A"/>
                </a:solidFill>
              </a:defRPr>
            </a:defPPr>
            <a:lvl1pPr>
              <a:defRPr sz="1900" b="0">
                <a:solidFill>
                  <a:srgbClr val="33333A"/>
                </a:solidFill>
              </a:defRPr>
            </a:lvl1pPr>
            <a:lvl2pPr>
              <a:defRPr sz="1900" b="0">
                <a:solidFill>
                  <a:srgbClr val="33333A"/>
                </a:solidFill>
              </a:defRPr>
            </a:lvl2pPr>
            <a:lvl3pPr>
              <a:defRPr sz="1900" b="0">
                <a:solidFill>
                  <a:srgbClr val="33333A"/>
                </a:solidFill>
              </a:defRPr>
            </a:lvl3pPr>
            <a:lvl4pPr>
              <a:defRPr sz="1900" b="0">
                <a:solidFill>
                  <a:srgbClr val="33333A"/>
                </a:solidFill>
              </a:defRPr>
            </a:lvl4pPr>
            <a:lvl5pPr>
              <a:defRPr sz="1900" b="0">
                <a:solidFill>
                  <a:srgbClr val="33333A"/>
                </a:solidFill>
              </a:defRPr>
            </a:lvl5pPr>
            <a:lvl6pPr>
              <a:defRPr sz="1900" b="0">
                <a:solidFill>
                  <a:srgbClr val="33333A"/>
                </a:solidFill>
              </a:defRPr>
            </a:lvl6pPr>
            <a:lvl7pPr>
              <a:defRPr sz="1900" b="0">
                <a:solidFill>
                  <a:srgbClr val="33333A"/>
                </a:solidFill>
              </a:defRPr>
            </a:lvl7pPr>
            <a:lvl8pPr>
              <a:defRPr sz="1900" b="0">
                <a:solidFill>
                  <a:srgbClr val="33333A"/>
                </a:solidFill>
              </a:defRPr>
            </a:lvl8pPr>
            <a:lvl9pPr>
              <a:defRPr sz="1900" b="0">
                <a:solidFill>
                  <a:srgbClr val="33333A"/>
                </a:solidFill>
              </a:defRPr>
            </a:lvl9pPr>
          </a:lstStyle>
          <a:p>
            <a:pPr>
              <a:defRPr sz="1900" b="0">
                <a:solidFill>
                  <a:srgbClr val="33333A"/>
                </a:solidFill>
              </a:defRPr>
            </a:pPr>
            <a:r>
              <a:rPr sz="1900" b="0">
                <a:solidFill>
                  <a:srgbClr val="33333A"/>
                </a:solidFill>
                <a:latin typeface="Arial"/>
                <a:ea typeface="Arial"/>
                <a:cs typeface="Arial"/>
              </a:rPr>
              <a:t>reviews raised a false security alarm</a:t>
            </a:r>
            <a:br>
              <a:rPr sz="1900" b="0">
                <a:solidFill>
                  <a:srgbClr val="33333A"/>
                </a:solidFill>
                <a:latin typeface="Arial"/>
                <a:ea typeface="Arial"/>
                <a:cs typeface="Arial"/>
              </a:rPr>
            </a:br>
            <a:r>
              <a:rPr sz="1900" b="0">
                <a:solidFill>
                  <a:srgbClr val="33333A"/>
                </a:solidFill>
                <a:latin typeface="Arial"/>
                <a:ea typeface="Arial"/>
                <a:cs typeface="Arial"/>
              </a:rPr>
              <a:t>2 of 10 included Medium or higher</a:t>
            </a:r>
          </a:p>
        </p:txBody>
      </p:sp>
      <p:sp>
        <p:nvSpPr>
          <p:cNvPr id="1007" name="Audience discussion">
            <a:extLst>
              <a:ext uri="{FF2B5EF4-FFF2-40B4-BE49-F238E27FC236}">
                <a16:creationId xmlns:a16="http://schemas.microsoft.com/office/drawing/2014/main" id="{0DF0D688-0771-400D-BC9C-CED28FE71BCA}"/>
              </a:ext>
            </a:extLst>
          </p:cNvPr>
          <p:cNvSpPr>
            <a:spLocks noGrp="1"/>
          </p:cNvSpPr>
          <p:nvPr/>
        </p:nvSpPr>
        <p:spPr>
          <a:xfrm>
            <a:off x="812902" y="5010912"/>
            <a:ext cx="10561320" cy="457200"/>
          </a:xfrm>
          <a:prstGeom prst="rect">
            <a:avLst/>
          </a:prstGeom>
          <a:noFill/>
          <a:ln w="0">
            <a:noFill/>
            <a:prstDash val="solid"/>
          </a:ln>
        </p:spPr>
        <p:txBody>
          <a:bodyPr wrap="square" lIns="0" tIns="0" rIns="0" bIns="0" anchor="t">
            <a:noAutofit/>
          </a:bodyPr>
          <a:lstStyle>
            <a:defPPr>
              <a:defRPr sz="2500" b="1">
                <a:solidFill>
                  <a:srgbClr val="33333A"/>
                </a:solidFill>
              </a:defRPr>
            </a:defPPr>
            <a:lvl1pPr>
              <a:defRPr sz="2500" b="1">
                <a:solidFill>
                  <a:srgbClr val="33333A"/>
                </a:solidFill>
              </a:defRPr>
            </a:lvl1pPr>
            <a:lvl2pPr>
              <a:defRPr sz="2500" b="1">
                <a:solidFill>
                  <a:srgbClr val="33333A"/>
                </a:solidFill>
              </a:defRPr>
            </a:lvl2pPr>
            <a:lvl3pPr>
              <a:defRPr sz="2500" b="1">
                <a:solidFill>
                  <a:srgbClr val="33333A"/>
                </a:solidFill>
              </a:defRPr>
            </a:lvl3pPr>
            <a:lvl4pPr>
              <a:defRPr sz="2500" b="1">
                <a:solidFill>
                  <a:srgbClr val="33333A"/>
                </a:solidFill>
              </a:defRPr>
            </a:lvl4pPr>
            <a:lvl5pPr>
              <a:defRPr sz="2500" b="1">
                <a:solidFill>
                  <a:srgbClr val="33333A"/>
                </a:solidFill>
              </a:defRPr>
            </a:lvl5pPr>
            <a:lvl6pPr>
              <a:defRPr sz="2500" b="1">
                <a:solidFill>
                  <a:srgbClr val="33333A"/>
                </a:solidFill>
              </a:defRPr>
            </a:lvl6pPr>
            <a:lvl7pPr>
              <a:defRPr sz="2500" b="1">
                <a:solidFill>
                  <a:srgbClr val="33333A"/>
                </a:solidFill>
              </a:defRPr>
            </a:lvl7pPr>
            <a:lvl8pPr>
              <a:defRPr sz="2500" b="1">
                <a:solidFill>
                  <a:srgbClr val="33333A"/>
                </a:solidFill>
              </a:defRPr>
            </a:lvl8pPr>
            <a:lvl9pPr>
              <a:defRPr sz="2500" b="1">
                <a:solidFill>
                  <a:srgbClr val="33333A"/>
                </a:solidFill>
              </a:defRPr>
            </a:lvl9pPr>
          </a:lstStyle>
          <a:p>
            <a:pPr>
              <a:defRPr sz="2500" b="1">
                <a:solidFill>
                  <a:srgbClr val="33333A"/>
                </a:solidFill>
              </a:defRPr>
            </a:pPr>
            <a:r>
              <a:rPr sz="2500" b="1">
                <a:solidFill>
                  <a:srgbClr val="33333A"/>
                </a:solidFill>
                <a:latin typeface="Arial"/>
                <a:ea typeface="Arial"/>
                <a:cs typeface="Arial"/>
              </a:rPr>
              <a:t>What false-alarm burden would your team accept?</a:t>
            </a:r>
          </a:p>
        </p:txBody>
      </p:sp>
      <p:sp>
        <p:nvSpPr>
          <p:cNvPr id="1008" name="Unmeasured">
            <a:extLst>
              <a:ext uri="{FF2B5EF4-FFF2-40B4-BE49-F238E27FC236}">
                <a16:creationId xmlns:a16="http://schemas.microsoft.com/office/drawing/2014/main" id="{FE814FA2-1B21-4ECE-A3E4-D678A103B580}"/>
              </a:ext>
            </a:extLst>
          </p:cNvPr>
          <p:cNvSpPr>
            <a:spLocks noGrp="1"/>
          </p:cNvSpPr>
          <p:nvPr/>
        </p:nvSpPr>
        <p:spPr>
          <a:xfrm>
            <a:off x="812902" y="5687568"/>
            <a:ext cx="10561320" cy="502920"/>
          </a:xfrm>
          <a:prstGeom prst="rect">
            <a:avLst/>
          </a:prstGeom>
          <a:noFill/>
          <a:ln w="0">
            <a:noFill/>
            <a:prstDash val="solid"/>
          </a:ln>
        </p:spPr>
        <p:txBody>
          <a:bodyPr wrap="square" lIns="0" tIns="0" rIns="0" bIns="0" anchor="t">
            <a:noAutofit/>
          </a:bodyPr>
          <a:lstStyle>
            <a:defPPr>
              <a:defRPr sz="1500" b="0">
                <a:solidFill>
                  <a:srgbClr val="6B6B73"/>
                </a:solidFill>
              </a:defRPr>
            </a:defPPr>
            <a:lvl1pPr>
              <a:defRPr sz="1500" b="0">
                <a:solidFill>
                  <a:srgbClr val="6B6B73"/>
                </a:solidFill>
              </a:defRPr>
            </a:lvl1pPr>
            <a:lvl2pPr>
              <a:defRPr sz="1500" b="0">
                <a:solidFill>
                  <a:srgbClr val="6B6B73"/>
                </a:solidFill>
              </a:defRPr>
            </a:lvl2pPr>
            <a:lvl3pPr>
              <a:defRPr sz="1500" b="0">
                <a:solidFill>
                  <a:srgbClr val="6B6B73"/>
                </a:solidFill>
              </a:defRPr>
            </a:lvl3pPr>
            <a:lvl4pPr>
              <a:defRPr sz="1500" b="0">
                <a:solidFill>
                  <a:srgbClr val="6B6B73"/>
                </a:solidFill>
              </a:defRPr>
            </a:lvl4pPr>
            <a:lvl5pPr>
              <a:defRPr sz="1500" b="0">
                <a:solidFill>
                  <a:srgbClr val="6B6B73"/>
                </a:solidFill>
              </a:defRPr>
            </a:lvl5pPr>
            <a:lvl6pPr>
              <a:defRPr sz="1500" b="0">
                <a:solidFill>
                  <a:srgbClr val="6B6B73"/>
                </a:solidFill>
              </a:defRPr>
            </a:lvl6pPr>
            <a:lvl7pPr>
              <a:defRPr sz="1500" b="0">
                <a:solidFill>
                  <a:srgbClr val="6B6B73"/>
                </a:solidFill>
              </a:defRPr>
            </a:lvl7pPr>
            <a:lvl8pPr>
              <a:defRPr sz="1500" b="0">
                <a:solidFill>
                  <a:srgbClr val="6B6B73"/>
                </a:solidFill>
              </a:defRPr>
            </a:lvl8pPr>
            <a:lvl9pPr>
              <a:defRPr sz="1500" b="0">
                <a:solidFill>
                  <a:srgbClr val="6B6B73"/>
                </a:solidFill>
              </a:defRPr>
            </a:lvl9pPr>
          </a:lstStyle>
          <a:p>
            <a:pPr>
              <a:defRPr sz="1500" b="0">
                <a:solidFill>
                  <a:srgbClr val="6B6B73"/>
                </a:solidFill>
              </a:defRPr>
            </a:pPr>
            <a:r>
              <a:rPr sz="1500" b="0" dirty="0">
                <a:solidFill>
                  <a:srgbClr val="6B6B73"/>
                </a:solidFill>
                <a:latin typeface="Arial"/>
                <a:ea typeface="Arial"/>
                <a:cs typeface="Arial"/>
              </a:rPr>
              <a:t>False alarms with added context were not measured. These controls do not establish final-workflow precision.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4">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36" name="Text 25"/>
          <p:cNvSpPr/>
          <p:nvPr/>
        </p:nvSpPr>
        <p:spPr>
          <a:xfrm>
            <a:off x="7532370" y="6238280"/>
            <a:ext cx="300863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A92"/>
                </a:solidFill>
                <a:latin typeface="Arial" pitchFamily="34" charset="0"/>
                <a:ea typeface="Arial" pitchFamily="34" charset="-122"/>
                <a:cs typeface="Arial" pitchFamily="34" charset="-120"/>
              </a:rPr>
              <a:t>ISC2.org/Congress | #ISC2Congress</a:t>
            </a:r>
            <a:endParaRPr lang="en-US" sz="1200" dirty="0"/>
          </a:p>
        </p:txBody>
      </p:sp>
      <p:pic>
        <p:nvPicPr>
          <p:cNvPr id="5" name="Picture 4" descr="OpenTelemetry | Drupal.org">
            <a:extLst>
              <a:ext uri="{FF2B5EF4-FFF2-40B4-BE49-F238E27FC236}">
                <a16:creationId xmlns:a16="http://schemas.microsoft.com/office/drawing/2014/main" id="{0C6B5965-D094-87D6-C38B-EC39ABA6C06F}"/>
              </a:ext>
            </a:extLst>
          </p:cNvPr>
          <p:cNvPicPr>
            <a:picLocks noChangeAspect="1"/>
          </p:cNvPicPr>
          <p:nvPr/>
        </p:nvPicPr>
        <p:blipFill>
          <a:blip r:embed="rId5"/>
          <a:stretch>
            <a:fillRect/>
          </a:stretch>
        </p:blipFill>
        <p:spPr>
          <a:xfrm>
            <a:off x="8905875" y="2114550"/>
            <a:ext cx="2047875" cy="1072186"/>
          </a:xfrm>
          <a:prstGeom prst="rect">
            <a:avLst/>
          </a:prstGeom>
        </p:spPr>
      </p:pic>
      <p:sp>
        <p:nvSpPr>
          <p:cNvPr id="2022" name="title">
            <a:extLst>
              <a:ext uri="{FF2B5EF4-FFF2-40B4-BE49-F238E27FC236}">
                <a16:creationId xmlns:a16="http://schemas.microsoft.com/office/drawing/2014/main" id="{6DC3FB6C-9A22-4E2D-ADA8-B55CCB58D461}"/>
              </a:ext>
            </a:extLst>
          </p:cNvPr>
          <p:cNvSpPr>
            <a:spLocks noGrp="1"/>
          </p:cNvSpPr>
          <p:nvPr/>
        </p:nvSpPr>
        <p:spPr>
          <a:xfrm>
            <a:off x="812864" y="819150"/>
            <a:ext cx="10572750" cy="514350"/>
          </a:xfrm>
          <a:prstGeom prst="rect">
            <a:avLst/>
          </a:prstGeom>
          <a:noFill/>
          <a:ln w="0">
            <a:noFill/>
          </a:ln>
        </p:spPr>
        <p:txBody>
          <a:bodyPr lIns="0" tIns="0" rIns="0" bIns="0" anchor="ctr">
            <a:noAutofit/>
          </a:bodyPr>
          <a:lstStyle>
            <a:defPPr algn="l">
              <a:defRPr sz="3000" b="1">
                <a:solidFill>
                  <a:srgbClr val="4F8734"/>
                </a:solidFill>
              </a:defRPr>
            </a:defPPr>
            <a:lvl1pPr algn="l">
              <a:defRPr sz="3000" b="1">
                <a:solidFill>
                  <a:srgbClr val="4F8734"/>
                </a:solidFill>
              </a:defRPr>
            </a:lvl1pPr>
            <a:lvl2pPr algn="l">
              <a:defRPr sz="3000" b="1">
                <a:solidFill>
                  <a:srgbClr val="4F8734"/>
                </a:solidFill>
              </a:defRPr>
            </a:lvl2pPr>
            <a:lvl3pPr algn="l">
              <a:defRPr sz="3000" b="1">
                <a:solidFill>
                  <a:srgbClr val="4F8734"/>
                </a:solidFill>
              </a:defRPr>
            </a:lvl3pPr>
            <a:lvl4pPr algn="l">
              <a:defRPr sz="3000" b="1">
                <a:solidFill>
                  <a:srgbClr val="4F8734"/>
                </a:solidFill>
              </a:defRPr>
            </a:lvl4pPr>
            <a:lvl5pPr algn="l">
              <a:defRPr sz="3000" b="1">
                <a:solidFill>
                  <a:srgbClr val="4F8734"/>
                </a:solidFill>
              </a:defRPr>
            </a:lvl5pPr>
            <a:lvl6pPr algn="l">
              <a:defRPr sz="3000" b="1">
                <a:solidFill>
                  <a:srgbClr val="4F8734"/>
                </a:solidFill>
              </a:defRPr>
            </a:lvl6pPr>
            <a:lvl7pPr algn="l">
              <a:defRPr sz="3000" b="1">
                <a:solidFill>
                  <a:srgbClr val="4F8734"/>
                </a:solidFill>
              </a:defRPr>
            </a:lvl7pPr>
            <a:lvl8pPr algn="l">
              <a:defRPr sz="3000" b="1">
                <a:solidFill>
                  <a:srgbClr val="4F8734"/>
                </a:solidFill>
              </a:defRPr>
            </a:lvl8pPr>
            <a:lvl9pPr algn="l">
              <a:defRPr sz="3000" b="1">
                <a:solidFill>
                  <a:srgbClr val="4F8734"/>
                </a:solidFill>
              </a:defRPr>
            </a:lvl9pPr>
          </a:lstStyle>
          <a:p>
            <a:pPr algn="l">
              <a:defRPr sz="3000" b="1">
                <a:solidFill>
                  <a:srgbClr val="4F8734"/>
                </a:solidFill>
              </a:defRPr>
            </a:pPr>
            <a:r>
              <a:rPr sz="3000" b="1">
                <a:solidFill>
                  <a:srgbClr val="4F8734"/>
                </a:solidFill>
              </a:rPr>
              <a:t>OpenTelemetry: follow the request</a:t>
            </a:r>
          </a:p>
        </p:txBody>
      </p:sp>
      <p:sp>
        <p:nvSpPr>
          <p:cNvPr id="2002" name="subtitle">
            <a:extLst>
              <a:ext uri="{FF2B5EF4-FFF2-40B4-BE49-F238E27FC236}">
                <a16:creationId xmlns:a16="http://schemas.microsoft.com/office/drawing/2014/main" id="{F58BF4B1-ADB0-4CE7-BB04-B03970624F2C}"/>
              </a:ext>
            </a:extLst>
          </p:cNvPr>
          <p:cNvSpPr>
            <a:spLocks noGrp="1"/>
          </p:cNvSpPr>
          <p:nvPr/>
        </p:nvSpPr>
        <p:spPr>
          <a:xfrm>
            <a:off x="812864" y="1409700"/>
            <a:ext cx="10572750" cy="457200"/>
          </a:xfrm>
          <a:prstGeom prst="rect">
            <a:avLst/>
          </a:prstGeom>
          <a:noFill/>
          <a:ln w="0">
            <a:noFill/>
          </a:ln>
        </p:spPr>
        <p:txBody>
          <a:bodyPr lIns="0" tIns="0" rIns="0" bIns="0" anchor="ctr">
            <a:noAutofit/>
          </a:bodyPr>
          <a:lstStyle>
            <a:defPPr algn="l">
              <a:defRPr sz="1725" b="0">
                <a:solidFill>
                  <a:srgbClr val="303238"/>
                </a:solidFill>
              </a:defRPr>
            </a:defPPr>
            <a:lvl1pPr algn="l">
              <a:defRPr sz="1725" b="0">
                <a:solidFill>
                  <a:srgbClr val="303238"/>
                </a:solidFill>
              </a:defRPr>
            </a:lvl1pPr>
            <a:lvl2pPr algn="l">
              <a:defRPr sz="1725" b="0">
                <a:solidFill>
                  <a:srgbClr val="303238"/>
                </a:solidFill>
              </a:defRPr>
            </a:lvl2pPr>
            <a:lvl3pPr algn="l">
              <a:defRPr sz="1725" b="0">
                <a:solidFill>
                  <a:srgbClr val="303238"/>
                </a:solidFill>
              </a:defRPr>
            </a:lvl3pPr>
            <a:lvl4pPr algn="l">
              <a:defRPr sz="1725" b="0">
                <a:solidFill>
                  <a:srgbClr val="303238"/>
                </a:solidFill>
              </a:defRPr>
            </a:lvl4pPr>
            <a:lvl5pPr algn="l">
              <a:defRPr sz="1725" b="0">
                <a:solidFill>
                  <a:srgbClr val="303238"/>
                </a:solidFill>
              </a:defRPr>
            </a:lvl5pPr>
            <a:lvl6pPr algn="l">
              <a:defRPr sz="1725" b="0">
                <a:solidFill>
                  <a:srgbClr val="303238"/>
                </a:solidFill>
              </a:defRPr>
            </a:lvl6pPr>
            <a:lvl7pPr algn="l">
              <a:defRPr sz="1725" b="0">
                <a:solidFill>
                  <a:srgbClr val="303238"/>
                </a:solidFill>
              </a:defRPr>
            </a:lvl7pPr>
            <a:lvl8pPr algn="l">
              <a:defRPr sz="1725" b="0">
                <a:solidFill>
                  <a:srgbClr val="303238"/>
                </a:solidFill>
              </a:defRPr>
            </a:lvl8pPr>
            <a:lvl9pPr algn="l">
              <a:defRPr sz="1725" b="0">
                <a:solidFill>
                  <a:srgbClr val="303238"/>
                </a:solidFill>
              </a:defRPr>
            </a:lvl9pPr>
          </a:lstStyle>
          <a:p>
            <a:pPr algn="l">
              <a:defRPr sz="1725" b="0">
                <a:solidFill>
                  <a:srgbClr val="303238"/>
                </a:solidFill>
              </a:defRPr>
            </a:pPr>
            <a:r>
              <a:rPr sz="1725" b="0">
                <a:solidFill>
                  <a:srgbClr val="303238"/>
                </a:solidFill>
              </a:rPr>
              <a:t>A trace connects services. Each timed operation is a span.</a:t>
            </a:r>
          </a:p>
        </p:txBody>
      </p:sp>
      <p:sp>
        <p:nvSpPr>
          <p:cNvPr id="2003" name="trace and spans">
            <a:extLst>
              <a:ext uri="{FF2B5EF4-FFF2-40B4-BE49-F238E27FC236}">
                <a16:creationId xmlns:a16="http://schemas.microsoft.com/office/drawing/2014/main" id="{B84EF2EA-6CD1-4E7E-AAB5-59D044368833}"/>
              </a:ext>
            </a:extLst>
          </p:cNvPr>
          <p:cNvSpPr>
            <a:spLocks noGrp="1"/>
          </p:cNvSpPr>
          <p:nvPr/>
        </p:nvSpPr>
        <p:spPr>
          <a:xfrm>
            <a:off x="812864" y="2133600"/>
            <a:ext cx="6858000" cy="352425"/>
          </a:xfrm>
          <a:prstGeom prst="rect">
            <a:avLst/>
          </a:prstGeom>
          <a:noFill/>
          <a:ln w="0">
            <a:noFill/>
          </a:ln>
        </p:spPr>
        <p:txBody>
          <a:bodyPr lIns="0" tIns="0" rIns="0" bIns="0" anchor="ctr">
            <a:noAutofit/>
          </a:bodyPr>
          <a:lstStyle>
            <a:defPPr algn="l">
              <a:defRPr sz="1875" b="1">
                <a:solidFill>
                  <a:srgbClr val="0086AC"/>
                </a:solidFill>
              </a:defRPr>
            </a:defPPr>
            <a:lvl1pPr algn="l">
              <a:defRPr sz="1875" b="1">
                <a:solidFill>
                  <a:srgbClr val="0086AC"/>
                </a:solidFill>
              </a:defRPr>
            </a:lvl1pPr>
            <a:lvl2pPr algn="l">
              <a:defRPr sz="1875" b="1">
                <a:solidFill>
                  <a:srgbClr val="0086AC"/>
                </a:solidFill>
              </a:defRPr>
            </a:lvl2pPr>
            <a:lvl3pPr algn="l">
              <a:defRPr sz="1875" b="1">
                <a:solidFill>
                  <a:srgbClr val="0086AC"/>
                </a:solidFill>
              </a:defRPr>
            </a:lvl3pPr>
            <a:lvl4pPr algn="l">
              <a:defRPr sz="1875" b="1">
                <a:solidFill>
                  <a:srgbClr val="0086AC"/>
                </a:solidFill>
              </a:defRPr>
            </a:lvl4pPr>
            <a:lvl5pPr algn="l">
              <a:defRPr sz="1875" b="1">
                <a:solidFill>
                  <a:srgbClr val="0086AC"/>
                </a:solidFill>
              </a:defRPr>
            </a:lvl5pPr>
            <a:lvl6pPr algn="l">
              <a:defRPr sz="1875" b="1">
                <a:solidFill>
                  <a:srgbClr val="0086AC"/>
                </a:solidFill>
              </a:defRPr>
            </a:lvl6pPr>
            <a:lvl7pPr algn="l">
              <a:defRPr sz="1875" b="1">
                <a:solidFill>
                  <a:srgbClr val="0086AC"/>
                </a:solidFill>
              </a:defRPr>
            </a:lvl7pPr>
            <a:lvl8pPr algn="l">
              <a:defRPr sz="1875" b="1">
                <a:solidFill>
                  <a:srgbClr val="0086AC"/>
                </a:solidFill>
              </a:defRPr>
            </a:lvl8pPr>
            <a:lvl9pPr algn="l">
              <a:defRPr sz="1875" b="1">
                <a:solidFill>
                  <a:srgbClr val="0086AC"/>
                </a:solidFill>
              </a:defRPr>
            </a:lvl9pPr>
          </a:lstStyle>
          <a:p>
            <a:pPr algn="l">
              <a:defRPr sz="1875" b="1">
                <a:solidFill>
                  <a:srgbClr val="0086AC"/>
                </a:solidFill>
              </a:defRPr>
            </a:pPr>
            <a:r>
              <a:rPr sz="1875" b="1">
                <a:solidFill>
                  <a:srgbClr val="0086AC"/>
                </a:solidFill>
              </a:rPr>
              <a:t>One trace, three spans</a:t>
            </a:r>
          </a:p>
        </p:txBody>
      </p:sp>
      <p:sp>
        <p:nvSpPr>
          <p:cNvPr id="2004" name="span 0">
            <a:extLst>
              <a:ext uri="{FF2B5EF4-FFF2-40B4-BE49-F238E27FC236}">
                <a16:creationId xmlns:a16="http://schemas.microsoft.com/office/drawing/2014/main" id="{63EC4C33-5879-40AB-8479-5ACBE8BB8247}"/>
              </a:ext>
            </a:extLst>
          </p:cNvPr>
          <p:cNvSpPr>
            <a:spLocks noGrp="1"/>
          </p:cNvSpPr>
          <p:nvPr/>
        </p:nvSpPr>
        <p:spPr>
          <a:xfrm>
            <a:off x="812864" y="2686050"/>
            <a:ext cx="6858000" cy="514350"/>
          </a:xfrm>
          <a:prstGeom prst="rect">
            <a:avLst/>
          </a:prstGeom>
          <a:solidFill>
            <a:srgbClr val="0086AC"/>
          </a:solidFill>
          <a:ln w="0">
            <a:noFill/>
          </a:ln>
        </p:spPr>
      </p:sp>
      <p:sp>
        <p:nvSpPr>
          <p:cNvPr id="2005" name="span label 0">
            <a:extLst>
              <a:ext uri="{FF2B5EF4-FFF2-40B4-BE49-F238E27FC236}">
                <a16:creationId xmlns:a16="http://schemas.microsoft.com/office/drawing/2014/main" id="{FC0EC9FF-B979-416C-8125-0FDF4E8A9322}"/>
              </a:ext>
            </a:extLst>
          </p:cNvPr>
          <p:cNvSpPr>
            <a:spLocks noGrp="1"/>
          </p:cNvSpPr>
          <p:nvPr/>
        </p:nvSpPr>
        <p:spPr>
          <a:xfrm>
            <a:off x="974789" y="2733675"/>
            <a:ext cx="6534150" cy="419100"/>
          </a:xfrm>
          <a:prstGeom prst="rect">
            <a:avLst/>
          </a:prstGeom>
          <a:noFill/>
          <a:ln w="0">
            <a:noFill/>
          </a:ln>
        </p:spPr>
        <p:txBody>
          <a:bodyPr lIns="0" tIns="0" rIns="0" bIns="0" anchor="ctr">
            <a:noAutofit/>
          </a:bodyPr>
          <a:lstStyle>
            <a:defPPr algn="l">
              <a:defRPr sz="2025" b="1">
                <a:solidFill>
                  <a:srgbClr val="FFFFFF"/>
                </a:solidFill>
              </a:defRPr>
            </a:defPPr>
            <a:lvl1pPr algn="l">
              <a:defRPr sz="2025" b="1">
                <a:solidFill>
                  <a:srgbClr val="FFFFFF"/>
                </a:solidFill>
              </a:defRPr>
            </a:lvl1pPr>
            <a:lvl2pPr algn="l">
              <a:defRPr sz="2025" b="1">
                <a:solidFill>
                  <a:srgbClr val="FFFFFF"/>
                </a:solidFill>
              </a:defRPr>
            </a:lvl2pPr>
            <a:lvl3pPr algn="l">
              <a:defRPr sz="2025" b="1">
                <a:solidFill>
                  <a:srgbClr val="FFFFFF"/>
                </a:solidFill>
              </a:defRPr>
            </a:lvl3pPr>
            <a:lvl4pPr algn="l">
              <a:defRPr sz="2025" b="1">
                <a:solidFill>
                  <a:srgbClr val="FFFFFF"/>
                </a:solidFill>
              </a:defRPr>
            </a:lvl4pPr>
            <a:lvl5pPr algn="l">
              <a:defRPr sz="2025" b="1">
                <a:solidFill>
                  <a:srgbClr val="FFFFFF"/>
                </a:solidFill>
              </a:defRPr>
            </a:lvl5pPr>
            <a:lvl6pPr algn="l">
              <a:defRPr sz="2025" b="1">
                <a:solidFill>
                  <a:srgbClr val="FFFFFF"/>
                </a:solidFill>
              </a:defRPr>
            </a:lvl6pPr>
            <a:lvl7pPr algn="l">
              <a:defRPr sz="2025" b="1">
                <a:solidFill>
                  <a:srgbClr val="FFFFFF"/>
                </a:solidFill>
              </a:defRPr>
            </a:lvl7pPr>
            <a:lvl8pPr algn="l">
              <a:defRPr sz="2025" b="1">
                <a:solidFill>
                  <a:srgbClr val="FFFFFF"/>
                </a:solidFill>
              </a:defRPr>
            </a:lvl8pPr>
            <a:lvl9pPr algn="l">
              <a:defRPr sz="2025" b="1">
                <a:solidFill>
                  <a:srgbClr val="FFFFFF"/>
                </a:solidFill>
              </a:defRPr>
            </a:lvl9pPr>
          </a:lstStyle>
          <a:p>
            <a:pPr algn="l">
              <a:defRPr sz="2025" b="1">
                <a:solidFill>
                  <a:srgbClr val="FFFFFF"/>
                </a:solidFill>
              </a:defRPr>
            </a:pPr>
            <a:r>
              <a:rPr sz="2025" b="1">
                <a:solidFill>
                  <a:srgbClr val="FFFFFF"/>
                </a:solidFill>
              </a:rPr>
              <a:t>Portal request</a:t>
            </a:r>
          </a:p>
        </p:txBody>
      </p:sp>
      <p:sp>
        <p:nvSpPr>
          <p:cNvPr id="2006" name="span 1">
            <a:extLst>
              <a:ext uri="{FF2B5EF4-FFF2-40B4-BE49-F238E27FC236}">
                <a16:creationId xmlns:a16="http://schemas.microsoft.com/office/drawing/2014/main" id="{9CFD31DD-2E3A-4F2A-A4CB-E02683C32739}"/>
              </a:ext>
            </a:extLst>
          </p:cNvPr>
          <p:cNvSpPr>
            <a:spLocks noGrp="1"/>
          </p:cNvSpPr>
          <p:nvPr/>
        </p:nvSpPr>
        <p:spPr>
          <a:xfrm>
            <a:off x="1765364" y="3448050"/>
            <a:ext cx="5238750" cy="514350"/>
          </a:xfrm>
          <a:prstGeom prst="rect">
            <a:avLst/>
          </a:prstGeom>
          <a:solidFill>
            <a:srgbClr val="5965AC"/>
          </a:solidFill>
          <a:ln w="0">
            <a:noFill/>
          </a:ln>
        </p:spPr>
      </p:sp>
      <p:sp>
        <p:nvSpPr>
          <p:cNvPr id="2007" name="span label 1">
            <a:extLst>
              <a:ext uri="{FF2B5EF4-FFF2-40B4-BE49-F238E27FC236}">
                <a16:creationId xmlns:a16="http://schemas.microsoft.com/office/drawing/2014/main" id="{DDBEA451-E88D-4C47-BA4D-D5C52F4D1D20}"/>
              </a:ext>
            </a:extLst>
          </p:cNvPr>
          <p:cNvSpPr>
            <a:spLocks noGrp="1"/>
          </p:cNvSpPr>
          <p:nvPr/>
        </p:nvSpPr>
        <p:spPr>
          <a:xfrm>
            <a:off x="1927289" y="3495675"/>
            <a:ext cx="4914900" cy="419100"/>
          </a:xfrm>
          <a:prstGeom prst="rect">
            <a:avLst/>
          </a:prstGeom>
          <a:noFill/>
          <a:ln w="0">
            <a:noFill/>
          </a:ln>
        </p:spPr>
        <p:txBody>
          <a:bodyPr lIns="0" tIns="0" rIns="0" bIns="0" anchor="ctr">
            <a:noAutofit/>
          </a:bodyPr>
          <a:lstStyle>
            <a:defPPr algn="l">
              <a:defRPr sz="2025" b="1">
                <a:solidFill>
                  <a:srgbClr val="FFFFFF"/>
                </a:solidFill>
              </a:defRPr>
            </a:defPPr>
            <a:lvl1pPr algn="l">
              <a:defRPr sz="2025" b="1">
                <a:solidFill>
                  <a:srgbClr val="FFFFFF"/>
                </a:solidFill>
              </a:defRPr>
            </a:lvl1pPr>
            <a:lvl2pPr algn="l">
              <a:defRPr sz="2025" b="1">
                <a:solidFill>
                  <a:srgbClr val="FFFFFF"/>
                </a:solidFill>
              </a:defRPr>
            </a:lvl2pPr>
            <a:lvl3pPr algn="l">
              <a:defRPr sz="2025" b="1">
                <a:solidFill>
                  <a:srgbClr val="FFFFFF"/>
                </a:solidFill>
              </a:defRPr>
            </a:lvl3pPr>
            <a:lvl4pPr algn="l">
              <a:defRPr sz="2025" b="1">
                <a:solidFill>
                  <a:srgbClr val="FFFFFF"/>
                </a:solidFill>
              </a:defRPr>
            </a:lvl4pPr>
            <a:lvl5pPr algn="l">
              <a:defRPr sz="2025" b="1">
                <a:solidFill>
                  <a:srgbClr val="FFFFFF"/>
                </a:solidFill>
              </a:defRPr>
            </a:lvl5pPr>
            <a:lvl6pPr algn="l">
              <a:defRPr sz="2025" b="1">
                <a:solidFill>
                  <a:srgbClr val="FFFFFF"/>
                </a:solidFill>
              </a:defRPr>
            </a:lvl6pPr>
            <a:lvl7pPr algn="l">
              <a:defRPr sz="2025" b="1">
                <a:solidFill>
                  <a:srgbClr val="FFFFFF"/>
                </a:solidFill>
              </a:defRPr>
            </a:lvl7pPr>
            <a:lvl8pPr algn="l">
              <a:defRPr sz="2025" b="1">
                <a:solidFill>
                  <a:srgbClr val="FFFFFF"/>
                </a:solidFill>
              </a:defRPr>
            </a:lvl8pPr>
            <a:lvl9pPr algn="l">
              <a:defRPr sz="2025" b="1">
                <a:solidFill>
                  <a:srgbClr val="FFFFFF"/>
                </a:solidFill>
              </a:defRPr>
            </a:lvl9pPr>
          </a:lstStyle>
          <a:p>
            <a:pPr algn="l">
              <a:defRPr sz="2025" b="1">
                <a:solidFill>
                  <a:srgbClr val="FFFFFF"/>
                </a:solidFill>
              </a:defRPr>
            </a:pPr>
            <a:r>
              <a:rPr sz="2025" b="1">
                <a:solidFill>
                  <a:srgbClr val="FFFFFF"/>
                </a:solidFill>
              </a:rPr>
              <a:t>Payment service</a:t>
            </a:r>
          </a:p>
        </p:txBody>
      </p:sp>
      <p:sp>
        <p:nvSpPr>
          <p:cNvPr id="2008" name="span 2">
            <a:extLst>
              <a:ext uri="{FF2B5EF4-FFF2-40B4-BE49-F238E27FC236}">
                <a16:creationId xmlns:a16="http://schemas.microsoft.com/office/drawing/2014/main" id="{B174677E-FBE4-455D-9A3F-D51F6B231D77}"/>
              </a:ext>
            </a:extLst>
          </p:cNvPr>
          <p:cNvSpPr>
            <a:spLocks noGrp="1"/>
          </p:cNvSpPr>
          <p:nvPr/>
        </p:nvSpPr>
        <p:spPr>
          <a:xfrm>
            <a:off x="3336988" y="4210050"/>
            <a:ext cx="2762250" cy="514350"/>
          </a:xfrm>
          <a:prstGeom prst="rect">
            <a:avLst/>
          </a:prstGeom>
          <a:solidFill>
            <a:srgbClr val="4F8734"/>
          </a:solidFill>
          <a:ln w="0">
            <a:noFill/>
          </a:ln>
        </p:spPr>
      </p:sp>
      <p:sp>
        <p:nvSpPr>
          <p:cNvPr id="2009" name="span label 2">
            <a:extLst>
              <a:ext uri="{FF2B5EF4-FFF2-40B4-BE49-F238E27FC236}">
                <a16:creationId xmlns:a16="http://schemas.microsoft.com/office/drawing/2014/main" id="{DFC6EA9F-73CF-4440-8CD3-BA93E588712E}"/>
              </a:ext>
            </a:extLst>
          </p:cNvPr>
          <p:cNvSpPr>
            <a:spLocks noGrp="1"/>
          </p:cNvSpPr>
          <p:nvPr/>
        </p:nvSpPr>
        <p:spPr>
          <a:xfrm>
            <a:off x="3498913" y="4257675"/>
            <a:ext cx="2438400" cy="419100"/>
          </a:xfrm>
          <a:prstGeom prst="rect">
            <a:avLst/>
          </a:prstGeom>
          <a:noFill/>
          <a:ln w="0">
            <a:noFill/>
          </a:ln>
        </p:spPr>
        <p:txBody>
          <a:bodyPr lIns="0" tIns="0" rIns="0" bIns="0" anchor="ctr">
            <a:noAutofit/>
          </a:bodyPr>
          <a:lstStyle>
            <a:defPPr algn="l">
              <a:defRPr sz="2025" b="1">
                <a:solidFill>
                  <a:srgbClr val="FFFFFF"/>
                </a:solidFill>
              </a:defRPr>
            </a:defPPr>
            <a:lvl1pPr algn="l">
              <a:defRPr sz="2025" b="1">
                <a:solidFill>
                  <a:srgbClr val="FFFFFF"/>
                </a:solidFill>
              </a:defRPr>
            </a:lvl1pPr>
            <a:lvl2pPr algn="l">
              <a:defRPr sz="2025" b="1">
                <a:solidFill>
                  <a:srgbClr val="FFFFFF"/>
                </a:solidFill>
              </a:defRPr>
            </a:lvl2pPr>
            <a:lvl3pPr algn="l">
              <a:defRPr sz="2025" b="1">
                <a:solidFill>
                  <a:srgbClr val="FFFFFF"/>
                </a:solidFill>
              </a:defRPr>
            </a:lvl3pPr>
            <a:lvl4pPr algn="l">
              <a:defRPr sz="2025" b="1">
                <a:solidFill>
                  <a:srgbClr val="FFFFFF"/>
                </a:solidFill>
              </a:defRPr>
            </a:lvl4pPr>
            <a:lvl5pPr algn="l">
              <a:defRPr sz="2025" b="1">
                <a:solidFill>
                  <a:srgbClr val="FFFFFF"/>
                </a:solidFill>
              </a:defRPr>
            </a:lvl5pPr>
            <a:lvl6pPr algn="l">
              <a:defRPr sz="2025" b="1">
                <a:solidFill>
                  <a:srgbClr val="FFFFFF"/>
                </a:solidFill>
              </a:defRPr>
            </a:lvl6pPr>
            <a:lvl7pPr algn="l">
              <a:defRPr sz="2025" b="1">
                <a:solidFill>
                  <a:srgbClr val="FFFFFF"/>
                </a:solidFill>
              </a:defRPr>
            </a:lvl7pPr>
            <a:lvl8pPr algn="l">
              <a:defRPr sz="2025" b="1">
                <a:solidFill>
                  <a:srgbClr val="FFFFFF"/>
                </a:solidFill>
              </a:defRPr>
            </a:lvl8pPr>
            <a:lvl9pPr algn="l">
              <a:defRPr sz="2025" b="1">
                <a:solidFill>
                  <a:srgbClr val="FFFFFF"/>
                </a:solidFill>
              </a:defRPr>
            </a:lvl9pPr>
          </a:lstStyle>
          <a:p>
            <a:pPr algn="l">
              <a:defRPr sz="2025" b="1">
                <a:solidFill>
                  <a:srgbClr val="FFFFFF"/>
                </a:solidFill>
              </a:defRPr>
            </a:pPr>
            <a:r>
              <a:rPr sz="2025" b="1">
                <a:solidFill>
                  <a:srgbClr val="FFFFFF"/>
                </a:solidFill>
              </a:rPr>
              <a:t>Gateway call</a:t>
            </a:r>
          </a:p>
        </p:txBody>
      </p:sp>
      <p:sp>
        <p:nvSpPr>
          <p:cNvPr id="2010" name="log correlation">
            <a:extLst>
              <a:ext uri="{FF2B5EF4-FFF2-40B4-BE49-F238E27FC236}">
                <a16:creationId xmlns:a16="http://schemas.microsoft.com/office/drawing/2014/main" id="{C64F4BAB-F887-4F6E-B5A8-5BBE1D83466F}"/>
              </a:ext>
            </a:extLst>
          </p:cNvPr>
          <p:cNvSpPr>
            <a:spLocks noGrp="1"/>
          </p:cNvSpPr>
          <p:nvPr/>
        </p:nvSpPr>
        <p:spPr>
          <a:xfrm>
            <a:off x="6146864" y="4467225"/>
            <a:ext cx="2286000" cy="0"/>
          </a:xfrm>
          <a:prstGeom prst="line">
            <a:avLst/>
          </a:prstGeom>
          <a:noFill/>
          <a:ln w="19050">
            <a:solidFill>
              <a:srgbClr val="5965AC"/>
            </a:solidFill>
          </a:ln>
        </p:spPr>
      </p:sp>
      <p:sp>
        <p:nvSpPr>
          <p:cNvPr id="2011" name="log event marker">
            <a:extLst>
              <a:ext uri="{FF2B5EF4-FFF2-40B4-BE49-F238E27FC236}">
                <a16:creationId xmlns:a16="http://schemas.microsoft.com/office/drawing/2014/main" id="{0F51C2AC-C596-43EB-8FB5-087E0F805FC6}"/>
              </a:ext>
            </a:extLst>
          </p:cNvPr>
          <p:cNvSpPr>
            <a:spLocks noGrp="1"/>
          </p:cNvSpPr>
          <p:nvPr/>
        </p:nvSpPr>
        <p:spPr>
          <a:xfrm>
            <a:off x="6023039" y="4391025"/>
            <a:ext cx="152400" cy="152400"/>
          </a:xfrm>
          <a:prstGeom prst="ellipse">
            <a:avLst/>
          </a:prstGeom>
          <a:solidFill>
            <a:srgbClr val="FFFFFF"/>
          </a:solidFill>
          <a:ln w="28575">
            <a:solidFill>
              <a:srgbClr val="5965AC"/>
            </a:solidFill>
          </a:ln>
        </p:spPr>
      </p:sp>
      <p:sp>
        <p:nvSpPr>
          <p:cNvPr id="2012" name="correlation arrow">
            <a:extLst>
              <a:ext uri="{FF2B5EF4-FFF2-40B4-BE49-F238E27FC236}">
                <a16:creationId xmlns:a16="http://schemas.microsoft.com/office/drawing/2014/main" id="{2F06D09D-22F3-4FEC-AC23-C1634495DA5E}"/>
              </a:ext>
            </a:extLst>
          </p:cNvPr>
          <p:cNvSpPr>
            <a:spLocks noGrp="1"/>
          </p:cNvSpPr>
          <p:nvPr/>
        </p:nvSpPr>
        <p:spPr>
          <a:xfrm>
            <a:off x="8309039" y="4400550"/>
            <a:ext cx="171450" cy="133350"/>
          </a:xfrm>
          <a:prstGeom prst="rightArrow">
            <a:avLst/>
          </a:prstGeom>
          <a:solidFill>
            <a:srgbClr val="5965AC"/>
          </a:solidFill>
          <a:ln w="0">
            <a:noFill/>
          </a:ln>
        </p:spPr>
      </p:sp>
      <p:sp>
        <p:nvSpPr>
          <p:cNvPr id="2013" name="correlated log label">
            <a:extLst>
              <a:ext uri="{FF2B5EF4-FFF2-40B4-BE49-F238E27FC236}">
                <a16:creationId xmlns:a16="http://schemas.microsoft.com/office/drawing/2014/main" id="{7237324F-F8DD-462D-80B0-2AF4B494C636}"/>
              </a:ext>
            </a:extLst>
          </p:cNvPr>
          <p:cNvSpPr>
            <a:spLocks noGrp="1"/>
          </p:cNvSpPr>
          <p:nvPr/>
        </p:nvSpPr>
        <p:spPr>
          <a:xfrm>
            <a:off x="8715375" y="3714750"/>
            <a:ext cx="2667000" cy="342900"/>
          </a:xfrm>
          <a:prstGeom prst="rect">
            <a:avLst/>
          </a:prstGeom>
          <a:noFill/>
          <a:ln w="0">
            <a:noFill/>
          </a:ln>
        </p:spPr>
        <p:txBody>
          <a:bodyPr lIns="0" tIns="0" rIns="0" bIns="0" anchor="ctr">
            <a:noAutofit/>
          </a:bodyPr>
          <a:lstStyle>
            <a:defPPr algn="l">
              <a:defRPr sz="2025" b="1">
                <a:solidFill>
                  <a:srgbClr val="0086AC"/>
                </a:solidFill>
              </a:defRPr>
            </a:defPPr>
            <a:lvl1pPr algn="l">
              <a:defRPr sz="2025" b="1">
                <a:solidFill>
                  <a:srgbClr val="0086AC"/>
                </a:solidFill>
              </a:defRPr>
            </a:lvl1pPr>
            <a:lvl2pPr algn="l">
              <a:defRPr sz="2025" b="1">
                <a:solidFill>
                  <a:srgbClr val="0086AC"/>
                </a:solidFill>
              </a:defRPr>
            </a:lvl2pPr>
            <a:lvl3pPr algn="l">
              <a:defRPr sz="2025" b="1">
                <a:solidFill>
                  <a:srgbClr val="0086AC"/>
                </a:solidFill>
              </a:defRPr>
            </a:lvl3pPr>
            <a:lvl4pPr algn="l">
              <a:defRPr sz="2025" b="1">
                <a:solidFill>
                  <a:srgbClr val="0086AC"/>
                </a:solidFill>
              </a:defRPr>
            </a:lvl4pPr>
            <a:lvl5pPr algn="l">
              <a:defRPr sz="2025" b="1">
                <a:solidFill>
                  <a:srgbClr val="0086AC"/>
                </a:solidFill>
              </a:defRPr>
            </a:lvl5pPr>
            <a:lvl6pPr algn="l">
              <a:defRPr sz="2025" b="1">
                <a:solidFill>
                  <a:srgbClr val="0086AC"/>
                </a:solidFill>
              </a:defRPr>
            </a:lvl6pPr>
            <a:lvl7pPr algn="l">
              <a:defRPr sz="2025" b="1">
                <a:solidFill>
                  <a:srgbClr val="0086AC"/>
                </a:solidFill>
              </a:defRPr>
            </a:lvl7pPr>
            <a:lvl8pPr algn="l">
              <a:defRPr sz="2025" b="1">
                <a:solidFill>
                  <a:srgbClr val="0086AC"/>
                </a:solidFill>
              </a:defRPr>
            </a:lvl8pPr>
            <a:lvl9pPr algn="l">
              <a:defRPr sz="2025" b="1">
                <a:solidFill>
                  <a:srgbClr val="0086AC"/>
                </a:solidFill>
              </a:defRPr>
            </a:lvl9pPr>
          </a:lstStyle>
          <a:p>
            <a:pPr algn="l">
              <a:defRPr sz="2025" b="1">
                <a:solidFill>
                  <a:srgbClr val="0086AC"/>
                </a:solidFill>
              </a:defRPr>
            </a:pPr>
            <a:r>
              <a:rPr sz="2025" b="1">
                <a:solidFill>
                  <a:srgbClr val="0086AC"/>
                </a:solidFill>
              </a:rPr>
              <a:t>Correlated log</a:t>
            </a:r>
          </a:p>
        </p:txBody>
      </p:sp>
      <p:sp>
        <p:nvSpPr>
          <p:cNvPr id="2014" name="log event">
            <a:extLst>
              <a:ext uri="{FF2B5EF4-FFF2-40B4-BE49-F238E27FC236}">
                <a16:creationId xmlns:a16="http://schemas.microsoft.com/office/drawing/2014/main" id="{2387639F-A724-4E96-B1FF-0B897C3104A5}"/>
              </a:ext>
            </a:extLst>
          </p:cNvPr>
          <p:cNvSpPr>
            <a:spLocks noGrp="1"/>
          </p:cNvSpPr>
          <p:nvPr/>
        </p:nvSpPr>
        <p:spPr>
          <a:xfrm>
            <a:off x="8715375" y="4133850"/>
            <a:ext cx="2667000" cy="571500"/>
          </a:xfrm>
          <a:prstGeom prst="rect">
            <a:avLst/>
          </a:prstGeom>
          <a:noFill/>
          <a:ln w="0">
            <a:noFill/>
          </a:ln>
        </p:spPr>
        <p:txBody>
          <a:bodyPr lIns="0" tIns="0" rIns="0" bIns="0" anchor="ctr">
            <a:noAutofit/>
          </a:bodyPr>
          <a:lstStyle>
            <a:defPPr algn="l">
              <a:defRPr sz="1725" b="0">
                <a:solidFill>
                  <a:srgbClr val="303238"/>
                </a:solidFill>
              </a:defRPr>
            </a:defPPr>
            <a:lvl1pPr algn="l">
              <a:defRPr sz="1725" b="0">
                <a:solidFill>
                  <a:srgbClr val="303238"/>
                </a:solidFill>
              </a:defRPr>
            </a:lvl1pPr>
            <a:lvl2pPr algn="l">
              <a:defRPr sz="1725" b="0">
                <a:solidFill>
                  <a:srgbClr val="303238"/>
                </a:solidFill>
              </a:defRPr>
            </a:lvl2pPr>
            <a:lvl3pPr algn="l">
              <a:defRPr sz="1725" b="0">
                <a:solidFill>
                  <a:srgbClr val="303238"/>
                </a:solidFill>
              </a:defRPr>
            </a:lvl3pPr>
            <a:lvl4pPr algn="l">
              <a:defRPr sz="1725" b="0">
                <a:solidFill>
                  <a:srgbClr val="303238"/>
                </a:solidFill>
              </a:defRPr>
            </a:lvl4pPr>
            <a:lvl5pPr algn="l">
              <a:defRPr sz="1725" b="0">
                <a:solidFill>
                  <a:srgbClr val="303238"/>
                </a:solidFill>
              </a:defRPr>
            </a:lvl5pPr>
            <a:lvl6pPr algn="l">
              <a:defRPr sz="1725" b="0">
                <a:solidFill>
                  <a:srgbClr val="303238"/>
                </a:solidFill>
              </a:defRPr>
            </a:lvl6pPr>
            <a:lvl7pPr algn="l">
              <a:defRPr sz="1725" b="0">
                <a:solidFill>
                  <a:srgbClr val="303238"/>
                </a:solidFill>
              </a:defRPr>
            </a:lvl7pPr>
            <a:lvl8pPr algn="l">
              <a:defRPr sz="1725" b="0">
                <a:solidFill>
                  <a:srgbClr val="303238"/>
                </a:solidFill>
              </a:defRPr>
            </a:lvl8pPr>
            <a:lvl9pPr algn="l">
              <a:defRPr sz="1725" b="0">
                <a:solidFill>
                  <a:srgbClr val="303238"/>
                </a:solidFill>
              </a:defRPr>
            </a:lvl9pPr>
          </a:lstStyle>
          <a:p>
            <a:pPr algn="l">
              <a:defRPr sz="1725" b="0">
                <a:solidFill>
                  <a:srgbClr val="303238"/>
                </a:solidFill>
              </a:defRPr>
            </a:pPr>
            <a:r>
              <a:rPr sz="1725" b="0">
                <a:solidFill>
                  <a:srgbClr val="303238"/>
                </a:solidFill>
              </a:rPr>
              <a:t>Gateway response</a:t>
            </a:r>
          </a:p>
          <a:p>
            <a:pPr algn="l">
              <a:defRPr sz="1725" b="0">
                <a:solidFill>
                  <a:srgbClr val="303238"/>
                </a:solidFill>
              </a:defRPr>
            </a:pPr>
            <a:r>
              <a:rPr sz="1725" b="0">
                <a:solidFill>
                  <a:srgbClr val="303238"/>
                </a:solidFill>
              </a:rPr>
              <a:t>received</a:t>
            </a:r>
          </a:p>
        </p:txBody>
      </p:sp>
      <p:sp>
        <p:nvSpPr>
          <p:cNvPr id="2015" name="log identity">
            <a:extLst>
              <a:ext uri="{FF2B5EF4-FFF2-40B4-BE49-F238E27FC236}">
                <a16:creationId xmlns:a16="http://schemas.microsoft.com/office/drawing/2014/main" id="{7FF5F362-A4B7-4886-9CCA-B04800C5812E}"/>
              </a:ext>
            </a:extLst>
          </p:cNvPr>
          <p:cNvSpPr>
            <a:spLocks noGrp="1"/>
          </p:cNvSpPr>
          <p:nvPr/>
        </p:nvSpPr>
        <p:spPr>
          <a:xfrm>
            <a:off x="8715375" y="4800600"/>
            <a:ext cx="2667000" cy="276225"/>
          </a:xfrm>
          <a:prstGeom prst="rect">
            <a:avLst/>
          </a:prstGeom>
          <a:noFill/>
          <a:ln w="0">
            <a:noFill/>
          </a:ln>
        </p:spPr>
        <p:txBody>
          <a:bodyPr lIns="0" tIns="0" rIns="0" bIns="0" anchor="ctr">
            <a:noAutofit/>
          </a:bodyPr>
          <a:lstStyle>
            <a:defPPr algn="l">
              <a:defRPr sz="1425" b="0">
                <a:solidFill>
                  <a:srgbClr val="62666B"/>
                </a:solidFill>
              </a:defRPr>
            </a:defPPr>
            <a:lvl1pPr algn="l">
              <a:defRPr sz="1425" b="0">
                <a:solidFill>
                  <a:srgbClr val="62666B"/>
                </a:solidFill>
              </a:defRPr>
            </a:lvl1pPr>
            <a:lvl2pPr algn="l">
              <a:defRPr sz="1425" b="0">
                <a:solidFill>
                  <a:srgbClr val="62666B"/>
                </a:solidFill>
              </a:defRPr>
            </a:lvl2pPr>
            <a:lvl3pPr algn="l">
              <a:defRPr sz="1425" b="0">
                <a:solidFill>
                  <a:srgbClr val="62666B"/>
                </a:solidFill>
              </a:defRPr>
            </a:lvl3pPr>
            <a:lvl4pPr algn="l">
              <a:defRPr sz="1425" b="0">
                <a:solidFill>
                  <a:srgbClr val="62666B"/>
                </a:solidFill>
              </a:defRPr>
            </a:lvl4pPr>
            <a:lvl5pPr algn="l">
              <a:defRPr sz="1425" b="0">
                <a:solidFill>
                  <a:srgbClr val="62666B"/>
                </a:solidFill>
              </a:defRPr>
            </a:lvl5pPr>
            <a:lvl6pPr algn="l">
              <a:defRPr sz="1425" b="0">
                <a:solidFill>
                  <a:srgbClr val="62666B"/>
                </a:solidFill>
              </a:defRPr>
            </a:lvl6pPr>
            <a:lvl7pPr algn="l">
              <a:defRPr sz="1425" b="0">
                <a:solidFill>
                  <a:srgbClr val="62666B"/>
                </a:solidFill>
              </a:defRPr>
            </a:lvl7pPr>
            <a:lvl8pPr algn="l">
              <a:defRPr sz="1425" b="0">
                <a:solidFill>
                  <a:srgbClr val="62666B"/>
                </a:solidFill>
              </a:defRPr>
            </a:lvl8pPr>
            <a:lvl9pPr algn="l">
              <a:defRPr sz="1425" b="0">
                <a:solidFill>
                  <a:srgbClr val="62666B"/>
                </a:solidFill>
              </a:defRPr>
            </a:lvl9pPr>
          </a:lstStyle>
          <a:p>
            <a:pPr algn="l">
              <a:defRPr sz="1425" b="0">
                <a:solidFill>
                  <a:srgbClr val="62666B"/>
                </a:solidFill>
              </a:defRPr>
            </a:pPr>
            <a:r>
              <a:rPr sz="1425" b="0">
                <a:solidFill>
                  <a:srgbClr val="62666B"/>
                </a:solidFill>
              </a:rPr>
              <a:t>Same trace + span IDs</a:t>
            </a:r>
          </a:p>
        </p:txBody>
      </p:sp>
      <p:sp>
        <p:nvSpPr>
          <p:cNvPr id="2016" name="time axis">
            <a:extLst>
              <a:ext uri="{FF2B5EF4-FFF2-40B4-BE49-F238E27FC236}">
                <a16:creationId xmlns:a16="http://schemas.microsoft.com/office/drawing/2014/main" id="{C8FDF25D-B1FF-461B-8FE9-633359BF5730}"/>
              </a:ext>
            </a:extLst>
          </p:cNvPr>
          <p:cNvSpPr>
            <a:spLocks noGrp="1"/>
          </p:cNvSpPr>
          <p:nvPr/>
        </p:nvSpPr>
        <p:spPr>
          <a:xfrm>
            <a:off x="812864" y="5114925"/>
            <a:ext cx="6734175" cy="0"/>
          </a:xfrm>
          <a:prstGeom prst="line">
            <a:avLst/>
          </a:prstGeom>
          <a:noFill/>
          <a:ln w="19050">
            <a:solidFill>
              <a:srgbClr val="BCC6CB"/>
            </a:solidFill>
          </a:ln>
        </p:spPr>
      </p:sp>
      <p:sp>
        <p:nvSpPr>
          <p:cNvPr id="2017" name="time arrow">
            <a:extLst>
              <a:ext uri="{FF2B5EF4-FFF2-40B4-BE49-F238E27FC236}">
                <a16:creationId xmlns:a16="http://schemas.microsoft.com/office/drawing/2014/main" id="{BF252898-3F99-4C31-AA80-3A3998F82B19}"/>
              </a:ext>
            </a:extLst>
          </p:cNvPr>
          <p:cNvSpPr>
            <a:spLocks noGrp="1"/>
          </p:cNvSpPr>
          <p:nvPr/>
        </p:nvSpPr>
        <p:spPr>
          <a:xfrm>
            <a:off x="7508939" y="5048250"/>
            <a:ext cx="190500" cy="133350"/>
          </a:xfrm>
          <a:prstGeom prst="rightArrow">
            <a:avLst/>
          </a:prstGeom>
          <a:solidFill>
            <a:srgbClr val="62666B"/>
          </a:solidFill>
          <a:ln w="0">
            <a:noFill/>
          </a:ln>
        </p:spPr>
      </p:sp>
      <p:sp>
        <p:nvSpPr>
          <p:cNvPr id="2018" name="time label">
            <a:extLst>
              <a:ext uri="{FF2B5EF4-FFF2-40B4-BE49-F238E27FC236}">
                <a16:creationId xmlns:a16="http://schemas.microsoft.com/office/drawing/2014/main" id="{DC73F779-14ED-4A23-B6E7-121493759927}"/>
              </a:ext>
            </a:extLst>
          </p:cNvPr>
          <p:cNvSpPr>
            <a:spLocks noGrp="1"/>
          </p:cNvSpPr>
          <p:nvPr/>
        </p:nvSpPr>
        <p:spPr>
          <a:xfrm>
            <a:off x="7134225" y="5200650"/>
            <a:ext cx="571500" cy="257175"/>
          </a:xfrm>
          <a:prstGeom prst="rect">
            <a:avLst/>
          </a:prstGeom>
          <a:noFill/>
          <a:ln w="0">
            <a:noFill/>
          </a:ln>
        </p:spPr>
        <p:txBody>
          <a:bodyPr lIns="0" tIns="0" rIns="0" bIns="0" anchor="ctr">
            <a:noAutofit/>
          </a:bodyPr>
          <a:lstStyle>
            <a:defPPr algn="l">
              <a:defRPr sz="1350" b="0">
                <a:solidFill>
                  <a:srgbClr val="62666B"/>
                </a:solidFill>
              </a:defRPr>
            </a:defPPr>
            <a:lvl1pPr algn="l">
              <a:defRPr sz="1350" b="0">
                <a:solidFill>
                  <a:srgbClr val="62666B"/>
                </a:solidFill>
              </a:defRPr>
            </a:lvl1pPr>
            <a:lvl2pPr algn="l">
              <a:defRPr sz="1350" b="0">
                <a:solidFill>
                  <a:srgbClr val="62666B"/>
                </a:solidFill>
              </a:defRPr>
            </a:lvl2pPr>
            <a:lvl3pPr algn="l">
              <a:defRPr sz="1350" b="0">
                <a:solidFill>
                  <a:srgbClr val="62666B"/>
                </a:solidFill>
              </a:defRPr>
            </a:lvl3pPr>
            <a:lvl4pPr algn="l">
              <a:defRPr sz="1350" b="0">
                <a:solidFill>
                  <a:srgbClr val="62666B"/>
                </a:solidFill>
              </a:defRPr>
            </a:lvl4pPr>
            <a:lvl5pPr algn="l">
              <a:defRPr sz="1350" b="0">
                <a:solidFill>
                  <a:srgbClr val="62666B"/>
                </a:solidFill>
              </a:defRPr>
            </a:lvl5pPr>
            <a:lvl6pPr algn="l">
              <a:defRPr sz="1350" b="0">
                <a:solidFill>
                  <a:srgbClr val="62666B"/>
                </a:solidFill>
              </a:defRPr>
            </a:lvl6pPr>
            <a:lvl7pPr algn="l">
              <a:defRPr sz="1350" b="0">
                <a:solidFill>
                  <a:srgbClr val="62666B"/>
                </a:solidFill>
              </a:defRPr>
            </a:lvl7pPr>
            <a:lvl8pPr algn="l">
              <a:defRPr sz="1350" b="0">
                <a:solidFill>
                  <a:srgbClr val="62666B"/>
                </a:solidFill>
              </a:defRPr>
            </a:lvl8pPr>
            <a:lvl9pPr algn="l">
              <a:defRPr sz="1350" b="0">
                <a:solidFill>
                  <a:srgbClr val="62666B"/>
                </a:solidFill>
              </a:defRPr>
            </a:lvl9pPr>
          </a:lstStyle>
          <a:p>
            <a:pPr algn="l">
              <a:defRPr sz="1350" b="0">
                <a:solidFill>
                  <a:srgbClr val="62666B"/>
                </a:solidFill>
              </a:defRPr>
            </a:pPr>
            <a:r>
              <a:rPr sz="1350" b="0">
                <a:solidFill>
                  <a:srgbClr val="62666B"/>
                </a:solidFill>
              </a:rPr>
              <a:t>Time</a:t>
            </a:r>
          </a:p>
        </p:txBody>
      </p:sp>
      <p:sp>
        <p:nvSpPr>
          <p:cNvPr id="2019" name="metrics">
            <a:extLst>
              <a:ext uri="{FF2B5EF4-FFF2-40B4-BE49-F238E27FC236}">
                <a16:creationId xmlns:a16="http://schemas.microsoft.com/office/drawing/2014/main" id="{EE1790D4-BED4-4833-B2BD-65ABB891CA33}"/>
              </a:ext>
            </a:extLst>
          </p:cNvPr>
          <p:cNvSpPr>
            <a:spLocks noGrp="1"/>
          </p:cNvSpPr>
          <p:nvPr/>
        </p:nvSpPr>
        <p:spPr>
          <a:xfrm>
            <a:off x="812864" y="5505450"/>
            <a:ext cx="10382250" cy="333375"/>
          </a:xfrm>
          <a:prstGeom prst="rect">
            <a:avLst/>
          </a:prstGeom>
          <a:noFill/>
          <a:ln w="0">
            <a:noFill/>
          </a:ln>
        </p:spPr>
        <p:txBody>
          <a:bodyPr lIns="0" tIns="0" rIns="0" bIns="0" anchor="ctr">
            <a:noAutofit/>
          </a:bodyPr>
          <a:lstStyle>
            <a:defPPr algn="l">
              <a:defRPr sz="1725" b="0">
                <a:solidFill>
                  <a:srgbClr val="303238"/>
                </a:solidFill>
              </a:defRPr>
            </a:defPPr>
            <a:lvl1pPr algn="l">
              <a:defRPr sz="1725" b="0">
                <a:solidFill>
                  <a:srgbClr val="303238"/>
                </a:solidFill>
              </a:defRPr>
            </a:lvl1pPr>
            <a:lvl2pPr algn="l">
              <a:defRPr sz="1725" b="0">
                <a:solidFill>
                  <a:srgbClr val="303238"/>
                </a:solidFill>
              </a:defRPr>
            </a:lvl2pPr>
            <a:lvl3pPr algn="l">
              <a:defRPr sz="1725" b="0">
                <a:solidFill>
                  <a:srgbClr val="303238"/>
                </a:solidFill>
              </a:defRPr>
            </a:lvl3pPr>
            <a:lvl4pPr algn="l">
              <a:defRPr sz="1725" b="0">
                <a:solidFill>
                  <a:srgbClr val="303238"/>
                </a:solidFill>
              </a:defRPr>
            </a:lvl4pPr>
            <a:lvl5pPr algn="l">
              <a:defRPr sz="1725" b="0">
                <a:solidFill>
                  <a:srgbClr val="303238"/>
                </a:solidFill>
              </a:defRPr>
            </a:lvl5pPr>
            <a:lvl6pPr algn="l">
              <a:defRPr sz="1725" b="0">
                <a:solidFill>
                  <a:srgbClr val="303238"/>
                </a:solidFill>
              </a:defRPr>
            </a:lvl6pPr>
            <a:lvl7pPr algn="l">
              <a:defRPr sz="1725" b="0">
                <a:solidFill>
                  <a:srgbClr val="303238"/>
                </a:solidFill>
              </a:defRPr>
            </a:lvl7pPr>
            <a:lvl8pPr algn="l">
              <a:defRPr sz="1725" b="0">
                <a:solidFill>
                  <a:srgbClr val="303238"/>
                </a:solidFill>
              </a:defRPr>
            </a:lvl8pPr>
            <a:lvl9pPr algn="l">
              <a:defRPr sz="1725" b="0">
                <a:solidFill>
                  <a:srgbClr val="303238"/>
                </a:solidFill>
              </a:defRPr>
            </a:lvl9pPr>
          </a:lstStyle>
          <a:p>
            <a:pPr algn="l">
              <a:defRPr sz="1725" b="0">
                <a:solidFill>
                  <a:srgbClr val="303238"/>
                </a:solidFill>
              </a:defRPr>
            </a:pPr>
            <a:r>
              <a:rPr sz="1725" b="0">
                <a:solidFill>
                  <a:srgbClr val="303238"/>
                </a:solidFill>
              </a:rPr>
              <a:t>Metrics summarize trends across requests.</a:t>
            </a:r>
          </a:p>
        </p:txBody>
      </p:sp>
      <p:sp>
        <p:nvSpPr>
          <p:cNvPr id="2020" name="otel role">
            <a:extLst>
              <a:ext uri="{FF2B5EF4-FFF2-40B4-BE49-F238E27FC236}">
                <a16:creationId xmlns:a16="http://schemas.microsoft.com/office/drawing/2014/main" id="{C0A0BA82-3DA9-4CDC-A16C-C6AD7D1ED398}"/>
              </a:ext>
            </a:extLst>
          </p:cNvPr>
          <p:cNvSpPr>
            <a:spLocks noGrp="1"/>
          </p:cNvSpPr>
          <p:nvPr/>
        </p:nvSpPr>
        <p:spPr>
          <a:xfrm>
            <a:off x="812864" y="5915025"/>
            <a:ext cx="10382250" cy="342900"/>
          </a:xfrm>
          <a:prstGeom prst="rect">
            <a:avLst/>
          </a:prstGeom>
          <a:noFill/>
          <a:ln w="0">
            <a:noFill/>
          </a:ln>
        </p:spPr>
        <p:txBody>
          <a:bodyPr lIns="0" tIns="0" rIns="0" bIns="0" anchor="ctr">
            <a:noAutofit/>
          </a:bodyPr>
          <a:lstStyle>
            <a:defPPr algn="l">
              <a:defRPr sz="1800" b="1">
                <a:solidFill>
                  <a:srgbClr val="303238"/>
                </a:solidFill>
              </a:defRPr>
            </a:defPPr>
            <a:lvl1pPr algn="l">
              <a:defRPr sz="1800" b="1">
                <a:solidFill>
                  <a:srgbClr val="303238"/>
                </a:solidFill>
              </a:defRPr>
            </a:lvl1pPr>
            <a:lvl2pPr algn="l">
              <a:defRPr sz="1800" b="1">
                <a:solidFill>
                  <a:srgbClr val="303238"/>
                </a:solidFill>
              </a:defRPr>
            </a:lvl2pPr>
            <a:lvl3pPr algn="l">
              <a:defRPr sz="1800" b="1">
                <a:solidFill>
                  <a:srgbClr val="303238"/>
                </a:solidFill>
              </a:defRPr>
            </a:lvl3pPr>
            <a:lvl4pPr algn="l">
              <a:defRPr sz="1800" b="1">
                <a:solidFill>
                  <a:srgbClr val="303238"/>
                </a:solidFill>
              </a:defRPr>
            </a:lvl4pPr>
            <a:lvl5pPr algn="l">
              <a:defRPr sz="1800" b="1">
                <a:solidFill>
                  <a:srgbClr val="303238"/>
                </a:solidFill>
              </a:defRPr>
            </a:lvl5pPr>
            <a:lvl6pPr algn="l">
              <a:defRPr sz="1800" b="1">
                <a:solidFill>
                  <a:srgbClr val="303238"/>
                </a:solidFill>
              </a:defRPr>
            </a:lvl6pPr>
            <a:lvl7pPr algn="l">
              <a:defRPr sz="1800" b="1">
                <a:solidFill>
                  <a:srgbClr val="303238"/>
                </a:solidFill>
              </a:defRPr>
            </a:lvl7pPr>
            <a:lvl8pPr algn="l">
              <a:defRPr sz="1800" b="1">
                <a:solidFill>
                  <a:srgbClr val="303238"/>
                </a:solidFill>
              </a:defRPr>
            </a:lvl8pPr>
            <a:lvl9pPr algn="l">
              <a:defRPr sz="1800" b="1">
                <a:solidFill>
                  <a:srgbClr val="303238"/>
                </a:solidFill>
              </a:defRPr>
            </a:lvl9pPr>
          </a:lstStyle>
          <a:p>
            <a:pPr algn="l">
              <a:defRPr sz="1800" b="1">
                <a:solidFill>
                  <a:srgbClr val="303238"/>
                </a:solidFill>
              </a:defRPr>
            </a:pPr>
            <a:r>
              <a:rPr sz="1800" b="1">
                <a:solidFill>
                  <a:srgbClr val="303238"/>
                </a:solidFill>
              </a:rPr>
              <a:t>OpenTelemetry collects and exports traces, logs and metrics.</a:t>
            </a:r>
          </a:p>
        </p:txBody>
      </p:sp>
      <p:sp>
        <p:nvSpPr>
          <p:cNvPr id="2021" name="illustration boundary">
            <a:extLst>
              <a:ext uri="{FF2B5EF4-FFF2-40B4-BE49-F238E27FC236}">
                <a16:creationId xmlns:a16="http://schemas.microsoft.com/office/drawing/2014/main" id="{65865262-197D-4739-A419-037D83F9D018}"/>
              </a:ext>
            </a:extLst>
          </p:cNvPr>
          <p:cNvSpPr>
            <a:spLocks noGrp="1"/>
          </p:cNvSpPr>
          <p:nvPr/>
        </p:nvSpPr>
        <p:spPr>
          <a:xfrm>
            <a:off x="812864" y="6305550"/>
            <a:ext cx="7239000" cy="209550"/>
          </a:xfrm>
          <a:prstGeom prst="rect">
            <a:avLst/>
          </a:prstGeom>
          <a:noFill/>
          <a:ln w="0">
            <a:noFill/>
          </a:ln>
        </p:spPr>
        <p:txBody>
          <a:bodyPr lIns="0" tIns="0" rIns="0" bIns="0" anchor="ctr">
            <a:noAutofit/>
          </a:bodyPr>
          <a:lstStyle>
            <a:defPPr algn="l">
              <a:defRPr sz="1050" b="0">
                <a:solidFill>
                  <a:srgbClr val="62666B"/>
                </a:solidFill>
              </a:defRPr>
            </a:defPPr>
            <a:lvl1pPr algn="l">
              <a:defRPr sz="1050" b="0">
                <a:solidFill>
                  <a:srgbClr val="62666B"/>
                </a:solidFill>
              </a:defRPr>
            </a:lvl1pPr>
            <a:lvl2pPr algn="l">
              <a:defRPr sz="1050" b="0">
                <a:solidFill>
                  <a:srgbClr val="62666B"/>
                </a:solidFill>
              </a:defRPr>
            </a:lvl2pPr>
            <a:lvl3pPr algn="l">
              <a:defRPr sz="1050" b="0">
                <a:solidFill>
                  <a:srgbClr val="62666B"/>
                </a:solidFill>
              </a:defRPr>
            </a:lvl3pPr>
            <a:lvl4pPr algn="l">
              <a:defRPr sz="1050" b="0">
                <a:solidFill>
                  <a:srgbClr val="62666B"/>
                </a:solidFill>
              </a:defRPr>
            </a:lvl4pPr>
            <a:lvl5pPr algn="l">
              <a:defRPr sz="1050" b="0">
                <a:solidFill>
                  <a:srgbClr val="62666B"/>
                </a:solidFill>
              </a:defRPr>
            </a:lvl5pPr>
            <a:lvl6pPr algn="l">
              <a:defRPr sz="1050" b="0">
                <a:solidFill>
                  <a:srgbClr val="62666B"/>
                </a:solidFill>
              </a:defRPr>
            </a:lvl6pPr>
            <a:lvl7pPr algn="l">
              <a:defRPr sz="1050" b="0">
                <a:solidFill>
                  <a:srgbClr val="62666B"/>
                </a:solidFill>
              </a:defRPr>
            </a:lvl7pPr>
            <a:lvl8pPr algn="l">
              <a:defRPr sz="1050" b="0">
                <a:solidFill>
                  <a:srgbClr val="62666B"/>
                </a:solidFill>
              </a:defRPr>
            </a:lvl8pPr>
            <a:lvl9pPr algn="l">
              <a:defRPr sz="1050" b="0">
                <a:solidFill>
                  <a:srgbClr val="62666B"/>
                </a:solidFill>
              </a:defRPr>
            </a:lvl9pPr>
          </a:lstStyle>
          <a:p>
            <a:pPr algn="l">
              <a:defRPr sz="1050" b="0">
                <a:solidFill>
                  <a:srgbClr val="62666B"/>
                </a:solidFill>
              </a:defRPr>
            </a:pPr>
            <a:r>
              <a:rPr sz="1050" b="0">
                <a:solidFill>
                  <a:srgbClr val="62666B"/>
                </a:solidFill>
              </a:rPr>
              <a:t>Illustrative flow. Telemetry was not evaluated in this study.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4">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36" name="Text 25"/>
          <p:cNvSpPr/>
          <p:nvPr/>
        </p:nvSpPr>
        <p:spPr>
          <a:xfrm>
            <a:off x="7532370" y="6238280"/>
            <a:ext cx="300863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A92"/>
                </a:solidFill>
                <a:latin typeface="Arial" pitchFamily="34" charset="0"/>
                <a:ea typeface="Arial" pitchFamily="34" charset="-122"/>
                <a:cs typeface="Arial" pitchFamily="34" charset="-120"/>
              </a:rPr>
              <a:t>ISC2.org/Congress | #ISC2Congress</a:t>
            </a:r>
            <a:endParaRPr lang="en-US" sz="1200" dirty="0"/>
          </a:p>
        </p:txBody>
      </p:sp>
      <p:sp>
        <p:nvSpPr>
          <p:cNvPr id="2026" name="title">
            <a:extLst>
              <a:ext uri="{FF2B5EF4-FFF2-40B4-BE49-F238E27FC236}">
                <a16:creationId xmlns:a16="http://schemas.microsoft.com/office/drawing/2014/main" id="{6B1F3B3F-C4E4-431E-BD93-C7B891845DD1}"/>
              </a:ext>
            </a:extLst>
          </p:cNvPr>
          <p:cNvSpPr>
            <a:spLocks noGrp="1"/>
          </p:cNvSpPr>
          <p:nvPr/>
        </p:nvSpPr>
        <p:spPr>
          <a:xfrm>
            <a:off x="812864" y="819150"/>
            <a:ext cx="10572750" cy="514350"/>
          </a:xfrm>
          <a:prstGeom prst="rect">
            <a:avLst/>
          </a:prstGeom>
          <a:noFill/>
          <a:ln w="0">
            <a:noFill/>
          </a:ln>
        </p:spPr>
        <p:txBody>
          <a:bodyPr lIns="0" tIns="0" rIns="0" bIns="0" anchor="ctr">
            <a:noAutofit/>
          </a:bodyPr>
          <a:lstStyle>
            <a:defPPr algn="l">
              <a:defRPr sz="3000" b="1">
                <a:solidFill>
                  <a:srgbClr val="4F8734"/>
                </a:solidFill>
              </a:defRPr>
            </a:defPPr>
            <a:lvl1pPr algn="l">
              <a:defRPr sz="3000" b="1">
                <a:solidFill>
                  <a:srgbClr val="4F8734"/>
                </a:solidFill>
              </a:defRPr>
            </a:lvl1pPr>
            <a:lvl2pPr algn="l">
              <a:defRPr sz="3000" b="1">
                <a:solidFill>
                  <a:srgbClr val="4F8734"/>
                </a:solidFill>
              </a:defRPr>
            </a:lvl2pPr>
            <a:lvl3pPr algn="l">
              <a:defRPr sz="3000" b="1">
                <a:solidFill>
                  <a:srgbClr val="4F8734"/>
                </a:solidFill>
              </a:defRPr>
            </a:lvl3pPr>
            <a:lvl4pPr algn="l">
              <a:defRPr sz="3000" b="1">
                <a:solidFill>
                  <a:srgbClr val="4F8734"/>
                </a:solidFill>
              </a:defRPr>
            </a:lvl4pPr>
            <a:lvl5pPr algn="l">
              <a:defRPr sz="3000" b="1">
                <a:solidFill>
                  <a:srgbClr val="4F8734"/>
                </a:solidFill>
              </a:defRPr>
            </a:lvl5pPr>
            <a:lvl6pPr algn="l">
              <a:defRPr sz="3000" b="1">
                <a:solidFill>
                  <a:srgbClr val="4F8734"/>
                </a:solidFill>
              </a:defRPr>
            </a:lvl6pPr>
            <a:lvl7pPr algn="l">
              <a:defRPr sz="3000" b="1">
                <a:solidFill>
                  <a:srgbClr val="4F8734"/>
                </a:solidFill>
              </a:defRPr>
            </a:lvl7pPr>
            <a:lvl8pPr algn="l">
              <a:defRPr sz="3000" b="1">
                <a:solidFill>
                  <a:srgbClr val="4F8734"/>
                </a:solidFill>
              </a:defRPr>
            </a:lvl8pPr>
            <a:lvl9pPr algn="l">
              <a:defRPr sz="3000" b="1">
                <a:solidFill>
                  <a:srgbClr val="4F8734"/>
                </a:solidFill>
              </a:defRPr>
            </a:lvl9pPr>
          </a:lstStyle>
          <a:p>
            <a:pPr algn="l">
              <a:defRPr sz="3000" b="1">
                <a:solidFill>
                  <a:srgbClr val="4F8734"/>
                </a:solidFill>
              </a:defRPr>
            </a:pPr>
            <a:r>
              <a:rPr sz="3000" b="1">
                <a:solidFill>
                  <a:srgbClr val="4F8734"/>
                </a:solidFill>
              </a:rPr>
              <a:t>Connect required behavior to observed behavior</a:t>
            </a:r>
          </a:p>
        </p:txBody>
      </p:sp>
      <p:sp>
        <p:nvSpPr>
          <p:cNvPr id="2002" name="subtitle">
            <a:extLst>
              <a:ext uri="{FF2B5EF4-FFF2-40B4-BE49-F238E27FC236}">
                <a16:creationId xmlns:a16="http://schemas.microsoft.com/office/drawing/2014/main" id="{4625A462-D164-4247-A076-B42A55084756}"/>
              </a:ext>
            </a:extLst>
          </p:cNvPr>
          <p:cNvSpPr>
            <a:spLocks noGrp="1"/>
          </p:cNvSpPr>
          <p:nvPr/>
        </p:nvSpPr>
        <p:spPr>
          <a:xfrm>
            <a:off x="812864" y="1409700"/>
            <a:ext cx="10572750" cy="457200"/>
          </a:xfrm>
          <a:prstGeom prst="rect">
            <a:avLst/>
          </a:prstGeom>
          <a:noFill/>
          <a:ln w="0">
            <a:noFill/>
          </a:ln>
        </p:spPr>
        <p:txBody>
          <a:bodyPr lIns="0" tIns="0" rIns="0" bIns="0" anchor="ctr">
            <a:noAutofit/>
          </a:bodyPr>
          <a:lstStyle>
            <a:defPPr algn="l">
              <a:defRPr sz="1725" b="0">
                <a:solidFill>
                  <a:srgbClr val="303238"/>
                </a:solidFill>
              </a:defRPr>
            </a:defPPr>
            <a:lvl1pPr algn="l">
              <a:defRPr sz="1725" b="0">
                <a:solidFill>
                  <a:srgbClr val="303238"/>
                </a:solidFill>
              </a:defRPr>
            </a:lvl1pPr>
            <a:lvl2pPr algn="l">
              <a:defRPr sz="1725" b="0">
                <a:solidFill>
                  <a:srgbClr val="303238"/>
                </a:solidFill>
              </a:defRPr>
            </a:lvl2pPr>
            <a:lvl3pPr algn="l">
              <a:defRPr sz="1725" b="0">
                <a:solidFill>
                  <a:srgbClr val="303238"/>
                </a:solidFill>
              </a:defRPr>
            </a:lvl3pPr>
            <a:lvl4pPr algn="l">
              <a:defRPr sz="1725" b="0">
                <a:solidFill>
                  <a:srgbClr val="303238"/>
                </a:solidFill>
              </a:defRPr>
            </a:lvl4pPr>
            <a:lvl5pPr algn="l">
              <a:defRPr sz="1725" b="0">
                <a:solidFill>
                  <a:srgbClr val="303238"/>
                </a:solidFill>
              </a:defRPr>
            </a:lvl5pPr>
            <a:lvl6pPr algn="l">
              <a:defRPr sz="1725" b="0">
                <a:solidFill>
                  <a:srgbClr val="303238"/>
                </a:solidFill>
              </a:defRPr>
            </a:lvl6pPr>
            <a:lvl7pPr algn="l">
              <a:defRPr sz="1725" b="0">
                <a:solidFill>
                  <a:srgbClr val="303238"/>
                </a:solidFill>
              </a:defRPr>
            </a:lvl7pPr>
            <a:lvl8pPr algn="l">
              <a:defRPr sz="1725" b="0">
                <a:solidFill>
                  <a:srgbClr val="303238"/>
                </a:solidFill>
              </a:defRPr>
            </a:lvl8pPr>
            <a:lvl9pPr algn="l">
              <a:defRPr sz="1725" b="0">
                <a:solidFill>
                  <a:srgbClr val="303238"/>
                </a:solidFill>
              </a:defRPr>
            </a:lvl9pPr>
          </a:lstStyle>
          <a:p>
            <a:pPr algn="l">
              <a:defRPr sz="1725" b="0">
                <a:solidFill>
                  <a:srgbClr val="303238"/>
                </a:solidFill>
              </a:defRPr>
            </a:pPr>
            <a:r>
              <a:rPr sz="1725" b="0">
                <a:solidFill>
                  <a:srgbClr val="303238"/>
                </a:solidFill>
              </a:rPr>
              <a:t>Give the reviewer evidence for the exact code revision.</a:t>
            </a:r>
          </a:p>
        </p:txBody>
      </p:sp>
      <p:sp>
        <p:nvSpPr>
          <p:cNvPr id="2003" name="requirement traceability">
            <a:extLst>
              <a:ext uri="{FF2B5EF4-FFF2-40B4-BE49-F238E27FC236}">
                <a16:creationId xmlns:a16="http://schemas.microsoft.com/office/drawing/2014/main" id="{37742652-C0EE-4C5B-9469-4B1E344A4422}"/>
              </a:ext>
            </a:extLst>
          </p:cNvPr>
          <p:cNvSpPr>
            <a:spLocks noGrp="1"/>
          </p:cNvSpPr>
          <p:nvPr/>
        </p:nvSpPr>
        <p:spPr>
          <a:xfrm>
            <a:off x="812864" y="2124075"/>
            <a:ext cx="10191750" cy="266700"/>
          </a:xfrm>
          <a:prstGeom prst="rect">
            <a:avLst/>
          </a:prstGeom>
          <a:noFill/>
          <a:ln w="0">
            <a:noFill/>
          </a:ln>
        </p:spPr>
        <p:txBody>
          <a:bodyPr lIns="0" tIns="0" rIns="0" bIns="0" anchor="ctr">
            <a:noAutofit/>
          </a:bodyPr>
          <a:lstStyle>
            <a:defPPr algn="l">
              <a:defRPr sz="1350" b="1">
                <a:solidFill>
                  <a:srgbClr val="4F8734"/>
                </a:solidFill>
              </a:defRPr>
            </a:defPPr>
            <a:lvl1pPr algn="l">
              <a:defRPr sz="1350" b="1">
                <a:solidFill>
                  <a:srgbClr val="4F8734"/>
                </a:solidFill>
              </a:defRPr>
            </a:lvl1pPr>
            <a:lvl2pPr algn="l">
              <a:defRPr sz="1350" b="1">
                <a:solidFill>
                  <a:srgbClr val="4F8734"/>
                </a:solidFill>
              </a:defRPr>
            </a:lvl2pPr>
            <a:lvl3pPr algn="l">
              <a:defRPr sz="1350" b="1">
                <a:solidFill>
                  <a:srgbClr val="4F8734"/>
                </a:solidFill>
              </a:defRPr>
            </a:lvl3pPr>
            <a:lvl4pPr algn="l">
              <a:defRPr sz="1350" b="1">
                <a:solidFill>
                  <a:srgbClr val="4F8734"/>
                </a:solidFill>
              </a:defRPr>
            </a:lvl4pPr>
            <a:lvl5pPr algn="l">
              <a:defRPr sz="1350" b="1">
                <a:solidFill>
                  <a:srgbClr val="4F8734"/>
                </a:solidFill>
              </a:defRPr>
            </a:lvl5pPr>
            <a:lvl6pPr algn="l">
              <a:defRPr sz="1350" b="1">
                <a:solidFill>
                  <a:srgbClr val="4F8734"/>
                </a:solidFill>
              </a:defRPr>
            </a:lvl6pPr>
            <a:lvl7pPr algn="l">
              <a:defRPr sz="1350" b="1">
                <a:solidFill>
                  <a:srgbClr val="4F8734"/>
                </a:solidFill>
              </a:defRPr>
            </a:lvl7pPr>
            <a:lvl8pPr algn="l">
              <a:defRPr sz="1350" b="1">
                <a:solidFill>
                  <a:srgbClr val="4F8734"/>
                </a:solidFill>
              </a:defRPr>
            </a:lvl8pPr>
            <a:lvl9pPr algn="l">
              <a:defRPr sz="1350" b="1">
                <a:solidFill>
                  <a:srgbClr val="4F8734"/>
                </a:solidFill>
              </a:defRPr>
            </a:lvl9pPr>
          </a:lstStyle>
          <a:p>
            <a:pPr algn="l">
              <a:defRPr sz="1350" b="1">
                <a:solidFill>
                  <a:srgbClr val="4F8734"/>
                </a:solidFill>
              </a:defRPr>
            </a:pPr>
            <a:r>
              <a:rPr sz="1350" b="1">
                <a:solidFill>
                  <a:srgbClr val="4F8734"/>
                </a:solidFill>
              </a:rPr>
              <a:t>REQUIREMENT TRACEABILITY</a:t>
            </a:r>
          </a:p>
        </p:txBody>
      </p:sp>
      <p:sp>
        <p:nvSpPr>
          <p:cNvPr id="2004" name="intent heading 0">
            <a:extLst>
              <a:ext uri="{FF2B5EF4-FFF2-40B4-BE49-F238E27FC236}">
                <a16:creationId xmlns:a16="http://schemas.microsoft.com/office/drawing/2014/main" id="{93A0D9F2-8C95-429B-A0AA-02F5E6FCED7F}"/>
              </a:ext>
            </a:extLst>
          </p:cNvPr>
          <p:cNvSpPr>
            <a:spLocks noGrp="1"/>
          </p:cNvSpPr>
          <p:nvPr/>
        </p:nvSpPr>
        <p:spPr>
          <a:xfrm>
            <a:off x="812864" y="2457450"/>
            <a:ext cx="2857500" cy="400050"/>
          </a:xfrm>
          <a:prstGeom prst="rect">
            <a:avLst/>
          </a:prstGeom>
          <a:noFill/>
          <a:ln w="0">
            <a:noFill/>
          </a:ln>
        </p:spPr>
        <p:txBody>
          <a:bodyPr lIns="0" tIns="0" rIns="0" bIns="0" anchor="ctr">
            <a:noAutofit/>
          </a:bodyPr>
          <a:lstStyle>
            <a:defPPr algn="l">
              <a:defRPr sz="2100" b="1">
                <a:solidFill>
                  <a:srgbClr val="4F8734"/>
                </a:solidFill>
              </a:defRPr>
            </a:defPPr>
            <a:lvl1pPr algn="l">
              <a:defRPr sz="2100" b="1">
                <a:solidFill>
                  <a:srgbClr val="4F8734"/>
                </a:solidFill>
              </a:defRPr>
            </a:lvl1pPr>
            <a:lvl2pPr algn="l">
              <a:defRPr sz="2100" b="1">
                <a:solidFill>
                  <a:srgbClr val="4F8734"/>
                </a:solidFill>
              </a:defRPr>
            </a:lvl2pPr>
            <a:lvl3pPr algn="l">
              <a:defRPr sz="2100" b="1">
                <a:solidFill>
                  <a:srgbClr val="4F8734"/>
                </a:solidFill>
              </a:defRPr>
            </a:lvl3pPr>
            <a:lvl4pPr algn="l">
              <a:defRPr sz="2100" b="1">
                <a:solidFill>
                  <a:srgbClr val="4F8734"/>
                </a:solidFill>
              </a:defRPr>
            </a:lvl4pPr>
            <a:lvl5pPr algn="l">
              <a:defRPr sz="2100" b="1">
                <a:solidFill>
                  <a:srgbClr val="4F8734"/>
                </a:solidFill>
              </a:defRPr>
            </a:lvl5pPr>
            <a:lvl6pPr algn="l">
              <a:defRPr sz="2100" b="1">
                <a:solidFill>
                  <a:srgbClr val="4F8734"/>
                </a:solidFill>
              </a:defRPr>
            </a:lvl6pPr>
            <a:lvl7pPr algn="l">
              <a:defRPr sz="2100" b="1">
                <a:solidFill>
                  <a:srgbClr val="4F8734"/>
                </a:solidFill>
              </a:defRPr>
            </a:lvl7pPr>
            <a:lvl8pPr algn="l">
              <a:defRPr sz="2100" b="1">
                <a:solidFill>
                  <a:srgbClr val="4F8734"/>
                </a:solidFill>
              </a:defRPr>
            </a:lvl8pPr>
            <a:lvl9pPr algn="l">
              <a:defRPr sz="2100" b="1">
                <a:solidFill>
                  <a:srgbClr val="4F8734"/>
                </a:solidFill>
              </a:defRPr>
            </a:lvl9pPr>
          </a:lstStyle>
          <a:p>
            <a:pPr algn="l">
              <a:defRPr sz="2100" b="1">
                <a:solidFill>
                  <a:srgbClr val="4F8734"/>
                </a:solidFill>
              </a:defRPr>
            </a:pPr>
            <a:r>
              <a:rPr sz="2100" b="1">
                <a:solidFill>
                  <a:srgbClr val="4F8734"/>
                </a:solidFill>
              </a:rPr>
              <a:t>Requirement + control</a:t>
            </a:r>
          </a:p>
        </p:txBody>
      </p:sp>
      <p:sp>
        <p:nvSpPr>
          <p:cNvPr id="2005" name="intent detail 0">
            <a:extLst>
              <a:ext uri="{FF2B5EF4-FFF2-40B4-BE49-F238E27FC236}">
                <a16:creationId xmlns:a16="http://schemas.microsoft.com/office/drawing/2014/main" id="{907C1308-3D50-483B-8AC6-4CFCBED140F8}"/>
              </a:ext>
            </a:extLst>
          </p:cNvPr>
          <p:cNvSpPr>
            <a:spLocks noGrp="1"/>
          </p:cNvSpPr>
          <p:nvPr/>
        </p:nvSpPr>
        <p:spPr>
          <a:xfrm>
            <a:off x="812864" y="2905125"/>
            <a:ext cx="2857500" cy="571500"/>
          </a:xfrm>
          <a:prstGeom prst="rect">
            <a:avLst/>
          </a:prstGeom>
          <a:noFill/>
          <a:ln w="0">
            <a:noFill/>
          </a:ln>
        </p:spPr>
        <p:txBody>
          <a:bodyPr lIns="0" tIns="0" rIns="0" bIns="0" anchor="ctr">
            <a:noAutofit/>
          </a:bodyPr>
          <a:lstStyle>
            <a:defPPr algn="l">
              <a:defRPr sz="1725" b="0">
                <a:solidFill>
                  <a:srgbClr val="62666B"/>
                </a:solidFill>
              </a:defRPr>
            </a:defPPr>
            <a:lvl1pPr algn="l">
              <a:defRPr sz="1725" b="0">
                <a:solidFill>
                  <a:srgbClr val="62666B"/>
                </a:solidFill>
              </a:defRPr>
            </a:lvl1pPr>
            <a:lvl2pPr algn="l">
              <a:defRPr sz="1725" b="0">
                <a:solidFill>
                  <a:srgbClr val="62666B"/>
                </a:solidFill>
              </a:defRPr>
            </a:lvl2pPr>
            <a:lvl3pPr algn="l">
              <a:defRPr sz="1725" b="0">
                <a:solidFill>
                  <a:srgbClr val="62666B"/>
                </a:solidFill>
              </a:defRPr>
            </a:lvl3pPr>
            <a:lvl4pPr algn="l">
              <a:defRPr sz="1725" b="0">
                <a:solidFill>
                  <a:srgbClr val="62666B"/>
                </a:solidFill>
              </a:defRPr>
            </a:lvl4pPr>
            <a:lvl5pPr algn="l">
              <a:defRPr sz="1725" b="0">
                <a:solidFill>
                  <a:srgbClr val="62666B"/>
                </a:solidFill>
              </a:defRPr>
            </a:lvl5pPr>
            <a:lvl6pPr algn="l">
              <a:defRPr sz="1725" b="0">
                <a:solidFill>
                  <a:srgbClr val="62666B"/>
                </a:solidFill>
              </a:defRPr>
            </a:lvl6pPr>
            <a:lvl7pPr algn="l">
              <a:defRPr sz="1725" b="0">
                <a:solidFill>
                  <a:srgbClr val="62666B"/>
                </a:solidFill>
              </a:defRPr>
            </a:lvl7pPr>
            <a:lvl8pPr algn="l">
              <a:defRPr sz="1725" b="0">
                <a:solidFill>
                  <a:srgbClr val="62666B"/>
                </a:solidFill>
              </a:defRPr>
            </a:lvl8pPr>
            <a:lvl9pPr algn="l">
              <a:defRPr sz="1725" b="0">
                <a:solidFill>
                  <a:srgbClr val="62666B"/>
                </a:solidFill>
              </a:defRPr>
            </a:lvl9pPr>
          </a:lstStyle>
          <a:p>
            <a:pPr algn="l">
              <a:defRPr sz="1725" b="0">
                <a:solidFill>
                  <a:srgbClr val="62666B"/>
                </a:solidFill>
              </a:defRPr>
            </a:pPr>
            <a:r>
              <a:rPr sz="1725" b="0">
                <a:solidFill>
                  <a:srgbClr val="62666B"/>
                </a:solidFill>
              </a:rPr>
              <a:t>Keep private keys</a:t>
            </a:r>
          </a:p>
          <a:p>
            <a:pPr algn="l">
              <a:defRPr sz="1725" b="0">
                <a:solidFill>
                  <a:srgbClr val="62666B"/>
                </a:solidFill>
              </a:defRPr>
            </a:pPr>
            <a:r>
              <a:rPr sz="1725" b="0">
                <a:solidFill>
                  <a:srgbClr val="62666B"/>
                </a:solidFill>
              </a:rPr>
              <a:t>on the server</a:t>
            </a:r>
          </a:p>
        </p:txBody>
      </p:sp>
      <p:sp>
        <p:nvSpPr>
          <p:cNvPr id="2006" name="runtime heading 0">
            <a:extLst>
              <a:ext uri="{FF2B5EF4-FFF2-40B4-BE49-F238E27FC236}">
                <a16:creationId xmlns:a16="http://schemas.microsoft.com/office/drawing/2014/main" id="{3CD7C329-5AC6-4A07-8485-EA5A194CBB97}"/>
              </a:ext>
            </a:extLst>
          </p:cNvPr>
          <p:cNvSpPr>
            <a:spLocks noGrp="1"/>
          </p:cNvSpPr>
          <p:nvPr/>
        </p:nvSpPr>
        <p:spPr>
          <a:xfrm>
            <a:off x="812864" y="4410075"/>
            <a:ext cx="2857500" cy="400050"/>
          </a:xfrm>
          <a:prstGeom prst="rect">
            <a:avLst/>
          </a:prstGeom>
          <a:noFill/>
          <a:ln w="0">
            <a:noFill/>
          </a:ln>
        </p:spPr>
        <p:txBody>
          <a:bodyPr lIns="0" tIns="0" rIns="0" bIns="0" anchor="ctr">
            <a:noAutofit/>
          </a:bodyPr>
          <a:lstStyle>
            <a:defPPr algn="l">
              <a:defRPr sz="2100" b="1">
                <a:solidFill>
                  <a:srgbClr val="0086AC"/>
                </a:solidFill>
              </a:defRPr>
            </a:defPPr>
            <a:lvl1pPr algn="l">
              <a:defRPr sz="2100" b="1">
                <a:solidFill>
                  <a:srgbClr val="0086AC"/>
                </a:solidFill>
              </a:defRPr>
            </a:lvl1pPr>
            <a:lvl2pPr algn="l">
              <a:defRPr sz="2100" b="1">
                <a:solidFill>
                  <a:srgbClr val="0086AC"/>
                </a:solidFill>
              </a:defRPr>
            </a:lvl2pPr>
            <a:lvl3pPr algn="l">
              <a:defRPr sz="2100" b="1">
                <a:solidFill>
                  <a:srgbClr val="0086AC"/>
                </a:solidFill>
              </a:defRPr>
            </a:lvl3pPr>
            <a:lvl4pPr algn="l">
              <a:defRPr sz="2100" b="1">
                <a:solidFill>
                  <a:srgbClr val="0086AC"/>
                </a:solidFill>
              </a:defRPr>
            </a:lvl4pPr>
            <a:lvl5pPr algn="l">
              <a:defRPr sz="2100" b="1">
                <a:solidFill>
                  <a:srgbClr val="0086AC"/>
                </a:solidFill>
              </a:defRPr>
            </a:lvl5pPr>
            <a:lvl6pPr algn="l">
              <a:defRPr sz="2100" b="1">
                <a:solidFill>
                  <a:srgbClr val="0086AC"/>
                </a:solidFill>
              </a:defRPr>
            </a:lvl6pPr>
            <a:lvl7pPr algn="l">
              <a:defRPr sz="2100" b="1">
                <a:solidFill>
                  <a:srgbClr val="0086AC"/>
                </a:solidFill>
              </a:defRPr>
            </a:lvl7pPr>
            <a:lvl8pPr algn="l">
              <a:defRPr sz="2100" b="1">
                <a:solidFill>
                  <a:srgbClr val="0086AC"/>
                </a:solidFill>
              </a:defRPr>
            </a:lvl8pPr>
            <a:lvl9pPr algn="l">
              <a:defRPr sz="2100" b="1">
                <a:solidFill>
                  <a:srgbClr val="0086AC"/>
                </a:solidFill>
              </a:defRPr>
            </a:lvl9pPr>
          </a:lstStyle>
          <a:p>
            <a:pPr algn="l">
              <a:defRPr sz="2100" b="1">
                <a:solidFill>
                  <a:srgbClr val="0086AC"/>
                </a:solidFill>
              </a:defRPr>
            </a:pPr>
            <a:r>
              <a:rPr sz="2100" b="1">
                <a:solidFill>
                  <a:srgbClr val="0086AC"/>
                </a:solidFill>
              </a:rPr>
              <a:t>Deployment</a:t>
            </a:r>
          </a:p>
        </p:txBody>
      </p:sp>
      <p:sp>
        <p:nvSpPr>
          <p:cNvPr id="2007" name="runtime detail 0">
            <a:extLst>
              <a:ext uri="{FF2B5EF4-FFF2-40B4-BE49-F238E27FC236}">
                <a16:creationId xmlns:a16="http://schemas.microsoft.com/office/drawing/2014/main" id="{8440BB4D-0A4C-4C8F-A21B-1CB24C69147A}"/>
              </a:ext>
            </a:extLst>
          </p:cNvPr>
          <p:cNvSpPr>
            <a:spLocks noGrp="1"/>
          </p:cNvSpPr>
          <p:nvPr/>
        </p:nvSpPr>
        <p:spPr>
          <a:xfrm>
            <a:off x="812864" y="4857750"/>
            <a:ext cx="2857500" cy="552450"/>
          </a:xfrm>
          <a:prstGeom prst="rect">
            <a:avLst/>
          </a:prstGeom>
          <a:noFill/>
          <a:ln w="0">
            <a:noFill/>
          </a:ln>
        </p:spPr>
        <p:txBody>
          <a:bodyPr lIns="0" tIns="0" rIns="0" bIns="0" anchor="ctr">
            <a:noAutofit/>
          </a:bodyPr>
          <a:lstStyle>
            <a:defPPr algn="l">
              <a:defRPr sz="1650" b="0">
                <a:solidFill>
                  <a:srgbClr val="62666B"/>
                </a:solidFill>
              </a:defRPr>
            </a:defPPr>
            <a:lvl1pPr algn="l">
              <a:defRPr sz="1650" b="0">
                <a:solidFill>
                  <a:srgbClr val="62666B"/>
                </a:solidFill>
              </a:defRPr>
            </a:lvl1pPr>
            <a:lvl2pPr algn="l">
              <a:defRPr sz="1650" b="0">
                <a:solidFill>
                  <a:srgbClr val="62666B"/>
                </a:solidFill>
              </a:defRPr>
            </a:lvl2pPr>
            <a:lvl3pPr algn="l">
              <a:defRPr sz="1650" b="0">
                <a:solidFill>
                  <a:srgbClr val="62666B"/>
                </a:solidFill>
              </a:defRPr>
            </a:lvl3pPr>
            <a:lvl4pPr algn="l">
              <a:defRPr sz="1650" b="0">
                <a:solidFill>
                  <a:srgbClr val="62666B"/>
                </a:solidFill>
              </a:defRPr>
            </a:lvl4pPr>
            <a:lvl5pPr algn="l">
              <a:defRPr sz="1650" b="0">
                <a:solidFill>
                  <a:srgbClr val="62666B"/>
                </a:solidFill>
              </a:defRPr>
            </a:lvl5pPr>
            <a:lvl6pPr algn="l">
              <a:defRPr sz="1650" b="0">
                <a:solidFill>
                  <a:srgbClr val="62666B"/>
                </a:solidFill>
              </a:defRPr>
            </a:lvl6pPr>
            <a:lvl7pPr algn="l">
              <a:defRPr sz="1650" b="0">
                <a:solidFill>
                  <a:srgbClr val="62666B"/>
                </a:solidFill>
              </a:defRPr>
            </a:lvl7pPr>
            <a:lvl8pPr algn="l">
              <a:defRPr sz="1650" b="0">
                <a:solidFill>
                  <a:srgbClr val="62666B"/>
                </a:solidFill>
              </a:defRPr>
            </a:lvl8pPr>
            <a:lvl9pPr algn="l">
              <a:defRPr sz="1650" b="0">
                <a:solidFill>
                  <a:srgbClr val="62666B"/>
                </a:solidFill>
              </a:defRPr>
            </a:lvl9pPr>
          </a:lstStyle>
          <a:p>
            <a:pPr algn="l">
              <a:defRPr sz="1650" b="0">
                <a:solidFill>
                  <a:srgbClr val="62666B"/>
                </a:solidFill>
              </a:defRPr>
            </a:pPr>
            <a:r>
              <a:rPr sz="1650" b="0">
                <a:solidFill>
                  <a:srgbClr val="62666B"/>
                </a:solidFill>
              </a:rPr>
              <a:t>Identify the running build</a:t>
            </a:r>
          </a:p>
        </p:txBody>
      </p:sp>
      <p:sp>
        <p:nvSpPr>
          <p:cNvPr id="2008" name="intent link 0">
            <a:extLst>
              <a:ext uri="{FF2B5EF4-FFF2-40B4-BE49-F238E27FC236}">
                <a16:creationId xmlns:a16="http://schemas.microsoft.com/office/drawing/2014/main" id="{AF1BEE3B-0251-4AF8-B442-7FA269F6AD89}"/>
              </a:ext>
            </a:extLst>
          </p:cNvPr>
          <p:cNvSpPr>
            <a:spLocks noGrp="1"/>
          </p:cNvSpPr>
          <p:nvPr/>
        </p:nvSpPr>
        <p:spPr>
          <a:xfrm>
            <a:off x="3879914" y="2600325"/>
            <a:ext cx="295275" cy="180975"/>
          </a:xfrm>
          <a:prstGeom prst="rightArrow">
            <a:avLst/>
          </a:prstGeom>
          <a:solidFill>
            <a:srgbClr val="4F8734"/>
          </a:solidFill>
          <a:ln w="0">
            <a:noFill/>
          </a:ln>
        </p:spPr>
      </p:sp>
      <p:sp>
        <p:nvSpPr>
          <p:cNvPr id="2009" name="runtime link 0">
            <a:extLst>
              <a:ext uri="{FF2B5EF4-FFF2-40B4-BE49-F238E27FC236}">
                <a16:creationId xmlns:a16="http://schemas.microsoft.com/office/drawing/2014/main" id="{8F2F424D-5863-4615-A64B-5798E5201F02}"/>
              </a:ext>
            </a:extLst>
          </p:cNvPr>
          <p:cNvSpPr>
            <a:spLocks noGrp="1"/>
          </p:cNvSpPr>
          <p:nvPr/>
        </p:nvSpPr>
        <p:spPr>
          <a:xfrm>
            <a:off x="3879914" y="4552950"/>
            <a:ext cx="295275" cy="180975"/>
          </a:xfrm>
          <a:prstGeom prst="rightArrow">
            <a:avLst/>
          </a:prstGeom>
          <a:solidFill>
            <a:srgbClr val="0086AC"/>
          </a:solidFill>
          <a:ln w="0">
            <a:noFill/>
          </a:ln>
        </p:spPr>
      </p:sp>
      <p:sp>
        <p:nvSpPr>
          <p:cNvPr id="2010" name="intent heading 1">
            <a:extLst>
              <a:ext uri="{FF2B5EF4-FFF2-40B4-BE49-F238E27FC236}">
                <a16:creationId xmlns:a16="http://schemas.microsoft.com/office/drawing/2014/main" id="{C91A325D-779E-46D1-8DF0-DF3B690278DB}"/>
              </a:ext>
            </a:extLst>
          </p:cNvPr>
          <p:cNvSpPr>
            <a:spLocks noGrp="1"/>
          </p:cNvSpPr>
          <p:nvPr/>
        </p:nvSpPr>
        <p:spPr>
          <a:xfrm>
            <a:off x="4476750" y="2457450"/>
            <a:ext cx="2857500" cy="400050"/>
          </a:xfrm>
          <a:prstGeom prst="rect">
            <a:avLst/>
          </a:prstGeom>
          <a:noFill/>
          <a:ln w="0">
            <a:noFill/>
          </a:ln>
        </p:spPr>
        <p:txBody>
          <a:bodyPr lIns="0" tIns="0" rIns="0" bIns="0" anchor="ctr">
            <a:noAutofit/>
          </a:bodyPr>
          <a:lstStyle>
            <a:defPPr algn="l">
              <a:defRPr sz="2100" b="1">
                <a:solidFill>
                  <a:srgbClr val="4F8734"/>
                </a:solidFill>
              </a:defRPr>
            </a:defPPr>
            <a:lvl1pPr algn="l">
              <a:defRPr sz="2100" b="1">
                <a:solidFill>
                  <a:srgbClr val="4F8734"/>
                </a:solidFill>
              </a:defRPr>
            </a:lvl1pPr>
            <a:lvl2pPr algn="l">
              <a:defRPr sz="2100" b="1">
                <a:solidFill>
                  <a:srgbClr val="4F8734"/>
                </a:solidFill>
              </a:defRPr>
            </a:lvl2pPr>
            <a:lvl3pPr algn="l">
              <a:defRPr sz="2100" b="1">
                <a:solidFill>
                  <a:srgbClr val="4F8734"/>
                </a:solidFill>
              </a:defRPr>
            </a:lvl3pPr>
            <a:lvl4pPr algn="l">
              <a:defRPr sz="2100" b="1">
                <a:solidFill>
                  <a:srgbClr val="4F8734"/>
                </a:solidFill>
              </a:defRPr>
            </a:lvl4pPr>
            <a:lvl5pPr algn="l">
              <a:defRPr sz="2100" b="1">
                <a:solidFill>
                  <a:srgbClr val="4F8734"/>
                </a:solidFill>
              </a:defRPr>
            </a:lvl5pPr>
            <a:lvl6pPr algn="l">
              <a:defRPr sz="2100" b="1">
                <a:solidFill>
                  <a:srgbClr val="4F8734"/>
                </a:solidFill>
              </a:defRPr>
            </a:lvl6pPr>
            <a:lvl7pPr algn="l">
              <a:defRPr sz="2100" b="1">
                <a:solidFill>
                  <a:srgbClr val="4F8734"/>
                </a:solidFill>
              </a:defRPr>
            </a:lvl7pPr>
            <a:lvl8pPr algn="l">
              <a:defRPr sz="2100" b="1">
                <a:solidFill>
                  <a:srgbClr val="4F8734"/>
                </a:solidFill>
              </a:defRPr>
            </a:lvl8pPr>
            <a:lvl9pPr algn="l">
              <a:defRPr sz="2100" b="1">
                <a:solidFill>
                  <a:srgbClr val="4F8734"/>
                </a:solidFill>
              </a:defRPr>
            </a:lvl9pPr>
          </a:lstStyle>
          <a:p>
            <a:pPr algn="l">
              <a:defRPr sz="2100" b="1">
                <a:solidFill>
                  <a:srgbClr val="4F8734"/>
                </a:solidFill>
              </a:defRPr>
            </a:pPr>
            <a:r>
              <a:rPr sz="2100" b="1">
                <a:solidFill>
                  <a:srgbClr val="4F8734"/>
                </a:solidFill>
              </a:rPr>
              <a:t>Code revision</a:t>
            </a:r>
          </a:p>
        </p:txBody>
      </p:sp>
      <p:sp>
        <p:nvSpPr>
          <p:cNvPr id="2011" name="intent detail 1">
            <a:extLst>
              <a:ext uri="{FF2B5EF4-FFF2-40B4-BE49-F238E27FC236}">
                <a16:creationId xmlns:a16="http://schemas.microsoft.com/office/drawing/2014/main" id="{4F8D735F-2FE4-4625-8782-28FA7A78B465}"/>
              </a:ext>
            </a:extLst>
          </p:cNvPr>
          <p:cNvSpPr>
            <a:spLocks noGrp="1"/>
          </p:cNvSpPr>
          <p:nvPr/>
        </p:nvSpPr>
        <p:spPr>
          <a:xfrm>
            <a:off x="4476750" y="2905125"/>
            <a:ext cx="2857500" cy="571500"/>
          </a:xfrm>
          <a:prstGeom prst="rect">
            <a:avLst/>
          </a:prstGeom>
          <a:noFill/>
          <a:ln w="0">
            <a:noFill/>
          </a:ln>
        </p:spPr>
        <p:txBody>
          <a:bodyPr lIns="0" tIns="0" rIns="0" bIns="0" anchor="ctr">
            <a:noAutofit/>
          </a:bodyPr>
          <a:lstStyle>
            <a:defPPr algn="l">
              <a:defRPr sz="1725" b="0">
                <a:solidFill>
                  <a:srgbClr val="62666B"/>
                </a:solidFill>
              </a:defRPr>
            </a:defPPr>
            <a:lvl1pPr algn="l">
              <a:defRPr sz="1725" b="0">
                <a:solidFill>
                  <a:srgbClr val="62666B"/>
                </a:solidFill>
              </a:defRPr>
            </a:lvl1pPr>
            <a:lvl2pPr algn="l">
              <a:defRPr sz="1725" b="0">
                <a:solidFill>
                  <a:srgbClr val="62666B"/>
                </a:solidFill>
              </a:defRPr>
            </a:lvl2pPr>
            <a:lvl3pPr algn="l">
              <a:defRPr sz="1725" b="0">
                <a:solidFill>
                  <a:srgbClr val="62666B"/>
                </a:solidFill>
              </a:defRPr>
            </a:lvl3pPr>
            <a:lvl4pPr algn="l">
              <a:defRPr sz="1725" b="0">
                <a:solidFill>
                  <a:srgbClr val="62666B"/>
                </a:solidFill>
              </a:defRPr>
            </a:lvl4pPr>
            <a:lvl5pPr algn="l">
              <a:defRPr sz="1725" b="0">
                <a:solidFill>
                  <a:srgbClr val="62666B"/>
                </a:solidFill>
              </a:defRPr>
            </a:lvl5pPr>
            <a:lvl6pPr algn="l">
              <a:defRPr sz="1725" b="0">
                <a:solidFill>
                  <a:srgbClr val="62666B"/>
                </a:solidFill>
              </a:defRPr>
            </a:lvl6pPr>
            <a:lvl7pPr algn="l">
              <a:defRPr sz="1725" b="0">
                <a:solidFill>
                  <a:srgbClr val="62666B"/>
                </a:solidFill>
              </a:defRPr>
            </a:lvl7pPr>
            <a:lvl8pPr algn="l">
              <a:defRPr sz="1725" b="0">
                <a:solidFill>
                  <a:srgbClr val="62666B"/>
                </a:solidFill>
              </a:defRPr>
            </a:lvl8pPr>
            <a:lvl9pPr algn="l">
              <a:defRPr sz="1725" b="0">
                <a:solidFill>
                  <a:srgbClr val="62666B"/>
                </a:solidFill>
              </a:defRPr>
            </a:lvl9pPr>
          </a:lstStyle>
          <a:p>
            <a:pPr algn="l">
              <a:defRPr sz="1725" b="0">
                <a:solidFill>
                  <a:srgbClr val="62666B"/>
                </a:solidFill>
              </a:defRPr>
            </a:pPr>
            <a:r>
              <a:rPr sz="1725" b="0">
                <a:solidFill>
                  <a:srgbClr val="62666B"/>
                </a:solidFill>
              </a:rPr>
              <a:t>Review the</a:t>
            </a:r>
          </a:p>
          <a:p>
            <a:pPr algn="l">
              <a:defRPr sz="1725" b="0">
                <a:solidFill>
                  <a:srgbClr val="62666B"/>
                </a:solidFill>
              </a:defRPr>
            </a:pPr>
            <a:r>
              <a:rPr sz="1725" b="0">
                <a:solidFill>
                  <a:srgbClr val="62666B"/>
                </a:solidFill>
              </a:rPr>
              <a:t>changed code</a:t>
            </a:r>
          </a:p>
        </p:txBody>
      </p:sp>
      <p:sp>
        <p:nvSpPr>
          <p:cNvPr id="2012" name="runtime heading 1">
            <a:extLst>
              <a:ext uri="{FF2B5EF4-FFF2-40B4-BE49-F238E27FC236}">
                <a16:creationId xmlns:a16="http://schemas.microsoft.com/office/drawing/2014/main" id="{750C0B0C-8B00-436B-B230-583168CB77B0}"/>
              </a:ext>
            </a:extLst>
          </p:cNvPr>
          <p:cNvSpPr>
            <a:spLocks noGrp="1"/>
          </p:cNvSpPr>
          <p:nvPr/>
        </p:nvSpPr>
        <p:spPr>
          <a:xfrm>
            <a:off x="4476750" y="4410075"/>
            <a:ext cx="2857500" cy="400050"/>
          </a:xfrm>
          <a:prstGeom prst="rect">
            <a:avLst/>
          </a:prstGeom>
          <a:noFill/>
          <a:ln w="0">
            <a:noFill/>
          </a:ln>
        </p:spPr>
        <p:txBody>
          <a:bodyPr lIns="0" tIns="0" rIns="0" bIns="0" anchor="ctr">
            <a:noAutofit/>
          </a:bodyPr>
          <a:lstStyle>
            <a:defPPr algn="l">
              <a:defRPr sz="2100" b="1">
                <a:solidFill>
                  <a:srgbClr val="0086AC"/>
                </a:solidFill>
              </a:defRPr>
            </a:defPPr>
            <a:lvl1pPr algn="l">
              <a:defRPr sz="2100" b="1">
                <a:solidFill>
                  <a:srgbClr val="0086AC"/>
                </a:solidFill>
              </a:defRPr>
            </a:lvl1pPr>
            <a:lvl2pPr algn="l">
              <a:defRPr sz="2100" b="1">
                <a:solidFill>
                  <a:srgbClr val="0086AC"/>
                </a:solidFill>
              </a:defRPr>
            </a:lvl2pPr>
            <a:lvl3pPr algn="l">
              <a:defRPr sz="2100" b="1">
                <a:solidFill>
                  <a:srgbClr val="0086AC"/>
                </a:solidFill>
              </a:defRPr>
            </a:lvl3pPr>
            <a:lvl4pPr algn="l">
              <a:defRPr sz="2100" b="1">
                <a:solidFill>
                  <a:srgbClr val="0086AC"/>
                </a:solidFill>
              </a:defRPr>
            </a:lvl4pPr>
            <a:lvl5pPr algn="l">
              <a:defRPr sz="2100" b="1">
                <a:solidFill>
                  <a:srgbClr val="0086AC"/>
                </a:solidFill>
              </a:defRPr>
            </a:lvl5pPr>
            <a:lvl6pPr algn="l">
              <a:defRPr sz="2100" b="1">
                <a:solidFill>
                  <a:srgbClr val="0086AC"/>
                </a:solidFill>
              </a:defRPr>
            </a:lvl6pPr>
            <a:lvl7pPr algn="l">
              <a:defRPr sz="2100" b="1">
                <a:solidFill>
                  <a:srgbClr val="0086AC"/>
                </a:solidFill>
              </a:defRPr>
            </a:lvl7pPr>
            <a:lvl8pPr algn="l">
              <a:defRPr sz="2100" b="1">
                <a:solidFill>
                  <a:srgbClr val="0086AC"/>
                </a:solidFill>
              </a:defRPr>
            </a:lvl8pPr>
            <a:lvl9pPr algn="l">
              <a:defRPr sz="2100" b="1">
                <a:solidFill>
                  <a:srgbClr val="0086AC"/>
                </a:solidFill>
              </a:defRPr>
            </a:lvl9pPr>
          </a:lstStyle>
          <a:p>
            <a:pPr algn="l">
              <a:defRPr sz="2100" b="1">
                <a:solidFill>
                  <a:srgbClr val="0086AC"/>
                </a:solidFill>
              </a:defRPr>
            </a:pPr>
            <a:r>
              <a:rPr sz="2100" b="1">
                <a:solidFill>
                  <a:srgbClr val="0086AC"/>
                </a:solidFill>
              </a:rPr>
              <a:t>Request trace</a:t>
            </a:r>
          </a:p>
        </p:txBody>
      </p:sp>
      <p:sp>
        <p:nvSpPr>
          <p:cNvPr id="2013" name="runtime detail 1">
            <a:extLst>
              <a:ext uri="{FF2B5EF4-FFF2-40B4-BE49-F238E27FC236}">
                <a16:creationId xmlns:a16="http://schemas.microsoft.com/office/drawing/2014/main" id="{6540359C-590A-4007-A665-0A122AE1B1D1}"/>
              </a:ext>
            </a:extLst>
          </p:cNvPr>
          <p:cNvSpPr>
            <a:spLocks noGrp="1"/>
          </p:cNvSpPr>
          <p:nvPr/>
        </p:nvSpPr>
        <p:spPr>
          <a:xfrm>
            <a:off x="4476750" y="4857750"/>
            <a:ext cx="2857500" cy="552450"/>
          </a:xfrm>
          <a:prstGeom prst="rect">
            <a:avLst/>
          </a:prstGeom>
          <a:noFill/>
          <a:ln w="0">
            <a:noFill/>
          </a:ln>
        </p:spPr>
        <p:txBody>
          <a:bodyPr lIns="0" tIns="0" rIns="0" bIns="0" anchor="ctr">
            <a:noAutofit/>
          </a:bodyPr>
          <a:lstStyle>
            <a:defPPr algn="l">
              <a:defRPr sz="1650" b="0">
                <a:solidFill>
                  <a:srgbClr val="62666B"/>
                </a:solidFill>
              </a:defRPr>
            </a:defPPr>
            <a:lvl1pPr algn="l">
              <a:defRPr sz="1650" b="0">
                <a:solidFill>
                  <a:srgbClr val="62666B"/>
                </a:solidFill>
              </a:defRPr>
            </a:lvl1pPr>
            <a:lvl2pPr algn="l">
              <a:defRPr sz="1650" b="0">
                <a:solidFill>
                  <a:srgbClr val="62666B"/>
                </a:solidFill>
              </a:defRPr>
            </a:lvl2pPr>
            <a:lvl3pPr algn="l">
              <a:defRPr sz="1650" b="0">
                <a:solidFill>
                  <a:srgbClr val="62666B"/>
                </a:solidFill>
              </a:defRPr>
            </a:lvl3pPr>
            <a:lvl4pPr algn="l">
              <a:defRPr sz="1650" b="0">
                <a:solidFill>
                  <a:srgbClr val="62666B"/>
                </a:solidFill>
              </a:defRPr>
            </a:lvl4pPr>
            <a:lvl5pPr algn="l">
              <a:defRPr sz="1650" b="0">
                <a:solidFill>
                  <a:srgbClr val="62666B"/>
                </a:solidFill>
              </a:defRPr>
            </a:lvl5pPr>
            <a:lvl6pPr algn="l">
              <a:defRPr sz="1650" b="0">
                <a:solidFill>
                  <a:srgbClr val="62666B"/>
                </a:solidFill>
              </a:defRPr>
            </a:lvl6pPr>
            <a:lvl7pPr algn="l">
              <a:defRPr sz="1650" b="0">
                <a:solidFill>
                  <a:srgbClr val="62666B"/>
                </a:solidFill>
              </a:defRPr>
            </a:lvl7pPr>
            <a:lvl8pPr algn="l">
              <a:defRPr sz="1650" b="0">
                <a:solidFill>
                  <a:srgbClr val="62666B"/>
                </a:solidFill>
              </a:defRPr>
            </a:lvl8pPr>
            <a:lvl9pPr algn="l">
              <a:defRPr sz="1650" b="0">
                <a:solidFill>
                  <a:srgbClr val="62666B"/>
                </a:solidFill>
              </a:defRPr>
            </a:lvl9pPr>
          </a:lstStyle>
          <a:p>
            <a:pPr algn="l">
              <a:defRPr sz="1650" b="0">
                <a:solidFill>
                  <a:srgbClr val="62666B"/>
                </a:solidFill>
              </a:defRPr>
            </a:pPr>
            <a:r>
              <a:rPr sz="1650" b="0">
                <a:solidFill>
                  <a:srgbClr val="62666B"/>
                </a:solidFill>
              </a:rPr>
              <a:t>Follow service operations</a:t>
            </a:r>
          </a:p>
        </p:txBody>
      </p:sp>
      <p:sp>
        <p:nvSpPr>
          <p:cNvPr id="2014" name="intent link 1">
            <a:extLst>
              <a:ext uri="{FF2B5EF4-FFF2-40B4-BE49-F238E27FC236}">
                <a16:creationId xmlns:a16="http://schemas.microsoft.com/office/drawing/2014/main" id="{DD2E2AC3-DBAC-4F2D-821A-D135970A3972}"/>
              </a:ext>
            </a:extLst>
          </p:cNvPr>
          <p:cNvSpPr>
            <a:spLocks noGrp="1"/>
          </p:cNvSpPr>
          <p:nvPr/>
        </p:nvSpPr>
        <p:spPr>
          <a:xfrm>
            <a:off x="7543800" y="2600325"/>
            <a:ext cx="295275" cy="180975"/>
          </a:xfrm>
          <a:prstGeom prst="rightArrow">
            <a:avLst/>
          </a:prstGeom>
          <a:solidFill>
            <a:srgbClr val="4F8734"/>
          </a:solidFill>
          <a:ln w="0">
            <a:noFill/>
          </a:ln>
        </p:spPr>
      </p:sp>
      <p:sp>
        <p:nvSpPr>
          <p:cNvPr id="2015" name="runtime link 1">
            <a:extLst>
              <a:ext uri="{FF2B5EF4-FFF2-40B4-BE49-F238E27FC236}">
                <a16:creationId xmlns:a16="http://schemas.microsoft.com/office/drawing/2014/main" id="{AC9A430B-40FE-4DBE-A5FB-B212F9F8E785}"/>
              </a:ext>
            </a:extLst>
          </p:cNvPr>
          <p:cNvSpPr>
            <a:spLocks noGrp="1"/>
          </p:cNvSpPr>
          <p:nvPr/>
        </p:nvSpPr>
        <p:spPr>
          <a:xfrm>
            <a:off x="7543800" y="4552950"/>
            <a:ext cx="295275" cy="180975"/>
          </a:xfrm>
          <a:prstGeom prst="rightArrow">
            <a:avLst/>
          </a:prstGeom>
          <a:solidFill>
            <a:srgbClr val="0086AC"/>
          </a:solidFill>
          <a:ln w="0">
            <a:noFill/>
          </a:ln>
        </p:spPr>
      </p:sp>
      <p:sp>
        <p:nvSpPr>
          <p:cNvPr id="2016" name="intent heading 2">
            <a:extLst>
              <a:ext uri="{FF2B5EF4-FFF2-40B4-BE49-F238E27FC236}">
                <a16:creationId xmlns:a16="http://schemas.microsoft.com/office/drawing/2014/main" id="{BE566F68-2212-4BAD-9D0B-D6FD1BF1FF75}"/>
              </a:ext>
            </a:extLst>
          </p:cNvPr>
          <p:cNvSpPr>
            <a:spLocks noGrp="1"/>
          </p:cNvSpPr>
          <p:nvPr/>
        </p:nvSpPr>
        <p:spPr>
          <a:xfrm>
            <a:off x="8143875" y="2457450"/>
            <a:ext cx="2857500" cy="400050"/>
          </a:xfrm>
          <a:prstGeom prst="rect">
            <a:avLst/>
          </a:prstGeom>
          <a:noFill/>
          <a:ln w="0">
            <a:noFill/>
          </a:ln>
        </p:spPr>
        <p:txBody>
          <a:bodyPr lIns="0" tIns="0" rIns="0" bIns="0" anchor="ctr">
            <a:noAutofit/>
          </a:bodyPr>
          <a:lstStyle>
            <a:defPPr algn="l">
              <a:defRPr sz="2100" b="1">
                <a:solidFill>
                  <a:srgbClr val="4F8734"/>
                </a:solidFill>
              </a:defRPr>
            </a:defPPr>
            <a:lvl1pPr algn="l">
              <a:defRPr sz="2100" b="1">
                <a:solidFill>
                  <a:srgbClr val="4F8734"/>
                </a:solidFill>
              </a:defRPr>
            </a:lvl1pPr>
            <a:lvl2pPr algn="l">
              <a:defRPr sz="2100" b="1">
                <a:solidFill>
                  <a:srgbClr val="4F8734"/>
                </a:solidFill>
              </a:defRPr>
            </a:lvl2pPr>
            <a:lvl3pPr algn="l">
              <a:defRPr sz="2100" b="1">
                <a:solidFill>
                  <a:srgbClr val="4F8734"/>
                </a:solidFill>
              </a:defRPr>
            </a:lvl3pPr>
            <a:lvl4pPr algn="l">
              <a:defRPr sz="2100" b="1">
                <a:solidFill>
                  <a:srgbClr val="4F8734"/>
                </a:solidFill>
              </a:defRPr>
            </a:lvl4pPr>
            <a:lvl5pPr algn="l">
              <a:defRPr sz="2100" b="1">
                <a:solidFill>
                  <a:srgbClr val="4F8734"/>
                </a:solidFill>
              </a:defRPr>
            </a:lvl5pPr>
            <a:lvl6pPr algn="l">
              <a:defRPr sz="2100" b="1">
                <a:solidFill>
                  <a:srgbClr val="4F8734"/>
                </a:solidFill>
              </a:defRPr>
            </a:lvl6pPr>
            <a:lvl7pPr algn="l">
              <a:defRPr sz="2100" b="1">
                <a:solidFill>
                  <a:srgbClr val="4F8734"/>
                </a:solidFill>
              </a:defRPr>
            </a:lvl7pPr>
            <a:lvl8pPr algn="l">
              <a:defRPr sz="2100" b="1">
                <a:solidFill>
                  <a:srgbClr val="4F8734"/>
                </a:solidFill>
              </a:defRPr>
            </a:lvl8pPr>
            <a:lvl9pPr algn="l">
              <a:defRPr sz="2100" b="1">
                <a:solidFill>
                  <a:srgbClr val="4F8734"/>
                </a:solidFill>
              </a:defRPr>
            </a:lvl9pPr>
          </a:lstStyle>
          <a:p>
            <a:pPr algn="l">
              <a:defRPr sz="2100" b="1">
                <a:solidFill>
                  <a:srgbClr val="4F8734"/>
                </a:solidFill>
              </a:defRPr>
            </a:pPr>
            <a:r>
              <a:rPr sz="2100" b="1">
                <a:solidFill>
                  <a:srgbClr val="4F8734"/>
                </a:solidFill>
              </a:rPr>
              <a:t>Test + result</a:t>
            </a:r>
          </a:p>
        </p:txBody>
      </p:sp>
      <p:sp>
        <p:nvSpPr>
          <p:cNvPr id="2017" name="intent detail 2">
            <a:extLst>
              <a:ext uri="{FF2B5EF4-FFF2-40B4-BE49-F238E27FC236}">
                <a16:creationId xmlns:a16="http://schemas.microsoft.com/office/drawing/2014/main" id="{BCE744E6-54F9-4783-8AC3-CB1704D3BA26}"/>
              </a:ext>
            </a:extLst>
          </p:cNvPr>
          <p:cNvSpPr>
            <a:spLocks noGrp="1"/>
          </p:cNvSpPr>
          <p:nvPr/>
        </p:nvSpPr>
        <p:spPr>
          <a:xfrm>
            <a:off x="8143875" y="2905125"/>
            <a:ext cx="2857500" cy="571500"/>
          </a:xfrm>
          <a:prstGeom prst="rect">
            <a:avLst/>
          </a:prstGeom>
          <a:noFill/>
          <a:ln w="0">
            <a:noFill/>
          </a:ln>
        </p:spPr>
        <p:txBody>
          <a:bodyPr lIns="0" tIns="0" rIns="0" bIns="0" anchor="ctr">
            <a:noAutofit/>
          </a:bodyPr>
          <a:lstStyle>
            <a:defPPr algn="l">
              <a:defRPr sz="1725" b="0">
                <a:solidFill>
                  <a:srgbClr val="62666B"/>
                </a:solidFill>
              </a:defRPr>
            </a:defPPr>
            <a:lvl1pPr algn="l">
              <a:defRPr sz="1725" b="0">
                <a:solidFill>
                  <a:srgbClr val="62666B"/>
                </a:solidFill>
              </a:defRPr>
            </a:lvl1pPr>
            <a:lvl2pPr algn="l">
              <a:defRPr sz="1725" b="0">
                <a:solidFill>
                  <a:srgbClr val="62666B"/>
                </a:solidFill>
              </a:defRPr>
            </a:lvl2pPr>
            <a:lvl3pPr algn="l">
              <a:defRPr sz="1725" b="0">
                <a:solidFill>
                  <a:srgbClr val="62666B"/>
                </a:solidFill>
              </a:defRPr>
            </a:lvl3pPr>
            <a:lvl4pPr algn="l">
              <a:defRPr sz="1725" b="0">
                <a:solidFill>
                  <a:srgbClr val="62666B"/>
                </a:solidFill>
              </a:defRPr>
            </a:lvl4pPr>
            <a:lvl5pPr algn="l">
              <a:defRPr sz="1725" b="0">
                <a:solidFill>
                  <a:srgbClr val="62666B"/>
                </a:solidFill>
              </a:defRPr>
            </a:lvl5pPr>
            <a:lvl6pPr algn="l">
              <a:defRPr sz="1725" b="0">
                <a:solidFill>
                  <a:srgbClr val="62666B"/>
                </a:solidFill>
              </a:defRPr>
            </a:lvl6pPr>
            <a:lvl7pPr algn="l">
              <a:defRPr sz="1725" b="0">
                <a:solidFill>
                  <a:srgbClr val="62666B"/>
                </a:solidFill>
              </a:defRPr>
            </a:lvl7pPr>
            <a:lvl8pPr algn="l">
              <a:defRPr sz="1725" b="0">
                <a:solidFill>
                  <a:srgbClr val="62666B"/>
                </a:solidFill>
              </a:defRPr>
            </a:lvl8pPr>
            <a:lvl9pPr algn="l">
              <a:defRPr sz="1725" b="0">
                <a:solidFill>
                  <a:srgbClr val="62666B"/>
                </a:solidFill>
              </a:defRPr>
            </a:lvl9pPr>
          </a:lstStyle>
          <a:p>
            <a:pPr algn="l">
              <a:defRPr sz="1725" b="0">
                <a:solidFill>
                  <a:srgbClr val="62666B"/>
                </a:solidFill>
              </a:defRPr>
            </a:pPr>
            <a:r>
              <a:rPr sz="1725" b="0">
                <a:solidFill>
                  <a:srgbClr val="62666B"/>
                </a:solidFill>
              </a:rPr>
              <a:t>Inspect the</a:t>
            </a:r>
          </a:p>
          <a:p>
            <a:pPr algn="l">
              <a:defRPr sz="1725" b="0">
                <a:solidFill>
                  <a:srgbClr val="62666B"/>
                </a:solidFill>
              </a:defRPr>
            </a:pPr>
            <a:r>
              <a:rPr sz="1725" b="0">
                <a:solidFill>
                  <a:srgbClr val="62666B"/>
                </a:solidFill>
              </a:rPr>
              <a:t>browser response</a:t>
            </a:r>
          </a:p>
        </p:txBody>
      </p:sp>
      <p:sp>
        <p:nvSpPr>
          <p:cNvPr id="2018" name="runtime heading 2">
            <a:extLst>
              <a:ext uri="{FF2B5EF4-FFF2-40B4-BE49-F238E27FC236}">
                <a16:creationId xmlns:a16="http://schemas.microsoft.com/office/drawing/2014/main" id="{1B71F349-A84F-4129-A034-107385EC5F60}"/>
              </a:ext>
            </a:extLst>
          </p:cNvPr>
          <p:cNvSpPr>
            <a:spLocks noGrp="1"/>
          </p:cNvSpPr>
          <p:nvPr/>
        </p:nvSpPr>
        <p:spPr>
          <a:xfrm>
            <a:off x="8143875" y="4410075"/>
            <a:ext cx="2857500" cy="400050"/>
          </a:xfrm>
          <a:prstGeom prst="rect">
            <a:avLst/>
          </a:prstGeom>
          <a:noFill/>
          <a:ln w="0">
            <a:noFill/>
          </a:ln>
        </p:spPr>
        <p:txBody>
          <a:bodyPr lIns="0" tIns="0" rIns="0" bIns="0" anchor="ctr">
            <a:noAutofit/>
          </a:bodyPr>
          <a:lstStyle>
            <a:defPPr algn="l">
              <a:defRPr sz="2100" b="1">
                <a:solidFill>
                  <a:srgbClr val="0086AC"/>
                </a:solidFill>
              </a:defRPr>
            </a:defPPr>
            <a:lvl1pPr algn="l">
              <a:defRPr sz="2100" b="1">
                <a:solidFill>
                  <a:srgbClr val="0086AC"/>
                </a:solidFill>
              </a:defRPr>
            </a:lvl1pPr>
            <a:lvl2pPr algn="l">
              <a:defRPr sz="2100" b="1">
                <a:solidFill>
                  <a:srgbClr val="0086AC"/>
                </a:solidFill>
              </a:defRPr>
            </a:lvl2pPr>
            <a:lvl3pPr algn="l">
              <a:defRPr sz="2100" b="1">
                <a:solidFill>
                  <a:srgbClr val="0086AC"/>
                </a:solidFill>
              </a:defRPr>
            </a:lvl3pPr>
            <a:lvl4pPr algn="l">
              <a:defRPr sz="2100" b="1">
                <a:solidFill>
                  <a:srgbClr val="0086AC"/>
                </a:solidFill>
              </a:defRPr>
            </a:lvl4pPr>
            <a:lvl5pPr algn="l">
              <a:defRPr sz="2100" b="1">
                <a:solidFill>
                  <a:srgbClr val="0086AC"/>
                </a:solidFill>
              </a:defRPr>
            </a:lvl5pPr>
            <a:lvl6pPr algn="l">
              <a:defRPr sz="2100" b="1">
                <a:solidFill>
                  <a:srgbClr val="0086AC"/>
                </a:solidFill>
              </a:defRPr>
            </a:lvl6pPr>
            <a:lvl7pPr algn="l">
              <a:defRPr sz="2100" b="1">
                <a:solidFill>
                  <a:srgbClr val="0086AC"/>
                </a:solidFill>
              </a:defRPr>
            </a:lvl7pPr>
            <a:lvl8pPr algn="l">
              <a:defRPr sz="2100" b="1">
                <a:solidFill>
                  <a:srgbClr val="0086AC"/>
                </a:solidFill>
              </a:defRPr>
            </a:lvl8pPr>
            <a:lvl9pPr algn="l">
              <a:defRPr sz="2100" b="1">
                <a:solidFill>
                  <a:srgbClr val="0086AC"/>
                </a:solidFill>
              </a:defRPr>
            </a:lvl9pPr>
          </a:lstStyle>
          <a:p>
            <a:pPr algn="l">
              <a:defRPr sz="2100" b="1">
                <a:solidFill>
                  <a:srgbClr val="0086AC"/>
                </a:solidFill>
              </a:defRPr>
            </a:pPr>
            <a:r>
              <a:rPr sz="2100" b="1">
                <a:solidFill>
                  <a:srgbClr val="0086AC"/>
                </a:solidFill>
              </a:rPr>
              <a:t>Logs + metrics</a:t>
            </a:r>
          </a:p>
        </p:txBody>
      </p:sp>
      <p:sp>
        <p:nvSpPr>
          <p:cNvPr id="2019" name="runtime detail 2">
            <a:extLst>
              <a:ext uri="{FF2B5EF4-FFF2-40B4-BE49-F238E27FC236}">
                <a16:creationId xmlns:a16="http://schemas.microsoft.com/office/drawing/2014/main" id="{DA4A101C-3360-47A5-B4E3-A32722FB50A9}"/>
              </a:ext>
            </a:extLst>
          </p:cNvPr>
          <p:cNvSpPr>
            <a:spLocks noGrp="1"/>
          </p:cNvSpPr>
          <p:nvPr/>
        </p:nvSpPr>
        <p:spPr>
          <a:xfrm>
            <a:off x="8143875" y="4857750"/>
            <a:ext cx="2857500" cy="552450"/>
          </a:xfrm>
          <a:prstGeom prst="rect">
            <a:avLst/>
          </a:prstGeom>
          <a:noFill/>
          <a:ln w="0">
            <a:noFill/>
          </a:ln>
        </p:spPr>
        <p:txBody>
          <a:bodyPr lIns="0" tIns="0" rIns="0" bIns="0" anchor="ctr">
            <a:noAutofit/>
          </a:bodyPr>
          <a:lstStyle>
            <a:defPPr algn="l">
              <a:defRPr sz="1650" b="0">
                <a:solidFill>
                  <a:srgbClr val="62666B"/>
                </a:solidFill>
              </a:defRPr>
            </a:defPPr>
            <a:lvl1pPr algn="l">
              <a:defRPr sz="1650" b="0">
                <a:solidFill>
                  <a:srgbClr val="62666B"/>
                </a:solidFill>
              </a:defRPr>
            </a:lvl1pPr>
            <a:lvl2pPr algn="l">
              <a:defRPr sz="1650" b="0">
                <a:solidFill>
                  <a:srgbClr val="62666B"/>
                </a:solidFill>
              </a:defRPr>
            </a:lvl2pPr>
            <a:lvl3pPr algn="l">
              <a:defRPr sz="1650" b="0">
                <a:solidFill>
                  <a:srgbClr val="62666B"/>
                </a:solidFill>
              </a:defRPr>
            </a:lvl3pPr>
            <a:lvl4pPr algn="l">
              <a:defRPr sz="1650" b="0">
                <a:solidFill>
                  <a:srgbClr val="62666B"/>
                </a:solidFill>
              </a:defRPr>
            </a:lvl4pPr>
            <a:lvl5pPr algn="l">
              <a:defRPr sz="1650" b="0">
                <a:solidFill>
                  <a:srgbClr val="62666B"/>
                </a:solidFill>
              </a:defRPr>
            </a:lvl5pPr>
            <a:lvl6pPr algn="l">
              <a:defRPr sz="1650" b="0">
                <a:solidFill>
                  <a:srgbClr val="62666B"/>
                </a:solidFill>
              </a:defRPr>
            </a:lvl6pPr>
            <a:lvl7pPr algn="l">
              <a:defRPr sz="1650" b="0">
                <a:solidFill>
                  <a:srgbClr val="62666B"/>
                </a:solidFill>
              </a:defRPr>
            </a:lvl7pPr>
            <a:lvl8pPr algn="l">
              <a:defRPr sz="1650" b="0">
                <a:solidFill>
                  <a:srgbClr val="62666B"/>
                </a:solidFill>
              </a:defRPr>
            </a:lvl8pPr>
            <a:lvl9pPr algn="l">
              <a:defRPr sz="1650" b="0">
                <a:solidFill>
                  <a:srgbClr val="62666B"/>
                </a:solidFill>
              </a:defRPr>
            </a:lvl9pPr>
          </a:lstStyle>
          <a:p>
            <a:pPr algn="l">
              <a:defRPr sz="1650" b="0">
                <a:solidFill>
                  <a:srgbClr val="62666B"/>
                </a:solidFill>
              </a:defRPr>
            </a:pPr>
            <a:r>
              <a:rPr sz="1650" b="0">
                <a:solidFill>
                  <a:srgbClr val="62666B"/>
                </a:solidFill>
              </a:rPr>
              <a:t>Correlate events and trends</a:t>
            </a:r>
          </a:p>
        </p:txBody>
      </p:sp>
      <p:sp>
        <p:nvSpPr>
          <p:cNvPr id="2020" name="identity link above">
            <a:extLst>
              <a:ext uri="{FF2B5EF4-FFF2-40B4-BE49-F238E27FC236}">
                <a16:creationId xmlns:a16="http://schemas.microsoft.com/office/drawing/2014/main" id="{CF12AA0C-13CC-49C5-857D-8A5013D96541}"/>
              </a:ext>
            </a:extLst>
          </p:cNvPr>
          <p:cNvSpPr>
            <a:spLocks noGrp="1"/>
          </p:cNvSpPr>
          <p:nvPr/>
        </p:nvSpPr>
        <p:spPr>
          <a:xfrm>
            <a:off x="5905500" y="3467100"/>
            <a:ext cx="0" cy="190500"/>
          </a:xfrm>
          <a:prstGeom prst="line">
            <a:avLst/>
          </a:prstGeom>
          <a:noFill/>
          <a:ln w="19050">
            <a:solidFill>
              <a:srgbClr val="5965AC"/>
            </a:solidFill>
          </a:ln>
        </p:spPr>
      </p:sp>
      <p:sp>
        <p:nvSpPr>
          <p:cNvPr id="2021" name="shared identity">
            <a:extLst>
              <a:ext uri="{FF2B5EF4-FFF2-40B4-BE49-F238E27FC236}">
                <a16:creationId xmlns:a16="http://schemas.microsoft.com/office/drawing/2014/main" id="{9AE20C79-830F-49A3-BA26-EF9623CEC294}"/>
              </a:ext>
            </a:extLst>
          </p:cNvPr>
          <p:cNvSpPr>
            <a:spLocks noGrp="1"/>
          </p:cNvSpPr>
          <p:nvPr/>
        </p:nvSpPr>
        <p:spPr>
          <a:xfrm>
            <a:off x="812864" y="3667125"/>
            <a:ext cx="10191750" cy="409575"/>
          </a:xfrm>
          <a:prstGeom prst="rect">
            <a:avLst/>
          </a:prstGeom>
          <a:noFill/>
          <a:ln w="0">
            <a:noFill/>
          </a:ln>
        </p:spPr>
        <p:txBody>
          <a:bodyPr lIns="0" tIns="0" rIns="0" bIns="0" anchor="ctr">
            <a:noAutofit/>
          </a:bodyPr>
          <a:lstStyle>
            <a:defPPr algn="ctr">
              <a:defRPr sz="2100" b="1">
                <a:solidFill>
                  <a:srgbClr val="5965AC"/>
                </a:solidFill>
              </a:defRPr>
            </a:defPPr>
            <a:lvl1pPr algn="ctr">
              <a:defRPr sz="2100" b="1">
                <a:solidFill>
                  <a:srgbClr val="5965AC"/>
                </a:solidFill>
              </a:defRPr>
            </a:lvl1pPr>
            <a:lvl2pPr algn="ctr">
              <a:defRPr sz="2100" b="1">
                <a:solidFill>
                  <a:srgbClr val="5965AC"/>
                </a:solidFill>
              </a:defRPr>
            </a:lvl2pPr>
            <a:lvl3pPr algn="ctr">
              <a:defRPr sz="2100" b="1">
                <a:solidFill>
                  <a:srgbClr val="5965AC"/>
                </a:solidFill>
              </a:defRPr>
            </a:lvl3pPr>
            <a:lvl4pPr algn="ctr">
              <a:defRPr sz="2100" b="1">
                <a:solidFill>
                  <a:srgbClr val="5965AC"/>
                </a:solidFill>
              </a:defRPr>
            </a:lvl4pPr>
            <a:lvl5pPr algn="ctr">
              <a:defRPr sz="2100" b="1">
                <a:solidFill>
                  <a:srgbClr val="5965AC"/>
                </a:solidFill>
              </a:defRPr>
            </a:lvl5pPr>
            <a:lvl6pPr algn="ctr">
              <a:defRPr sz="2100" b="1">
                <a:solidFill>
                  <a:srgbClr val="5965AC"/>
                </a:solidFill>
              </a:defRPr>
            </a:lvl6pPr>
            <a:lvl7pPr algn="ctr">
              <a:defRPr sz="2100" b="1">
                <a:solidFill>
                  <a:srgbClr val="5965AC"/>
                </a:solidFill>
              </a:defRPr>
            </a:lvl7pPr>
            <a:lvl8pPr algn="ctr">
              <a:defRPr sz="2100" b="1">
                <a:solidFill>
                  <a:srgbClr val="5965AC"/>
                </a:solidFill>
              </a:defRPr>
            </a:lvl8pPr>
            <a:lvl9pPr algn="ctr">
              <a:defRPr sz="2100" b="1">
                <a:solidFill>
                  <a:srgbClr val="5965AC"/>
                </a:solidFill>
              </a:defRPr>
            </a:lvl9pPr>
          </a:lstStyle>
          <a:p>
            <a:pPr algn="ctr">
              <a:defRPr sz="2100" b="1">
                <a:solidFill>
                  <a:srgbClr val="5965AC"/>
                </a:solidFill>
              </a:defRPr>
            </a:pPr>
            <a:r>
              <a:rPr sz="2100" b="1">
                <a:solidFill>
                  <a:srgbClr val="5965AC"/>
                </a:solidFill>
              </a:rPr>
              <a:t>Same revision · linked run IDs</a:t>
            </a:r>
          </a:p>
        </p:txBody>
      </p:sp>
      <p:sp>
        <p:nvSpPr>
          <p:cNvPr id="2022" name="identity link below">
            <a:extLst>
              <a:ext uri="{FF2B5EF4-FFF2-40B4-BE49-F238E27FC236}">
                <a16:creationId xmlns:a16="http://schemas.microsoft.com/office/drawing/2014/main" id="{52A2A150-9F2C-4C5A-B491-99023D52B117}"/>
              </a:ext>
            </a:extLst>
          </p:cNvPr>
          <p:cNvSpPr>
            <a:spLocks noGrp="1"/>
          </p:cNvSpPr>
          <p:nvPr/>
        </p:nvSpPr>
        <p:spPr>
          <a:xfrm>
            <a:off x="5905500" y="4076700"/>
            <a:ext cx="0" cy="171450"/>
          </a:xfrm>
          <a:prstGeom prst="line">
            <a:avLst/>
          </a:prstGeom>
          <a:noFill/>
          <a:ln w="19050">
            <a:solidFill>
              <a:srgbClr val="5965AC"/>
            </a:solidFill>
          </a:ln>
        </p:spPr>
      </p:sp>
      <p:sp>
        <p:nvSpPr>
          <p:cNvPr id="2023" name="runtime label">
            <a:extLst>
              <a:ext uri="{FF2B5EF4-FFF2-40B4-BE49-F238E27FC236}">
                <a16:creationId xmlns:a16="http://schemas.microsoft.com/office/drawing/2014/main" id="{396C9725-D11B-4B63-BC51-AA96F5FCF685}"/>
              </a:ext>
            </a:extLst>
          </p:cNvPr>
          <p:cNvSpPr>
            <a:spLocks noGrp="1"/>
          </p:cNvSpPr>
          <p:nvPr/>
        </p:nvSpPr>
        <p:spPr>
          <a:xfrm>
            <a:off x="812864" y="4162425"/>
            <a:ext cx="10191750" cy="257175"/>
          </a:xfrm>
          <a:prstGeom prst="rect">
            <a:avLst/>
          </a:prstGeom>
          <a:noFill/>
          <a:ln w="0">
            <a:noFill/>
          </a:ln>
        </p:spPr>
        <p:txBody>
          <a:bodyPr lIns="0" tIns="0" rIns="0" bIns="0" anchor="ctr">
            <a:noAutofit/>
          </a:bodyPr>
          <a:lstStyle>
            <a:defPPr algn="l">
              <a:defRPr sz="1350" b="1">
                <a:solidFill>
                  <a:srgbClr val="0086AC"/>
                </a:solidFill>
              </a:defRPr>
            </a:defPPr>
            <a:lvl1pPr algn="l">
              <a:defRPr sz="1350" b="1">
                <a:solidFill>
                  <a:srgbClr val="0086AC"/>
                </a:solidFill>
              </a:defRPr>
            </a:lvl1pPr>
            <a:lvl2pPr algn="l">
              <a:defRPr sz="1350" b="1">
                <a:solidFill>
                  <a:srgbClr val="0086AC"/>
                </a:solidFill>
              </a:defRPr>
            </a:lvl2pPr>
            <a:lvl3pPr algn="l">
              <a:defRPr sz="1350" b="1">
                <a:solidFill>
                  <a:srgbClr val="0086AC"/>
                </a:solidFill>
              </a:defRPr>
            </a:lvl3pPr>
            <a:lvl4pPr algn="l">
              <a:defRPr sz="1350" b="1">
                <a:solidFill>
                  <a:srgbClr val="0086AC"/>
                </a:solidFill>
              </a:defRPr>
            </a:lvl4pPr>
            <a:lvl5pPr algn="l">
              <a:defRPr sz="1350" b="1">
                <a:solidFill>
                  <a:srgbClr val="0086AC"/>
                </a:solidFill>
              </a:defRPr>
            </a:lvl5pPr>
            <a:lvl6pPr algn="l">
              <a:defRPr sz="1350" b="1">
                <a:solidFill>
                  <a:srgbClr val="0086AC"/>
                </a:solidFill>
              </a:defRPr>
            </a:lvl6pPr>
            <a:lvl7pPr algn="l">
              <a:defRPr sz="1350" b="1">
                <a:solidFill>
                  <a:srgbClr val="0086AC"/>
                </a:solidFill>
              </a:defRPr>
            </a:lvl7pPr>
            <a:lvl8pPr algn="l">
              <a:defRPr sz="1350" b="1">
                <a:solidFill>
                  <a:srgbClr val="0086AC"/>
                </a:solidFill>
              </a:defRPr>
            </a:lvl8pPr>
            <a:lvl9pPr algn="l">
              <a:defRPr sz="1350" b="1">
                <a:solidFill>
                  <a:srgbClr val="0086AC"/>
                </a:solidFill>
              </a:defRPr>
            </a:lvl9pPr>
          </a:lstStyle>
          <a:p>
            <a:pPr algn="l">
              <a:defRPr sz="1350" b="1">
                <a:solidFill>
                  <a:srgbClr val="0086AC"/>
                </a:solidFill>
              </a:defRPr>
            </a:pPr>
            <a:r>
              <a:rPr sz="1350" b="1">
                <a:solidFill>
                  <a:srgbClr val="0086AC"/>
                </a:solidFill>
              </a:rPr>
              <a:t>RUNTIME EVIDENCE, WHEN AVAILABLE</a:t>
            </a:r>
          </a:p>
        </p:txBody>
      </p:sp>
      <p:sp>
        <p:nvSpPr>
          <p:cNvPr id="2024" name="review outcome">
            <a:extLst>
              <a:ext uri="{FF2B5EF4-FFF2-40B4-BE49-F238E27FC236}">
                <a16:creationId xmlns:a16="http://schemas.microsoft.com/office/drawing/2014/main" id="{A18F88BD-0F57-467F-8615-901061A7F66A}"/>
              </a:ext>
            </a:extLst>
          </p:cNvPr>
          <p:cNvSpPr>
            <a:spLocks noGrp="1"/>
          </p:cNvSpPr>
          <p:nvPr/>
        </p:nvSpPr>
        <p:spPr>
          <a:xfrm>
            <a:off x="812864" y="5534025"/>
            <a:ext cx="10191750" cy="381000"/>
          </a:xfrm>
          <a:prstGeom prst="rect">
            <a:avLst/>
          </a:prstGeom>
          <a:noFill/>
          <a:ln w="0">
            <a:noFill/>
          </a:ln>
        </p:spPr>
        <p:txBody>
          <a:bodyPr lIns="0" tIns="0" rIns="0" bIns="0" anchor="ctr">
            <a:noAutofit/>
          </a:bodyPr>
          <a:lstStyle>
            <a:defPPr algn="l">
              <a:defRPr sz="2100" b="1">
                <a:solidFill>
                  <a:srgbClr val="303238"/>
                </a:solidFill>
              </a:defRPr>
            </a:defPPr>
            <a:lvl1pPr algn="l">
              <a:defRPr sz="2100" b="1">
                <a:solidFill>
                  <a:srgbClr val="303238"/>
                </a:solidFill>
              </a:defRPr>
            </a:lvl1pPr>
            <a:lvl2pPr algn="l">
              <a:defRPr sz="2100" b="1">
                <a:solidFill>
                  <a:srgbClr val="303238"/>
                </a:solidFill>
              </a:defRPr>
            </a:lvl2pPr>
            <a:lvl3pPr algn="l">
              <a:defRPr sz="2100" b="1">
                <a:solidFill>
                  <a:srgbClr val="303238"/>
                </a:solidFill>
              </a:defRPr>
            </a:lvl3pPr>
            <a:lvl4pPr algn="l">
              <a:defRPr sz="2100" b="1">
                <a:solidFill>
                  <a:srgbClr val="303238"/>
                </a:solidFill>
              </a:defRPr>
            </a:lvl4pPr>
            <a:lvl5pPr algn="l">
              <a:defRPr sz="2100" b="1">
                <a:solidFill>
                  <a:srgbClr val="303238"/>
                </a:solidFill>
              </a:defRPr>
            </a:lvl5pPr>
            <a:lvl6pPr algn="l">
              <a:defRPr sz="2100" b="1">
                <a:solidFill>
                  <a:srgbClr val="303238"/>
                </a:solidFill>
              </a:defRPr>
            </a:lvl6pPr>
            <a:lvl7pPr algn="l">
              <a:defRPr sz="2100" b="1">
                <a:solidFill>
                  <a:srgbClr val="303238"/>
                </a:solidFill>
              </a:defRPr>
            </a:lvl7pPr>
            <a:lvl8pPr algn="l">
              <a:defRPr sz="2100" b="1">
                <a:solidFill>
                  <a:srgbClr val="303238"/>
                </a:solidFill>
              </a:defRPr>
            </a:lvl8pPr>
            <a:lvl9pPr algn="l">
              <a:defRPr sz="2100" b="1">
                <a:solidFill>
                  <a:srgbClr val="303238"/>
                </a:solidFill>
              </a:defRPr>
            </a:lvl9pPr>
          </a:lstStyle>
          <a:p>
            <a:pPr algn="l">
              <a:defRPr sz="2100" b="1">
                <a:solidFill>
                  <a:srgbClr val="303238"/>
                </a:solidFill>
              </a:defRPr>
            </a:pPr>
            <a:r>
              <a:rPr sz="2100" b="1">
                <a:solidFill>
                  <a:srgbClr val="303238"/>
                </a:solidFill>
              </a:rPr>
              <a:t>Relevant evidence for the AI reviewer</a:t>
            </a:r>
          </a:p>
        </p:txBody>
      </p:sp>
      <p:sp>
        <p:nvSpPr>
          <p:cNvPr id="2025" name="integration scope">
            <a:extLst>
              <a:ext uri="{FF2B5EF4-FFF2-40B4-BE49-F238E27FC236}">
                <a16:creationId xmlns:a16="http://schemas.microsoft.com/office/drawing/2014/main" id="{8113BF51-880F-4027-9182-528953BEDC19}"/>
              </a:ext>
            </a:extLst>
          </p:cNvPr>
          <p:cNvSpPr>
            <a:spLocks noGrp="1"/>
          </p:cNvSpPr>
          <p:nvPr/>
        </p:nvSpPr>
        <p:spPr>
          <a:xfrm>
            <a:off x="812864" y="5943600"/>
            <a:ext cx="10191750" cy="257175"/>
          </a:xfrm>
          <a:prstGeom prst="rect">
            <a:avLst/>
          </a:prstGeom>
          <a:noFill/>
          <a:ln w="0">
            <a:noFill/>
          </a:ln>
        </p:spPr>
        <p:txBody>
          <a:bodyPr lIns="0" tIns="0" rIns="0" bIns="0" anchor="ctr">
            <a:noAutofit/>
          </a:bodyPr>
          <a:lstStyle>
            <a:defPPr algn="l">
              <a:defRPr sz="1425" b="0">
                <a:solidFill>
                  <a:srgbClr val="62666B"/>
                </a:solidFill>
              </a:defRPr>
            </a:defPPr>
            <a:lvl1pPr algn="l">
              <a:defRPr sz="1425" b="0">
                <a:solidFill>
                  <a:srgbClr val="62666B"/>
                </a:solidFill>
              </a:defRPr>
            </a:lvl1pPr>
            <a:lvl2pPr algn="l">
              <a:defRPr sz="1425" b="0">
                <a:solidFill>
                  <a:srgbClr val="62666B"/>
                </a:solidFill>
              </a:defRPr>
            </a:lvl2pPr>
            <a:lvl3pPr algn="l">
              <a:defRPr sz="1425" b="0">
                <a:solidFill>
                  <a:srgbClr val="62666B"/>
                </a:solidFill>
              </a:defRPr>
            </a:lvl3pPr>
            <a:lvl4pPr algn="l">
              <a:defRPr sz="1425" b="0">
                <a:solidFill>
                  <a:srgbClr val="62666B"/>
                </a:solidFill>
              </a:defRPr>
            </a:lvl4pPr>
            <a:lvl5pPr algn="l">
              <a:defRPr sz="1425" b="0">
                <a:solidFill>
                  <a:srgbClr val="62666B"/>
                </a:solidFill>
              </a:defRPr>
            </a:lvl5pPr>
            <a:lvl6pPr algn="l">
              <a:defRPr sz="1425" b="0">
                <a:solidFill>
                  <a:srgbClr val="62666B"/>
                </a:solidFill>
              </a:defRPr>
            </a:lvl6pPr>
            <a:lvl7pPr algn="l">
              <a:defRPr sz="1425" b="0">
                <a:solidFill>
                  <a:srgbClr val="62666B"/>
                </a:solidFill>
              </a:defRPr>
            </a:lvl7pPr>
            <a:lvl8pPr algn="l">
              <a:defRPr sz="1425" b="0">
                <a:solidFill>
                  <a:srgbClr val="62666B"/>
                </a:solidFill>
              </a:defRPr>
            </a:lvl8pPr>
            <a:lvl9pPr algn="l">
              <a:defRPr sz="1425" b="0">
                <a:solidFill>
                  <a:srgbClr val="62666B"/>
                </a:solidFill>
              </a:defRPr>
            </a:lvl9pPr>
          </a:lstStyle>
          <a:p>
            <a:pPr algn="l">
              <a:defRPr sz="1425" b="0">
                <a:solidFill>
                  <a:srgbClr val="62666B"/>
                </a:solidFill>
              </a:defRPr>
            </a:pPr>
            <a:r>
              <a:rPr sz="1425" b="0">
                <a:solidFill>
                  <a:srgbClr val="62666B"/>
                </a:solidFill>
              </a:rPr>
              <a:t>Proposed integration: OSTF describes traceability data; tools connect evidence.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4">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cxnSp>
        <p:nvCxnSpPr>
          <p:cNvPr id="2012" name="Straight Arrow Connector 2011">
            <a:extLst>
              <a:ext uri="{FF2B5EF4-FFF2-40B4-BE49-F238E27FC236}">
                <a16:creationId xmlns:a16="http://schemas.microsoft.com/office/drawing/2014/main" id="{224B0200-F935-4D43-B72C-930CD7A1DFE7}"/>
              </a:ext>
            </a:extLst>
          </p:cNvPr>
          <p:cNvCxnSpPr>
            <a:stCxn id="2004" idx="3"/>
            <a:endCxn id="2005" idx="1"/>
          </p:cNvCxnSpPr>
          <p:nvPr/>
        </p:nvCxnSpPr>
        <p:spPr>
          <a:xfrm>
            <a:off x="5432489" y="3352800"/>
            <a:ext cx="825436" cy="0"/>
          </a:xfrm>
          <a:prstGeom prst="straightConnector1">
            <a:avLst/>
          </a:prstGeom>
          <a:ln w="19050">
            <a:solidFill>
              <a:srgbClr val="4F8734"/>
            </a:solidFill>
            <a:tailEnd type="triangle" w="med" len="med"/>
          </a:ln>
        </p:spPr>
      </p:cxnSp>
      <p:sp>
        <p:nvSpPr>
          <p:cNvPr id="2016" name="title">
            <a:extLst>
              <a:ext uri="{FF2B5EF4-FFF2-40B4-BE49-F238E27FC236}">
                <a16:creationId xmlns:a16="http://schemas.microsoft.com/office/drawing/2014/main" id="{9EEBFAD3-13A2-4344-87C3-05EC89BFC586}"/>
              </a:ext>
            </a:extLst>
          </p:cNvPr>
          <p:cNvSpPr>
            <a:spLocks noGrp="1"/>
          </p:cNvSpPr>
          <p:nvPr/>
        </p:nvSpPr>
        <p:spPr>
          <a:xfrm>
            <a:off x="812864" y="819150"/>
            <a:ext cx="10572750" cy="514350"/>
          </a:xfrm>
          <a:prstGeom prst="rect">
            <a:avLst/>
          </a:prstGeom>
          <a:noFill/>
          <a:ln w="0">
            <a:noFill/>
          </a:ln>
        </p:spPr>
        <p:txBody>
          <a:bodyPr lIns="0" tIns="0" rIns="0" bIns="0" anchor="ctr">
            <a:noAutofit/>
          </a:bodyPr>
          <a:lstStyle>
            <a:defPPr algn="l">
              <a:defRPr sz="3000" b="1">
                <a:solidFill>
                  <a:srgbClr val="4F8734"/>
                </a:solidFill>
              </a:defRPr>
            </a:defPPr>
            <a:lvl1pPr algn="l">
              <a:defRPr sz="3000" b="1">
                <a:solidFill>
                  <a:srgbClr val="4F8734"/>
                </a:solidFill>
              </a:defRPr>
            </a:lvl1pPr>
            <a:lvl2pPr algn="l">
              <a:defRPr sz="3000" b="1">
                <a:solidFill>
                  <a:srgbClr val="4F8734"/>
                </a:solidFill>
              </a:defRPr>
            </a:lvl2pPr>
            <a:lvl3pPr algn="l">
              <a:defRPr sz="3000" b="1">
                <a:solidFill>
                  <a:srgbClr val="4F8734"/>
                </a:solidFill>
              </a:defRPr>
            </a:lvl3pPr>
            <a:lvl4pPr algn="l">
              <a:defRPr sz="3000" b="1">
                <a:solidFill>
                  <a:srgbClr val="4F8734"/>
                </a:solidFill>
              </a:defRPr>
            </a:lvl4pPr>
            <a:lvl5pPr algn="l">
              <a:defRPr sz="3000" b="1">
                <a:solidFill>
                  <a:srgbClr val="4F8734"/>
                </a:solidFill>
              </a:defRPr>
            </a:lvl5pPr>
            <a:lvl6pPr algn="l">
              <a:defRPr sz="3000" b="1">
                <a:solidFill>
                  <a:srgbClr val="4F8734"/>
                </a:solidFill>
              </a:defRPr>
            </a:lvl6pPr>
            <a:lvl7pPr algn="l">
              <a:defRPr sz="3000" b="1">
                <a:solidFill>
                  <a:srgbClr val="4F8734"/>
                </a:solidFill>
              </a:defRPr>
            </a:lvl7pPr>
            <a:lvl8pPr algn="l">
              <a:defRPr sz="3000" b="1">
                <a:solidFill>
                  <a:srgbClr val="4F8734"/>
                </a:solidFill>
              </a:defRPr>
            </a:lvl8pPr>
            <a:lvl9pPr algn="l">
              <a:defRPr sz="3000" b="1">
                <a:solidFill>
                  <a:srgbClr val="4F8734"/>
                </a:solidFill>
              </a:defRPr>
            </a:lvl9pPr>
          </a:lstStyle>
          <a:p>
            <a:pPr algn="l">
              <a:defRPr sz="3000" b="1">
                <a:solidFill>
                  <a:srgbClr val="4F8734"/>
                </a:solidFill>
              </a:defRPr>
            </a:pPr>
            <a:r>
              <a:rPr sz="3000" b="1">
                <a:solidFill>
                  <a:srgbClr val="4F8734"/>
                </a:solidFill>
              </a:rPr>
              <a:t>A passing test still needs a decision</a:t>
            </a:r>
          </a:p>
        </p:txBody>
      </p:sp>
      <p:sp>
        <p:nvSpPr>
          <p:cNvPr id="2002" name="subtitle">
            <a:extLst>
              <a:ext uri="{FF2B5EF4-FFF2-40B4-BE49-F238E27FC236}">
                <a16:creationId xmlns:a16="http://schemas.microsoft.com/office/drawing/2014/main" id="{7847897D-34A5-444B-B2C5-AA7E9E376D24}"/>
              </a:ext>
            </a:extLst>
          </p:cNvPr>
          <p:cNvSpPr>
            <a:spLocks noGrp="1"/>
          </p:cNvSpPr>
          <p:nvPr/>
        </p:nvSpPr>
        <p:spPr>
          <a:xfrm>
            <a:off x="812864" y="1409700"/>
            <a:ext cx="10572750" cy="523875"/>
          </a:xfrm>
          <a:prstGeom prst="rect">
            <a:avLst/>
          </a:prstGeom>
          <a:noFill/>
          <a:ln w="0">
            <a:noFill/>
          </a:ln>
        </p:spPr>
        <p:txBody>
          <a:bodyPr lIns="0" tIns="0" rIns="0" bIns="0" anchor="ctr">
            <a:noAutofit/>
          </a:bodyPr>
          <a:lstStyle>
            <a:defPPr algn="l">
              <a:defRPr sz="1725" b="0">
                <a:solidFill>
                  <a:srgbClr val="303238"/>
                </a:solidFill>
              </a:defRPr>
            </a:defPPr>
            <a:lvl1pPr algn="l">
              <a:defRPr sz="1725" b="0">
                <a:solidFill>
                  <a:srgbClr val="303238"/>
                </a:solidFill>
              </a:defRPr>
            </a:lvl1pPr>
            <a:lvl2pPr algn="l">
              <a:defRPr sz="1725" b="0">
                <a:solidFill>
                  <a:srgbClr val="303238"/>
                </a:solidFill>
              </a:defRPr>
            </a:lvl2pPr>
            <a:lvl3pPr algn="l">
              <a:defRPr sz="1725" b="0">
                <a:solidFill>
                  <a:srgbClr val="303238"/>
                </a:solidFill>
              </a:defRPr>
            </a:lvl3pPr>
            <a:lvl4pPr algn="l">
              <a:defRPr sz="1725" b="0">
                <a:solidFill>
                  <a:srgbClr val="303238"/>
                </a:solidFill>
              </a:defRPr>
            </a:lvl4pPr>
            <a:lvl5pPr algn="l">
              <a:defRPr sz="1725" b="0">
                <a:solidFill>
                  <a:srgbClr val="303238"/>
                </a:solidFill>
              </a:defRPr>
            </a:lvl5pPr>
            <a:lvl6pPr algn="l">
              <a:defRPr sz="1725" b="0">
                <a:solidFill>
                  <a:srgbClr val="303238"/>
                </a:solidFill>
              </a:defRPr>
            </a:lvl6pPr>
            <a:lvl7pPr algn="l">
              <a:defRPr sz="1725" b="0">
                <a:solidFill>
                  <a:srgbClr val="303238"/>
                </a:solidFill>
              </a:defRPr>
            </a:lvl7pPr>
            <a:lvl8pPr algn="l">
              <a:defRPr sz="1725" b="0">
                <a:solidFill>
                  <a:srgbClr val="303238"/>
                </a:solidFill>
              </a:defRPr>
            </a:lvl8pPr>
            <a:lvl9pPr algn="l">
              <a:defRPr sz="1725" b="0">
                <a:solidFill>
                  <a:srgbClr val="303238"/>
                </a:solidFill>
              </a:defRPr>
            </a:lvl9pPr>
          </a:lstStyle>
          <a:p>
            <a:pPr algn="l">
              <a:defRPr sz="1725" b="0">
                <a:solidFill>
                  <a:srgbClr val="303238"/>
                </a:solidFill>
              </a:defRPr>
            </a:pPr>
            <a:r>
              <a:rPr sz="1725" b="0">
                <a:solidFill>
                  <a:srgbClr val="303238"/>
                </a:solidFill>
              </a:rPr>
              <a:t>Captured payment-component check, using synthetic credentials.</a:t>
            </a:r>
          </a:p>
        </p:txBody>
      </p:sp>
      <p:sp>
        <p:nvSpPr>
          <p:cNvPr id="2003" name="conference footer">
            <a:extLst>
              <a:ext uri="{FF2B5EF4-FFF2-40B4-BE49-F238E27FC236}">
                <a16:creationId xmlns:a16="http://schemas.microsoft.com/office/drawing/2014/main" id="{349A3817-623C-42D4-AF72-6CF7A764F58D}"/>
              </a:ext>
            </a:extLst>
          </p:cNvPr>
          <p:cNvSpPr>
            <a:spLocks noGrp="1"/>
          </p:cNvSpPr>
          <p:nvPr/>
        </p:nvSpPr>
        <p:spPr>
          <a:xfrm>
            <a:off x="7258050" y="6448425"/>
            <a:ext cx="3333750" cy="209550"/>
          </a:xfrm>
          <a:prstGeom prst="rect">
            <a:avLst/>
          </a:prstGeom>
          <a:noFill/>
          <a:ln w="0">
            <a:noFill/>
          </a:ln>
        </p:spPr>
        <p:txBody>
          <a:bodyPr lIns="0" tIns="0" rIns="0" bIns="0" anchor="ctr">
            <a:noAutofit/>
          </a:bodyPr>
          <a:lstStyle>
            <a:defPPr algn="l">
              <a:defRPr sz="1050" b="0">
                <a:solidFill>
                  <a:srgbClr val="8A8A8A"/>
                </a:solidFill>
              </a:defRPr>
            </a:defPPr>
            <a:lvl1pPr algn="l">
              <a:defRPr sz="1050" b="0">
                <a:solidFill>
                  <a:srgbClr val="8A8A8A"/>
                </a:solidFill>
              </a:defRPr>
            </a:lvl1pPr>
            <a:lvl2pPr algn="l">
              <a:defRPr sz="1050" b="0">
                <a:solidFill>
                  <a:srgbClr val="8A8A8A"/>
                </a:solidFill>
              </a:defRPr>
            </a:lvl2pPr>
            <a:lvl3pPr algn="l">
              <a:defRPr sz="1050" b="0">
                <a:solidFill>
                  <a:srgbClr val="8A8A8A"/>
                </a:solidFill>
              </a:defRPr>
            </a:lvl3pPr>
            <a:lvl4pPr algn="l">
              <a:defRPr sz="1050" b="0">
                <a:solidFill>
                  <a:srgbClr val="8A8A8A"/>
                </a:solidFill>
              </a:defRPr>
            </a:lvl4pPr>
            <a:lvl5pPr algn="l">
              <a:defRPr sz="1050" b="0">
                <a:solidFill>
                  <a:srgbClr val="8A8A8A"/>
                </a:solidFill>
              </a:defRPr>
            </a:lvl5pPr>
            <a:lvl6pPr algn="l">
              <a:defRPr sz="1050" b="0">
                <a:solidFill>
                  <a:srgbClr val="8A8A8A"/>
                </a:solidFill>
              </a:defRPr>
            </a:lvl6pPr>
            <a:lvl7pPr algn="l">
              <a:defRPr sz="1050" b="0">
                <a:solidFill>
                  <a:srgbClr val="8A8A8A"/>
                </a:solidFill>
              </a:defRPr>
            </a:lvl7pPr>
            <a:lvl8pPr algn="l">
              <a:defRPr sz="1050" b="0">
                <a:solidFill>
                  <a:srgbClr val="8A8A8A"/>
                </a:solidFill>
              </a:defRPr>
            </a:lvl8pPr>
            <a:lvl9pPr algn="l">
              <a:defRPr sz="1050" b="0">
                <a:solidFill>
                  <a:srgbClr val="8A8A8A"/>
                </a:solidFill>
              </a:defRPr>
            </a:lvl9pPr>
          </a:lstStyle>
          <a:p>
            <a:pPr algn="l">
              <a:defRPr sz="1050" b="0">
                <a:solidFill>
                  <a:srgbClr val="8A8A8A"/>
                </a:solidFill>
              </a:defRPr>
            </a:pPr>
            <a:r>
              <a:rPr sz="1050" b="0">
                <a:solidFill>
                  <a:srgbClr val="8A8A8A"/>
                </a:solidFill>
              </a:rPr>
              <a:t>ISC2.org/Congress | #ISC2Congress</a:t>
            </a:r>
          </a:p>
        </p:txBody>
      </p:sp>
      <p:sp>
        <p:nvSpPr>
          <p:cNvPr id="2004" name="vulnerable component">
            <a:extLst>
              <a:ext uri="{FF2B5EF4-FFF2-40B4-BE49-F238E27FC236}">
                <a16:creationId xmlns:a16="http://schemas.microsoft.com/office/drawing/2014/main" id="{2257DD26-0938-4BB2-972F-DA76BC51B452}"/>
              </a:ext>
            </a:extLst>
          </p:cNvPr>
          <p:cNvSpPr>
            <a:spLocks noGrp="1"/>
          </p:cNvSpPr>
          <p:nvPr/>
        </p:nvSpPr>
        <p:spPr>
          <a:xfrm>
            <a:off x="812864" y="2286000"/>
            <a:ext cx="4619625" cy="2133600"/>
          </a:xfrm>
          <a:prstGeom prst="roundRect">
            <a:avLst>
              <a:gd name="adj" fmla="val 3571"/>
            </a:avLst>
          </a:prstGeom>
          <a:solidFill>
            <a:srgbClr val="FBF4ED"/>
          </a:solidFill>
          <a:ln w="9525">
            <a:solidFill>
              <a:srgbClr val="D7DDD4"/>
            </a:solidFill>
          </a:ln>
        </p:spPr>
        <p:txBody>
          <a:bodyPr/>
          <a:lstStyle/>
          <a:p>
            <a:endParaRPr lang="en-US"/>
          </a:p>
        </p:txBody>
      </p:sp>
      <p:sp>
        <p:nvSpPr>
          <p:cNvPr id="2005" name="corrected component">
            <a:extLst>
              <a:ext uri="{FF2B5EF4-FFF2-40B4-BE49-F238E27FC236}">
                <a16:creationId xmlns:a16="http://schemas.microsoft.com/office/drawing/2014/main" id="{C734B24F-AA37-4EC1-B299-EB7F94435AA9}"/>
              </a:ext>
            </a:extLst>
          </p:cNvPr>
          <p:cNvSpPr>
            <a:spLocks noGrp="1"/>
          </p:cNvSpPr>
          <p:nvPr/>
        </p:nvSpPr>
        <p:spPr>
          <a:xfrm>
            <a:off x="6257925" y="2286000"/>
            <a:ext cx="4619625" cy="2133600"/>
          </a:xfrm>
          <a:prstGeom prst="roundRect">
            <a:avLst>
              <a:gd name="adj" fmla="val 3571"/>
            </a:avLst>
          </a:prstGeom>
          <a:solidFill>
            <a:srgbClr val="EDF4E7"/>
          </a:solidFill>
          <a:ln w="9525">
            <a:solidFill>
              <a:srgbClr val="D7DDD4"/>
            </a:solidFill>
          </a:ln>
        </p:spPr>
        <p:txBody>
          <a:bodyPr/>
          <a:lstStyle/>
          <a:p>
            <a:endParaRPr lang="en-US"/>
          </a:p>
        </p:txBody>
      </p:sp>
      <p:sp>
        <p:nvSpPr>
          <p:cNvPr id="2006" name="before heading">
            <a:extLst>
              <a:ext uri="{FF2B5EF4-FFF2-40B4-BE49-F238E27FC236}">
                <a16:creationId xmlns:a16="http://schemas.microsoft.com/office/drawing/2014/main" id="{A7B657DC-EF99-4716-A469-C96B49E52C80}"/>
              </a:ext>
            </a:extLst>
          </p:cNvPr>
          <p:cNvSpPr>
            <a:spLocks noGrp="1"/>
          </p:cNvSpPr>
          <p:nvPr/>
        </p:nvSpPr>
        <p:spPr>
          <a:xfrm>
            <a:off x="1038225" y="2466975"/>
            <a:ext cx="4162425" cy="333375"/>
          </a:xfrm>
          <a:prstGeom prst="rect">
            <a:avLst/>
          </a:prstGeom>
          <a:noFill/>
          <a:ln w="0">
            <a:noFill/>
          </a:ln>
        </p:spPr>
        <p:txBody>
          <a:bodyPr lIns="0" tIns="0" rIns="0" bIns="0" anchor="ctr">
            <a:noAutofit/>
          </a:bodyPr>
          <a:lstStyle>
            <a:defPPr algn="l">
              <a:defRPr sz="2025" b="1">
                <a:solidFill>
                  <a:srgbClr val="B56220"/>
                </a:solidFill>
              </a:defRPr>
            </a:defPPr>
            <a:lvl1pPr algn="l">
              <a:defRPr sz="2025" b="1">
                <a:solidFill>
                  <a:srgbClr val="B56220"/>
                </a:solidFill>
              </a:defRPr>
            </a:lvl1pPr>
            <a:lvl2pPr algn="l">
              <a:defRPr sz="2025" b="1">
                <a:solidFill>
                  <a:srgbClr val="B56220"/>
                </a:solidFill>
              </a:defRPr>
            </a:lvl2pPr>
            <a:lvl3pPr algn="l">
              <a:defRPr sz="2025" b="1">
                <a:solidFill>
                  <a:srgbClr val="B56220"/>
                </a:solidFill>
              </a:defRPr>
            </a:lvl3pPr>
            <a:lvl4pPr algn="l">
              <a:defRPr sz="2025" b="1">
                <a:solidFill>
                  <a:srgbClr val="B56220"/>
                </a:solidFill>
              </a:defRPr>
            </a:lvl4pPr>
            <a:lvl5pPr algn="l">
              <a:defRPr sz="2025" b="1">
                <a:solidFill>
                  <a:srgbClr val="B56220"/>
                </a:solidFill>
              </a:defRPr>
            </a:lvl5pPr>
            <a:lvl6pPr algn="l">
              <a:defRPr sz="2025" b="1">
                <a:solidFill>
                  <a:srgbClr val="B56220"/>
                </a:solidFill>
              </a:defRPr>
            </a:lvl6pPr>
            <a:lvl7pPr algn="l">
              <a:defRPr sz="2025" b="1">
                <a:solidFill>
                  <a:srgbClr val="B56220"/>
                </a:solidFill>
              </a:defRPr>
            </a:lvl7pPr>
            <a:lvl8pPr algn="l">
              <a:defRPr sz="2025" b="1">
                <a:solidFill>
                  <a:srgbClr val="B56220"/>
                </a:solidFill>
              </a:defRPr>
            </a:lvl8pPr>
            <a:lvl9pPr algn="l">
              <a:defRPr sz="2025" b="1">
                <a:solidFill>
                  <a:srgbClr val="B56220"/>
                </a:solidFill>
              </a:defRPr>
            </a:lvl9pPr>
          </a:lstStyle>
          <a:p>
            <a:pPr algn="l">
              <a:defRPr sz="2025" b="1">
                <a:solidFill>
                  <a:srgbClr val="B56220"/>
                </a:solidFill>
              </a:defRPr>
            </a:pPr>
            <a:r>
              <a:rPr sz="2025" b="1">
                <a:solidFill>
                  <a:srgbClr val="B56220"/>
                </a:solidFill>
              </a:rPr>
              <a:t>Vulnerable component</a:t>
            </a:r>
          </a:p>
        </p:txBody>
      </p:sp>
      <p:sp>
        <p:nvSpPr>
          <p:cNvPr id="2007" name="before condition">
            <a:extLst>
              <a:ext uri="{FF2B5EF4-FFF2-40B4-BE49-F238E27FC236}">
                <a16:creationId xmlns:a16="http://schemas.microsoft.com/office/drawing/2014/main" id="{38A79DAB-4942-4FEB-9290-FFFADC7442E8}"/>
              </a:ext>
            </a:extLst>
          </p:cNvPr>
          <p:cNvSpPr>
            <a:spLocks noGrp="1"/>
          </p:cNvSpPr>
          <p:nvPr/>
        </p:nvSpPr>
        <p:spPr>
          <a:xfrm>
            <a:off x="1038225" y="3000375"/>
            <a:ext cx="4162425" cy="666750"/>
          </a:xfrm>
          <a:prstGeom prst="rect">
            <a:avLst/>
          </a:prstGeom>
          <a:noFill/>
          <a:ln w="0">
            <a:noFill/>
          </a:ln>
        </p:spPr>
        <p:txBody>
          <a:bodyPr lIns="0" tIns="0" rIns="0" bIns="0" anchor="ctr">
            <a:noAutofit/>
          </a:bodyPr>
          <a:lstStyle>
            <a:defPPr algn="l">
              <a:defRPr sz="2025" b="0">
                <a:solidFill>
                  <a:srgbClr val="303238"/>
                </a:solidFill>
              </a:defRPr>
            </a:defPPr>
            <a:lvl1pPr algn="l">
              <a:defRPr sz="2025" b="0">
                <a:solidFill>
                  <a:srgbClr val="303238"/>
                </a:solidFill>
              </a:defRPr>
            </a:lvl1pPr>
            <a:lvl2pPr algn="l">
              <a:defRPr sz="2025" b="0">
                <a:solidFill>
                  <a:srgbClr val="303238"/>
                </a:solidFill>
              </a:defRPr>
            </a:lvl2pPr>
            <a:lvl3pPr algn="l">
              <a:defRPr sz="2025" b="0">
                <a:solidFill>
                  <a:srgbClr val="303238"/>
                </a:solidFill>
              </a:defRPr>
            </a:lvl3pPr>
            <a:lvl4pPr algn="l">
              <a:defRPr sz="2025" b="0">
                <a:solidFill>
                  <a:srgbClr val="303238"/>
                </a:solidFill>
              </a:defRPr>
            </a:lvl4pPr>
            <a:lvl5pPr algn="l">
              <a:defRPr sz="2025" b="0">
                <a:solidFill>
                  <a:srgbClr val="303238"/>
                </a:solidFill>
              </a:defRPr>
            </a:lvl5pPr>
            <a:lvl6pPr algn="l">
              <a:defRPr sz="2025" b="0">
                <a:solidFill>
                  <a:srgbClr val="303238"/>
                </a:solidFill>
              </a:defRPr>
            </a:lvl6pPr>
            <a:lvl7pPr algn="l">
              <a:defRPr sz="2025" b="0">
                <a:solidFill>
                  <a:srgbClr val="303238"/>
                </a:solidFill>
              </a:defRPr>
            </a:lvl7pPr>
            <a:lvl8pPr algn="l">
              <a:defRPr sz="2025" b="0">
                <a:solidFill>
                  <a:srgbClr val="303238"/>
                </a:solidFill>
              </a:defRPr>
            </a:lvl8pPr>
            <a:lvl9pPr algn="l">
              <a:defRPr sz="2025" b="0">
                <a:solidFill>
                  <a:srgbClr val="303238"/>
                </a:solidFill>
              </a:defRPr>
            </a:lvl9pPr>
          </a:lstStyle>
          <a:p>
            <a:pPr algn="l">
              <a:defRPr sz="2025" b="0">
                <a:solidFill>
                  <a:srgbClr val="303238"/>
                </a:solidFill>
              </a:defRPr>
            </a:pPr>
            <a:r>
              <a:rPr sz="2025" b="0">
                <a:solidFill>
                  <a:srgbClr val="303238"/>
                </a:solidFill>
              </a:rPr>
              <a:t>Private key appears in</a:t>
            </a:r>
          </a:p>
          <a:p>
            <a:pPr algn="l">
              <a:defRPr sz="2025" b="0">
                <a:solidFill>
                  <a:srgbClr val="303238"/>
                </a:solidFill>
              </a:defRPr>
            </a:pPr>
            <a:r>
              <a:rPr sz="2025" b="0">
                <a:solidFill>
                  <a:srgbClr val="303238"/>
                </a:solidFill>
              </a:rPr>
              <a:t>the browser response.</a:t>
            </a:r>
          </a:p>
        </p:txBody>
      </p:sp>
      <p:sp>
        <p:nvSpPr>
          <p:cNvPr id="2008" name="before check">
            <a:extLst>
              <a:ext uri="{FF2B5EF4-FFF2-40B4-BE49-F238E27FC236}">
                <a16:creationId xmlns:a16="http://schemas.microsoft.com/office/drawing/2014/main" id="{57D0C2DB-FBE1-4CAC-A407-59E2DC163A61}"/>
              </a:ext>
            </a:extLst>
          </p:cNvPr>
          <p:cNvSpPr>
            <a:spLocks noGrp="1"/>
          </p:cNvSpPr>
          <p:nvPr/>
        </p:nvSpPr>
        <p:spPr>
          <a:xfrm>
            <a:off x="1038225" y="3876675"/>
            <a:ext cx="4162425" cy="333375"/>
          </a:xfrm>
          <a:prstGeom prst="rect">
            <a:avLst/>
          </a:prstGeom>
          <a:noFill/>
          <a:ln w="0">
            <a:noFill/>
          </a:ln>
        </p:spPr>
        <p:txBody>
          <a:bodyPr lIns="0" tIns="0" rIns="0" bIns="0" anchor="ctr">
            <a:noAutofit/>
          </a:bodyPr>
          <a:lstStyle>
            <a:defPPr algn="l">
              <a:defRPr sz="1800" b="1">
                <a:solidFill>
                  <a:srgbClr val="B56220"/>
                </a:solidFill>
              </a:defRPr>
            </a:defPPr>
            <a:lvl1pPr algn="l">
              <a:defRPr sz="1800" b="1">
                <a:solidFill>
                  <a:srgbClr val="B56220"/>
                </a:solidFill>
              </a:defRPr>
            </a:lvl1pPr>
            <a:lvl2pPr algn="l">
              <a:defRPr sz="1800" b="1">
                <a:solidFill>
                  <a:srgbClr val="B56220"/>
                </a:solidFill>
              </a:defRPr>
            </a:lvl2pPr>
            <a:lvl3pPr algn="l">
              <a:defRPr sz="1800" b="1">
                <a:solidFill>
                  <a:srgbClr val="B56220"/>
                </a:solidFill>
              </a:defRPr>
            </a:lvl3pPr>
            <a:lvl4pPr algn="l">
              <a:defRPr sz="1800" b="1">
                <a:solidFill>
                  <a:srgbClr val="B56220"/>
                </a:solidFill>
              </a:defRPr>
            </a:lvl4pPr>
            <a:lvl5pPr algn="l">
              <a:defRPr sz="1800" b="1">
                <a:solidFill>
                  <a:srgbClr val="B56220"/>
                </a:solidFill>
              </a:defRPr>
            </a:lvl5pPr>
            <a:lvl6pPr algn="l">
              <a:defRPr sz="1800" b="1">
                <a:solidFill>
                  <a:srgbClr val="B56220"/>
                </a:solidFill>
              </a:defRPr>
            </a:lvl6pPr>
            <a:lvl7pPr algn="l">
              <a:defRPr sz="1800" b="1">
                <a:solidFill>
                  <a:srgbClr val="B56220"/>
                </a:solidFill>
              </a:defRPr>
            </a:lvl7pPr>
            <a:lvl8pPr algn="l">
              <a:defRPr sz="1800" b="1">
                <a:solidFill>
                  <a:srgbClr val="B56220"/>
                </a:solidFill>
              </a:defRPr>
            </a:lvl8pPr>
            <a:lvl9pPr algn="l">
              <a:defRPr sz="1800" b="1">
                <a:solidFill>
                  <a:srgbClr val="B56220"/>
                </a:solidFill>
              </a:defRPr>
            </a:lvl9pPr>
          </a:lstStyle>
          <a:p>
            <a:pPr algn="l">
              <a:defRPr sz="1800" b="1">
                <a:solidFill>
                  <a:srgbClr val="B56220"/>
                </a:solidFill>
              </a:defRPr>
            </a:pPr>
            <a:r>
              <a:rPr sz="1800" b="1">
                <a:solidFill>
                  <a:srgbClr val="B56220"/>
                </a:solidFill>
              </a:rPr>
              <a:t>CHECK FAILED</a:t>
            </a:r>
          </a:p>
        </p:txBody>
      </p:sp>
      <p:sp>
        <p:nvSpPr>
          <p:cNvPr id="2009" name="after heading">
            <a:extLst>
              <a:ext uri="{FF2B5EF4-FFF2-40B4-BE49-F238E27FC236}">
                <a16:creationId xmlns:a16="http://schemas.microsoft.com/office/drawing/2014/main" id="{3E9A64D5-3AC7-40D9-8AB3-27C199C839B9}"/>
              </a:ext>
            </a:extLst>
          </p:cNvPr>
          <p:cNvSpPr>
            <a:spLocks noGrp="1"/>
          </p:cNvSpPr>
          <p:nvPr/>
        </p:nvSpPr>
        <p:spPr>
          <a:xfrm>
            <a:off x="6486525" y="2466975"/>
            <a:ext cx="4162425" cy="333375"/>
          </a:xfrm>
          <a:prstGeom prst="rect">
            <a:avLst/>
          </a:prstGeom>
          <a:noFill/>
          <a:ln w="0">
            <a:noFill/>
          </a:ln>
        </p:spPr>
        <p:txBody>
          <a:bodyPr lIns="0" tIns="0" rIns="0" bIns="0" anchor="ctr">
            <a:noAutofit/>
          </a:bodyPr>
          <a:lstStyle>
            <a:defPPr algn="l">
              <a:defRPr sz="2025" b="1">
                <a:solidFill>
                  <a:srgbClr val="4F8734"/>
                </a:solidFill>
              </a:defRPr>
            </a:defPPr>
            <a:lvl1pPr algn="l">
              <a:defRPr sz="2025" b="1">
                <a:solidFill>
                  <a:srgbClr val="4F8734"/>
                </a:solidFill>
              </a:defRPr>
            </a:lvl1pPr>
            <a:lvl2pPr algn="l">
              <a:defRPr sz="2025" b="1">
                <a:solidFill>
                  <a:srgbClr val="4F8734"/>
                </a:solidFill>
              </a:defRPr>
            </a:lvl2pPr>
            <a:lvl3pPr algn="l">
              <a:defRPr sz="2025" b="1">
                <a:solidFill>
                  <a:srgbClr val="4F8734"/>
                </a:solidFill>
              </a:defRPr>
            </a:lvl3pPr>
            <a:lvl4pPr algn="l">
              <a:defRPr sz="2025" b="1">
                <a:solidFill>
                  <a:srgbClr val="4F8734"/>
                </a:solidFill>
              </a:defRPr>
            </a:lvl4pPr>
            <a:lvl5pPr algn="l">
              <a:defRPr sz="2025" b="1">
                <a:solidFill>
                  <a:srgbClr val="4F8734"/>
                </a:solidFill>
              </a:defRPr>
            </a:lvl5pPr>
            <a:lvl6pPr algn="l">
              <a:defRPr sz="2025" b="1">
                <a:solidFill>
                  <a:srgbClr val="4F8734"/>
                </a:solidFill>
              </a:defRPr>
            </a:lvl6pPr>
            <a:lvl7pPr algn="l">
              <a:defRPr sz="2025" b="1">
                <a:solidFill>
                  <a:srgbClr val="4F8734"/>
                </a:solidFill>
              </a:defRPr>
            </a:lvl7pPr>
            <a:lvl8pPr algn="l">
              <a:defRPr sz="2025" b="1">
                <a:solidFill>
                  <a:srgbClr val="4F8734"/>
                </a:solidFill>
              </a:defRPr>
            </a:lvl8pPr>
            <a:lvl9pPr algn="l">
              <a:defRPr sz="2025" b="1">
                <a:solidFill>
                  <a:srgbClr val="4F8734"/>
                </a:solidFill>
              </a:defRPr>
            </a:lvl9pPr>
          </a:lstStyle>
          <a:p>
            <a:pPr algn="l">
              <a:defRPr sz="2025" b="1">
                <a:solidFill>
                  <a:srgbClr val="4F8734"/>
                </a:solidFill>
              </a:defRPr>
            </a:pPr>
            <a:r>
              <a:rPr sz="2025" b="1">
                <a:solidFill>
                  <a:srgbClr val="4F8734"/>
                </a:solidFill>
              </a:rPr>
              <a:t>Corrected component</a:t>
            </a:r>
          </a:p>
        </p:txBody>
      </p:sp>
      <p:sp>
        <p:nvSpPr>
          <p:cNvPr id="2010" name="after condition">
            <a:extLst>
              <a:ext uri="{FF2B5EF4-FFF2-40B4-BE49-F238E27FC236}">
                <a16:creationId xmlns:a16="http://schemas.microsoft.com/office/drawing/2014/main" id="{4551C0BC-2F9C-4C54-9AE6-3828AC57101E}"/>
              </a:ext>
            </a:extLst>
          </p:cNvPr>
          <p:cNvSpPr>
            <a:spLocks noGrp="1"/>
          </p:cNvSpPr>
          <p:nvPr/>
        </p:nvSpPr>
        <p:spPr>
          <a:xfrm>
            <a:off x="6486525" y="3000375"/>
            <a:ext cx="4162425" cy="666750"/>
          </a:xfrm>
          <a:prstGeom prst="rect">
            <a:avLst/>
          </a:prstGeom>
          <a:noFill/>
          <a:ln w="0">
            <a:noFill/>
          </a:ln>
        </p:spPr>
        <p:txBody>
          <a:bodyPr lIns="0" tIns="0" rIns="0" bIns="0" anchor="ctr">
            <a:noAutofit/>
          </a:bodyPr>
          <a:lstStyle>
            <a:defPPr algn="l">
              <a:defRPr sz="2025" b="0">
                <a:solidFill>
                  <a:srgbClr val="303238"/>
                </a:solidFill>
              </a:defRPr>
            </a:defPPr>
            <a:lvl1pPr algn="l">
              <a:defRPr sz="2025" b="0">
                <a:solidFill>
                  <a:srgbClr val="303238"/>
                </a:solidFill>
              </a:defRPr>
            </a:lvl1pPr>
            <a:lvl2pPr algn="l">
              <a:defRPr sz="2025" b="0">
                <a:solidFill>
                  <a:srgbClr val="303238"/>
                </a:solidFill>
              </a:defRPr>
            </a:lvl2pPr>
            <a:lvl3pPr algn="l">
              <a:defRPr sz="2025" b="0">
                <a:solidFill>
                  <a:srgbClr val="303238"/>
                </a:solidFill>
              </a:defRPr>
            </a:lvl3pPr>
            <a:lvl4pPr algn="l">
              <a:defRPr sz="2025" b="0">
                <a:solidFill>
                  <a:srgbClr val="303238"/>
                </a:solidFill>
              </a:defRPr>
            </a:lvl4pPr>
            <a:lvl5pPr algn="l">
              <a:defRPr sz="2025" b="0">
                <a:solidFill>
                  <a:srgbClr val="303238"/>
                </a:solidFill>
              </a:defRPr>
            </a:lvl5pPr>
            <a:lvl6pPr algn="l">
              <a:defRPr sz="2025" b="0">
                <a:solidFill>
                  <a:srgbClr val="303238"/>
                </a:solidFill>
              </a:defRPr>
            </a:lvl6pPr>
            <a:lvl7pPr algn="l">
              <a:defRPr sz="2025" b="0">
                <a:solidFill>
                  <a:srgbClr val="303238"/>
                </a:solidFill>
              </a:defRPr>
            </a:lvl7pPr>
            <a:lvl8pPr algn="l">
              <a:defRPr sz="2025" b="0">
                <a:solidFill>
                  <a:srgbClr val="303238"/>
                </a:solidFill>
              </a:defRPr>
            </a:lvl8pPr>
            <a:lvl9pPr algn="l">
              <a:defRPr sz="2025" b="0">
                <a:solidFill>
                  <a:srgbClr val="303238"/>
                </a:solidFill>
              </a:defRPr>
            </a:lvl9pPr>
          </a:lstStyle>
          <a:p>
            <a:pPr algn="l">
              <a:defRPr sz="2025" b="0">
                <a:solidFill>
                  <a:srgbClr val="303238"/>
                </a:solidFill>
              </a:defRPr>
            </a:pPr>
            <a:r>
              <a:rPr sz="2025" b="0">
                <a:solidFill>
                  <a:srgbClr val="303238"/>
                </a:solidFill>
              </a:rPr>
              <a:t>Private key is absent from</a:t>
            </a:r>
          </a:p>
          <a:p>
            <a:pPr algn="l">
              <a:defRPr sz="2025" b="0">
                <a:solidFill>
                  <a:srgbClr val="303238"/>
                </a:solidFill>
              </a:defRPr>
            </a:pPr>
            <a:r>
              <a:rPr sz="2025" b="0">
                <a:solidFill>
                  <a:srgbClr val="303238"/>
                </a:solidFill>
              </a:rPr>
              <a:t>the browser response.</a:t>
            </a:r>
          </a:p>
        </p:txBody>
      </p:sp>
      <p:sp>
        <p:nvSpPr>
          <p:cNvPr id="2011" name="after check">
            <a:extLst>
              <a:ext uri="{FF2B5EF4-FFF2-40B4-BE49-F238E27FC236}">
                <a16:creationId xmlns:a16="http://schemas.microsoft.com/office/drawing/2014/main" id="{B81BBBD5-12E6-44DC-8320-096E2F85484D}"/>
              </a:ext>
            </a:extLst>
          </p:cNvPr>
          <p:cNvSpPr>
            <a:spLocks noGrp="1"/>
          </p:cNvSpPr>
          <p:nvPr/>
        </p:nvSpPr>
        <p:spPr>
          <a:xfrm>
            <a:off x="6486525" y="3876675"/>
            <a:ext cx="4162425" cy="333375"/>
          </a:xfrm>
          <a:prstGeom prst="rect">
            <a:avLst/>
          </a:prstGeom>
          <a:noFill/>
          <a:ln w="0">
            <a:noFill/>
          </a:ln>
        </p:spPr>
        <p:txBody>
          <a:bodyPr lIns="0" tIns="0" rIns="0" bIns="0" anchor="ctr">
            <a:noAutofit/>
          </a:bodyPr>
          <a:lstStyle>
            <a:defPPr algn="l">
              <a:defRPr sz="1800" b="1">
                <a:solidFill>
                  <a:srgbClr val="4F8734"/>
                </a:solidFill>
              </a:defRPr>
            </a:defPPr>
            <a:lvl1pPr algn="l">
              <a:defRPr sz="1800" b="1">
                <a:solidFill>
                  <a:srgbClr val="4F8734"/>
                </a:solidFill>
              </a:defRPr>
            </a:lvl1pPr>
            <a:lvl2pPr algn="l">
              <a:defRPr sz="1800" b="1">
                <a:solidFill>
                  <a:srgbClr val="4F8734"/>
                </a:solidFill>
              </a:defRPr>
            </a:lvl2pPr>
            <a:lvl3pPr algn="l">
              <a:defRPr sz="1800" b="1">
                <a:solidFill>
                  <a:srgbClr val="4F8734"/>
                </a:solidFill>
              </a:defRPr>
            </a:lvl3pPr>
            <a:lvl4pPr algn="l">
              <a:defRPr sz="1800" b="1">
                <a:solidFill>
                  <a:srgbClr val="4F8734"/>
                </a:solidFill>
              </a:defRPr>
            </a:lvl4pPr>
            <a:lvl5pPr algn="l">
              <a:defRPr sz="1800" b="1">
                <a:solidFill>
                  <a:srgbClr val="4F8734"/>
                </a:solidFill>
              </a:defRPr>
            </a:lvl5pPr>
            <a:lvl6pPr algn="l">
              <a:defRPr sz="1800" b="1">
                <a:solidFill>
                  <a:srgbClr val="4F8734"/>
                </a:solidFill>
              </a:defRPr>
            </a:lvl6pPr>
            <a:lvl7pPr algn="l">
              <a:defRPr sz="1800" b="1">
                <a:solidFill>
                  <a:srgbClr val="4F8734"/>
                </a:solidFill>
              </a:defRPr>
            </a:lvl7pPr>
            <a:lvl8pPr algn="l">
              <a:defRPr sz="1800" b="1">
                <a:solidFill>
                  <a:srgbClr val="4F8734"/>
                </a:solidFill>
              </a:defRPr>
            </a:lvl8pPr>
            <a:lvl9pPr algn="l">
              <a:defRPr sz="1800" b="1">
                <a:solidFill>
                  <a:srgbClr val="4F8734"/>
                </a:solidFill>
              </a:defRPr>
            </a:lvl9pPr>
          </a:lstStyle>
          <a:p>
            <a:pPr algn="l">
              <a:defRPr sz="1800" b="1">
                <a:solidFill>
                  <a:srgbClr val="4F8734"/>
                </a:solidFill>
              </a:defRPr>
            </a:pPr>
            <a:r>
              <a:rPr sz="1800" b="1">
                <a:solidFill>
                  <a:srgbClr val="4F8734"/>
                </a:solidFill>
              </a:rPr>
              <a:t>CHECK PASSED</a:t>
            </a:r>
          </a:p>
        </p:txBody>
      </p:sp>
      <p:sp>
        <p:nvSpPr>
          <p:cNvPr id="2013" name="decision">
            <a:extLst>
              <a:ext uri="{FF2B5EF4-FFF2-40B4-BE49-F238E27FC236}">
                <a16:creationId xmlns:a16="http://schemas.microsoft.com/office/drawing/2014/main" id="{CA88CA5B-22EB-47BA-820C-9198B88F3E72}"/>
              </a:ext>
            </a:extLst>
          </p:cNvPr>
          <p:cNvSpPr>
            <a:spLocks noGrp="1"/>
          </p:cNvSpPr>
          <p:nvPr/>
        </p:nvSpPr>
        <p:spPr>
          <a:xfrm>
            <a:off x="812864" y="4810125"/>
            <a:ext cx="10067925" cy="457200"/>
          </a:xfrm>
          <a:prstGeom prst="rect">
            <a:avLst/>
          </a:prstGeom>
          <a:noFill/>
          <a:ln w="0">
            <a:noFill/>
          </a:ln>
        </p:spPr>
        <p:txBody>
          <a:bodyPr lIns="0" tIns="0" rIns="0" bIns="0" anchor="ctr">
            <a:noAutofit/>
          </a:bodyPr>
          <a:lstStyle>
            <a:defPPr algn="l">
              <a:defRPr sz="2550" b="1">
                <a:solidFill>
                  <a:srgbClr val="303238"/>
                </a:solidFill>
              </a:defRPr>
            </a:defPPr>
            <a:lvl1pPr algn="l">
              <a:defRPr sz="2550" b="1">
                <a:solidFill>
                  <a:srgbClr val="303238"/>
                </a:solidFill>
              </a:defRPr>
            </a:lvl1pPr>
            <a:lvl2pPr algn="l">
              <a:defRPr sz="2550" b="1">
                <a:solidFill>
                  <a:srgbClr val="303238"/>
                </a:solidFill>
              </a:defRPr>
            </a:lvl2pPr>
            <a:lvl3pPr algn="l">
              <a:defRPr sz="2550" b="1">
                <a:solidFill>
                  <a:srgbClr val="303238"/>
                </a:solidFill>
              </a:defRPr>
            </a:lvl3pPr>
            <a:lvl4pPr algn="l">
              <a:defRPr sz="2550" b="1">
                <a:solidFill>
                  <a:srgbClr val="303238"/>
                </a:solidFill>
              </a:defRPr>
            </a:lvl4pPr>
            <a:lvl5pPr algn="l">
              <a:defRPr sz="2550" b="1">
                <a:solidFill>
                  <a:srgbClr val="303238"/>
                </a:solidFill>
              </a:defRPr>
            </a:lvl5pPr>
            <a:lvl6pPr algn="l">
              <a:defRPr sz="2550" b="1">
                <a:solidFill>
                  <a:srgbClr val="303238"/>
                </a:solidFill>
              </a:defRPr>
            </a:lvl6pPr>
            <a:lvl7pPr algn="l">
              <a:defRPr sz="2550" b="1">
                <a:solidFill>
                  <a:srgbClr val="303238"/>
                </a:solidFill>
              </a:defRPr>
            </a:lvl7pPr>
            <a:lvl8pPr algn="l">
              <a:defRPr sz="2550" b="1">
                <a:solidFill>
                  <a:srgbClr val="303238"/>
                </a:solidFill>
              </a:defRPr>
            </a:lvl8pPr>
            <a:lvl9pPr algn="l">
              <a:defRPr sz="2550" b="1">
                <a:solidFill>
                  <a:srgbClr val="303238"/>
                </a:solidFill>
              </a:defRPr>
            </a:lvl9pPr>
          </a:lstStyle>
          <a:p>
            <a:pPr algn="l">
              <a:defRPr sz="2550" b="1">
                <a:solidFill>
                  <a:srgbClr val="303238"/>
                </a:solidFill>
              </a:defRPr>
            </a:pPr>
            <a:r>
              <a:rPr sz="2550" b="1">
                <a:solidFill>
                  <a:srgbClr val="303238"/>
                </a:solidFill>
              </a:rPr>
              <a:t>Merge remains blocked</a:t>
            </a:r>
          </a:p>
        </p:txBody>
      </p:sp>
      <p:sp>
        <p:nvSpPr>
          <p:cNvPr id="2014" name="open work">
            <a:extLst>
              <a:ext uri="{FF2B5EF4-FFF2-40B4-BE49-F238E27FC236}">
                <a16:creationId xmlns:a16="http://schemas.microsoft.com/office/drawing/2014/main" id="{9B7AD701-02A4-45DC-9C2D-D6E2D32840A6}"/>
              </a:ext>
            </a:extLst>
          </p:cNvPr>
          <p:cNvSpPr>
            <a:spLocks noGrp="1"/>
          </p:cNvSpPr>
          <p:nvPr/>
        </p:nvSpPr>
        <p:spPr>
          <a:xfrm>
            <a:off x="812864" y="5334000"/>
            <a:ext cx="9810750" cy="361950"/>
          </a:xfrm>
          <a:prstGeom prst="rect">
            <a:avLst/>
          </a:prstGeom>
          <a:noFill/>
          <a:ln w="0">
            <a:noFill/>
          </a:ln>
        </p:spPr>
        <p:txBody>
          <a:bodyPr lIns="0" tIns="0" rIns="0" bIns="0" anchor="ctr">
            <a:noAutofit/>
          </a:bodyPr>
          <a:lstStyle>
            <a:defPPr algn="l">
              <a:defRPr sz="1875" b="0">
                <a:solidFill>
                  <a:srgbClr val="303238"/>
                </a:solidFill>
              </a:defRPr>
            </a:defPPr>
            <a:lvl1pPr algn="l">
              <a:defRPr sz="1875" b="0">
                <a:solidFill>
                  <a:srgbClr val="303238"/>
                </a:solidFill>
              </a:defRPr>
            </a:lvl1pPr>
            <a:lvl2pPr algn="l">
              <a:defRPr sz="1875" b="0">
                <a:solidFill>
                  <a:srgbClr val="303238"/>
                </a:solidFill>
              </a:defRPr>
            </a:lvl2pPr>
            <a:lvl3pPr algn="l">
              <a:defRPr sz="1875" b="0">
                <a:solidFill>
                  <a:srgbClr val="303238"/>
                </a:solidFill>
              </a:defRPr>
            </a:lvl3pPr>
            <a:lvl4pPr algn="l">
              <a:defRPr sz="1875" b="0">
                <a:solidFill>
                  <a:srgbClr val="303238"/>
                </a:solidFill>
              </a:defRPr>
            </a:lvl4pPr>
            <a:lvl5pPr algn="l">
              <a:defRPr sz="1875" b="0">
                <a:solidFill>
                  <a:srgbClr val="303238"/>
                </a:solidFill>
              </a:defRPr>
            </a:lvl5pPr>
            <a:lvl6pPr algn="l">
              <a:defRPr sz="1875" b="0">
                <a:solidFill>
                  <a:srgbClr val="303238"/>
                </a:solidFill>
              </a:defRPr>
            </a:lvl6pPr>
            <a:lvl7pPr algn="l">
              <a:defRPr sz="1875" b="0">
                <a:solidFill>
                  <a:srgbClr val="303238"/>
                </a:solidFill>
              </a:defRPr>
            </a:lvl7pPr>
            <a:lvl8pPr algn="l">
              <a:defRPr sz="1875" b="0">
                <a:solidFill>
                  <a:srgbClr val="303238"/>
                </a:solidFill>
              </a:defRPr>
            </a:lvl8pPr>
            <a:lvl9pPr algn="l">
              <a:defRPr sz="1875" b="0">
                <a:solidFill>
                  <a:srgbClr val="303238"/>
                </a:solidFill>
              </a:defRPr>
            </a:lvl9pPr>
          </a:lstStyle>
          <a:p>
            <a:pPr algn="l">
              <a:defRPr sz="1875" b="0">
                <a:solidFill>
                  <a:srgbClr val="303238"/>
                </a:solidFill>
              </a:defRPr>
            </a:pPr>
            <a:r>
              <a:rPr sz="1875" b="0">
                <a:solidFill>
                  <a:srgbClr val="303238"/>
                </a:solidFill>
              </a:rPr>
              <a:t>Required triage and human review remain open.</a:t>
            </a:r>
          </a:p>
        </p:txBody>
      </p:sp>
      <p:sp>
        <p:nvSpPr>
          <p:cNvPr id="2015" name="evidence scope">
            <a:extLst>
              <a:ext uri="{FF2B5EF4-FFF2-40B4-BE49-F238E27FC236}">
                <a16:creationId xmlns:a16="http://schemas.microsoft.com/office/drawing/2014/main" id="{826BD85A-0EA9-427F-9F27-14DE27D31C70}"/>
              </a:ext>
            </a:extLst>
          </p:cNvPr>
          <p:cNvSpPr>
            <a:spLocks noGrp="1"/>
          </p:cNvSpPr>
          <p:nvPr/>
        </p:nvSpPr>
        <p:spPr>
          <a:xfrm>
            <a:off x="812864" y="5915025"/>
            <a:ext cx="9525000" cy="266700"/>
          </a:xfrm>
          <a:prstGeom prst="rect">
            <a:avLst/>
          </a:prstGeom>
          <a:noFill/>
          <a:ln w="0">
            <a:noFill/>
          </a:ln>
        </p:spPr>
        <p:txBody>
          <a:bodyPr lIns="0" tIns="0" rIns="0" bIns="0" anchor="ctr">
            <a:noAutofit/>
          </a:bodyPr>
          <a:lstStyle>
            <a:defPPr algn="l">
              <a:defRPr sz="1350" b="0">
                <a:solidFill>
                  <a:srgbClr val="61666B"/>
                </a:solidFill>
              </a:defRPr>
            </a:defPPr>
            <a:lvl1pPr algn="l">
              <a:defRPr sz="1350" b="0">
                <a:solidFill>
                  <a:srgbClr val="61666B"/>
                </a:solidFill>
              </a:defRPr>
            </a:lvl1pPr>
            <a:lvl2pPr algn="l">
              <a:defRPr sz="1350" b="0">
                <a:solidFill>
                  <a:srgbClr val="61666B"/>
                </a:solidFill>
              </a:defRPr>
            </a:lvl2pPr>
            <a:lvl3pPr algn="l">
              <a:defRPr sz="1350" b="0">
                <a:solidFill>
                  <a:srgbClr val="61666B"/>
                </a:solidFill>
              </a:defRPr>
            </a:lvl3pPr>
            <a:lvl4pPr algn="l">
              <a:defRPr sz="1350" b="0">
                <a:solidFill>
                  <a:srgbClr val="61666B"/>
                </a:solidFill>
              </a:defRPr>
            </a:lvl4pPr>
            <a:lvl5pPr algn="l">
              <a:defRPr sz="1350" b="0">
                <a:solidFill>
                  <a:srgbClr val="61666B"/>
                </a:solidFill>
              </a:defRPr>
            </a:lvl5pPr>
            <a:lvl6pPr algn="l">
              <a:defRPr sz="1350" b="0">
                <a:solidFill>
                  <a:srgbClr val="61666B"/>
                </a:solidFill>
              </a:defRPr>
            </a:lvl6pPr>
            <a:lvl7pPr algn="l">
              <a:defRPr sz="1350" b="0">
                <a:solidFill>
                  <a:srgbClr val="61666B"/>
                </a:solidFill>
              </a:defRPr>
            </a:lvl7pPr>
            <a:lvl8pPr algn="l">
              <a:defRPr sz="1350" b="0">
                <a:solidFill>
                  <a:srgbClr val="61666B"/>
                </a:solidFill>
              </a:defRPr>
            </a:lvl8pPr>
            <a:lvl9pPr algn="l">
              <a:defRPr sz="1350" b="0">
                <a:solidFill>
                  <a:srgbClr val="61666B"/>
                </a:solidFill>
              </a:defRPr>
            </a:lvl9pPr>
          </a:lstStyle>
          <a:p>
            <a:pPr algn="l">
              <a:defRPr sz="1350" b="0">
                <a:solidFill>
                  <a:srgbClr val="61666B"/>
                </a:solidFill>
              </a:defRPr>
            </a:pPr>
            <a:r>
              <a:rPr sz="1350" b="0">
                <a:solidFill>
                  <a:srgbClr val="61666B"/>
                </a:solidFill>
              </a:rPr>
              <a:t>Captured 21 October 2026. Isolated component evidence.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cxnSp>
        <p:nvCxnSpPr>
          <p:cNvPr id="2010" name="Straight Arrow Connector 2009">
            <a:extLst>
              <a:ext uri="{FF2B5EF4-FFF2-40B4-BE49-F238E27FC236}">
                <a16:creationId xmlns:a16="http://schemas.microsoft.com/office/drawing/2014/main" id="{6D43E284-C63E-457A-95E4-31849472E041}"/>
              </a:ext>
            </a:extLst>
          </p:cNvPr>
          <p:cNvCxnSpPr>
            <a:stCxn id="2004" idx="2"/>
            <a:endCxn id="2007" idx="0"/>
          </p:cNvCxnSpPr>
          <p:nvPr/>
        </p:nvCxnSpPr>
        <p:spPr>
          <a:xfrm>
            <a:off x="2908364" y="3505200"/>
            <a:ext cx="0" cy="523875"/>
          </a:xfrm>
          <a:prstGeom prst="straightConnector1">
            <a:avLst/>
          </a:prstGeom>
          <a:ln w="19050">
            <a:solidFill>
              <a:srgbClr val="4F8734"/>
            </a:solidFill>
            <a:tailEnd type="triangle" w="med" len="med"/>
          </a:ln>
        </p:spPr>
      </p:cxnSp>
      <p:sp>
        <p:nvSpPr>
          <p:cNvPr id="2018" name="title">
            <a:extLst>
              <a:ext uri="{FF2B5EF4-FFF2-40B4-BE49-F238E27FC236}">
                <a16:creationId xmlns:a16="http://schemas.microsoft.com/office/drawing/2014/main" id="{DA3541BF-1F78-48FF-A4FF-5748E080FCBA}"/>
              </a:ext>
            </a:extLst>
          </p:cNvPr>
          <p:cNvSpPr>
            <a:spLocks noGrp="1"/>
          </p:cNvSpPr>
          <p:nvPr/>
        </p:nvSpPr>
        <p:spPr>
          <a:xfrm>
            <a:off x="812864" y="819150"/>
            <a:ext cx="10572750" cy="514350"/>
          </a:xfrm>
          <a:prstGeom prst="rect">
            <a:avLst/>
          </a:prstGeom>
          <a:noFill/>
          <a:ln w="0">
            <a:noFill/>
          </a:ln>
        </p:spPr>
        <p:txBody>
          <a:bodyPr lIns="0" tIns="0" rIns="0" bIns="0" anchor="ctr">
            <a:noAutofit/>
          </a:bodyPr>
          <a:lstStyle>
            <a:defPPr algn="l">
              <a:defRPr sz="3000" b="1">
                <a:solidFill>
                  <a:srgbClr val="4F8734"/>
                </a:solidFill>
              </a:defRPr>
            </a:defPPr>
            <a:lvl1pPr algn="l">
              <a:defRPr sz="3000" b="1">
                <a:solidFill>
                  <a:srgbClr val="4F8734"/>
                </a:solidFill>
              </a:defRPr>
            </a:lvl1pPr>
            <a:lvl2pPr algn="l">
              <a:defRPr sz="3000" b="1">
                <a:solidFill>
                  <a:srgbClr val="4F8734"/>
                </a:solidFill>
              </a:defRPr>
            </a:lvl2pPr>
            <a:lvl3pPr algn="l">
              <a:defRPr sz="3000" b="1">
                <a:solidFill>
                  <a:srgbClr val="4F8734"/>
                </a:solidFill>
              </a:defRPr>
            </a:lvl3pPr>
            <a:lvl4pPr algn="l">
              <a:defRPr sz="3000" b="1">
                <a:solidFill>
                  <a:srgbClr val="4F8734"/>
                </a:solidFill>
              </a:defRPr>
            </a:lvl4pPr>
            <a:lvl5pPr algn="l">
              <a:defRPr sz="3000" b="1">
                <a:solidFill>
                  <a:srgbClr val="4F8734"/>
                </a:solidFill>
              </a:defRPr>
            </a:lvl5pPr>
            <a:lvl6pPr algn="l">
              <a:defRPr sz="3000" b="1">
                <a:solidFill>
                  <a:srgbClr val="4F8734"/>
                </a:solidFill>
              </a:defRPr>
            </a:lvl6pPr>
            <a:lvl7pPr algn="l">
              <a:defRPr sz="3000" b="1">
                <a:solidFill>
                  <a:srgbClr val="4F8734"/>
                </a:solidFill>
              </a:defRPr>
            </a:lvl7pPr>
            <a:lvl8pPr algn="l">
              <a:defRPr sz="3000" b="1">
                <a:solidFill>
                  <a:srgbClr val="4F8734"/>
                </a:solidFill>
              </a:defRPr>
            </a:lvl8pPr>
            <a:lvl9pPr algn="l">
              <a:defRPr sz="3000" b="1">
                <a:solidFill>
                  <a:srgbClr val="4F8734"/>
                </a:solidFill>
              </a:defRPr>
            </a:lvl9pPr>
          </a:lstStyle>
          <a:p>
            <a:pPr algn="l">
              <a:defRPr sz="3000" b="1">
                <a:solidFill>
                  <a:srgbClr val="4F8734"/>
                </a:solidFill>
              </a:defRPr>
            </a:pPr>
            <a:r>
              <a:rPr sz="3000" b="1">
                <a:solidFill>
                  <a:srgbClr val="4F8734"/>
                </a:solidFill>
              </a:rPr>
              <a:t>A corrected patch, then a clean comment</a:t>
            </a:r>
          </a:p>
        </p:txBody>
      </p:sp>
      <p:sp>
        <p:nvSpPr>
          <p:cNvPr id="2002" name="subtitle">
            <a:extLst>
              <a:ext uri="{FF2B5EF4-FFF2-40B4-BE49-F238E27FC236}">
                <a16:creationId xmlns:a16="http://schemas.microsoft.com/office/drawing/2014/main" id="{FB345F8A-0D83-4028-8D5F-04152E2E6E6A}"/>
              </a:ext>
            </a:extLst>
          </p:cNvPr>
          <p:cNvSpPr>
            <a:spLocks noGrp="1"/>
          </p:cNvSpPr>
          <p:nvPr/>
        </p:nvSpPr>
        <p:spPr>
          <a:xfrm>
            <a:off x="812864" y="1409700"/>
            <a:ext cx="10572750" cy="523875"/>
          </a:xfrm>
          <a:prstGeom prst="rect">
            <a:avLst/>
          </a:prstGeom>
          <a:noFill/>
          <a:ln w="0">
            <a:noFill/>
          </a:ln>
        </p:spPr>
        <p:txBody>
          <a:bodyPr lIns="0" tIns="0" rIns="0" bIns="0" anchor="ctr">
            <a:noAutofit/>
          </a:bodyPr>
          <a:lstStyle>
            <a:defPPr algn="l">
              <a:defRPr sz="1725" b="0">
                <a:solidFill>
                  <a:srgbClr val="303238"/>
                </a:solidFill>
              </a:defRPr>
            </a:defPPr>
            <a:lvl1pPr algn="l">
              <a:defRPr sz="1725" b="0">
                <a:solidFill>
                  <a:srgbClr val="303238"/>
                </a:solidFill>
              </a:defRPr>
            </a:lvl1pPr>
            <a:lvl2pPr algn="l">
              <a:defRPr sz="1725" b="0">
                <a:solidFill>
                  <a:srgbClr val="303238"/>
                </a:solidFill>
              </a:defRPr>
            </a:lvl2pPr>
            <a:lvl3pPr algn="l">
              <a:defRPr sz="1725" b="0">
                <a:solidFill>
                  <a:srgbClr val="303238"/>
                </a:solidFill>
              </a:defRPr>
            </a:lvl3pPr>
            <a:lvl4pPr algn="l">
              <a:defRPr sz="1725" b="0">
                <a:solidFill>
                  <a:srgbClr val="303238"/>
                </a:solidFill>
              </a:defRPr>
            </a:lvl4pPr>
            <a:lvl5pPr algn="l">
              <a:defRPr sz="1725" b="0">
                <a:solidFill>
                  <a:srgbClr val="303238"/>
                </a:solidFill>
              </a:defRPr>
            </a:lvl5pPr>
            <a:lvl6pPr algn="l">
              <a:defRPr sz="1725" b="0">
                <a:solidFill>
                  <a:srgbClr val="303238"/>
                </a:solidFill>
              </a:defRPr>
            </a:lvl6pPr>
            <a:lvl7pPr algn="l">
              <a:defRPr sz="1725" b="0">
                <a:solidFill>
                  <a:srgbClr val="303238"/>
                </a:solidFill>
              </a:defRPr>
            </a:lvl7pPr>
            <a:lvl8pPr algn="l">
              <a:defRPr sz="1725" b="0">
                <a:solidFill>
                  <a:srgbClr val="303238"/>
                </a:solidFill>
              </a:defRPr>
            </a:lvl8pPr>
            <a:lvl9pPr algn="l">
              <a:defRPr sz="1725" b="0">
                <a:solidFill>
                  <a:srgbClr val="303238"/>
                </a:solidFill>
              </a:defRPr>
            </a:lvl9pPr>
          </a:lstStyle>
          <a:p>
            <a:pPr algn="l">
              <a:defRPr sz="1725" b="0">
                <a:solidFill>
                  <a:srgbClr val="303238"/>
                </a:solidFill>
              </a:defRPr>
            </a:pPr>
            <a:r>
              <a:rPr sz="1725" b="0">
                <a:solidFill>
                  <a:srgbClr val="303238"/>
                </a:solidFill>
              </a:rPr>
              <a:t>OpenEMR PR #11958: a separate Claude Code-assisted CSRF fix.</a:t>
            </a:r>
          </a:p>
        </p:txBody>
      </p:sp>
      <p:sp>
        <p:nvSpPr>
          <p:cNvPr id="2003" name="conference footer">
            <a:extLst>
              <a:ext uri="{FF2B5EF4-FFF2-40B4-BE49-F238E27FC236}">
                <a16:creationId xmlns:a16="http://schemas.microsoft.com/office/drawing/2014/main" id="{13198B6F-FB73-42E9-9CDA-588671B18784}"/>
              </a:ext>
            </a:extLst>
          </p:cNvPr>
          <p:cNvSpPr>
            <a:spLocks noGrp="1"/>
          </p:cNvSpPr>
          <p:nvPr/>
        </p:nvSpPr>
        <p:spPr>
          <a:xfrm>
            <a:off x="7258050" y="6448425"/>
            <a:ext cx="3333750" cy="209550"/>
          </a:xfrm>
          <a:prstGeom prst="rect">
            <a:avLst/>
          </a:prstGeom>
          <a:noFill/>
          <a:ln w="0">
            <a:noFill/>
          </a:ln>
        </p:spPr>
        <p:txBody>
          <a:bodyPr lIns="0" tIns="0" rIns="0" bIns="0" anchor="ctr">
            <a:noAutofit/>
          </a:bodyPr>
          <a:lstStyle>
            <a:defPPr algn="l">
              <a:defRPr sz="1050" b="0">
                <a:solidFill>
                  <a:srgbClr val="8A8A8A"/>
                </a:solidFill>
              </a:defRPr>
            </a:defPPr>
            <a:lvl1pPr algn="l">
              <a:defRPr sz="1050" b="0">
                <a:solidFill>
                  <a:srgbClr val="8A8A8A"/>
                </a:solidFill>
              </a:defRPr>
            </a:lvl1pPr>
            <a:lvl2pPr algn="l">
              <a:defRPr sz="1050" b="0">
                <a:solidFill>
                  <a:srgbClr val="8A8A8A"/>
                </a:solidFill>
              </a:defRPr>
            </a:lvl2pPr>
            <a:lvl3pPr algn="l">
              <a:defRPr sz="1050" b="0">
                <a:solidFill>
                  <a:srgbClr val="8A8A8A"/>
                </a:solidFill>
              </a:defRPr>
            </a:lvl3pPr>
            <a:lvl4pPr algn="l">
              <a:defRPr sz="1050" b="0">
                <a:solidFill>
                  <a:srgbClr val="8A8A8A"/>
                </a:solidFill>
              </a:defRPr>
            </a:lvl4pPr>
            <a:lvl5pPr algn="l">
              <a:defRPr sz="1050" b="0">
                <a:solidFill>
                  <a:srgbClr val="8A8A8A"/>
                </a:solidFill>
              </a:defRPr>
            </a:lvl5pPr>
            <a:lvl6pPr algn="l">
              <a:defRPr sz="1050" b="0">
                <a:solidFill>
                  <a:srgbClr val="8A8A8A"/>
                </a:solidFill>
              </a:defRPr>
            </a:lvl6pPr>
            <a:lvl7pPr algn="l">
              <a:defRPr sz="1050" b="0">
                <a:solidFill>
                  <a:srgbClr val="8A8A8A"/>
                </a:solidFill>
              </a:defRPr>
            </a:lvl7pPr>
            <a:lvl8pPr algn="l">
              <a:defRPr sz="1050" b="0">
                <a:solidFill>
                  <a:srgbClr val="8A8A8A"/>
                </a:solidFill>
              </a:defRPr>
            </a:lvl8pPr>
            <a:lvl9pPr algn="l">
              <a:defRPr sz="1050" b="0">
                <a:solidFill>
                  <a:srgbClr val="8A8A8A"/>
                </a:solidFill>
              </a:defRPr>
            </a:lvl9pPr>
          </a:lstStyle>
          <a:p>
            <a:pPr algn="l">
              <a:defRPr sz="1050" b="0">
                <a:solidFill>
                  <a:srgbClr val="8A8A8A"/>
                </a:solidFill>
              </a:defRPr>
            </a:pPr>
            <a:r>
              <a:rPr sz="1050" b="0">
                <a:solidFill>
                  <a:srgbClr val="8A8A8A"/>
                </a:solidFill>
              </a:rPr>
              <a:t>ISC2.org/Congress | #ISC2Congress</a:t>
            </a:r>
          </a:p>
        </p:txBody>
      </p:sp>
      <p:sp>
        <p:nvSpPr>
          <p:cNvPr id="2004" name="initial revision">
            <a:extLst>
              <a:ext uri="{FF2B5EF4-FFF2-40B4-BE49-F238E27FC236}">
                <a16:creationId xmlns:a16="http://schemas.microsoft.com/office/drawing/2014/main" id="{ED551247-B16C-4F6E-A271-792521257B5A}"/>
              </a:ext>
            </a:extLst>
          </p:cNvPr>
          <p:cNvSpPr>
            <a:spLocks noGrp="1"/>
          </p:cNvSpPr>
          <p:nvPr/>
        </p:nvSpPr>
        <p:spPr>
          <a:xfrm>
            <a:off x="812864" y="2257425"/>
            <a:ext cx="4191000" cy="1247775"/>
          </a:xfrm>
          <a:prstGeom prst="roundRect">
            <a:avLst>
              <a:gd name="adj" fmla="val 6107"/>
            </a:avLst>
          </a:prstGeom>
          <a:solidFill>
            <a:srgbClr val="F2F6F7"/>
          </a:solidFill>
          <a:ln w="9525">
            <a:solidFill>
              <a:srgbClr val="D7DDD4"/>
            </a:solidFill>
          </a:ln>
        </p:spPr>
        <p:txBody>
          <a:bodyPr/>
          <a:lstStyle/>
          <a:p>
            <a:endParaRPr lang="en-US"/>
          </a:p>
        </p:txBody>
      </p:sp>
      <p:sp>
        <p:nvSpPr>
          <p:cNvPr id="2005" name="initial heading">
            <a:extLst>
              <a:ext uri="{FF2B5EF4-FFF2-40B4-BE49-F238E27FC236}">
                <a16:creationId xmlns:a16="http://schemas.microsoft.com/office/drawing/2014/main" id="{AA2B0E49-21A5-4487-8CC8-4BB74E387D68}"/>
              </a:ext>
            </a:extLst>
          </p:cNvPr>
          <p:cNvSpPr>
            <a:spLocks noGrp="1"/>
          </p:cNvSpPr>
          <p:nvPr/>
        </p:nvSpPr>
        <p:spPr>
          <a:xfrm>
            <a:off x="1038225" y="2390775"/>
            <a:ext cx="3733800" cy="333375"/>
          </a:xfrm>
          <a:prstGeom prst="rect">
            <a:avLst/>
          </a:prstGeom>
          <a:noFill/>
          <a:ln w="0">
            <a:noFill/>
          </a:ln>
        </p:spPr>
        <p:txBody>
          <a:bodyPr lIns="0" tIns="0" rIns="0" bIns="0" anchor="ctr">
            <a:noAutofit/>
          </a:bodyPr>
          <a:lstStyle>
            <a:defPPr algn="l">
              <a:defRPr sz="2025" b="1">
                <a:solidFill>
                  <a:srgbClr val="0086AC"/>
                </a:solidFill>
              </a:defRPr>
            </a:defPPr>
            <a:lvl1pPr algn="l">
              <a:defRPr sz="2025" b="1">
                <a:solidFill>
                  <a:srgbClr val="0086AC"/>
                </a:solidFill>
              </a:defRPr>
            </a:lvl1pPr>
            <a:lvl2pPr algn="l">
              <a:defRPr sz="2025" b="1">
                <a:solidFill>
                  <a:srgbClr val="0086AC"/>
                </a:solidFill>
              </a:defRPr>
            </a:lvl2pPr>
            <a:lvl3pPr algn="l">
              <a:defRPr sz="2025" b="1">
                <a:solidFill>
                  <a:srgbClr val="0086AC"/>
                </a:solidFill>
              </a:defRPr>
            </a:lvl3pPr>
            <a:lvl4pPr algn="l">
              <a:defRPr sz="2025" b="1">
                <a:solidFill>
                  <a:srgbClr val="0086AC"/>
                </a:solidFill>
              </a:defRPr>
            </a:lvl4pPr>
            <a:lvl5pPr algn="l">
              <a:defRPr sz="2025" b="1">
                <a:solidFill>
                  <a:srgbClr val="0086AC"/>
                </a:solidFill>
              </a:defRPr>
            </a:lvl5pPr>
            <a:lvl6pPr algn="l">
              <a:defRPr sz="2025" b="1">
                <a:solidFill>
                  <a:srgbClr val="0086AC"/>
                </a:solidFill>
              </a:defRPr>
            </a:lvl6pPr>
            <a:lvl7pPr algn="l">
              <a:defRPr sz="2025" b="1">
                <a:solidFill>
                  <a:srgbClr val="0086AC"/>
                </a:solidFill>
              </a:defRPr>
            </a:lvl7pPr>
            <a:lvl8pPr algn="l">
              <a:defRPr sz="2025" b="1">
                <a:solidFill>
                  <a:srgbClr val="0086AC"/>
                </a:solidFill>
              </a:defRPr>
            </a:lvl8pPr>
            <a:lvl9pPr algn="l">
              <a:defRPr sz="2025" b="1">
                <a:solidFill>
                  <a:srgbClr val="0086AC"/>
                </a:solidFill>
              </a:defRPr>
            </a:lvl9pPr>
          </a:lstStyle>
          <a:p>
            <a:pPr algn="l">
              <a:defRPr sz="2025" b="1">
                <a:solidFill>
                  <a:srgbClr val="0086AC"/>
                </a:solidFill>
              </a:defRPr>
            </a:pPr>
            <a:r>
              <a:rPr sz="2025" b="1">
                <a:solidFill>
                  <a:srgbClr val="0086AC"/>
                </a:solidFill>
              </a:rPr>
              <a:t>Initial patch  23c7239</a:t>
            </a:r>
          </a:p>
        </p:txBody>
      </p:sp>
      <p:sp>
        <p:nvSpPr>
          <p:cNvPr id="2006" name="initial finding">
            <a:extLst>
              <a:ext uri="{FF2B5EF4-FFF2-40B4-BE49-F238E27FC236}">
                <a16:creationId xmlns:a16="http://schemas.microsoft.com/office/drawing/2014/main" id="{76BA0E0B-74DD-401A-87D8-A45F4A2FE061}"/>
              </a:ext>
            </a:extLst>
          </p:cNvPr>
          <p:cNvSpPr>
            <a:spLocks noGrp="1"/>
          </p:cNvSpPr>
          <p:nvPr/>
        </p:nvSpPr>
        <p:spPr>
          <a:xfrm>
            <a:off x="1038225" y="2828925"/>
            <a:ext cx="3733800" cy="514350"/>
          </a:xfrm>
          <a:prstGeom prst="rect">
            <a:avLst/>
          </a:prstGeom>
          <a:noFill/>
          <a:ln w="0">
            <a:noFill/>
          </a:ln>
        </p:spPr>
        <p:txBody>
          <a:bodyPr lIns="0" tIns="0" rIns="0" bIns="0" anchor="ctr">
            <a:noAutofit/>
          </a:bodyPr>
          <a:lstStyle>
            <a:defPPr algn="l">
              <a:defRPr sz="1800" b="0">
                <a:solidFill>
                  <a:srgbClr val="303238"/>
                </a:solidFill>
              </a:defRPr>
            </a:defPPr>
            <a:lvl1pPr algn="l">
              <a:defRPr sz="1800" b="0">
                <a:solidFill>
                  <a:srgbClr val="303238"/>
                </a:solidFill>
              </a:defRPr>
            </a:lvl1pPr>
            <a:lvl2pPr algn="l">
              <a:defRPr sz="1800" b="0">
                <a:solidFill>
                  <a:srgbClr val="303238"/>
                </a:solidFill>
              </a:defRPr>
            </a:lvl2pPr>
            <a:lvl3pPr algn="l">
              <a:defRPr sz="1800" b="0">
                <a:solidFill>
                  <a:srgbClr val="303238"/>
                </a:solidFill>
              </a:defRPr>
            </a:lvl3pPr>
            <a:lvl4pPr algn="l">
              <a:defRPr sz="1800" b="0">
                <a:solidFill>
                  <a:srgbClr val="303238"/>
                </a:solidFill>
              </a:defRPr>
            </a:lvl4pPr>
            <a:lvl5pPr algn="l">
              <a:defRPr sz="1800" b="0">
                <a:solidFill>
                  <a:srgbClr val="303238"/>
                </a:solidFill>
              </a:defRPr>
            </a:lvl5pPr>
            <a:lvl6pPr algn="l">
              <a:defRPr sz="1800" b="0">
                <a:solidFill>
                  <a:srgbClr val="303238"/>
                </a:solidFill>
              </a:defRPr>
            </a:lvl6pPr>
            <a:lvl7pPr algn="l">
              <a:defRPr sz="1800" b="0">
                <a:solidFill>
                  <a:srgbClr val="303238"/>
                </a:solidFill>
              </a:defRPr>
            </a:lvl7pPr>
            <a:lvl8pPr algn="l">
              <a:defRPr sz="1800" b="0">
                <a:solidFill>
                  <a:srgbClr val="303238"/>
                </a:solidFill>
              </a:defRPr>
            </a:lvl8pPr>
            <a:lvl9pPr algn="l">
              <a:defRPr sz="1800" b="0">
                <a:solidFill>
                  <a:srgbClr val="303238"/>
                </a:solidFill>
              </a:defRPr>
            </a:lvl9pPr>
          </a:lstStyle>
          <a:p>
            <a:pPr algn="l">
              <a:defRPr sz="1800" b="0">
                <a:solidFill>
                  <a:srgbClr val="303238"/>
                </a:solidFill>
              </a:defRPr>
            </a:pPr>
            <a:r>
              <a:rPr sz="1800" b="0">
                <a:solidFill>
                  <a:srgbClr val="303238"/>
                </a:solidFill>
              </a:rPr>
              <a:t>AISLE finds missing server-side</a:t>
            </a:r>
          </a:p>
          <a:p>
            <a:pPr algn="l">
              <a:defRPr sz="1800" b="0">
                <a:solidFill>
                  <a:srgbClr val="303238"/>
                </a:solidFill>
              </a:defRPr>
            </a:pPr>
            <a:r>
              <a:rPr sz="1800" b="0">
                <a:solidFill>
                  <a:srgbClr val="303238"/>
                </a:solidFill>
              </a:rPr>
              <a:t>CSRF validation.</a:t>
            </a:r>
          </a:p>
        </p:txBody>
      </p:sp>
      <p:sp>
        <p:nvSpPr>
          <p:cNvPr id="2007" name="corrected revision">
            <a:extLst>
              <a:ext uri="{FF2B5EF4-FFF2-40B4-BE49-F238E27FC236}">
                <a16:creationId xmlns:a16="http://schemas.microsoft.com/office/drawing/2014/main" id="{69EA5FF1-5681-43A3-AE5F-FE6974C14478}"/>
              </a:ext>
            </a:extLst>
          </p:cNvPr>
          <p:cNvSpPr>
            <a:spLocks noGrp="1"/>
          </p:cNvSpPr>
          <p:nvPr/>
        </p:nvSpPr>
        <p:spPr>
          <a:xfrm>
            <a:off x="812864" y="4029075"/>
            <a:ext cx="4191000" cy="1247775"/>
          </a:xfrm>
          <a:prstGeom prst="roundRect">
            <a:avLst>
              <a:gd name="adj" fmla="val 6107"/>
            </a:avLst>
          </a:prstGeom>
          <a:solidFill>
            <a:srgbClr val="EDF4E7"/>
          </a:solidFill>
          <a:ln w="9525">
            <a:solidFill>
              <a:srgbClr val="D7DDD4"/>
            </a:solidFill>
          </a:ln>
        </p:spPr>
        <p:txBody>
          <a:bodyPr/>
          <a:lstStyle/>
          <a:p>
            <a:endParaRPr lang="en-US"/>
          </a:p>
        </p:txBody>
      </p:sp>
      <p:sp>
        <p:nvSpPr>
          <p:cNvPr id="2008" name="corrected heading">
            <a:extLst>
              <a:ext uri="{FF2B5EF4-FFF2-40B4-BE49-F238E27FC236}">
                <a16:creationId xmlns:a16="http://schemas.microsoft.com/office/drawing/2014/main" id="{8F582607-6AE2-4E01-8683-E31DAF7D8EA6}"/>
              </a:ext>
            </a:extLst>
          </p:cNvPr>
          <p:cNvSpPr>
            <a:spLocks noGrp="1"/>
          </p:cNvSpPr>
          <p:nvPr/>
        </p:nvSpPr>
        <p:spPr>
          <a:xfrm>
            <a:off x="1038225" y="4171950"/>
            <a:ext cx="3733800" cy="333375"/>
          </a:xfrm>
          <a:prstGeom prst="rect">
            <a:avLst/>
          </a:prstGeom>
          <a:noFill/>
          <a:ln w="0">
            <a:noFill/>
          </a:ln>
        </p:spPr>
        <p:txBody>
          <a:bodyPr lIns="0" tIns="0" rIns="0" bIns="0" anchor="ctr">
            <a:noAutofit/>
          </a:bodyPr>
          <a:lstStyle>
            <a:defPPr algn="l">
              <a:defRPr sz="2025" b="1">
                <a:solidFill>
                  <a:srgbClr val="4F8734"/>
                </a:solidFill>
              </a:defRPr>
            </a:defPPr>
            <a:lvl1pPr algn="l">
              <a:defRPr sz="2025" b="1">
                <a:solidFill>
                  <a:srgbClr val="4F8734"/>
                </a:solidFill>
              </a:defRPr>
            </a:lvl1pPr>
            <a:lvl2pPr algn="l">
              <a:defRPr sz="2025" b="1">
                <a:solidFill>
                  <a:srgbClr val="4F8734"/>
                </a:solidFill>
              </a:defRPr>
            </a:lvl2pPr>
            <a:lvl3pPr algn="l">
              <a:defRPr sz="2025" b="1">
                <a:solidFill>
                  <a:srgbClr val="4F8734"/>
                </a:solidFill>
              </a:defRPr>
            </a:lvl3pPr>
            <a:lvl4pPr algn="l">
              <a:defRPr sz="2025" b="1">
                <a:solidFill>
                  <a:srgbClr val="4F8734"/>
                </a:solidFill>
              </a:defRPr>
            </a:lvl4pPr>
            <a:lvl5pPr algn="l">
              <a:defRPr sz="2025" b="1">
                <a:solidFill>
                  <a:srgbClr val="4F8734"/>
                </a:solidFill>
              </a:defRPr>
            </a:lvl5pPr>
            <a:lvl6pPr algn="l">
              <a:defRPr sz="2025" b="1">
                <a:solidFill>
                  <a:srgbClr val="4F8734"/>
                </a:solidFill>
              </a:defRPr>
            </a:lvl6pPr>
            <a:lvl7pPr algn="l">
              <a:defRPr sz="2025" b="1">
                <a:solidFill>
                  <a:srgbClr val="4F8734"/>
                </a:solidFill>
              </a:defRPr>
            </a:lvl7pPr>
            <a:lvl8pPr algn="l">
              <a:defRPr sz="2025" b="1">
                <a:solidFill>
                  <a:srgbClr val="4F8734"/>
                </a:solidFill>
              </a:defRPr>
            </a:lvl8pPr>
            <a:lvl9pPr algn="l">
              <a:defRPr sz="2025" b="1">
                <a:solidFill>
                  <a:srgbClr val="4F8734"/>
                </a:solidFill>
              </a:defRPr>
            </a:lvl9pPr>
          </a:lstStyle>
          <a:p>
            <a:pPr algn="l">
              <a:defRPr sz="2025" b="1">
                <a:solidFill>
                  <a:srgbClr val="4F8734"/>
                </a:solidFill>
              </a:defRPr>
            </a:pPr>
            <a:r>
              <a:rPr sz="2025" b="1">
                <a:solidFill>
                  <a:srgbClr val="4F8734"/>
                </a:solidFill>
              </a:rPr>
              <a:t>Correction  cf2edc3</a:t>
            </a:r>
          </a:p>
        </p:txBody>
      </p:sp>
      <p:sp>
        <p:nvSpPr>
          <p:cNvPr id="2009" name="corrected fact">
            <a:extLst>
              <a:ext uri="{FF2B5EF4-FFF2-40B4-BE49-F238E27FC236}">
                <a16:creationId xmlns:a16="http://schemas.microsoft.com/office/drawing/2014/main" id="{604AC558-8E5D-4303-9D35-9899EEFD6486}"/>
              </a:ext>
            </a:extLst>
          </p:cNvPr>
          <p:cNvSpPr>
            <a:spLocks noGrp="1"/>
          </p:cNvSpPr>
          <p:nvPr/>
        </p:nvSpPr>
        <p:spPr>
          <a:xfrm>
            <a:off x="1038225" y="4638675"/>
            <a:ext cx="3733800" cy="428625"/>
          </a:xfrm>
          <a:prstGeom prst="rect">
            <a:avLst/>
          </a:prstGeom>
          <a:noFill/>
          <a:ln w="0">
            <a:noFill/>
          </a:ln>
        </p:spPr>
        <p:txBody>
          <a:bodyPr lIns="0" tIns="0" rIns="0" bIns="0" anchor="ctr">
            <a:noAutofit/>
          </a:bodyPr>
          <a:lstStyle>
            <a:defPPr algn="l">
              <a:defRPr sz="1800" b="0">
                <a:solidFill>
                  <a:srgbClr val="303238"/>
                </a:solidFill>
              </a:defRPr>
            </a:defPPr>
            <a:lvl1pPr algn="l">
              <a:defRPr sz="1800" b="0">
                <a:solidFill>
                  <a:srgbClr val="303238"/>
                </a:solidFill>
              </a:defRPr>
            </a:lvl1pPr>
            <a:lvl2pPr algn="l">
              <a:defRPr sz="1800" b="0">
                <a:solidFill>
                  <a:srgbClr val="303238"/>
                </a:solidFill>
              </a:defRPr>
            </a:lvl2pPr>
            <a:lvl3pPr algn="l">
              <a:defRPr sz="1800" b="0">
                <a:solidFill>
                  <a:srgbClr val="303238"/>
                </a:solidFill>
              </a:defRPr>
            </a:lvl3pPr>
            <a:lvl4pPr algn="l">
              <a:defRPr sz="1800" b="0">
                <a:solidFill>
                  <a:srgbClr val="303238"/>
                </a:solidFill>
              </a:defRPr>
            </a:lvl4pPr>
            <a:lvl5pPr algn="l">
              <a:defRPr sz="1800" b="0">
                <a:solidFill>
                  <a:srgbClr val="303238"/>
                </a:solidFill>
              </a:defRPr>
            </a:lvl5pPr>
            <a:lvl6pPr algn="l">
              <a:defRPr sz="1800" b="0">
                <a:solidFill>
                  <a:srgbClr val="303238"/>
                </a:solidFill>
              </a:defRPr>
            </a:lvl6pPr>
            <a:lvl7pPr algn="l">
              <a:defRPr sz="1800" b="0">
                <a:solidFill>
                  <a:srgbClr val="303238"/>
                </a:solidFill>
              </a:defRPr>
            </a:lvl7pPr>
            <a:lvl8pPr algn="l">
              <a:defRPr sz="1800" b="0">
                <a:solidFill>
                  <a:srgbClr val="303238"/>
                </a:solidFill>
              </a:defRPr>
            </a:lvl8pPr>
            <a:lvl9pPr algn="l">
              <a:defRPr sz="1800" b="0">
                <a:solidFill>
                  <a:srgbClr val="303238"/>
                </a:solidFill>
              </a:defRPr>
            </a:lvl9pPr>
          </a:lstStyle>
          <a:p>
            <a:pPr algn="l">
              <a:defRPr sz="1800" b="0">
                <a:solidFill>
                  <a:srgbClr val="303238"/>
                </a:solidFill>
              </a:defRPr>
            </a:pPr>
            <a:r>
              <a:rPr sz="1800" b="0">
                <a:solidFill>
                  <a:srgbClr val="303238"/>
                </a:solidFill>
              </a:rPr>
              <a:t>Developer adds the missing check.</a:t>
            </a:r>
          </a:p>
        </p:txBody>
      </p:sp>
      <p:sp>
        <p:nvSpPr>
          <p:cNvPr id="2011" name="public comment">
            <a:extLst>
              <a:ext uri="{FF2B5EF4-FFF2-40B4-BE49-F238E27FC236}">
                <a16:creationId xmlns:a16="http://schemas.microsoft.com/office/drawing/2014/main" id="{1A33C4EA-8795-451D-9E11-8FBF0197999B}"/>
              </a:ext>
            </a:extLst>
          </p:cNvPr>
          <p:cNvSpPr>
            <a:spLocks noGrp="1"/>
          </p:cNvSpPr>
          <p:nvPr/>
        </p:nvSpPr>
        <p:spPr>
          <a:xfrm>
            <a:off x="5657850" y="2257425"/>
            <a:ext cx="5219700" cy="3019425"/>
          </a:xfrm>
          <a:prstGeom prst="roundRect">
            <a:avLst>
              <a:gd name="adj" fmla="val 2524"/>
            </a:avLst>
          </a:prstGeom>
          <a:solidFill>
            <a:srgbClr val="F5F6F9"/>
          </a:solidFill>
          <a:ln w="9525">
            <a:solidFill>
              <a:srgbClr val="D7DDD4"/>
            </a:solidFill>
          </a:ln>
        </p:spPr>
        <p:txBody>
          <a:bodyPr/>
          <a:lstStyle/>
          <a:p>
            <a:endParaRPr lang="en-US"/>
          </a:p>
        </p:txBody>
      </p:sp>
      <p:sp>
        <p:nvSpPr>
          <p:cNvPr id="2012" name="comment heading">
            <a:extLst>
              <a:ext uri="{FF2B5EF4-FFF2-40B4-BE49-F238E27FC236}">
                <a16:creationId xmlns:a16="http://schemas.microsoft.com/office/drawing/2014/main" id="{E8BF6E84-F88D-4113-A71D-0CA5F940BA07}"/>
              </a:ext>
            </a:extLst>
          </p:cNvPr>
          <p:cNvSpPr>
            <a:spLocks noGrp="1"/>
          </p:cNvSpPr>
          <p:nvPr/>
        </p:nvSpPr>
        <p:spPr>
          <a:xfrm>
            <a:off x="5905500" y="2447925"/>
            <a:ext cx="4724400" cy="323850"/>
          </a:xfrm>
          <a:prstGeom prst="rect">
            <a:avLst/>
          </a:prstGeom>
          <a:noFill/>
          <a:ln w="0">
            <a:noFill/>
          </a:ln>
        </p:spPr>
        <p:txBody>
          <a:bodyPr lIns="0" tIns="0" rIns="0" bIns="0" anchor="ctr">
            <a:noAutofit/>
          </a:bodyPr>
          <a:lstStyle>
            <a:defPPr algn="l">
              <a:defRPr sz="1875" b="1">
                <a:solidFill>
                  <a:srgbClr val="0086AC"/>
                </a:solidFill>
              </a:defRPr>
            </a:defPPr>
            <a:lvl1pPr algn="l">
              <a:defRPr sz="1875" b="1">
                <a:solidFill>
                  <a:srgbClr val="0086AC"/>
                </a:solidFill>
              </a:defRPr>
            </a:lvl1pPr>
            <a:lvl2pPr algn="l">
              <a:defRPr sz="1875" b="1">
                <a:solidFill>
                  <a:srgbClr val="0086AC"/>
                </a:solidFill>
              </a:defRPr>
            </a:lvl2pPr>
            <a:lvl3pPr algn="l">
              <a:defRPr sz="1875" b="1">
                <a:solidFill>
                  <a:srgbClr val="0086AC"/>
                </a:solidFill>
              </a:defRPr>
            </a:lvl3pPr>
            <a:lvl4pPr algn="l">
              <a:defRPr sz="1875" b="1">
                <a:solidFill>
                  <a:srgbClr val="0086AC"/>
                </a:solidFill>
              </a:defRPr>
            </a:lvl4pPr>
            <a:lvl5pPr algn="l">
              <a:defRPr sz="1875" b="1">
                <a:solidFill>
                  <a:srgbClr val="0086AC"/>
                </a:solidFill>
              </a:defRPr>
            </a:lvl5pPr>
            <a:lvl6pPr algn="l">
              <a:defRPr sz="1875" b="1">
                <a:solidFill>
                  <a:srgbClr val="0086AC"/>
                </a:solidFill>
              </a:defRPr>
            </a:lvl6pPr>
            <a:lvl7pPr algn="l">
              <a:defRPr sz="1875" b="1">
                <a:solidFill>
                  <a:srgbClr val="0086AC"/>
                </a:solidFill>
              </a:defRPr>
            </a:lvl7pPr>
            <a:lvl8pPr algn="l">
              <a:defRPr sz="1875" b="1">
                <a:solidFill>
                  <a:srgbClr val="0086AC"/>
                </a:solidFill>
              </a:defRPr>
            </a:lvl8pPr>
            <a:lvl9pPr algn="l">
              <a:defRPr sz="1875" b="1">
                <a:solidFill>
                  <a:srgbClr val="0086AC"/>
                </a:solidFill>
              </a:defRPr>
            </a:lvl9pPr>
          </a:lstStyle>
          <a:p>
            <a:pPr algn="l">
              <a:defRPr sz="1875" b="1">
                <a:solidFill>
                  <a:srgbClr val="0086AC"/>
                </a:solidFill>
              </a:defRPr>
            </a:pPr>
            <a:r>
              <a:rPr sz="1875" b="1">
                <a:solidFill>
                  <a:srgbClr val="0086AC"/>
                </a:solidFill>
              </a:rPr>
              <a:t>AISLE security review</a:t>
            </a:r>
          </a:p>
        </p:txBody>
      </p:sp>
      <p:sp>
        <p:nvSpPr>
          <p:cNvPr id="2013" name="comment quote">
            <a:extLst>
              <a:ext uri="{FF2B5EF4-FFF2-40B4-BE49-F238E27FC236}">
                <a16:creationId xmlns:a16="http://schemas.microsoft.com/office/drawing/2014/main" id="{41D14400-F752-4945-B588-A1657FD22433}"/>
              </a:ext>
            </a:extLst>
          </p:cNvPr>
          <p:cNvSpPr>
            <a:spLocks noGrp="1"/>
          </p:cNvSpPr>
          <p:nvPr/>
        </p:nvSpPr>
        <p:spPr>
          <a:xfrm>
            <a:off x="5905500" y="2952750"/>
            <a:ext cx="4724400" cy="942975"/>
          </a:xfrm>
          <a:prstGeom prst="rect">
            <a:avLst/>
          </a:prstGeom>
          <a:noFill/>
          <a:ln w="0">
            <a:noFill/>
          </a:ln>
        </p:spPr>
        <p:txBody>
          <a:bodyPr lIns="0" tIns="0" rIns="0" bIns="0" anchor="ctr">
            <a:noAutofit/>
          </a:bodyPr>
          <a:lstStyle>
            <a:defPPr algn="l">
              <a:defRPr sz="2175" b="1">
                <a:solidFill>
                  <a:srgbClr val="303238"/>
                </a:solidFill>
              </a:defRPr>
            </a:defPPr>
            <a:lvl1pPr algn="l">
              <a:defRPr sz="2175" b="1">
                <a:solidFill>
                  <a:srgbClr val="303238"/>
                </a:solidFill>
              </a:defRPr>
            </a:lvl1pPr>
            <a:lvl2pPr algn="l">
              <a:defRPr sz="2175" b="1">
                <a:solidFill>
                  <a:srgbClr val="303238"/>
                </a:solidFill>
              </a:defRPr>
            </a:lvl2pPr>
            <a:lvl3pPr algn="l">
              <a:defRPr sz="2175" b="1">
                <a:solidFill>
                  <a:srgbClr val="303238"/>
                </a:solidFill>
              </a:defRPr>
            </a:lvl3pPr>
            <a:lvl4pPr algn="l">
              <a:defRPr sz="2175" b="1">
                <a:solidFill>
                  <a:srgbClr val="303238"/>
                </a:solidFill>
              </a:defRPr>
            </a:lvl4pPr>
            <a:lvl5pPr algn="l">
              <a:defRPr sz="2175" b="1">
                <a:solidFill>
                  <a:srgbClr val="303238"/>
                </a:solidFill>
              </a:defRPr>
            </a:lvl5pPr>
            <a:lvl6pPr algn="l">
              <a:defRPr sz="2175" b="1">
                <a:solidFill>
                  <a:srgbClr val="303238"/>
                </a:solidFill>
              </a:defRPr>
            </a:lvl6pPr>
            <a:lvl7pPr algn="l">
              <a:defRPr sz="2175" b="1">
                <a:solidFill>
                  <a:srgbClr val="303238"/>
                </a:solidFill>
              </a:defRPr>
            </a:lvl7pPr>
            <a:lvl8pPr algn="l">
              <a:defRPr sz="2175" b="1">
                <a:solidFill>
                  <a:srgbClr val="303238"/>
                </a:solidFill>
              </a:defRPr>
            </a:lvl8pPr>
            <a:lvl9pPr algn="l">
              <a:defRPr sz="2175" b="1">
                <a:solidFill>
                  <a:srgbClr val="303238"/>
                </a:solidFill>
              </a:defRPr>
            </a:lvl9pPr>
          </a:lstStyle>
          <a:p>
            <a:pPr algn="l">
              <a:defRPr sz="2175" b="1">
                <a:solidFill>
                  <a:srgbClr val="303238"/>
                </a:solidFill>
              </a:defRPr>
            </a:pPr>
            <a:r>
              <a:rPr sz="2175" b="1">
                <a:solidFill>
                  <a:srgbClr val="303238"/>
                </a:solidFill>
              </a:rPr>
              <a:t>“We scanned this PR and did not find any security vulnerabilities.”</a:t>
            </a:r>
          </a:p>
        </p:txBody>
      </p:sp>
      <p:sp>
        <p:nvSpPr>
          <p:cNvPr id="2014" name="comment footer">
            <a:extLst>
              <a:ext uri="{FF2B5EF4-FFF2-40B4-BE49-F238E27FC236}">
                <a16:creationId xmlns:a16="http://schemas.microsoft.com/office/drawing/2014/main" id="{56D9E9AA-0F7A-461A-9FEF-B0F9C32DD942}"/>
              </a:ext>
            </a:extLst>
          </p:cNvPr>
          <p:cNvSpPr>
            <a:spLocks noGrp="1"/>
          </p:cNvSpPr>
          <p:nvPr/>
        </p:nvSpPr>
        <p:spPr>
          <a:xfrm>
            <a:off x="5905500" y="4143375"/>
            <a:ext cx="4724400" cy="571500"/>
          </a:xfrm>
          <a:prstGeom prst="rect">
            <a:avLst/>
          </a:prstGeom>
          <a:noFill/>
          <a:ln w="0">
            <a:noFill/>
          </a:ln>
        </p:spPr>
        <p:txBody>
          <a:bodyPr lIns="0" tIns="0" rIns="0" bIns="0" anchor="ctr">
            <a:noAutofit/>
          </a:bodyPr>
          <a:lstStyle>
            <a:defPPr algn="l">
              <a:defRPr sz="1725" b="0">
                <a:solidFill>
                  <a:srgbClr val="303238"/>
                </a:solidFill>
              </a:defRPr>
            </a:defPPr>
            <a:lvl1pPr algn="l">
              <a:defRPr sz="1725" b="0">
                <a:solidFill>
                  <a:srgbClr val="303238"/>
                </a:solidFill>
              </a:defRPr>
            </a:lvl1pPr>
            <a:lvl2pPr algn="l">
              <a:defRPr sz="1725" b="0">
                <a:solidFill>
                  <a:srgbClr val="303238"/>
                </a:solidFill>
              </a:defRPr>
            </a:lvl2pPr>
            <a:lvl3pPr algn="l">
              <a:defRPr sz="1725" b="0">
                <a:solidFill>
                  <a:srgbClr val="303238"/>
                </a:solidFill>
              </a:defRPr>
            </a:lvl3pPr>
            <a:lvl4pPr algn="l">
              <a:defRPr sz="1725" b="0">
                <a:solidFill>
                  <a:srgbClr val="303238"/>
                </a:solidFill>
              </a:defRPr>
            </a:lvl4pPr>
            <a:lvl5pPr algn="l">
              <a:defRPr sz="1725" b="0">
                <a:solidFill>
                  <a:srgbClr val="303238"/>
                </a:solidFill>
              </a:defRPr>
            </a:lvl5pPr>
            <a:lvl6pPr algn="l">
              <a:defRPr sz="1725" b="0">
                <a:solidFill>
                  <a:srgbClr val="303238"/>
                </a:solidFill>
              </a:defRPr>
            </a:lvl6pPr>
            <a:lvl7pPr algn="l">
              <a:defRPr sz="1725" b="0">
                <a:solidFill>
                  <a:srgbClr val="303238"/>
                </a:solidFill>
              </a:defRPr>
            </a:lvl7pPr>
            <a:lvl8pPr algn="l">
              <a:defRPr sz="1725" b="0">
                <a:solidFill>
                  <a:srgbClr val="303238"/>
                </a:solidFill>
              </a:defRPr>
            </a:lvl8pPr>
            <a:lvl9pPr algn="l">
              <a:defRPr sz="1725" b="0">
                <a:solidFill>
                  <a:srgbClr val="303238"/>
                </a:solidFill>
              </a:defRPr>
            </a:lvl9pPr>
          </a:lstStyle>
          <a:p>
            <a:pPr algn="l">
              <a:defRPr sz="1725" b="0">
                <a:solidFill>
                  <a:srgbClr val="303238"/>
                </a:solidFill>
              </a:defRPr>
            </a:pPr>
            <a:r>
              <a:rPr sz="1725" b="0">
                <a:solidFill>
                  <a:srgbClr val="303238"/>
                </a:solidFill>
              </a:rPr>
              <a:t>Analyzed PR: #11958 at commit 23c7239</a:t>
            </a:r>
          </a:p>
        </p:txBody>
      </p:sp>
      <p:sp>
        <p:nvSpPr>
          <p:cNvPr id="2015" name="comment timestamp">
            <a:extLst>
              <a:ext uri="{FF2B5EF4-FFF2-40B4-BE49-F238E27FC236}">
                <a16:creationId xmlns:a16="http://schemas.microsoft.com/office/drawing/2014/main" id="{D168C566-0E33-4DDB-87A5-3297C87923CC}"/>
              </a:ext>
            </a:extLst>
          </p:cNvPr>
          <p:cNvSpPr>
            <a:spLocks noGrp="1"/>
          </p:cNvSpPr>
          <p:nvPr/>
        </p:nvSpPr>
        <p:spPr>
          <a:xfrm>
            <a:off x="5905500" y="4819650"/>
            <a:ext cx="4724400" cy="257175"/>
          </a:xfrm>
          <a:prstGeom prst="rect">
            <a:avLst/>
          </a:prstGeom>
          <a:noFill/>
          <a:ln w="0">
            <a:noFill/>
          </a:ln>
        </p:spPr>
        <p:txBody>
          <a:bodyPr lIns="0" tIns="0" rIns="0" bIns="0" anchor="ctr">
            <a:noAutofit/>
          </a:bodyPr>
          <a:lstStyle>
            <a:defPPr algn="l">
              <a:defRPr sz="1425" b="0">
                <a:solidFill>
                  <a:srgbClr val="61666B"/>
                </a:solidFill>
              </a:defRPr>
            </a:defPPr>
            <a:lvl1pPr algn="l">
              <a:defRPr sz="1425" b="0">
                <a:solidFill>
                  <a:srgbClr val="61666B"/>
                </a:solidFill>
              </a:defRPr>
            </a:lvl1pPr>
            <a:lvl2pPr algn="l">
              <a:defRPr sz="1425" b="0">
                <a:solidFill>
                  <a:srgbClr val="61666B"/>
                </a:solidFill>
              </a:defRPr>
            </a:lvl2pPr>
            <a:lvl3pPr algn="l">
              <a:defRPr sz="1425" b="0">
                <a:solidFill>
                  <a:srgbClr val="61666B"/>
                </a:solidFill>
              </a:defRPr>
            </a:lvl3pPr>
            <a:lvl4pPr algn="l">
              <a:defRPr sz="1425" b="0">
                <a:solidFill>
                  <a:srgbClr val="61666B"/>
                </a:solidFill>
              </a:defRPr>
            </a:lvl4pPr>
            <a:lvl5pPr algn="l">
              <a:defRPr sz="1425" b="0">
                <a:solidFill>
                  <a:srgbClr val="61666B"/>
                </a:solidFill>
              </a:defRPr>
            </a:lvl5pPr>
            <a:lvl6pPr algn="l">
              <a:defRPr sz="1425" b="0">
                <a:solidFill>
                  <a:srgbClr val="61666B"/>
                </a:solidFill>
              </a:defRPr>
            </a:lvl6pPr>
            <a:lvl7pPr algn="l">
              <a:defRPr sz="1425" b="0">
                <a:solidFill>
                  <a:srgbClr val="61666B"/>
                </a:solidFill>
              </a:defRPr>
            </a:lvl7pPr>
            <a:lvl8pPr algn="l">
              <a:defRPr sz="1425" b="0">
                <a:solidFill>
                  <a:srgbClr val="61666B"/>
                </a:solidFill>
              </a:defRPr>
            </a:lvl8pPr>
            <a:lvl9pPr algn="l">
              <a:defRPr sz="1425" b="0">
                <a:solidFill>
                  <a:srgbClr val="61666B"/>
                </a:solidFill>
              </a:defRPr>
            </a:lvl9pPr>
          </a:lstStyle>
          <a:p>
            <a:pPr algn="l">
              <a:defRPr sz="1425" b="0">
                <a:solidFill>
                  <a:srgbClr val="61666B"/>
                </a:solidFill>
              </a:defRPr>
            </a:pPr>
            <a:r>
              <a:rPr sz="1425" b="0">
                <a:solidFill>
                  <a:srgbClr val="61666B"/>
                </a:solidFill>
              </a:rPr>
              <a:t>1 May 2026, 18:26:59 UTC</a:t>
            </a:r>
          </a:p>
        </p:txBody>
      </p:sp>
      <p:sp>
        <p:nvSpPr>
          <p:cNvPr id="2016" name="analyzer intro">
            <a:extLst>
              <a:ext uri="{FF2B5EF4-FFF2-40B4-BE49-F238E27FC236}">
                <a16:creationId xmlns:a16="http://schemas.microsoft.com/office/drawing/2014/main" id="{3E3D4798-AE39-4F67-A650-6F2056452A8D}"/>
              </a:ext>
            </a:extLst>
          </p:cNvPr>
          <p:cNvSpPr>
            <a:spLocks noGrp="1"/>
          </p:cNvSpPr>
          <p:nvPr/>
        </p:nvSpPr>
        <p:spPr>
          <a:xfrm>
            <a:off x="812864" y="5553075"/>
            <a:ext cx="10067925" cy="333375"/>
          </a:xfrm>
          <a:prstGeom prst="rect">
            <a:avLst/>
          </a:prstGeom>
          <a:noFill/>
          <a:ln w="0">
            <a:noFill/>
          </a:ln>
        </p:spPr>
        <p:txBody>
          <a:bodyPr lIns="0" tIns="0" rIns="0" bIns="0" anchor="ctr">
            <a:noAutofit/>
          </a:bodyPr>
          <a:lstStyle>
            <a:defPPr algn="l">
              <a:defRPr sz="1725" b="0">
                <a:solidFill>
                  <a:srgbClr val="303238"/>
                </a:solidFill>
              </a:defRPr>
            </a:defPPr>
            <a:lvl1pPr algn="l">
              <a:defRPr sz="1725" b="0">
                <a:solidFill>
                  <a:srgbClr val="303238"/>
                </a:solidFill>
              </a:defRPr>
            </a:lvl1pPr>
            <a:lvl2pPr algn="l">
              <a:defRPr sz="1725" b="0">
                <a:solidFill>
                  <a:srgbClr val="303238"/>
                </a:solidFill>
              </a:defRPr>
            </a:lvl2pPr>
            <a:lvl3pPr algn="l">
              <a:defRPr sz="1725" b="0">
                <a:solidFill>
                  <a:srgbClr val="303238"/>
                </a:solidFill>
              </a:defRPr>
            </a:lvl3pPr>
            <a:lvl4pPr algn="l">
              <a:defRPr sz="1725" b="0">
                <a:solidFill>
                  <a:srgbClr val="303238"/>
                </a:solidFill>
              </a:defRPr>
            </a:lvl4pPr>
            <a:lvl5pPr algn="l">
              <a:defRPr sz="1725" b="0">
                <a:solidFill>
                  <a:srgbClr val="303238"/>
                </a:solidFill>
              </a:defRPr>
            </a:lvl5pPr>
            <a:lvl6pPr algn="l">
              <a:defRPr sz="1725" b="0">
                <a:solidFill>
                  <a:srgbClr val="303238"/>
                </a:solidFill>
              </a:defRPr>
            </a:lvl6pPr>
            <a:lvl7pPr algn="l">
              <a:defRPr sz="1725" b="0">
                <a:solidFill>
                  <a:srgbClr val="303238"/>
                </a:solidFill>
              </a:defRPr>
            </a:lvl7pPr>
            <a:lvl8pPr algn="l">
              <a:defRPr sz="1725" b="0">
                <a:solidFill>
                  <a:srgbClr val="303238"/>
                </a:solidFill>
              </a:defRPr>
            </a:lvl8pPr>
            <a:lvl9pPr algn="l">
              <a:defRPr sz="1725" b="0">
                <a:solidFill>
                  <a:srgbClr val="303238"/>
                </a:solidFill>
              </a:defRPr>
            </a:lvl9pPr>
          </a:lstStyle>
          <a:p>
            <a:pPr algn="l">
              <a:defRPr sz="1725" b="0">
                <a:solidFill>
                  <a:srgbClr val="303238"/>
                </a:solidFill>
              </a:defRPr>
            </a:pPr>
            <a:r>
              <a:rPr sz="1725" b="0">
                <a:solidFill>
                  <a:srgbClr val="303238"/>
                </a:solidFill>
              </a:rPr>
              <a:t>AISLE is the external AI security analyzer reviewing this PR.</a:t>
            </a:r>
          </a:p>
        </p:txBody>
      </p:sp>
      <p:sp>
        <p:nvSpPr>
          <p:cNvPr id="2017" name="timing fact">
            <a:extLst>
              <a:ext uri="{FF2B5EF4-FFF2-40B4-BE49-F238E27FC236}">
                <a16:creationId xmlns:a16="http://schemas.microsoft.com/office/drawing/2014/main" id="{B595EE58-468E-4E6F-AF44-4A9C5378CE0E}"/>
              </a:ext>
            </a:extLst>
          </p:cNvPr>
          <p:cNvSpPr>
            <a:spLocks noGrp="1"/>
          </p:cNvSpPr>
          <p:nvPr/>
        </p:nvSpPr>
        <p:spPr>
          <a:xfrm>
            <a:off x="812864" y="5962650"/>
            <a:ext cx="10067925" cy="257175"/>
          </a:xfrm>
          <a:prstGeom prst="rect">
            <a:avLst/>
          </a:prstGeom>
          <a:noFill/>
          <a:ln w="0">
            <a:noFill/>
          </a:ln>
        </p:spPr>
        <p:txBody>
          <a:bodyPr lIns="0" tIns="0" rIns="0" bIns="0" anchor="ctr">
            <a:noAutofit/>
          </a:bodyPr>
          <a:lstStyle>
            <a:defPPr algn="l">
              <a:defRPr sz="1650" b="1">
                <a:solidFill>
                  <a:srgbClr val="5965AC"/>
                </a:solidFill>
              </a:defRPr>
            </a:defPPr>
            <a:lvl1pPr algn="l">
              <a:defRPr sz="1650" b="1">
                <a:solidFill>
                  <a:srgbClr val="5965AC"/>
                </a:solidFill>
              </a:defRPr>
            </a:lvl1pPr>
            <a:lvl2pPr algn="l">
              <a:defRPr sz="1650" b="1">
                <a:solidFill>
                  <a:srgbClr val="5965AC"/>
                </a:solidFill>
              </a:defRPr>
            </a:lvl2pPr>
            <a:lvl3pPr algn="l">
              <a:defRPr sz="1650" b="1">
                <a:solidFill>
                  <a:srgbClr val="5965AC"/>
                </a:solidFill>
              </a:defRPr>
            </a:lvl3pPr>
            <a:lvl4pPr algn="l">
              <a:defRPr sz="1650" b="1">
                <a:solidFill>
                  <a:srgbClr val="5965AC"/>
                </a:solidFill>
              </a:defRPr>
            </a:lvl4pPr>
            <a:lvl5pPr algn="l">
              <a:defRPr sz="1650" b="1">
                <a:solidFill>
                  <a:srgbClr val="5965AC"/>
                </a:solidFill>
              </a:defRPr>
            </a:lvl5pPr>
            <a:lvl6pPr algn="l">
              <a:defRPr sz="1650" b="1">
                <a:solidFill>
                  <a:srgbClr val="5965AC"/>
                </a:solidFill>
              </a:defRPr>
            </a:lvl6pPr>
            <a:lvl7pPr algn="l">
              <a:defRPr sz="1650" b="1">
                <a:solidFill>
                  <a:srgbClr val="5965AC"/>
                </a:solidFill>
              </a:defRPr>
            </a:lvl7pPr>
            <a:lvl8pPr algn="l">
              <a:defRPr sz="1650" b="1">
                <a:solidFill>
                  <a:srgbClr val="5965AC"/>
                </a:solidFill>
              </a:defRPr>
            </a:lvl8pPr>
            <a:lvl9pPr algn="l">
              <a:defRPr sz="1650" b="1">
                <a:solidFill>
                  <a:srgbClr val="5965AC"/>
                </a:solidFill>
              </a:defRPr>
            </a:lvl9pPr>
          </a:lstStyle>
          <a:p>
            <a:pPr algn="l">
              <a:defRPr sz="1650" b="1">
                <a:solidFill>
                  <a:srgbClr val="5965AC"/>
                </a:solidFill>
              </a:defRPr>
            </a:pPr>
            <a:r>
              <a:rPr sz="1650" b="1">
                <a:solidFill>
                  <a:srgbClr val="5965AC"/>
                </a:solidFill>
              </a:rPr>
              <a:t>The clean comment was posted after correction cf2edc3.</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77D38BA-8B1C-29EE-18F5-EB8745B54645}"/>
              </a:ext>
            </a:extLst>
          </p:cNvPr>
          <p:cNvSpPr>
            <a:spLocks noGrp="1"/>
          </p:cNvSpPr>
          <p:nvPr>
            <p:ph type="title"/>
          </p:nvPr>
        </p:nvSpPr>
        <p:spPr/>
        <p:txBody>
          <a:bodyPr/>
          <a:lstStyle/>
          <a:p>
            <a:r>
              <a:rPr lang="en-US"/>
              <a:t>What does the clean AISLE comment establish?</a:t>
            </a:r>
          </a:p>
        </p:txBody>
      </p:sp>
      <p:sp>
        <p:nvSpPr>
          <p:cNvPr id="9" name="Text Placeholder 8">
            <a:extLst>
              <a:ext uri="{FF2B5EF4-FFF2-40B4-BE49-F238E27FC236}">
                <a16:creationId xmlns:a16="http://schemas.microsoft.com/office/drawing/2014/main" id="{6F89AE2F-0AC5-364E-9460-D2A2B0F05E26}"/>
              </a:ext>
            </a:extLst>
          </p:cNvPr>
          <p:cNvSpPr>
            <a:spLocks noGrp="1"/>
          </p:cNvSpPr>
          <p:nvPr>
            <p:ph type="body" sz="quarter" idx="10"/>
          </p:nvPr>
        </p:nvSpPr>
        <p:spPr/>
        <p:txBody>
          <a:bodyPr/>
          <a:lstStyle/>
          <a:p>
            <a:r>
              <a:rPr lang="en-US" dirty="0"/>
              <a:t>The corrected revision (cf2edc3) is clean</a:t>
            </a:r>
          </a:p>
          <a:p>
            <a:r>
              <a:rPr lang="en-US" dirty="0"/>
              <a:t>The earlier revision (23c7239) was rescanned </a:t>
            </a:r>
          </a:p>
          <a:p>
            <a:r>
              <a:rPr lang="en-US" dirty="0"/>
              <a:t>No finding was reported, for an unclear revision </a:t>
            </a:r>
          </a:p>
          <a:p>
            <a:r>
              <a:rPr lang="en-US" dirty="0"/>
              <a:t>The PR met all merge requirements.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2006" name="title">
            <a:extLst>
              <a:ext uri="{FF2B5EF4-FFF2-40B4-BE49-F238E27FC236}">
                <a16:creationId xmlns:a16="http://schemas.microsoft.com/office/drawing/2014/main" id="{4840DCFF-00EA-4517-9F14-53F9960E6E68}"/>
              </a:ext>
            </a:extLst>
          </p:cNvPr>
          <p:cNvSpPr>
            <a:spLocks noGrp="1"/>
          </p:cNvSpPr>
          <p:nvPr/>
        </p:nvSpPr>
        <p:spPr>
          <a:xfrm>
            <a:off x="812864" y="819150"/>
            <a:ext cx="10572750" cy="514350"/>
          </a:xfrm>
          <a:prstGeom prst="rect">
            <a:avLst/>
          </a:prstGeom>
          <a:noFill/>
          <a:ln w="0">
            <a:noFill/>
          </a:ln>
        </p:spPr>
        <p:txBody>
          <a:bodyPr lIns="0" tIns="0" rIns="0" bIns="0" anchor="ctr">
            <a:noAutofit/>
          </a:bodyPr>
          <a:lstStyle>
            <a:defPPr algn="l">
              <a:defRPr sz="3000" b="1">
                <a:solidFill>
                  <a:srgbClr val="4F8734"/>
                </a:solidFill>
              </a:defRPr>
            </a:defPPr>
            <a:lvl1pPr algn="l">
              <a:defRPr sz="3000" b="1">
                <a:solidFill>
                  <a:srgbClr val="4F8734"/>
                </a:solidFill>
              </a:defRPr>
            </a:lvl1pPr>
            <a:lvl2pPr algn="l">
              <a:defRPr sz="3000" b="1">
                <a:solidFill>
                  <a:srgbClr val="4F8734"/>
                </a:solidFill>
              </a:defRPr>
            </a:lvl2pPr>
            <a:lvl3pPr algn="l">
              <a:defRPr sz="3000" b="1">
                <a:solidFill>
                  <a:srgbClr val="4F8734"/>
                </a:solidFill>
              </a:defRPr>
            </a:lvl3pPr>
            <a:lvl4pPr algn="l">
              <a:defRPr sz="3000" b="1">
                <a:solidFill>
                  <a:srgbClr val="4F8734"/>
                </a:solidFill>
              </a:defRPr>
            </a:lvl4pPr>
            <a:lvl5pPr algn="l">
              <a:defRPr sz="3000" b="1">
                <a:solidFill>
                  <a:srgbClr val="4F8734"/>
                </a:solidFill>
              </a:defRPr>
            </a:lvl5pPr>
            <a:lvl6pPr algn="l">
              <a:defRPr sz="3000" b="1">
                <a:solidFill>
                  <a:srgbClr val="4F8734"/>
                </a:solidFill>
              </a:defRPr>
            </a:lvl6pPr>
            <a:lvl7pPr algn="l">
              <a:defRPr sz="3000" b="1">
                <a:solidFill>
                  <a:srgbClr val="4F8734"/>
                </a:solidFill>
              </a:defRPr>
            </a:lvl7pPr>
            <a:lvl8pPr algn="l">
              <a:defRPr sz="3000" b="1">
                <a:solidFill>
                  <a:srgbClr val="4F8734"/>
                </a:solidFill>
              </a:defRPr>
            </a:lvl8pPr>
            <a:lvl9pPr algn="l">
              <a:defRPr sz="3000" b="1">
                <a:solidFill>
                  <a:srgbClr val="4F8734"/>
                </a:solidFill>
              </a:defRPr>
            </a:lvl9pPr>
          </a:lstStyle>
          <a:p>
            <a:pPr algn="l">
              <a:defRPr sz="3000" b="1">
                <a:solidFill>
                  <a:srgbClr val="4F8734"/>
                </a:solidFill>
              </a:defRPr>
            </a:pPr>
            <a:r>
              <a:rPr sz="3000" b="1">
                <a:solidFill>
                  <a:srgbClr val="4F8734"/>
                </a:solidFill>
              </a:rPr>
              <a:t>Keep the review evidence</a:t>
            </a:r>
          </a:p>
        </p:txBody>
      </p:sp>
      <p:sp>
        <p:nvSpPr>
          <p:cNvPr id="2002" name="subtitle">
            <a:extLst>
              <a:ext uri="{FF2B5EF4-FFF2-40B4-BE49-F238E27FC236}">
                <a16:creationId xmlns:a16="http://schemas.microsoft.com/office/drawing/2014/main" id="{39EDB9B2-8542-4976-A97D-F7BBC5520DA1}"/>
              </a:ext>
            </a:extLst>
          </p:cNvPr>
          <p:cNvSpPr>
            <a:spLocks noGrp="1"/>
          </p:cNvSpPr>
          <p:nvPr/>
        </p:nvSpPr>
        <p:spPr>
          <a:xfrm>
            <a:off x="812864" y="1409700"/>
            <a:ext cx="10572750" cy="523875"/>
          </a:xfrm>
          <a:prstGeom prst="rect">
            <a:avLst/>
          </a:prstGeom>
          <a:noFill/>
          <a:ln w="0">
            <a:noFill/>
          </a:ln>
        </p:spPr>
        <p:txBody>
          <a:bodyPr lIns="0" tIns="0" rIns="0" bIns="0" anchor="ctr">
            <a:noAutofit/>
          </a:bodyPr>
          <a:lstStyle>
            <a:defPPr algn="l">
              <a:defRPr sz="1725" b="0">
                <a:solidFill>
                  <a:srgbClr val="303238"/>
                </a:solidFill>
              </a:defRPr>
            </a:defPPr>
            <a:lvl1pPr algn="l">
              <a:defRPr sz="1725" b="0">
                <a:solidFill>
                  <a:srgbClr val="303238"/>
                </a:solidFill>
              </a:defRPr>
            </a:lvl1pPr>
            <a:lvl2pPr algn="l">
              <a:defRPr sz="1725" b="0">
                <a:solidFill>
                  <a:srgbClr val="303238"/>
                </a:solidFill>
              </a:defRPr>
            </a:lvl2pPr>
            <a:lvl3pPr algn="l">
              <a:defRPr sz="1725" b="0">
                <a:solidFill>
                  <a:srgbClr val="303238"/>
                </a:solidFill>
              </a:defRPr>
            </a:lvl3pPr>
            <a:lvl4pPr algn="l">
              <a:defRPr sz="1725" b="0">
                <a:solidFill>
                  <a:srgbClr val="303238"/>
                </a:solidFill>
              </a:defRPr>
            </a:lvl4pPr>
            <a:lvl5pPr algn="l">
              <a:defRPr sz="1725" b="0">
                <a:solidFill>
                  <a:srgbClr val="303238"/>
                </a:solidFill>
              </a:defRPr>
            </a:lvl5pPr>
            <a:lvl6pPr algn="l">
              <a:defRPr sz="1725" b="0">
                <a:solidFill>
                  <a:srgbClr val="303238"/>
                </a:solidFill>
              </a:defRPr>
            </a:lvl6pPr>
            <a:lvl7pPr algn="l">
              <a:defRPr sz="1725" b="0">
                <a:solidFill>
                  <a:srgbClr val="303238"/>
                </a:solidFill>
              </a:defRPr>
            </a:lvl7pPr>
            <a:lvl8pPr algn="l">
              <a:defRPr sz="1725" b="0">
                <a:solidFill>
                  <a:srgbClr val="303238"/>
                </a:solidFill>
              </a:defRPr>
            </a:lvl8pPr>
            <a:lvl9pPr algn="l">
              <a:defRPr sz="1725" b="0">
                <a:solidFill>
                  <a:srgbClr val="303238"/>
                </a:solidFill>
              </a:defRPr>
            </a:lvl9pPr>
          </a:lstStyle>
          <a:p>
            <a:pPr algn="l">
              <a:defRPr sz="1725" b="0">
                <a:solidFill>
                  <a:srgbClr val="303238"/>
                </a:solidFill>
              </a:defRPr>
            </a:pPr>
            <a:r>
              <a:rPr sz="1725" b="0">
                <a:solidFill>
                  <a:srgbClr val="303238"/>
                </a:solidFill>
              </a:rPr>
              <a:t>One retained record for every review run, tied to the exact revision.</a:t>
            </a:r>
          </a:p>
        </p:txBody>
      </p:sp>
      <p:sp>
        <p:nvSpPr>
          <p:cNvPr id="2003" name="conference footer">
            <a:extLst>
              <a:ext uri="{FF2B5EF4-FFF2-40B4-BE49-F238E27FC236}">
                <a16:creationId xmlns:a16="http://schemas.microsoft.com/office/drawing/2014/main" id="{E514E86E-2A60-4467-A83C-1FC8D60914D7}"/>
              </a:ext>
            </a:extLst>
          </p:cNvPr>
          <p:cNvSpPr>
            <a:spLocks noGrp="1"/>
          </p:cNvSpPr>
          <p:nvPr/>
        </p:nvSpPr>
        <p:spPr>
          <a:xfrm>
            <a:off x="7258050" y="6448425"/>
            <a:ext cx="3333750" cy="209550"/>
          </a:xfrm>
          <a:prstGeom prst="rect">
            <a:avLst/>
          </a:prstGeom>
          <a:noFill/>
          <a:ln w="0">
            <a:noFill/>
          </a:ln>
        </p:spPr>
        <p:txBody>
          <a:bodyPr lIns="0" tIns="0" rIns="0" bIns="0" anchor="ctr">
            <a:noAutofit/>
          </a:bodyPr>
          <a:lstStyle>
            <a:defPPr algn="l">
              <a:defRPr sz="1050" b="0">
                <a:solidFill>
                  <a:srgbClr val="8A8A8A"/>
                </a:solidFill>
              </a:defRPr>
            </a:defPPr>
            <a:lvl1pPr algn="l">
              <a:defRPr sz="1050" b="0">
                <a:solidFill>
                  <a:srgbClr val="8A8A8A"/>
                </a:solidFill>
              </a:defRPr>
            </a:lvl1pPr>
            <a:lvl2pPr algn="l">
              <a:defRPr sz="1050" b="0">
                <a:solidFill>
                  <a:srgbClr val="8A8A8A"/>
                </a:solidFill>
              </a:defRPr>
            </a:lvl2pPr>
            <a:lvl3pPr algn="l">
              <a:defRPr sz="1050" b="0">
                <a:solidFill>
                  <a:srgbClr val="8A8A8A"/>
                </a:solidFill>
              </a:defRPr>
            </a:lvl3pPr>
            <a:lvl4pPr algn="l">
              <a:defRPr sz="1050" b="0">
                <a:solidFill>
                  <a:srgbClr val="8A8A8A"/>
                </a:solidFill>
              </a:defRPr>
            </a:lvl4pPr>
            <a:lvl5pPr algn="l">
              <a:defRPr sz="1050" b="0">
                <a:solidFill>
                  <a:srgbClr val="8A8A8A"/>
                </a:solidFill>
              </a:defRPr>
            </a:lvl5pPr>
            <a:lvl6pPr algn="l">
              <a:defRPr sz="1050" b="0">
                <a:solidFill>
                  <a:srgbClr val="8A8A8A"/>
                </a:solidFill>
              </a:defRPr>
            </a:lvl6pPr>
            <a:lvl7pPr algn="l">
              <a:defRPr sz="1050" b="0">
                <a:solidFill>
                  <a:srgbClr val="8A8A8A"/>
                </a:solidFill>
              </a:defRPr>
            </a:lvl7pPr>
            <a:lvl8pPr algn="l">
              <a:defRPr sz="1050" b="0">
                <a:solidFill>
                  <a:srgbClr val="8A8A8A"/>
                </a:solidFill>
              </a:defRPr>
            </a:lvl8pPr>
            <a:lvl9pPr algn="l">
              <a:defRPr sz="1050" b="0">
                <a:solidFill>
                  <a:srgbClr val="8A8A8A"/>
                </a:solidFill>
              </a:defRPr>
            </a:lvl9pPr>
          </a:lstStyle>
          <a:p>
            <a:pPr algn="l">
              <a:defRPr sz="1050" b="0">
                <a:solidFill>
                  <a:srgbClr val="8A8A8A"/>
                </a:solidFill>
              </a:defRPr>
            </a:pPr>
            <a:r>
              <a:rPr sz="1050" b="0">
                <a:solidFill>
                  <a:srgbClr val="8A8A8A"/>
                </a:solidFill>
              </a:rPr>
              <a:t>ISC2.org/Congress | #ISC2Congress</a:t>
            </a:r>
          </a:p>
        </p:txBody>
      </p:sp>
      <p:graphicFrame>
        <p:nvGraphicFramePr>
          <p:cNvPr id="2004" name="Table 2003">
            <a:extLst>
              <a:ext uri="{FF2B5EF4-FFF2-40B4-BE49-F238E27FC236}">
                <a16:creationId xmlns:a16="http://schemas.microsoft.com/office/drawing/2014/main" id="{A5F62CDA-2AA9-4F9E-9F1C-8291DE121A1A}"/>
              </a:ext>
            </a:extLst>
          </p:cNvPr>
          <p:cNvGraphicFramePr/>
          <p:nvPr/>
        </p:nvGraphicFramePr>
        <p:xfrm>
          <a:off x="812864" y="2219325"/>
          <a:ext cx="10067925" cy="3200400"/>
        </p:xfrm>
        <a:graphic>
          <a:graphicData uri="http://schemas.openxmlformats.org/drawingml/2006/table">
            <a:tbl>
              <a:tblPr/>
              <a:tblGrid>
                <a:gridCol w="1952625">
                  <a:extLst>
                    <a:ext uri="{9D8B030D-6E8A-4147-A177-3AD203B41FA5}">
                      <a16:colId xmlns:a16="http://schemas.microsoft.com/office/drawing/2014/main" val="20000"/>
                    </a:ext>
                  </a:extLst>
                </a:gridCol>
                <a:gridCol w="8115300">
                  <a:extLst>
                    <a:ext uri="{9D8B030D-6E8A-4147-A177-3AD203B41FA5}">
                      <a16:colId xmlns:a16="http://schemas.microsoft.com/office/drawing/2014/main" val="20001"/>
                    </a:ext>
                  </a:extLst>
                </a:gridCol>
              </a:tblGrid>
              <a:tr h="533400">
                <a:tc>
                  <a:txBody>
                    <a:bodyPr/>
                    <a:lstStyle/>
                    <a:p>
                      <a:r>
                        <a:rPr sz="1800" b="1">
                          <a:solidFill>
                            <a:srgbClr val="4F8734"/>
                          </a:solidFill>
                        </a:rPr>
                        <a:t>Revision</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EEF3E9"/>
                    </a:solidFill>
                  </a:tcPr>
                </a:tc>
                <a:tc>
                  <a:txBody>
                    <a:bodyPr/>
                    <a:lstStyle/>
                    <a:p>
                      <a:r>
                        <a:rPr sz="1800" b="0">
                          <a:solidFill>
                            <a:srgbClr val="303238"/>
                          </a:solidFill>
                        </a:rPr>
                        <a:t>Commit SHA, input diff, run ID and time</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FFFFFF"/>
                    </a:solidFill>
                  </a:tcPr>
                </a:tc>
                <a:extLst>
                  <a:ext uri="{0D108BD9-81ED-4DB2-BD59-A6C34878D82A}">
                    <a16:rowId xmlns:a16="http://schemas.microsoft.com/office/drawing/2014/main" val="10000"/>
                  </a:ext>
                </a:extLst>
              </a:tr>
              <a:tr h="533400">
                <a:tc>
                  <a:txBody>
                    <a:bodyPr/>
                    <a:lstStyle/>
                    <a:p>
                      <a:r>
                        <a:rPr sz="1800" b="1">
                          <a:solidFill>
                            <a:srgbClr val="4F8734"/>
                          </a:solidFill>
                        </a:rPr>
                        <a:t>Model</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EEF3E9"/>
                    </a:solidFill>
                  </a:tcPr>
                </a:tc>
                <a:tc>
                  <a:txBody>
                    <a:bodyPr/>
                    <a:lstStyle/>
                    <a:p>
                      <a:r>
                        <a:rPr sz="1800" b="0">
                          <a:solidFill>
                            <a:srgbClr val="303238"/>
                          </a:solidFill>
                        </a:rPr>
                        <a:t>Provider, model/version and execution settings</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F7F8F6"/>
                    </a:solidFill>
                  </a:tcPr>
                </a:tc>
                <a:extLst>
                  <a:ext uri="{0D108BD9-81ED-4DB2-BD59-A6C34878D82A}">
                    <a16:rowId xmlns:a16="http://schemas.microsoft.com/office/drawing/2014/main" val="10001"/>
                  </a:ext>
                </a:extLst>
              </a:tr>
              <a:tr h="533400">
                <a:tc>
                  <a:txBody>
                    <a:bodyPr/>
                    <a:lstStyle/>
                    <a:p>
                      <a:r>
                        <a:rPr sz="1800" b="1">
                          <a:solidFill>
                            <a:srgbClr val="4F8734"/>
                          </a:solidFill>
                        </a:rPr>
                        <a:t>Prompt</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EEF3E9"/>
                    </a:solidFill>
                  </a:tcPr>
                </a:tc>
                <a:tc>
                  <a:txBody>
                    <a:bodyPr/>
                    <a:lstStyle/>
                    <a:p>
                      <a:r>
                        <a:rPr sz="1800" b="0">
                          <a:solidFill>
                            <a:srgbClr val="303238"/>
                          </a:solidFill>
                        </a:rPr>
                        <a:t>Template version and the exact assembled prompt</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FFFFFF"/>
                    </a:solidFill>
                  </a:tcPr>
                </a:tc>
                <a:extLst>
                  <a:ext uri="{0D108BD9-81ED-4DB2-BD59-A6C34878D82A}">
                    <a16:rowId xmlns:a16="http://schemas.microsoft.com/office/drawing/2014/main" val="10002"/>
                  </a:ext>
                </a:extLst>
              </a:tr>
              <a:tr h="533400">
                <a:tc>
                  <a:txBody>
                    <a:bodyPr/>
                    <a:lstStyle/>
                    <a:p>
                      <a:r>
                        <a:rPr sz="1800" b="1">
                          <a:solidFill>
                            <a:srgbClr val="4F8734"/>
                          </a:solidFill>
                        </a:rPr>
                        <a:t>Context</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EEF3E9"/>
                    </a:solidFill>
                  </a:tcPr>
                </a:tc>
                <a:tc>
                  <a:txBody>
                    <a:bodyPr/>
                    <a:lstStyle/>
                    <a:p>
                      <a:r>
                        <a:rPr sz="1800" b="0">
                          <a:solidFill>
                            <a:srgbClr val="303238"/>
                          </a:solidFill>
                        </a:rPr>
                        <a:t>Requirement text/versions, files and tool results supplied</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F7F8F6"/>
                    </a:solidFill>
                  </a:tcPr>
                </a:tc>
                <a:extLst>
                  <a:ext uri="{0D108BD9-81ED-4DB2-BD59-A6C34878D82A}">
                    <a16:rowId xmlns:a16="http://schemas.microsoft.com/office/drawing/2014/main" val="10003"/>
                  </a:ext>
                </a:extLst>
              </a:tr>
              <a:tr h="533400">
                <a:tc>
                  <a:txBody>
                    <a:bodyPr/>
                    <a:lstStyle/>
                    <a:p>
                      <a:r>
                        <a:rPr sz="1800" b="1">
                          <a:solidFill>
                            <a:srgbClr val="4F8734"/>
                          </a:solidFill>
                        </a:rPr>
                        <a:t>Results</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EEF3E9"/>
                    </a:solidFill>
                  </a:tcPr>
                </a:tc>
                <a:tc>
                  <a:txBody>
                    <a:bodyPr/>
                    <a:lstStyle/>
                    <a:p>
                      <a:r>
                        <a:rPr sz="1800" b="0">
                          <a:solidFill>
                            <a:srgbClr val="303238"/>
                          </a:solidFill>
                        </a:rPr>
                        <a:t>Original response, findings, errors and test/scan results</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FFFFFF"/>
                    </a:solidFill>
                  </a:tcPr>
                </a:tc>
                <a:extLst>
                  <a:ext uri="{0D108BD9-81ED-4DB2-BD59-A6C34878D82A}">
                    <a16:rowId xmlns:a16="http://schemas.microsoft.com/office/drawing/2014/main" val="10004"/>
                  </a:ext>
                </a:extLst>
              </a:tr>
              <a:tr h="533400">
                <a:tc>
                  <a:txBody>
                    <a:bodyPr/>
                    <a:lstStyle/>
                    <a:p>
                      <a:r>
                        <a:rPr sz="1800" b="1">
                          <a:solidFill>
                            <a:srgbClr val="4F8734"/>
                          </a:solidFill>
                        </a:rPr>
                        <a:t>Decision</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EEF3E9"/>
                    </a:solidFill>
                  </a:tcPr>
                </a:tc>
                <a:tc>
                  <a:txBody>
                    <a:bodyPr/>
                    <a:lstStyle/>
                    <a:p>
                      <a:r>
                        <a:rPr sz="1800" b="0">
                          <a:solidFill>
                            <a:srgbClr val="303238"/>
                          </a:solidFill>
                        </a:rPr>
                        <a:t>Policy version, decision, rationale and accountable reviewer</a:t>
                      </a:r>
                    </a:p>
                  </a:txBody>
                  <a:tcPr anchor="ctr">
                    <a:lnL w="4763">
                      <a:solidFill>
                        <a:srgbClr val="D7DDD4"/>
                      </a:solidFill>
                      <a:prstDash val="solid"/>
                    </a:lnL>
                    <a:lnR w="4763">
                      <a:solidFill>
                        <a:srgbClr val="D7DDD4"/>
                      </a:solidFill>
                      <a:prstDash val="solid"/>
                    </a:lnR>
                    <a:lnT w="4763">
                      <a:solidFill>
                        <a:srgbClr val="D7DDD4"/>
                      </a:solidFill>
                      <a:prstDash val="solid"/>
                    </a:lnT>
                    <a:lnB w="4763">
                      <a:solidFill>
                        <a:srgbClr val="D7DDD4"/>
                      </a:solidFill>
                      <a:prstDash val="solid"/>
                    </a:lnB>
                    <a:solidFill>
                      <a:srgbClr val="F7F8F6"/>
                    </a:solidFill>
                  </a:tcPr>
                </a:tc>
                <a:extLst>
                  <a:ext uri="{0D108BD9-81ED-4DB2-BD59-A6C34878D82A}">
                    <a16:rowId xmlns:a16="http://schemas.microsoft.com/office/drawing/2014/main" val="10005"/>
                  </a:ext>
                </a:extLst>
              </a:tr>
            </a:tbl>
          </a:graphicData>
        </a:graphic>
      </p:graphicFrame>
      <p:sp>
        <p:nvSpPr>
          <p:cNvPr id="2005" name="audit takeaway">
            <a:extLst>
              <a:ext uri="{FF2B5EF4-FFF2-40B4-BE49-F238E27FC236}">
                <a16:creationId xmlns:a16="http://schemas.microsoft.com/office/drawing/2014/main" id="{141482FB-4A82-498E-8D49-B0036323361A}"/>
              </a:ext>
            </a:extLst>
          </p:cNvPr>
          <p:cNvSpPr>
            <a:spLocks noGrp="1"/>
          </p:cNvSpPr>
          <p:nvPr/>
        </p:nvSpPr>
        <p:spPr>
          <a:xfrm>
            <a:off x="812864" y="5734050"/>
            <a:ext cx="10067925" cy="428625"/>
          </a:xfrm>
          <a:prstGeom prst="rect">
            <a:avLst/>
          </a:prstGeom>
          <a:noFill/>
          <a:ln w="0">
            <a:noFill/>
          </a:ln>
        </p:spPr>
        <p:txBody>
          <a:bodyPr lIns="0" tIns="0" rIns="0" bIns="0" anchor="ctr">
            <a:noAutofit/>
          </a:bodyPr>
          <a:lstStyle>
            <a:defPPr algn="l">
              <a:defRPr sz="1725" b="1">
                <a:solidFill>
                  <a:srgbClr val="303238"/>
                </a:solidFill>
              </a:defRPr>
            </a:defPPr>
            <a:lvl1pPr algn="l">
              <a:defRPr sz="1725" b="1">
                <a:solidFill>
                  <a:srgbClr val="303238"/>
                </a:solidFill>
              </a:defRPr>
            </a:lvl1pPr>
            <a:lvl2pPr algn="l">
              <a:defRPr sz="1725" b="1">
                <a:solidFill>
                  <a:srgbClr val="303238"/>
                </a:solidFill>
              </a:defRPr>
            </a:lvl2pPr>
            <a:lvl3pPr algn="l">
              <a:defRPr sz="1725" b="1">
                <a:solidFill>
                  <a:srgbClr val="303238"/>
                </a:solidFill>
              </a:defRPr>
            </a:lvl3pPr>
            <a:lvl4pPr algn="l">
              <a:defRPr sz="1725" b="1">
                <a:solidFill>
                  <a:srgbClr val="303238"/>
                </a:solidFill>
              </a:defRPr>
            </a:lvl4pPr>
            <a:lvl5pPr algn="l">
              <a:defRPr sz="1725" b="1">
                <a:solidFill>
                  <a:srgbClr val="303238"/>
                </a:solidFill>
              </a:defRPr>
            </a:lvl5pPr>
            <a:lvl6pPr algn="l">
              <a:defRPr sz="1725" b="1">
                <a:solidFill>
                  <a:srgbClr val="303238"/>
                </a:solidFill>
              </a:defRPr>
            </a:lvl6pPr>
            <a:lvl7pPr algn="l">
              <a:defRPr sz="1725" b="1">
                <a:solidFill>
                  <a:srgbClr val="303238"/>
                </a:solidFill>
              </a:defRPr>
            </a:lvl7pPr>
            <a:lvl8pPr algn="l">
              <a:defRPr sz="1725" b="1">
                <a:solidFill>
                  <a:srgbClr val="303238"/>
                </a:solidFill>
              </a:defRPr>
            </a:lvl8pPr>
            <a:lvl9pPr algn="l">
              <a:defRPr sz="1725" b="1">
                <a:solidFill>
                  <a:srgbClr val="303238"/>
                </a:solidFill>
              </a:defRPr>
            </a:lvl9pPr>
          </a:lstStyle>
          <a:p>
            <a:pPr algn="l">
              <a:defRPr sz="1725" b="1">
                <a:solidFill>
                  <a:srgbClr val="303238"/>
                </a:solidFill>
              </a:defRPr>
            </a:pPr>
            <a:r>
              <a:rPr sz="1725" b="1">
                <a:solidFill>
                  <a:srgbClr val="303238"/>
                </a:solidFill>
              </a:rPr>
              <a:t>Retain the content, with controlled access and a retention policy.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2019" name="title">
            <a:extLst>
              <a:ext uri="{FF2B5EF4-FFF2-40B4-BE49-F238E27FC236}">
                <a16:creationId xmlns:a16="http://schemas.microsoft.com/office/drawing/2014/main" id="{9FEF6F18-9081-412D-ACA7-E1D57C66DA2D}"/>
              </a:ext>
            </a:extLst>
          </p:cNvPr>
          <p:cNvSpPr>
            <a:spLocks noGrp="1"/>
          </p:cNvSpPr>
          <p:nvPr/>
        </p:nvSpPr>
        <p:spPr>
          <a:xfrm>
            <a:off x="812864" y="819150"/>
            <a:ext cx="10572750" cy="514350"/>
          </a:xfrm>
          <a:prstGeom prst="rect">
            <a:avLst/>
          </a:prstGeom>
          <a:noFill/>
          <a:ln w="0">
            <a:noFill/>
          </a:ln>
        </p:spPr>
        <p:txBody>
          <a:bodyPr lIns="0" tIns="0" rIns="0" bIns="0" anchor="ctr">
            <a:noAutofit/>
          </a:bodyPr>
          <a:lstStyle>
            <a:defPPr algn="l">
              <a:defRPr sz="3000" b="1">
                <a:solidFill>
                  <a:srgbClr val="4F8734"/>
                </a:solidFill>
              </a:defRPr>
            </a:defPPr>
            <a:lvl1pPr algn="l">
              <a:defRPr sz="3000" b="1">
                <a:solidFill>
                  <a:srgbClr val="4F8734"/>
                </a:solidFill>
              </a:defRPr>
            </a:lvl1pPr>
            <a:lvl2pPr algn="l">
              <a:defRPr sz="3000" b="1">
                <a:solidFill>
                  <a:srgbClr val="4F8734"/>
                </a:solidFill>
              </a:defRPr>
            </a:lvl2pPr>
            <a:lvl3pPr algn="l">
              <a:defRPr sz="3000" b="1">
                <a:solidFill>
                  <a:srgbClr val="4F8734"/>
                </a:solidFill>
              </a:defRPr>
            </a:lvl3pPr>
            <a:lvl4pPr algn="l">
              <a:defRPr sz="3000" b="1">
                <a:solidFill>
                  <a:srgbClr val="4F8734"/>
                </a:solidFill>
              </a:defRPr>
            </a:lvl4pPr>
            <a:lvl5pPr algn="l">
              <a:defRPr sz="3000" b="1">
                <a:solidFill>
                  <a:srgbClr val="4F8734"/>
                </a:solidFill>
              </a:defRPr>
            </a:lvl5pPr>
            <a:lvl6pPr algn="l">
              <a:defRPr sz="3000" b="1">
                <a:solidFill>
                  <a:srgbClr val="4F8734"/>
                </a:solidFill>
              </a:defRPr>
            </a:lvl6pPr>
            <a:lvl7pPr algn="l">
              <a:defRPr sz="3000" b="1">
                <a:solidFill>
                  <a:srgbClr val="4F8734"/>
                </a:solidFill>
              </a:defRPr>
            </a:lvl7pPr>
            <a:lvl8pPr algn="l">
              <a:defRPr sz="3000" b="1">
                <a:solidFill>
                  <a:srgbClr val="4F8734"/>
                </a:solidFill>
              </a:defRPr>
            </a:lvl8pPr>
            <a:lvl9pPr algn="l">
              <a:defRPr sz="3000" b="1">
                <a:solidFill>
                  <a:srgbClr val="4F8734"/>
                </a:solidFill>
              </a:defRPr>
            </a:lvl9pPr>
          </a:lstStyle>
          <a:p>
            <a:pPr algn="l">
              <a:defRPr sz="3000" b="1">
                <a:solidFill>
                  <a:srgbClr val="4F8734"/>
                </a:solidFill>
              </a:defRPr>
            </a:pPr>
            <a:r>
              <a:rPr sz="3000" b="1">
                <a:solidFill>
                  <a:srgbClr val="4F8734"/>
                </a:solidFill>
              </a:rPr>
              <a:t>What makes a revision merge-ready?</a:t>
            </a:r>
          </a:p>
        </p:txBody>
      </p:sp>
      <p:sp>
        <p:nvSpPr>
          <p:cNvPr id="2002" name="subtitle">
            <a:extLst>
              <a:ext uri="{FF2B5EF4-FFF2-40B4-BE49-F238E27FC236}">
                <a16:creationId xmlns:a16="http://schemas.microsoft.com/office/drawing/2014/main" id="{2647EA18-4299-4C07-B5C1-46B8D5E834AF}"/>
              </a:ext>
            </a:extLst>
          </p:cNvPr>
          <p:cNvSpPr>
            <a:spLocks noGrp="1"/>
          </p:cNvSpPr>
          <p:nvPr/>
        </p:nvSpPr>
        <p:spPr>
          <a:xfrm>
            <a:off x="812864" y="1409700"/>
            <a:ext cx="10572750" cy="523875"/>
          </a:xfrm>
          <a:prstGeom prst="rect">
            <a:avLst/>
          </a:prstGeom>
          <a:noFill/>
          <a:ln w="0">
            <a:noFill/>
          </a:ln>
        </p:spPr>
        <p:txBody>
          <a:bodyPr lIns="0" tIns="0" rIns="0" bIns="0" anchor="ctr">
            <a:noAutofit/>
          </a:bodyPr>
          <a:lstStyle>
            <a:defPPr algn="l">
              <a:defRPr sz="1725" b="0">
                <a:solidFill>
                  <a:srgbClr val="303238"/>
                </a:solidFill>
              </a:defRPr>
            </a:defPPr>
            <a:lvl1pPr algn="l">
              <a:defRPr sz="1725" b="0">
                <a:solidFill>
                  <a:srgbClr val="303238"/>
                </a:solidFill>
              </a:defRPr>
            </a:lvl1pPr>
            <a:lvl2pPr algn="l">
              <a:defRPr sz="1725" b="0">
                <a:solidFill>
                  <a:srgbClr val="303238"/>
                </a:solidFill>
              </a:defRPr>
            </a:lvl2pPr>
            <a:lvl3pPr algn="l">
              <a:defRPr sz="1725" b="0">
                <a:solidFill>
                  <a:srgbClr val="303238"/>
                </a:solidFill>
              </a:defRPr>
            </a:lvl3pPr>
            <a:lvl4pPr algn="l">
              <a:defRPr sz="1725" b="0">
                <a:solidFill>
                  <a:srgbClr val="303238"/>
                </a:solidFill>
              </a:defRPr>
            </a:lvl4pPr>
            <a:lvl5pPr algn="l">
              <a:defRPr sz="1725" b="0">
                <a:solidFill>
                  <a:srgbClr val="303238"/>
                </a:solidFill>
              </a:defRPr>
            </a:lvl5pPr>
            <a:lvl6pPr algn="l">
              <a:defRPr sz="1725" b="0">
                <a:solidFill>
                  <a:srgbClr val="303238"/>
                </a:solidFill>
              </a:defRPr>
            </a:lvl6pPr>
            <a:lvl7pPr algn="l">
              <a:defRPr sz="1725" b="0">
                <a:solidFill>
                  <a:srgbClr val="303238"/>
                </a:solidFill>
              </a:defRPr>
            </a:lvl7pPr>
            <a:lvl8pPr algn="l">
              <a:defRPr sz="1725" b="0">
                <a:solidFill>
                  <a:srgbClr val="303238"/>
                </a:solidFill>
              </a:defRPr>
            </a:lvl8pPr>
            <a:lvl9pPr algn="l">
              <a:defRPr sz="1725" b="0">
                <a:solidFill>
                  <a:srgbClr val="303238"/>
                </a:solidFill>
              </a:defRPr>
            </a:lvl9pPr>
          </a:lstStyle>
          <a:p>
            <a:pPr algn="l">
              <a:defRPr sz="1725" b="0">
                <a:solidFill>
                  <a:srgbClr val="303238"/>
                </a:solidFill>
              </a:defRPr>
            </a:pPr>
            <a:r>
              <a:rPr sz="1725" b="0">
                <a:solidFill>
                  <a:srgbClr val="303238"/>
                </a:solidFill>
              </a:rPr>
              <a:t>Our proposed policy: agreed behavior, current evidence and accountable approval.</a:t>
            </a:r>
          </a:p>
        </p:txBody>
      </p:sp>
      <p:sp>
        <p:nvSpPr>
          <p:cNvPr id="2003" name="conference footer">
            <a:extLst>
              <a:ext uri="{FF2B5EF4-FFF2-40B4-BE49-F238E27FC236}">
                <a16:creationId xmlns:a16="http://schemas.microsoft.com/office/drawing/2014/main" id="{CD59028F-1BE2-4660-8756-F85BB033D65B}"/>
              </a:ext>
            </a:extLst>
          </p:cNvPr>
          <p:cNvSpPr>
            <a:spLocks noGrp="1"/>
          </p:cNvSpPr>
          <p:nvPr/>
        </p:nvSpPr>
        <p:spPr>
          <a:xfrm>
            <a:off x="7258050" y="6448425"/>
            <a:ext cx="3333750" cy="209550"/>
          </a:xfrm>
          <a:prstGeom prst="rect">
            <a:avLst/>
          </a:prstGeom>
          <a:noFill/>
          <a:ln w="0">
            <a:noFill/>
          </a:ln>
        </p:spPr>
        <p:txBody>
          <a:bodyPr lIns="0" tIns="0" rIns="0" bIns="0" anchor="ctr">
            <a:noAutofit/>
          </a:bodyPr>
          <a:lstStyle>
            <a:defPPr algn="l">
              <a:defRPr sz="1050" b="0">
                <a:solidFill>
                  <a:srgbClr val="8A8A8A"/>
                </a:solidFill>
              </a:defRPr>
            </a:defPPr>
            <a:lvl1pPr algn="l">
              <a:defRPr sz="1050" b="0">
                <a:solidFill>
                  <a:srgbClr val="8A8A8A"/>
                </a:solidFill>
              </a:defRPr>
            </a:lvl1pPr>
            <a:lvl2pPr algn="l">
              <a:defRPr sz="1050" b="0">
                <a:solidFill>
                  <a:srgbClr val="8A8A8A"/>
                </a:solidFill>
              </a:defRPr>
            </a:lvl2pPr>
            <a:lvl3pPr algn="l">
              <a:defRPr sz="1050" b="0">
                <a:solidFill>
                  <a:srgbClr val="8A8A8A"/>
                </a:solidFill>
              </a:defRPr>
            </a:lvl3pPr>
            <a:lvl4pPr algn="l">
              <a:defRPr sz="1050" b="0">
                <a:solidFill>
                  <a:srgbClr val="8A8A8A"/>
                </a:solidFill>
              </a:defRPr>
            </a:lvl4pPr>
            <a:lvl5pPr algn="l">
              <a:defRPr sz="1050" b="0">
                <a:solidFill>
                  <a:srgbClr val="8A8A8A"/>
                </a:solidFill>
              </a:defRPr>
            </a:lvl5pPr>
            <a:lvl6pPr algn="l">
              <a:defRPr sz="1050" b="0">
                <a:solidFill>
                  <a:srgbClr val="8A8A8A"/>
                </a:solidFill>
              </a:defRPr>
            </a:lvl6pPr>
            <a:lvl7pPr algn="l">
              <a:defRPr sz="1050" b="0">
                <a:solidFill>
                  <a:srgbClr val="8A8A8A"/>
                </a:solidFill>
              </a:defRPr>
            </a:lvl7pPr>
            <a:lvl8pPr algn="l">
              <a:defRPr sz="1050" b="0">
                <a:solidFill>
                  <a:srgbClr val="8A8A8A"/>
                </a:solidFill>
              </a:defRPr>
            </a:lvl8pPr>
            <a:lvl9pPr algn="l">
              <a:defRPr sz="1050" b="0">
                <a:solidFill>
                  <a:srgbClr val="8A8A8A"/>
                </a:solidFill>
              </a:defRPr>
            </a:lvl9pPr>
          </a:lstStyle>
          <a:p>
            <a:pPr algn="l">
              <a:defRPr sz="1050" b="0">
                <a:solidFill>
                  <a:srgbClr val="8A8A8A"/>
                </a:solidFill>
              </a:defRPr>
            </a:pPr>
            <a:r>
              <a:rPr sz="1050" b="0">
                <a:solidFill>
                  <a:srgbClr val="8A8A8A"/>
                </a:solidFill>
              </a:rPr>
              <a:t>ISC2.org/Congress | #ISC2Congress</a:t>
            </a:r>
          </a:p>
        </p:txBody>
      </p:sp>
      <p:sp>
        <p:nvSpPr>
          <p:cNvPr id="2004" name="policy condition 0">
            <a:extLst>
              <a:ext uri="{FF2B5EF4-FFF2-40B4-BE49-F238E27FC236}">
                <a16:creationId xmlns:a16="http://schemas.microsoft.com/office/drawing/2014/main" id="{28806E61-B2EA-46DD-836B-07E3AD712CBF}"/>
              </a:ext>
            </a:extLst>
          </p:cNvPr>
          <p:cNvSpPr>
            <a:spLocks noGrp="1"/>
          </p:cNvSpPr>
          <p:nvPr/>
        </p:nvSpPr>
        <p:spPr>
          <a:xfrm>
            <a:off x="812864" y="2314575"/>
            <a:ext cx="3114675" cy="2085975"/>
          </a:xfrm>
          <a:prstGeom prst="roundRect">
            <a:avLst>
              <a:gd name="adj" fmla="val 3653"/>
            </a:avLst>
          </a:prstGeom>
          <a:solidFill>
            <a:srgbClr val="EDF4E7"/>
          </a:solidFill>
          <a:ln w="9525">
            <a:solidFill>
              <a:srgbClr val="D7DDD4"/>
            </a:solidFill>
          </a:ln>
        </p:spPr>
        <p:txBody>
          <a:bodyPr/>
          <a:lstStyle/>
          <a:p>
            <a:endParaRPr lang="en-US"/>
          </a:p>
        </p:txBody>
      </p:sp>
      <p:sp>
        <p:nvSpPr>
          <p:cNvPr id="2005" name="condition label 0">
            <a:extLst>
              <a:ext uri="{FF2B5EF4-FFF2-40B4-BE49-F238E27FC236}">
                <a16:creationId xmlns:a16="http://schemas.microsoft.com/office/drawing/2014/main" id="{AF546341-001A-46A9-8766-B0D0D7B77B50}"/>
              </a:ext>
            </a:extLst>
          </p:cNvPr>
          <p:cNvSpPr>
            <a:spLocks noGrp="1"/>
          </p:cNvSpPr>
          <p:nvPr/>
        </p:nvSpPr>
        <p:spPr>
          <a:xfrm>
            <a:off x="1012889" y="2476500"/>
            <a:ext cx="2714625" cy="304800"/>
          </a:xfrm>
          <a:prstGeom prst="rect">
            <a:avLst/>
          </a:prstGeom>
          <a:noFill/>
          <a:ln w="0">
            <a:noFill/>
          </a:ln>
        </p:spPr>
        <p:txBody>
          <a:bodyPr lIns="0" tIns="0" rIns="0" bIns="0" anchor="ctr">
            <a:noAutofit/>
          </a:bodyPr>
          <a:lstStyle>
            <a:defPPr algn="l">
              <a:defRPr sz="1800" b="1">
                <a:solidFill>
                  <a:srgbClr val="4F8734"/>
                </a:solidFill>
              </a:defRPr>
            </a:defPPr>
            <a:lvl1pPr algn="l">
              <a:defRPr sz="1800" b="1">
                <a:solidFill>
                  <a:srgbClr val="4F8734"/>
                </a:solidFill>
              </a:defRPr>
            </a:lvl1pPr>
            <a:lvl2pPr algn="l">
              <a:defRPr sz="1800" b="1">
                <a:solidFill>
                  <a:srgbClr val="4F8734"/>
                </a:solidFill>
              </a:defRPr>
            </a:lvl2pPr>
            <a:lvl3pPr algn="l">
              <a:defRPr sz="1800" b="1">
                <a:solidFill>
                  <a:srgbClr val="4F8734"/>
                </a:solidFill>
              </a:defRPr>
            </a:lvl3pPr>
            <a:lvl4pPr algn="l">
              <a:defRPr sz="1800" b="1">
                <a:solidFill>
                  <a:srgbClr val="4F8734"/>
                </a:solidFill>
              </a:defRPr>
            </a:lvl4pPr>
            <a:lvl5pPr algn="l">
              <a:defRPr sz="1800" b="1">
                <a:solidFill>
                  <a:srgbClr val="4F8734"/>
                </a:solidFill>
              </a:defRPr>
            </a:lvl5pPr>
            <a:lvl6pPr algn="l">
              <a:defRPr sz="1800" b="1">
                <a:solidFill>
                  <a:srgbClr val="4F8734"/>
                </a:solidFill>
              </a:defRPr>
            </a:lvl6pPr>
            <a:lvl7pPr algn="l">
              <a:defRPr sz="1800" b="1">
                <a:solidFill>
                  <a:srgbClr val="4F8734"/>
                </a:solidFill>
              </a:defRPr>
            </a:lvl7pPr>
            <a:lvl8pPr algn="l">
              <a:defRPr sz="1800" b="1">
                <a:solidFill>
                  <a:srgbClr val="4F8734"/>
                </a:solidFill>
              </a:defRPr>
            </a:lvl8pPr>
            <a:lvl9pPr algn="l">
              <a:defRPr sz="1800" b="1">
                <a:solidFill>
                  <a:srgbClr val="4F8734"/>
                </a:solidFill>
              </a:defRPr>
            </a:lvl9pPr>
          </a:lstStyle>
          <a:p>
            <a:pPr algn="l">
              <a:defRPr sz="1800" b="1">
                <a:solidFill>
                  <a:srgbClr val="4F8734"/>
                </a:solidFill>
              </a:defRPr>
            </a:pPr>
            <a:r>
              <a:rPr sz="1800" b="1">
                <a:solidFill>
                  <a:srgbClr val="4F8734"/>
                </a:solidFill>
              </a:rPr>
              <a:t>Scope</a:t>
            </a:r>
          </a:p>
        </p:txBody>
      </p:sp>
      <p:sp>
        <p:nvSpPr>
          <p:cNvPr id="2006" name="condition headline 0">
            <a:extLst>
              <a:ext uri="{FF2B5EF4-FFF2-40B4-BE49-F238E27FC236}">
                <a16:creationId xmlns:a16="http://schemas.microsoft.com/office/drawing/2014/main" id="{39605FCD-B33E-4B8D-81BE-FD4862AC63B8}"/>
              </a:ext>
            </a:extLst>
          </p:cNvPr>
          <p:cNvSpPr>
            <a:spLocks noGrp="1"/>
          </p:cNvSpPr>
          <p:nvPr/>
        </p:nvSpPr>
        <p:spPr>
          <a:xfrm>
            <a:off x="1012889" y="2914650"/>
            <a:ext cx="2714625" cy="666750"/>
          </a:xfrm>
          <a:prstGeom prst="rect">
            <a:avLst/>
          </a:prstGeom>
          <a:noFill/>
          <a:ln w="0">
            <a:noFill/>
          </a:ln>
        </p:spPr>
        <p:txBody>
          <a:bodyPr lIns="0" tIns="0" rIns="0" bIns="0" anchor="ctr">
            <a:noAutofit/>
          </a:bodyPr>
          <a:lstStyle>
            <a:defPPr algn="l">
              <a:defRPr sz="2100" b="1">
                <a:solidFill>
                  <a:srgbClr val="303238"/>
                </a:solidFill>
              </a:defRPr>
            </a:defPPr>
            <a:lvl1pPr algn="l">
              <a:defRPr sz="2100" b="1">
                <a:solidFill>
                  <a:srgbClr val="303238"/>
                </a:solidFill>
              </a:defRPr>
            </a:lvl1pPr>
            <a:lvl2pPr algn="l">
              <a:defRPr sz="2100" b="1">
                <a:solidFill>
                  <a:srgbClr val="303238"/>
                </a:solidFill>
              </a:defRPr>
            </a:lvl2pPr>
            <a:lvl3pPr algn="l">
              <a:defRPr sz="2100" b="1">
                <a:solidFill>
                  <a:srgbClr val="303238"/>
                </a:solidFill>
              </a:defRPr>
            </a:lvl3pPr>
            <a:lvl4pPr algn="l">
              <a:defRPr sz="2100" b="1">
                <a:solidFill>
                  <a:srgbClr val="303238"/>
                </a:solidFill>
              </a:defRPr>
            </a:lvl4pPr>
            <a:lvl5pPr algn="l">
              <a:defRPr sz="2100" b="1">
                <a:solidFill>
                  <a:srgbClr val="303238"/>
                </a:solidFill>
              </a:defRPr>
            </a:lvl5pPr>
            <a:lvl6pPr algn="l">
              <a:defRPr sz="2100" b="1">
                <a:solidFill>
                  <a:srgbClr val="303238"/>
                </a:solidFill>
              </a:defRPr>
            </a:lvl6pPr>
            <a:lvl7pPr algn="l">
              <a:defRPr sz="2100" b="1">
                <a:solidFill>
                  <a:srgbClr val="303238"/>
                </a:solidFill>
              </a:defRPr>
            </a:lvl7pPr>
            <a:lvl8pPr algn="l">
              <a:defRPr sz="2100" b="1">
                <a:solidFill>
                  <a:srgbClr val="303238"/>
                </a:solidFill>
              </a:defRPr>
            </a:lvl8pPr>
            <a:lvl9pPr algn="l">
              <a:defRPr sz="2100" b="1">
                <a:solidFill>
                  <a:srgbClr val="303238"/>
                </a:solidFill>
              </a:defRPr>
            </a:lvl9pPr>
          </a:lstStyle>
          <a:p>
            <a:pPr algn="l">
              <a:defRPr sz="2100" b="1">
                <a:solidFill>
                  <a:srgbClr val="303238"/>
                </a:solidFill>
              </a:defRPr>
            </a:pPr>
            <a:r>
              <a:rPr sz="2100" b="1">
                <a:solidFill>
                  <a:srgbClr val="303238"/>
                </a:solidFill>
              </a:rPr>
              <a:t>Required behavior</a:t>
            </a:r>
          </a:p>
          <a:p>
            <a:pPr algn="l">
              <a:defRPr sz="2100" b="1">
                <a:solidFill>
                  <a:srgbClr val="303238"/>
                </a:solidFill>
              </a:defRPr>
            </a:pPr>
            <a:r>
              <a:rPr sz="2100" b="1">
                <a:solidFill>
                  <a:srgbClr val="303238"/>
                </a:solidFill>
              </a:rPr>
              <a:t>is agreed</a:t>
            </a:r>
          </a:p>
        </p:txBody>
      </p:sp>
      <p:sp>
        <p:nvSpPr>
          <p:cNvPr id="2007" name="condition description 0">
            <a:extLst>
              <a:ext uri="{FF2B5EF4-FFF2-40B4-BE49-F238E27FC236}">
                <a16:creationId xmlns:a16="http://schemas.microsoft.com/office/drawing/2014/main" id="{E5BD00D3-BF17-41CF-8581-64FED5E3D2AB}"/>
              </a:ext>
            </a:extLst>
          </p:cNvPr>
          <p:cNvSpPr>
            <a:spLocks noGrp="1"/>
          </p:cNvSpPr>
          <p:nvPr/>
        </p:nvSpPr>
        <p:spPr>
          <a:xfrm>
            <a:off x="1012889" y="3752850"/>
            <a:ext cx="2714625" cy="485775"/>
          </a:xfrm>
          <a:prstGeom prst="rect">
            <a:avLst/>
          </a:prstGeom>
          <a:noFill/>
          <a:ln w="0">
            <a:noFill/>
          </a:ln>
        </p:spPr>
        <p:txBody>
          <a:bodyPr lIns="0" tIns="0" rIns="0" bIns="0" anchor="ctr">
            <a:noAutofit/>
          </a:bodyPr>
          <a:lstStyle>
            <a:defPPr algn="l">
              <a:defRPr sz="1575" b="0">
                <a:solidFill>
                  <a:srgbClr val="61666B"/>
                </a:solidFill>
              </a:defRPr>
            </a:defPPr>
            <a:lvl1pPr algn="l">
              <a:defRPr sz="1575" b="0">
                <a:solidFill>
                  <a:srgbClr val="61666B"/>
                </a:solidFill>
              </a:defRPr>
            </a:lvl1pPr>
            <a:lvl2pPr algn="l">
              <a:defRPr sz="1575" b="0">
                <a:solidFill>
                  <a:srgbClr val="61666B"/>
                </a:solidFill>
              </a:defRPr>
            </a:lvl2pPr>
            <a:lvl3pPr algn="l">
              <a:defRPr sz="1575" b="0">
                <a:solidFill>
                  <a:srgbClr val="61666B"/>
                </a:solidFill>
              </a:defRPr>
            </a:lvl3pPr>
            <a:lvl4pPr algn="l">
              <a:defRPr sz="1575" b="0">
                <a:solidFill>
                  <a:srgbClr val="61666B"/>
                </a:solidFill>
              </a:defRPr>
            </a:lvl4pPr>
            <a:lvl5pPr algn="l">
              <a:defRPr sz="1575" b="0">
                <a:solidFill>
                  <a:srgbClr val="61666B"/>
                </a:solidFill>
              </a:defRPr>
            </a:lvl5pPr>
            <a:lvl6pPr algn="l">
              <a:defRPr sz="1575" b="0">
                <a:solidFill>
                  <a:srgbClr val="61666B"/>
                </a:solidFill>
              </a:defRPr>
            </a:lvl6pPr>
            <a:lvl7pPr algn="l">
              <a:defRPr sz="1575" b="0">
                <a:solidFill>
                  <a:srgbClr val="61666B"/>
                </a:solidFill>
              </a:defRPr>
            </a:lvl7pPr>
            <a:lvl8pPr algn="l">
              <a:defRPr sz="1575" b="0">
                <a:solidFill>
                  <a:srgbClr val="61666B"/>
                </a:solidFill>
              </a:defRPr>
            </a:lvl8pPr>
            <a:lvl9pPr algn="l">
              <a:defRPr sz="1575" b="0">
                <a:solidFill>
                  <a:srgbClr val="61666B"/>
                </a:solidFill>
              </a:defRPr>
            </a:lvl9pPr>
          </a:lstStyle>
          <a:p>
            <a:pPr algn="l">
              <a:defRPr sz="1575" b="0">
                <a:solidFill>
                  <a:srgbClr val="61666B"/>
                </a:solidFill>
              </a:defRPr>
            </a:pPr>
            <a:r>
              <a:rPr sz="1575" b="0">
                <a:solidFill>
                  <a:srgbClr val="61666B"/>
                </a:solidFill>
              </a:rPr>
              <a:t>Requirement and</a:t>
            </a:r>
          </a:p>
          <a:p>
            <a:pPr algn="l">
              <a:defRPr sz="1575" b="0">
                <a:solidFill>
                  <a:srgbClr val="61666B"/>
                </a:solidFill>
              </a:defRPr>
            </a:pPr>
            <a:r>
              <a:rPr sz="1575" b="0">
                <a:solidFill>
                  <a:srgbClr val="61666B"/>
                </a:solidFill>
              </a:rPr>
              <a:t>affected tests</a:t>
            </a:r>
          </a:p>
        </p:txBody>
      </p:sp>
      <p:sp>
        <p:nvSpPr>
          <p:cNvPr id="2008" name="policy condition 1">
            <a:extLst>
              <a:ext uri="{FF2B5EF4-FFF2-40B4-BE49-F238E27FC236}">
                <a16:creationId xmlns:a16="http://schemas.microsoft.com/office/drawing/2014/main" id="{B05078C6-C9FA-4080-95D2-EABB1EB80302}"/>
              </a:ext>
            </a:extLst>
          </p:cNvPr>
          <p:cNvSpPr>
            <a:spLocks noGrp="1"/>
          </p:cNvSpPr>
          <p:nvPr/>
        </p:nvSpPr>
        <p:spPr>
          <a:xfrm>
            <a:off x="4289489" y="2314575"/>
            <a:ext cx="3114675" cy="2085975"/>
          </a:xfrm>
          <a:prstGeom prst="roundRect">
            <a:avLst>
              <a:gd name="adj" fmla="val 3653"/>
            </a:avLst>
          </a:prstGeom>
          <a:solidFill>
            <a:srgbClr val="EDF4F7"/>
          </a:solidFill>
          <a:ln w="9525">
            <a:solidFill>
              <a:srgbClr val="D7DDD4"/>
            </a:solidFill>
          </a:ln>
        </p:spPr>
        <p:txBody>
          <a:bodyPr/>
          <a:lstStyle/>
          <a:p>
            <a:endParaRPr lang="en-US"/>
          </a:p>
        </p:txBody>
      </p:sp>
      <p:sp>
        <p:nvSpPr>
          <p:cNvPr id="2009" name="condition label 1">
            <a:extLst>
              <a:ext uri="{FF2B5EF4-FFF2-40B4-BE49-F238E27FC236}">
                <a16:creationId xmlns:a16="http://schemas.microsoft.com/office/drawing/2014/main" id="{6D90F561-35B8-4EAD-A5BA-A6F2B7847AEA}"/>
              </a:ext>
            </a:extLst>
          </p:cNvPr>
          <p:cNvSpPr>
            <a:spLocks noGrp="1"/>
          </p:cNvSpPr>
          <p:nvPr/>
        </p:nvSpPr>
        <p:spPr>
          <a:xfrm>
            <a:off x="4489514" y="2476500"/>
            <a:ext cx="2714625" cy="304800"/>
          </a:xfrm>
          <a:prstGeom prst="rect">
            <a:avLst/>
          </a:prstGeom>
          <a:noFill/>
          <a:ln w="0">
            <a:noFill/>
          </a:ln>
        </p:spPr>
        <p:txBody>
          <a:bodyPr lIns="0" tIns="0" rIns="0" bIns="0" anchor="ctr">
            <a:noAutofit/>
          </a:bodyPr>
          <a:lstStyle>
            <a:defPPr algn="l">
              <a:defRPr sz="1800" b="1">
                <a:solidFill>
                  <a:srgbClr val="0086AC"/>
                </a:solidFill>
              </a:defRPr>
            </a:defPPr>
            <a:lvl1pPr algn="l">
              <a:defRPr sz="1800" b="1">
                <a:solidFill>
                  <a:srgbClr val="0086AC"/>
                </a:solidFill>
              </a:defRPr>
            </a:lvl1pPr>
            <a:lvl2pPr algn="l">
              <a:defRPr sz="1800" b="1">
                <a:solidFill>
                  <a:srgbClr val="0086AC"/>
                </a:solidFill>
              </a:defRPr>
            </a:lvl2pPr>
            <a:lvl3pPr algn="l">
              <a:defRPr sz="1800" b="1">
                <a:solidFill>
                  <a:srgbClr val="0086AC"/>
                </a:solidFill>
              </a:defRPr>
            </a:lvl3pPr>
            <a:lvl4pPr algn="l">
              <a:defRPr sz="1800" b="1">
                <a:solidFill>
                  <a:srgbClr val="0086AC"/>
                </a:solidFill>
              </a:defRPr>
            </a:lvl4pPr>
            <a:lvl5pPr algn="l">
              <a:defRPr sz="1800" b="1">
                <a:solidFill>
                  <a:srgbClr val="0086AC"/>
                </a:solidFill>
              </a:defRPr>
            </a:lvl5pPr>
            <a:lvl6pPr algn="l">
              <a:defRPr sz="1800" b="1">
                <a:solidFill>
                  <a:srgbClr val="0086AC"/>
                </a:solidFill>
              </a:defRPr>
            </a:lvl6pPr>
            <a:lvl7pPr algn="l">
              <a:defRPr sz="1800" b="1">
                <a:solidFill>
                  <a:srgbClr val="0086AC"/>
                </a:solidFill>
              </a:defRPr>
            </a:lvl7pPr>
            <a:lvl8pPr algn="l">
              <a:defRPr sz="1800" b="1">
                <a:solidFill>
                  <a:srgbClr val="0086AC"/>
                </a:solidFill>
              </a:defRPr>
            </a:lvl8pPr>
            <a:lvl9pPr algn="l">
              <a:defRPr sz="1800" b="1">
                <a:solidFill>
                  <a:srgbClr val="0086AC"/>
                </a:solidFill>
              </a:defRPr>
            </a:lvl9pPr>
          </a:lstStyle>
          <a:p>
            <a:pPr algn="l">
              <a:defRPr sz="1800" b="1">
                <a:solidFill>
                  <a:srgbClr val="0086AC"/>
                </a:solidFill>
              </a:defRPr>
            </a:pPr>
            <a:r>
              <a:rPr sz="1800" b="1">
                <a:solidFill>
                  <a:srgbClr val="0086AC"/>
                </a:solidFill>
              </a:rPr>
              <a:t>Evidence</a:t>
            </a:r>
          </a:p>
        </p:txBody>
      </p:sp>
      <p:sp>
        <p:nvSpPr>
          <p:cNvPr id="2010" name="condition headline 1">
            <a:extLst>
              <a:ext uri="{FF2B5EF4-FFF2-40B4-BE49-F238E27FC236}">
                <a16:creationId xmlns:a16="http://schemas.microsoft.com/office/drawing/2014/main" id="{B36E8C53-23FF-46C6-AB28-464178D7F2D1}"/>
              </a:ext>
            </a:extLst>
          </p:cNvPr>
          <p:cNvSpPr>
            <a:spLocks noGrp="1"/>
          </p:cNvSpPr>
          <p:nvPr/>
        </p:nvSpPr>
        <p:spPr>
          <a:xfrm>
            <a:off x="4489514" y="2914650"/>
            <a:ext cx="2714625" cy="666750"/>
          </a:xfrm>
          <a:prstGeom prst="rect">
            <a:avLst/>
          </a:prstGeom>
          <a:noFill/>
          <a:ln w="0">
            <a:noFill/>
          </a:ln>
        </p:spPr>
        <p:txBody>
          <a:bodyPr lIns="0" tIns="0" rIns="0" bIns="0" anchor="ctr">
            <a:noAutofit/>
          </a:bodyPr>
          <a:lstStyle>
            <a:defPPr algn="l">
              <a:defRPr sz="2100" b="1">
                <a:solidFill>
                  <a:srgbClr val="303238"/>
                </a:solidFill>
              </a:defRPr>
            </a:defPPr>
            <a:lvl1pPr algn="l">
              <a:defRPr sz="2100" b="1">
                <a:solidFill>
                  <a:srgbClr val="303238"/>
                </a:solidFill>
              </a:defRPr>
            </a:lvl1pPr>
            <a:lvl2pPr algn="l">
              <a:defRPr sz="2100" b="1">
                <a:solidFill>
                  <a:srgbClr val="303238"/>
                </a:solidFill>
              </a:defRPr>
            </a:lvl2pPr>
            <a:lvl3pPr algn="l">
              <a:defRPr sz="2100" b="1">
                <a:solidFill>
                  <a:srgbClr val="303238"/>
                </a:solidFill>
              </a:defRPr>
            </a:lvl3pPr>
            <a:lvl4pPr algn="l">
              <a:defRPr sz="2100" b="1">
                <a:solidFill>
                  <a:srgbClr val="303238"/>
                </a:solidFill>
              </a:defRPr>
            </a:lvl4pPr>
            <a:lvl5pPr algn="l">
              <a:defRPr sz="2100" b="1">
                <a:solidFill>
                  <a:srgbClr val="303238"/>
                </a:solidFill>
              </a:defRPr>
            </a:lvl5pPr>
            <a:lvl6pPr algn="l">
              <a:defRPr sz="2100" b="1">
                <a:solidFill>
                  <a:srgbClr val="303238"/>
                </a:solidFill>
              </a:defRPr>
            </a:lvl6pPr>
            <a:lvl7pPr algn="l">
              <a:defRPr sz="2100" b="1">
                <a:solidFill>
                  <a:srgbClr val="303238"/>
                </a:solidFill>
              </a:defRPr>
            </a:lvl7pPr>
            <a:lvl8pPr algn="l">
              <a:defRPr sz="2100" b="1">
                <a:solidFill>
                  <a:srgbClr val="303238"/>
                </a:solidFill>
              </a:defRPr>
            </a:lvl8pPr>
            <a:lvl9pPr algn="l">
              <a:defRPr sz="2100" b="1">
                <a:solidFill>
                  <a:srgbClr val="303238"/>
                </a:solidFill>
              </a:defRPr>
            </a:lvl9pPr>
          </a:lstStyle>
          <a:p>
            <a:pPr algn="l">
              <a:defRPr sz="2100" b="1">
                <a:solidFill>
                  <a:srgbClr val="303238"/>
                </a:solidFill>
              </a:defRPr>
            </a:pPr>
            <a:r>
              <a:rPr sz="2100" b="1">
                <a:solidFill>
                  <a:srgbClr val="303238"/>
                </a:solidFill>
              </a:rPr>
              <a:t>Checks pass for</a:t>
            </a:r>
          </a:p>
          <a:p>
            <a:pPr algn="l">
              <a:defRPr sz="2100" b="1">
                <a:solidFill>
                  <a:srgbClr val="303238"/>
                </a:solidFill>
              </a:defRPr>
            </a:pPr>
            <a:r>
              <a:rPr sz="2100" b="1">
                <a:solidFill>
                  <a:srgbClr val="303238"/>
                </a:solidFill>
              </a:rPr>
              <a:t>this revision</a:t>
            </a:r>
          </a:p>
        </p:txBody>
      </p:sp>
      <p:sp>
        <p:nvSpPr>
          <p:cNvPr id="2011" name="condition description 1">
            <a:extLst>
              <a:ext uri="{FF2B5EF4-FFF2-40B4-BE49-F238E27FC236}">
                <a16:creationId xmlns:a16="http://schemas.microsoft.com/office/drawing/2014/main" id="{09D0D5DC-F70B-4C20-BEA1-3DD40F15C0D2}"/>
              </a:ext>
            </a:extLst>
          </p:cNvPr>
          <p:cNvSpPr>
            <a:spLocks noGrp="1"/>
          </p:cNvSpPr>
          <p:nvPr/>
        </p:nvSpPr>
        <p:spPr>
          <a:xfrm>
            <a:off x="4489514" y="3752850"/>
            <a:ext cx="2714625" cy="485775"/>
          </a:xfrm>
          <a:prstGeom prst="rect">
            <a:avLst/>
          </a:prstGeom>
          <a:noFill/>
          <a:ln w="0">
            <a:noFill/>
          </a:ln>
        </p:spPr>
        <p:txBody>
          <a:bodyPr lIns="0" tIns="0" rIns="0" bIns="0" anchor="ctr">
            <a:noAutofit/>
          </a:bodyPr>
          <a:lstStyle>
            <a:defPPr algn="l">
              <a:defRPr sz="1575" b="0">
                <a:solidFill>
                  <a:srgbClr val="61666B"/>
                </a:solidFill>
              </a:defRPr>
            </a:defPPr>
            <a:lvl1pPr algn="l">
              <a:defRPr sz="1575" b="0">
                <a:solidFill>
                  <a:srgbClr val="61666B"/>
                </a:solidFill>
              </a:defRPr>
            </a:lvl1pPr>
            <a:lvl2pPr algn="l">
              <a:defRPr sz="1575" b="0">
                <a:solidFill>
                  <a:srgbClr val="61666B"/>
                </a:solidFill>
              </a:defRPr>
            </a:lvl2pPr>
            <a:lvl3pPr algn="l">
              <a:defRPr sz="1575" b="0">
                <a:solidFill>
                  <a:srgbClr val="61666B"/>
                </a:solidFill>
              </a:defRPr>
            </a:lvl3pPr>
            <a:lvl4pPr algn="l">
              <a:defRPr sz="1575" b="0">
                <a:solidFill>
                  <a:srgbClr val="61666B"/>
                </a:solidFill>
              </a:defRPr>
            </a:lvl4pPr>
            <a:lvl5pPr algn="l">
              <a:defRPr sz="1575" b="0">
                <a:solidFill>
                  <a:srgbClr val="61666B"/>
                </a:solidFill>
              </a:defRPr>
            </a:lvl5pPr>
            <a:lvl6pPr algn="l">
              <a:defRPr sz="1575" b="0">
                <a:solidFill>
                  <a:srgbClr val="61666B"/>
                </a:solidFill>
              </a:defRPr>
            </a:lvl6pPr>
            <a:lvl7pPr algn="l">
              <a:defRPr sz="1575" b="0">
                <a:solidFill>
                  <a:srgbClr val="61666B"/>
                </a:solidFill>
              </a:defRPr>
            </a:lvl7pPr>
            <a:lvl8pPr algn="l">
              <a:defRPr sz="1575" b="0">
                <a:solidFill>
                  <a:srgbClr val="61666B"/>
                </a:solidFill>
              </a:defRPr>
            </a:lvl8pPr>
            <a:lvl9pPr algn="l">
              <a:defRPr sz="1575" b="0">
                <a:solidFill>
                  <a:srgbClr val="61666B"/>
                </a:solidFill>
              </a:defRPr>
            </a:lvl9pPr>
          </a:lstStyle>
          <a:p>
            <a:pPr algn="l">
              <a:defRPr sz="1575" b="0">
                <a:solidFill>
                  <a:srgbClr val="61666B"/>
                </a:solidFill>
              </a:defRPr>
            </a:pPr>
            <a:r>
              <a:rPr sz="1575" b="0">
                <a:solidFill>
                  <a:srgbClr val="61666B"/>
                </a:solidFill>
              </a:rPr>
              <a:t>Results are retained</a:t>
            </a:r>
          </a:p>
          <a:p>
            <a:pPr algn="l">
              <a:defRPr sz="1575" b="0">
                <a:solidFill>
                  <a:srgbClr val="61666B"/>
                </a:solidFill>
              </a:defRPr>
            </a:pPr>
            <a:r>
              <a:rPr sz="1575" b="0">
                <a:solidFill>
                  <a:srgbClr val="61666B"/>
                </a:solidFill>
              </a:rPr>
              <a:t>and findings triaged</a:t>
            </a:r>
          </a:p>
        </p:txBody>
      </p:sp>
      <p:sp>
        <p:nvSpPr>
          <p:cNvPr id="2012" name="policy condition 2">
            <a:extLst>
              <a:ext uri="{FF2B5EF4-FFF2-40B4-BE49-F238E27FC236}">
                <a16:creationId xmlns:a16="http://schemas.microsoft.com/office/drawing/2014/main" id="{3B4FCEEC-F07B-4869-B8F8-0095844117AF}"/>
              </a:ext>
            </a:extLst>
          </p:cNvPr>
          <p:cNvSpPr>
            <a:spLocks noGrp="1"/>
          </p:cNvSpPr>
          <p:nvPr/>
        </p:nvSpPr>
        <p:spPr>
          <a:xfrm>
            <a:off x="7766114" y="2314575"/>
            <a:ext cx="3114675" cy="2085975"/>
          </a:xfrm>
          <a:prstGeom prst="roundRect">
            <a:avLst>
              <a:gd name="adj" fmla="val 3653"/>
            </a:avLst>
          </a:prstGeom>
          <a:solidFill>
            <a:srgbClr val="F0F1F8"/>
          </a:solidFill>
          <a:ln w="9525">
            <a:solidFill>
              <a:srgbClr val="D7DDD4"/>
            </a:solidFill>
          </a:ln>
        </p:spPr>
        <p:txBody>
          <a:bodyPr/>
          <a:lstStyle/>
          <a:p>
            <a:endParaRPr lang="en-US"/>
          </a:p>
        </p:txBody>
      </p:sp>
      <p:sp>
        <p:nvSpPr>
          <p:cNvPr id="2013" name="condition label 2">
            <a:extLst>
              <a:ext uri="{FF2B5EF4-FFF2-40B4-BE49-F238E27FC236}">
                <a16:creationId xmlns:a16="http://schemas.microsoft.com/office/drawing/2014/main" id="{DCD832D4-748B-4359-8D4B-494BD46902A0}"/>
              </a:ext>
            </a:extLst>
          </p:cNvPr>
          <p:cNvSpPr>
            <a:spLocks noGrp="1"/>
          </p:cNvSpPr>
          <p:nvPr/>
        </p:nvSpPr>
        <p:spPr>
          <a:xfrm>
            <a:off x="7966139" y="2476500"/>
            <a:ext cx="2714625" cy="304800"/>
          </a:xfrm>
          <a:prstGeom prst="rect">
            <a:avLst/>
          </a:prstGeom>
          <a:noFill/>
          <a:ln w="0">
            <a:noFill/>
          </a:ln>
        </p:spPr>
        <p:txBody>
          <a:bodyPr lIns="0" tIns="0" rIns="0" bIns="0" anchor="ctr">
            <a:noAutofit/>
          </a:bodyPr>
          <a:lstStyle>
            <a:defPPr algn="l">
              <a:defRPr sz="1800" b="1">
                <a:solidFill>
                  <a:srgbClr val="5965AC"/>
                </a:solidFill>
              </a:defRPr>
            </a:defPPr>
            <a:lvl1pPr algn="l">
              <a:defRPr sz="1800" b="1">
                <a:solidFill>
                  <a:srgbClr val="5965AC"/>
                </a:solidFill>
              </a:defRPr>
            </a:lvl1pPr>
            <a:lvl2pPr algn="l">
              <a:defRPr sz="1800" b="1">
                <a:solidFill>
                  <a:srgbClr val="5965AC"/>
                </a:solidFill>
              </a:defRPr>
            </a:lvl2pPr>
            <a:lvl3pPr algn="l">
              <a:defRPr sz="1800" b="1">
                <a:solidFill>
                  <a:srgbClr val="5965AC"/>
                </a:solidFill>
              </a:defRPr>
            </a:lvl3pPr>
            <a:lvl4pPr algn="l">
              <a:defRPr sz="1800" b="1">
                <a:solidFill>
                  <a:srgbClr val="5965AC"/>
                </a:solidFill>
              </a:defRPr>
            </a:lvl4pPr>
            <a:lvl5pPr algn="l">
              <a:defRPr sz="1800" b="1">
                <a:solidFill>
                  <a:srgbClr val="5965AC"/>
                </a:solidFill>
              </a:defRPr>
            </a:lvl5pPr>
            <a:lvl6pPr algn="l">
              <a:defRPr sz="1800" b="1">
                <a:solidFill>
                  <a:srgbClr val="5965AC"/>
                </a:solidFill>
              </a:defRPr>
            </a:lvl6pPr>
            <a:lvl7pPr algn="l">
              <a:defRPr sz="1800" b="1">
                <a:solidFill>
                  <a:srgbClr val="5965AC"/>
                </a:solidFill>
              </a:defRPr>
            </a:lvl7pPr>
            <a:lvl8pPr algn="l">
              <a:defRPr sz="1800" b="1">
                <a:solidFill>
                  <a:srgbClr val="5965AC"/>
                </a:solidFill>
              </a:defRPr>
            </a:lvl8pPr>
            <a:lvl9pPr algn="l">
              <a:defRPr sz="1800" b="1">
                <a:solidFill>
                  <a:srgbClr val="5965AC"/>
                </a:solidFill>
              </a:defRPr>
            </a:lvl9pPr>
          </a:lstStyle>
          <a:p>
            <a:pPr algn="l">
              <a:defRPr sz="1800" b="1">
                <a:solidFill>
                  <a:srgbClr val="5965AC"/>
                </a:solidFill>
              </a:defRPr>
            </a:pPr>
            <a:r>
              <a:rPr sz="1800" b="1">
                <a:solidFill>
                  <a:srgbClr val="5965AC"/>
                </a:solidFill>
              </a:rPr>
              <a:t>Authority</a:t>
            </a:r>
          </a:p>
        </p:txBody>
      </p:sp>
      <p:sp>
        <p:nvSpPr>
          <p:cNvPr id="2014" name="condition headline 2">
            <a:extLst>
              <a:ext uri="{FF2B5EF4-FFF2-40B4-BE49-F238E27FC236}">
                <a16:creationId xmlns:a16="http://schemas.microsoft.com/office/drawing/2014/main" id="{73425B14-611A-4093-9A62-FB5DA86BD634}"/>
              </a:ext>
            </a:extLst>
          </p:cNvPr>
          <p:cNvSpPr>
            <a:spLocks noGrp="1"/>
          </p:cNvSpPr>
          <p:nvPr/>
        </p:nvSpPr>
        <p:spPr>
          <a:xfrm>
            <a:off x="7966139" y="2914650"/>
            <a:ext cx="2714625" cy="666750"/>
          </a:xfrm>
          <a:prstGeom prst="rect">
            <a:avLst/>
          </a:prstGeom>
          <a:noFill/>
          <a:ln w="0">
            <a:noFill/>
          </a:ln>
        </p:spPr>
        <p:txBody>
          <a:bodyPr lIns="0" tIns="0" rIns="0" bIns="0" anchor="ctr">
            <a:noAutofit/>
          </a:bodyPr>
          <a:lstStyle>
            <a:defPPr algn="l">
              <a:defRPr sz="2100" b="1">
                <a:solidFill>
                  <a:srgbClr val="303238"/>
                </a:solidFill>
              </a:defRPr>
            </a:defPPr>
            <a:lvl1pPr algn="l">
              <a:defRPr sz="2100" b="1">
                <a:solidFill>
                  <a:srgbClr val="303238"/>
                </a:solidFill>
              </a:defRPr>
            </a:lvl1pPr>
            <a:lvl2pPr algn="l">
              <a:defRPr sz="2100" b="1">
                <a:solidFill>
                  <a:srgbClr val="303238"/>
                </a:solidFill>
              </a:defRPr>
            </a:lvl2pPr>
            <a:lvl3pPr algn="l">
              <a:defRPr sz="2100" b="1">
                <a:solidFill>
                  <a:srgbClr val="303238"/>
                </a:solidFill>
              </a:defRPr>
            </a:lvl3pPr>
            <a:lvl4pPr algn="l">
              <a:defRPr sz="2100" b="1">
                <a:solidFill>
                  <a:srgbClr val="303238"/>
                </a:solidFill>
              </a:defRPr>
            </a:lvl4pPr>
            <a:lvl5pPr algn="l">
              <a:defRPr sz="2100" b="1">
                <a:solidFill>
                  <a:srgbClr val="303238"/>
                </a:solidFill>
              </a:defRPr>
            </a:lvl5pPr>
            <a:lvl6pPr algn="l">
              <a:defRPr sz="2100" b="1">
                <a:solidFill>
                  <a:srgbClr val="303238"/>
                </a:solidFill>
              </a:defRPr>
            </a:lvl6pPr>
            <a:lvl7pPr algn="l">
              <a:defRPr sz="2100" b="1">
                <a:solidFill>
                  <a:srgbClr val="303238"/>
                </a:solidFill>
              </a:defRPr>
            </a:lvl7pPr>
            <a:lvl8pPr algn="l">
              <a:defRPr sz="2100" b="1">
                <a:solidFill>
                  <a:srgbClr val="303238"/>
                </a:solidFill>
              </a:defRPr>
            </a:lvl8pPr>
            <a:lvl9pPr algn="l">
              <a:defRPr sz="2100" b="1">
                <a:solidFill>
                  <a:srgbClr val="303238"/>
                </a:solidFill>
              </a:defRPr>
            </a:lvl9pPr>
          </a:lstStyle>
          <a:p>
            <a:pPr algn="l">
              <a:defRPr sz="2100" b="1">
                <a:solidFill>
                  <a:srgbClr val="303238"/>
                </a:solidFill>
              </a:defRPr>
            </a:pPr>
            <a:r>
              <a:rPr sz="2100" b="1">
                <a:solidFill>
                  <a:srgbClr val="303238"/>
                </a:solidFill>
              </a:rPr>
              <a:t>Accountable owner</a:t>
            </a:r>
          </a:p>
          <a:p>
            <a:pPr algn="l">
              <a:defRPr sz="2100" b="1">
                <a:solidFill>
                  <a:srgbClr val="303238"/>
                </a:solidFill>
              </a:defRPr>
            </a:pPr>
            <a:r>
              <a:rPr sz="2100" b="1">
                <a:solidFill>
                  <a:srgbClr val="303238"/>
                </a:solidFill>
              </a:rPr>
              <a:t>approves</a:t>
            </a:r>
          </a:p>
        </p:txBody>
      </p:sp>
      <p:sp>
        <p:nvSpPr>
          <p:cNvPr id="2015" name="condition description 2">
            <a:extLst>
              <a:ext uri="{FF2B5EF4-FFF2-40B4-BE49-F238E27FC236}">
                <a16:creationId xmlns:a16="http://schemas.microsoft.com/office/drawing/2014/main" id="{FC7F5FE3-43CE-4798-BCE2-39FD956F96E9}"/>
              </a:ext>
            </a:extLst>
          </p:cNvPr>
          <p:cNvSpPr>
            <a:spLocks noGrp="1"/>
          </p:cNvSpPr>
          <p:nvPr/>
        </p:nvSpPr>
        <p:spPr>
          <a:xfrm>
            <a:off x="7966139" y="3752850"/>
            <a:ext cx="2714625" cy="485775"/>
          </a:xfrm>
          <a:prstGeom prst="rect">
            <a:avLst/>
          </a:prstGeom>
          <a:noFill/>
          <a:ln w="0">
            <a:noFill/>
          </a:ln>
        </p:spPr>
        <p:txBody>
          <a:bodyPr lIns="0" tIns="0" rIns="0" bIns="0" anchor="ctr">
            <a:noAutofit/>
          </a:bodyPr>
          <a:lstStyle>
            <a:defPPr algn="l">
              <a:defRPr sz="1575" b="0">
                <a:solidFill>
                  <a:srgbClr val="61666B"/>
                </a:solidFill>
              </a:defRPr>
            </a:defPPr>
            <a:lvl1pPr algn="l">
              <a:defRPr sz="1575" b="0">
                <a:solidFill>
                  <a:srgbClr val="61666B"/>
                </a:solidFill>
              </a:defRPr>
            </a:lvl1pPr>
            <a:lvl2pPr algn="l">
              <a:defRPr sz="1575" b="0">
                <a:solidFill>
                  <a:srgbClr val="61666B"/>
                </a:solidFill>
              </a:defRPr>
            </a:lvl2pPr>
            <a:lvl3pPr algn="l">
              <a:defRPr sz="1575" b="0">
                <a:solidFill>
                  <a:srgbClr val="61666B"/>
                </a:solidFill>
              </a:defRPr>
            </a:lvl3pPr>
            <a:lvl4pPr algn="l">
              <a:defRPr sz="1575" b="0">
                <a:solidFill>
                  <a:srgbClr val="61666B"/>
                </a:solidFill>
              </a:defRPr>
            </a:lvl4pPr>
            <a:lvl5pPr algn="l">
              <a:defRPr sz="1575" b="0">
                <a:solidFill>
                  <a:srgbClr val="61666B"/>
                </a:solidFill>
              </a:defRPr>
            </a:lvl5pPr>
            <a:lvl6pPr algn="l">
              <a:defRPr sz="1575" b="0">
                <a:solidFill>
                  <a:srgbClr val="61666B"/>
                </a:solidFill>
              </a:defRPr>
            </a:lvl6pPr>
            <a:lvl7pPr algn="l">
              <a:defRPr sz="1575" b="0">
                <a:solidFill>
                  <a:srgbClr val="61666B"/>
                </a:solidFill>
              </a:defRPr>
            </a:lvl7pPr>
            <a:lvl8pPr algn="l">
              <a:defRPr sz="1575" b="0">
                <a:solidFill>
                  <a:srgbClr val="61666B"/>
                </a:solidFill>
              </a:defRPr>
            </a:lvl8pPr>
            <a:lvl9pPr algn="l">
              <a:defRPr sz="1575" b="0">
                <a:solidFill>
                  <a:srgbClr val="61666B"/>
                </a:solidFill>
              </a:defRPr>
            </a:lvl9pPr>
          </a:lstStyle>
          <a:p>
            <a:pPr algn="l">
              <a:defRPr sz="1575" b="0">
                <a:solidFill>
                  <a:srgbClr val="61666B"/>
                </a:solidFill>
              </a:defRPr>
            </a:pPr>
            <a:r>
              <a:rPr sz="1575" b="0">
                <a:solidFill>
                  <a:srgbClr val="61666B"/>
                </a:solidFill>
              </a:rPr>
              <a:t>Protected-branch</a:t>
            </a:r>
          </a:p>
          <a:p>
            <a:pPr algn="l">
              <a:defRPr sz="1575" b="0">
                <a:solidFill>
                  <a:srgbClr val="61666B"/>
                </a:solidFill>
              </a:defRPr>
            </a:pPr>
            <a:r>
              <a:rPr sz="1575" b="0">
                <a:solidFill>
                  <a:srgbClr val="61666B"/>
                </a:solidFill>
              </a:rPr>
              <a:t>rules enforce the decision</a:t>
            </a:r>
          </a:p>
        </p:txBody>
      </p:sp>
      <p:sp>
        <p:nvSpPr>
          <p:cNvPr id="2016" name="eligibility">
            <a:extLst>
              <a:ext uri="{FF2B5EF4-FFF2-40B4-BE49-F238E27FC236}">
                <a16:creationId xmlns:a16="http://schemas.microsoft.com/office/drawing/2014/main" id="{CAAB0B2D-8AF3-488D-8F6C-11CF7139A301}"/>
              </a:ext>
            </a:extLst>
          </p:cNvPr>
          <p:cNvSpPr>
            <a:spLocks noGrp="1"/>
          </p:cNvSpPr>
          <p:nvPr/>
        </p:nvSpPr>
        <p:spPr>
          <a:xfrm>
            <a:off x="812864" y="4791075"/>
            <a:ext cx="10067925" cy="466725"/>
          </a:xfrm>
          <a:prstGeom prst="rect">
            <a:avLst/>
          </a:prstGeom>
          <a:noFill/>
          <a:ln w="0">
            <a:noFill/>
          </a:ln>
        </p:spPr>
        <p:txBody>
          <a:bodyPr lIns="0" tIns="0" rIns="0" bIns="0" anchor="ctr">
            <a:noAutofit/>
          </a:bodyPr>
          <a:lstStyle>
            <a:defPPr algn="l">
              <a:defRPr sz="2400" b="1">
                <a:solidFill>
                  <a:srgbClr val="4F8734"/>
                </a:solidFill>
              </a:defRPr>
            </a:defPPr>
            <a:lvl1pPr algn="l">
              <a:defRPr sz="2400" b="1">
                <a:solidFill>
                  <a:srgbClr val="4F8734"/>
                </a:solidFill>
              </a:defRPr>
            </a:lvl1pPr>
            <a:lvl2pPr algn="l">
              <a:defRPr sz="2400" b="1">
                <a:solidFill>
                  <a:srgbClr val="4F8734"/>
                </a:solidFill>
              </a:defRPr>
            </a:lvl2pPr>
            <a:lvl3pPr algn="l">
              <a:defRPr sz="2400" b="1">
                <a:solidFill>
                  <a:srgbClr val="4F8734"/>
                </a:solidFill>
              </a:defRPr>
            </a:lvl3pPr>
            <a:lvl4pPr algn="l">
              <a:defRPr sz="2400" b="1">
                <a:solidFill>
                  <a:srgbClr val="4F8734"/>
                </a:solidFill>
              </a:defRPr>
            </a:lvl4pPr>
            <a:lvl5pPr algn="l">
              <a:defRPr sz="2400" b="1">
                <a:solidFill>
                  <a:srgbClr val="4F8734"/>
                </a:solidFill>
              </a:defRPr>
            </a:lvl5pPr>
            <a:lvl6pPr algn="l">
              <a:defRPr sz="2400" b="1">
                <a:solidFill>
                  <a:srgbClr val="4F8734"/>
                </a:solidFill>
              </a:defRPr>
            </a:lvl6pPr>
            <a:lvl7pPr algn="l">
              <a:defRPr sz="2400" b="1">
                <a:solidFill>
                  <a:srgbClr val="4F8734"/>
                </a:solidFill>
              </a:defRPr>
            </a:lvl7pPr>
            <a:lvl8pPr algn="l">
              <a:defRPr sz="2400" b="1">
                <a:solidFill>
                  <a:srgbClr val="4F8734"/>
                </a:solidFill>
              </a:defRPr>
            </a:lvl8pPr>
            <a:lvl9pPr algn="l">
              <a:defRPr sz="2400" b="1">
                <a:solidFill>
                  <a:srgbClr val="4F8734"/>
                </a:solidFill>
              </a:defRPr>
            </a:lvl9pPr>
          </a:lstStyle>
          <a:p>
            <a:pPr algn="l">
              <a:defRPr sz="2400" b="1">
                <a:solidFill>
                  <a:srgbClr val="4F8734"/>
                </a:solidFill>
              </a:defRPr>
            </a:pPr>
            <a:r>
              <a:rPr sz="2400" b="1">
                <a:solidFill>
                  <a:srgbClr val="4F8734"/>
                </a:solidFill>
              </a:rPr>
              <a:t>All three must be satisfied before merge.</a:t>
            </a:r>
          </a:p>
        </p:txBody>
      </p:sp>
      <p:sp>
        <p:nvSpPr>
          <p:cNvPr id="2017" name="missing evidence">
            <a:extLst>
              <a:ext uri="{FF2B5EF4-FFF2-40B4-BE49-F238E27FC236}">
                <a16:creationId xmlns:a16="http://schemas.microsoft.com/office/drawing/2014/main" id="{0CB9DF11-DA44-4AE1-8C03-9425EA3F48F6}"/>
              </a:ext>
            </a:extLst>
          </p:cNvPr>
          <p:cNvSpPr>
            <a:spLocks noGrp="1"/>
          </p:cNvSpPr>
          <p:nvPr/>
        </p:nvSpPr>
        <p:spPr>
          <a:xfrm>
            <a:off x="812864" y="5314950"/>
            <a:ext cx="10067925" cy="381000"/>
          </a:xfrm>
          <a:prstGeom prst="rect">
            <a:avLst/>
          </a:prstGeom>
          <a:noFill/>
          <a:ln w="0">
            <a:noFill/>
          </a:ln>
        </p:spPr>
        <p:txBody>
          <a:bodyPr lIns="0" tIns="0" rIns="0" bIns="0" anchor="ctr">
            <a:noAutofit/>
          </a:bodyPr>
          <a:lstStyle>
            <a:defPPr algn="l">
              <a:defRPr sz="1725" b="0">
                <a:solidFill>
                  <a:srgbClr val="303238"/>
                </a:solidFill>
              </a:defRPr>
            </a:defPPr>
            <a:lvl1pPr algn="l">
              <a:defRPr sz="1725" b="0">
                <a:solidFill>
                  <a:srgbClr val="303238"/>
                </a:solidFill>
              </a:defRPr>
            </a:lvl1pPr>
            <a:lvl2pPr algn="l">
              <a:defRPr sz="1725" b="0">
                <a:solidFill>
                  <a:srgbClr val="303238"/>
                </a:solidFill>
              </a:defRPr>
            </a:lvl2pPr>
            <a:lvl3pPr algn="l">
              <a:defRPr sz="1725" b="0">
                <a:solidFill>
                  <a:srgbClr val="303238"/>
                </a:solidFill>
              </a:defRPr>
            </a:lvl3pPr>
            <a:lvl4pPr algn="l">
              <a:defRPr sz="1725" b="0">
                <a:solidFill>
                  <a:srgbClr val="303238"/>
                </a:solidFill>
              </a:defRPr>
            </a:lvl4pPr>
            <a:lvl5pPr algn="l">
              <a:defRPr sz="1725" b="0">
                <a:solidFill>
                  <a:srgbClr val="303238"/>
                </a:solidFill>
              </a:defRPr>
            </a:lvl5pPr>
            <a:lvl6pPr algn="l">
              <a:defRPr sz="1725" b="0">
                <a:solidFill>
                  <a:srgbClr val="303238"/>
                </a:solidFill>
              </a:defRPr>
            </a:lvl6pPr>
            <a:lvl7pPr algn="l">
              <a:defRPr sz="1725" b="0">
                <a:solidFill>
                  <a:srgbClr val="303238"/>
                </a:solidFill>
              </a:defRPr>
            </a:lvl7pPr>
            <a:lvl8pPr algn="l">
              <a:defRPr sz="1725" b="0">
                <a:solidFill>
                  <a:srgbClr val="303238"/>
                </a:solidFill>
              </a:defRPr>
            </a:lvl8pPr>
            <a:lvl9pPr algn="l">
              <a:defRPr sz="1725" b="0">
                <a:solidFill>
                  <a:srgbClr val="303238"/>
                </a:solidFill>
              </a:defRPr>
            </a:lvl9pPr>
          </a:lstStyle>
          <a:p>
            <a:pPr algn="l">
              <a:defRPr sz="1725" b="0">
                <a:solidFill>
                  <a:srgbClr val="303238"/>
                </a:solidFill>
              </a:defRPr>
            </a:pPr>
            <a:r>
              <a:rPr sz="1725" b="0">
                <a:solidFill>
                  <a:srgbClr val="303238"/>
                </a:solidFill>
              </a:rPr>
              <a:t>Missing required evidence or approval keeps the decision pending.</a:t>
            </a:r>
          </a:p>
        </p:txBody>
      </p:sp>
      <p:sp>
        <p:nvSpPr>
          <p:cNvPr id="2018" name="revision rule">
            <a:extLst>
              <a:ext uri="{FF2B5EF4-FFF2-40B4-BE49-F238E27FC236}">
                <a16:creationId xmlns:a16="http://schemas.microsoft.com/office/drawing/2014/main" id="{9AFB0188-7735-4576-8550-BC465C4518D3}"/>
              </a:ext>
            </a:extLst>
          </p:cNvPr>
          <p:cNvSpPr>
            <a:spLocks noGrp="1"/>
          </p:cNvSpPr>
          <p:nvPr/>
        </p:nvSpPr>
        <p:spPr>
          <a:xfrm>
            <a:off x="812864" y="5857875"/>
            <a:ext cx="10067925" cy="323850"/>
          </a:xfrm>
          <a:prstGeom prst="rect">
            <a:avLst/>
          </a:prstGeom>
          <a:noFill/>
          <a:ln w="0">
            <a:noFill/>
          </a:ln>
        </p:spPr>
        <p:txBody>
          <a:bodyPr lIns="0" tIns="0" rIns="0" bIns="0" anchor="ctr">
            <a:noAutofit/>
          </a:bodyPr>
          <a:lstStyle>
            <a:defPPr algn="l">
              <a:defRPr sz="1650" b="1">
                <a:solidFill>
                  <a:srgbClr val="5965AC"/>
                </a:solidFill>
              </a:defRPr>
            </a:defPPr>
            <a:lvl1pPr algn="l">
              <a:defRPr sz="1650" b="1">
                <a:solidFill>
                  <a:srgbClr val="5965AC"/>
                </a:solidFill>
              </a:defRPr>
            </a:lvl1pPr>
            <a:lvl2pPr algn="l">
              <a:defRPr sz="1650" b="1">
                <a:solidFill>
                  <a:srgbClr val="5965AC"/>
                </a:solidFill>
              </a:defRPr>
            </a:lvl2pPr>
            <a:lvl3pPr algn="l">
              <a:defRPr sz="1650" b="1">
                <a:solidFill>
                  <a:srgbClr val="5965AC"/>
                </a:solidFill>
              </a:defRPr>
            </a:lvl3pPr>
            <a:lvl4pPr algn="l">
              <a:defRPr sz="1650" b="1">
                <a:solidFill>
                  <a:srgbClr val="5965AC"/>
                </a:solidFill>
              </a:defRPr>
            </a:lvl4pPr>
            <a:lvl5pPr algn="l">
              <a:defRPr sz="1650" b="1">
                <a:solidFill>
                  <a:srgbClr val="5965AC"/>
                </a:solidFill>
              </a:defRPr>
            </a:lvl5pPr>
            <a:lvl6pPr algn="l">
              <a:defRPr sz="1650" b="1">
                <a:solidFill>
                  <a:srgbClr val="5965AC"/>
                </a:solidFill>
              </a:defRPr>
            </a:lvl6pPr>
            <a:lvl7pPr algn="l">
              <a:defRPr sz="1650" b="1">
                <a:solidFill>
                  <a:srgbClr val="5965AC"/>
                </a:solidFill>
              </a:defRPr>
            </a:lvl7pPr>
            <a:lvl8pPr algn="l">
              <a:defRPr sz="1650" b="1">
                <a:solidFill>
                  <a:srgbClr val="5965AC"/>
                </a:solidFill>
              </a:defRPr>
            </a:lvl8pPr>
            <a:lvl9pPr algn="l">
              <a:defRPr sz="1650" b="1">
                <a:solidFill>
                  <a:srgbClr val="5965AC"/>
                </a:solidFill>
              </a:defRPr>
            </a:lvl9pPr>
          </a:lstStyle>
          <a:p>
            <a:pPr algn="l">
              <a:defRPr sz="1650" b="1">
                <a:solidFill>
                  <a:srgbClr val="5965AC"/>
                </a:solidFill>
              </a:defRPr>
            </a:pPr>
            <a:r>
              <a:rPr sz="1650" b="1">
                <a:solidFill>
                  <a:srgbClr val="5965AC"/>
                </a:solidFill>
              </a:rPr>
              <a:t>Code changed? Refresh affected checks, the review record and approvals.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0">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cxnSp>
        <p:nvCxnSpPr>
          <p:cNvPr id="2022" name="Straight Arrow Connector 2021">
            <a:extLst>
              <a:ext uri="{FF2B5EF4-FFF2-40B4-BE49-F238E27FC236}">
                <a16:creationId xmlns:a16="http://schemas.microsoft.com/office/drawing/2014/main" id="{7951FB65-5F23-4923-A82A-304EE9CB87CE}"/>
              </a:ext>
            </a:extLst>
          </p:cNvPr>
          <p:cNvCxnSpPr>
            <a:stCxn id="2012" idx="3"/>
            <a:endCxn id="2016" idx="1"/>
          </p:cNvCxnSpPr>
          <p:nvPr/>
        </p:nvCxnSpPr>
        <p:spPr>
          <a:xfrm>
            <a:off x="8470964" y="3405188"/>
            <a:ext cx="400050" cy="0"/>
          </a:xfrm>
          <a:prstGeom prst="straightConnector1">
            <a:avLst/>
          </a:prstGeom>
          <a:ln w="19050">
            <a:solidFill>
              <a:srgbClr val="4F8734"/>
            </a:solidFill>
            <a:tailEnd type="triangle" w="med" len="med"/>
          </a:ln>
        </p:spPr>
      </p:cxnSp>
      <p:cxnSp>
        <p:nvCxnSpPr>
          <p:cNvPr id="2021" name="Straight Arrow Connector 2020">
            <a:extLst>
              <a:ext uri="{FF2B5EF4-FFF2-40B4-BE49-F238E27FC236}">
                <a16:creationId xmlns:a16="http://schemas.microsoft.com/office/drawing/2014/main" id="{D923344C-E054-41FF-9478-DA44DB630735}"/>
              </a:ext>
            </a:extLst>
          </p:cNvPr>
          <p:cNvCxnSpPr>
            <a:stCxn id="2008" idx="3"/>
            <a:endCxn id="2012" idx="1"/>
          </p:cNvCxnSpPr>
          <p:nvPr/>
        </p:nvCxnSpPr>
        <p:spPr>
          <a:xfrm>
            <a:off x="5784914" y="3405188"/>
            <a:ext cx="400050" cy="0"/>
          </a:xfrm>
          <a:prstGeom prst="straightConnector1">
            <a:avLst/>
          </a:prstGeom>
          <a:ln w="19050">
            <a:solidFill>
              <a:srgbClr val="4F8734"/>
            </a:solidFill>
            <a:tailEnd type="triangle" w="med" len="med"/>
          </a:ln>
        </p:spPr>
      </p:cxnSp>
      <p:cxnSp>
        <p:nvCxnSpPr>
          <p:cNvPr id="2020" name="Straight Arrow Connector 2019">
            <a:extLst>
              <a:ext uri="{FF2B5EF4-FFF2-40B4-BE49-F238E27FC236}">
                <a16:creationId xmlns:a16="http://schemas.microsoft.com/office/drawing/2014/main" id="{A35220CC-A9DA-4511-B73C-CB7878E13B13}"/>
              </a:ext>
            </a:extLst>
          </p:cNvPr>
          <p:cNvCxnSpPr>
            <a:stCxn id="2004" idx="3"/>
            <a:endCxn id="2008" idx="1"/>
          </p:cNvCxnSpPr>
          <p:nvPr/>
        </p:nvCxnSpPr>
        <p:spPr>
          <a:xfrm>
            <a:off x="3098864" y="3405188"/>
            <a:ext cx="400050" cy="0"/>
          </a:xfrm>
          <a:prstGeom prst="straightConnector1">
            <a:avLst/>
          </a:prstGeom>
          <a:ln w="19050">
            <a:solidFill>
              <a:srgbClr val="4F8734"/>
            </a:solidFill>
            <a:tailEnd type="triangle" w="med" len="med"/>
          </a:ln>
        </p:spPr>
      </p:cxnSp>
      <p:sp>
        <p:nvSpPr>
          <p:cNvPr id="2026" name="title">
            <a:extLst>
              <a:ext uri="{FF2B5EF4-FFF2-40B4-BE49-F238E27FC236}">
                <a16:creationId xmlns:a16="http://schemas.microsoft.com/office/drawing/2014/main" id="{F9F4B588-4450-4E92-807A-C34D0016840B}"/>
              </a:ext>
            </a:extLst>
          </p:cNvPr>
          <p:cNvSpPr>
            <a:spLocks noGrp="1"/>
          </p:cNvSpPr>
          <p:nvPr/>
        </p:nvSpPr>
        <p:spPr>
          <a:xfrm>
            <a:off x="812864" y="819150"/>
            <a:ext cx="10572750" cy="514350"/>
          </a:xfrm>
          <a:prstGeom prst="rect">
            <a:avLst/>
          </a:prstGeom>
          <a:noFill/>
          <a:ln w="0">
            <a:noFill/>
          </a:ln>
        </p:spPr>
        <p:txBody>
          <a:bodyPr lIns="0" tIns="0" rIns="0" bIns="0" anchor="ctr">
            <a:noAutofit/>
          </a:bodyPr>
          <a:lstStyle>
            <a:defPPr algn="l">
              <a:defRPr sz="3000" b="1">
                <a:solidFill>
                  <a:srgbClr val="4F8734"/>
                </a:solidFill>
              </a:defRPr>
            </a:defPPr>
            <a:lvl1pPr algn="l">
              <a:defRPr sz="3000" b="1">
                <a:solidFill>
                  <a:srgbClr val="4F8734"/>
                </a:solidFill>
              </a:defRPr>
            </a:lvl1pPr>
            <a:lvl2pPr algn="l">
              <a:defRPr sz="3000" b="1">
                <a:solidFill>
                  <a:srgbClr val="4F8734"/>
                </a:solidFill>
              </a:defRPr>
            </a:lvl2pPr>
            <a:lvl3pPr algn="l">
              <a:defRPr sz="3000" b="1">
                <a:solidFill>
                  <a:srgbClr val="4F8734"/>
                </a:solidFill>
              </a:defRPr>
            </a:lvl3pPr>
            <a:lvl4pPr algn="l">
              <a:defRPr sz="3000" b="1">
                <a:solidFill>
                  <a:srgbClr val="4F8734"/>
                </a:solidFill>
              </a:defRPr>
            </a:lvl4pPr>
            <a:lvl5pPr algn="l">
              <a:defRPr sz="3000" b="1">
                <a:solidFill>
                  <a:srgbClr val="4F8734"/>
                </a:solidFill>
              </a:defRPr>
            </a:lvl5pPr>
            <a:lvl6pPr algn="l">
              <a:defRPr sz="3000" b="1">
                <a:solidFill>
                  <a:srgbClr val="4F8734"/>
                </a:solidFill>
              </a:defRPr>
            </a:lvl6pPr>
            <a:lvl7pPr algn="l">
              <a:defRPr sz="3000" b="1">
                <a:solidFill>
                  <a:srgbClr val="4F8734"/>
                </a:solidFill>
              </a:defRPr>
            </a:lvl7pPr>
            <a:lvl8pPr algn="l">
              <a:defRPr sz="3000" b="1">
                <a:solidFill>
                  <a:srgbClr val="4F8734"/>
                </a:solidFill>
              </a:defRPr>
            </a:lvl8pPr>
            <a:lvl9pPr algn="l">
              <a:defRPr sz="3000" b="1">
                <a:solidFill>
                  <a:srgbClr val="4F8734"/>
                </a:solidFill>
              </a:defRPr>
            </a:lvl9pPr>
          </a:lstStyle>
          <a:p>
            <a:pPr algn="l">
              <a:defRPr sz="3000" b="1">
                <a:solidFill>
                  <a:srgbClr val="4F8734"/>
                </a:solidFill>
              </a:defRPr>
            </a:pPr>
            <a:r>
              <a:rPr sz="3000" b="1">
                <a:solidFill>
                  <a:srgbClr val="4F8734"/>
                </a:solidFill>
              </a:rPr>
              <a:t>Run a four-week shadow pilot</a:t>
            </a:r>
          </a:p>
        </p:txBody>
      </p:sp>
      <p:sp>
        <p:nvSpPr>
          <p:cNvPr id="2002" name="subtitle">
            <a:extLst>
              <a:ext uri="{FF2B5EF4-FFF2-40B4-BE49-F238E27FC236}">
                <a16:creationId xmlns:a16="http://schemas.microsoft.com/office/drawing/2014/main" id="{24D41782-A406-4853-81D0-D7E0A9E20E9F}"/>
              </a:ext>
            </a:extLst>
          </p:cNvPr>
          <p:cNvSpPr>
            <a:spLocks noGrp="1"/>
          </p:cNvSpPr>
          <p:nvPr/>
        </p:nvSpPr>
        <p:spPr>
          <a:xfrm>
            <a:off x="812864" y="1409700"/>
            <a:ext cx="10572750" cy="523875"/>
          </a:xfrm>
          <a:prstGeom prst="rect">
            <a:avLst/>
          </a:prstGeom>
          <a:noFill/>
          <a:ln w="0">
            <a:noFill/>
          </a:ln>
        </p:spPr>
        <p:txBody>
          <a:bodyPr lIns="0" tIns="0" rIns="0" bIns="0" anchor="ctr">
            <a:noAutofit/>
          </a:bodyPr>
          <a:lstStyle>
            <a:defPPr algn="l">
              <a:defRPr sz="1725" b="0">
                <a:solidFill>
                  <a:srgbClr val="303238"/>
                </a:solidFill>
              </a:defRPr>
            </a:defPPr>
            <a:lvl1pPr algn="l">
              <a:defRPr sz="1725" b="0">
                <a:solidFill>
                  <a:srgbClr val="303238"/>
                </a:solidFill>
              </a:defRPr>
            </a:lvl1pPr>
            <a:lvl2pPr algn="l">
              <a:defRPr sz="1725" b="0">
                <a:solidFill>
                  <a:srgbClr val="303238"/>
                </a:solidFill>
              </a:defRPr>
            </a:lvl2pPr>
            <a:lvl3pPr algn="l">
              <a:defRPr sz="1725" b="0">
                <a:solidFill>
                  <a:srgbClr val="303238"/>
                </a:solidFill>
              </a:defRPr>
            </a:lvl3pPr>
            <a:lvl4pPr algn="l">
              <a:defRPr sz="1725" b="0">
                <a:solidFill>
                  <a:srgbClr val="303238"/>
                </a:solidFill>
              </a:defRPr>
            </a:lvl4pPr>
            <a:lvl5pPr algn="l">
              <a:defRPr sz="1725" b="0">
                <a:solidFill>
                  <a:srgbClr val="303238"/>
                </a:solidFill>
              </a:defRPr>
            </a:lvl5pPr>
            <a:lvl6pPr algn="l">
              <a:defRPr sz="1725" b="0">
                <a:solidFill>
                  <a:srgbClr val="303238"/>
                </a:solidFill>
              </a:defRPr>
            </a:lvl6pPr>
            <a:lvl7pPr algn="l">
              <a:defRPr sz="1725" b="0">
                <a:solidFill>
                  <a:srgbClr val="303238"/>
                </a:solidFill>
              </a:defRPr>
            </a:lvl7pPr>
            <a:lvl8pPr algn="l">
              <a:defRPr sz="1725" b="0">
                <a:solidFill>
                  <a:srgbClr val="303238"/>
                </a:solidFill>
              </a:defRPr>
            </a:lvl8pPr>
            <a:lvl9pPr algn="l">
              <a:defRPr sz="1725" b="0">
                <a:solidFill>
                  <a:srgbClr val="303238"/>
                </a:solidFill>
              </a:defRPr>
            </a:lvl9pPr>
          </a:lstStyle>
          <a:p>
            <a:pPr algn="l">
              <a:defRPr sz="1725" b="0">
                <a:solidFill>
                  <a:srgbClr val="303238"/>
                </a:solidFill>
              </a:defRPr>
            </a:pPr>
            <a:r>
              <a:rPr sz="1725" b="0">
                <a:solidFill>
                  <a:srgbClr val="303238"/>
                </a:solidFill>
              </a:rPr>
              <a:t>Evaluate on your code while keeping existing review and merge controls.</a:t>
            </a:r>
          </a:p>
        </p:txBody>
      </p:sp>
      <p:sp>
        <p:nvSpPr>
          <p:cNvPr id="2003" name="conference footer">
            <a:extLst>
              <a:ext uri="{FF2B5EF4-FFF2-40B4-BE49-F238E27FC236}">
                <a16:creationId xmlns:a16="http://schemas.microsoft.com/office/drawing/2014/main" id="{172AE866-64DC-495E-91B8-F488BB92A4F5}"/>
              </a:ext>
            </a:extLst>
          </p:cNvPr>
          <p:cNvSpPr>
            <a:spLocks noGrp="1"/>
          </p:cNvSpPr>
          <p:nvPr/>
        </p:nvSpPr>
        <p:spPr>
          <a:xfrm>
            <a:off x="7258050" y="6448425"/>
            <a:ext cx="3333750" cy="209550"/>
          </a:xfrm>
          <a:prstGeom prst="rect">
            <a:avLst/>
          </a:prstGeom>
          <a:noFill/>
          <a:ln w="0">
            <a:noFill/>
          </a:ln>
        </p:spPr>
        <p:txBody>
          <a:bodyPr lIns="0" tIns="0" rIns="0" bIns="0" anchor="ctr">
            <a:noAutofit/>
          </a:bodyPr>
          <a:lstStyle>
            <a:defPPr algn="l">
              <a:defRPr sz="1050" b="0">
                <a:solidFill>
                  <a:srgbClr val="8A8A8A"/>
                </a:solidFill>
              </a:defRPr>
            </a:defPPr>
            <a:lvl1pPr algn="l">
              <a:defRPr sz="1050" b="0">
                <a:solidFill>
                  <a:srgbClr val="8A8A8A"/>
                </a:solidFill>
              </a:defRPr>
            </a:lvl1pPr>
            <a:lvl2pPr algn="l">
              <a:defRPr sz="1050" b="0">
                <a:solidFill>
                  <a:srgbClr val="8A8A8A"/>
                </a:solidFill>
              </a:defRPr>
            </a:lvl2pPr>
            <a:lvl3pPr algn="l">
              <a:defRPr sz="1050" b="0">
                <a:solidFill>
                  <a:srgbClr val="8A8A8A"/>
                </a:solidFill>
              </a:defRPr>
            </a:lvl3pPr>
            <a:lvl4pPr algn="l">
              <a:defRPr sz="1050" b="0">
                <a:solidFill>
                  <a:srgbClr val="8A8A8A"/>
                </a:solidFill>
              </a:defRPr>
            </a:lvl4pPr>
            <a:lvl5pPr algn="l">
              <a:defRPr sz="1050" b="0">
                <a:solidFill>
                  <a:srgbClr val="8A8A8A"/>
                </a:solidFill>
              </a:defRPr>
            </a:lvl5pPr>
            <a:lvl6pPr algn="l">
              <a:defRPr sz="1050" b="0">
                <a:solidFill>
                  <a:srgbClr val="8A8A8A"/>
                </a:solidFill>
              </a:defRPr>
            </a:lvl6pPr>
            <a:lvl7pPr algn="l">
              <a:defRPr sz="1050" b="0">
                <a:solidFill>
                  <a:srgbClr val="8A8A8A"/>
                </a:solidFill>
              </a:defRPr>
            </a:lvl7pPr>
            <a:lvl8pPr algn="l">
              <a:defRPr sz="1050" b="0">
                <a:solidFill>
                  <a:srgbClr val="8A8A8A"/>
                </a:solidFill>
              </a:defRPr>
            </a:lvl8pPr>
            <a:lvl9pPr algn="l">
              <a:defRPr sz="1050" b="0">
                <a:solidFill>
                  <a:srgbClr val="8A8A8A"/>
                </a:solidFill>
              </a:defRPr>
            </a:lvl9pPr>
          </a:lstStyle>
          <a:p>
            <a:pPr algn="l">
              <a:defRPr sz="1050" b="0">
                <a:solidFill>
                  <a:srgbClr val="8A8A8A"/>
                </a:solidFill>
              </a:defRPr>
            </a:pPr>
            <a:r>
              <a:rPr sz="1050" b="0">
                <a:solidFill>
                  <a:srgbClr val="8A8A8A"/>
                </a:solidFill>
              </a:rPr>
              <a:t>ISC2.org/Congress | #ISC2Congress</a:t>
            </a:r>
          </a:p>
        </p:txBody>
      </p:sp>
      <p:sp>
        <p:nvSpPr>
          <p:cNvPr id="2004" name="pilot week 0">
            <a:extLst>
              <a:ext uri="{FF2B5EF4-FFF2-40B4-BE49-F238E27FC236}">
                <a16:creationId xmlns:a16="http://schemas.microsoft.com/office/drawing/2014/main" id="{209133F4-8CB0-4544-9A59-42C2ABE24F9D}"/>
              </a:ext>
            </a:extLst>
          </p:cNvPr>
          <p:cNvSpPr>
            <a:spLocks noGrp="1"/>
          </p:cNvSpPr>
          <p:nvPr/>
        </p:nvSpPr>
        <p:spPr>
          <a:xfrm>
            <a:off x="812864" y="2352675"/>
            <a:ext cx="2286000" cy="2105025"/>
          </a:xfrm>
          <a:prstGeom prst="roundRect">
            <a:avLst>
              <a:gd name="adj" fmla="val 3620"/>
            </a:avLst>
          </a:prstGeom>
          <a:solidFill>
            <a:srgbClr val="F1F6ED"/>
          </a:solidFill>
          <a:ln w="9525">
            <a:solidFill>
              <a:srgbClr val="D7DDD4"/>
            </a:solidFill>
          </a:ln>
        </p:spPr>
        <p:txBody>
          <a:bodyPr/>
          <a:lstStyle/>
          <a:p>
            <a:endParaRPr lang="en-US"/>
          </a:p>
        </p:txBody>
      </p:sp>
      <p:sp>
        <p:nvSpPr>
          <p:cNvPr id="2005" name="week number 0">
            <a:extLst>
              <a:ext uri="{FF2B5EF4-FFF2-40B4-BE49-F238E27FC236}">
                <a16:creationId xmlns:a16="http://schemas.microsoft.com/office/drawing/2014/main" id="{F78E1F96-5FE6-4DB0-A342-7E9D4DBE1ECE}"/>
              </a:ext>
            </a:extLst>
          </p:cNvPr>
          <p:cNvSpPr>
            <a:spLocks noGrp="1"/>
          </p:cNvSpPr>
          <p:nvPr/>
        </p:nvSpPr>
        <p:spPr>
          <a:xfrm>
            <a:off x="984314" y="2505075"/>
            <a:ext cx="1943100" cy="247650"/>
          </a:xfrm>
          <a:prstGeom prst="rect">
            <a:avLst/>
          </a:prstGeom>
          <a:noFill/>
          <a:ln w="0">
            <a:noFill/>
          </a:ln>
        </p:spPr>
        <p:txBody>
          <a:bodyPr lIns="0" tIns="0" rIns="0" bIns="0" anchor="ctr">
            <a:noAutofit/>
          </a:bodyPr>
          <a:lstStyle>
            <a:defPPr algn="l">
              <a:defRPr sz="1350" b="1">
                <a:solidFill>
                  <a:srgbClr val="61666B"/>
                </a:solidFill>
              </a:defRPr>
            </a:defPPr>
            <a:lvl1pPr algn="l">
              <a:defRPr sz="1350" b="1">
                <a:solidFill>
                  <a:srgbClr val="61666B"/>
                </a:solidFill>
              </a:defRPr>
            </a:lvl1pPr>
            <a:lvl2pPr algn="l">
              <a:defRPr sz="1350" b="1">
                <a:solidFill>
                  <a:srgbClr val="61666B"/>
                </a:solidFill>
              </a:defRPr>
            </a:lvl2pPr>
            <a:lvl3pPr algn="l">
              <a:defRPr sz="1350" b="1">
                <a:solidFill>
                  <a:srgbClr val="61666B"/>
                </a:solidFill>
              </a:defRPr>
            </a:lvl3pPr>
            <a:lvl4pPr algn="l">
              <a:defRPr sz="1350" b="1">
                <a:solidFill>
                  <a:srgbClr val="61666B"/>
                </a:solidFill>
              </a:defRPr>
            </a:lvl4pPr>
            <a:lvl5pPr algn="l">
              <a:defRPr sz="1350" b="1">
                <a:solidFill>
                  <a:srgbClr val="61666B"/>
                </a:solidFill>
              </a:defRPr>
            </a:lvl5pPr>
            <a:lvl6pPr algn="l">
              <a:defRPr sz="1350" b="1">
                <a:solidFill>
                  <a:srgbClr val="61666B"/>
                </a:solidFill>
              </a:defRPr>
            </a:lvl6pPr>
            <a:lvl7pPr algn="l">
              <a:defRPr sz="1350" b="1">
                <a:solidFill>
                  <a:srgbClr val="61666B"/>
                </a:solidFill>
              </a:defRPr>
            </a:lvl7pPr>
            <a:lvl8pPr algn="l">
              <a:defRPr sz="1350" b="1">
                <a:solidFill>
                  <a:srgbClr val="61666B"/>
                </a:solidFill>
              </a:defRPr>
            </a:lvl8pPr>
            <a:lvl9pPr algn="l">
              <a:defRPr sz="1350" b="1">
                <a:solidFill>
                  <a:srgbClr val="61666B"/>
                </a:solidFill>
              </a:defRPr>
            </a:lvl9pPr>
          </a:lstStyle>
          <a:p>
            <a:pPr algn="l">
              <a:defRPr sz="1350" b="1">
                <a:solidFill>
                  <a:srgbClr val="61666B"/>
                </a:solidFill>
              </a:defRPr>
            </a:pPr>
            <a:r>
              <a:rPr sz="1350" b="1">
                <a:solidFill>
                  <a:srgbClr val="61666B"/>
                </a:solidFill>
              </a:rPr>
              <a:t>WEEK 1</a:t>
            </a:r>
          </a:p>
        </p:txBody>
      </p:sp>
      <p:sp>
        <p:nvSpPr>
          <p:cNvPr id="2006" name="week title 0">
            <a:extLst>
              <a:ext uri="{FF2B5EF4-FFF2-40B4-BE49-F238E27FC236}">
                <a16:creationId xmlns:a16="http://schemas.microsoft.com/office/drawing/2014/main" id="{93C90630-EF29-431B-89AB-0552751BE519}"/>
              </a:ext>
            </a:extLst>
          </p:cNvPr>
          <p:cNvSpPr>
            <a:spLocks noGrp="1"/>
          </p:cNvSpPr>
          <p:nvPr/>
        </p:nvSpPr>
        <p:spPr>
          <a:xfrm>
            <a:off x="984314" y="2924175"/>
            <a:ext cx="1943100" cy="361950"/>
          </a:xfrm>
          <a:prstGeom prst="rect">
            <a:avLst/>
          </a:prstGeom>
          <a:noFill/>
          <a:ln w="0">
            <a:noFill/>
          </a:ln>
        </p:spPr>
        <p:txBody>
          <a:bodyPr lIns="0" tIns="0" rIns="0" bIns="0" anchor="ctr">
            <a:noAutofit/>
          </a:bodyPr>
          <a:lstStyle>
            <a:defPPr algn="l">
              <a:defRPr sz="2175" b="1">
                <a:solidFill>
                  <a:srgbClr val="4F8734"/>
                </a:solidFill>
              </a:defRPr>
            </a:defPPr>
            <a:lvl1pPr algn="l">
              <a:defRPr sz="2175" b="1">
                <a:solidFill>
                  <a:srgbClr val="4F8734"/>
                </a:solidFill>
              </a:defRPr>
            </a:lvl1pPr>
            <a:lvl2pPr algn="l">
              <a:defRPr sz="2175" b="1">
                <a:solidFill>
                  <a:srgbClr val="4F8734"/>
                </a:solidFill>
              </a:defRPr>
            </a:lvl2pPr>
            <a:lvl3pPr algn="l">
              <a:defRPr sz="2175" b="1">
                <a:solidFill>
                  <a:srgbClr val="4F8734"/>
                </a:solidFill>
              </a:defRPr>
            </a:lvl3pPr>
            <a:lvl4pPr algn="l">
              <a:defRPr sz="2175" b="1">
                <a:solidFill>
                  <a:srgbClr val="4F8734"/>
                </a:solidFill>
              </a:defRPr>
            </a:lvl4pPr>
            <a:lvl5pPr algn="l">
              <a:defRPr sz="2175" b="1">
                <a:solidFill>
                  <a:srgbClr val="4F8734"/>
                </a:solidFill>
              </a:defRPr>
            </a:lvl5pPr>
            <a:lvl6pPr algn="l">
              <a:defRPr sz="2175" b="1">
                <a:solidFill>
                  <a:srgbClr val="4F8734"/>
                </a:solidFill>
              </a:defRPr>
            </a:lvl6pPr>
            <a:lvl7pPr algn="l">
              <a:defRPr sz="2175" b="1">
                <a:solidFill>
                  <a:srgbClr val="4F8734"/>
                </a:solidFill>
              </a:defRPr>
            </a:lvl7pPr>
            <a:lvl8pPr algn="l">
              <a:defRPr sz="2175" b="1">
                <a:solidFill>
                  <a:srgbClr val="4F8734"/>
                </a:solidFill>
              </a:defRPr>
            </a:lvl8pPr>
            <a:lvl9pPr algn="l">
              <a:defRPr sz="2175" b="1">
                <a:solidFill>
                  <a:srgbClr val="4F8734"/>
                </a:solidFill>
              </a:defRPr>
            </a:lvl9pPr>
          </a:lstStyle>
          <a:p>
            <a:pPr algn="l">
              <a:defRPr sz="2175" b="1">
                <a:solidFill>
                  <a:srgbClr val="4F8734"/>
                </a:solidFill>
              </a:defRPr>
            </a:pPr>
            <a:r>
              <a:rPr sz="2175" b="1">
                <a:solidFill>
                  <a:srgbClr val="4F8734"/>
                </a:solidFill>
              </a:rPr>
              <a:t>Baseline</a:t>
            </a:r>
          </a:p>
        </p:txBody>
      </p:sp>
      <p:sp>
        <p:nvSpPr>
          <p:cNvPr id="2007" name="week action 0">
            <a:extLst>
              <a:ext uri="{FF2B5EF4-FFF2-40B4-BE49-F238E27FC236}">
                <a16:creationId xmlns:a16="http://schemas.microsoft.com/office/drawing/2014/main" id="{26A2C8C6-C81A-4CA0-8C12-4B62279680D6}"/>
              </a:ext>
            </a:extLst>
          </p:cNvPr>
          <p:cNvSpPr>
            <a:spLocks noGrp="1"/>
          </p:cNvSpPr>
          <p:nvPr/>
        </p:nvSpPr>
        <p:spPr>
          <a:xfrm>
            <a:off x="984314" y="3514725"/>
            <a:ext cx="1943100" cy="704850"/>
          </a:xfrm>
          <a:prstGeom prst="rect">
            <a:avLst/>
          </a:prstGeom>
          <a:noFill/>
          <a:ln w="0">
            <a:noFill/>
          </a:ln>
        </p:spPr>
        <p:txBody>
          <a:bodyPr lIns="0" tIns="0" rIns="0" bIns="0" anchor="ctr">
            <a:noAutofit/>
          </a:bodyPr>
          <a:lstStyle>
            <a:defPPr algn="l">
              <a:defRPr sz="1650" b="0">
                <a:solidFill>
                  <a:srgbClr val="303238"/>
                </a:solidFill>
              </a:defRPr>
            </a:defPPr>
            <a:lvl1pPr algn="l">
              <a:defRPr sz="1650" b="0">
                <a:solidFill>
                  <a:srgbClr val="303238"/>
                </a:solidFill>
              </a:defRPr>
            </a:lvl1pPr>
            <a:lvl2pPr algn="l">
              <a:defRPr sz="1650" b="0">
                <a:solidFill>
                  <a:srgbClr val="303238"/>
                </a:solidFill>
              </a:defRPr>
            </a:lvl2pPr>
            <a:lvl3pPr algn="l">
              <a:defRPr sz="1650" b="0">
                <a:solidFill>
                  <a:srgbClr val="303238"/>
                </a:solidFill>
              </a:defRPr>
            </a:lvl3pPr>
            <a:lvl4pPr algn="l">
              <a:defRPr sz="1650" b="0">
                <a:solidFill>
                  <a:srgbClr val="303238"/>
                </a:solidFill>
              </a:defRPr>
            </a:lvl4pPr>
            <a:lvl5pPr algn="l">
              <a:defRPr sz="1650" b="0">
                <a:solidFill>
                  <a:srgbClr val="303238"/>
                </a:solidFill>
              </a:defRPr>
            </a:lvl5pPr>
            <a:lvl6pPr algn="l">
              <a:defRPr sz="1650" b="0">
                <a:solidFill>
                  <a:srgbClr val="303238"/>
                </a:solidFill>
              </a:defRPr>
            </a:lvl6pPr>
            <a:lvl7pPr algn="l">
              <a:defRPr sz="1650" b="0">
                <a:solidFill>
                  <a:srgbClr val="303238"/>
                </a:solidFill>
              </a:defRPr>
            </a:lvl7pPr>
            <a:lvl8pPr algn="l">
              <a:defRPr sz="1650" b="0">
                <a:solidFill>
                  <a:srgbClr val="303238"/>
                </a:solidFill>
              </a:defRPr>
            </a:lvl8pPr>
            <a:lvl9pPr algn="l">
              <a:defRPr sz="1650" b="0">
                <a:solidFill>
                  <a:srgbClr val="303238"/>
                </a:solidFill>
              </a:defRPr>
            </a:lvl9pPr>
          </a:lstStyle>
          <a:p>
            <a:pPr algn="l">
              <a:defRPr sz="1650" b="0">
                <a:solidFill>
                  <a:srgbClr val="303238"/>
                </a:solidFill>
              </a:defRPr>
            </a:pPr>
            <a:r>
              <a:rPr sz="1650" b="0">
                <a:solidFill>
                  <a:srgbClr val="303238"/>
                </a:solidFill>
              </a:rPr>
              <a:t>Freeze the workflow.</a:t>
            </a:r>
          </a:p>
          <a:p>
            <a:pPr algn="l">
              <a:defRPr sz="1650" b="0">
                <a:solidFill>
                  <a:srgbClr val="303238"/>
                </a:solidFill>
              </a:defRPr>
            </a:pPr>
            <a:r>
              <a:rPr sz="1650" b="0">
                <a:solidFill>
                  <a:srgbClr val="303238"/>
                </a:solidFill>
              </a:rPr>
              <a:t>Set success criteria.</a:t>
            </a:r>
          </a:p>
        </p:txBody>
      </p:sp>
      <p:sp>
        <p:nvSpPr>
          <p:cNvPr id="2008" name="pilot week 1">
            <a:extLst>
              <a:ext uri="{FF2B5EF4-FFF2-40B4-BE49-F238E27FC236}">
                <a16:creationId xmlns:a16="http://schemas.microsoft.com/office/drawing/2014/main" id="{1518A734-AAA2-494D-8BDA-9A7BCD374C4A}"/>
              </a:ext>
            </a:extLst>
          </p:cNvPr>
          <p:cNvSpPr>
            <a:spLocks noGrp="1"/>
          </p:cNvSpPr>
          <p:nvPr/>
        </p:nvSpPr>
        <p:spPr>
          <a:xfrm>
            <a:off x="3498914" y="2352675"/>
            <a:ext cx="2286000" cy="2105025"/>
          </a:xfrm>
          <a:prstGeom prst="roundRect">
            <a:avLst>
              <a:gd name="adj" fmla="val 3620"/>
            </a:avLst>
          </a:prstGeom>
          <a:solidFill>
            <a:srgbClr val="F0F5F7"/>
          </a:solidFill>
          <a:ln w="9525">
            <a:solidFill>
              <a:srgbClr val="D7DDD4"/>
            </a:solidFill>
          </a:ln>
        </p:spPr>
        <p:txBody>
          <a:bodyPr/>
          <a:lstStyle/>
          <a:p>
            <a:endParaRPr lang="en-US"/>
          </a:p>
        </p:txBody>
      </p:sp>
      <p:sp>
        <p:nvSpPr>
          <p:cNvPr id="2009" name="week number 1">
            <a:extLst>
              <a:ext uri="{FF2B5EF4-FFF2-40B4-BE49-F238E27FC236}">
                <a16:creationId xmlns:a16="http://schemas.microsoft.com/office/drawing/2014/main" id="{A418D082-376D-47C3-8374-F3AAFF8B17C3}"/>
              </a:ext>
            </a:extLst>
          </p:cNvPr>
          <p:cNvSpPr>
            <a:spLocks noGrp="1"/>
          </p:cNvSpPr>
          <p:nvPr/>
        </p:nvSpPr>
        <p:spPr>
          <a:xfrm>
            <a:off x="3670364" y="2505075"/>
            <a:ext cx="1943100" cy="247650"/>
          </a:xfrm>
          <a:prstGeom prst="rect">
            <a:avLst/>
          </a:prstGeom>
          <a:noFill/>
          <a:ln w="0">
            <a:noFill/>
          </a:ln>
        </p:spPr>
        <p:txBody>
          <a:bodyPr lIns="0" tIns="0" rIns="0" bIns="0" anchor="ctr">
            <a:noAutofit/>
          </a:bodyPr>
          <a:lstStyle>
            <a:defPPr algn="l">
              <a:defRPr sz="1350" b="1">
                <a:solidFill>
                  <a:srgbClr val="61666B"/>
                </a:solidFill>
              </a:defRPr>
            </a:defPPr>
            <a:lvl1pPr algn="l">
              <a:defRPr sz="1350" b="1">
                <a:solidFill>
                  <a:srgbClr val="61666B"/>
                </a:solidFill>
              </a:defRPr>
            </a:lvl1pPr>
            <a:lvl2pPr algn="l">
              <a:defRPr sz="1350" b="1">
                <a:solidFill>
                  <a:srgbClr val="61666B"/>
                </a:solidFill>
              </a:defRPr>
            </a:lvl2pPr>
            <a:lvl3pPr algn="l">
              <a:defRPr sz="1350" b="1">
                <a:solidFill>
                  <a:srgbClr val="61666B"/>
                </a:solidFill>
              </a:defRPr>
            </a:lvl3pPr>
            <a:lvl4pPr algn="l">
              <a:defRPr sz="1350" b="1">
                <a:solidFill>
                  <a:srgbClr val="61666B"/>
                </a:solidFill>
              </a:defRPr>
            </a:lvl4pPr>
            <a:lvl5pPr algn="l">
              <a:defRPr sz="1350" b="1">
                <a:solidFill>
                  <a:srgbClr val="61666B"/>
                </a:solidFill>
              </a:defRPr>
            </a:lvl5pPr>
            <a:lvl6pPr algn="l">
              <a:defRPr sz="1350" b="1">
                <a:solidFill>
                  <a:srgbClr val="61666B"/>
                </a:solidFill>
              </a:defRPr>
            </a:lvl6pPr>
            <a:lvl7pPr algn="l">
              <a:defRPr sz="1350" b="1">
                <a:solidFill>
                  <a:srgbClr val="61666B"/>
                </a:solidFill>
              </a:defRPr>
            </a:lvl7pPr>
            <a:lvl8pPr algn="l">
              <a:defRPr sz="1350" b="1">
                <a:solidFill>
                  <a:srgbClr val="61666B"/>
                </a:solidFill>
              </a:defRPr>
            </a:lvl8pPr>
            <a:lvl9pPr algn="l">
              <a:defRPr sz="1350" b="1">
                <a:solidFill>
                  <a:srgbClr val="61666B"/>
                </a:solidFill>
              </a:defRPr>
            </a:lvl9pPr>
          </a:lstStyle>
          <a:p>
            <a:pPr algn="l">
              <a:defRPr sz="1350" b="1">
                <a:solidFill>
                  <a:srgbClr val="61666B"/>
                </a:solidFill>
              </a:defRPr>
            </a:pPr>
            <a:r>
              <a:rPr sz="1350" b="1">
                <a:solidFill>
                  <a:srgbClr val="61666B"/>
                </a:solidFill>
              </a:rPr>
              <a:t>WEEK 2</a:t>
            </a:r>
          </a:p>
        </p:txBody>
      </p:sp>
      <p:sp>
        <p:nvSpPr>
          <p:cNvPr id="2010" name="week title 1">
            <a:extLst>
              <a:ext uri="{FF2B5EF4-FFF2-40B4-BE49-F238E27FC236}">
                <a16:creationId xmlns:a16="http://schemas.microsoft.com/office/drawing/2014/main" id="{E8903613-D9E1-438E-B28C-AF74F1D315AD}"/>
              </a:ext>
            </a:extLst>
          </p:cNvPr>
          <p:cNvSpPr>
            <a:spLocks noGrp="1"/>
          </p:cNvSpPr>
          <p:nvPr/>
        </p:nvSpPr>
        <p:spPr>
          <a:xfrm>
            <a:off x="3670364" y="2924175"/>
            <a:ext cx="1943100" cy="361950"/>
          </a:xfrm>
          <a:prstGeom prst="rect">
            <a:avLst/>
          </a:prstGeom>
          <a:noFill/>
          <a:ln w="0">
            <a:noFill/>
          </a:ln>
        </p:spPr>
        <p:txBody>
          <a:bodyPr lIns="0" tIns="0" rIns="0" bIns="0" anchor="ctr">
            <a:noAutofit/>
          </a:bodyPr>
          <a:lstStyle>
            <a:defPPr algn="l">
              <a:defRPr sz="2175" b="1">
                <a:solidFill>
                  <a:srgbClr val="0086AC"/>
                </a:solidFill>
              </a:defRPr>
            </a:defPPr>
            <a:lvl1pPr algn="l">
              <a:defRPr sz="2175" b="1">
                <a:solidFill>
                  <a:srgbClr val="0086AC"/>
                </a:solidFill>
              </a:defRPr>
            </a:lvl1pPr>
            <a:lvl2pPr algn="l">
              <a:defRPr sz="2175" b="1">
                <a:solidFill>
                  <a:srgbClr val="0086AC"/>
                </a:solidFill>
              </a:defRPr>
            </a:lvl2pPr>
            <a:lvl3pPr algn="l">
              <a:defRPr sz="2175" b="1">
                <a:solidFill>
                  <a:srgbClr val="0086AC"/>
                </a:solidFill>
              </a:defRPr>
            </a:lvl3pPr>
            <a:lvl4pPr algn="l">
              <a:defRPr sz="2175" b="1">
                <a:solidFill>
                  <a:srgbClr val="0086AC"/>
                </a:solidFill>
              </a:defRPr>
            </a:lvl4pPr>
            <a:lvl5pPr algn="l">
              <a:defRPr sz="2175" b="1">
                <a:solidFill>
                  <a:srgbClr val="0086AC"/>
                </a:solidFill>
              </a:defRPr>
            </a:lvl5pPr>
            <a:lvl6pPr algn="l">
              <a:defRPr sz="2175" b="1">
                <a:solidFill>
                  <a:srgbClr val="0086AC"/>
                </a:solidFill>
              </a:defRPr>
            </a:lvl6pPr>
            <a:lvl7pPr algn="l">
              <a:defRPr sz="2175" b="1">
                <a:solidFill>
                  <a:srgbClr val="0086AC"/>
                </a:solidFill>
              </a:defRPr>
            </a:lvl7pPr>
            <a:lvl8pPr algn="l">
              <a:defRPr sz="2175" b="1">
                <a:solidFill>
                  <a:srgbClr val="0086AC"/>
                </a:solidFill>
              </a:defRPr>
            </a:lvl8pPr>
            <a:lvl9pPr algn="l">
              <a:defRPr sz="2175" b="1">
                <a:solidFill>
                  <a:srgbClr val="0086AC"/>
                </a:solidFill>
              </a:defRPr>
            </a:lvl9pPr>
          </a:lstStyle>
          <a:p>
            <a:pPr algn="l">
              <a:defRPr sz="2175" b="1">
                <a:solidFill>
                  <a:srgbClr val="0086AC"/>
                </a:solidFill>
              </a:defRPr>
            </a:pPr>
            <a:r>
              <a:rPr sz="2175" b="1">
                <a:solidFill>
                  <a:srgbClr val="0086AC"/>
                </a:solidFill>
              </a:rPr>
              <a:t>Shadow</a:t>
            </a:r>
          </a:p>
        </p:txBody>
      </p:sp>
      <p:sp>
        <p:nvSpPr>
          <p:cNvPr id="2011" name="week action 1">
            <a:extLst>
              <a:ext uri="{FF2B5EF4-FFF2-40B4-BE49-F238E27FC236}">
                <a16:creationId xmlns:a16="http://schemas.microsoft.com/office/drawing/2014/main" id="{8F407FA8-A83A-4524-A712-13694DEF6267}"/>
              </a:ext>
            </a:extLst>
          </p:cNvPr>
          <p:cNvSpPr>
            <a:spLocks noGrp="1"/>
          </p:cNvSpPr>
          <p:nvPr/>
        </p:nvSpPr>
        <p:spPr>
          <a:xfrm>
            <a:off x="3670364" y="3514725"/>
            <a:ext cx="1943100" cy="704850"/>
          </a:xfrm>
          <a:prstGeom prst="rect">
            <a:avLst/>
          </a:prstGeom>
          <a:noFill/>
          <a:ln w="0">
            <a:noFill/>
          </a:ln>
        </p:spPr>
        <p:txBody>
          <a:bodyPr lIns="0" tIns="0" rIns="0" bIns="0" anchor="ctr">
            <a:noAutofit/>
          </a:bodyPr>
          <a:lstStyle>
            <a:defPPr algn="l">
              <a:defRPr sz="1650" b="0">
                <a:solidFill>
                  <a:srgbClr val="303238"/>
                </a:solidFill>
              </a:defRPr>
            </a:defPPr>
            <a:lvl1pPr algn="l">
              <a:defRPr sz="1650" b="0">
                <a:solidFill>
                  <a:srgbClr val="303238"/>
                </a:solidFill>
              </a:defRPr>
            </a:lvl1pPr>
            <a:lvl2pPr algn="l">
              <a:defRPr sz="1650" b="0">
                <a:solidFill>
                  <a:srgbClr val="303238"/>
                </a:solidFill>
              </a:defRPr>
            </a:lvl2pPr>
            <a:lvl3pPr algn="l">
              <a:defRPr sz="1650" b="0">
                <a:solidFill>
                  <a:srgbClr val="303238"/>
                </a:solidFill>
              </a:defRPr>
            </a:lvl3pPr>
            <a:lvl4pPr algn="l">
              <a:defRPr sz="1650" b="0">
                <a:solidFill>
                  <a:srgbClr val="303238"/>
                </a:solidFill>
              </a:defRPr>
            </a:lvl4pPr>
            <a:lvl5pPr algn="l">
              <a:defRPr sz="1650" b="0">
                <a:solidFill>
                  <a:srgbClr val="303238"/>
                </a:solidFill>
              </a:defRPr>
            </a:lvl5pPr>
            <a:lvl6pPr algn="l">
              <a:defRPr sz="1650" b="0">
                <a:solidFill>
                  <a:srgbClr val="303238"/>
                </a:solidFill>
              </a:defRPr>
            </a:lvl6pPr>
            <a:lvl7pPr algn="l">
              <a:defRPr sz="1650" b="0">
                <a:solidFill>
                  <a:srgbClr val="303238"/>
                </a:solidFill>
              </a:defRPr>
            </a:lvl7pPr>
            <a:lvl8pPr algn="l">
              <a:defRPr sz="1650" b="0">
                <a:solidFill>
                  <a:srgbClr val="303238"/>
                </a:solidFill>
              </a:defRPr>
            </a:lvl8pPr>
            <a:lvl9pPr algn="l">
              <a:defRPr sz="1650" b="0">
                <a:solidFill>
                  <a:srgbClr val="303238"/>
                </a:solidFill>
              </a:defRPr>
            </a:lvl9pPr>
          </a:lstStyle>
          <a:p>
            <a:pPr algn="l">
              <a:defRPr sz="1650" b="0">
                <a:solidFill>
                  <a:srgbClr val="303238"/>
                </a:solidFill>
              </a:defRPr>
            </a:pPr>
            <a:r>
              <a:rPr sz="1650" b="0">
                <a:solidFill>
                  <a:srgbClr val="303238"/>
                </a:solidFill>
              </a:rPr>
              <a:t>Review held-out PRs.</a:t>
            </a:r>
          </a:p>
          <a:p>
            <a:pPr algn="l">
              <a:defRPr sz="1650" b="0">
                <a:solidFill>
                  <a:srgbClr val="303238"/>
                </a:solidFill>
              </a:defRPr>
            </a:pPr>
            <a:r>
              <a:rPr sz="1650" b="0">
                <a:solidFill>
                  <a:srgbClr val="303238"/>
                </a:solidFill>
              </a:rPr>
              <a:t>Keep current gates.</a:t>
            </a:r>
          </a:p>
        </p:txBody>
      </p:sp>
      <p:sp>
        <p:nvSpPr>
          <p:cNvPr id="2012" name="pilot week 2">
            <a:extLst>
              <a:ext uri="{FF2B5EF4-FFF2-40B4-BE49-F238E27FC236}">
                <a16:creationId xmlns:a16="http://schemas.microsoft.com/office/drawing/2014/main" id="{D31BE3A6-1643-4A5F-9FF0-C24BB05130D7}"/>
              </a:ext>
            </a:extLst>
          </p:cNvPr>
          <p:cNvSpPr>
            <a:spLocks noGrp="1"/>
          </p:cNvSpPr>
          <p:nvPr/>
        </p:nvSpPr>
        <p:spPr>
          <a:xfrm>
            <a:off x="6184964" y="2352675"/>
            <a:ext cx="2286000" cy="2105025"/>
          </a:xfrm>
          <a:prstGeom prst="roundRect">
            <a:avLst>
              <a:gd name="adj" fmla="val 3620"/>
            </a:avLst>
          </a:prstGeom>
          <a:solidFill>
            <a:srgbClr val="F1F6ED"/>
          </a:solidFill>
          <a:ln w="9525">
            <a:solidFill>
              <a:srgbClr val="D7DDD4"/>
            </a:solidFill>
          </a:ln>
        </p:spPr>
        <p:txBody>
          <a:bodyPr/>
          <a:lstStyle/>
          <a:p>
            <a:endParaRPr lang="en-US"/>
          </a:p>
        </p:txBody>
      </p:sp>
      <p:sp>
        <p:nvSpPr>
          <p:cNvPr id="2013" name="week number 2">
            <a:extLst>
              <a:ext uri="{FF2B5EF4-FFF2-40B4-BE49-F238E27FC236}">
                <a16:creationId xmlns:a16="http://schemas.microsoft.com/office/drawing/2014/main" id="{E4AB83C1-3E6E-4BA1-873A-2DFEDBC3966B}"/>
              </a:ext>
            </a:extLst>
          </p:cNvPr>
          <p:cNvSpPr>
            <a:spLocks noGrp="1"/>
          </p:cNvSpPr>
          <p:nvPr/>
        </p:nvSpPr>
        <p:spPr>
          <a:xfrm>
            <a:off x="6356414" y="2505075"/>
            <a:ext cx="1943100" cy="247650"/>
          </a:xfrm>
          <a:prstGeom prst="rect">
            <a:avLst/>
          </a:prstGeom>
          <a:noFill/>
          <a:ln w="0">
            <a:noFill/>
          </a:ln>
        </p:spPr>
        <p:txBody>
          <a:bodyPr lIns="0" tIns="0" rIns="0" bIns="0" anchor="ctr">
            <a:noAutofit/>
          </a:bodyPr>
          <a:lstStyle>
            <a:defPPr algn="l">
              <a:defRPr sz="1350" b="1">
                <a:solidFill>
                  <a:srgbClr val="61666B"/>
                </a:solidFill>
              </a:defRPr>
            </a:defPPr>
            <a:lvl1pPr algn="l">
              <a:defRPr sz="1350" b="1">
                <a:solidFill>
                  <a:srgbClr val="61666B"/>
                </a:solidFill>
              </a:defRPr>
            </a:lvl1pPr>
            <a:lvl2pPr algn="l">
              <a:defRPr sz="1350" b="1">
                <a:solidFill>
                  <a:srgbClr val="61666B"/>
                </a:solidFill>
              </a:defRPr>
            </a:lvl2pPr>
            <a:lvl3pPr algn="l">
              <a:defRPr sz="1350" b="1">
                <a:solidFill>
                  <a:srgbClr val="61666B"/>
                </a:solidFill>
              </a:defRPr>
            </a:lvl3pPr>
            <a:lvl4pPr algn="l">
              <a:defRPr sz="1350" b="1">
                <a:solidFill>
                  <a:srgbClr val="61666B"/>
                </a:solidFill>
              </a:defRPr>
            </a:lvl4pPr>
            <a:lvl5pPr algn="l">
              <a:defRPr sz="1350" b="1">
                <a:solidFill>
                  <a:srgbClr val="61666B"/>
                </a:solidFill>
              </a:defRPr>
            </a:lvl5pPr>
            <a:lvl6pPr algn="l">
              <a:defRPr sz="1350" b="1">
                <a:solidFill>
                  <a:srgbClr val="61666B"/>
                </a:solidFill>
              </a:defRPr>
            </a:lvl6pPr>
            <a:lvl7pPr algn="l">
              <a:defRPr sz="1350" b="1">
                <a:solidFill>
                  <a:srgbClr val="61666B"/>
                </a:solidFill>
              </a:defRPr>
            </a:lvl7pPr>
            <a:lvl8pPr algn="l">
              <a:defRPr sz="1350" b="1">
                <a:solidFill>
                  <a:srgbClr val="61666B"/>
                </a:solidFill>
              </a:defRPr>
            </a:lvl8pPr>
            <a:lvl9pPr algn="l">
              <a:defRPr sz="1350" b="1">
                <a:solidFill>
                  <a:srgbClr val="61666B"/>
                </a:solidFill>
              </a:defRPr>
            </a:lvl9pPr>
          </a:lstStyle>
          <a:p>
            <a:pPr algn="l">
              <a:defRPr sz="1350" b="1">
                <a:solidFill>
                  <a:srgbClr val="61666B"/>
                </a:solidFill>
              </a:defRPr>
            </a:pPr>
            <a:r>
              <a:rPr sz="1350" b="1">
                <a:solidFill>
                  <a:srgbClr val="61666B"/>
                </a:solidFill>
              </a:rPr>
              <a:t>WEEK 3</a:t>
            </a:r>
          </a:p>
        </p:txBody>
      </p:sp>
      <p:sp>
        <p:nvSpPr>
          <p:cNvPr id="2014" name="week title 2">
            <a:extLst>
              <a:ext uri="{FF2B5EF4-FFF2-40B4-BE49-F238E27FC236}">
                <a16:creationId xmlns:a16="http://schemas.microsoft.com/office/drawing/2014/main" id="{A6AB8A91-13F3-475A-B14B-152F842B748B}"/>
              </a:ext>
            </a:extLst>
          </p:cNvPr>
          <p:cNvSpPr>
            <a:spLocks noGrp="1"/>
          </p:cNvSpPr>
          <p:nvPr/>
        </p:nvSpPr>
        <p:spPr>
          <a:xfrm>
            <a:off x="6356414" y="2924175"/>
            <a:ext cx="1943100" cy="361950"/>
          </a:xfrm>
          <a:prstGeom prst="rect">
            <a:avLst/>
          </a:prstGeom>
          <a:noFill/>
          <a:ln w="0">
            <a:noFill/>
          </a:ln>
        </p:spPr>
        <p:txBody>
          <a:bodyPr lIns="0" tIns="0" rIns="0" bIns="0" anchor="ctr">
            <a:noAutofit/>
          </a:bodyPr>
          <a:lstStyle>
            <a:defPPr algn="l">
              <a:defRPr sz="2175" b="1">
                <a:solidFill>
                  <a:srgbClr val="4F8734"/>
                </a:solidFill>
              </a:defRPr>
            </a:defPPr>
            <a:lvl1pPr algn="l">
              <a:defRPr sz="2175" b="1">
                <a:solidFill>
                  <a:srgbClr val="4F8734"/>
                </a:solidFill>
              </a:defRPr>
            </a:lvl1pPr>
            <a:lvl2pPr algn="l">
              <a:defRPr sz="2175" b="1">
                <a:solidFill>
                  <a:srgbClr val="4F8734"/>
                </a:solidFill>
              </a:defRPr>
            </a:lvl2pPr>
            <a:lvl3pPr algn="l">
              <a:defRPr sz="2175" b="1">
                <a:solidFill>
                  <a:srgbClr val="4F8734"/>
                </a:solidFill>
              </a:defRPr>
            </a:lvl3pPr>
            <a:lvl4pPr algn="l">
              <a:defRPr sz="2175" b="1">
                <a:solidFill>
                  <a:srgbClr val="4F8734"/>
                </a:solidFill>
              </a:defRPr>
            </a:lvl4pPr>
            <a:lvl5pPr algn="l">
              <a:defRPr sz="2175" b="1">
                <a:solidFill>
                  <a:srgbClr val="4F8734"/>
                </a:solidFill>
              </a:defRPr>
            </a:lvl5pPr>
            <a:lvl6pPr algn="l">
              <a:defRPr sz="2175" b="1">
                <a:solidFill>
                  <a:srgbClr val="4F8734"/>
                </a:solidFill>
              </a:defRPr>
            </a:lvl6pPr>
            <a:lvl7pPr algn="l">
              <a:defRPr sz="2175" b="1">
                <a:solidFill>
                  <a:srgbClr val="4F8734"/>
                </a:solidFill>
              </a:defRPr>
            </a:lvl7pPr>
            <a:lvl8pPr algn="l">
              <a:defRPr sz="2175" b="1">
                <a:solidFill>
                  <a:srgbClr val="4F8734"/>
                </a:solidFill>
              </a:defRPr>
            </a:lvl8pPr>
            <a:lvl9pPr algn="l">
              <a:defRPr sz="2175" b="1">
                <a:solidFill>
                  <a:srgbClr val="4F8734"/>
                </a:solidFill>
              </a:defRPr>
            </a:lvl9pPr>
          </a:lstStyle>
          <a:p>
            <a:pPr algn="l">
              <a:defRPr sz="2175" b="1">
                <a:solidFill>
                  <a:srgbClr val="4F8734"/>
                </a:solidFill>
              </a:defRPr>
            </a:pPr>
            <a:r>
              <a:rPr sz="2175" b="1">
                <a:solidFill>
                  <a:srgbClr val="4F8734"/>
                </a:solidFill>
              </a:rPr>
              <a:t>Challenge</a:t>
            </a:r>
          </a:p>
        </p:txBody>
      </p:sp>
      <p:sp>
        <p:nvSpPr>
          <p:cNvPr id="2015" name="week action 2">
            <a:extLst>
              <a:ext uri="{FF2B5EF4-FFF2-40B4-BE49-F238E27FC236}">
                <a16:creationId xmlns:a16="http://schemas.microsoft.com/office/drawing/2014/main" id="{CE6EF3AC-199C-4EFF-84CE-62229D5E28A9}"/>
              </a:ext>
            </a:extLst>
          </p:cNvPr>
          <p:cNvSpPr>
            <a:spLocks noGrp="1"/>
          </p:cNvSpPr>
          <p:nvPr/>
        </p:nvSpPr>
        <p:spPr>
          <a:xfrm>
            <a:off x="6356414" y="3514725"/>
            <a:ext cx="1943100" cy="704850"/>
          </a:xfrm>
          <a:prstGeom prst="rect">
            <a:avLst/>
          </a:prstGeom>
          <a:noFill/>
          <a:ln w="0">
            <a:noFill/>
          </a:ln>
        </p:spPr>
        <p:txBody>
          <a:bodyPr lIns="0" tIns="0" rIns="0" bIns="0" anchor="ctr">
            <a:noAutofit/>
          </a:bodyPr>
          <a:lstStyle>
            <a:defPPr algn="l">
              <a:defRPr sz="1650" b="0">
                <a:solidFill>
                  <a:srgbClr val="303238"/>
                </a:solidFill>
              </a:defRPr>
            </a:defPPr>
            <a:lvl1pPr algn="l">
              <a:defRPr sz="1650" b="0">
                <a:solidFill>
                  <a:srgbClr val="303238"/>
                </a:solidFill>
              </a:defRPr>
            </a:lvl1pPr>
            <a:lvl2pPr algn="l">
              <a:defRPr sz="1650" b="0">
                <a:solidFill>
                  <a:srgbClr val="303238"/>
                </a:solidFill>
              </a:defRPr>
            </a:lvl2pPr>
            <a:lvl3pPr algn="l">
              <a:defRPr sz="1650" b="0">
                <a:solidFill>
                  <a:srgbClr val="303238"/>
                </a:solidFill>
              </a:defRPr>
            </a:lvl3pPr>
            <a:lvl4pPr algn="l">
              <a:defRPr sz="1650" b="0">
                <a:solidFill>
                  <a:srgbClr val="303238"/>
                </a:solidFill>
              </a:defRPr>
            </a:lvl4pPr>
            <a:lvl5pPr algn="l">
              <a:defRPr sz="1650" b="0">
                <a:solidFill>
                  <a:srgbClr val="303238"/>
                </a:solidFill>
              </a:defRPr>
            </a:lvl5pPr>
            <a:lvl6pPr algn="l">
              <a:defRPr sz="1650" b="0">
                <a:solidFill>
                  <a:srgbClr val="303238"/>
                </a:solidFill>
              </a:defRPr>
            </a:lvl6pPr>
            <a:lvl7pPr algn="l">
              <a:defRPr sz="1650" b="0">
                <a:solidFill>
                  <a:srgbClr val="303238"/>
                </a:solidFill>
              </a:defRPr>
            </a:lvl7pPr>
            <a:lvl8pPr algn="l">
              <a:defRPr sz="1650" b="0">
                <a:solidFill>
                  <a:srgbClr val="303238"/>
                </a:solidFill>
              </a:defRPr>
            </a:lvl8pPr>
            <a:lvl9pPr algn="l">
              <a:defRPr sz="1650" b="0">
                <a:solidFill>
                  <a:srgbClr val="303238"/>
                </a:solidFill>
              </a:defRPr>
            </a:lvl9pPr>
          </a:lstStyle>
          <a:p>
            <a:pPr algn="l">
              <a:defRPr sz="1650" b="0">
                <a:solidFill>
                  <a:srgbClr val="303238"/>
                </a:solidFill>
              </a:defRPr>
            </a:pPr>
            <a:r>
              <a:rPr sz="1650" b="0">
                <a:solidFill>
                  <a:srgbClr val="303238"/>
                </a:solidFill>
              </a:rPr>
              <a:t>Challenge stale or</a:t>
            </a:r>
          </a:p>
          <a:p>
            <a:pPr algn="l">
              <a:defRPr sz="1650" b="0">
                <a:solidFill>
                  <a:srgbClr val="303238"/>
                </a:solidFill>
              </a:defRPr>
            </a:pPr>
            <a:r>
              <a:rPr sz="1650" b="0">
                <a:solidFill>
                  <a:srgbClr val="303238"/>
                </a:solidFill>
              </a:rPr>
              <a:t>missing evidence.</a:t>
            </a:r>
          </a:p>
        </p:txBody>
      </p:sp>
      <p:sp>
        <p:nvSpPr>
          <p:cNvPr id="2016" name="pilot week 3">
            <a:extLst>
              <a:ext uri="{FF2B5EF4-FFF2-40B4-BE49-F238E27FC236}">
                <a16:creationId xmlns:a16="http://schemas.microsoft.com/office/drawing/2014/main" id="{A719ECBC-0FDA-4025-AC13-29737B5166AB}"/>
              </a:ext>
            </a:extLst>
          </p:cNvPr>
          <p:cNvSpPr>
            <a:spLocks noGrp="1"/>
          </p:cNvSpPr>
          <p:nvPr/>
        </p:nvSpPr>
        <p:spPr>
          <a:xfrm>
            <a:off x="8871014" y="2352675"/>
            <a:ext cx="2286000" cy="2105025"/>
          </a:xfrm>
          <a:prstGeom prst="roundRect">
            <a:avLst>
              <a:gd name="adj" fmla="val 3620"/>
            </a:avLst>
          </a:prstGeom>
          <a:solidFill>
            <a:srgbClr val="F0F5F7"/>
          </a:solidFill>
          <a:ln w="9525">
            <a:solidFill>
              <a:srgbClr val="D7DDD4"/>
            </a:solidFill>
          </a:ln>
        </p:spPr>
        <p:txBody>
          <a:bodyPr/>
          <a:lstStyle/>
          <a:p>
            <a:endParaRPr lang="en-US"/>
          </a:p>
        </p:txBody>
      </p:sp>
      <p:sp>
        <p:nvSpPr>
          <p:cNvPr id="2017" name="week number 3">
            <a:extLst>
              <a:ext uri="{FF2B5EF4-FFF2-40B4-BE49-F238E27FC236}">
                <a16:creationId xmlns:a16="http://schemas.microsoft.com/office/drawing/2014/main" id="{398686DD-43B2-4DF4-99BA-FF47142C7A83}"/>
              </a:ext>
            </a:extLst>
          </p:cNvPr>
          <p:cNvSpPr>
            <a:spLocks noGrp="1"/>
          </p:cNvSpPr>
          <p:nvPr/>
        </p:nvSpPr>
        <p:spPr>
          <a:xfrm>
            <a:off x="9042464" y="2505075"/>
            <a:ext cx="1943100" cy="247650"/>
          </a:xfrm>
          <a:prstGeom prst="rect">
            <a:avLst/>
          </a:prstGeom>
          <a:noFill/>
          <a:ln w="0">
            <a:noFill/>
          </a:ln>
        </p:spPr>
        <p:txBody>
          <a:bodyPr lIns="0" tIns="0" rIns="0" bIns="0" anchor="ctr">
            <a:noAutofit/>
          </a:bodyPr>
          <a:lstStyle>
            <a:defPPr algn="l">
              <a:defRPr sz="1350" b="1">
                <a:solidFill>
                  <a:srgbClr val="61666B"/>
                </a:solidFill>
              </a:defRPr>
            </a:defPPr>
            <a:lvl1pPr algn="l">
              <a:defRPr sz="1350" b="1">
                <a:solidFill>
                  <a:srgbClr val="61666B"/>
                </a:solidFill>
              </a:defRPr>
            </a:lvl1pPr>
            <a:lvl2pPr algn="l">
              <a:defRPr sz="1350" b="1">
                <a:solidFill>
                  <a:srgbClr val="61666B"/>
                </a:solidFill>
              </a:defRPr>
            </a:lvl2pPr>
            <a:lvl3pPr algn="l">
              <a:defRPr sz="1350" b="1">
                <a:solidFill>
                  <a:srgbClr val="61666B"/>
                </a:solidFill>
              </a:defRPr>
            </a:lvl3pPr>
            <a:lvl4pPr algn="l">
              <a:defRPr sz="1350" b="1">
                <a:solidFill>
                  <a:srgbClr val="61666B"/>
                </a:solidFill>
              </a:defRPr>
            </a:lvl4pPr>
            <a:lvl5pPr algn="l">
              <a:defRPr sz="1350" b="1">
                <a:solidFill>
                  <a:srgbClr val="61666B"/>
                </a:solidFill>
              </a:defRPr>
            </a:lvl5pPr>
            <a:lvl6pPr algn="l">
              <a:defRPr sz="1350" b="1">
                <a:solidFill>
                  <a:srgbClr val="61666B"/>
                </a:solidFill>
              </a:defRPr>
            </a:lvl6pPr>
            <a:lvl7pPr algn="l">
              <a:defRPr sz="1350" b="1">
                <a:solidFill>
                  <a:srgbClr val="61666B"/>
                </a:solidFill>
              </a:defRPr>
            </a:lvl7pPr>
            <a:lvl8pPr algn="l">
              <a:defRPr sz="1350" b="1">
                <a:solidFill>
                  <a:srgbClr val="61666B"/>
                </a:solidFill>
              </a:defRPr>
            </a:lvl8pPr>
            <a:lvl9pPr algn="l">
              <a:defRPr sz="1350" b="1">
                <a:solidFill>
                  <a:srgbClr val="61666B"/>
                </a:solidFill>
              </a:defRPr>
            </a:lvl9pPr>
          </a:lstStyle>
          <a:p>
            <a:pPr algn="l">
              <a:defRPr sz="1350" b="1">
                <a:solidFill>
                  <a:srgbClr val="61666B"/>
                </a:solidFill>
              </a:defRPr>
            </a:pPr>
            <a:r>
              <a:rPr sz="1350" b="1">
                <a:solidFill>
                  <a:srgbClr val="61666B"/>
                </a:solidFill>
              </a:rPr>
              <a:t>WEEK 4</a:t>
            </a:r>
          </a:p>
        </p:txBody>
      </p:sp>
      <p:sp>
        <p:nvSpPr>
          <p:cNvPr id="2018" name="week title 3">
            <a:extLst>
              <a:ext uri="{FF2B5EF4-FFF2-40B4-BE49-F238E27FC236}">
                <a16:creationId xmlns:a16="http://schemas.microsoft.com/office/drawing/2014/main" id="{351B2F38-3BAB-4B74-9A13-1BCA8661E5C3}"/>
              </a:ext>
            </a:extLst>
          </p:cNvPr>
          <p:cNvSpPr>
            <a:spLocks noGrp="1"/>
          </p:cNvSpPr>
          <p:nvPr/>
        </p:nvSpPr>
        <p:spPr>
          <a:xfrm>
            <a:off x="9042464" y="2924175"/>
            <a:ext cx="1943100" cy="361950"/>
          </a:xfrm>
          <a:prstGeom prst="rect">
            <a:avLst/>
          </a:prstGeom>
          <a:noFill/>
          <a:ln w="0">
            <a:noFill/>
          </a:ln>
        </p:spPr>
        <p:txBody>
          <a:bodyPr lIns="0" tIns="0" rIns="0" bIns="0" anchor="ctr">
            <a:noAutofit/>
          </a:bodyPr>
          <a:lstStyle>
            <a:defPPr algn="l">
              <a:defRPr sz="2175" b="1">
                <a:solidFill>
                  <a:srgbClr val="0086AC"/>
                </a:solidFill>
              </a:defRPr>
            </a:defPPr>
            <a:lvl1pPr algn="l">
              <a:defRPr sz="2175" b="1">
                <a:solidFill>
                  <a:srgbClr val="0086AC"/>
                </a:solidFill>
              </a:defRPr>
            </a:lvl1pPr>
            <a:lvl2pPr algn="l">
              <a:defRPr sz="2175" b="1">
                <a:solidFill>
                  <a:srgbClr val="0086AC"/>
                </a:solidFill>
              </a:defRPr>
            </a:lvl2pPr>
            <a:lvl3pPr algn="l">
              <a:defRPr sz="2175" b="1">
                <a:solidFill>
                  <a:srgbClr val="0086AC"/>
                </a:solidFill>
              </a:defRPr>
            </a:lvl3pPr>
            <a:lvl4pPr algn="l">
              <a:defRPr sz="2175" b="1">
                <a:solidFill>
                  <a:srgbClr val="0086AC"/>
                </a:solidFill>
              </a:defRPr>
            </a:lvl4pPr>
            <a:lvl5pPr algn="l">
              <a:defRPr sz="2175" b="1">
                <a:solidFill>
                  <a:srgbClr val="0086AC"/>
                </a:solidFill>
              </a:defRPr>
            </a:lvl5pPr>
            <a:lvl6pPr algn="l">
              <a:defRPr sz="2175" b="1">
                <a:solidFill>
                  <a:srgbClr val="0086AC"/>
                </a:solidFill>
              </a:defRPr>
            </a:lvl6pPr>
            <a:lvl7pPr algn="l">
              <a:defRPr sz="2175" b="1">
                <a:solidFill>
                  <a:srgbClr val="0086AC"/>
                </a:solidFill>
              </a:defRPr>
            </a:lvl7pPr>
            <a:lvl8pPr algn="l">
              <a:defRPr sz="2175" b="1">
                <a:solidFill>
                  <a:srgbClr val="0086AC"/>
                </a:solidFill>
              </a:defRPr>
            </a:lvl8pPr>
            <a:lvl9pPr algn="l">
              <a:defRPr sz="2175" b="1">
                <a:solidFill>
                  <a:srgbClr val="0086AC"/>
                </a:solidFill>
              </a:defRPr>
            </a:lvl9pPr>
          </a:lstStyle>
          <a:p>
            <a:pPr algn="l">
              <a:defRPr sz="2175" b="1">
                <a:solidFill>
                  <a:srgbClr val="0086AC"/>
                </a:solidFill>
              </a:defRPr>
            </a:pPr>
            <a:r>
              <a:rPr sz="2175" b="1">
                <a:solidFill>
                  <a:srgbClr val="0086AC"/>
                </a:solidFill>
              </a:rPr>
              <a:t>Decide</a:t>
            </a:r>
          </a:p>
        </p:txBody>
      </p:sp>
      <p:sp>
        <p:nvSpPr>
          <p:cNvPr id="2019" name="week action 3">
            <a:extLst>
              <a:ext uri="{FF2B5EF4-FFF2-40B4-BE49-F238E27FC236}">
                <a16:creationId xmlns:a16="http://schemas.microsoft.com/office/drawing/2014/main" id="{4CB20043-2D85-4BCB-86AA-A1C138746C9C}"/>
              </a:ext>
            </a:extLst>
          </p:cNvPr>
          <p:cNvSpPr>
            <a:spLocks noGrp="1"/>
          </p:cNvSpPr>
          <p:nvPr/>
        </p:nvSpPr>
        <p:spPr>
          <a:xfrm>
            <a:off x="9042464" y="3514725"/>
            <a:ext cx="1943100" cy="704850"/>
          </a:xfrm>
          <a:prstGeom prst="rect">
            <a:avLst/>
          </a:prstGeom>
          <a:noFill/>
          <a:ln w="0">
            <a:noFill/>
          </a:ln>
        </p:spPr>
        <p:txBody>
          <a:bodyPr lIns="0" tIns="0" rIns="0" bIns="0" anchor="ctr">
            <a:noAutofit/>
          </a:bodyPr>
          <a:lstStyle>
            <a:defPPr algn="l">
              <a:defRPr sz="1650" b="0">
                <a:solidFill>
                  <a:srgbClr val="303238"/>
                </a:solidFill>
              </a:defRPr>
            </a:defPPr>
            <a:lvl1pPr algn="l">
              <a:defRPr sz="1650" b="0">
                <a:solidFill>
                  <a:srgbClr val="303238"/>
                </a:solidFill>
              </a:defRPr>
            </a:lvl1pPr>
            <a:lvl2pPr algn="l">
              <a:defRPr sz="1650" b="0">
                <a:solidFill>
                  <a:srgbClr val="303238"/>
                </a:solidFill>
              </a:defRPr>
            </a:lvl2pPr>
            <a:lvl3pPr algn="l">
              <a:defRPr sz="1650" b="0">
                <a:solidFill>
                  <a:srgbClr val="303238"/>
                </a:solidFill>
              </a:defRPr>
            </a:lvl3pPr>
            <a:lvl4pPr algn="l">
              <a:defRPr sz="1650" b="0">
                <a:solidFill>
                  <a:srgbClr val="303238"/>
                </a:solidFill>
              </a:defRPr>
            </a:lvl4pPr>
            <a:lvl5pPr algn="l">
              <a:defRPr sz="1650" b="0">
                <a:solidFill>
                  <a:srgbClr val="303238"/>
                </a:solidFill>
              </a:defRPr>
            </a:lvl5pPr>
            <a:lvl6pPr algn="l">
              <a:defRPr sz="1650" b="0">
                <a:solidFill>
                  <a:srgbClr val="303238"/>
                </a:solidFill>
              </a:defRPr>
            </a:lvl6pPr>
            <a:lvl7pPr algn="l">
              <a:defRPr sz="1650" b="0">
                <a:solidFill>
                  <a:srgbClr val="303238"/>
                </a:solidFill>
              </a:defRPr>
            </a:lvl7pPr>
            <a:lvl8pPr algn="l">
              <a:defRPr sz="1650" b="0">
                <a:solidFill>
                  <a:srgbClr val="303238"/>
                </a:solidFill>
              </a:defRPr>
            </a:lvl8pPr>
            <a:lvl9pPr algn="l">
              <a:defRPr sz="1650" b="0">
                <a:solidFill>
                  <a:srgbClr val="303238"/>
                </a:solidFill>
              </a:defRPr>
            </a:lvl9pPr>
          </a:lstStyle>
          <a:p>
            <a:pPr algn="l">
              <a:defRPr sz="1650" b="0">
                <a:solidFill>
                  <a:srgbClr val="303238"/>
                </a:solidFill>
              </a:defRPr>
            </a:pPr>
            <a:r>
              <a:rPr sz="1650" b="0">
                <a:solidFill>
                  <a:srgbClr val="303238"/>
                </a:solidFill>
              </a:rPr>
              <a:t>Adopt, revise,</a:t>
            </a:r>
          </a:p>
          <a:p>
            <a:pPr algn="l">
              <a:defRPr sz="1650" b="0">
                <a:solidFill>
                  <a:srgbClr val="303238"/>
                </a:solidFill>
              </a:defRPr>
            </a:pPr>
            <a:r>
              <a:rPr sz="1650" b="0">
                <a:solidFill>
                  <a:srgbClr val="303238"/>
                </a:solidFill>
              </a:rPr>
              <a:t>extend or stop.</a:t>
            </a:r>
          </a:p>
        </p:txBody>
      </p:sp>
      <p:sp>
        <p:nvSpPr>
          <p:cNvPr id="2023" name="measure label">
            <a:extLst>
              <a:ext uri="{FF2B5EF4-FFF2-40B4-BE49-F238E27FC236}">
                <a16:creationId xmlns:a16="http://schemas.microsoft.com/office/drawing/2014/main" id="{7EBAA5C8-87D1-4A64-9EAF-1481A9C69EC4}"/>
              </a:ext>
            </a:extLst>
          </p:cNvPr>
          <p:cNvSpPr>
            <a:spLocks noGrp="1"/>
          </p:cNvSpPr>
          <p:nvPr/>
        </p:nvSpPr>
        <p:spPr>
          <a:xfrm>
            <a:off x="812864" y="4857750"/>
            <a:ext cx="10067925" cy="371475"/>
          </a:xfrm>
          <a:prstGeom prst="rect">
            <a:avLst/>
          </a:prstGeom>
          <a:noFill/>
          <a:ln w="0">
            <a:noFill/>
          </a:ln>
        </p:spPr>
        <p:txBody>
          <a:bodyPr lIns="0" tIns="0" rIns="0" bIns="0" anchor="ctr">
            <a:noAutofit/>
          </a:bodyPr>
          <a:lstStyle>
            <a:defPPr algn="l">
              <a:defRPr sz="2025" b="1">
                <a:solidFill>
                  <a:srgbClr val="303238"/>
                </a:solidFill>
              </a:defRPr>
            </a:defPPr>
            <a:lvl1pPr algn="l">
              <a:defRPr sz="2025" b="1">
                <a:solidFill>
                  <a:srgbClr val="303238"/>
                </a:solidFill>
              </a:defRPr>
            </a:lvl1pPr>
            <a:lvl2pPr algn="l">
              <a:defRPr sz="2025" b="1">
                <a:solidFill>
                  <a:srgbClr val="303238"/>
                </a:solidFill>
              </a:defRPr>
            </a:lvl2pPr>
            <a:lvl3pPr algn="l">
              <a:defRPr sz="2025" b="1">
                <a:solidFill>
                  <a:srgbClr val="303238"/>
                </a:solidFill>
              </a:defRPr>
            </a:lvl3pPr>
            <a:lvl4pPr algn="l">
              <a:defRPr sz="2025" b="1">
                <a:solidFill>
                  <a:srgbClr val="303238"/>
                </a:solidFill>
              </a:defRPr>
            </a:lvl4pPr>
            <a:lvl5pPr algn="l">
              <a:defRPr sz="2025" b="1">
                <a:solidFill>
                  <a:srgbClr val="303238"/>
                </a:solidFill>
              </a:defRPr>
            </a:lvl5pPr>
            <a:lvl6pPr algn="l">
              <a:defRPr sz="2025" b="1">
                <a:solidFill>
                  <a:srgbClr val="303238"/>
                </a:solidFill>
              </a:defRPr>
            </a:lvl6pPr>
            <a:lvl7pPr algn="l">
              <a:defRPr sz="2025" b="1">
                <a:solidFill>
                  <a:srgbClr val="303238"/>
                </a:solidFill>
              </a:defRPr>
            </a:lvl7pPr>
            <a:lvl8pPr algn="l">
              <a:defRPr sz="2025" b="1">
                <a:solidFill>
                  <a:srgbClr val="303238"/>
                </a:solidFill>
              </a:defRPr>
            </a:lvl8pPr>
            <a:lvl9pPr algn="l">
              <a:defRPr sz="2025" b="1">
                <a:solidFill>
                  <a:srgbClr val="303238"/>
                </a:solidFill>
              </a:defRPr>
            </a:lvl9pPr>
          </a:lstStyle>
          <a:p>
            <a:pPr algn="l">
              <a:defRPr sz="2025" b="1">
                <a:solidFill>
                  <a:srgbClr val="303238"/>
                </a:solidFill>
              </a:defRPr>
            </a:pPr>
            <a:r>
              <a:rPr sz="2025" b="1">
                <a:solidFill>
                  <a:srgbClr val="303238"/>
                </a:solidFill>
              </a:rPr>
              <a:t>Measure the benefit and the cost</a:t>
            </a:r>
          </a:p>
        </p:txBody>
      </p:sp>
      <p:sp>
        <p:nvSpPr>
          <p:cNvPr id="2024" name="pilot measures">
            <a:extLst>
              <a:ext uri="{FF2B5EF4-FFF2-40B4-BE49-F238E27FC236}">
                <a16:creationId xmlns:a16="http://schemas.microsoft.com/office/drawing/2014/main" id="{45280BE7-92FA-4B63-90A1-EE6F89980DED}"/>
              </a:ext>
            </a:extLst>
          </p:cNvPr>
          <p:cNvSpPr>
            <a:spLocks noGrp="1"/>
          </p:cNvSpPr>
          <p:nvPr/>
        </p:nvSpPr>
        <p:spPr>
          <a:xfrm>
            <a:off x="812864" y="5353050"/>
            <a:ext cx="10067925" cy="371475"/>
          </a:xfrm>
          <a:prstGeom prst="rect">
            <a:avLst/>
          </a:prstGeom>
          <a:noFill/>
          <a:ln w="0">
            <a:noFill/>
          </a:ln>
        </p:spPr>
        <p:txBody>
          <a:bodyPr lIns="0" tIns="0" rIns="0" bIns="0" anchor="ctr">
            <a:noAutofit/>
          </a:bodyPr>
          <a:lstStyle>
            <a:defPPr algn="l">
              <a:defRPr sz="1950" b="1">
                <a:solidFill>
                  <a:srgbClr val="0086AC"/>
                </a:solidFill>
              </a:defRPr>
            </a:defPPr>
            <a:lvl1pPr algn="l">
              <a:defRPr sz="1950" b="1">
                <a:solidFill>
                  <a:srgbClr val="0086AC"/>
                </a:solidFill>
              </a:defRPr>
            </a:lvl1pPr>
            <a:lvl2pPr algn="l">
              <a:defRPr sz="1950" b="1">
                <a:solidFill>
                  <a:srgbClr val="0086AC"/>
                </a:solidFill>
              </a:defRPr>
            </a:lvl2pPr>
            <a:lvl3pPr algn="l">
              <a:defRPr sz="1950" b="1">
                <a:solidFill>
                  <a:srgbClr val="0086AC"/>
                </a:solidFill>
              </a:defRPr>
            </a:lvl3pPr>
            <a:lvl4pPr algn="l">
              <a:defRPr sz="1950" b="1">
                <a:solidFill>
                  <a:srgbClr val="0086AC"/>
                </a:solidFill>
              </a:defRPr>
            </a:lvl4pPr>
            <a:lvl5pPr algn="l">
              <a:defRPr sz="1950" b="1">
                <a:solidFill>
                  <a:srgbClr val="0086AC"/>
                </a:solidFill>
              </a:defRPr>
            </a:lvl5pPr>
            <a:lvl6pPr algn="l">
              <a:defRPr sz="1950" b="1">
                <a:solidFill>
                  <a:srgbClr val="0086AC"/>
                </a:solidFill>
              </a:defRPr>
            </a:lvl6pPr>
            <a:lvl7pPr algn="l">
              <a:defRPr sz="1950" b="1">
                <a:solidFill>
                  <a:srgbClr val="0086AC"/>
                </a:solidFill>
              </a:defRPr>
            </a:lvl7pPr>
            <a:lvl8pPr algn="l">
              <a:defRPr sz="1950" b="1">
                <a:solidFill>
                  <a:srgbClr val="0086AC"/>
                </a:solidFill>
              </a:defRPr>
            </a:lvl8pPr>
            <a:lvl9pPr algn="l">
              <a:defRPr sz="1950" b="1">
                <a:solidFill>
                  <a:srgbClr val="0086AC"/>
                </a:solidFill>
              </a:defRPr>
            </a:lvl9pPr>
          </a:lstStyle>
          <a:p>
            <a:pPr algn="l">
              <a:defRPr sz="1950" b="1">
                <a:solidFill>
                  <a:srgbClr val="0086AC"/>
                </a:solidFill>
              </a:defRPr>
            </a:pPr>
            <a:r>
              <a:rPr sz="1950" b="1">
                <a:solidFill>
                  <a:srgbClr val="0086AC"/>
                </a:solidFill>
              </a:rPr>
              <a:t>Verified catches  ·  Lost catches  ·  False alarms  ·  Review time</a:t>
            </a:r>
          </a:p>
        </p:txBody>
      </p:sp>
      <p:sp>
        <p:nvSpPr>
          <p:cNvPr id="2025" name="pilot decision">
            <a:extLst>
              <a:ext uri="{FF2B5EF4-FFF2-40B4-BE49-F238E27FC236}">
                <a16:creationId xmlns:a16="http://schemas.microsoft.com/office/drawing/2014/main" id="{938B7D9E-7265-42DB-8BB8-5D4AA39BC941}"/>
              </a:ext>
            </a:extLst>
          </p:cNvPr>
          <p:cNvSpPr>
            <a:spLocks noGrp="1"/>
          </p:cNvSpPr>
          <p:nvPr/>
        </p:nvSpPr>
        <p:spPr>
          <a:xfrm>
            <a:off x="812864" y="5915025"/>
            <a:ext cx="10067925" cy="304800"/>
          </a:xfrm>
          <a:prstGeom prst="rect">
            <a:avLst/>
          </a:prstGeom>
          <a:noFill/>
          <a:ln w="0">
            <a:noFill/>
          </a:ln>
        </p:spPr>
        <p:txBody>
          <a:bodyPr lIns="0" tIns="0" rIns="0" bIns="0" anchor="ctr">
            <a:noAutofit/>
          </a:bodyPr>
          <a:lstStyle>
            <a:defPPr algn="l">
              <a:defRPr sz="1725" b="0">
                <a:solidFill>
                  <a:srgbClr val="303238"/>
                </a:solidFill>
              </a:defRPr>
            </a:defPPr>
            <a:lvl1pPr algn="l">
              <a:defRPr sz="1725" b="0">
                <a:solidFill>
                  <a:srgbClr val="303238"/>
                </a:solidFill>
              </a:defRPr>
            </a:lvl1pPr>
            <a:lvl2pPr algn="l">
              <a:defRPr sz="1725" b="0">
                <a:solidFill>
                  <a:srgbClr val="303238"/>
                </a:solidFill>
              </a:defRPr>
            </a:lvl2pPr>
            <a:lvl3pPr algn="l">
              <a:defRPr sz="1725" b="0">
                <a:solidFill>
                  <a:srgbClr val="303238"/>
                </a:solidFill>
              </a:defRPr>
            </a:lvl3pPr>
            <a:lvl4pPr algn="l">
              <a:defRPr sz="1725" b="0">
                <a:solidFill>
                  <a:srgbClr val="303238"/>
                </a:solidFill>
              </a:defRPr>
            </a:lvl4pPr>
            <a:lvl5pPr algn="l">
              <a:defRPr sz="1725" b="0">
                <a:solidFill>
                  <a:srgbClr val="303238"/>
                </a:solidFill>
              </a:defRPr>
            </a:lvl5pPr>
            <a:lvl6pPr algn="l">
              <a:defRPr sz="1725" b="0">
                <a:solidFill>
                  <a:srgbClr val="303238"/>
                </a:solidFill>
              </a:defRPr>
            </a:lvl6pPr>
            <a:lvl7pPr algn="l">
              <a:defRPr sz="1725" b="0">
                <a:solidFill>
                  <a:srgbClr val="303238"/>
                </a:solidFill>
              </a:defRPr>
            </a:lvl7pPr>
            <a:lvl8pPr algn="l">
              <a:defRPr sz="1725" b="0">
                <a:solidFill>
                  <a:srgbClr val="303238"/>
                </a:solidFill>
              </a:defRPr>
            </a:lvl8pPr>
            <a:lvl9pPr algn="l">
              <a:defRPr sz="1725" b="0">
                <a:solidFill>
                  <a:srgbClr val="303238"/>
                </a:solidFill>
              </a:defRPr>
            </a:lvl9pPr>
          </a:lstStyle>
          <a:p>
            <a:pPr algn="l">
              <a:defRPr sz="1725" b="0">
                <a:solidFill>
                  <a:srgbClr val="303238"/>
                </a:solidFill>
              </a:defRPr>
            </a:pPr>
            <a:r>
              <a:rPr sz="1725" b="0">
                <a:solidFill>
                  <a:srgbClr val="303238"/>
                </a:solidFill>
              </a:rPr>
              <a:t>The accountable owner decides against the criteria set in week one.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8516" y="2240280"/>
            <a:ext cx="3273552" cy="3291840"/>
          </a:xfrm>
          <a:prstGeom prst="rect">
            <a:avLst/>
          </a:prstGeom>
          <a:solidFill>
            <a:srgbClr val="48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42836" y="3090672"/>
            <a:ext cx="2724912" cy="795528"/>
          </a:xfrm>
          <a:prstGeom prst="rect">
            <a:avLst/>
          </a:prstGeom>
          <a:noFill/>
        </p:spPr>
        <p:txBody>
          <a:bodyPr wrap="square" lIns="0" tIns="0" rIns="0" bIns="0" anchor="t">
            <a:noAutofit/>
          </a:bodyPr>
          <a:lstStyle/>
          <a:p>
            <a:pPr>
              <a:lnSpc>
                <a:spcPts val="2530"/>
              </a:lnSpc>
            </a:pPr>
            <a:r>
              <a:rPr lang="en-US" sz="2400" b="1" dirty="0">
                <a:solidFill>
                  <a:schemeClr val="bg1"/>
                </a:solidFill>
                <a:latin typeface="Arial" pitchFamily="34" charset="0"/>
                <a:ea typeface="Arial" pitchFamily="34" charset="-122"/>
                <a:cs typeface="Arial" pitchFamily="34" charset="-120"/>
              </a:rPr>
              <a:t>Improve the review</a:t>
            </a:r>
            <a:endParaRPr lang="en-US" sz="2400" dirty="0">
              <a:solidFill>
                <a:schemeClr val="bg1"/>
              </a:solidFill>
            </a:endParaRPr>
          </a:p>
        </p:txBody>
      </p:sp>
      <p:sp>
        <p:nvSpPr>
          <p:cNvPr id="4" name="TextBox 3"/>
          <p:cNvSpPr txBox="1"/>
          <p:nvPr/>
        </p:nvSpPr>
        <p:spPr>
          <a:xfrm>
            <a:off x="842836" y="4105656"/>
            <a:ext cx="2724912" cy="1188720"/>
          </a:xfrm>
          <a:prstGeom prst="rect">
            <a:avLst/>
          </a:prstGeom>
          <a:noFill/>
        </p:spPr>
        <p:txBody>
          <a:bodyPr wrap="square" lIns="0" tIns="0" rIns="0" bIns="0" rtlCol="0" anchor="t">
            <a:noAutofit/>
          </a:bodyPr>
          <a:lstStyle/>
          <a:p>
            <a:pPr marL="0" indent="0" algn="l">
              <a:lnSpc>
                <a:spcPts val="2100"/>
              </a:lnSpc>
              <a:spcBef>
                <a:spcPts val="0"/>
              </a:spcBef>
              <a:buNone/>
            </a:pPr>
            <a:r>
              <a:rPr lang="en-US" sz="1800" b="0" dirty="0">
                <a:solidFill>
                  <a:srgbClr val="FFFFFF"/>
                </a:solidFill>
                <a:latin typeface="Arial" pitchFamily="34" charset="0"/>
                <a:ea typeface="Arial" pitchFamily="34" charset="-122"/>
                <a:cs typeface="Arial" pitchFamily="34" charset="-120"/>
              </a:rPr>
              <a:t>24 cases now have findings. Full workflow evaluation pending.</a:t>
            </a:r>
            <a:endParaRPr lang="en-US" sz="1800"/>
          </a:p>
        </p:txBody>
      </p:sp>
      <p:sp>
        <p:nvSpPr>
          <p:cNvPr id="5" name="Rectangle 4"/>
          <p:cNvSpPr/>
          <p:nvPr/>
        </p:nvSpPr>
        <p:spPr>
          <a:xfrm>
            <a:off x="4189540" y="2240280"/>
            <a:ext cx="3273552" cy="3291840"/>
          </a:xfrm>
          <a:prstGeom prst="rect">
            <a:avLst/>
          </a:prstGeom>
          <a:solidFill>
            <a:srgbClr val="5466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4463860" y="3090672"/>
            <a:ext cx="2724912" cy="795528"/>
          </a:xfrm>
          <a:prstGeom prst="rect">
            <a:avLst/>
          </a:prstGeom>
          <a:noFill/>
        </p:spPr>
        <p:txBody>
          <a:bodyPr wrap="square" lIns="0" tIns="0" rIns="0" bIns="0" anchor="t">
            <a:noAutofit/>
          </a:bodyPr>
          <a:lstStyle/>
          <a:p>
            <a:r>
              <a:rPr lang="en-US" sz="2400" b="1" dirty="0">
                <a:solidFill>
                  <a:schemeClr val="bg1"/>
                </a:solidFill>
                <a:latin typeface="Arial"/>
              </a:rPr>
              <a:t>Keep the review record</a:t>
            </a:r>
          </a:p>
        </p:txBody>
      </p:sp>
      <p:sp>
        <p:nvSpPr>
          <p:cNvPr id="7" name="TextBox 6"/>
          <p:cNvSpPr txBox="1"/>
          <p:nvPr/>
        </p:nvSpPr>
        <p:spPr>
          <a:xfrm>
            <a:off x="4463860" y="4105656"/>
            <a:ext cx="2724912" cy="1188720"/>
          </a:xfrm>
          <a:prstGeom prst="rect">
            <a:avLst/>
          </a:prstGeom>
          <a:noFill/>
        </p:spPr>
        <p:txBody>
          <a:bodyPr wrap="square" lIns="0" tIns="0" rIns="0" bIns="0" anchor="t">
            <a:noAutofit/>
          </a:bodyPr>
          <a:lstStyle/>
          <a:p>
            <a:pPr>
              <a:lnSpc>
                <a:spcPts val="1820"/>
              </a:lnSpc>
            </a:pPr>
            <a:r>
              <a:rPr lang="en-US" sz="2000" dirty="0">
                <a:solidFill>
                  <a:schemeClr val="bg1"/>
                </a:solidFill>
                <a:latin typeface="Arial" pitchFamily="34" charset="0"/>
                <a:ea typeface="Arial" pitchFamily="34" charset="-122"/>
                <a:cs typeface="Arial" pitchFamily="34" charset="-120"/>
              </a:rPr>
              <a:t>Retain model, prompt, context, results and decisions for the exact revision.</a:t>
            </a:r>
            <a:endParaRPr lang="en-US" sz="2000" dirty="0">
              <a:solidFill>
                <a:schemeClr val="bg1"/>
              </a:solidFill>
            </a:endParaRPr>
          </a:p>
          <a:p>
            <a:endParaRPr lang="en-US" sz="1900" dirty="0">
              <a:solidFill>
                <a:schemeClr val="bg1"/>
              </a:solidFill>
              <a:latin typeface="Arial"/>
            </a:endParaRPr>
          </a:p>
        </p:txBody>
      </p:sp>
      <p:sp>
        <p:nvSpPr>
          <p:cNvPr id="8" name="Rectangle 7"/>
          <p:cNvSpPr/>
          <p:nvPr/>
        </p:nvSpPr>
        <p:spPr>
          <a:xfrm>
            <a:off x="7810564" y="2240280"/>
            <a:ext cx="3273552" cy="3291840"/>
          </a:xfrm>
          <a:prstGeom prst="rect">
            <a:avLst/>
          </a:prstGeom>
          <a:solidFill>
            <a:srgbClr val="ECC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084884" y="3090672"/>
            <a:ext cx="2724912" cy="795528"/>
          </a:xfrm>
          <a:prstGeom prst="rect">
            <a:avLst/>
          </a:prstGeom>
          <a:noFill/>
        </p:spPr>
        <p:txBody>
          <a:bodyPr wrap="square" lIns="0" tIns="0" rIns="0" bIns="0" anchor="t">
            <a:noAutofit/>
          </a:bodyPr>
          <a:lstStyle/>
          <a:p>
            <a:pPr>
              <a:lnSpc>
                <a:spcPts val="2530"/>
              </a:lnSpc>
            </a:pPr>
            <a:r>
              <a:rPr lang="en-US" sz="2400" b="1" dirty="0">
                <a:solidFill>
                  <a:srgbClr val="33333A"/>
                </a:solidFill>
                <a:latin typeface="Arial" pitchFamily="34" charset="0"/>
                <a:ea typeface="Arial" pitchFamily="34" charset="-122"/>
                <a:cs typeface="Arial" pitchFamily="34" charset="-120"/>
              </a:rPr>
              <a:t>Keep people in charge</a:t>
            </a:r>
            <a:endParaRPr lang="en-US" sz="2400" dirty="0">
              <a:solidFill>
                <a:srgbClr val="33333A"/>
              </a:solidFill>
            </a:endParaRPr>
          </a:p>
        </p:txBody>
      </p:sp>
      <p:sp>
        <p:nvSpPr>
          <p:cNvPr id="10" name="TextBox 9"/>
          <p:cNvSpPr txBox="1"/>
          <p:nvPr/>
        </p:nvSpPr>
        <p:spPr>
          <a:xfrm>
            <a:off x="8084884" y="4105656"/>
            <a:ext cx="2724912" cy="1188720"/>
          </a:xfrm>
          <a:prstGeom prst="rect">
            <a:avLst/>
          </a:prstGeom>
          <a:noFill/>
        </p:spPr>
        <p:txBody>
          <a:bodyPr wrap="square" lIns="0" tIns="0" rIns="0" bIns="0" anchor="t">
            <a:noAutofit/>
          </a:bodyPr>
          <a:lstStyle/>
          <a:p>
            <a:pPr>
              <a:lnSpc>
                <a:spcPts val="1820"/>
              </a:lnSpc>
            </a:pPr>
            <a:r>
              <a:rPr lang="en-US" sz="2000" dirty="0">
                <a:solidFill>
                  <a:srgbClr val="33333A"/>
                </a:solidFill>
                <a:latin typeface="Arial" pitchFamily="34" charset="0"/>
                <a:ea typeface="Arial" pitchFamily="34" charset="-122"/>
                <a:cs typeface="Arial" pitchFamily="34" charset="-120"/>
              </a:rPr>
              <a:t>Traceability informs scope. Trusted checks and accountable owners govern merge.</a:t>
            </a:r>
            <a:endParaRPr lang="en-US" sz="2000" dirty="0">
              <a:solidFill>
                <a:srgbClr val="33333A"/>
              </a:solidFill>
            </a:endParaRPr>
          </a:p>
        </p:txBody>
      </p:sp>
      <p:pic>
        <p:nvPicPr>
          <p:cNvPr id="16" name="Closing icon chart-no-axes-combined" descr="Measure the workflow"/>
          <p:cNvPicPr>
            <a:picLocks noChangeAspect="1"/>
          </p:cNvPicPr>
          <p:nvPr/>
        </p:nvPicPr>
        <p:blipFill>
          <a:blip r:embed="rId3"/>
          <a:stretch>
            <a:fillRect/>
          </a:stretch>
        </p:blipFill>
        <p:spPr>
          <a:xfrm>
            <a:off x="842836" y="2514600"/>
            <a:ext cx="429768" cy="429768"/>
          </a:xfrm>
          <a:prstGeom prst="rect">
            <a:avLst/>
          </a:prstGeom>
        </p:spPr>
      </p:pic>
      <p:pic>
        <p:nvPicPr>
          <p:cNvPr id="17" name="Closing icon shield-check" descr="Apply policy gates"/>
          <p:cNvPicPr>
            <a:picLocks noChangeAspect="1"/>
          </p:cNvPicPr>
          <p:nvPr/>
        </p:nvPicPr>
        <p:blipFill>
          <a:blip r:embed="rId4"/>
          <a:stretch>
            <a:fillRect/>
          </a:stretch>
        </p:blipFill>
        <p:spPr>
          <a:xfrm>
            <a:off x="4463860" y="2514600"/>
            <a:ext cx="429768" cy="429768"/>
          </a:xfrm>
          <a:prstGeom prst="rect">
            <a:avLst/>
          </a:prstGeom>
        </p:spPr>
      </p:pic>
      <p:pic>
        <p:nvPicPr>
          <p:cNvPr id="18" name="Closing icon clipboard-list" descr="Record every decision"/>
          <p:cNvPicPr>
            <a:picLocks noChangeAspect="1"/>
          </p:cNvPicPr>
          <p:nvPr/>
        </p:nvPicPr>
        <p:blipFill>
          <a:blip r:embed="rId5"/>
          <a:stretch>
            <a:fillRect/>
          </a:stretch>
        </p:blipFill>
        <p:spPr>
          <a:xfrm>
            <a:off x="8084884" y="2514600"/>
            <a:ext cx="429768" cy="42976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77D38BA-8B1C-29EE-18F5-EB8745B54645}"/>
              </a:ext>
            </a:extLst>
          </p:cNvPr>
          <p:cNvSpPr>
            <a:spLocks noGrp="1"/>
          </p:cNvSpPr>
          <p:nvPr>
            <p:ph type="title"/>
          </p:nvPr>
        </p:nvSpPr>
        <p:spPr/>
        <p:txBody>
          <a:bodyPr/>
          <a:lstStyle/>
          <a:p>
            <a:r>
              <a:rPr lang="en-US" dirty="0"/>
              <a:t>Which improvement will you try first on Monday?</a:t>
            </a:r>
          </a:p>
        </p:txBody>
      </p:sp>
      <p:sp>
        <p:nvSpPr>
          <p:cNvPr id="9" name="Text Placeholder 8">
            <a:extLst>
              <a:ext uri="{FF2B5EF4-FFF2-40B4-BE49-F238E27FC236}">
                <a16:creationId xmlns:a16="http://schemas.microsoft.com/office/drawing/2014/main" id="{6F89AE2F-0AC5-364E-9460-D2A2B0F05E26}"/>
              </a:ext>
            </a:extLst>
          </p:cNvPr>
          <p:cNvSpPr>
            <a:spLocks noGrp="1"/>
          </p:cNvSpPr>
          <p:nvPr>
            <p:ph type="body" sz="quarter" idx="10"/>
          </p:nvPr>
        </p:nvSpPr>
        <p:spPr/>
        <p:txBody>
          <a:bodyPr/>
          <a:lstStyle/>
          <a:p>
            <a:r>
              <a:rPr lang="en-US" dirty="0"/>
              <a:t>Use a stronger model</a:t>
            </a:r>
          </a:p>
          <a:p>
            <a:r>
              <a:rPr lang="en-US" dirty="0"/>
              <a:t>Add related context</a:t>
            </a:r>
          </a:p>
          <a:p>
            <a:r>
              <a:rPr lang="en-US" dirty="0"/>
              <a:t>Use a security-scoped prompt</a:t>
            </a:r>
          </a:p>
          <a:p>
            <a:r>
              <a:rPr lang="en-US" dirty="0"/>
              <a:t>Tighten merge authority</a:t>
            </a:r>
          </a:p>
          <a:p>
            <a:r>
              <a:rPr lang="en-US" dirty="0"/>
              <a:t>Run the 4-week pilot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817406" y="3412833"/>
            <a:ext cx="9144000" cy="365760"/>
          </a:xfrm>
        </p:spPr>
        <p:txBody>
          <a:bodyPr wrap="square" lIns="0" tIns="0" rIns="0" bIns="0" rtlCol="0" anchor="t">
            <a:noAutofit/>
          </a:bodyPr>
          <a:lstStyle/>
          <a:p>
            <a:pPr>
              <a:lnSpc>
                <a:spcPct val="100000"/>
              </a:lnSpc>
              <a:spcBef>
                <a:spcPts val="0"/>
              </a:spcBef>
              <a:spcAft>
                <a:spcPts val="0"/>
              </a:spcAft>
            </a:pPr>
            <a:r>
              <a:rPr lang="en-US" sz="1700" dirty="0">
                <a:solidFill>
                  <a:srgbClr val="262626"/>
                </a:solidFill>
                <a:latin typeface="Arial"/>
              </a:rPr>
              <a:t>Eric St-Pierre, CISSP, CCSP, HCISPP  |  </a:t>
            </a:r>
            <a:r>
              <a:rPr lang="en-US" sz="1700" dirty="0" err="1">
                <a:solidFill>
                  <a:srgbClr val="262626"/>
                </a:solidFill>
                <a:latin typeface="Arial"/>
              </a:rPr>
              <a:t>Medoya</a:t>
            </a:r>
            <a:r>
              <a:rPr lang="en-US" sz="1700" dirty="0">
                <a:solidFill>
                  <a:srgbClr val="262626"/>
                </a:solidFill>
                <a:latin typeface="Arial"/>
              </a:rPr>
              <a:t> Consulting LLC</a:t>
            </a:r>
          </a:p>
          <a:p>
            <a:pPr>
              <a:lnSpc>
                <a:spcPct val="100000"/>
              </a:lnSpc>
              <a:spcBef>
                <a:spcPts val="0"/>
              </a:spcBef>
              <a:spcAft>
                <a:spcPts val="0"/>
              </a:spcAft>
            </a:pPr>
            <a:endParaRPr lang="en-US" sz="1700" dirty="0">
              <a:solidFill>
                <a:srgbClr val="262626"/>
              </a:solidFill>
              <a:latin typeface="Arial"/>
            </a:endParaRPr>
          </a:p>
          <a:p>
            <a:pPr>
              <a:lnSpc>
                <a:spcPct val="100000"/>
              </a:lnSpc>
              <a:spcBef>
                <a:spcPts val="0"/>
              </a:spcBef>
              <a:spcAft>
                <a:spcPts val="0"/>
              </a:spcAft>
            </a:pPr>
            <a:r>
              <a:rPr lang="en-US" sz="1700" dirty="0" err="1">
                <a:solidFill>
                  <a:srgbClr val="262626"/>
                </a:solidFill>
                <a:latin typeface="Arial"/>
              </a:rPr>
              <a:t>eric.stpierre@medoya.com</a:t>
            </a:r>
            <a:endParaRPr lang="en-US" sz="1700" dirty="0">
              <a:solidFill>
                <a:srgbClr val="262626"/>
              </a:solidFill>
              <a:latin typeface="Arial"/>
            </a:endParaRPr>
          </a:p>
        </p:txBody>
      </p:sp>
      <p:sp>
        <p:nvSpPr>
          <p:cNvPr id="80" name="Narrative 80"/>
          <p:cNvSpPr txBox="1"/>
          <p:nvPr/>
        </p:nvSpPr>
        <p:spPr>
          <a:xfrm>
            <a:off x="822960" y="4389120"/>
            <a:ext cx="9692640" cy="320040"/>
          </a:xfrm>
          <a:prstGeom prst="rect">
            <a:avLst/>
          </a:prstGeom>
          <a:noFill/>
          <a:ln>
            <a:noFill/>
          </a:ln>
        </p:spPr>
        <p:txBody>
          <a:bodyPr wrap="square" lIns="0" tIns="0" rIns="0" bIns="0" anchor="t">
            <a:noAutofit/>
          </a:bodyPr>
          <a:lstStyle/>
          <a:p>
            <a:pPr marL="0" indent="0" algn="l">
              <a:lnSpc>
                <a:spcPts val="1750"/>
              </a:lnSpc>
              <a:spcBef>
                <a:spcPts val="0"/>
              </a:spcBef>
              <a:buNone/>
            </a:pPr>
            <a:r>
              <a:rPr lang="en-US" sz="1400" b="1" dirty="0">
                <a:solidFill>
                  <a:srgbClr val="4C8835"/>
                </a:solidFill>
                <a:latin typeface="Arial" pitchFamily="34" charset="0"/>
                <a:ea typeface="Arial" pitchFamily="34" charset="-122"/>
                <a:cs typeface="Arial" pitchFamily="34" charset="-120"/>
              </a:rPr>
              <a:t>STUDY, PROMPTS AND REVIEW KIT</a:t>
            </a:r>
            <a:endParaRPr lang="en-US" sz="1400"/>
          </a:p>
        </p:txBody>
      </p:sp>
      <p:sp>
        <p:nvSpPr>
          <p:cNvPr id="81" name="Narrative 81"/>
          <p:cNvSpPr txBox="1"/>
          <p:nvPr/>
        </p:nvSpPr>
        <p:spPr>
          <a:xfrm>
            <a:off x="822960" y="4800600"/>
            <a:ext cx="9692640" cy="411480"/>
          </a:xfrm>
          <a:prstGeom prst="rect">
            <a:avLst/>
          </a:prstGeom>
          <a:noFill/>
          <a:ln>
            <a:noFill/>
          </a:ln>
        </p:spPr>
        <p:txBody>
          <a:bodyPr wrap="square" lIns="0" tIns="0" rIns="0" bIns="0" anchor="t">
            <a:noAutofit/>
          </a:bodyPr>
          <a:lstStyle/>
          <a:p>
            <a:pPr marL="0" indent="0" algn="l">
              <a:lnSpc>
                <a:spcPts val="2750"/>
              </a:lnSpc>
              <a:spcBef>
                <a:spcPts val="0"/>
              </a:spcBef>
              <a:buNone/>
            </a:pPr>
            <a:r>
              <a:rPr lang="en-US" sz="2200" b="1" dirty="0">
                <a:solidFill>
                  <a:srgbClr val="0086B6"/>
                </a:solidFill>
                <a:latin typeface="Arial" pitchFamily="34" charset="0"/>
                <a:ea typeface="Arial" pitchFamily="34" charset="-122"/>
                <a:cs typeface="Arial" pitchFamily="34" charset="-120"/>
                <a:hlinkClick r:id="rId3"/>
              </a:rPr>
              <a:t>github.com/stperic/who-writes-who-finds</a:t>
            </a:r>
            <a:endParaRPr lang="en-US" sz="22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4">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4" name="Text 0"/>
          <p:cNvSpPr>
            <a:spLocks noGrp="1"/>
          </p:cNvSpPr>
          <p:nvPr>
            <p:ph type="title"/>
          </p:nvPr>
        </p:nvSpPr>
        <p:spPr>
          <a:xfrm>
            <a:off x="812902" y="812902"/>
            <a:ext cx="8412480" cy="512064"/>
          </a:xfrm>
          <a:prstGeom prst="rect">
            <a:avLst/>
          </a:prstGeom>
          <a:noFill/>
          <a:ln/>
        </p:spPr>
        <p:txBody>
          <a:bodyPr wrap="square" lIns="0" tIns="0" rIns="0" bIns="0" rtlCol="0" anchor="t">
            <a:noAutofit/>
          </a:bodyPr>
          <a:lstStyle/>
          <a:p>
            <a:pPr marL="0" indent="0" algn="l">
              <a:lnSpc>
                <a:spcPts val="3800"/>
              </a:lnSpc>
              <a:spcBef>
                <a:spcPts val="0"/>
              </a:spcBef>
              <a:buNone/>
            </a:pPr>
            <a:r>
              <a:rPr lang="en-US" sz="3200" b="1" dirty="0">
                <a:solidFill>
                  <a:srgbClr val="4C8835"/>
                </a:solidFill>
                <a:latin typeface="Arial" pitchFamily="34" charset="0"/>
                <a:ea typeface="Arial" pitchFamily="34" charset="-122"/>
                <a:cs typeface="Arial" pitchFamily="34" charset="-120"/>
              </a:rPr>
              <a:t>The exact review prompts</a:t>
            </a:r>
            <a:endParaRPr lang="en-US" sz="3200"/>
          </a:p>
        </p:txBody>
      </p:sp>
      <p:sp>
        <p:nvSpPr>
          <p:cNvPr id="36" name="Text 25"/>
          <p:cNvSpPr/>
          <p:nvPr/>
        </p:nvSpPr>
        <p:spPr>
          <a:xfrm>
            <a:off x="7532370" y="6238280"/>
            <a:ext cx="300863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A92"/>
                </a:solidFill>
                <a:latin typeface="Arial" pitchFamily="34" charset="0"/>
                <a:ea typeface="Arial" pitchFamily="34" charset="-122"/>
                <a:cs typeface="Arial" pitchFamily="34" charset="-120"/>
              </a:rPr>
              <a:t>ISC2.org/Congress | #ISC2Congress</a:t>
            </a:r>
            <a:endParaRPr lang="en-US" sz="1200" dirty="0"/>
          </a:p>
        </p:txBody>
      </p:sp>
      <p:sp>
        <p:nvSpPr>
          <p:cNvPr id="1000" name="Prompt scope">
            <a:extLst>
              <a:ext uri="{FF2B5EF4-FFF2-40B4-BE49-F238E27FC236}">
                <a16:creationId xmlns:a16="http://schemas.microsoft.com/office/drawing/2014/main" id="{AABC8324-8CB6-48A5-AB63-7A432D3C738E}"/>
              </a:ext>
            </a:extLst>
          </p:cNvPr>
          <p:cNvSpPr>
            <a:spLocks noGrp="1"/>
          </p:cNvSpPr>
          <p:nvPr/>
        </p:nvSpPr>
        <p:spPr>
          <a:xfrm>
            <a:off x="812902" y="1389888"/>
            <a:ext cx="10561320" cy="320040"/>
          </a:xfrm>
          <a:prstGeom prst="rect">
            <a:avLst/>
          </a:prstGeom>
          <a:noFill/>
          <a:ln w="0">
            <a:noFill/>
            <a:prstDash val="solid"/>
          </a:ln>
        </p:spPr>
        <p:txBody>
          <a:bodyPr wrap="square" lIns="0" tIns="0" rIns="0" bIns="0" anchor="t">
            <a:noAutofit/>
          </a:bodyPr>
          <a:lstStyle>
            <a:defPPr>
              <a:defRPr sz="1700" b="0">
                <a:solidFill>
                  <a:srgbClr val="33333A"/>
                </a:solidFill>
              </a:defRPr>
            </a:defPPr>
            <a:lvl1pPr>
              <a:defRPr sz="1700" b="0">
                <a:solidFill>
                  <a:srgbClr val="33333A"/>
                </a:solidFill>
              </a:defRPr>
            </a:lvl1pPr>
            <a:lvl2pPr>
              <a:defRPr sz="1700" b="0">
                <a:solidFill>
                  <a:srgbClr val="33333A"/>
                </a:solidFill>
              </a:defRPr>
            </a:lvl2pPr>
            <a:lvl3pPr>
              <a:defRPr sz="1700" b="0">
                <a:solidFill>
                  <a:srgbClr val="33333A"/>
                </a:solidFill>
              </a:defRPr>
            </a:lvl3pPr>
            <a:lvl4pPr>
              <a:defRPr sz="1700" b="0">
                <a:solidFill>
                  <a:srgbClr val="33333A"/>
                </a:solidFill>
              </a:defRPr>
            </a:lvl4pPr>
            <a:lvl5pPr>
              <a:defRPr sz="1700" b="0">
                <a:solidFill>
                  <a:srgbClr val="33333A"/>
                </a:solidFill>
              </a:defRPr>
            </a:lvl5pPr>
            <a:lvl6pPr>
              <a:defRPr sz="1700" b="0">
                <a:solidFill>
                  <a:srgbClr val="33333A"/>
                </a:solidFill>
              </a:defRPr>
            </a:lvl6pPr>
            <a:lvl7pPr>
              <a:defRPr sz="1700" b="0">
                <a:solidFill>
                  <a:srgbClr val="33333A"/>
                </a:solidFill>
              </a:defRPr>
            </a:lvl7pPr>
            <a:lvl8pPr>
              <a:defRPr sz="1700" b="0">
                <a:solidFill>
                  <a:srgbClr val="33333A"/>
                </a:solidFill>
              </a:defRPr>
            </a:lvl8pPr>
            <a:lvl9pPr>
              <a:defRPr sz="1700" b="0">
                <a:solidFill>
                  <a:srgbClr val="33333A"/>
                </a:solidFill>
              </a:defRPr>
            </a:lvl9pPr>
          </a:lstStyle>
          <a:p>
            <a:pPr>
              <a:defRPr sz="1700" b="0">
                <a:solidFill>
                  <a:srgbClr val="33333A"/>
                </a:solidFill>
              </a:defRPr>
            </a:pPr>
            <a:r>
              <a:rPr sz="1700" b="0">
                <a:solidFill>
                  <a:srgbClr val="33333A"/>
                </a:solidFill>
                <a:latin typeface="Arial"/>
                <a:ea typeface="Arial"/>
                <a:cs typeface="Arial"/>
              </a:rPr>
              <a:t>Exact instruction text. The added scope is highlighted.</a:t>
            </a:r>
          </a:p>
        </p:txBody>
      </p:sp>
      <p:sp>
        <p:nvSpPr>
          <p:cNvPr id="1001" name="General heading bar">
            <a:extLst>
              <a:ext uri="{FF2B5EF4-FFF2-40B4-BE49-F238E27FC236}">
                <a16:creationId xmlns:a16="http://schemas.microsoft.com/office/drawing/2014/main" id="{A2408987-BA49-4563-B8F8-E83665A78F8D}"/>
              </a:ext>
            </a:extLst>
          </p:cNvPr>
          <p:cNvSpPr>
            <a:spLocks noGrp="1"/>
          </p:cNvSpPr>
          <p:nvPr/>
        </p:nvSpPr>
        <p:spPr>
          <a:xfrm>
            <a:off x="812902" y="1947672"/>
            <a:ext cx="3794760" cy="448056"/>
          </a:xfrm>
          <a:prstGeom prst="rect">
            <a:avLst/>
          </a:prstGeom>
          <a:solidFill>
            <a:srgbClr val="0086B6"/>
          </a:solidFill>
          <a:ln w="0">
            <a:noFill/>
            <a:prstDash val="solid"/>
          </a:ln>
        </p:spPr>
        <p:txBody>
          <a:bodyPr/>
          <a:lstStyle/>
          <a:p>
            <a:endParaRPr lang="en-US"/>
          </a:p>
        </p:txBody>
      </p:sp>
      <p:sp>
        <p:nvSpPr>
          <p:cNvPr id="1002" name="Security heading bar">
            <a:extLst>
              <a:ext uri="{FF2B5EF4-FFF2-40B4-BE49-F238E27FC236}">
                <a16:creationId xmlns:a16="http://schemas.microsoft.com/office/drawing/2014/main" id="{A9B2DB71-FA4E-411F-9F47-161D63DE651A}"/>
              </a:ext>
            </a:extLst>
          </p:cNvPr>
          <p:cNvSpPr>
            <a:spLocks noGrp="1"/>
          </p:cNvSpPr>
          <p:nvPr/>
        </p:nvSpPr>
        <p:spPr>
          <a:xfrm>
            <a:off x="4846320" y="1947672"/>
            <a:ext cx="6528816" cy="448056"/>
          </a:xfrm>
          <a:prstGeom prst="rect">
            <a:avLst/>
          </a:prstGeom>
          <a:solidFill>
            <a:srgbClr val="4C8835"/>
          </a:solidFill>
          <a:ln w="0">
            <a:noFill/>
            <a:prstDash val="solid"/>
          </a:ln>
        </p:spPr>
        <p:txBody>
          <a:bodyPr/>
          <a:lstStyle/>
          <a:p>
            <a:endParaRPr lang="en-US"/>
          </a:p>
        </p:txBody>
      </p:sp>
      <p:sp>
        <p:nvSpPr>
          <p:cNvPr id="1003" name="General label">
            <a:extLst>
              <a:ext uri="{FF2B5EF4-FFF2-40B4-BE49-F238E27FC236}">
                <a16:creationId xmlns:a16="http://schemas.microsoft.com/office/drawing/2014/main" id="{751B5AFF-52DC-47D6-AD6D-5502584BDE4C}"/>
              </a:ext>
            </a:extLst>
          </p:cNvPr>
          <p:cNvSpPr>
            <a:spLocks noGrp="1"/>
          </p:cNvSpPr>
          <p:nvPr/>
        </p:nvSpPr>
        <p:spPr>
          <a:xfrm>
            <a:off x="950976" y="2048256"/>
            <a:ext cx="3520440" cy="283464"/>
          </a:xfrm>
          <a:prstGeom prst="rect">
            <a:avLst/>
          </a:prstGeom>
          <a:noFill/>
          <a:ln w="0">
            <a:noFill/>
            <a:prstDash val="solid"/>
          </a:ln>
        </p:spPr>
        <p:txBody>
          <a:bodyPr wrap="square" lIns="0" tIns="0" rIns="0" bIns="0" anchor="t">
            <a:noAutofit/>
          </a:bodyPr>
          <a:lstStyle>
            <a:defPPr>
              <a:defRPr sz="1700" b="1">
                <a:solidFill>
                  <a:srgbClr val="FFFFFF"/>
                </a:solidFill>
              </a:defRPr>
            </a:defPPr>
            <a:lvl1pPr>
              <a:defRPr sz="1700" b="1">
                <a:solidFill>
                  <a:srgbClr val="FFFFFF"/>
                </a:solidFill>
              </a:defRPr>
            </a:lvl1pPr>
            <a:lvl2pPr>
              <a:defRPr sz="1700" b="1">
                <a:solidFill>
                  <a:srgbClr val="FFFFFF"/>
                </a:solidFill>
              </a:defRPr>
            </a:lvl2pPr>
            <a:lvl3pPr>
              <a:defRPr sz="1700" b="1">
                <a:solidFill>
                  <a:srgbClr val="FFFFFF"/>
                </a:solidFill>
              </a:defRPr>
            </a:lvl3pPr>
            <a:lvl4pPr>
              <a:defRPr sz="1700" b="1">
                <a:solidFill>
                  <a:srgbClr val="FFFFFF"/>
                </a:solidFill>
              </a:defRPr>
            </a:lvl4pPr>
            <a:lvl5pPr>
              <a:defRPr sz="1700" b="1">
                <a:solidFill>
                  <a:srgbClr val="FFFFFF"/>
                </a:solidFill>
              </a:defRPr>
            </a:lvl5pPr>
            <a:lvl6pPr>
              <a:defRPr sz="1700" b="1">
                <a:solidFill>
                  <a:srgbClr val="FFFFFF"/>
                </a:solidFill>
              </a:defRPr>
            </a:lvl6pPr>
            <a:lvl7pPr>
              <a:defRPr sz="1700" b="1">
                <a:solidFill>
                  <a:srgbClr val="FFFFFF"/>
                </a:solidFill>
              </a:defRPr>
            </a:lvl7pPr>
            <a:lvl8pPr>
              <a:defRPr sz="1700" b="1">
                <a:solidFill>
                  <a:srgbClr val="FFFFFF"/>
                </a:solidFill>
              </a:defRPr>
            </a:lvl8pPr>
            <a:lvl9pPr>
              <a:defRPr sz="1700" b="1">
                <a:solidFill>
                  <a:srgbClr val="FFFFFF"/>
                </a:solidFill>
              </a:defRPr>
            </a:lvl9pPr>
          </a:lstStyle>
          <a:p>
            <a:pPr>
              <a:defRPr sz="1700" b="1">
                <a:solidFill>
                  <a:srgbClr val="FFFFFF"/>
                </a:solidFill>
              </a:defRPr>
            </a:pPr>
            <a:r>
              <a:rPr sz="1700" b="1">
                <a:solidFill>
                  <a:srgbClr val="FFFFFF"/>
                </a:solidFill>
                <a:latin typeface="Arial"/>
                <a:ea typeface="Arial"/>
                <a:cs typeface="Arial"/>
              </a:rPr>
              <a:t>Original: general review</a:t>
            </a:r>
          </a:p>
        </p:txBody>
      </p:sp>
      <p:sp>
        <p:nvSpPr>
          <p:cNvPr id="1004" name="Security label">
            <a:extLst>
              <a:ext uri="{FF2B5EF4-FFF2-40B4-BE49-F238E27FC236}">
                <a16:creationId xmlns:a16="http://schemas.microsoft.com/office/drawing/2014/main" id="{8A7935AE-EC87-4190-9FE1-FC4C1148EDA7}"/>
              </a:ext>
            </a:extLst>
          </p:cNvPr>
          <p:cNvSpPr>
            <a:spLocks noGrp="1"/>
          </p:cNvSpPr>
          <p:nvPr/>
        </p:nvSpPr>
        <p:spPr>
          <a:xfrm>
            <a:off x="4992624" y="2048256"/>
            <a:ext cx="6217920" cy="283464"/>
          </a:xfrm>
          <a:prstGeom prst="rect">
            <a:avLst/>
          </a:prstGeom>
          <a:noFill/>
          <a:ln w="0">
            <a:noFill/>
            <a:prstDash val="solid"/>
          </a:ln>
        </p:spPr>
        <p:txBody>
          <a:bodyPr wrap="square" lIns="0" tIns="0" rIns="0" bIns="0" anchor="t">
            <a:noAutofit/>
          </a:bodyPr>
          <a:lstStyle>
            <a:defPPr>
              <a:defRPr sz="1700" b="1">
                <a:solidFill>
                  <a:srgbClr val="FFFFFF"/>
                </a:solidFill>
              </a:defRPr>
            </a:defPPr>
            <a:lvl1pPr>
              <a:defRPr sz="1700" b="1">
                <a:solidFill>
                  <a:srgbClr val="FFFFFF"/>
                </a:solidFill>
              </a:defRPr>
            </a:lvl1pPr>
            <a:lvl2pPr>
              <a:defRPr sz="1700" b="1">
                <a:solidFill>
                  <a:srgbClr val="FFFFFF"/>
                </a:solidFill>
              </a:defRPr>
            </a:lvl2pPr>
            <a:lvl3pPr>
              <a:defRPr sz="1700" b="1">
                <a:solidFill>
                  <a:srgbClr val="FFFFFF"/>
                </a:solidFill>
              </a:defRPr>
            </a:lvl3pPr>
            <a:lvl4pPr>
              <a:defRPr sz="1700" b="1">
                <a:solidFill>
                  <a:srgbClr val="FFFFFF"/>
                </a:solidFill>
              </a:defRPr>
            </a:lvl4pPr>
            <a:lvl5pPr>
              <a:defRPr sz="1700" b="1">
                <a:solidFill>
                  <a:srgbClr val="FFFFFF"/>
                </a:solidFill>
              </a:defRPr>
            </a:lvl5pPr>
            <a:lvl6pPr>
              <a:defRPr sz="1700" b="1">
                <a:solidFill>
                  <a:srgbClr val="FFFFFF"/>
                </a:solidFill>
              </a:defRPr>
            </a:lvl6pPr>
            <a:lvl7pPr>
              <a:defRPr sz="1700" b="1">
                <a:solidFill>
                  <a:srgbClr val="FFFFFF"/>
                </a:solidFill>
              </a:defRPr>
            </a:lvl7pPr>
            <a:lvl8pPr>
              <a:defRPr sz="1700" b="1">
                <a:solidFill>
                  <a:srgbClr val="FFFFFF"/>
                </a:solidFill>
              </a:defRPr>
            </a:lvl8pPr>
            <a:lvl9pPr>
              <a:defRPr sz="1700" b="1">
                <a:solidFill>
                  <a:srgbClr val="FFFFFF"/>
                </a:solidFill>
              </a:defRPr>
            </a:lvl9pPr>
          </a:lstStyle>
          <a:p>
            <a:pPr>
              <a:defRPr sz="1700" b="1">
                <a:solidFill>
                  <a:srgbClr val="FFFFFF"/>
                </a:solidFill>
              </a:defRPr>
            </a:pPr>
            <a:r>
              <a:rPr sz="1700" b="1">
                <a:solidFill>
                  <a:srgbClr val="FFFFFF"/>
                </a:solidFill>
                <a:latin typeface="Arial"/>
                <a:ea typeface="Arial"/>
                <a:cs typeface="Arial"/>
              </a:rPr>
              <a:t>Stronger: security + existing flaws</a:t>
            </a:r>
          </a:p>
        </p:txBody>
      </p:sp>
      <p:sp>
        <p:nvSpPr>
          <p:cNvPr id="1005" name="Original prompt">
            <a:extLst>
              <a:ext uri="{FF2B5EF4-FFF2-40B4-BE49-F238E27FC236}">
                <a16:creationId xmlns:a16="http://schemas.microsoft.com/office/drawing/2014/main" id="{08DB119D-C669-46D2-84D7-B43DDFB82845}"/>
              </a:ext>
            </a:extLst>
          </p:cNvPr>
          <p:cNvSpPr>
            <a:spLocks noGrp="1"/>
          </p:cNvSpPr>
          <p:nvPr/>
        </p:nvSpPr>
        <p:spPr>
          <a:xfrm>
            <a:off x="950976" y="2606040"/>
            <a:ext cx="3511296" cy="2560320"/>
          </a:xfrm>
          <a:prstGeom prst="rect">
            <a:avLst/>
          </a:prstGeom>
          <a:noFill/>
          <a:ln w="0">
            <a:noFill/>
            <a:prstDash val="solid"/>
          </a:ln>
        </p:spPr>
        <p:txBody>
          <a:bodyPr wrap="square" lIns="0" tIns="0" rIns="0" bIns="0" anchor="t">
            <a:noAutofit/>
          </a:bodyPr>
          <a:lstStyle>
            <a:defPPr>
              <a:defRPr sz="1700" b="0">
                <a:solidFill>
                  <a:srgbClr val="33333A"/>
                </a:solidFill>
              </a:defRPr>
            </a:defPPr>
            <a:lvl1pPr>
              <a:defRPr sz="1700" b="0">
                <a:solidFill>
                  <a:srgbClr val="33333A"/>
                </a:solidFill>
              </a:defRPr>
            </a:lvl1pPr>
            <a:lvl2pPr>
              <a:defRPr sz="1700" b="0">
                <a:solidFill>
                  <a:srgbClr val="33333A"/>
                </a:solidFill>
              </a:defRPr>
            </a:lvl2pPr>
            <a:lvl3pPr>
              <a:defRPr sz="1700" b="0">
                <a:solidFill>
                  <a:srgbClr val="33333A"/>
                </a:solidFill>
              </a:defRPr>
            </a:lvl3pPr>
            <a:lvl4pPr>
              <a:defRPr sz="1700" b="0">
                <a:solidFill>
                  <a:srgbClr val="33333A"/>
                </a:solidFill>
              </a:defRPr>
            </a:lvl4pPr>
            <a:lvl5pPr>
              <a:defRPr sz="1700" b="0">
                <a:solidFill>
                  <a:srgbClr val="33333A"/>
                </a:solidFill>
              </a:defRPr>
            </a:lvl5pPr>
            <a:lvl6pPr>
              <a:defRPr sz="1700" b="0">
                <a:solidFill>
                  <a:srgbClr val="33333A"/>
                </a:solidFill>
              </a:defRPr>
            </a:lvl6pPr>
            <a:lvl7pPr>
              <a:defRPr sz="1700" b="0">
                <a:solidFill>
                  <a:srgbClr val="33333A"/>
                </a:solidFill>
              </a:defRPr>
            </a:lvl7pPr>
            <a:lvl8pPr>
              <a:defRPr sz="1700" b="0">
                <a:solidFill>
                  <a:srgbClr val="33333A"/>
                </a:solidFill>
              </a:defRPr>
            </a:lvl8pPr>
            <a:lvl9pPr>
              <a:defRPr sz="1700" b="0">
                <a:solidFill>
                  <a:srgbClr val="33333A"/>
                </a:solidFill>
              </a:defRPr>
            </a:lvl9pPr>
          </a:lstStyle>
          <a:p>
            <a:pPr>
              <a:defRPr sz="1700" b="0">
                <a:solidFill>
                  <a:srgbClr val="33333A"/>
                </a:solidFill>
              </a:defRPr>
            </a:pPr>
            <a:r>
              <a:rPr sz="1700" b="0">
                <a:solidFill>
                  <a:srgbClr val="33333A"/>
                </a:solidFill>
                <a:latin typeface="Arial"/>
                <a:ea typeface="Arial"/>
                <a:cs typeface="Arial"/>
              </a:rPr>
              <a:t>You are reviewing a pull request diff before it is merged. Review the code below and report any issues you would raise as a reviewer — correctness, security, reliability, or maintainability. For each issue, give the location, the problem, and the severity. If you find no issues, say so.</a:t>
            </a:r>
          </a:p>
        </p:txBody>
      </p:sp>
      <p:sp>
        <p:nvSpPr>
          <p:cNvPr id="1006" name="Security prompt">
            <a:extLst>
              <a:ext uri="{FF2B5EF4-FFF2-40B4-BE49-F238E27FC236}">
                <a16:creationId xmlns:a16="http://schemas.microsoft.com/office/drawing/2014/main" id="{4BE71DDE-677D-4EA0-96E9-56E390A4CACB}"/>
              </a:ext>
            </a:extLst>
          </p:cNvPr>
          <p:cNvSpPr>
            <a:spLocks noGrp="1"/>
          </p:cNvSpPr>
          <p:nvPr/>
        </p:nvSpPr>
        <p:spPr>
          <a:xfrm>
            <a:off x="4992624" y="2606040"/>
            <a:ext cx="6217920" cy="2880360"/>
          </a:xfrm>
          <a:prstGeom prst="rect">
            <a:avLst/>
          </a:prstGeom>
          <a:noFill/>
          <a:ln w="0">
            <a:noFill/>
            <a:prstDash val="solid"/>
          </a:ln>
        </p:spPr>
        <p:txBody>
          <a:bodyPr wrap="square" lIns="0" tIns="0" rIns="0" bIns="0" anchor="t">
            <a:noAutofit/>
          </a:bodyPr>
          <a:lstStyle>
            <a:defPPr>
              <a:defRPr sz="1600" b="0">
                <a:solidFill>
                  <a:srgbClr val="33333A"/>
                </a:solidFill>
              </a:defRPr>
            </a:defPPr>
            <a:lvl1pPr>
              <a:defRPr sz="1600" b="0">
                <a:solidFill>
                  <a:srgbClr val="33333A"/>
                </a:solidFill>
              </a:defRPr>
            </a:lvl1pPr>
            <a:lvl2pPr>
              <a:defRPr sz="1600" b="0">
                <a:solidFill>
                  <a:srgbClr val="33333A"/>
                </a:solidFill>
              </a:defRPr>
            </a:lvl2pPr>
            <a:lvl3pPr>
              <a:defRPr sz="1600" b="0">
                <a:solidFill>
                  <a:srgbClr val="33333A"/>
                </a:solidFill>
              </a:defRPr>
            </a:lvl3pPr>
            <a:lvl4pPr>
              <a:defRPr sz="1600" b="0">
                <a:solidFill>
                  <a:srgbClr val="33333A"/>
                </a:solidFill>
              </a:defRPr>
            </a:lvl4pPr>
            <a:lvl5pPr>
              <a:defRPr sz="1600" b="0">
                <a:solidFill>
                  <a:srgbClr val="33333A"/>
                </a:solidFill>
              </a:defRPr>
            </a:lvl5pPr>
            <a:lvl6pPr>
              <a:defRPr sz="1600" b="0">
                <a:solidFill>
                  <a:srgbClr val="33333A"/>
                </a:solidFill>
              </a:defRPr>
            </a:lvl6pPr>
            <a:lvl7pPr>
              <a:defRPr sz="1600" b="0">
                <a:solidFill>
                  <a:srgbClr val="33333A"/>
                </a:solidFill>
              </a:defRPr>
            </a:lvl7pPr>
            <a:lvl8pPr>
              <a:defRPr sz="1600" b="0">
                <a:solidFill>
                  <a:srgbClr val="33333A"/>
                </a:solidFill>
              </a:defRPr>
            </a:lvl8pPr>
            <a:lvl9pPr>
              <a:defRPr sz="1600" b="0">
                <a:solidFill>
                  <a:srgbClr val="33333A"/>
                </a:solidFill>
              </a:defRPr>
            </a:lvl9pPr>
          </a:lstStyle>
          <a:p>
            <a:pPr>
              <a:defRPr sz="1600" b="0">
                <a:solidFill>
                  <a:srgbClr val="33333A"/>
                </a:solidFill>
              </a:defRPr>
            </a:pPr>
            <a:r>
              <a:rPr sz="1600" dirty="0">
                <a:solidFill>
                  <a:srgbClr val="33333A"/>
                </a:solidFill>
                <a:latin typeface="Arial"/>
                <a:ea typeface="Arial"/>
                <a:cs typeface="Arial"/>
              </a:rPr>
              <a:t>You are a security engineer reviewing a pull request diff before it is merged. Review the code below for security vulnerabilities, using the OWASP Top </a:t>
            </a:r>
            <a:r>
              <a:rPr lang="en-US" sz="1600" dirty="0">
                <a:solidFill>
                  <a:srgbClr val="33333A"/>
                </a:solidFill>
                <a:latin typeface="Arial"/>
                <a:ea typeface="Arial"/>
                <a:cs typeface="Arial"/>
              </a:rPr>
              <a:t>10 (2021) </a:t>
            </a:r>
            <a:r>
              <a:rPr sz="1600" dirty="0">
                <a:solidFill>
                  <a:srgbClr val="33333A"/>
                </a:solidFill>
                <a:latin typeface="Arial"/>
                <a:ea typeface="Arial"/>
                <a:cs typeface="Arial"/>
              </a:rPr>
              <a:t>as a checklist: broken access control, cryptographic failures, injection (including SQL injection and XSS), insecure design, security misconfiguration, vulnerable and outdated components, identification and authentication failures, software and data integrity failures, security logging and monitoring failures, and server-side request forgery. For each issue, give the location, the OWASP category, the problem, and the severity. </a:t>
            </a:r>
            <a:r>
              <a:rPr sz="1600" b="1" dirty="0">
                <a:solidFill>
                  <a:srgbClr val="4C8835"/>
                </a:solidFill>
                <a:latin typeface="Arial"/>
                <a:ea typeface="Arial"/>
                <a:cs typeface="Arial"/>
              </a:rPr>
              <a:t>Also report security flaws in code that this change touches or relies on, even if they existed before this change.</a:t>
            </a:r>
            <a:r>
              <a:rPr sz="1600" dirty="0">
                <a:solidFill>
                  <a:srgbClr val="33333A"/>
                </a:solidFill>
                <a:latin typeface="Arial"/>
                <a:ea typeface="Arial"/>
                <a:cs typeface="Arial"/>
              </a:rPr>
              <a:t> If you find no security issues, say so.</a:t>
            </a:r>
          </a:p>
        </p:txBody>
      </p:sp>
      <p:sp>
        <p:nvSpPr>
          <p:cNvPr id="1007" name="Input control">
            <a:extLst>
              <a:ext uri="{FF2B5EF4-FFF2-40B4-BE49-F238E27FC236}">
                <a16:creationId xmlns:a16="http://schemas.microsoft.com/office/drawing/2014/main" id="{0226E2E7-53AB-4CCB-9C46-43014F49C45A}"/>
              </a:ext>
            </a:extLst>
          </p:cNvPr>
          <p:cNvSpPr>
            <a:spLocks noGrp="1"/>
          </p:cNvSpPr>
          <p:nvPr/>
        </p:nvSpPr>
        <p:spPr>
          <a:xfrm>
            <a:off x="812902" y="5660136"/>
            <a:ext cx="10561320" cy="384048"/>
          </a:xfrm>
          <a:prstGeom prst="rect">
            <a:avLst/>
          </a:prstGeom>
          <a:noFill/>
          <a:ln w="0">
            <a:noFill/>
            <a:prstDash val="solid"/>
          </a:ln>
        </p:spPr>
        <p:txBody>
          <a:bodyPr wrap="square" lIns="0" tIns="0" rIns="0" bIns="0" anchor="t">
            <a:noAutofit/>
          </a:bodyPr>
          <a:lstStyle>
            <a:defPPr>
              <a:defRPr sz="1500" b="0">
                <a:solidFill>
                  <a:srgbClr val="6B6B73"/>
                </a:solidFill>
              </a:defRPr>
            </a:defPPr>
            <a:lvl1pPr>
              <a:defRPr sz="1500" b="0">
                <a:solidFill>
                  <a:srgbClr val="6B6B73"/>
                </a:solidFill>
              </a:defRPr>
            </a:lvl1pPr>
            <a:lvl2pPr>
              <a:defRPr sz="1500" b="0">
                <a:solidFill>
                  <a:srgbClr val="6B6B73"/>
                </a:solidFill>
              </a:defRPr>
            </a:lvl2pPr>
            <a:lvl3pPr>
              <a:defRPr sz="1500" b="0">
                <a:solidFill>
                  <a:srgbClr val="6B6B73"/>
                </a:solidFill>
              </a:defRPr>
            </a:lvl3pPr>
            <a:lvl4pPr>
              <a:defRPr sz="1500" b="0">
                <a:solidFill>
                  <a:srgbClr val="6B6B73"/>
                </a:solidFill>
              </a:defRPr>
            </a:lvl4pPr>
            <a:lvl5pPr>
              <a:defRPr sz="1500" b="0">
                <a:solidFill>
                  <a:srgbClr val="6B6B73"/>
                </a:solidFill>
              </a:defRPr>
            </a:lvl5pPr>
            <a:lvl6pPr>
              <a:defRPr sz="1500" b="0">
                <a:solidFill>
                  <a:srgbClr val="6B6B73"/>
                </a:solidFill>
              </a:defRPr>
            </a:lvl6pPr>
            <a:lvl7pPr>
              <a:defRPr sz="1500" b="0">
                <a:solidFill>
                  <a:srgbClr val="6B6B73"/>
                </a:solidFill>
              </a:defRPr>
            </a:lvl7pPr>
            <a:lvl8pPr>
              <a:defRPr sz="1500" b="0">
                <a:solidFill>
                  <a:srgbClr val="6B6B73"/>
                </a:solidFill>
              </a:defRPr>
            </a:lvl8pPr>
            <a:lvl9pPr>
              <a:defRPr sz="1500" b="0">
                <a:solidFill>
                  <a:srgbClr val="6B6B73"/>
                </a:solidFill>
              </a:defRPr>
            </a:lvl9pPr>
          </a:lstStyle>
          <a:p>
            <a:pPr>
              <a:defRPr sz="1500" b="0">
                <a:solidFill>
                  <a:srgbClr val="6B6B73"/>
                </a:solidFill>
              </a:defRPr>
            </a:pPr>
            <a:r>
              <a:rPr sz="1500" b="0">
                <a:solidFill>
                  <a:srgbClr val="6B6B73"/>
                </a:solidFill>
                <a:latin typeface="Arial"/>
                <a:ea typeface="Arial"/>
                <a:cs typeface="Arial"/>
              </a:rPr>
              <a:t>Same diff and related file in both prompt conditions. Only the review instructions changed.</a:t>
            </a:r>
          </a:p>
        </p:txBody>
      </p:sp>
      <p:sp>
        <p:nvSpPr>
          <p:cNvPr id="1008" name="Prompt source footnote">
            <a:extLst>
              <a:ext uri="{FF2B5EF4-FFF2-40B4-BE49-F238E27FC236}">
                <a16:creationId xmlns:a16="http://schemas.microsoft.com/office/drawing/2014/main" id="{B0D2D619-A333-46E3-80CB-03DA04939D37}"/>
              </a:ext>
            </a:extLst>
          </p:cNvPr>
          <p:cNvSpPr>
            <a:spLocks noGrp="1"/>
          </p:cNvSpPr>
          <p:nvPr/>
        </p:nvSpPr>
        <p:spPr>
          <a:xfrm>
            <a:off x="812902" y="6108192"/>
            <a:ext cx="9692640" cy="210312"/>
          </a:xfrm>
          <a:prstGeom prst="rect">
            <a:avLst/>
          </a:prstGeom>
          <a:noFill/>
          <a:ln w="0">
            <a:noFill/>
            <a:prstDash val="solid"/>
          </a:ln>
        </p:spPr>
        <p:txBody>
          <a:bodyPr wrap="square" lIns="0" tIns="0" rIns="0" bIns="0" anchor="t">
            <a:noAutofit/>
          </a:bodyPr>
          <a:lstStyle>
            <a:defPPr>
              <a:defRPr sz="1000" b="0">
                <a:solidFill>
                  <a:srgbClr val="8A8A92"/>
                </a:solidFill>
              </a:defRPr>
            </a:defPPr>
            <a:lvl1pPr>
              <a:defRPr sz="1000" b="0">
                <a:solidFill>
                  <a:srgbClr val="8A8A92"/>
                </a:solidFill>
              </a:defRPr>
            </a:lvl1pPr>
            <a:lvl2pPr>
              <a:defRPr sz="1000" b="0">
                <a:solidFill>
                  <a:srgbClr val="8A8A92"/>
                </a:solidFill>
              </a:defRPr>
            </a:lvl2pPr>
            <a:lvl3pPr>
              <a:defRPr sz="1000" b="0">
                <a:solidFill>
                  <a:srgbClr val="8A8A92"/>
                </a:solidFill>
              </a:defRPr>
            </a:lvl3pPr>
            <a:lvl4pPr>
              <a:defRPr sz="1000" b="0">
                <a:solidFill>
                  <a:srgbClr val="8A8A92"/>
                </a:solidFill>
              </a:defRPr>
            </a:lvl4pPr>
            <a:lvl5pPr>
              <a:defRPr sz="1000" b="0">
                <a:solidFill>
                  <a:srgbClr val="8A8A92"/>
                </a:solidFill>
              </a:defRPr>
            </a:lvl5pPr>
            <a:lvl6pPr>
              <a:defRPr sz="1000" b="0">
                <a:solidFill>
                  <a:srgbClr val="8A8A92"/>
                </a:solidFill>
              </a:defRPr>
            </a:lvl6pPr>
            <a:lvl7pPr>
              <a:defRPr sz="1000" b="0">
                <a:solidFill>
                  <a:srgbClr val="8A8A92"/>
                </a:solidFill>
              </a:defRPr>
            </a:lvl7pPr>
            <a:lvl8pPr>
              <a:defRPr sz="1000" b="0">
                <a:solidFill>
                  <a:srgbClr val="8A8A92"/>
                </a:solidFill>
              </a:defRPr>
            </a:lvl8pPr>
            <a:lvl9pPr>
              <a:defRPr sz="1000" b="0">
                <a:solidFill>
                  <a:srgbClr val="8A8A92"/>
                </a:solidFill>
              </a:defRPr>
            </a:lvl9pPr>
          </a:lstStyle>
          <a:p>
            <a:pPr>
              <a:defRPr sz="1000" b="0">
                <a:solidFill>
                  <a:srgbClr val="8A8A92"/>
                </a:solidFill>
              </a:defRPr>
            </a:pPr>
            <a:r>
              <a:rPr sz="1000" b="0">
                <a:solidFill>
                  <a:srgbClr val="8A8A92"/>
                </a:solidFill>
                <a:latin typeface="Arial"/>
                <a:ea typeface="Arial"/>
                <a:cs typeface="Arial"/>
              </a:rPr>
              <a:t>Code and shared context follow these instructions. Full templates and sources are in the review kit.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7">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4" name="Text 0"/>
          <p:cNvSpPr>
            <a:spLocks noGrp="1"/>
          </p:cNvSpPr>
          <p:nvPr>
            <p:ph type="title"/>
          </p:nvPr>
        </p:nvSpPr>
        <p:spPr>
          <a:xfrm>
            <a:off x="812800" y="812800"/>
            <a:ext cx="7209711"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448334"/>
                </a:solidFill>
                <a:latin typeface="Arial" pitchFamily="34" charset="0"/>
                <a:ea typeface="Arial" pitchFamily="34" charset="-122"/>
                <a:cs typeface="Arial" pitchFamily="34" charset="-120"/>
              </a:rPr>
              <a:t>Inherited flaws survived review</a:t>
            </a:r>
            <a:endParaRPr lang="en-US" sz="3200" dirty="0"/>
          </a:p>
        </p:txBody>
      </p:sp>
      <p:sp>
        <p:nvSpPr>
          <p:cNvPr id="6" name="Shape 2"/>
          <p:cNvSpPr/>
          <p:nvPr/>
        </p:nvSpPr>
        <p:spPr>
          <a:xfrm>
            <a:off x="819150" y="2161530"/>
            <a:ext cx="2926080" cy="2654300"/>
          </a:xfrm>
          <a:prstGeom prst="roundRect">
            <a:avLst>
              <a:gd name="adj" fmla="val 4545"/>
            </a:avLst>
          </a:prstGeom>
          <a:solidFill>
            <a:srgbClr val="FFFFFF"/>
          </a:solidFill>
          <a:ln w="12700">
            <a:solidFill>
              <a:srgbClr val="E3E3E6"/>
            </a:solidFill>
            <a:prstDash val="solid"/>
          </a:ln>
        </p:spPr>
        <p:txBody>
          <a:bodyPr/>
          <a:lstStyle/>
          <a:p>
            <a:endParaRPr lang="en-US"/>
          </a:p>
        </p:txBody>
      </p:sp>
      <p:sp>
        <p:nvSpPr>
          <p:cNvPr id="7" name="Text 3"/>
          <p:cNvSpPr/>
          <p:nvPr/>
        </p:nvSpPr>
        <p:spPr>
          <a:xfrm>
            <a:off x="1028700" y="2371080"/>
            <a:ext cx="2505456" cy="238658"/>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466AE"/>
                </a:solidFill>
                <a:latin typeface="Arial" pitchFamily="34" charset="0"/>
                <a:ea typeface="Arial" pitchFamily="34" charset="-122"/>
                <a:cs typeface="Arial" pitchFamily="34" charset="-120"/>
              </a:rPr>
              <a:t>AI CO-AUTHORED CHANGE 1</a:t>
            </a:r>
            <a:endParaRPr lang="en-US" sz="1200" dirty="0"/>
          </a:p>
        </p:txBody>
      </p:sp>
      <p:sp>
        <p:nvSpPr>
          <p:cNvPr id="8" name="Shape 4"/>
          <p:cNvSpPr/>
          <p:nvPr/>
        </p:nvSpPr>
        <p:spPr>
          <a:xfrm>
            <a:off x="1028700" y="2912021"/>
            <a:ext cx="1905000" cy="88900"/>
          </a:xfrm>
          <a:prstGeom prst="roundRect">
            <a:avLst>
              <a:gd name="adj" fmla="val 50000"/>
            </a:avLst>
          </a:prstGeom>
          <a:solidFill>
            <a:srgbClr val="E3E3E6"/>
          </a:solidFill>
          <a:ln/>
        </p:spPr>
        <p:txBody>
          <a:bodyPr/>
          <a:lstStyle/>
          <a:p>
            <a:endParaRPr lang="en-US"/>
          </a:p>
        </p:txBody>
      </p:sp>
      <p:sp>
        <p:nvSpPr>
          <p:cNvPr id="9" name="Shape 5"/>
          <p:cNvSpPr/>
          <p:nvPr/>
        </p:nvSpPr>
        <p:spPr>
          <a:xfrm>
            <a:off x="1028700" y="3115221"/>
            <a:ext cx="1524000" cy="88900"/>
          </a:xfrm>
          <a:prstGeom prst="roundRect">
            <a:avLst>
              <a:gd name="adj" fmla="val 50000"/>
            </a:avLst>
          </a:prstGeom>
          <a:solidFill>
            <a:srgbClr val="D7EAD0"/>
          </a:solidFill>
          <a:ln/>
        </p:spPr>
        <p:txBody>
          <a:bodyPr/>
          <a:lstStyle/>
          <a:p>
            <a:endParaRPr lang="en-US"/>
          </a:p>
        </p:txBody>
      </p:sp>
      <p:sp>
        <p:nvSpPr>
          <p:cNvPr id="10" name="Shape 6"/>
          <p:cNvSpPr/>
          <p:nvPr/>
        </p:nvSpPr>
        <p:spPr>
          <a:xfrm>
            <a:off x="1028700" y="3318421"/>
            <a:ext cx="2032000" cy="88900"/>
          </a:xfrm>
          <a:prstGeom prst="roundRect">
            <a:avLst>
              <a:gd name="adj" fmla="val 50000"/>
            </a:avLst>
          </a:prstGeom>
          <a:solidFill>
            <a:srgbClr val="D7EAD0"/>
          </a:solidFill>
          <a:ln/>
        </p:spPr>
        <p:txBody>
          <a:bodyPr/>
          <a:lstStyle/>
          <a:p>
            <a:endParaRPr lang="en-US"/>
          </a:p>
        </p:txBody>
      </p:sp>
      <p:sp>
        <p:nvSpPr>
          <p:cNvPr id="11" name="Shape 7"/>
          <p:cNvSpPr/>
          <p:nvPr/>
        </p:nvSpPr>
        <p:spPr>
          <a:xfrm>
            <a:off x="1028700" y="3521621"/>
            <a:ext cx="1270000" cy="88900"/>
          </a:xfrm>
          <a:prstGeom prst="roundRect">
            <a:avLst>
              <a:gd name="adj" fmla="val 50000"/>
            </a:avLst>
          </a:prstGeom>
          <a:solidFill>
            <a:srgbClr val="E3E3E6"/>
          </a:solidFill>
          <a:ln/>
        </p:spPr>
        <p:txBody>
          <a:bodyPr/>
          <a:lstStyle/>
          <a:p>
            <a:endParaRPr lang="en-US"/>
          </a:p>
        </p:txBody>
      </p:sp>
      <p:sp>
        <p:nvSpPr>
          <p:cNvPr id="12" name="Shape 8"/>
          <p:cNvSpPr/>
          <p:nvPr/>
        </p:nvSpPr>
        <p:spPr>
          <a:xfrm>
            <a:off x="1028700" y="3724821"/>
            <a:ext cx="1778000" cy="88900"/>
          </a:xfrm>
          <a:prstGeom prst="roundRect">
            <a:avLst>
              <a:gd name="adj" fmla="val 50000"/>
            </a:avLst>
          </a:prstGeom>
          <a:solidFill>
            <a:srgbClr val="E3E3E6"/>
          </a:solidFill>
          <a:ln/>
        </p:spPr>
        <p:txBody>
          <a:bodyPr/>
          <a:lstStyle/>
          <a:p>
            <a:endParaRPr lang="en-US"/>
          </a:p>
        </p:txBody>
      </p:sp>
      <p:sp>
        <p:nvSpPr>
          <p:cNvPr id="13" name="Shape 9"/>
          <p:cNvSpPr/>
          <p:nvPr/>
        </p:nvSpPr>
        <p:spPr>
          <a:xfrm>
            <a:off x="1028700" y="3928021"/>
            <a:ext cx="1651000" cy="88900"/>
          </a:xfrm>
          <a:prstGeom prst="roundRect">
            <a:avLst>
              <a:gd name="adj" fmla="val 50000"/>
            </a:avLst>
          </a:prstGeom>
          <a:solidFill>
            <a:srgbClr val="D7EAD0"/>
          </a:solidFill>
          <a:ln/>
        </p:spPr>
        <p:txBody>
          <a:bodyPr/>
          <a:lstStyle/>
          <a:p>
            <a:endParaRPr lang="en-US"/>
          </a:p>
        </p:txBody>
      </p:sp>
      <p:sp>
        <p:nvSpPr>
          <p:cNvPr id="14" name="Shape 10"/>
          <p:cNvSpPr/>
          <p:nvPr/>
        </p:nvSpPr>
        <p:spPr>
          <a:xfrm>
            <a:off x="1028700" y="4131221"/>
            <a:ext cx="1905000" cy="88900"/>
          </a:xfrm>
          <a:prstGeom prst="roundRect">
            <a:avLst>
              <a:gd name="adj" fmla="val 50000"/>
            </a:avLst>
          </a:prstGeom>
          <a:solidFill>
            <a:srgbClr val="E3E3E6"/>
          </a:solidFill>
          <a:ln/>
        </p:spPr>
        <p:txBody>
          <a:bodyPr/>
          <a:lstStyle/>
          <a:p>
            <a:endParaRPr lang="en-US"/>
          </a:p>
        </p:txBody>
      </p:sp>
      <p:sp>
        <p:nvSpPr>
          <p:cNvPr id="15" name="Shape 11"/>
          <p:cNvSpPr/>
          <p:nvPr/>
        </p:nvSpPr>
        <p:spPr>
          <a:xfrm>
            <a:off x="3973982" y="2161530"/>
            <a:ext cx="2926080" cy="2654300"/>
          </a:xfrm>
          <a:prstGeom prst="roundRect">
            <a:avLst>
              <a:gd name="adj" fmla="val 4545"/>
            </a:avLst>
          </a:prstGeom>
          <a:solidFill>
            <a:srgbClr val="FFFFFF"/>
          </a:solidFill>
          <a:ln w="12700">
            <a:solidFill>
              <a:srgbClr val="E3E3E6"/>
            </a:solidFill>
            <a:prstDash val="solid"/>
          </a:ln>
        </p:spPr>
        <p:txBody>
          <a:bodyPr/>
          <a:lstStyle/>
          <a:p>
            <a:endParaRPr lang="en-US"/>
          </a:p>
        </p:txBody>
      </p:sp>
      <p:sp>
        <p:nvSpPr>
          <p:cNvPr id="16" name="Text 12"/>
          <p:cNvSpPr/>
          <p:nvPr/>
        </p:nvSpPr>
        <p:spPr>
          <a:xfrm>
            <a:off x="4183380" y="2371080"/>
            <a:ext cx="2505456" cy="238658"/>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466AE"/>
                </a:solidFill>
                <a:latin typeface="Arial" pitchFamily="34" charset="0"/>
                <a:ea typeface="Arial" pitchFamily="34" charset="-122"/>
                <a:cs typeface="Arial" pitchFamily="34" charset="-120"/>
              </a:rPr>
              <a:t>AI CO-AUTHORED CHANGE 2</a:t>
            </a:r>
            <a:endParaRPr lang="en-US" sz="1200" dirty="0"/>
          </a:p>
        </p:txBody>
      </p:sp>
      <p:sp>
        <p:nvSpPr>
          <p:cNvPr id="17" name="Shape 13"/>
          <p:cNvSpPr/>
          <p:nvPr/>
        </p:nvSpPr>
        <p:spPr>
          <a:xfrm>
            <a:off x="4183380" y="2912021"/>
            <a:ext cx="1651000" cy="88900"/>
          </a:xfrm>
          <a:prstGeom prst="roundRect">
            <a:avLst>
              <a:gd name="adj" fmla="val 50000"/>
            </a:avLst>
          </a:prstGeom>
          <a:solidFill>
            <a:srgbClr val="D7EAD0"/>
          </a:solidFill>
          <a:ln/>
        </p:spPr>
        <p:txBody>
          <a:bodyPr/>
          <a:lstStyle/>
          <a:p>
            <a:endParaRPr lang="en-US"/>
          </a:p>
        </p:txBody>
      </p:sp>
      <p:sp>
        <p:nvSpPr>
          <p:cNvPr id="18" name="Shape 14"/>
          <p:cNvSpPr/>
          <p:nvPr/>
        </p:nvSpPr>
        <p:spPr>
          <a:xfrm>
            <a:off x="4183380" y="3115221"/>
            <a:ext cx="2032000" cy="88900"/>
          </a:xfrm>
          <a:prstGeom prst="roundRect">
            <a:avLst>
              <a:gd name="adj" fmla="val 50000"/>
            </a:avLst>
          </a:prstGeom>
          <a:solidFill>
            <a:srgbClr val="E3E3E6"/>
          </a:solidFill>
          <a:ln/>
        </p:spPr>
        <p:txBody>
          <a:bodyPr/>
          <a:lstStyle/>
          <a:p>
            <a:endParaRPr lang="en-US"/>
          </a:p>
        </p:txBody>
      </p:sp>
      <p:sp>
        <p:nvSpPr>
          <p:cNvPr id="19" name="Shape 15"/>
          <p:cNvSpPr/>
          <p:nvPr/>
        </p:nvSpPr>
        <p:spPr>
          <a:xfrm>
            <a:off x="4183380" y="3318421"/>
            <a:ext cx="1397000" cy="88900"/>
          </a:xfrm>
          <a:prstGeom prst="roundRect">
            <a:avLst>
              <a:gd name="adj" fmla="val 50000"/>
            </a:avLst>
          </a:prstGeom>
          <a:solidFill>
            <a:srgbClr val="D7EAD0"/>
          </a:solidFill>
          <a:ln/>
        </p:spPr>
        <p:txBody>
          <a:bodyPr/>
          <a:lstStyle/>
          <a:p>
            <a:endParaRPr lang="en-US"/>
          </a:p>
        </p:txBody>
      </p:sp>
      <p:sp>
        <p:nvSpPr>
          <p:cNvPr id="20" name="Shape 16"/>
          <p:cNvSpPr/>
          <p:nvPr/>
        </p:nvSpPr>
        <p:spPr>
          <a:xfrm>
            <a:off x="4183380" y="3521621"/>
            <a:ext cx="1905000" cy="88900"/>
          </a:xfrm>
          <a:prstGeom prst="roundRect">
            <a:avLst>
              <a:gd name="adj" fmla="val 50000"/>
            </a:avLst>
          </a:prstGeom>
          <a:solidFill>
            <a:srgbClr val="E3E3E6"/>
          </a:solidFill>
          <a:ln/>
        </p:spPr>
        <p:txBody>
          <a:bodyPr/>
          <a:lstStyle/>
          <a:p>
            <a:endParaRPr lang="en-US"/>
          </a:p>
        </p:txBody>
      </p:sp>
      <p:sp>
        <p:nvSpPr>
          <p:cNvPr id="21" name="Shape 17"/>
          <p:cNvSpPr/>
          <p:nvPr/>
        </p:nvSpPr>
        <p:spPr>
          <a:xfrm>
            <a:off x="4183380" y="3724821"/>
            <a:ext cx="1524000" cy="88900"/>
          </a:xfrm>
          <a:prstGeom prst="roundRect">
            <a:avLst>
              <a:gd name="adj" fmla="val 50000"/>
            </a:avLst>
          </a:prstGeom>
          <a:solidFill>
            <a:srgbClr val="D7EAD0"/>
          </a:solidFill>
          <a:ln/>
        </p:spPr>
        <p:txBody>
          <a:bodyPr/>
          <a:lstStyle/>
          <a:p>
            <a:endParaRPr lang="en-US"/>
          </a:p>
        </p:txBody>
      </p:sp>
      <p:sp>
        <p:nvSpPr>
          <p:cNvPr id="22" name="Shape 18"/>
          <p:cNvSpPr/>
          <p:nvPr/>
        </p:nvSpPr>
        <p:spPr>
          <a:xfrm>
            <a:off x="4183380" y="3928021"/>
            <a:ext cx="1778000" cy="88900"/>
          </a:xfrm>
          <a:prstGeom prst="roundRect">
            <a:avLst>
              <a:gd name="adj" fmla="val 50000"/>
            </a:avLst>
          </a:prstGeom>
          <a:solidFill>
            <a:srgbClr val="E3E3E6"/>
          </a:solidFill>
          <a:ln/>
        </p:spPr>
        <p:txBody>
          <a:bodyPr/>
          <a:lstStyle/>
          <a:p>
            <a:endParaRPr lang="en-US"/>
          </a:p>
        </p:txBody>
      </p:sp>
      <p:sp>
        <p:nvSpPr>
          <p:cNvPr id="23" name="Shape 19"/>
          <p:cNvSpPr/>
          <p:nvPr/>
        </p:nvSpPr>
        <p:spPr>
          <a:xfrm>
            <a:off x="4183380" y="4131221"/>
            <a:ext cx="1270000" cy="88900"/>
          </a:xfrm>
          <a:prstGeom prst="roundRect">
            <a:avLst>
              <a:gd name="adj" fmla="val 50000"/>
            </a:avLst>
          </a:prstGeom>
          <a:solidFill>
            <a:srgbClr val="E3E3E6"/>
          </a:solidFill>
          <a:ln/>
        </p:spPr>
        <p:txBody>
          <a:bodyPr/>
          <a:lstStyle/>
          <a:p>
            <a:endParaRPr lang="en-US"/>
          </a:p>
        </p:txBody>
      </p:sp>
      <p:sp>
        <p:nvSpPr>
          <p:cNvPr id="24" name="Shape 20"/>
          <p:cNvSpPr/>
          <p:nvPr/>
        </p:nvSpPr>
        <p:spPr>
          <a:xfrm>
            <a:off x="812800" y="3780780"/>
            <a:ext cx="6096000" cy="114300"/>
          </a:xfrm>
          <a:prstGeom prst="roundRect">
            <a:avLst>
              <a:gd name="adj" fmla="val 50000"/>
            </a:avLst>
          </a:prstGeom>
          <a:solidFill>
            <a:srgbClr val="D0342C">
              <a:alpha val="90000"/>
            </a:srgbClr>
          </a:solidFill>
          <a:ln/>
        </p:spPr>
        <p:txBody>
          <a:bodyPr/>
          <a:lstStyle/>
          <a:p>
            <a:endParaRPr lang="en-US"/>
          </a:p>
        </p:txBody>
      </p:sp>
      <p:sp>
        <p:nvSpPr>
          <p:cNvPr id="25" name="Text 21"/>
          <p:cNvSpPr/>
          <p:nvPr/>
        </p:nvSpPr>
        <p:spPr>
          <a:xfrm>
            <a:off x="3288182" y="4034780"/>
            <a:ext cx="1143000" cy="528241"/>
          </a:xfrm>
          <a:custGeom>
            <a:avLst/>
            <a:gdLst/>
            <a:ahLst/>
            <a:cxnLst/>
            <a:rect l="l" t="t" r="r" b="b"/>
            <a:pathLst>
              <a:path w="1143000" h="528241">
                <a:moveTo>
                  <a:pt x="190500" y="0"/>
                </a:moveTo>
                <a:lnTo>
                  <a:pt x="952500" y="0"/>
                </a:lnTo>
                <a:arcTo wR="190500" hR="190500" stAng="16200000" swAng="5400000"/>
                <a:lnTo>
                  <a:pt x="1143000" y="337741"/>
                </a:lnTo>
                <a:arcTo wR="190500" hR="190500" stAng="0" swAng="5400000"/>
                <a:lnTo>
                  <a:pt x="190500" y="528241"/>
                </a:lnTo>
                <a:arcTo wR="190500" hR="190500" stAng="5400000" swAng="5400000"/>
                <a:lnTo>
                  <a:pt x="0" y="190500"/>
                </a:lnTo>
                <a:arcTo wR="190500" hR="190500" stAng="10800000" swAng="5400000"/>
                <a:close/>
              </a:path>
            </a:pathLst>
          </a:custGeom>
          <a:solidFill>
            <a:srgbClr val="D0342C"/>
          </a:solidFill>
          <a:ln/>
        </p:spPr>
        <p:txBody>
          <a:bodyPr wrap="square" lIns="50800" tIns="50800" rIns="50800" bIns="25400" rtlCol="0" anchor="t">
            <a:normAutofit/>
          </a:bodyPr>
          <a:lstStyle/>
          <a:p>
            <a:pPr marL="0" indent="0" algn="ctr">
              <a:lnSpc>
                <a:spcPts val="1680"/>
              </a:lnSpc>
              <a:buNone/>
            </a:pPr>
            <a:r>
              <a:rPr lang="en-US" sz="1200" b="1" dirty="0">
                <a:solidFill>
                  <a:srgbClr val="FFFFFF"/>
                </a:solidFill>
                <a:latin typeface="Arial" pitchFamily="34" charset="0"/>
                <a:ea typeface="Arial" pitchFamily="34" charset="-122"/>
                <a:cs typeface="Arial" pitchFamily="34" charset="-120"/>
              </a:rPr>
              <a:t>pre-existing flaws</a:t>
            </a:r>
            <a:endParaRPr lang="en-US" sz="1200" dirty="0"/>
          </a:p>
        </p:txBody>
      </p:sp>
      <p:sp>
        <p:nvSpPr>
          <p:cNvPr id="26" name="Text 22"/>
          <p:cNvSpPr/>
          <p:nvPr/>
        </p:nvSpPr>
        <p:spPr>
          <a:xfrm>
            <a:off x="7263994" y="2423160"/>
            <a:ext cx="4114800" cy="868680"/>
          </a:xfrm>
          <a:prstGeom prst="rect">
            <a:avLst/>
          </a:prstGeom>
          <a:noFill/>
          <a:ln/>
        </p:spPr>
        <p:txBody>
          <a:bodyPr wrap="square" lIns="0" tIns="0" rIns="0" bIns="0" rtlCol="0" anchor="t">
            <a:noAutofit/>
          </a:bodyPr>
          <a:lstStyle/>
          <a:p>
            <a:pPr marL="0" indent="0" algn="l">
              <a:lnSpc>
                <a:spcPts val="6800"/>
              </a:lnSpc>
              <a:spcBef>
                <a:spcPts val="0"/>
              </a:spcBef>
              <a:buNone/>
            </a:pPr>
            <a:r>
              <a:rPr lang="en-US" sz="5600" b="1" dirty="0">
                <a:solidFill>
                  <a:srgbClr val="F47B36"/>
                </a:solidFill>
                <a:latin typeface="Arial" pitchFamily="34" charset="0"/>
                <a:ea typeface="Arial" pitchFamily="34" charset="-122"/>
                <a:cs typeface="Arial" pitchFamily="34" charset="-120"/>
              </a:rPr>
              <a:t>0 of 10</a:t>
            </a:r>
            <a:endParaRPr lang="en-US" sz="5600"/>
          </a:p>
        </p:txBody>
      </p:sp>
      <p:sp>
        <p:nvSpPr>
          <p:cNvPr id="27" name="Text 23"/>
          <p:cNvSpPr/>
          <p:nvPr/>
        </p:nvSpPr>
        <p:spPr>
          <a:xfrm>
            <a:off x="7263994" y="3328416"/>
            <a:ext cx="4114800" cy="502920"/>
          </a:xfrm>
          <a:prstGeom prst="rect">
            <a:avLst/>
          </a:prstGeom>
          <a:noFill/>
          <a:ln/>
        </p:spPr>
        <p:txBody>
          <a:bodyPr wrap="square" lIns="0" tIns="0" rIns="0" bIns="0" rtlCol="0" anchor="t">
            <a:noAutofit/>
          </a:bodyPr>
          <a:lstStyle/>
          <a:p>
            <a:pPr marL="0" indent="0" algn="l">
              <a:lnSpc>
                <a:spcPts val="2200"/>
              </a:lnSpc>
              <a:spcBef>
                <a:spcPts val="0"/>
              </a:spcBef>
              <a:buNone/>
            </a:pPr>
            <a:r>
              <a:rPr lang="en-US" sz="1700" b="1" dirty="0">
                <a:solidFill>
                  <a:srgbClr val="33333A"/>
                </a:solidFill>
                <a:latin typeface="Arial" pitchFamily="34" charset="0"/>
                <a:ea typeface="Arial" pitchFamily="34" charset="-122"/>
                <a:cs typeface="Arial" pitchFamily="34" charset="-120"/>
              </a:rPr>
              <a:t>results fully caught the inherited flaw</a:t>
            </a:r>
            <a:endParaRPr lang="en-US" sz="1700"/>
          </a:p>
        </p:txBody>
      </p:sp>
      <p:sp>
        <p:nvSpPr>
          <p:cNvPr id="28" name="Text 24"/>
          <p:cNvSpPr/>
          <p:nvPr/>
        </p:nvSpPr>
        <p:spPr>
          <a:xfrm>
            <a:off x="7263994" y="3877056"/>
            <a:ext cx="4114800" cy="365760"/>
          </a:xfrm>
          <a:prstGeom prst="rect">
            <a:avLst/>
          </a:prstGeom>
          <a:noFill/>
          <a:ln/>
        </p:spPr>
        <p:txBody>
          <a:bodyPr wrap="square" lIns="0" tIns="0" rIns="0" bIns="0" rtlCol="0" anchor="t">
            <a:noAutofit/>
          </a:bodyPr>
          <a:lstStyle/>
          <a:p>
            <a:pPr marL="0" indent="0" algn="l">
              <a:lnSpc>
                <a:spcPts val="2400"/>
              </a:lnSpc>
              <a:spcBef>
                <a:spcPts val="0"/>
              </a:spcBef>
              <a:buNone/>
            </a:pPr>
            <a:r>
              <a:rPr lang="en-US" sz="1900" b="1" dirty="0">
                <a:solidFill>
                  <a:srgbClr val="33333A"/>
                </a:solidFill>
                <a:latin typeface="Arial" pitchFamily="34" charset="0"/>
                <a:ea typeface="Arial" pitchFamily="34" charset="-122"/>
                <a:cs typeface="Arial" pitchFamily="34" charset="-120"/>
              </a:rPr>
              <a:t>General review prompt</a:t>
            </a:r>
            <a:endParaRPr lang="en-US" sz="1900"/>
          </a:p>
        </p:txBody>
      </p:sp>
      <p:sp>
        <p:nvSpPr>
          <p:cNvPr id="29" name="Text 25"/>
          <p:cNvSpPr/>
          <p:nvPr/>
        </p:nvSpPr>
        <p:spPr>
          <a:xfrm>
            <a:off x="7263994" y="4343400"/>
            <a:ext cx="4114800" cy="777240"/>
          </a:xfrm>
          <a:prstGeom prst="rect">
            <a:avLst/>
          </a:prstGeom>
          <a:noFill/>
          <a:ln/>
        </p:spPr>
        <p:txBody>
          <a:bodyPr wrap="square" lIns="0" tIns="0" rIns="0" bIns="0" rtlCol="0" anchor="t">
            <a:noAutofit/>
          </a:bodyPr>
          <a:lstStyle/>
          <a:p>
            <a:pPr marL="0" indent="0" algn="l">
              <a:lnSpc>
                <a:spcPts val="1900"/>
              </a:lnSpc>
              <a:spcBef>
                <a:spcPts val="0"/>
              </a:spcBef>
              <a:buNone/>
            </a:pPr>
            <a:r>
              <a:rPr lang="en-US" sz="1400" b="0" dirty="0">
                <a:solidFill>
                  <a:srgbClr val="6B6B73"/>
                </a:solidFill>
                <a:latin typeface="Arial" pitchFamily="34" charset="0"/>
                <a:ea typeface="Arial" pitchFamily="34" charset="-122"/>
                <a:cs typeface="Arial" pitchFamily="34" charset="-120"/>
              </a:rPr>
              <a:t>One result = one model on one change.</a:t>
            </a:r>
            <a:endParaRPr lang="en-US" sz="1400"/>
          </a:p>
          <a:p>
            <a:pPr marL="0" indent="0" algn="l">
              <a:lnSpc>
                <a:spcPts val="1900"/>
              </a:lnSpc>
              <a:spcBef>
                <a:spcPts val="0"/>
              </a:spcBef>
              <a:buNone/>
            </a:pPr>
            <a:r>
              <a:rPr lang="en-US" sz="1400" b="0" dirty="0">
                <a:solidFill>
                  <a:srgbClr val="6B6B73"/>
                </a:solidFill>
                <a:latin typeface="Arial" pitchFamily="34" charset="0"/>
                <a:ea typeface="Arial" pitchFamily="34" charset="-122"/>
                <a:cs typeface="Arial" pitchFamily="34" charset="-120"/>
              </a:rPr>
              <a:t>Caught requires an actionable finding</a:t>
            </a:r>
            <a:endParaRPr lang="en-US" sz="1400"/>
          </a:p>
          <a:p>
            <a:pPr marL="0" indent="0" algn="l">
              <a:lnSpc>
                <a:spcPts val="1900"/>
              </a:lnSpc>
              <a:spcBef>
                <a:spcPts val="0"/>
              </a:spcBef>
              <a:buNone/>
            </a:pPr>
            <a:r>
              <a:rPr lang="en-US" sz="1400" b="0" dirty="0">
                <a:solidFill>
                  <a:srgbClr val="6B6B73"/>
                </a:solidFill>
                <a:latin typeface="Arial" pitchFamily="34" charset="0"/>
                <a:ea typeface="Arial" pitchFamily="34" charset="-122"/>
                <a:cs typeface="Arial" pitchFamily="34" charset="-120"/>
              </a:rPr>
              <a:t>in at least 2 of 3 reviews.</a:t>
            </a:r>
            <a:endParaRPr lang="en-US" sz="1400"/>
          </a:p>
        </p:txBody>
      </p:sp>
      <p:sp>
        <p:nvSpPr>
          <p:cNvPr id="30" name="Text 26"/>
          <p:cNvSpPr/>
          <p:nvPr/>
        </p:nvSpPr>
        <p:spPr>
          <a:xfrm>
            <a:off x="813816" y="5925312"/>
            <a:ext cx="9784080" cy="320040"/>
          </a:xfrm>
          <a:prstGeom prst="rect">
            <a:avLst/>
          </a:prstGeom>
          <a:noFill/>
          <a:ln/>
        </p:spPr>
        <p:txBody>
          <a:bodyPr wrap="square" lIns="0" tIns="0" rIns="0" bIns="0" rtlCol="0" anchor="t">
            <a:noAutofit/>
          </a:bodyPr>
          <a:lstStyle/>
          <a:p>
            <a:pPr marL="0" indent="0" algn="l">
              <a:lnSpc>
                <a:spcPts val="1600"/>
              </a:lnSpc>
              <a:spcBef>
                <a:spcPts val="0"/>
              </a:spcBef>
              <a:buNone/>
            </a:pPr>
            <a:r>
              <a:rPr lang="en-US" sz="1200" b="0" dirty="0">
                <a:solidFill>
                  <a:srgbClr val="8A8A92"/>
                </a:solidFill>
                <a:latin typeface="Arial" pitchFamily="34" charset="0"/>
                <a:ea typeface="Arial" pitchFamily="34" charset="-122"/>
                <a:cs typeface="Arial" pitchFamily="34" charset="-120"/>
              </a:rPr>
              <a:t>Both changes carried an older flaw forward. AI did not create the original flaws.</a:t>
            </a:r>
            <a:endParaRPr lang="en-US" sz="1200"/>
          </a:p>
        </p:txBody>
      </p:sp>
      <p:sp>
        <p:nvSpPr>
          <p:cNvPr id="31" name="Text 27"/>
          <p:cNvSpPr/>
          <p:nvPr/>
        </p:nvSpPr>
        <p:spPr>
          <a:xfrm>
            <a:off x="7532370" y="6238280"/>
            <a:ext cx="300863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A92"/>
                </a:solidFill>
                <a:latin typeface="Arial" pitchFamily="34" charset="0"/>
                <a:ea typeface="Arial" pitchFamily="34" charset="-122"/>
                <a:cs typeface="Arial" pitchFamily="34" charset="-120"/>
              </a:rPr>
              <a:t>ISC2.org/Congress | #ISC2Congress</a:t>
            </a:r>
            <a:endParaRPr lang="en-US" sz="1200" dirty="0"/>
          </a:p>
        </p:txBody>
      </p:sp>
      <p:sp>
        <p:nvSpPr>
          <p:cNvPr id="80" name="Sample and counting unit"/>
          <p:cNvSpPr txBox="1"/>
          <p:nvPr/>
        </p:nvSpPr>
        <p:spPr>
          <a:xfrm>
            <a:off x="812902" y="1353312"/>
            <a:ext cx="10561320" cy="347472"/>
          </a:xfrm>
          <a:prstGeom prst="rect">
            <a:avLst/>
          </a:prstGeom>
          <a:noFill/>
          <a:ln>
            <a:noFill/>
          </a:ln>
        </p:spPr>
        <p:txBody>
          <a:bodyPr wrap="square" lIns="0" tIns="0" rIns="0" bIns="0" anchor="t">
            <a:noAutofit/>
          </a:bodyPr>
          <a:lstStyle/>
          <a:p>
            <a:pPr marL="0" indent="0" algn="l">
              <a:lnSpc>
                <a:spcPts val="2125"/>
              </a:lnSpc>
              <a:spcBef>
                <a:spcPts val="0"/>
              </a:spcBef>
              <a:buNone/>
            </a:pPr>
            <a:r>
              <a:rPr lang="en-US" sz="1700" b="0" dirty="0">
                <a:solidFill>
                  <a:srgbClr val="33333A"/>
                </a:solidFill>
                <a:latin typeface="Arial" pitchFamily="34" charset="0"/>
                <a:ea typeface="Arial" pitchFamily="34" charset="-122"/>
                <a:cs typeface="Arial" pitchFamily="34" charset="-120"/>
              </a:rPr>
              <a:t>Separate follow-up: 2 AI-assisted changes × 5 models = 10 model results</a:t>
            </a:r>
            <a:endParaRPr lang="en-US" sz="17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8">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4" name="Text 0"/>
          <p:cNvSpPr>
            <a:spLocks noGrp="1"/>
          </p:cNvSpPr>
          <p:nvPr>
            <p:ph type="title"/>
          </p:nvPr>
        </p:nvSpPr>
        <p:spPr>
          <a:xfrm>
            <a:off x="812902" y="812902"/>
            <a:ext cx="8321040" cy="472745"/>
          </a:xfrm>
          <a:prstGeom prst="rect">
            <a:avLst/>
          </a:prstGeom>
          <a:noFill/>
          <a:ln/>
        </p:spPr>
        <p:txBody>
          <a:bodyPr wrap="square" lIns="0" tIns="0" rIns="0" bIns="0" rtlCol="0" anchor="t">
            <a:noAutofit/>
          </a:bodyPr>
          <a:lstStyle/>
          <a:p>
            <a:pPr marL="0" indent="0" algn="l">
              <a:lnSpc>
                <a:spcPts val="3800"/>
              </a:lnSpc>
              <a:spcBef>
                <a:spcPts val="0"/>
              </a:spcBef>
              <a:buNone/>
            </a:pPr>
            <a:r>
              <a:rPr lang="en-US" sz="3200" b="1" dirty="0">
                <a:solidFill>
                  <a:srgbClr val="4C8835"/>
                </a:solidFill>
                <a:latin typeface="Arial" pitchFamily="34" charset="0"/>
                <a:ea typeface="Arial" pitchFamily="34" charset="-122"/>
                <a:cs typeface="Arial" pitchFamily="34" charset="-120"/>
              </a:rPr>
              <a:t>More catches, more false alarms</a:t>
            </a:r>
            <a:endParaRPr lang="en-US" sz="3200"/>
          </a:p>
        </p:txBody>
      </p:sp>
      <p:sp>
        <p:nvSpPr>
          <p:cNvPr id="30" name="Text 26"/>
          <p:cNvSpPr/>
          <p:nvPr/>
        </p:nvSpPr>
        <p:spPr>
          <a:xfrm>
            <a:off x="813816" y="5925312"/>
            <a:ext cx="9784080" cy="320040"/>
          </a:xfrm>
          <a:prstGeom prst="rect">
            <a:avLst/>
          </a:prstGeom>
          <a:noFill/>
          <a:ln/>
        </p:spPr>
        <p:txBody>
          <a:bodyPr wrap="square" lIns="0" tIns="0" rIns="0" bIns="0" rtlCol="0" anchor="t">
            <a:noAutofit/>
          </a:bodyPr>
          <a:lstStyle/>
          <a:p>
            <a:pPr marL="0" indent="0" algn="l">
              <a:lnSpc>
                <a:spcPts val="1500"/>
              </a:lnSpc>
              <a:spcBef>
                <a:spcPts val="0"/>
              </a:spcBef>
              <a:buNone/>
            </a:pPr>
            <a:r>
              <a:rPr lang="en-US" sz="1100" b="0" dirty="0">
                <a:solidFill>
                  <a:srgbClr val="8A8A92"/>
                </a:solidFill>
                <a:latin typeface="Arial" pitchFamily="34" charset="0"/>
                <a:ea typeface="Arial" pitchFamily="34" charset="-122"/>
                <a:cs typeface="Arial" pitchFamily="34" charset="-120"/>
              </a:rPr>
              <a:t>Caught = actionable finding in at least 2 of 3 reviews. False alarms are counted per individual review.</a:t>
            </a:r>
            <a:endParaRPr lang="en-US" sz="1100"/>
          </a:p>
        </p:txBody>
      </p:sp>
      <p:sp>
        <p:nvSpPr>
          <p:cNvPr id="31" name="Text 27"/>
          <p:cNvSpPr/>
          <p:nvPr/>
        </p:nvSpPr>
        <p:spPr>
          <a:xfrm>
            <a:off x="7532370" y="6238280"/>
            <a:ext cx="300863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A92"/>
                </a:solidFill>
                <a:latin typeface="Arial" pitchFamily="34" charset="0"/>
                <a:ea typeface="Arial" pitchFamily="34" charset="-122"/>
                <a:cs typeface="Arial" pitchFamily="34" charset="-120"/>
              </a:rPr>
              <a:t>ISC2.org/Congress | #ISC2Congress</a:t>
            </a:r>
            <a:endParaRPr lang="en-US" sz="1200" dirty="0"/>
          </a:p>
        </p:txBody>
      </p:sp>
      <p:sp>
        <p:nvSpPr>
          <p:cNvPr id="80" name="Sample and counting unit"/>
          <p:cNvSpPr txBox="1"/>
          <p:nvPr/>
        </p:nvSpPr>
        <p:spPr>
          <a:xfrm>
            <a:off x="812902" y="1353312"/>
            <a:ext cx="10561320" cy="347472"/>
          </a:xfrm>
          <a:prstGeom prst="rect">
            <a:avLst/>
          </a:prstGeom>
          <a:noFill/>
          <a:ln>
            <a:noFill/>
          </a:ln>
        </p:spPr>
        <p:txBody>
          <a:bodyPr wrap="square" lIns="0" tIns="0" rIns="0" bIns="0" anchor="t">
            <a:noAutofit/>
          </a:bodyPr>
          <a:lstStyle/>
          <a:p>
            <a:pPr marL="0" indent="0" algn="l">
              <a:lnSpc>
                <a:spcPts val="2125"/>
              </a:lnSpc>
              <a:spcBef>
                <a:spcPts val="0"/>
              </a:spcBef>
              <a:buNone/>
            </a:pPr>
            <a:r>
              <a:rPr lang="en-US" sz="1700" b="0" dirty="0">
                <a:solidFill>
                  <a:srgbClr val="33333A"/>
                </a:solidFill>
                <a:latin typeface="Arial" pitchFamily="34" charset="0"/>
                <a:ea typeface="Arial" pitchFamily="34" charset="-122"/>
                <a:cs typeface="Arial" pitchFamily="34" charset="-120"/>
              </a:rPr>
              <a:t>Same 2 changes × 5 models = 10 model results for each prompt</a:t>
            </a:r>
            <a:endParaRPr lang="en-US" sz="1700"/>
          </a:p>
        </p:txBody>
      </p:sp>
      <p:graphicFrame>
        <p:nvGraphicFramePr>
          <p:cNvPr id="81" name="Prompt comparison table"/>
          <p:cNvGraphicFramePr/>
          <p:nvPr/>
        </p:nvGraphicFramePr>
        <p:xfrm>
          <a:off x="812902" y="1847088"/>
          <a:ext cx="10561320" cy="2980944"/>
        </p:xfrm>
        <a:graphic>
          <a:graphicData uri="http://schemas.openxmlformats.org/drawingml/2006/table">
            <a:tbl>
              <a:tblPr firstRow="1"/>
              <a:tblGrid>
                <a:gridCol w="448056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640080">
                <a:tc>
                  <a:txBody>
                    <a:bodyPr/>
                    <a:lstStyle/>
                    <a:p>
                      <a:pPr marL="0" indent="0" algn="l">
                        <a:lnSpc>
                          <a:spcPts val="2100"/>
                        </a:lnSpc>
                        <a:spcBef>
                          <a:spcPts val="0"/>
                        </a:spcBef>
                        <a:buNone/>
                      </a:pPr>
                      <a:r>
                        <a:rPr lang="en-US" sz="1500" b="1" dirty="0">
                          <a:solidFill>
                            <a:srgbClr val="FFFFFF"/>
                          </a:solidFill>
                          <a:latin typeface="Arial" pitchFamily="34" charset="0"/>
                          <a:ea typeface="Arial" pitchFamily="34" charset="-122"/>
                          <a:cs typeface="Arial" pitchFamily="34" charset="-120"/>
                        </a:rPr>
                        <a:t>Prompt</a:t>
                      </a:r>
                      <a:endParaRPr lang="en-US" sz="1500"/>
                    </a:p>
                  </a:txBody>
                  <a:tcPr marL="164592" marR="164592" anchor="ctr">
                    <a:lnL w="6350">
                      <a:solidFill>
                        <a:srgbClr val="E3E5E0"/>
                      </a:solidFill>
                      <a:prstDash val="solid"/>
                    </a:lnL>
                    <a:lnR w="6350">
                      <a:solidFill>
                        <a:srgbClr val="E3E5E0"/>
                      </a:solidFill>
                      <a:prstDash val="solid"/>
                    </a:lnR>
                    <a:lnT w="6350">
                      <a:solidFill>
                        <a:srgbClr val="E3E5E0"/>
                      </a:solidFill>
                      <a:prstDash val="solid"/>
                    </a:lnT>
                    <a:lnB w="6350">
                      <a:solidFill>
                        <a:srgbClr val="E3E5E0"/>
                      </a:solidFill>
                      <a:prstDash val="solid"/>
                    </a:lnB>
                    <a:solidFill>
                      <a:srgbClr val="0086B6"/>
                    </a:solidFill>
                  </a:tcPr>
                </a:tc>
                <a:tc>
                  <a:txBody>
                    <a:bodyPr/>
                    <a:lstStyle/>
                    <a:p>
                      <a:pPr marL="0" indent="0" algn="ctr">
                        <a:lnSpc>
                          <a:spcPts val="2100"/>
                        </a:lnSpc>
                        <a:spcBef>
                          <a:spcPts val="0"/>
                        </a:spcBef>
                        <a:buNone/>
                      </a:pPr>
                      <a:r>
                        <a:rPr lang="en-US" sz="1500" b="1" dirty="0">
                          <a:solidFill>
                            <a:srgbClr val="FFFFFF"/>
                          </a:solidFill>
                          <a:latin typeface="Arial" pitchFamily="34" charset="0"/>
                          <a:ea typeface="Arial" pitchFamily="34" charset="-122"/>
                          <a:cs typeface="Arial" pitchFamily="34" charset="-120"/>
                        </a:rPr>
                        <a:t>Caught</a:t>
                      </a:r>
                      <a:endParaRPr lang="en-US" sz="1500"/>
                    </a:p>
                    <a:p>
                      <a:pPr marL="0" indent="0" algn="ctr">
                        <a:lnSpc>
                          <a:spcPts val="1600"/>
                        </a:lnSpc>
                        <a:spcBef>
                          <a:spcPts val="0"/>
                        </a:spcBef>
                        <a:buNone/>
                      </a:pPr>
                      <a:r>
                        <a:rPr lang="en-US" sz="1200" b="0" dirty="0">
                          <a:solidFill>
                            <a:srgbClr val="FFFFFF"/>
                          </a:solidFill>
                          <a:latin typeface="Arial" pitchFamily="34" charset="0"/>
                          <a:ea typeface="Arial" pitchFamily="34" charset="-122"/>
                          <a:cs typeface="Arial" pitchFamily="34" charset="-120"/>
                        </a:rPr>
                        <a:t>10 model results</a:t>
                      </a:r>
                      <a:endParaRPr lang="en-US" sz="1200"/>
                    </a:p>
                  </a:txBody>
                  <a:tcPr marL="164592" marR="164592" anchor="ctr">
                    <a:lnL w="6350">
                      <a:solidFill>
                        <a:srgbClr val="E3E5E0"/>
                      </a:solidFill>
                      <a:prstDash val="solid"/>
                    </a:lnL>
                    <a:lnR w="6350">
                      <a:solidFill>
                        <a:srgbClr val="E3E5E0"/>
                      </a:solidFill>
                      <a:prstDash val="solid"/>
                    </a:lnR>
                    <a:lnT w="6350">
                      <a:solidFill>
                        <a:srgbClr val="E3E5E0"/>
                      </a:solidFill>
                      <a:prstDash val="solid"/>
                    </a:lnT>
                    <a:lnB w="6350">
                      <a:solidFill>
                        <a:srgbClr val="E3E5E0"/>
                      </a:solidFill>
                      <a:prstDash val="solid"/>
                    </a:lnB>
                    <a:solidFill>
                      <a:srgbClr val="0086B6"/>
                    </a:solidFill>
                  </a:tcPr>
                </a:tc>
                <a:tc>
                  <a:txBody>
                    <a:bodyPr/>
                    <a:lstStyle/>
                    <a:p>
                      <a:pPr marL="0" indent="0" algn="ctr">
                        <a:lnSpc>
                          <a:spcPts val="2100"/>
                        </a:lnSpc>
                        <a:spcBef>
                          <a:spcPts val="0"/>
                        </a:spcBef>
                        <a:buNone/>
                      </a:pPr>
                      <a:r>
                        <a:rPr lang="en-US" sz="1500" b="1" dirty="0">
                          <a:solidFill>
                            <a:srgbClr val="FFFFFF"/>
                          </a:solidFill>
                          <a:latin typeface="Arial" pitchFamily="34" charset="0"/>
                          <a:ea typeface="Arial" pitchFamily="34" charset="-122"/>
                          <a:cs typeface="Arial" pitchFamily="34" charset="-120"/>
                        </a:rPr>
                        <a:t>Reviews with false alarms</a:t>
                      </a:r>
                      <a:endParaRPr lang="en-US" sz="1500"/>
                    </a:p>
                    <a:p>
                      <a:pPr marL="0" indent="0" algn="ctr">
                        <a:lnSpc>
                          <a:spcPts val="1600"/>
                        </a:lnSpc>
                        <a:spcBef>
                          <a:spcPts val="0"/>
                        </a:spcBef>
                        <a:buNone/>
                      </a:pPr>
                      <a:r>
                        <a:rPr lang="en-US" sz="1200" b="0" dirty="0">
                          <a:solidFill>
                            <a:srgbClr val="FFFFFF"/>
                          </a:solidFill>
                          <a:latin typeface="Arial" pitchFamily="34" charset="0"/>
                          <a:ea typeface="Arial" pitchFamily="34" charset="-122"/>
                          <a:cs typeface="Arial" pitchFamily="34" charset="-120"/>
                        </a:rPr>
                        <a:t>50 comparison reviews</a:t>
                      </a:r>
                      <a:endParaRPr lang="en-US" sz="1200"/>
                    </a:p>
                  </a:txBody>
                  <a:tcPr marL="164592" marR="164592" anchor="ctr">
                    <a:lnL w="6350">
                      <a:solidFill>
                        <a:srgbClr val="E3E5E0"/>
                      </a:solidFill>
                      <a:prstDash val="solid"/>
                    </a:lnL>
                    <a:lnR w="6350">
                      <a:solidFill>
                        <a:srgbClr val="E3E5E0"/>
                      </a:solidFill>
                      <a:prstDash val="solid"/>
                    </a:lnR>
                    <a:lnT w="6350">
                      <a:solidFill>
                        <a:srgbClr val="E3E5E0"/>
                      </a:solidFill>
                      <a:prstDash val="solid"/>
                    </a:lnT>
                    <a:lnB w="6350">
                      <a:solidFill>
                        <a:srgbClr val="E3E5E0"/>
                      </a:solidFill>
                      <a:prstDash val="solid"/>
                    </a:lnB>
                    <a:solidFill>
                      <a:srgbClr val="0086B6"/>
                    </a:solidFill>
                  </a:tcPr>
                </a:tc>
                <a:extLst>
                  <a:ext uri="{0D108BD9-81ED-4DB2-BD59-A6C34878D82A}">
                    <a16:rowId xmlns:a16="http://schemas.microsoft.com/office/drawing/2014/main" val="10000"/>
                  </a:ext>
                </a:extLst>
              </a:tr>
              <a:tr h="566928">
                <a:tc>
                  <a:txBody>
                    <a:bodyPr/>
                    <a:lstStyle/>
                    <a:p>
                      <a:pPr marL="0" indent="0" algn="l">
                        <a:lnSpc>
                          <a:spcPts val="3300"/>
                        </a:lnSpc>
                        <a:spcBef>
                          <a:spcPts val="0"/>
                        </a:spcBef>
                        <a:buNone/>
                      </a:pPr>
                      <a:r>
                        <a:rPr lang="en-US" sz="1800" b="0" dirty="0">
                          <a:solidFill>
                            <a:srgbClr val="33333A"/>
                          </a:solidFill>
                          <a:latin typeface="Arial" pitchFamily="34" charset="0"/>
                          <a:ea typeface="Arial" pitchFamily="34" charset="-122"/>
                          <a:cs typeface="Arial" pitchFamily="34" charset="-120"/>
                        </a:rPr>
                        <a:t>General review</a:t>
                      </a:r>
                      <a:endParaRPr lang="en-US" sz="1800"/>
                    </a:p>
                  </a:txBody>
                  <a:tcPr marL="164592" marR="164592" anchor="ctr">
                    <a:lnL w="6350">
                      <a:solidFill>
                        <a:srgbClr val="E3E5E0"/>
                      </a:solidFill>
                      <a:prstDash val="solid"/>
                    </a:lnL>
                    <a:lnR w="6350">
                      <a:solidFill>
                        <a:srgbClr val="E3E5E0"/>
                      </a:solidFill>
                      <a:prstDash val="solid"/>
                    </a:lnR>
                    <a:lnT w="6350">
                      <a:solidFill>
                        <a:srgbClr val="E3E5E0"/>
                      </a:solidFill>
                      <a:prstDash val="solid"/>
                    </a:lnT>
                    <a:lnB w="6350">
                      <a:solidFill>
                        <a:srgbClr val="E3E5E0"/>
                      </a:solidFill>
                      <a:prstDash val="solid"/>
                    </a:lnB>
                    <a:solidFill>
                      <a:srgbClr val="FFFFFF"/>
                    </a:solidFill>
                  </a:tcPr>
                </a:tc>
                <a:tc>
                  <a:txBody>
                    <a:bodyPr/>
                    <a:lstStyle/>
                    <a:p>
                      <a:pPr marL="0" indent="0" algn="ctr">
                        <a:lnSpc>
                          <a:spcPts val="3300"/>
                        </a:lnSpc>
                        <a:spcBef>
                          <a:spcPts val="0"/>
                        </a:spcBef>
                        <a:buNone/>
                      </a:pPr>
                      <a:r>
                        <a:rPr lang="en-US" sz="2700" b="1" dirty="0">
                          <a:solidFill>
                            <a:srgbClr val="4C8835"/>
                          </a:solidFill>
                          <a:latin typeface="Arial" pitchFamily="34" charset="0"/>
                          <a:ea typeface="Arial" pitchFamily="34" charset="-122"/>
                          <a:cs typeface="Arial" pitchFamily="34" charset="-120"/>
                        </a:rPr>
                        <a:t>0 of 10</a:t>
                      </a:r>
                      <a:endParaRPr lang="en-US" sz="2700"/>
                    </a:p>
                  </a:txBody>
                  <a:tcPr marL="164592" marR="164592" anchor="ctr">
                    <a:lnL w="6350">
                      <a:solidFill>
                        <a:srgbClr val="E3E5E0"/>
                      </a:solidFill>
                      <a:prstDash val="solid"/>
                    </a:lnL>
                    <a:lnR w="6350">
                      <a:solidFill>
                        <a:srgbClr val="E3E5E0"/>
                      </a:solidFill>
                      <a:prstDash val="solid"/>
                    </a:lnR>
                    <a:lnT w="6350">
                      <a:solidFill>
                        <a:srgbClr val="E3E5E0"/>
                      </a:solidFill>
                      <a:prstDash val="solid"/>
                    </a:lnT>
                    <a:lnB w="6350">
                      <a:solidFill>
                        <a:srgbClr val="E3E5E0"/>
                      </a:solidFill>
                      <a:prstDash val="solid"/>
                    </a:lnB>
                    <a:solidFill>
                      <a:srgbClr val="FFFFFF"/>
                    </a:solidFill>
                  </a:tcPr>
                </a:tc>
                <a:tc>
                  <a:txBody>
                    <a:bodyPr/>
                    <a:lstStyle/>
                    <a:p>
                      <a:pPr marL="0" indent="0" algn="ctr">
                        <a:lnSpc>
                          <a:spcPts val="3300"/>
                        </a:lnSpc>
                        <a:spcBef>
                          <a:spcPts val="0"/>
                        </a:spcBef>
                        <a:buNone/>
                      </a:pPr>
                      <a:r>
                        <a:rPr lang="en-US" sz="2700" b="1" dirty="0">
                          <a:solidFill>
                            <a:srgbClr val="D66A22"/>
                          </a:solidFill>
                          <a:latin typeface="Arial" pitchFamily="34" charset="0"/>
                          <a:ea typeface="Arial" pitchFamily="34" charset="-122"/>
                          <a:cs typeface="Arial" pitchFamily="34" charset="-120"/>
                        </a:rPr>
                        <a:t>2 of 50</a:t>
                      </a:r>
                      <a:endParaRPr lang="en-US" sz="2700"/>
                    </a:p>
                  </a:txBody>
                  <a:tcPr marL="164592" marR="164592" anchor="ctr">
                    <a:lnL w="6350">
                      <a:solidFill>
                        <a:srgbClr val="E3E5E0"/>
                      </a:solidFill>
                      <a:prstDash val="solid"/>
                    </a:lnL>
                    <a:lnR w="6350">
                      <a:solidFill>
                        <a:srgbClr val="E3E5E0"/>
                      </a:solidFill>
                      <a:prstDash val="solid"/>
                    </a:lnR>
                    <a:lnT w="6350">
                      <a:solidFill>
                        <a:srgbClr val="E3E5E0"/>
                      </a:solidFill>
                      <a:prstDash val="solid"/>
                    </a:lnT>
                    <a:lnB w="6350">
                      <a:solidFill>
                        <a:srgbClr val="E3E5E0"/>
                      </a:solidFill>
                      <a:prstDash val="solid"/>
                    </a:lnB>
                    <a:solidFill>
                      <a:srgbClr val="FFFFFF"/>
                    </a:solidFill>
                  </a:tcPr>
                </a:tc>
                <a:extLst>
                  <a:ext uri="{0D108BD9-81ED-4DB2-BD59-A6C34878D82A}">
                    <a16:rowId xmlns:a16="http://schemas.microsoft.com/office/drawing/2014/main" val="10001"/>
                  </a:ext>
                </a:extLst>
              </a:tr>
              <a:tr h="566928">
                <a:tc>
                  <a:txBody>
                    <a:bodyPr/>
                    <a:lstStyle/>
                    <a:p>
                      <a:pPr marL="0" indent="0" algn="l">
                        <a:lnSpc>
                          <a:spcPts val="3300"/>
                        </a:lnSpc>
                        <a:spcBef>
                          <a:spcPts val="0"/>
                        </a:spcBef>
                        <a:buNone/>
                      </a:pPr>
                      <a:r>
                        <a:rPr lang="en-US" sz="1800" b="0" dirty="0">
                          <a:solidFill>
                            <a:srgbClr val="33333A"/>
                          </a:solidFill>
                          <a:latin typeface="Arial" pitchFamily="34" charset="0"/>
                          <a:ea typeface="Arial" pitchFamily="34" charset="-122"/>
                          <a:cs typeface="Arial" pitchFamily="34" charset="-120"/>
                        </a:rPr>
                        <a:t>General + existing flaws</a:t>
                      </a:r>
                      <a:endParaRPr lang="en-US" sz="1800"/>
                    </a:p>
                  </a:txBody>
                  <a:tcPr marL="164592" marR="164592" anchor="ctr">
                    <a:lnL w="6350">
                      <a:solidFill>
                        <a:srgbClr val="E3E5E0"/>
                      </a:solidFill>
                      <a:prstDash val="solid"/>
                    </a:lnL>
                    <a:lnR w="6350">
                      <a:solidFill>
                        <a:srgbClr val="E3E5E0"/>
                      </a:solidFill>
                      <a:prstDash val="solid"/>
                    </a:lnR>
                    <a:lnT w="6350">
                      <a:solidFill>
                        <a:srgbClr val="E3E5E0"/>
                      </a:solidFill>
                      <a:prstDash val="solid"/>
                    </a:lnT>
                    <a:lnB w="6350">
                      <a:solidFill>
                        <a:srgbClr val="E3E5E0"/>
                      </a:solidFill>
                      <a:prstDash val="solid"/>
                    </a:lnB>
                    <a:solidFill>
                      <a:srgbClr val="FFFFFF"/>
                    </a:solidFill>
                  </a:tcPr>
                </a:tc>
                <a:tc>
                  <a:txBody>
                    <a:bodyPr/>
                    <a:lstStyle/>
                    <a:p>
                      <a:pPr marL="0" indent="0" algn="ctr">
                        <a:lnSpc>
                          <a:spcPts val="3300"/>
                        </a:lnSpc>
                        <a:spcBef>
                          <a:spcPts val="0"/>
                        </a:spcBef>
                        <a:buNone/>
                      </a:pPr>
                      <a:r>
                        <a:rPr lang="en-US" sz="2700" b="1" dirty="0">
                          <a:solidFill>
                            <a:srgbClr val="4C8835"/>
                          </a:solidFill>
                          <a:latin typeface="Arial" pitchFamily="34" charset="0"/>
                          <a:ea typeface="Arial" pitchFamily="34" charset="-122"/>
                          <a:cs typeface="Arial" pitchFamily="34" charset="-120"/>
                        </a:rPr>
                        <a:t>2 of 10</a:t>
                      </a:r>
                      <a:endParaRPr lang="en-US" sz="2700"/>
                    </a:p>
                  </a:txBody>
                  <a:tcPr marL="164592" marR="164592" anchor="ctr">
                    <a:lnL w="6350">
                      <a:solidFill>
                        <a:srgbClr val="E3E5E0"/>
                      </a:solidFill>
                      <a:prstDash val="solid"/>
                    </a:lnL>
                    <a:lnR w="6350">
                      <a:solidFill>
                        <a:srgbClr val="E3E5E0"/>
                      </a:solidFill>
                      <a:prstDash val="solid"/>
                    </a:lnR>
                    <a:lnT w="6350">
                      <a:solidFill>
                        <a:srgbClr val="E3E5E0"/>
                      </a:solidFill>
                      <a:prstDash val="solid"/>
                    </a:lnT>
                    <a:lnB w="6350">
                      <a:solidFill>
                        <a:srgbClr val="E3E5E0"/>
                      </a:solidFill>
                      <a:prstDash val="solid"/>
                    </a:lnB>
                    <a:solidFill>
                      <a:srgbClr val="FFFFFF"/>
                    </a:solidFill>
                  </a:tcPr>
                </a:tc>
                <a:tc>
                  <a:txBody>
                    <a:bodyPr/>
                    <a:lstStyle/>
                    <a:p>
                      <a:pPr marL="0" indent="0" algn="ctr">
                        <a:lnSpc>
                          <a:spcPts val="3300"/>
                        </a:lnSpc>
                        <a:spcBef>
                          <a:spcPts val="0"/>
                        </a:spcBef>
                        <a:buNone/>
                      </a:pPr>
                      <a:r>
                        <a:rPr lang="en-US" sz="2700" b="1" dirty="0">
                          <a:solidFill>
                            <a:srgbClr val="D66A22"/>
                          </a:solidFill>
                          <a:latin typeface="Arial" pitchFamily="34" charset="0"/>
                          <a:ea typeface="Arial" pitchFamily="34" charset="-122"/>
                          <a:cs typeface="Arial" pitchFamily="34" charset="-120"/>
                        </a:rPr>
                        <a:t>8 of 50</a:t>
                      </a:r>
                      <a:endParaRPr lang="en-US" sz="2700"/>
                    </a:p>
                  </a:txBody>
                  <a:tcPr marL="164592" marR="164592" anchor="ctr">
                    <a:lnL w="6350">
                      <a:solidFill>
                        <a:srgbClr val="E3E5E0"/>
                      </a:solidFill>
                      <a:prstDash val="solid"/>
                    </a:lnL>
                    <a:lnR w="6350">
                      <a:solidFill>
                        <a:srgbClr val="E3E5E0"/>
                      </a:solidFill>
                      <a:prstDash val="solid"/>
                    </a:lnR>
                    <a:lnT w="6350">
                      <a:solidFill>
                        <a:srgbClr val="E3E5E0"/>
                      </a:solidFill>
                      <a:prstDash val="solid"/>
                    </a:lnT>
                    <a:lnB w="6350">
                      <a:solidFill>
                        <a:srgbClr val="E3E5E0"/>
                      </a:solidFill>
                      <a:prstDash val="solid"/>
                    </a:lnB>
                    <a:solidFill>
                      <a:srgbClr val="FFFFFF"/>
                    </a:solidFill>
                  </a:tcPr>
                </a:tc>
                <a:extLst>
                  <a:ext uri="{0D108BD9-81ED-4DB2-BD59-A6C34878D82A}">
                    <a16:rowId xmlns:a16="http://schemas.microsoft.com/office/drawing/2014/main" val="10002"/>
                  </a:ext>
                </a:extLst>
              </a:tr>
              <a:tr h="566928">
                <a:tc>
                  <a:txBody>
                    <a:bodyPr/>
                    <a:lstStyle/>
                    <a:p>
                      <a:pPr marL="0" indent="0" algn="l">
                        <a:lnSpc>
                          <a:spcPts val="3300"/>
                        </a:lnSpc>
                        <a:spcBef>
                          <a:spcPts val="0"/>
                        </a:spcBef>
                        <a:buNone/>
                      </a:pPr>
                      <a:r>
                        <a:rPr lang="en-US" sz="1800" b="0" dirty="0">
                          <a:solidFill>
                            <a:srgbClr val="33333A"/>
                          </a:solidFill>
                          <a:latin typeface="Arial" pitchFamily="34" charset="0"/>
                          <a:ea typeface="Arial" pitchFamily="34" charset="-122"/>
                          <a:cs typeface="Arial" pitchFamily="34" charset="-120"/>
                        </a:rPr>
                        <a:t>Security review</a:t>
                      </a:r>
                      <a:endParaRPr lang="en-US" sz="1800"/>
                    </a:p>
                  </a:txBody>
                  <a:tcPr marL="164592" marR="164592" anchor="ctr">
                    <a:lnL w="6350">
                      <a:solidFill>
                        <a:srgbClr val="E3E5E0"/>
                      </a:solidFill>
                      <a:prstDash val="solid"/>
                    </a:lnL>
                    <a:lnR w="6350">
                      <a:solidFill>
                        <a:srgbClr val="E3E5E0"/>
                      </a:solidFill>
                      <a:prstDash val="solid"/>
                    </a:lnR>
                    <a:lnT w="6350">
                      <a:solidFill>
                        <a:srgbClr val="E3E5E0"/>
                      </a:solidFill>
                      <a:prstDash val="solid"/>
                    </a:lnT>
                    <a:lnB w="6350">
                      <a:solidFill>
                        <a:srgbClr val="E3E5E0"/>
                      </a:solidFill>
                      <a:prstDash val="solid"/>
                    </a:lnB>
                    <a:solidFill>
                      <a:srgbClr val="FFFFFF"/>
                    </a:solidFill>
                  </a:tcPr>
                </a:tc>
                <a:tc>
                  <a:txBody>
                    <a:bodyPr/>
                    <a:lstStyle/>
                    <a:p>
                      <a:pPr marL="0" indent="0" algn="ctr">
                        <a:lnSpc>
                          <a:spcPts val="3300"/>
                        </a:lnSpc>
                        <a:spcBef>
                          <a:spcPts val="0"/>
                        </a:spcBef>
                        <a:buNone/>
                      </a:pPr>
                      <a:r>
                        <a:rPr lang="en-US" sz="2700" b="1" dirty="0">
                          <a:solidFill>
                            <a:srgbClr val="4C8835"/>
                          </a:solidFill>
                          <a:latin typeface="Arial" pitchFamily="34" charset="0"/>
                          <a:ea typeface="Arial" pitchFamily="34" charset="-122"/>
                          <a:cs typeface="Arial" pitchFamily="34" charset="-120"/>
                        </a:rPr>
                        <a:t>3 of 10</a:t>
                      </a:r>
                      <a:endParaRPr lang="en-US" sz="2700"/>
                    </a:p>
                  </a:txBody>
                  <a:tcPr marL="164592" marR="164592" anchor="ctr">
                    <a:lnL w="6350">
                      <a:solidFill>
                        <a:srgbClr val="E3E5E0"/>
                      </a:solidFill>
                      <a:prstDash val="solid"/>
                    </a:lnL>
                    <a:lnR w="6350">
                      <a:solidFill>
                        <a:srgbClr val="E3E5E0"/>
                      </a:solidFill>
                      <a:prstDash val="solid"/>
                    </a:lnR>
                    <a:lnT w="6350">
                      <a:solidFill>
                        <a:srgbClr val="E3E5E0"/>
                      </a:solidFill>
                      <a:prstDash val="solid"/>
                    </a:lnT>
                    <a:lnB w="6350">
                      <a:solidFill>
                        <a:srgbClr val="E3E5E0"/>
                      </a:solidFill>
                      <a:prstDash val="solid"/>
                    </a:lnB>
                    <a:solidFill>
                      <a:srgbClr val="FFFFFF"/>
                    </a:solidFill>
                  </a:tcPr>
                </a:tc>
                <a:tc>
                  <a:txBody>
                    <a:bodyPr/>
                    <a:lstStyle/>
                    <a:p>
                      <a:pPr marL="0" indent="0" algn="ctr">
                        <a:lnSpc>
                          <a:spcPts val="3300"/>
                        </a:lnSpc>
                        <a:spcBef>
                          <a:spcPts val="0"/>
                        </a:spcBef>
                        <a:buNone/>
                      </a:pPr>
                      <a:r>
                        <a:rPr lang="en-US" sz="2700" b="1" dirty="0">
                          <a:solidFill>
                            <a:srgbClr val="D66A22"/>
                          </a:solidFill>
                          <a:latin typeface="Arial" pitchFamily="34" charset="0"/>
                          <a:ea typeface="Arial" pitchFamily="34" charset="-122"/>
                          <a:cs typeface="Arial" pitchFamily="34" charset="-120"/>
                        </a:rPr>
                        <a:t>12 of 50</a:t>
                      </a:r>
                      <a:endParaRPr lang="en-US" sz="2700"/>
                    </a:p>
                  </a:txBody>
                  <a:tcPr marL="164592" marR="164592" anchor="ctr">
                    <a:lnL w="6350">
                      <a:solidFill>
                        <a:srgbClr val="E3E5E0"/>
                      </a:solidFill>
                      <a:prstDash val="solid"/>
                    </a:lnL>
                    <a:lnR w="6350">
                      <a:solidFill>
                        <a:srgbClr val="E3E5E0"/>
                      </a:solidFill>
                      <a:prstDash val="solid"/>
                    </a:lnR>
                    <a:lnT w="6350">
                      <a:solidFill>
                        <a:srgbClr val="E3E5E0"/>
                      </a:solidFill>
                      <a:prstDash val="solid"/>
                    </a:lnT>
                    <a:lnB w="6350">
                      <a:solidFill>
                        <a:srgbClr val="E3E5E0"/>
                      </a:solidFill>
                      <a:prstDash val="solid"/>
                    </a:lnB>
                    <a:solidFill>
                      <a:srgbClr val="FFFFFF"/>
                    </a:solidFill>
                  </a:tcPr>
                </a:tc>
                <a:extLst>
                  <a:ext uri="{0D108BD9-81ED-4DB2-BD59-A6C34878D82A}">
                    <a16:rowId xmlns:a16="http://schemas.microsoft.com/office/drawing/2014/main" val="10003"/>
                  </a:ext>
                </a:extLst>
              </a:tr>
              <a:tr h="640080">
                <a:tc>
                  <a:txBody>
                    <a:bodyPr/>
                    <a:lstStyle/>
                    <a:p>
                      <a:pPr marL="0" indent="0" algn="l">
                        <a:lnSpc>
                          <a:spcPts val="3300"/>
                        </a:lnSpc>
                        <a:spcBef>
                          <a:spcPts val="0"/>
                        </a:spcBef>
                        <a:buNone/>
                      </a:pPr>
                      <a:r>
                        <a:rPr lang="en-US" sz="1800" b="0" dirty="0">
                          <a:solidFill>
                            <a:srgbClr val="33333A"/>
                          </a:solidFill>
                          <a:latin typeface="Arial" pitchFamily="34" charset="0"/>
                          <a:ea typeface="Arial" pitchFamily="34" charset="-122"/>
                          <a:cs typeface="Arial" pitchFamily="34" charset="-120"/>
                        </a:rPr>
                        <a:t>Security + existing flaws</a:t>
                      </a:r>
                      <a:endParaRPr lang="en-US" sz="1800"/>
                    </a:p>
                  </a:txBody>
                  <a:tcPr marL="164592" marR="164592" anchor="ctr">
                    <a:lnL w="6350">
                      <a:solidFill>
                        <a:srgbClr val="E3E5E0"/>
                      </a:solidFill>
                      <a:prstDash val="solid"/>
                    </a:lnL>
                    <a:lnR w="6350">
                      <a:solidFill>
                        <a:srgbClr val="E3E5E0"/>
                      </a:solidFill>
                      <a:prstDash val="solid"/>
                    </a:lnR>
                    <a:lnT w="6350">
                      <a:solidFill>
                        <a:srgbClr val="E3E5E0"/>
                      </a:solidFill>
                      <a:prstDash val="solid"/>
                    </a:lnT>
                    <a:lnB w="6350">
                      <a:solidFill>
                        <a:srgbClr val="E3E5E0"/>
                      </a:solidFill>
                      <a:prstDash val="solid"/>
                    </a:lnB>
                    <a:solidFill>
                      <a:srgbClr val="EFF5EA"/>
                    </a:solidFill>
                  </a:tcPr>
                </a:tc>
                <a:tc>
                  <a:txBody>
                    <a:bodyPr/>
                    <a:lstStyle/>
                    <a:p>
                      <a:pPr marL="0" indent="0" algn="ctr">
                        <a:lnSpc>
                          <a:spcPts val="3300"/>
                        </a:lnSpc>
                        <a:spcBef>
                          <a:spcPts val="0"/>
                        </a:spcBef>
                        <a:buNone/>
                      </a:pPr>
                      <a:r>
                        <a:rPr lang="en-US" sz="2700" b="1" dirty="0">
                          <a:solidFill>
                            <a:srgbClr val="4C8835"/>
                          </a:solidFill>
                          <a:latin typeface="Arial" pitchFamily="34" charset="0"/>
                          <a:ea typeface="Arial" pitchFamily="34" charset="-122"/>
                          <a:cs typeface="Arial" pitchFamily="34" charset="-120"/>
                        </a:rPr>
                        <a:t>7 of 10</a:t>
                      </a:r>
                      <a:endParaRPr lang="en-US" sz="2700"/>
                    </a:p>
                  </a:txBody>
                  <a:tcPr marL="164592" marR="164592" anchor="ctr">
                    <a:lnL w="6350">
                      <a:solidFill>
                        <a:srgbClr val="E3E5E0"/>
                      </a:solidFill>
                      <a:prstDash val="solid"/>
                    </a:lnL>
                    <a:lnR w="6350">
                      <a:solidFill>
                        <a:srgbClr val="E3E5E0"/>
                      </a:solidFill>
                      <a:prstDash val="solid"/>
                    </a:lnR>
                    <a:lnT w="6350">
                      <a:solidFill>
                        <a:srgbClr val="E3E5E0"/>
                      </a:solidFill>
                      <a:prstDash val="solid"/>
                    </a:lnT>
                    <a:lnB w="6350">
                      <a:solidFill>
                        <a:srgbClr val="E3E5E0"/>
                      </a:solidFill>
                      <a:prstDash val="solid"/>
                    </a:lnB>
                    <a:solidFill>
                      <a:srgbClr val="EFF5EA"/>
                    </a:solidFill>
                  </a:tcPr>
                </a:tc>
                <a:tc>
                  <a:txBody>
                    <a:bodyPr/>
                    <a:lstStyle/>
                    <a:p>
                      <a:pPr marL="0" indent="0" algn="ctr">
                        <a:lnSpc>
                          <a:spcPts val="3300"/>
                        </a:lnSpc>
                        <a:spcBef>
                          <a:spcPts val="0"/>
                        </a:spcBef>
                        <a:buNone/>
                      </a:pPr>
                      <a:r>
                        <a:rPr lang="en-US" sz="2700" b="1" dirty="0">
                          <a:solidFill>
                            <a:srgbClr val="D66A22"/>
                          </a:solidFill>
                          <a:latin typeface="Arial" pitchFamily="34" charset="0"/>
                          <a:ea typeface="Arial" pitchFamily="34" charset="-122"/>
                          <a:cs typeface="Arial" pitchFamily="34" charset="-120"/>
                        </a:rPr>
                        <a:t>18 of 50</a:t>
                      </a:r>
                      <a:endParaRPr lang="en-US" sz="2700"/>
                    </a:p>
                  </a:txBody>
                  <a:tcPr marL="164592" marR="164592" anchor="ctr">
                    <a:lnL w="6350">
                      <a:solidFill>
                        <a:srgbClr val="E3E5E0"/>
                      </a:solidFill>
                      <a:prstDash val="solid"/>
                    </a:lnL>
                    <a:lnR w="6350">
                      <a:solidFill>
                        <a:srgbClr val="E3E5E0"/>
                      </a:solidFill>
                      <a:prstDash val="solid"/>
                    </a:lnR>
                    <a:lnT w="6350">
                      <a:solidFill>
                        <a:srgbClr val="E3E5E0"/>
                      </a:solidFill>
                      <a:prstDash val="solid"/>
                    </a:lnT>
                    <a:lnB w="6350">
                      <a:solidFill>
                        <a:srgbClr val="E3E5E0"/>
                      </a:solidFill>
                      <a:prstDash val="solid"/>
                    </a:lnB>
                    <a:solidFill>
                      <a:srgbClr val="EFF5EA"/>
                    </a:solidFill>
                  </a:tcPr>
                </a:tc>
                <a:extLst>
                  <a:ext uri="{0D108BD9-81ED-4DB2-BD59-A6C34878D82A}">
                    <a16:rowId xmlns:a16="http://schemas.microsoft.com/office/drawing/2014/main" val="10004"/>
                  </a:ext>
                </a:extLst>
              </a:tr>
            </a:tbl>
          </a:graphicData>
        </a:graphic>
      </p:graphicFrame>
      <p:sp>
        <p:nvSpPr>
          <p:cNvPr id="82" name="Comparison review denominator"/>
          <p:cNvSpPr txBox="1"/>
          <p:nvPr/>
        </p:nvSpPr>
        <p:spPr>
          <a:xfrm>
            <a:off x="812902" y="5010912"/>
            <a:ext cx="10561320" cy="347472"/>
          </a:xfrm>
          <a:prstGeom prst="rect">
            <a:avLst/>
          </a:prstGeom>
          <a:noFill/>
          <a:ln>
            <a:noFill/>
          </a:ln>
        </p:spPr>
        <p:txBody>
          <a:bodyPr wrap="square" lIns="0" tIns="0" rIns="0" bIns="0" anchor="t">
            <a:noAutofit/>
          </a:bodyPr>
          <a:lstStyle/>
          <a:p>
            <a:pPr marL="0" indent="0" algn="l">
              <a:lnSpc>
                <a:spcPts val="1875"/>
              </a:lnSpc>
              <a:spcBef>
                <a:spcPts val="0"/>
              </a:spcBef>
              <a:buNone/>
            </a:pPr>
            <a:r>
              <a:rPr lang="en-US" sz="1500" b="0" dirty="0">
                <a:solidFill>
                  <a:srgbClr val="33333A"/>
                </a:solidFill>
                <a:latin typeface="Arial" pitchFamily="34" charset="0"/>
                <a:ea typeface="Arial" pitchFamily="34" charset="-122"/>
                <a:cs typeface="Arial" pitchFamily="34" charset="-120"/>
              </a:rPr>
              <a:t>False alarms: the same 10 comparison changes × 5 models = 50 reviews per prompt.</a:t>
            </a:r>
            <a:endParaRPr lang="en-US" sz="1500"/>
          </a:p>
        </p:txBody>
      </p:sp>
      <p:sp>
        <p:nvSpPr>
          <p:cNvPr id="83" name="Existing-flaw instruction"/>
          <p:cNvSpPr txBox="1"/>
          <p:nvPr/>
        </p:nvSpPr>
        <p:spPr>
          <a:xfrm>
            <a:off x="812902" y="5468112"/>
            <a:ext cx="10561320" cy="329184"/>
          </a:xfrm>
          <a:prstGeom prst="rect">
            <a:avLst/>
          </a:prstGeom>
          <a:noFill/>
          <a:ln>
            <a:noFill/>
          </a:ln>
        </p:spPr>
        <p:txBody>
          <a:bodyPr wrap="square" lIns="0" tIns="0" rIns="0" bIns="0" anchor="t">
            <a:noAutofit/>
          </a:bodyPr>
          <a:lstStyle/>
          <a:p>
            <a:pPr marL="0" indent="0" algn="l">
              <a:lnSpc>
                <a:spcPts val="1750"/>
              </a:lnSpc>
              <a:spcBef>
                <a:spcPts val="0"/>
              </a:spcBef>
              <a:buNone/>
            </a:pPr>
            <a:r>
              <a:rPr lang="en-US" sz="1400" b="0" dirty="0">
                <a:solidFill>
                  <a:srgbClr val="6B6B73"/>
                </a:solidFill>
                <a:latin typeface="Arial" pitchFamily="34" charset="0"/>
                <a:ea typeface="Arial" pitchFamily="34" charset="-122"/>
                <a:cs typeface="Arial" pitchFamily="34" charset="-120"/>
              </a:rPr>
              <a:t>“Existing flaws” asks the reviewer to include flaws in code the change touches or relies on.</a:t>
            </a:r>
            <a:endParaRPr lang="en-US" sz="14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9">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4" name="Text 0"/>
          <p:cNvSpPr>
            <a:spLocks noGrp="1"/>
          </p:cNvSpPr>
          <p:nvPr>
            <p:ph type="title"/>
          </p:nvPr>
        </p:nvSpPr>
        <p:spPr>
          <a:xfrm>
            <a:off x="812800" y="812800"/>
            <a:ext cx="822424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448334"/>
                </a:solidFill>
                <a:latin typeface="Arial" pitchFamily="34" charset="0"/>
                <a:ea typeface="Arial" pitchFamily="34" charset="-122"/>
                <a:cs typeface="Arial" pitchFamily="34" charset="-120"/>
              </a:rPr>
              <a:t>One dependent file changed findings</a:t>
            </a:r>
            <a:endParaRPr lang="en-US" sz="3200" dirty="0"/>
          </a:p>
        </p:txBody>
      </p:sp>
      <p:sp>
        <p:nvSpPr>
          <p:cNvPr id="6" name="Text 2"/>
          <p:cNvSpPr/>
          <p:nvPr/>
        </p:nvSpPr>
        <p:spPr>
          <a:xfrm>
            <a:off x="812800" y="2005092"/>
            <a:ext cx="157480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33333A"/>
                </a:solidFill>
                <a:latin typeface="Arial" pitchFamily="34" charset="0"/>
                <a:ea typeface="Arial" pitchFamily="34" charset="-122"/>
                <a:cs typeface="Arial" pitchFamily="34" charset="-120"/>
              </a:rPr>
              <a:t>Diff only</a:t>
            </a:r>
            <a:endParaRPr lang="en-US" sz="1600" dirty="0"/>
          </a:p>
        </p:txBody>
      </p:sp>
      <p:sp>
        <p:nvSpPr>
          <p:cNvPr id="7" name="Text 3"/>
          <p:cNvSpPr/>
          <p:nvPr/>
        </p:nvSpPr>
        <p:spPr>
          <a:xfrm>
            <a:off x="2463394" y="2042770"/>
            <a:ext cx="2743200" cy="256032"/>
          </a:xfrm>
          <a:prstGeom prst="rect">
            <a:avLst/>
          </a:prstGeom>
          <a:noFill/>
          <a:ln/>
        </p:spPr>
        <p:txBody>
          <a:bodyPr wrap="square" lIns="0" tIns="0" rIns="0" bIns="0" rtlCol="0" anchor="t">
            <a:noAutofit/>
          </a:bodyPr>
          <a:lstStyle/>
          <a:p>
            <a:pPr marL="0" indent="0" algn="l">
              <a:lnSpc>
                <a:spcPts val="1700"/>
              </a:lnSpc>
              <a:spcBef>
                <a:spcPts val="0"/>
              </a:spcBef>
              <a:buNone/>
            </a:pPr>
            <a:r>
              <a:rPr lang="en-US" sz="1300" b="0" dirty="0">
                <a:solidFill>
                  <a:srgbClr val="6B6B73"/>
                </a:solidFill>
                <a:latin typeface="Arial" pitchFamily="34" charset="0"/>
                <a:ea typeface="Arial" pitchFamily="34" charset="-122"/>
                <a:cs typeface="Arial" pitchFamily="34" charset="-120"/>
              </a:rPr>
              <a:t>results fully caught</a:t>
            </a:r>
            <a:endParaRPr lang="en-US" sz="1300"/>
          </a:p>
        </p:txBody>
      </p:sp>
      <p:sp>
        <p:nvSpPr>
          <p:cNvPr id="8" name="Shape 4"/>
          <p:cNvSpPr/>
          <p:nvPr/>
        </p:nvSpPr>
        <p:spPr>
          <a:xfrm>
            <a:off x="812800" y="2378452"/>
            <a:ext cx="6350000" cy="609600"/>
          </a:xfrm>
          <a:prstGeom prst="roundRect">
            <a:avLst>
              <a:gd name="adj" fmla="val 12500"/>
            </a:avLst>
          </a:prstGeom>
          <a:solidFill>
            <a:srgbClr val="EEEEF0"/>
          </a:solidFill>
          <a:ln/>
        </p:spPr>
        <p:txBody>
          <a:bodyPr/>
          <a:lstStyle/>
          <a:p>
            <a:endParaRPr lang="en-US"/>
          </a:p>
        </p:txBody>
      </p:sp>
      <p:sp>
        <p:nvSpPr>
          <p:cNvPr id="9" name="Shape 5"/>
          <p:cNvSpPr/>
          <p:nvPr/>
        </p:nvSpPr>
        <p:spPr>
          <a:xfrm>
            <a:off x="812800" y="2378452"/>
            <a:ext cx="1778000" cy="609600"/>
          </a:xfrm>
          <a:prstGeom prst="roundRect">
            <a:avLst>
              <a:gd name="adj" fmla="val 12500"/>
            </a:avLst>
          </a:prstGeom>
          <a:solidFill>
            <a:srgbClr val="9AC23C"/>
          </a:solidFill>
          <a:ln/>
        </p:spPr>
        <p:txBody>
          <a:bodyPr/>
          <a:lstStyle/>
          <a:p>
            <a:endParaRPr lang="en-US"/>
          </a:p>
        </p:txBody>
      </p:sp>
      <p:sp>
        <p:nvSpPr>
          <p:cNvPr id="10" name="Text 6"/>
          <p:cNvSpPr/>
          <p:nvPr/>
        </p:nvSpPr>
        <p:spPr>
          <a:xfrm>
            <a:off x="7260336" y="2505456"/>
            <a:ext cx="1371600" cy="438912"/>
          </a:xfrm>
          <a:prstGeom prst="rect">
            <a:avLst/>
          </a:prstGeom>
          <a:noFill/>
          <a:ln/>
        </p:spPr>
        <p:txBody>
          <a:bodyPr wrap="square" lIns="0" tIns="0" rIns="0" bIns="0" rtlCol="0" anchor="t">
            <a:noAutofit/>
          </a:bodyPr>
          <a:lstStyle/>
          <a:p>
            <a:pPr marL="0" indent="0" algn="l">
              <a:lnSpc>
                <a:spcPts val="3100"/>
              </a:lnSpc>
              <a:spcBef>
                <a:spcPts val="0"/>
              </a:spcBef>
              <a:buNone/>
            </a:pPr>
            <a:r>
              <a:rPr lang="en-US" sz="2500" b="1" dirty="0">
                <a:solidFill>
                  <a:srgbClr val="6B6B73"/>
                </a:solidFill>
                <a:latin typeface="Arial" pitchFamily="34" charset="0"/>
                <a:ea typeface="Arial" pitchFamily="34" charset="-122"/>
                <a:cs typeface="Arial" pitchFamily="34" charset="-120"/>
              </a:rPr>
              <a:t>7 of 25</a:t>
            </a:r>
            <a:endParaRPr lang="en-US" sz="2500"/>
          </a:p>
        </p:txBody>
      </p:sp>
      <p:sp>
        <p:nvSpPr>
          <p:cNvPr id="11" name="Text 7"/>
          <p:cNvSpPr/>
          <p:nvPr/>
        </p:nvSpPr>
        <p:spPr>
          <a:xfrm>
            <a:off x="812800" y="3242052"/>
            <a:ext cx="157480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33333A"/>
                </a:solidFill>
                <a:latin typeface="Arial" pitchFamily="34" charset="0"/>
                <a:ea typeface="Arial" pitchFamily="34" charset="-122"/>
                <a:cs typeface="Arial" pitchFamily="34" charset="-120"/>
              </a:rPr>
              <a:t>Diff + file</a:t>
            </a:r>
            <a:endParaRPr lang="en-US" sz="1600" dirty="0"/>
          </a:p>
        </p:txBody>
      </p:sp>
      <p:sp>
        <p:nvSpPr>
          <p:cNvPr id="12" name="Text 8"/>
          <p:cNvSpPr/>
          <p:nvPr/>
        </p:nvSpPr>
        <p:spPr>
          <a:xfrm>
            <a:off x="2463394" y="3279953"/>
            <a:ext cx="3689604" cy="256032"/>
          </a:xfrm>
          <a:prstGeom prst="rect">
            <a:avLst/>
          </a:prstGeom>
          <a:noFill/>
          <a:ln/>
        </p:spPr>
        <p:txBody>
          <a:bodyPr wrap="square" lIns="0" tIns="0" rIns="0" bIns="0" rtlCol="0" anchor="t">
            <a:noAutofit/>
          </a:bodyPr>
          <a:lstStyle/>
          <a:p>
            <a:pPr marL="0" indent="0" algn="l">
              <a:lnSpc>
                <a:spcPts val="1700"/>
              </a:lnSpc>
              <a:spcBef>
                <a:spcPts val="0"/>
              </a:spcBef>
              <a:buNone/>
            </a:pPr>
            <a:r>
              <a:rPr lang="en-US" sz="1300" b="0" dirty="0">
                <a:solidFill>
                  <a:srgbClr val="6B6B73"/>
                </a:solidFill>
                <a:latin typeface="Arial" pitchFamily="34" charset="0"/>
                <a:ea typeface="Arial" pitchFamily="34" charset="-122"/>
                <a:cs typeface="Arial" pitchFamily="34" charset="-120"/>
              </a:rPr>
              <a:t>same prompt, one extra file</a:t>
            </a:r>
            <a:endParaRPr lang="en-US" sz="1300"/>
          </a:p>
        </p:txBody>
      </p:sp>
      <p:sp>
        <p:nvSpPr>
          <p:cNvPr id="13" name="Shape 9"/>
          <p:cNvSpPr/>
          <p:nvPr/>
        </p:nvSpPr>
        <p:spPr>
          <a:xfrm>
            <a:off x="812800" y="3615412"/>
            <a:ext cx="6350000" cy="609600"/>
          </a:xfrm>
          <a:prstGeom prst="roundRect">
            <a:avLst>
              <a:gd name="adj" fmla="val 12500"/>
            </a:avLst>
          </a:prstGeom>
          <a:solidFill>
            <a:srgbClr val="EEEEF0"/>
          </a:solidFill>
          <a:ln/>
        </p:spPr>
        <p:txBody>
          <a:bodyPr/>
          <a:lstStyle/>
          <a:p>
            <a:endParaRPr lang="en-US"/>
          </a:p>
        </p:txBody>
      </p:sp>
      <p:sp>
        <p:nvSpPr>
          <p:cNvPr id="14" name="Shape 10"/>
          <p:cNvSpPr/>
          <p:nvPr/>
        </p:nvSpPr>
        <p:spPr>
          <a:xfrm>
            <a:off x="812800" y="3615412"/>
            <a:ext cx="4064000" cy="609600"/>
          </a:xfrm>
          <a:prstGeom prst="roundRect">
            <a:avLst>
              <a:gd name="adj" fmla="val 12500"/>
            </a:avLst>
          </a:prstGeom>
          <a:solidFill>
            <a:srgbClr val="448334"/>
          </a:solidFill>
          <a:ln/>
        </p:spPr>
        <p:txBody>
          <a:bodyPr/>
          <a:lstStyle/>
          <a:p>
            <a:endParaRPr lang="en-US"/>
          </a:p>
        </p:txBody>
      </p:sp>
      <p:sp>
        <p:nvSpPr>
          <p:cNvPr id="15" name="Text 11"/>
          <p:cNvSpPr/>
          <p:nvPr/>
        </p:nvSpPr>
        <p:spPr>
          <a:xfrm>
            <a:off x="7260336" y="3742639"/>
            <a:ext cx="1371600" cy="438912"/>
          </a:xfrm>
          <a:prstGeom prst="rect">
            <a:avLst/>
          </a:prstGeom>
          <a:noFill/>
          <a:ln/>
        </p:spPr>
        <p:txBody>
          <a:bodyPr wrap="square" lIns="0" tIns="0" rIns="0" bIns="0" rtlCol="0" anchor="t">
            <a:noAutofit/>
          </a:bodyPr>
          <a:lstStyle/>
          <a:p>
            <a:pPr marL="0" indent="0" algn="l">
              <a:lnSpc>
                <a:spcPts val="3100"/>
              </a:lnSpc>
              <a:spcBef>
                <a:spcPts val="0"/>
              </a:spcBef>
              <a:buNone/>
            </a:pPr>
            <a:r>
              <a:rPr lang="en-US" sz="2500" b="1" dirty="0">
                <a:solidFill>
                  <a:srgbClr val="4C8835"/>
                </a:solidFill>
                <a:latin typeface="Arial" pitchFamily="34" charset="0"/>
                <a:ea typeface="Arial" pitchFamily="34" charset="-122"/>
                <a:cs typeface="Arial" pitchFamily="34" charset="-120"/>
              </a:rPr>
              <a:t>16 of 25</a:t>
            </a:r>
            <a:endParaRPr lang="en-US" sz="2500"/>
          </a:p>
        </p:txBody>
      </p:sp>
      <p:sp>
        <p:nvSpPr>
          <p:cNvPr id="19" name="Shape 15"/>
          <p:cNvSpPr/>
          <p:nvPr/>
        </p:nvSpPr>
        <p:spPr>
          <a:xfrm>
            <a:off x="8686800" y="1845250"/>
            <a:ext cx="2688336" cy="2971800"/>
          </a:xfrm>
          <a:prstGeom prst="roundRect">
            <a:avLst>
              <a:gd name="adj" fmla="val 5975"/>
            </a:avLst>
          </a:prstGeom>
          <a:solidFill>
            <a:srgbClr val="FFFFFF"/>
          </a:solidFill>
          <a:ln w="12700">
            <a:solidFill>
              <a:srgbClr val="E3E3E6"/>
            </a:solidFill>
            <a:prstDash val="solid"/>
          </a:ln>
        </p:spPr>
        <p:txBody>
          <a:bodyPr/>
          <a:lstStyle/>
          <a:p>
            <a:endParaRPr lang="en-US"/>
          </a:p>
        </p:txBody>
      </p:sp>
      <p:sp>
        <p:nvSpPr>
          <p:cNvPr id="20" name="Text 16"/>
          <p:cNvSpPr/>
          <p:nvPr/>
        </p:nvSpPr>
        <p:spPr>
          <a:xfrm>
            <a:off x="8897112" y="2054800"/>
            <a:ext cx="226771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B6B73"/>
                </a:solidFill>
                <a:latin typeface="Arial" pitchFamily="34" charset="0"/>
                <a:ea typeface="Arial" pitchFamily="34" charset="-122"/>
                <a:cs typeface="Arial" pitchFamily="34" charset="-120"/>
              </a:rPr>
              <a:t>STILL HARD</a:t>
            </a:r>
            <a:endParaRPr lang="en-US" sz="1200" dirty="0"/>
          </a:p>
        </p:txBody>
      </p:sp>
      <p:pic>
        <p:nvPicPr>
          <p:cNvPr id="21" name="Image 2" descr="Lock"/>
          <p:cNvPicPr>
            <a:picLocks noChangeAspect="1"/>
          </p:cNvPicPr>
          <p:nvPr/>
        </p:nvPicPr>
        <p:blipFill>
          <a:blip r:embed="rId5"/>
          <a:srcRect t="-834" b="-834"/>
          <a:stretch/>
        </p:blipFill>
        <p:spPr>
          <a:xfrm>
            <a:off x="8897112" y="2499896"/>
            <a:ext cx="124916" cy="203200"/>
          </a:xfrm>
          <a:prstGeom prst="rect">
            <a:avLst/>
          </a:prstGeom>
        </p:spPr>
      </p:pic>
      <p:sp>
        <p:nvSpPr>
          <p:cNvPr id="22" name="Text 17"/>
          <p:cNvSpPr/>
          <p:nvPr/>
        </p:nvSpPr>
        <p:spPr>
          <a:xfrm>
            <a:off x="9098280" y="2395121"/>
            <a:ext cx="2066544" cy="438150"/>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33333A"/>
                </a:solidFill>
                <a:latin typeface="Arial" pitchFamily="34" charset="0"/>
                <a:ea typeface="Arial" pitchFamily="34" charset="-122"/>
                <a:cs typeface="Arial" pitchFamily="34" charset="-120"/>
              </a:rPr>
              <a:t>Inherited access-control flaw</a:t>
            </a:r>
            <a:endParaRPr lang="en-US" sz="1300" dirty="0"/>
          </a:p>
        </p:txBody>
      </p:sp>
      <p:sp>
        <p:nvSpPr>
          <p:cNvPr id="23" name="Text 18"/>
          <p:cNvSpPr/>
          <p:nvPr/>
        </p:nvSpPr>
        <p:spPr>
          <a:xfrm>
            <a:off x="8897112" y="2935224"/>
            <a:ext cx="2267712" cy="642823"/>
          </a:xfrm>
          <a:prstGeom prst="rect">
            <a:avLst/>
          </a:prstGeom>
          <a:noFill/>
          <a:ln/>
        </p:spPr>
        <p:txBody>
          <a:bodyPr wrap="square" lIns="0" tIns="0" rIns="0" bIns="0" rtlCol="0" anchor="t">
            <a:noAutofit/>
          </a:bodyPr>
          <a:lstStyle/>
          <a:p>
            <a:pPr marL="0" indent="0" algn="l">
              <a:lnSpc>
                <a:spcPts val="1700"/>
              </a:lnSpc>
              <a:spcBef>
                <a:spcPts val="0"/>
              </a:spcBef>
              <a:buNone/>
            </a:pPr>
            <a:r>
              <a:rPr lang="en-US" sz="1300" b="0" dirty="0">
                <a:solidFill>
                  <a:srgbClr val="6B6B73"/>
                </a:solidFill>
                <a:latin typeface="Arial" pitchFamily="34" charset="0"/>
                <a:ea typeface="Arial" pitchFamily="34" charset="-122"/>
                <a:cs typeface="Arial" pitchFamily="34" charset="-120"/>
              </a:rPr>
              <a:t>Context alone did not</a:t>
            </a:r>
            <a:endParaRPr lang="en-US" sz="1300"/>
          </a:p>
          <a:p>
            <a:pPr marL="0" indent="0" algn="l">
              <a:lnSpc>
                <a:spcPts val="1700"/>
              </a:lnSpc>
              <a:spcBef>
                <a:spcPts val="0"/>
              </a:spcBef>
              <a:buNone/>
            </a:pPr>
            <a:r>
              <a:rPr lang="en-US" sz="1300" b="0" dirty="0">
                <a:solidFill>
                  <a:srgbClr val="6B6B73"/>
                </a:solidFill>
                <a:latin typeface="Arial" pitchFamily="34" charset="0"/>
                <a:ea typeface="Arial" pitchFamily="34" charset="-122"/>
                <a:cs typeface="Arial" pitchFamily="34" charset="-120"/>
              </a:rPr>
              <a:t>recover this flaw</a:t>
            </a:r>
            <a:endParaRPr lang="en-US" sz="1300"/>
          </a:p>
        </p:txBody>
      </p:sp>
      <p:pic>
        <p:nvPicPr>
          <p:cNvPr id="24" name="Image 3" descr="line"/>
          <p:cNvPicPr>
            <a:picLocks noChangeAspect="1"/>
          </p:cNvPicPr>
          <p:nvPr/>
        </p:nvPicPr>
        <p:blipFill>
          <a:blip r:embed="rId6"/>
          <a:srcRect/>
          <a:stretch/>
        </p:blipFill>
        <p:spPr>
          <a:xfrm>
            <a:off x="8897112" y="3678912"/>
            <a:ext cx="2267712" cy="12700"/>
          </a:xfrm>
          <a:prstGeom prst="rect">
            <a:avLst/>
          </a:prstGeom>
        </p:spPr>
      </p:pic>
      <p:pic>
        <p:nvPicPr>
          <p:cNvPr id="25" name="Image 4" descr="Globe"/>
          <p:cNvPicPr>
            <a:picLocks noChangeAspect="1"/>
          </p:cNvPicPr>
          <p:nvPr/>
        </p:nvPicPr>
        <p:blipFill>
          <a:blip r:embed="rId7"/>
          <a:srcRect t="-824" b="-824"/>
          <a:stretch/>
        </p:blipFill>
        <p:spPr>
          <a:xfrm>
            <a:off x="8897112" y="3923387"/>
            <a:ext cx="168672" cy="203200"/>
          </a:xfrm>
          <a:prstGeom prst="rect">
            <a:avLst/>
          </a:prstGeom>
        </p:spPr>
      </p:pic>
      <p:sp>
        <p:nvSpPr>
          <p:cNvPr id="26" name="Text 19"/>
          <p:cNvSpPr/>
          <p:nvPr/>
        </p:nvSpPr>
        <p:spPr>
          <a:xfrm>
            <a:off x="9144000" y="3818612"/>
            <a:ext cx="2020824" cy="238658"/>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33333A"/>
                </a:solidFill>
                <a:latin typeface="Arial" pitchFamily="34" charset="0"/>
                <a:ea typeface="Arial" pitchFamily="34" charset="-122"/>
                <a:cs typeface="Arial" pitchFamily="34" charset="-120"/>
              </a:rPr>
              <a:t>PDF-rendering SSRF</a:t>
            </a:r>
            <a:endParaRPr lang="en-US" sz="1300" dirty="0"/>
          </a:p>
        </p:txBody>
      </p:sp>
      <p:sp>
        <p:nvSpPr>
          <p:cNvPr id="27" name="Text 20"/>
          <p:cNvSpPr/>
          <p:nvPr/>
        </p:nvSpPr>
        <p:spPr>
          <a:xfrm>
            <a:off x="8897112" y="4160520"/>
            <a:ext cx="2267712"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6B6B73"/>
                </a:solidFill>
                <a:latin typeface="Arial" pitchFamily="34" charset="0"/>
                <a:ea typeface="Arial" pitchFamily="34" charset="-122"/>
                <a:cs typeface="Arial" pitchFamily="34" charset="-120"/>
              </a:rPr>
              <a:t>Remained difficult with context</a:t>
            </a:r>
            <a:endParaRPr lang="en-US" sz="1200" dirty="0"/>
          </a:p>
        </p:txBody>
      </p:sp>
      <p:sp>
        <p:nvSpPr>
          <p:cNvPr id="28" name="Text 21"/>
          <p:cNvSpPr/>
          <p:nvPr/>
        </p:nvSpPr>
        <p:spPr>
          <a:xfrm>
            <a:off x="813816" y="5925312"/>
            <a:ext cx="9784080" cy="320040"/>
          </a:xfrm>
          <a:prstGeom prst="rect">
            <a:avLst/>
          </a:prstGeom>
          <a:noFill/>
          <a:ln/>
        </p:spPr>
        <p:txBody>
          <a:bodyPr wrap="square" lIns="0" tIns="0" rIns="0" bIns="0" rtlCol="0" anchor="t">
            <a:noAutofit/>
          </a:bodyPr>
          <a:lstStyle/>
          <a:p>
            <a:pPr marL="0" indent="0" algn="l">
              <a:lnSpc>
                <a:spcPts val="1500"/>
              </a:lnSpc>
              <a:spcBef>
                <a:spcPts val="0"/>
              </a:spcBef>
              <a:buNone/>
            </a:pPr>
            <a:r>
              <a:rPr lang="en-US" sz="1100" b="0" dirty="0">
                <a:solidFill>
                  <a:srgbClr val="8A8A92"/>
                </a:solidFill>
                <a:latin typeface="Arial" pitchFamily="34" charset="0"/>
                <a:ea typeface="Arial" pitchFamily="34" charset="-122"/>
                <a:cs typeface="Arial" pitchFamily="34" charset="-120"/>
              </a:rPr>
              <a:t>One result = one model on one case. Caught = actionable finding in at least 2 of 3 reviews.</a:t>
            </a:r>
            <a:endParaRPr lang="en-US" sz="1100"/>
          </a:p>
        </p:txBody>
      </p:sp>
      <p:sp>
        <p:nvSpPr>
          <p:cNvPr id="29" name="Text 22"/>
          <p:cNvSpPr/>
          <p:nvPr/>
        </p:nvSpPr>
        <p:spPr>
          <a:xfrm>
            <a:off x="7532370" y="6238280"/>
            <a:ext cx="300863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A92"/>
                </a:solidFill>
                <a:latin typeface="Arial" pitchFamily="34" charset="0"/>
                <a:ea typeface="Arial" pitchFamily="34" charset="-122"/>
                <a:cs typeface="Arial" pitchFamily="34" charset="-120"/>
              </a:rPr>
              <a:t>ISC2.org/Congress | #ISC2Congress</a:t>
            </a:r>
            <a:endParaRPr lang="en-US" sz="1200" dirty="0"/>
          </a:p>
        </p:txBody>
      </p:sp>
      <p:sp>
        <p:nvSpPr>
          <p:cNvPr id="80" name="Sample and counting unit"/>
          <p:cNvSpPr txBox="1"/>
          <p:nvPr/>
        </p:nvSpPr>
        <p:spPr>
          <a:xfrm>
            <a:off x="812902" y="1353312"/>
            <a:ext cx="10561320" cy="347472"/>
          </a:xfrm>
          <a:prstGeom prst="rect">
            <a:avLst/>
          </a:prstGeom>
          <a:noFill/>
          <a:ln>
            <a:noFill/>
          </a:ln>
        </p:spPr>
        <p:txBody>
          <a:bodyPr wrap="square" lIns="0" tIns="0" rIns="0" bIns="0" anchor="t">
            <a:noAutofit/>
          </a:bodyPr>
          <a:lstStyle/>
          <a:p>
            <a:pPr marL="0" indent="0" algn="l">
              <a:lnSpc>
                <a:spcPts val="2125"/>
              </a:lnSpc>
              <a:spcBef>
                <a:spcPts val="0"/>
              </a:spcBef>
              <a:buNone/>
            </a:pPr>
            <a:r>
              <a:rPr lang="en-US" sz="1700" b="0" dirty="0">
                <a:solidFill>
                  <a:srgbClr val="33333A"/>
                </a:solidFill>
                <a:latin typeface="Arial" pitchFamily="34" charset="0"/>
                <a:ea typeface="Arial" pitchFamily="34" charset="-122"/>
                <a:cs typeface="Arial" pitchFamily="34" charset="-120"/>
              </a:rPr>
              <a:t>Context test: 5 cases × 5 models = 25 model results per condition</a:t>
            </a:r>
            <a:endParaRPr lang="en-US" sz="1700"/>
          </a:p>
        </p:txBody>
      </p:sp>
      <p:sp>
        <p:nvSpPr>
          <p:cNvPr id="81" name="Context case origins"/>
          <p:cNvSpPr txBox="1"/>
          <p:nvPr/>
        </p:nvSpPr>
        <p:spPr>
          <a:xfrm>
            <a:off x="812902" y="4983480"/>
            <a:ext cx="10561320" cy="365760"/>
          </a:xfrm>
          <a:prstGeom prst="rect">
            <a:avLst/>
          </a:prstGeom>
          <a:noFill/>
          <a:ln>
            <a:noFill/>
          </a:ln>
        </p:spPr>
        <p:txBody>
          <a:bodyPr wrap="square" lIns="0" tIns="0" rIns="0" bIns="0" anchor="t">
            <a:noAutofit/>
          </a:bodyPr>
          <a:lstStyle/>
          <a:p>
            <a:pPr marL="0" indent="0" algn="l">
              <a:lnSpc>
                <a:spcPts val="1875"/>
              </a:lnSpc>
              <a:spcBef>
                <a:spcPts val="0"/>
              </a:spcBef>
              <a:buNone/>
            </a:pPr>
            <a:r>
              <a:rPr lang="en-US" sz="1500" b="0" dirty="0">
                <a:solidFill>
                  <a:srgbClr val="33333A"/>
                </a:solidFill>
                <a:latin typeface="Arial" pitchFamily="34" charset="0"/>
                <a:ea typeface="Arial" pitchFamily="34" charset="-122"/>
                <a:cs typeface="Arial" pitchFamily="34" charset="-120"/>
              </a:rPr>
              <a:t>5 cases = 4 needing another file from the original study + 1 inherited-flaw case.</a:t>
            </a:r>
            <a:endParaRPr lang="en-US" sz="1500"/>
          </a:p>
        </p:txBody>
      </p:sp>
      <p:sp>
        <p:nvSpPr>
          <p:cNvPr id="82" name="Context condition boundary"/>
          <p:cNvSpPr txBox="1"/>
          <p:nvPr/>
        </p:nvSpPr>
        <p:spPr>
          <a:xfrm>
            <a:off x="812902" y="5440680"/>
            <a:ext cx="10561320" cy="320040"/>
          </a:xfrm>
          <a:prstGeom prst="rect">
            <a:avLst/>
          </a:prstGeom>
          <a:noFill/>
          <a:ln>
            <a:noFill/>
          </a:ln>
        </p:spPr>
        <p:txBody>
          <a:bodyPr wrap="square" lIns="0" tIns="0" rIns="0" bIns="0" anchor="t">
            <a:noAutofit/>
          </a:bodyPr>
          <a:lstStyle/>
          <a:p>
            <a:pPr marL="0" indent="0" algn="l">
              <a:lnSpc>
                <a:spcPts val="1750"/>
              </a:lnSpc>
              <a:spcBef>
                <a:spcPts val="0"/>
              </a:spcBef>
              <a:buNone/>
            </a:pPr>
            <a:r>
              <a:rPr lang="en-US" sz="1400" b="0" dirty="0">
                <a:solidFill>
                  <a:srgbClr val="6B6B73"/>
                </a:solidFill>
                <a:latin typeface="Arial" pitchFamily="34" charset="0"/>
                <a:ea typeface="Arial" pitchFamily="34" charset="-122"/>
                <a:cs typeface="Arial" pitchFamily="34" charset="-120"/>
              </a:rPr>
              <a:t>Same security prompt, including existing flaws. False alarms were not measured.</a:t>
            </a:r>
            <a:endParaRPr lang="en-US" sz="14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9">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4" name="Text 0"/>
          <p:cNvSpPr>
            <a:spLocks noGrp="1"/>
          </p:cNvSpPr>
          <p:nvPr>
            <p:ph type="title"/>
          </p:nvPr>
        </p:nvSpPr>
        <p:spPr>
          <a:xfrm>
            <a:off x="812800" y="812800"/>
            <a:ext cx="6341031"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448334"/>
                </a:solidFill>
                <a:latin typeface="Arial" pitchFamily="34" charset="0"/>
                <a:ea typeface="Arial" pitchFamily="34" charset="-122"/>
                <a:cs typeface="Arial" pitchFamily="34" charset="-120"/>
              </a:rPr>
              <a:t>Where a focused model fits</a:t>
            </a:r>
            <a:endParaRPr lang="en-US" sz="3200" dirty="0"/>
          </a:p>
        </p:txBody>
      </p:sp>
      <p:sp>
        <p:nvSpPr>
          <p:cNvPr id="6" name="Shape 2"/>
          <p:cNvSpPr/>
          <p:nvPr/>
        </p:nvSpPr>
        <p:spPr>
          <a:xfrm>
            <a:off x="819150" y="1570930"/>
            <a:ext cx="5143500" cy="3063240"/>
          </a:xfrm>
          <a:prstGeom prst="roundRect">
            <a:avLst>
              <a:gd name="adj" fmla="val 3797"/>
            </a:avLst>
          </a:prstGeom>
          <a:solidFill>
            <a:srgbClr val="FFFFFF"/>
          </a:solidFill>
          <a:ln w="12700">
            <a:solidFill>
              <a:srgbClr val="E3E3E6"/>
            </a:solidFill>
            <a:prstDash val="solid"/>
          </a:ln>
        </p:spPr>
        <p:txBody>
          <a:bodyPr/>
          <a:lstStyle/>
          <a:p>
            <a:endParaRPr lang="en-US"/>
          </a:p>
        </p:txBody>
      </p:sp>
      <p:sp>
        <p:nvSpPr>
          <p:cNvPr id="7" name="Text 3"/>
          <p:cNvSpPr/>
          <p:nvPr/>
        </p:nvSpPr>
        <p:spPr>
          <a:xfrm>
            <a:off x="1104900" y="1856680"/>
            <a:ext cx="470916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B6B73"/>
                </a:solidFill>
                <a:latin typeface="Arial" pitchFamily="34" charset="0"/>
                <a:ea typeface="Arial" pitchFamily="34" charset="-122"/>
                <a:cs typeface="Arial" pitchFamily="34" charset="-120"/>
              </a:rPr>
              <a:t>JEV ROUTING PILOT · 14 CHANGES</a:t>
            </a:r>
            <a:endParaRPr lang="en-US" sz="1200" dirty="0"/>
          </a:p>
        </p:txBody>
      </p:sp>
      <p:sp>
        <p:nvSpPr>
          <p:cNvPr id="8" name="Text 4"/>
          <p:cNvSpPr/>
          <p:nvPr/>
        </p:nvSpPr>
        <p:spPr>
          <a:xfrm>
            <a:off x="1104900" y="2197001"/>
            <a:ext cx="4709160" cy="914400"/>
          </a:xfrm>
          <a:prstGeom prst="rect">
            <a:avLst/>
          </a:prstGeom>
          <a:noFill/>
          <a:ln/>
        </p:spPr>
        <p:txBody>
          <a:bodyPr wrap="square" lIns="0" tIns="0" rIns="0" bIns="0" rtlCol="0" anchor="t">
            <a:normAutofit/>
          </a:bodyPr>
          <a:lstStyle/>
          <a:p>
            <a:pPr marL="0" indent="0" algn="l">
              <a:lnSpc>
                <a:spcPts val="7000"/>
              </a:lnSpc>
              <a:buNone/>
            </a:pPr>
            <a:r>
              <a:rPr lang="en-US" sz="7000" b="1" dirty="0">
                <a:solidFill>
                  <a:srgbClr val="0086B6"/>
                </a:solidFill>
                <a:latin typeface="Arial" pitchFamily="34" charset="0"/>
                <a:ea typeface="Arial" pitchFamily="34" charset="-122"/>
                <a:cs typeface="Arial" pitchFamily="34" charset="-120"/>
              </a:rPr>
              <a:t>32</a:t>
            </a:r>
            <a:r>
              <a:rPr lang="en-US" sz="7000" b="1" dirty="0">
                <a:solidFill>
                  <a:srgbClr val="8A8A92"/>
                </a:solidFill>
                <a:latin typeface="Arial" pitchFamily="34" charset="0"/>
                <a:ea typeface="Arial" pitchFamily="34" charset="-122"/>
                <a:cs typeface="Arial" pitchFamily="34" charset="-120"/>
              </a:rPr>
              <a:t>/42</a:t>
            </a:r>
            <a:endParaRPr lang="en-US" sz="7000" dirty="0"/>
          </a:p>
        </p:txBody>
      </p:sp>
      <p:sp>
        <p:nvSpPr>
          <p:cNvPr id="9" name="Text 5"/>
          <p:cNvSpPr/>
          <p:nvPr/>
        </p:nvSpPr>
        <p:spPr>
          <a:xfrm>
            <a:off x="1104900" y="3213001"/>
            <a:ext cx="4709160"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33333A"/>
                </a:solidFill>
                <a:latin typeface="Arial" pitchFamily="34" charset="0"/>
                <a:ea typeface="Arial" pitchFamily="34" charset="-122"/>
                <a:cs typeface="Arial" pitchFamily="34" charset="-120"/>
              </a:rPr>
              <a:t>calls matched draft policy</a:t>
            </a:r>
            <a:endParaRPr lang="en-US" sz="1600" dirty="0"/>
          </a:p>
        </p:txBody>
      </p:sp>
      <p:sp>
        <p:nvSpPr>
          <p:cNvPr id="10" name="Text 6"/>
          <p:cNvSpPr/>
          <p:nvPr/>
        </p:nvSpPr>
        <p:spPr>
          <a:xfrm>
            <a:off x="1104900" y="3594001"/>
            <a:ext cx="1050330" cy="314920"/>
          </a:xfrm>
          <a:prstGeom prst="roundRect">
            <a:avLst>
              <a:gd name="adj" fmla="val 16131"/>
            </a:avLst>
          </a:prstGeom>
          <a:solidFill>
            <a:srgbClr val="EEEEF0"/>
          </a:solidFill>
          <a:ln/>
        </p:spPr>
        <p:txBody>
          <a:bodyPr wrap="none" lIns="0" tIns="0" rIns="0" bIns="0" rtlCol="0" anchor="ctr">
            <a:normAutofit/>
          </a:bodyPr>
          <a:lstStyle/>
          <a:p>
            <a:pPr marL="0" indent="0" algn="ctr">
              <a:lnSpc>
                <a:spcPts val="1680"/>
              </a:lnSpc>
              <a:buNone/>
            </a:pPr>
            <a:r>
              <a:rPr lang="en-US" sz="1200" b="1" dirty="0">
                <a:solidFill>
                  <a:srgbClr val="33333A"/>
                </a:solidFill>
                <a:latin typeface="Arial" pitchFamily="34" charset="0"/>
                <a:ea typeface="Arial" pitchFamily="34" charset="-122"/>
                <a:cs typeface="Arial" pitchFamily="34" charset="-120"/>
              </a:rPr>
              <a:t>6 disagreed</a:t>
            </a:r>
            <a:endParaRPr lang="en-US" sz="1200" dirty="0"/>
          </a:p>
        </p:txBody>
      </p:sp>
      <p:sp>
        <p:nvSpPr>
          <p:cNvPr id="11" name="Text 7"/>
          <p:cNvSpPr/>
          <p:nvPr/>
        </p:nvSpPr>
        <p:spPr>
          <a:xfrm>
            <a:off x="2231430" y="3594001"/>
            <a:ext cx="1041698" cy="314920"/>
          </a:xfrm>
          <a:prstGeom prst="roundRect">
            <a:avLst>
              <a:gd name="adj" fmla="val 16131"/>
            </a:avLst>
          </a:prstGeom>
          <a:solidFill>
            <a:srgbClr val="EEEEF0"/>
          </a:solidFill>
          <a:ln/>
        </p:spPr>
        <p:txBody>
          <a:bodyPr wrap="none" lIns="0" tIns="0" rIns="0" bIns="0" rtlCol="0" anchor="ctr">
            <a:normAutofit/>
          </a:bodyPr>
          <a:lstStyle/>
          <a:p>
            <a:pPr marL="0" indent="0" algn="ctr">
              <a:lnSpc>
                <a:spcPts val="1680"/>
              </a:lnSpc>
              <a:buNone/>
            </a:pPr>
            <a:r>
              <a:rPr lang="en-US" sz="1200" b="1" dirty="0">
                <a:solidFill>
                  <a:srgbClr val="33333A"/>
                </a:solidFill>
                <a:latin typeface="Arial" pitchFamily="34" charset="0"/>
                <a:ea typeface="Arial" pitchFamily="34" charset="-122"/>
                <a:cs typeface="Arial" pitchFamily="34" charset="-120"/>
              </a:rPr>
              <a:t>4 abstained</a:t>
            </a:r>
            <a:endParaRPr lang="en-US" sz="1200" dirty="0"/>
          </a:p>
        </p:txBody>
      </p:sp>
      <p:sp>
        <p:nvSpPr>
          <p:cNvPr id="12" name="Text 8"/>
          <p:cNvSpPr/>
          <p:nvPr/>
        </p:nvSpPr>
        <p:spPr>
          <a:xfrm>
            <a:off x="1104900" y="4035921"/>
            <a:ext cx="47091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73"/>
                </a:solidFill>
                <a:latin typeface="Arial" pitchFamily="34" charset="0"/>
                <a:ea typeface="Arial" pitchFamily="34" charset="-122"/>
                <a:cs typeface="Arial" pitchFamily="34" charset="-120"/>
              </a:rPr>
              <a:t>Reference roles still need independent adjudication; not validated routing accuracy.</a:t>
            </a:r>
            <a:endParaRPr lang="en-US" sz="1200" dirty="0"/>
          </a:p>
        </p:txBody>
      </p:sp>
      <p:sp>
        <p:nvSpPr>
          <p:cNvPr id="13" name="Shape 9"/>
          <p:cNvSpPr/>
          <p:nvPr/>
        </p:nvSpPr>
        <p:spPr>
          <a:xfrm>
            <a:off x="6229350" y="1570930"/>
            <a:ext cx="5143500" cy="3063240"/>
          </a:xfrm>
          <a:prstGeom prst="roundRect">
            <a:avLst>
              <a:gd name="adj" fmla="val 3797"/>
            </a:avLst>
          </a:prstGeom>
          <a:solidFill>
            <a:srgbClr val="FFFFFF"/>
          </a:solidFill>
          <a:ln w="12700">
            <a:solidFill>
              <a:srgbClr val="E3E3E6"/>
            </a:solidFill>
            <a:prstDash val="solid"/>
          </a:ln>
        </p:spPr>
        <p:txBody>
          <a:bodyPr/>
          <a:lstStyle/>
          <a:p>
            <a:endParaRPr lang="en-US"/>
          </a:p>
        </p:txBody>
      </p:sp>
      <p:sp>
        <p:nvSpPr>
          <p:cNvPr id="14" name="Text 10"/>
          <p:cNvSpPr/>
          <p:nvPr/>
        </p:nvSpPr>
        <p:spPr>
          <a:xfrm>
            <a:off x="6515100" y="1856680"/>
            <a:ext cx="470916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B6B73"/>
                </a:solidFill>
                <a:latin typeface="Arial" pitchFamily="34" charset="0"/>
                <a:ea typeface="Arial" pitchFamily="34" charset="-122"/>
                <a:cs typeface="Arial" pitchFamily="34" charset="-120"/>
              </a:rPr>
              <a:t>MEDHALLU BENCHMARK · ONE JUDGMENT TASK</a:t>
            </a:r>
            <a:endParaRPr lang="en-US" sz="1200" dirty="0"/>
          </a:p>
        </p:txBody>
      </p:sp>
      <p:sp>
        <p:nvSpPr>
          <p:cNvPr id="15" name="Text 11"/>
          <p:cNvSpPr/>
          <p:nvPr/>
        </p:nvSpPr>
        <p:spPr>
          <a:xfrm>
            <a:off x="6515100" y="2197001"/>
            <a:ext cx="4709160" cy="914400"/>
          </a:xfrm>
          <a:prstGeom prst="rect">
            <a:avLst/>
          </a:prstGeom>
          <a:noFill/>
          <a:ln/>
        </p:spPr>
        <p:txBody>
          <a:bodyPr wrap="square" lIns="0" tIns="0" rIns="0" bIns="0" rtlCol="0" anchor="t">
            <a:normAutofit/>
          </a:bodyPr>
          <a:lstStyle/>
          <a:p>
            <a:pPr marL="0" indent="0" algn="l">
              <a:lnSpc>
                <a:spcPts val="7000"/>
              </a:lnSpc>
              <a:buNone/>
            </a:pPr>
            <a:r>
              <a:rPr lang="en-US" sz="7000" b="1" dirty="0">
                <a:solidFill>
                  <a:srgbClr val="0086B6"/>
                </a:solidFill>
                <a:latin typeface="Arial" pitchFamily="34" charset="0"/>
                <a:ea typeface="Arial" pitchFamily="34" charset="-122"/>
                <a:cs typeface="Arial" pitchFamily="34" charset="-120"/>
              </a:rPr>
              <a:t>92.9</a:t>
            </a:r>
            <a:r>
              <a:rPr lang="en-US" sz="7000" b="1" dirty="0">
                <a:solidFill>
                  <a:srgbClr val="8A8A92"/>
                </a:solidFill>
                <a:latin typeface="Arial" pitchFamily="34" charset="0"/>
                <a:ea typeface="Arial" pitchFamily="34" charset="-122"/>
                <a:cs typeface="Arial" pitchFamily="34" charset="-120"/>
              </a:rPr>
              <a:t>%</a:t>
            </a:r>
            <a:endParaRPr lang="en-US" sz="7000" dirty="0"/>
          </a:p>
        </p:txBody>
      </p:sp>
      <p:sp>
        <p:nvSpPr>
          <p:cNvPr id="16" name="Text 12"/>
          <p:cNvSpPr/>
          <p:nvPr/>
        </p:nvSpPr>
        <p:spPr>
          <a:xfrm>
            <a:off x="6515100" y="3213001"/>
            <a:ext cx="4709160"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33333A"/>
                </a:solidFill>
                <a:latin typeface="Arial" pitchFamily="34" charset="0"/>
                <a:ea typeface="Arial" pitchFamily="34" charset="-122"/>
                <a:cs typeface="Arial" pitchFamily="34" charset="-120"/>
              </a:rPr>
              <a:t>accuracy · 228 ms median · ~$0.03 / 1k checks</a:t>
            </a:r>
          </a:p>
        </p:txBody>
      </p:sp>
      <p:sp>
        <p:nvSpPr>
          <p:cNvPr id="17" name="Shape 13"/>
          <p:cNvSpPr/>
          <p:nvPr/>
        </p:nvSpPr>
        <p:spPr>
          <a:xfrm>
            <a:off x="6515100" y="3637161"/>
            <a:ext cx="1905000" cy="127000"/>
          </a:xfrm>
          <a:prstGeom prst="roundRect">
            <a:avLst>
              <a:gd name="adj" fmla="val 50000"/>
            </a:avLst>
          </a:prstGeom>
          <a:solidFill>
            <a:srgbClr val="EEEEF0"/>
          </a:solidFill>
          <a:ln/>
        </p:spPr>
        <p:txBody>
          <a:bodyPr/>
          <a:lstStyle/>
          <a:p>
            <a:endParaRPr lang="en-US"/>
          </a:p>
        </p:txBody>
      </p:sp>
      <p:sp>
        <p:nvSpPr>
          <p:cNvPr id="18" name="Shape 14"/>
          <p:cNvSpPr/>
          <p:nvPr/>
        </p:nvSpPr>
        <p:spPr>
          <a:xfrm>
            <a:off x="6515100" y="3637161"/>
            <a:ext cx="1809750" cy="127000"/>
          </a:xfrm>
          <a:prstGeom prst="roundRect">
            <a:avLst>
              <a:gd name="adj" fmla="val 50000"/>
            </a:avLst>
          </a:prstGeom>
          <a:solidFill>
            <a:srgbClr val="C9C9CE"/>
          </a:solidFill>
          <a:ln/>
        </p:spPr>
        <p:txBody>
          <a:bodyPr/>
          <a:lstStyle/>
          <a:p>
            <a:endParaRPr lang="en-US"/>
          </a:p>
        </p:txBody>
      </p:sp>
      <p:sp>
        <p:nvSpPr>
          <p:cNvPr id="19" name="Text 15"/>
          <p:cNvSpPr/>
          <p:nvPr/>
        </p:nvSpPr>
        <p:spPr>
          <a:xfrm>
            <a:off x="8521700" y="3594001"/>
            <a:ext cx="18908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73"/>
                </a:solidFill>
                <a:latin typeface="Arial" pitchFamily="34" charset="0"/>
                <a:ea typeface="Arial" pitchFamily="34" charset="-122"/>
                <a:cs typeface="Arial" pitchFamily="34" charset="-120"/>
              </a:rPr>
              <a:t>best comparator 95.1%</a:t>
            </a:r>
            <a:endParaRPr lang="en-US" sz="1200" dirty="0"/>
          </a:p>
        </p:txBody>
      </p:sp>
      <p:sp>
        <p:nvSpPr>
          <p:cNvPr id="20" name="Text 16"/>
          <p:cNvSpPr/>
          <p:nvPr/>
        </p:nvSpPr>
        <p:spPr>
          <a:xfrm>
            <a:off x="6515100" y="3934321"/>
            <a:ext cx="47091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B73"/>
                </a:solidFill>
                <a:latin typeface="Arial" pitchFamily="34" charset="0"/>
                <a:ea typeface="Arial" pitchFamily="34" charset="-122"/>
                <a:cs typeface="Arial" pitchFamily="34" charset="-120"/>
              </a:rPr>
              <a:t>A speed and cost tradeoff on a hallucination-judgment task, not PR routing.</a:t>
            </a:r>
            <a:endParaRPr lang="en-US" sz="1200" dirty="0"/>
          </a:p>
        </p:txBody>
      </p:sp>
      <p:sp>
        <p:nvSpPr>
          <p:cNvPr id="21" name="Shape 17"/>
          <p:cNvSpPr/>
          <p:nvPr/>
        </p:nvSpPr>
        <p:spPr>
          <a:xfrm>
            <a:off x="812800" y="4946904"/>
            <a:ext cx="10566400" cy="477441"/>
          </a:xfrm>
          <a:prstGeom prst="roundRect">
            <a:avLst>
              <a:gd name="adj" fmla="val 15960"/>
            </a:avLst>
          </a:prstGeom>
          <a:solidFill>
            <a:srgbClr val="33333A"/>
          </a:solidFill>
          <a:ln/>
        </p:spPr>
        <p:txBody>
          <a:bodyPr/>
          <a:lstStyle/>
          <a:p>
            <a:endParaRPr lang="en-US"/>
          </a:p>
        </p:txBody>
      </p:sp>
      <p:pic>
        <p:nvPicPr>
          <p:cNvPr id="22" name="Image 2" descr="Warning"/>
          <p:cNvPicPr>
            <a:picLocks noChangeAspect="1"/>
          </p:cNvPicPr>
          <p:nvPr/>
        </p:nvPicPr>
        <p:blipFill>
          <a:blip r:embed="rId5"/>
          <a:srcRect/>
          <a:stretch/>
        </p:blipFill>
        <p:spPr>
          <a:xfrm>
            <a:off x="4087316" y="5090465"/>
            <a:ext cx="190500" cy="190500"/>
          </a:xfrm>
          <a:prstGeom prst="rect">
            <a:avLst/>
          </a:prstGeom>
        </p:spPr>
      </p:pic>
      <p:sp>
        <p:nvSpPr>
          <p:cNvPr id="23" name="Text 18"/>
          <p:cNvSpPr/>
          <p:nvPr/>
        </p:nvSpPr>
        <p:spPr>
          <a:xfrm>
            <a:off x="4379416" y="5061204"/>
            <a:ext cx="447020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FFF"/>
                </a:solidFill>
                <a:latin typeface="Arial" pitchFamily="34" charset="0"/>
                <a:ea typeface="Arial" pitchFamily="34" charset="-122"/>
                <a:cs typeface="Arial" pitchFamily="34" charset="-120"/>
              </a:rPr>
              <a:t>Separate tasks; neither validates PR routing</a:t>
            </a:r>
            <a:endParaRPr lang="en-US" sz="1400" dirty="0"/>
          </a:p>
        </p:txBody>
      </p:sp>
      <p:sp>
        <p:nvSpPr>
          <p:cNvPr id="24" name="Text 19"/>
          <p:cNvSpPr/>
          <p:nvPr/>
        </p:nvSpPr>
        <p:spPr>
          <a:xfrm>
            <a:off x="813816" y="5925312"/>
            <a:ext cx="6446520" cy="484632"/>
          </a:xfrm>
          <a:prstGeom prst="rect">
            <a:avLst/>
          </a:prstGeom>
          <a:noFill/>
          <a:ln/>
        </p:spPr>
        <p:txBody>
          <a:bodyPr wrap="square" lIns="0" tIns="0" rIns="0" bIns="0" rtlCol="0" anchor="t">
            <a:normAutofit/>
          </a:bodyPr>
          <a:lstStyle/>
          <a:p>
            <a:pPr marL="0" indent="0" algn="l">
              <a:lnSpc>
                <a:spcPts val="1200"/>
              </a:lnSpc>
              <a:buNone/>
            </a:pPr>
            <a:r>
              <a:rPr lang="en-US" sz="1000" dirty="0">
                <a:solidFill>
                  <a:srgbClr val="8A8A92"/>
                </a:solidFill>
                <a:latin typeface="Arial" pitchFamily="34" charset="0"/>
                <a:ea typeface="Arial" pitchFamily="34" charset="-122"/>
                <a:cs typeface="Arial" pitchFamily="34" charset="-120"/>
              </a:rPr>
              <a:t>jev-study/README.md · a focused model suggests where specialist review may be needed; policy and people decide what is mandatory</a:t>
            </a:r>
            <a:endParaRPr lang="en-US" sz="1000" dirty="0"/>
          </a:p>
        </p:txBody>
      </p:sp>
      <p:sp>
        <p:nvSpPr>
          <p:cNvPr id="25" name="Text 20"/>
          <p:cNvSpPr/>
          <p:nvPr/>
        </p:nvSpPr>
        <p:spPr>
          <a:xfrm>
            <a:off x="7532370" y="6238280"/>
            <a:ext cx="300863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A92"/>
                </a:solidFill>
                <a:latin typeface="Arial" pitchFamily="34" charset="0"/>
                <a:ea typeface="Arial" pitchFamily="34" charset="-122"/>
                <a:cs typeface="Arial" pitchFamily="34" charset="-120"/>
              </a:rPr>
              <a:t>ISC2.org/Congress | #ISC2Congress</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4" name="Text 0"/>
          <p:cNvSpPr>
            <a:spLocks noGrp="1"/>
          </p:cNvSpPr>
          <p:nvPr>
            <p:ph type="title"/>
          </p:nvPr>
        </p:nvSpPr>
        <p:spPr>
          <a:xfrm>
            <a:off x="812800" y="812800"/>
            <a:ext cx="7534513"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448334"/>
                </a:solidFill>
                <a:latin typeface="Arial" pitchFamily="34" charset="0"/>
                <a:ea typeface="Arial" pitchFamily="34" charset="-122"/>
                <a:cs typeface="Arial" pitchFamily="34" charset="-120"/>
              </a:rPr>
              <a:t>Where defects enter and surface</a:t>
            </a:r>
            <a:endParaRPr lang="en-US" sz="3200" dirty="0"/>
          </a:p>
        </p:txBody>
      </p:sp>
      <p:sp>
        <p:nvSpPr>
          <p:cNvPr id="6" name="Text 2"/>
          <p:cNvSpPr/>
          <p:nvPr/>
        </p:nvSpPr>
        <p:spPr>
          <a:xfrm>
            <a:off x="2269935" y="2033998"/>
            <a:ext cx="4591431" cy="274241"/>
          </a:xfrm>
          <a:prstGeom prst="rect">
            <a:avLst/>
          </a:prstGeom>
          <a:noFill/>
          <a:ln/>
        </p:spPr>
        <p:txBody>
          <a:bodyPr wrap="square" lIns="0" tIns="0" rIns="0" bIns="0" rtlCol="0" anchor="t">
            <a:normAutofit/>
          </a:bodyPr>
          <a:lstStyle/>
          <a:p>
            <a:pPr marL="0" indent="0" algn="ctr">
              <a:lnSpc>
                <a:spcPts val="1960"/>
              </a:lnSpc>
              <a:buNone/>
            </a:pPr>
            <a:r>
              <a:rPr lang="en-US" sz="1400" b="1" kern="0" spc="50" dirty="0">
                <a:solidFill>
                  <a:srgbClr val="6B6B73"/>
                </a:solidFill>
                <a:latin typeface="Arial" pitchFamily="34" charset="0"/>
                <a:ea typeface="Arial" pitchFamily="34" charset="-122"/>
                <a:cs typeface="Arial" pitchFamily="34" charset="-120"/>
              </a:rPr>
              <a:t>INTRODUCE DEFECTS</a:t>
            </a:r>
            <a:endParaRPr lang="en-US" sz="1400" dirty="0"/>
          </a:p>
        </p:txBody>
      </p:sp>
      <p:sp>
        <p:nvSpPr>
          <p:cNvPr id="7" name="Text 3"/>
          <p:cNvSpPr/>
          <p:nvPr/>
        </p:nvSpPr>
        <p:spPr>
          <a:xfrm>
            <a:off x="6854635" y="2033998"/>
            <a:ext cx="4591431" cy="274241"/>
          </a:xfrm>
          <a:prstGeom prst="rect">
            <a:avLst/>
          </a:prstGeom>
          <a:noFill/>
          <a:ln/>
        </p:spPr>
        <p:txBody>
          <a:bodyPr wrap="square" lIns="0" tIns="0" rIns="0" bIns="0" rtlCol="0" anchor="t">
            <a:normAutofit/>
          </a:bodyPr>
          <a:lstStyle/>
          <a:p>
            <a:pPr marL="0" indent="0" algn="ctr">
              <a:lnSpc>
                <a:spcPts val="1960"/>
              </a:lnSpc>
              <a:buNone/>
            </a:pPr>
            <a:r>
              <a:rPr lang="en-US" sz="1400" b="1" kern="0" spc="50" dirty="0">
                <a:solidFill>
                  <a:srgbClr val="6B6B73"/>
                </a:solidFill>
                <a:latin typeface="Arial" pitchFamily="34" charset="0"/>
                <a:ea typeface="Arial" pitchFamily="34" charset="-122"/>
                <a:cs typeface="Arial" pitchFamily="34" charset="-120"/>
              </a:rPr>
              <a:t>DETECT DEFECTS</a:t>
            </a:r>
            <a:endParaRPr lang="en-US" sz="1400" dirty="0"/>
          </a:p>
        </p:txBody>
      </p:sp>
      <p:pic>
        <p:nvPicPr>
          <p:cNvPr id="8" name="Image 2" descr="Users"/>
          <p:cNvPicPr>
            <a:picLocks noChangeAspect="1"/>
          </p:cNvPicPr>
          <p:nvPr/>
        </p:nvPicPr>
        <p:blipFill>
          <a:blip r:embed="rId5"/>
          <a:srcRect/>
          <a:stretch/>
        </p:blipFill>
        <p:spPr>
          <a:xfrm>
            <a:off x="657352" y="2945920"/>
            <a:ext cx="409448" cy="409448"/>
          </a:xfrm>
          <a:prstGeom prst="rect">
            <a:avLst/>
          </a:prstGeom>
        </p:spPr>
      </p:pic>
      <p:sp>
        <p:nvSpPr>
          <p:cNvPr id="9" name="Text 4"/>
          <p:cNvSpPr/>
          <p:nvPr/>
        </p:nvSpPr>
        <p:spPr>
          <a:xfrm>
            <a:off x="1155700" y="3073022"/>
            <a:ext cx="826413"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33333A"/>
                </a:solidFill>
                <a:latin typeface="Arial" pitchFamily="34" charset="0"/>
                <a:ea typeface="Arial" pitchFamily="34" charset="-122"/>
                <a:cs typeface="Arial" pitchFamily="34" charset="-120"/>
              </a:rPr>
              <a:t>Human</a:t>
            </a:r>
            <a:endParaRPr lang="en-US" sz="1600" dirty="0"/>
          </a:p>
        </p:txBody>
      </p:sp>
      <p:sp>
        <p:nvSpPr>
          <p:cNvPr id="10" name="Text 5"/>
          <p:cNvSpPr/>
          <p:nvPr/>
        </p:nvSpPr>
        <p:spPr>
          <a:xfrm>
            <a:off x="2343150" y="2434830"/>
            <a:ext cx="4445000" cy="1335024"/>
          </a:xfrm>
          <a:prstGeom prst="roundRect">
            <a:avLst>
              <a:gd name="adj" fmla="val 6579"/>
            </a:avLst>
          </a:prstGeom>
          <a:solidFill>
            <a:schemeClr val="bg2"/>
          </a:solidFill>
          <a:ln w="12700">
            <a:solidFill>
              <a:srgbClr val="E3E3E6"/>
            </a:solidFill>
            <a:prstDash val="solid"/>
          </a:ln>
        </p:spPr>
        <p:txBody>
          <a:bodyPr wrap="square" lIns="181652" tIns="181652" rIns="60875" bIns="181652" rtlCol="0" anchor="ctr">
            <a:normAutofit/>
          </a:bodyPr>
          <a:lstStyle/>
          <a:p>
            <a:pPr marL="0" indent="0" algn="l">
              <a:lnSpc>
                <a:spcPts val="2040"/>
              </a:lnSpc>
              <a:buNone/>
            </a:pPr>
            <a:endParaRPr lang="en-US" sz="1700" dirty="0"/>
          </a:p>
        </p:txBody>
      </p:sp>
      <p:sp>
        <p:nvSpPr>
          <p:cNvPr id="11" name="Text 6"/>
          <p:cNvSpPr/>
          <p:nvPr/>
        </p:nvSpPr>
        <p:spPr>
          <a:xfrm>
            <a:off x="6927850" y="2434830"/>
            <a:ext cx="4445000" cy="1335024"/>
          </a:xfrm>
          <a:prstGeom prst="roundRect">
            <a:avLst>
              <a:gd name="adj" fmla="val 6579"/>
            </a:avLst>
          </a:prstGeom>
          <a:solidFill>
            <a:schemeClr val="bg2"/>
          </a:solidFill>
          <a:ln w="12700">
            <a:solidFill>
              <a:srgbClr val="E3E3E6"/>
            </a:solidFill>
            <a:prstDash val="solid"/>
          </a:ln>
        </p:spPr>
        <p:txBody>
          <a:bodyPr wrap="square" lIns="181652" tIns="181652" rIns="60875" bIns="181652" rtlCol="0" anchor="ctr">
            <a:normAutofit/>
          </a:bodyPr>
          <a:lstStyle/>
          <a:p>
            <a:pPr marL="0" indent="0" algn="l">
              <a:lnSpc>
                <a:spcPts val="2040"/>
              </a:lnSpc>
              <a:buNone/>
            </a:pPr>
            <a:endParaRPr lang="en-US" sz="1700" dirty="0"/>
          </a:p>
        </p:txBody>
      </p:sp>
      <p:pic>
        <p:nvPicPr>
          <p:cNvPr id="12" name="Image 3" descr="Lightning"/>
          <p:cNvPicPr>
            <a:picLocks noChangeAspect="1"/>
          </p:cNvPicPr>
          <p:nvPr/>
        </p:nvPicPr>
        <p:blipFill>
          <a:blip r:embed="rId6"/>
          <a:srcRect/>
          <a:stretch/>
        </p:blipFill>
        <p:spPr>
          <a:xfrm>
            <a:off x="720306" y="4353946"/>
            <a:ext cx="412623" cy="412623"/>
          </a:xfrm>
          <a:prstGeom prst="rect">
            <a:avLst/>
          </a:prstGeom>
        </p:spPr>
      </p:pic>
      <p:sp>
        <p:nvSpPr>
          <p:cNvPr id="13" name="Text 7"/>
          <p:cNvSpPr/>
          <p:nvPr/>
        </p:nvSpPr>
        <p:spPr>
          <a:xfrm>
            <a:off x="1202998" y="4423178"/>
            <a:ext cx="25400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33333A"/>
                </a:solidFill>
                <a:latin typeface="Arial" pitchFamily="34" charset="0"/>
                <a:ea typeface="Arial" pitchFamily="34" charset="-122"/>
                <a:cs typeface="Arial" pitchFamily="34" charset="-120"/>
              </a:rPr>
              <a:t>AI</a:t>
            </a:r>
            <a:endParaRPr lang="en-US" sz="1600" dirty="0"/>
          </a:p>
        </p:txBody>
      </p:sp>
      <p:sp>
        <p:nvSpPr>
          <p:cNvPr id="14" name="Text 8"/>
          <p:cNvSpPr/>
          <p:nvPr/>
        </p:nvSpPr>
        <p:spPr>
          <a:xfrm>
            <a:off x="2343150" y="3879582"/>
            <a:ext cx="4445000" cy="1335024"/>
          </a:xfrm>
          <a:prstGeom prst="roundRect">
            <a:avLst>
              <a:gd name="adj" fmla="val 6579"/>
            </a:avLst>
          </a:prstGeom>
          <a:solidFill>
            <a:schemeClr val="bg2"/>
          </a:solidFill>
          <a:ln w="12700">
            <a:solidFill>
              <a:srgbClr val="E3E3E6"/>
            </a:solidFill>
            <a:prstDash val="solid"/>
          </a:ln>
        </p:spPr>
        <p:txBody>
          <a:bodyPr wrap="square" lIns="181652" tIns="181652" rIns="60875" bIns="181652" rtlCol="0" anchor="ctr">
            <a:normAutofit/>
          </a:bodyPr>
          <a:lstStyle/>
          <a:p>
            <a:pPr marL="0" indent="0" algn="l">
              <a:lnSpc>
                <a:spcPts val="2040"/>
              </a:lnSpc>
              <a:buNone/>
            </a:pPr>
            <a:endParaRPr lang="en-US" sz="1700" dirty="0"/>
          </a:p>
        </p:txBody>
      </p:sp>
      <p:sp>
        <p:nvSpPr>
          <p:cNvPr id="15" name="Shape 9"/>
          <p:cNvSpPr/>
          <p:nvPr/>
        </p:nvSpPr>
        <p:spPr>
          <a:xfrm>
            <a:off x="6931025" y="3882325"/>
            <a:ext cx="4438650" cy="1328623"/>
          </a:xfrm>
          <a:prstGeom prst="roundRect">
            <a:avLst>
              <a:gd name="adj" fmla="val 6388"/>
            </a:avLst>
          </a:prstGeom>
          <a:solidFill>
            <a:schemeClr val="bg2"/>
          </a:solidFill>
          <a:ln w="12700">
            <a:solidFill>
              <a:srgbClr val="E3E3E6"/>
            </a:solidFill>
            <a:prstDash val="solid"/>
          </a:ln>
        </p:spPr>
        <p:txBody>
          <a:bodyPr wrap="square" lIns="181652" tIns="181652" rIns="60875" bIns="181652" rtlCol="0" anchor="ctr">
            <a:normAutofit/>
          </a:bodyPr>
          <a:lstStyle/>
          <a:p>
            <a:pPr>
              <a:lnSpc>
                <a:spcPts val="2040"/>
              </a:lnSpc>
            </a:pPr>
            <a:endParaRPr lang="en-US" sz="1700"/>
          </a:p>
        </p:txBody>
      </p:sp>
      <p:sp>
        <p:nvSpPr>
          <p:cNvPr id="22" name="Text 15"/>
          <p:cNvSpPr/>
          <p:nvPr/>
        </p:nvSpPr>
        <p:spPr>
          <a:xfrm>
            <a:off x="7532370" y="6238280"/>
            <a:ext cx="300863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A92"/>
                </a:solidFill>
                <a:latin typeface="Arial" pitchFamily="34" charset="0"/>
                <a:ea typeface="Arial" pitchFamily="34" charset="-122"/>
                <a:cs typeface="Arial" pitchFamily="34" charset="-120"/>
              </a:rPr>
              <a:t>ISC2.org/Congress | #ISC2Congress</a:t>
            </a:r>
            <a:endParaRPr lang="en-US" sz="1200" dirty="0"/>
          </a:p>
        </p:txBody>
      </p:sp>
      <p:sp>
        <p:nvSpPr>
          <p:cNvPr id="23" name="Humans introduce detail 1">
            <a:extLst>
              <a:ext uri="{FF2B5EF4-FFF2-40B4-BE49-F238E27FC236}">
                <a16:creationId xmlns:a16="http://schemas.microsoft.com/office/drawing/2014/main" id="{276BF3C6-FFFD-5377-FD5C-E688D6FCADCF}"/>
              </a:ext>
            </a:extLst>
          </p:cNvPr>
          <p:cNvSpPr>
            <a:spLocks noGrp="1"/>
          </p:cNvSpPr>
          <p:nvPr/>
        </p:nvSpPr>
        <p:spPr>
          <a:xfrm>
            <a:off x="2611005" y="2741866"/>
            <a:ext cx="4727448" cy="320040"/>
          </a:xfrm>
          <a:prstGeom prst="rect">
            <a:avLst/>
          </a:prstGeom>
          <a:noFill/>
          <a:ln w="0">
            <a:noFill/>
          </a:ln>
        </p:spPr>
        <p:txBody>
          <a:bodyPr wrap="square" lIns="0" tIns="0" rIns="0" bIns="0" anchor="t">
            <a:noAutofit/>
          </a:bodyPr>
          <a:lstStyle>
            <a:defPPr algn="l">
              <a:defRPr sz="1800" b="0">
                <a:solidFill>
                  <a:srgbClr val="262626"/>
                </a:solidFill>
              </a:defRPr>
            </a:defPPr>
            <a:lvl1pPr algn="l">
              <a:defRPr sz="1800" b="0">
                <a:solidFill>
                  <a:srgbClr val="262626"/>
                </a:solidFill>
              </a:defRPr>
            </a:lvl1pPr>
            <a:lvl2pPr algn="l">
              <a:defRPr sz="1800" b="0">
                <a:solidFill>
                  <a:srgbClr val="262626"/>
                </a:solidFill>
              </a:defRPr>
            </a:lvl2pPr>
            <a:lvl3pPr algn="l">
              <a:defRPr sz="1800" b="0">
                <a:solidFill>
                  <a:srgbClr val="262626"/>
                </a:solidFill>
              </a:defRPr>
            </a:lvl3pPr>
            <a:lvl4pPr algn="l">
              <a:defRPr sz="1800" b="0">
                <a:solidFill>
                  <a:srgbClr val="262626"/>
                </a:solidFill>
              </a:defRPr>
            </a:lvl4pPr>
            <a:lvl5pPr algn="l">
              <a:defRPr sz="1800" b="0">
                <a:solidFill>
                  <a:srgbClr val="262626"/>
                </a:solidFill>
              </a:defRPr>
            </a:lvl5pPr>
            <a:lvl6pPr algn="l">
              <a:defRPr sz="1800" b="0">
                <a:solidFill>
                  <a:srgbClr val="262626"/>
                </a:solidFill>
              </a:defRPr>
            </a:lvl6pPr>
            <a:lvl7pPr algn="l">
              <a:defRPr sz="1800" b="0">
                <a:solidFill>
                  <a:srgbClr val="262626"/>
                </a:solidFill>
              </a:defRPr>
            </a:lvl7pPr>
            <a:lvl8pPr algn="l">
              <a:defRPr sz="1800" b="0">
                <a:solidFill>
                  <a:srgbClr val="262626"/>
                </a:solidFill>
              </a:defRPr>
            </a:lvl8pPr>
            <a:lvl9pPr algn="l">
              <a:defRPr sz="1800" b="0">
                <a:solidFill>
                  <a:srgbClr val="262626"/>
                </a:solidFill>
              </a:defRPr>
            </a:lvl9pPr>
          </a:lstStyle>
          <a:p>
            <a:pPr algn="l">
              <a:lnSpc>
                <a:spcPct val="100000"/>
              </a:lnSpc>
              <a:spcBef>
                <a:spcPts val="0"/>
              </a:spcBef>
              <a:spcAft>
                <a:spcPts val="0"/>
              </a:spcAft>
              <a:buNone/>
            </a:pPr>
            <a:r>
              <a:rPr lang="en-US" b="0" dirty="0">
                <a:solidFill>
                  <a:srgbClr val="262626"/>
                </a:solidFill>
                <a:latin typeface="Arial"/>
              </a:rPr>
              <a:t>Code errors or missed requirements</a:t>
            </a:r>
          </a:p>
        </p:txBody>
      </p:sp>
      <p:sp>
        <p:nvSpPr>
          <p:cNvPr id="24" name="Humans introduce detail 2">
            <a:extLst>
              <a:ext uri="{FF2B5EF4-FFF2-40B4-BE49-F238E27FC236}">
                <a16:creationId xmlns:a16="http://schemas.microsoft.com/office/drawing/2014/main" id="{100CDA90-D658-4D99-CD0F-ACE025808603}"/>
              </a:ext>
            </a:extLst>
          </p:cNvPr>
          <p:cNvSpPr>
            <a:spLocks noGrp="1"/>
          </p:cNvSpPr>
          <p:nvPr/>
        </p:nvSpPr>
        <p:spPr>
          <a:xfrm>
            <a:off x="2611005" y="3180778"/>
            <a:ext cx="4727448" cy="320040"/>
          </a:xfrm>
          <a:prstGeom prst="rect">
            <a:avLst/>
          </a:prstGeom>
          <a:noFill/>
          <a:ln w="0">
            <a:noFill/>
          </a:ln>
        </p:spPr>
        <p:txBody>
          <a:bodyPr wrap="square" lIns="0" tIns="0" rIns="0" bIns="0" anchor="t">
            <a:noAutofit/>
          </a:bodyPr>
          <a:lstStyle>
            <a:defPPr algn="l">
              <a:defRPr sz="1800" b="0">
                <a:solidFill>
                  <a:srgbClr val="262626"/>
                </a:solidFill>
              </a:defRPr>
            </a:defPPr>
            <a:lvl1pPr algn="l">
              <a:defRPr sz="1800" b="0">
                <a:solidFill>
                  <a:srgbClr val="262626"/>
                </a:solidFill>
              </a:defRPr>
            </a:lvl1pPr>
            <a:lvl2pPr algn="l">
              <a:defRPr sz="1800" b="0">
                <a:solidFill>
                  <a:srgbClr val="262626"/>
                </a:solidFill>
              </a:defRPr>
            </a:lvl2pPr>
            <a:lvl3pPr algn="l">
              <a:defRPr sz="1800" b="0">
                <a:solidFill>
                  <a:srgbClr val="262626"/>
                </a:solidFill>
              </a:defRPr>
            </a:lvl3pPr>
            <a:lvl4pPr algn="l">
              <a:defRPr sz="1800" b="0">
                <a:solidFill>
                  <a:srgbClr val="262626"/>
                </a:solidFill>
              </a:defRPr>
            </a:lvl4pPr>
            <a:lvl5pPr algn="l">
              <a:defRPr sz="1800" b="0">
                <a:solidFill>
                  <a:srgbClr val="262626"/>
                </a:solidFill>
              </a:defRPr>
            </a:lvl5pPr>
            <a:lvl6pPr algn="l">
              <a:defRPr sz="1800" b="0">
                <a:solidFill>
                  <a:srgbClr val="262626"/>
                </a:solidFill>
              </a:defRPr>
            </a:lvl6pPr>
            <a:lvl7pPr algn="l">
              <a:defRPr sz="1800" b="0">
                <a:solidFill>
                  <a:srgbClr val="262626"/>
                </a:solidFill>
              </a:defRPr>
            </a:lvl7pPr>
            <a:lvl8pPr algn="l">
              <a:defRPr sz="1800" b="0">
                <a:solidFill>
                  <a:srgbClr val="262626"/>
                </a:solidFill>
              </a:defRPr>
            </a:lvl8pPr>
            <a:lvl9pPr algn="l">
              <a:defRPr sz="1800" b="0">
                <a:solidFill>
                  <a:srgbClr val="262626"/>
                </a:solidFill>
              </a:defRPr>
            </a:lvl9pPr>
          </a:lstStyle>
          <a:p>
            <a:pPr algn="l">
              <a:lnSpc>
                <a:spcPct val="100000"/>
              </a:lnSpc>
              <a:spcBef>
                <a:spcPts val="0"/>
              </a:spcBef>
              <a:spcAft>
                <a:spcPts val="0"/>
              </a:spcAft>
              <a:buNone/>
            </a:pPr>
            <a:r>
              <a:rPr lang="en-US" b="0" dirty="0">
                <a:solidFill>
                  <a:srgbClr val="262626"/>
                </a:solidFill>
                <a:latin typeface="Arial"/>
              </a:rPr>
              <a:t>Unclear goals and weak constraints</a:t>
            </a:r>
          </a:p>
        </p:txBody>
      </p:sp>
      <p:sp>
        <p:nvSpPr>
          <p:cNvPr id="25" name="Humans catch detail 1">
            <a:extLst>
              <a:ext uri="{FF2B5EF4-FFF2-40B4-BE49-F238E27FC236}">
                <a16:creationId xmlns:a16="http://schemas.microsoft.com/office/drawing/2014/main" id="{E9E3EED3-20F9-60C8-30C0-8CEA1D2BE3E0}"/>
              </a:ext>
            </a:extLst>
          </p:cNvPr>
          <p:cNvSpPr>
            <a:spLocks noGrp="1"/>
          </p:cNvSpPr>
          <p:nvPr/>
        </p:nvSpPr>
        <p:spPr>
          <a:xfrm>
            <a:off x="7143750" y="2799607"/>
            <a:ext cx="4727448" cy="347472"/>
          </a:xfrm>
          <a:prstGeom prst="rect">
            <a:avLst/>
          </a:prstGeom>
          <a:noFill/>
          <a:ln w="0">
            <a:noFill/>
          </a:ln>
        </p:spPr>
        <p:txBody>
          <a:bodyPr wrap="square" lIns="0" tIns="0" rIns="0" bIns="0" anchor="t">
            <a:noAutofit/>
          </a:bodyPr>
          <a:lstStyle>
            <a:defPPr algn="l">
              <a:defRPr sz="1800" b="0">
                <a:solidFill>
                  <a:srgbClr val="262626"/>
                </a:solidFill>
              </a:defRPr>
            </a:defPPr>
            <a:lvl1pPr algn="l">
              <a:defRPr sz="1800" b="0">
                <a:solidFill>
                  <a:srgbClr val="262626"/>
                </a:solidFill>
              </a:defRPr>
            </a:lvl1pPr>
            <a:lvl2pPr algn="l">
              <a:defRPr sz="1800" b="0">
                <a:solidFill>
                  <a:srgbClr val="262626"/>
                </a:solidFill>
              </a:defRPr>
            </a:lvl2pPr>
            <a:lvl3pPr algn="l">
              <a:defRPr sz="1800" b="0">
                <a:solidFill>
                  <a:srgbClr val="262626"/>
                </a:solidFill>
              </a:defRPr>
            </a:lvl3pPr>
            <a:lvl4pPr algn="l">
              <a:defRPr sz="1800" b="0">
                <a:solidFill>
                  <a:srgbClr val="262626"/>
                </a:solidFill>
              </a:defRPr>
            </a:lvl4pPr>
            <a:lvl5pPr algn="l">
              <a:defRPr sz="1800" b="0">
                <a:solidFill>
                  <a:srgbClr val="262626"/>
                </a:solidFill>
              </a:defRPr>
            </a:lvl5pPr>
            <a:lvl6pPr algn="l">
              <a:defRPr sz="1800" b="0">
                <a:solidFill>
                  <a:srgbClr val="262626"/>
                </a:solidFill>
              </a:defRPr>
            </a:lvl6pPr>
            <a:lvl7pPr algn="l">
              <a:defRPr sz="1800" b="0">
                <a:solidFill>
                  <a:srgbClr val="262626"/>
                </a:solidFill>
              </a:defRPr>
            </a:lvl7pPr>
            <a:lvl8pPr algn="l">
              <a:defRPr sz="1800" b="0">
                <a:solidFill>
                  <a:srgbClr val="262626"/>
                </a:solidFill>
              </a:defRPr>
            </a:lvl8pPr>
            <a:lvl9pPr algn="l">
              <a:defRPr sz="1800" b="0">
                <a:solidFill>
                  <a:srgbClr val="262626"/>
                </a:solidFill>
              </a:defRPr>
            </a:lvl9pPr>
          </a:lstStyle>
          <a:p>
            <a:pPr algn="l">
              <a:lnSpc>
                <a:spcPct val="100000"/>
              </a:lnSpc>
              <a:spcBef>
                <a:spcPts val="0"/>
              </a:spcBef>
              <a:spcAft>
                <a:spcPts val="0"/>
              </a:spcAft>
              <a:buNone/>
            </a:pPr>
            <a:r>
              <a:rPr lang="en-US" sz="1700" b="0" dirty="0">
                <a:solidFill>
                  <a:srgbClr val="262626"/>
                </a:solidFill>
                <a:latin typeface="Arial"/>
              </a:rPr>
              <a:t>Missing domain rules or unsafe tradeoffs</a:t>
            </a:r>
          </a:p>
        </p:txBody>
      </p:sp>
      <p:sp>
        <p:nvSpPr>
          <p:cNvPr id="26" name="Humans catch detail 2">
            <a:extLst>
              <a:ext uri="{FF2B5EF4-FFF2-40B4-BE49-F238E27FC236}">
                <a16:creationId xmlns:a16="http://schemas.microsoft.com/office/drawing/2014/main" id="{28932A43-6034-F725-F4CA-DC5466D09721}"/>
              </a:ext>
            </a:extLst>
          </p:cNvPr>
          <p:cNvSpPr>
            <a:spLocks noGrp="1"/>
          </p:cNvSpPr>
          <p:nvPr/>
        </p:nvSpPr>
        <p:spPr>
          <a:xfrm>
            <a:off x="7143750" y="3238519"/>
            <a:ext cx="4727448" cy="320040"/>
          </a:xfrm>
          <a:prstGeom prst="rect">
            <a:avLst/>
          </a:prstGeom>
          <a:noFill/>
          <a:ln w="0">
            <a:noFill/>
          </a:ln>
        </p:spPr>
        <p:txBody>
          <a:bodyPr wrap="square" lIns="0" tIns="0" rIns="0" bIns="0" anchor="t">
            <a:noAutofit/>
          </a:bodyPr>
          <a:lstStyle>
            <a:defPPr algn="l">
              <a:defRPr sz="1800" b="0">
                <a:solidFill>
                  <a:srgbClr val="262626"/>
                </a:solidFill>
              </a:defRPr>
            </a:defPPr>
            <a:lvl1pPr algn="l">
              <a:defRPr sz="1800" b="0">
                <a:solidFill>
                  <a:srgbClr val="262626"/>
                </a:solidFill>
              </a:defRPr>
            </a:lvl1pPr>
            <a:lvl2pPr algn="l">
              <a:defRPr sz="1800" b="0">
                <a:solidFill>
                  <a:srgbClr val="262626"/>
                </a:solidFill>
              </a:defRPr>
            </a:lvl2pPr>
            <a:lvl3pPr algn="l">
              <a:defRPr sz="1800" b="0">
                <a:solidFill>
                  <a:srgbClr val="262626"/>
                </a:solidFill>
              </a:defRPr>
            </a:lvl3pPr>
            <a:lvl4pPr algn="l">
              <a:defRPr sz="1800" b="0">
                <a:solidFill>
                  <a:srgbClr val="262626"/>
                </a:solidFill>
              </a:defRPr>
            </a:lvl4pPr>
            <a:lvl5pPr algn="l">
              <a:defRPr sz="1800" b="0">
                <a:solidFill>
                  <a:srgbClr val="262626"/>
                </a:solidFill>
              </a:defRPr>
            </a:lvl5pPr>
            <a:lvl6pPr algn="l">
              <a:defRPr sz="1800" b="0">
                <a:solidFill>
                  <a:srgbClr val="262626"/>
                </a:solidFill>
              </a:defRPr>
            </a:lvl6pPr>
            <a:lvl7pPr algn="l">
              <a:defRPr sz="1800" b="0">
                <a:solidFill>
                  <a:srgbClr val="262626"/>
                </a:solidFill>
              </a:defRPr>
            </a:lvl7pPr>
            <a:lvl8pPr algn="l">
              <a:defRPr sz="1800" b="0">
                <a:solidFill>
                  <a:srgbClr val="262626"/>
                </a:solidFill>
              </a:defRPr>
            </a:lvl8pPr>
            <a:lvl9pPr algn="l">
              <a:defRPr sz="1800" b="0">
                <a:solidFill>
                  <a:srgbClr val="262626"/>
                </a:solidFill>
              </a:defRPr>
            </a:lvl9pPr>
          </a:lstStyle>
          <a:p>
            <a:pPr algn="l">
              <a:lnSpc>
                <a:spcPct val="100000"/>
              </a:lnSpc>
              <a:spcBef>
                <a:spcPts val="0"/>
              </a:spcBef>
              <a:spcAft>
                <a:spcPts val="0"/>
              </a:spcAft>
              <a:buNone/>
            </a:pPr>
            <a:r>
              <a:rPr lang="en-US" sz="1700" b="0" dirty="0">
                <a:solidFill>
                  <a:srgbClr val="262626"/>
                </a:solidFill>
                <a:latin typeface="Arial"/>
              </a:rPr>
              <a:t>Gaps in tests and approval gates</a:t>
            </a:r>
          </a:p>
        </p:txBody>
      </p:sp>
      <p:sp>
        <p:nvSpPr>
          <p:cNvPr id="27" name="AI introduces detail 1">
            <a:extLst>
              <a:ext uri="{FF2B5EF4-FFF2-40B4-BE49-F238E27FC236}">
                <a16:creationId xmlns:a16="http://schemas.microsoft.com/office/drawing/2014/main" id="{EF4879E6-62DB-A1D6-4025-051DCAE5AF22}"/>
              </a:ext>
            </a:extLst>
          </p:cNvPr>
          <p:cNvSpPr>
            <a:spLocks noGrp="1"/>
          </p:cNvSpPr>
          <p:nvPr/>
        </p:nvSpPr>
        <p:spPr>
          <a:xfrm>
            <a:off x="2611005" y="4167194"/>
            <a:ext cx="4727448" cy="320040"/>
          </a:xfrm>
          <a:prstGeom prst="rect">
            <a:avLst/>
          </a:prstGeom>
          <a:noFill/>
          <a:ln w="0">
            <a:noFill/>
          </a:ln>
        </p:spPr>
        <p:txBody>
          <a:bodyPr wrap="square" lIns="0" tIns="0" rIns="0" bIns="0" anchor="t">
            <a:noAutofit/>
          </a:bodyPr>
          <a:lstStyle>
            <a:defPPr algn="l">
              <a:defRPr sz="1800" b="0">
                <a:solidFill>
                  <a:srgbClr val="262626"/>
                </a:solidFill>
              </a:defRPr>
            </a:defPPr>
            <a:lvl1pPr algn="l">
              <a:defRPr sz="1800" b="0">
                <a:solidFill>
                  <a:srgbClr val="262626"/>
                </a:solidFill>
              </a:defRPr>
            </a:lvl1pPr>
            <a:lvl2pPr algn="l">
              <a:defRPr sz="1800" b="0">
                <a:solidFill>
                  <a:srgbClr val="262626"/>
                </a:solidFill>
              </a:defRPr>
            </a:lvl2pPr>
            <a:lvl3pPr algn="l">
              <a:defRPr sz="1800" b="0">
                <a:solidFill>
                  <a:srgbClr val="262626"/>
                </a:solidFill>
              </a:defRPr>
            </a:lvl3pPr>
            <a:lvl4pPr algn="l">
              <a:defRPr sz="1800" b="0">
                <a:solidFill>
                  <a:srgbClr val="262626"/>
                </a:solidFill>
              </a:defRPr>
            </a:lvl4pPr>
            <a:lvl5pPr algn="l">
              <a:defRPr sz="1800" b="0">
                <a:solidFill>
                  <a:srgbClr val="262626"/>
                </a:solidFill>
              </a:defRPr>
            </a:lvl5pPr>
            <a:lvl6pPr algn="l">
              <a:defRPr sz="1800" b="0">
                <a:solidFill>
                  <a:srgbClr val="262626"/>
                </a:solidFill>
              </a:defRPr>
            </a:lvl6pPr>
            <a:lvl7pPr algn="l">
              <a:defRPr sz="1800" b="0">
                <a:solidFill>
                  <a:srgbClr val="262626"/>
                </a:solidFill>
              </a:defRPr>
            </a:lvl7pPr>
            <a:lvl8pPr algn="l">
              <a:defRPr sz="1800" b="0">
                <a:solidFill>
                  <a:srgbClr val="262626"/>
                </a:solidFill>
              </a:defRPr>
            </a:lvl8pPr>
            <a:lvl9pPr algn="l">
              <a:defRPr sz="1800" b="0">
                <a:solidFill>
                  <a:srgbClr val="262626"/>
                </a:solidFill>
              </a:defRPr>
            </a:lvl9pPr>
          </a:lstStyle>
          <a:p>
            <a:pPr algn="l">
              <a:lnSpc>
                <a:spcPct val="100000"/>
              </a:lnSpc>
              <a:spcBef>
                <a:spcPts val="0"/>
              </a:spcBef>
              <a:spcAft>
                <a:spcPts val="0"/>
              </a:spcAft>
              <a:buNone/>
            </a:pPr>
            <a:r>
              <a:rPr lang="en-US" sz="2000" b="0" dirty="0">
                <a:solidFill>
                  <a:srgbClr val="262626"/>
                </a:solidFill>
                <a:latin typeface="Arial"/>
              </a:rPr>
              <a:t>Logic flaws or insecure defaults</a:t>
            </a:r>
          </a:p>
        </p:txBody>
      </p:sp>
      <p:sp>
        <p:nvSpPr>
          <p:cNvPr id="28" name="AI introduces detail 2">
            <a:extLst>
              <a:ext uri="{FF2B5EF4-FFF2-40B4-BE49-F238E27FC236}">
                <a16:creationId xmlns:a16="http://schemas.microsoft.com/office/drawing/2014/main" id="{1995ABA8-9494-E177-C6F6-BEA83D2FA943}"/>
              </a:ext>
            </a:extLst>
          </p:cNvPr>
          <p:cNvSpPr>
            <a:spLocks noGrp="1"/>
          </p:cNvSpPr>
          <p:nvPr/>
        </p:nvSpPr>
        <p:spPr>
          <a:xfrm>
            <a:off x="2611005" y="4606106"/>
            <a:ext cx="4727448" cy="320040"/>
          </a:xfrm>
          <a:prstGeom prst="rect">
            <a:avLst/>
          </a:prstGeom>
          <a:noFill/>
          <a:ln w="0">
            <a:noFill/>
          </a:ln>
        </p:spPr>
        <p:txBody>
          <a:bodyPr wrap="square" lIns="0" tIns="0" rIns="0" bIns="0" anchor="t">
            <a:noAutofit/>
          </a:bodyPr>
          <a:lstStyle>
            <a:defPPr algn="l">
              <a:defRPr sz="1800" b="0">
                <a:solidFill>
                  <a:srgbClr val="262626"/>
                </a:solidFill>
              </a:defRPr>
            </a:defPPr>
            <a:lvl1pPr algn="l">
              <a:defRPr sz="1800" b="0">
                <a:solidFill>
                  <a:srgbClr val="262626"/>
                </a:solidFill>
              </a:defRPr>
            </a:lvl1pPr>
            <a:lvl2pPr algn="l">
              <a:defRPr sz="1800" b="0">
                <a:solidFill>
                  <a:srgbClr val="262626"/>
                </a:solidFill>
              </a:defRPr>
            </a:lvl2pPr>
            <a:lvl3pPr algn="l">
              <a:defRPr sz="1800" b="0">
                <a:solidFill>
                  <a:srgbClr val="262626"/>
                </a:solidFill>
              </a:defRPr>
            </a:lvl3pPr>
            <a:lvl4pPr algn="l">
              <a:defRPr sz="1800" b="0">
                <a:solidFill>
                  <a:srgbClr val="262626"/>
                </a:solidFill>
              </a:defRPr>
            </a:lvl4pPr>
            <a:lvl5pPr algn="l">
              <a:defRPr sz="1800" b="0">
                <a:solidFill>
                  <a:srgbClr val="262626"/>
                </a:solidFill>
              </a:defRPr>
            </a:lvl5pPr>
            <a:lvl6pPr algn="l">
              <a:defRPr sz="1800" b="0">
                <a:solidFill>
                  <a:srgbClr val="262626"/>
                </a:solidFill>
              </a:defRPr>
            </a:lvl6pPr>
            <a:lvl7pPr algn="l">
              <a:defRPr sz="1800" b="0">
                <a:solidFill>
                  <a:srgbClr val="262626"/>
                </a:solidFill>
              </a:defRPr>
            </a:lvl7pPr>
            <a:lvl8pPr algn="l">
              <a:defRPr sz="1800" b="0">
                <a:solidFill>
                  <a:srgbClr val="262626"/>
                </a:solidFill>
              </a:defRPr>
            </a:lvl8pPr>
            <a:lvl9pPr algn="l">
              <a:defRPr sz="1800" b="0">
                <a:solidFill>
                  <a:srgbClr val="262626"/>
                </a:solidFill>
              </a:defRPr>
            </a:lvl9pPr>
          </a:lstStyle>
          <a:p>
            <a:pPr algn="l">
              <a:lnSpc>
                <a:spcPct val="100000"/>
              </a:lnSpc>
              <a:spcBef>
                <a:spcPts val="0"/>
              </a:spcBef>
              <a:spcAft>
                <a:spcPts val="0"/>
              </a:spcAft>
              <a:buNone/>
            </a:pPr>
            <a:r>
              <a:rPr lang="en-US" sz="2000" b="0" dirty="0">
                <a:solidFill>
                  <a:srgbClr val="262626"/>
                </a:solidFill>
                <a:latin typeface="Arial"/>
              </a:rPr>
              <a:t>Fixes that pass incomplete tests</a:t>
            </a:r>
          </a:p>
        </p:txBody>
      </p:sp>
      <p:sp>
        <p:nvSpPr>
          <p:cNvPr id="30" name="AI + tools catch detail 1">
            <a:extLst>
              <a:ext uri="{FF2B5EF4-FFF2-40B4-BE49-F238E27FC236}">
                <a16:creationId xmlns:a16="http://schemas.microsoft.com/office/drawing/2014/main" id="{D2532D33-35CE-19D5-E9A3-F887BE8C84A8}"/>
              </a:ext>
            </a:extLst>
          </p:cNvPr>
          <p:cNvSpPr>
            <a:spLocks noGrp="1"/>
          </p:cNvSpPr>
          <p:nvPr/>
        </p:nvSpPr>
        <p:spPr>
          <a:xfrm>
            <a:off x="7143750" y="4199741"/>
            <a:ext cx="4727448" cy="320040"/>
          </a:xfrm>
          <a:prstGeom prst="rect">
            <a:avLst/>
          </a:prstGeom>
          <a:noFill/>
          <a:ln w="0">
            <a:noFill/>
          </a:ln>
        </p:spPr>
        <p:txBody>
          <a:bodyPr wrap="square" lIns="0" tIns="0" rIns="0" bIns="0" anchor="t">
            <a:noAutofit/>
          </a:bodyPr>
          <a:lstStyle>
            <a:defPPr algn="l">
              <a:defRPr sz="1800" b="0">
                <a:solidFill>
                  <a:srgbClr val="262626"/>
                </a:solidFill>
              </a:defRPr>
            </a:defPPr>
            <a:lvl1pPr algn="l">
              <a:defRPr sz="1800" b="0">
                <a:solidFill>
                  <a:srgbClr val="262626"/>
                </a:solidFill>
              </a:defRPr>
            </a:lvl1pPr>
            <a:lvl2pPr algn="l">
              <a:defRPr sz="1800" b="0">
                <a:solidFill>
                  <a:srgbClr val="262626"/>
                </a:solidFill>
              </a:defRPr>
            </a:lvl2pPr>
            <a:lvl3pPr algn="l">
              <a:defRPr sz="1800" b="0">
                <a:solidFill>
                  <a:srgbClr val="262626"/>
                </a:solidFill>
              </a:defRPr>
            </a:lvl3pPr>
            <a:lvl4pPr algn="l">
              <a:defRPr sz="1800" b="0">
                <a:solidFill>
                  <a:srgbClr val="262626"/>
                </a:solidFill>
              </a:defRPr>
            </a:lvl4pPr>
            <a:lvl5pPr algn="l">
              <a:defRPr sz="1800" b="0">
                <a:solidFill>
                  <a:srgbClr val="262626"/>
                </a:solidFill>
              </a:defRPr>
            </a:lvl5pPr>
            <a:lvl6pPr algn="l">
              <a:defRPr sz="1800" b="0">
                <a:solidFill>
                  <a:srgbClr val="262626"/>
                </a:solidFill>
              </a:defRPr>
            </a:lvl6pPr>
            <a:lvl7pPr algn="l">
              <a:defRPr sz="1800" b="0">
                <a:solidFill>
                  <a:srgbClr val="262626"/>
                </a:solidFill>
              </a:defRPr>
            </a:lvl7pPr>
            <a:lvl8pPr algn="l">
              <a:defRPr sz="1800" b="0">
                <a:solidFill>
                  <a:srgbClr val="262626"/>
                </a:solidFill>
              </a:defRPr>
            </a:lvl8pPr>
            <a:lvl9pPr algn="l">
              <a:defRPr sz="1800" b="0">
                <a:solidFill>
                  <a:srgbClr val="262626"/>
                </a:solidFill>
              </a:defRPr>
            </a:lvl9pPr>
          </a:lstStyle>
          <a:p>
            <a:pPr algn="l">
              <a:lnSpc>
                <a:spcPct val="100000"/>
              </a:lnSpc>
              <a:spcBef>
                <a:spcPts val="0"/>
              </a:spcBef>
              <a:spcAft>
                <a:spcPts val="0"/>
              </a:spcAft>
              <a:buNone/>
            </a:pPr>
            <a:r>
              <a:rPr lang="en-US" sz="1700" b="0" dirty="0">
                <a:solidFill>
                  <a:srgbClr val="262626"/>
                </a:solidFill>
                <a:latin typeface="Arial"/>
              </a:rPr>
              <a:t>Code flaws and regressions</a:t>
            </a:r>
          </a:p>
        </p:txBody>
      </p:sp>
      <p:sp>
        <p:nvSpPr>
          <p:cNvPr id="31" name="AI + tools catch detail 2">
            <a:extLst>
              <a:ext uri="{FF2B5EF4-FFF2-40B4-BE49-F238E27FC236}">
                <a16:creationId xmlns:a16="http://schemas.microsoft.com/office/drawing/2014/main" id="{4ADC7842-968B-BC60-A69E-3DF469748906}"/>
              </a:ext>
            </a:extLst>
          </p:cNvPr>
          <p:cNvSpPr>
            <a:spLocks noGrp="1"/>
          </p:cNvSpPr>
          <p:nvPr/>
        </p:nvSpPr>
        <p:spPr>
          <a:xfrm>
            <a:off x="7143750" y="4638653"/>
            <a:ext cx="4727448" cy="320040"/>
          </a:xfrm>
          <a:prstGeom prst="rect">
            <a:avLst/>
          </a:prstGeom>
          <a:noFill/>
          <a:ln w="0">
            <a:noFill/>
          </a:ln>
        </p:spPr>
        <p:txBody>
          <a:bodyPr wrap="square" lIns="0" tIns="0" rIns="0" bIns="0" anchor="t">
            <a:noAutofit/>
          </a:bodyPr>
          <a:lstStyle>
            <a:defPPr algn="l">
              <a:defRPr sz="1800" b="0">
                <a:solidFill>
                  <a:srgbClr val="262626"/>
                </a:solidFill>
              </a:defRPr>
            </a:defPPr>
            <a:lvl1pPr algn="l">
              <a:defRPr sz="1800" b="0">
                <a:solidFill>
                  <a:srgbClr val="262626"/>
                </a:solidFill>
              </a:defRPr>
            </a:lvl1pPr>
            <a:lvl2pPr algn="l">
              <a:defRPr sz="1800" b="0">
                <a:solidFill>
                  <a:srgbClr val="262626"/>
                </a:solidFill>
              </a:defRPr>
            </a:lvl2pPr>
            <a:lvl3pPr algn="l">
              <a:defRPr sz="1800" b="0">
                <a:solidFill>
                  <a:srgbClr val="262626"/>
                </a:solidFill>
              </a:defRPr>
            </a:lvl3pPr>
            <a:lvl4pPr algn="l">
              <a:defRPr sz="1800" b="0">
                <a:solidFill>
                  <a:srgbClr val="262626"/>
                </a:solidFill>
              </a:defRPr>
            </a:lvl4pPr>
            <a:lvl5pPr algn="l">
              <a:defRPr sz="1800" b="0">
                <a:solidFill>
                  <a:srgbClr val="262626"/>
                </a:solidFill>
              </a:defRPr>
            </a:lvl5pPr>
            <a:lvl6pPr algn="l">
              <a:defRPr sz="1800" b="0">
                <a:solidFill>
                  <a:srgbClr val="262626"/>
                </a:solidFill>
              </a:defRPr>
            </a:lvl6pPr>
            <a:lvl7pPr algn="l">
              <a:defRPr sz="1800" b="0">
                <a:solidFill>
                  <a:srgbClr val="262626"/>
                </a:solidFill>
              </a:defRPr>
            </a:lvl7pPr>
            <a:lvl8pPr algn="l">
              <a:defRPr sz="1800" b="0">
                <a:solidFill>
                  <a:srgbClr val="262626"/>
                </a:solidFill>
              </a:defRPr>
            </a:lvl8pPr>
            <a:lvl9pPr algn="l">
              <a:defRPr sz="1800" b="0">
                <a:solidFill>
                  <a:srgbClr val="262626"/>
                </a:solidFill>
              </a:defRPr>
            </a:lvl9pPr>
          </a:lstStyle>
          <a:p>
            <a:pPr algn="l">
              <a:lnSpc>
                <a:spcPct val="100000"/>
              </a:lnSpc>
              <a:spcBef>
                <a:spcPts val="0"/>
              </a:spcBef>
              <a:spcAft>
                <a:spcPts val="0"/>
              </a:spcAft>
              <a:buNone/>
            </a:pPr>
            <a:r>
              <a:rPr lang="en-US" sz="1700" b="0">
                <a:solidFill>
                  <a:srgbClr val="262626"/>
                </a:solidFill>
                <a:latin typeface="Arial"/>
              </a:rPr>
              <a:t>Vulnerabilities with sufficient context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6">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4" name="Text 0"/>
          <p:cNvSpPr>
            <a:spLocks noGrp="1"/>
          </p:cNvSpPr>
          <p:nvPr>
            <p:ph type="title"/>
          </p:nvPr>
        </p:nvSpPr>
        <p:spPr>
          <a:xfrm>
            <a:off x="812902" y="812902"/>
            <a:ext cx="8321040" cy="512064"/>
          </a:xfrm>
          <a:prstGeom prst="rect">
            <a:avLst/>
          </a:prstGeom>
          <a:noFill/>
          <a:ln/>
        </p:spPr>
        <p:txBody>
          <a:bodyPr wrap="square" lIns="0" tIns="0" rIns="0" bIns="0" rtlCol="0" anchor="t">
            <a:noAutofit/>
          </a:bodyPr>
          <a:lstStyle/>
          <a:p>
            <a:pPr marL="0" indent="0" algn="l">
              <a:lnSpc>
                <a:spcPts val="3600"/>
              </a:lnSpc>
              <a:spcBef>
                <a:spcPts val="0"/>
              </a:spcBef>
              <a:buNone/>
            </a:pPr>
            <a:r>
              <a:rPr lang="en-US" sz="3000" b="1" dirty="0">
                <a:solidFill>
                  <a:srgbClr val="4C8835"/>
                </a:solidFill>
                <a:latin typeface="Arial" pitchFamily="34" charset="0"/>
                <a:ea typeface="Arial" pitchFamily="34" charset="-122"/>
                <a:cs typeface="Arial" pitchFamily="34" charset="-120"/>
              </a:rPr>
              <a:t>Context adds the missing relationship</a:t>
            </a:r>
            <a:endParaRPr lang="en-US" sz="3000"/>
          </a:p>
        </p:txBody>
      </p:sp>
      <p:sp>
        <p:nvSpPr>
          <p:cNvPr id="27" name="Text 19"/>
          <p:cNvSpPr/>
          <p:nvPr/>
        </p:nvSpPr>
        <p:spPr>
          <a:xfrm>
            <a:off x="7532370" y="6238280"/>
            <a:ext cx="300863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A92"/>
                </a:solidFill>
                <a:latin typeface="Arial" pitchFamily="34" charset="0"/>
                <a:ea typeface="Arial" pitchFamily="34" charset="-122"/>
                <a:cs typeface="Arial" pitchFamily="34" charset="-120"/>
              </a:rPr>
              <a:t>ISC2.org/Congress | #ISC2Congress</a:t>
            </a:r>
            <a:endParaRPr lang="en-US" sz="1200" dirty="0"/>
          </a:p>
        </p:txBody>
      </p:sp>
      <p:sp>
        <p:nvSpPr>
          <p:cNvPr id="80" name="Experiment scope"/>
          <p:cNvSpPr txBox="1"/>
          <p:nvPr/>
        </p:nvSpPr>
        <p:spPr>
          <a:xfrm>
            <a:off x="812902" y="1353312"/>
            <a:ext cx="10561320" cy="384048"/>
          </a:xfrm>
          <a:prstGeom prst="rect">
            <a:avLst/>
          </a:prstGeom>
          <a:noFill/>
          <a:ln>
            <a:noFill/>
          </a:ln>
        </p:spPr>
        <p:txBody>
          <a:bodyPr wrap="square" lIns="0" tIns="0" rIns="0" bIns="0" anchor="t">
            <a:noAutofit/>
          </a:bodyPr>
          <a:lstStyle/>
          <a:p>
            <a:pPr marL="0" indent="0" algn="l">
              <a:lnSpc>
                <a:spcPts val="2125"/>
              </a:lnSpc>
              <a:spcBef>
                <a:spcPts val="0"/>
              </a:spcBef>
              <a:buNone/>
            </a:pPr>
            <a:r>
              <a:rPr lang="en-US" sz="1700" b="0" dirty="0">
                <a:solidFill>
                  <a:srgbClr val="33333A"/>
                </a:solidFill>
                <a:latin typeface="Arial" pitchFamily="34" charset="0"/>
                <a:ea typeface="Arial" pitchFamily="34" charset="-122"/>
                <a:cs typeface="Arial" pitchFamily="34" charset="-120"/>
              </a:rPr>
              <a:t>Same 24-case study. These are the four cases Sonnet 5 did not fully catch.</a:t>
            </a:r>
            <a:endParaRPr lang="en-US" sz="1700"/>
          </a:p>
        </p:txBody>
      </p:sp>
      <p:graphicFrame>
        <p:nvGraphicFramePr>
          <p:cNvPr id="81" name="Editable case evidence"/>
          <p:cNvGraphicFramePr/>
          <p:nvPr/>
        </p:nvGraphicFramePr>
        <p:xfrm>
          <a:off x="812902" y="1874520"/>
          <a:ext cx="10561320" cy="3108960"/>
        </p:xfrm>
        <a:graphic>
          <a:graphicData uri="http://schemas.openxmlformats.org/drawingml/2006/table">
            <a:tbl>
              <a:tblPr firstRow="1"/>
              <a:tblGrid>
                <a:gridCol w="2743200">
                  <a:extLst>
                    <a:ext uri="{9D8B030D-6E8A-4147-A177-3AD203B41FA5}">
                      <a16:colId xmlns:a16="http://schemas.microsoft.com/office/drawing/2014/main" val="20000"/>
                    </a:ext>
                  </a:extLst>
                </a:gridCol>
                <a:gridCol w="5623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621792">
                <a:tc>
                  <a:txBody>
                    <a:bodyPr/>
                    <a:lstStyle/>
                    <a:p>
                      <a:pPr marL="0" indent="0" algn="l">
                        <a:lnSpc>
                          <a:spcPts val="2000"/>
                        </a:lnSpc>
                        <a:spcBef>
                          <a:spcPts val="0"/>
                        </a:spcBef>
                        <a:buNone/>
                      </a:pPr>
                      <a:r>
                        <a:rPr lang="en-US" sz="1400" b="1" dirty="0">
                          <a:solidFill>
                            <a:srgbClr val="FFFFFF"/>
                          </a:solidFill>
                          <a:latin typeface="Arial" pitchFamily="34" charset="0"/>
                          <a:ea typeface="Arial" pitchFamily="34" charset="-122"/>
                          <a:cs typeface="Arial" pitchFamily="34" charset="-120"/>
                        </a:rPr>
                        <a:t>Original case</a:t>
                      </a:r>
                      <a:endParaRPr lang="en-US" sz="1400"/>
                    </a:p>
                  </a:txBody>
                  <a:tcPr marL="164592" marR="164592" anchor="ctr">
                    <a:lnL w="6350">
                      <a:solidFill>
                        <a:srgbClr val="E0E3DD"/>
                      </a:solidFill>
                    </a:lnL>
                    <a:lnR w="6350">
                      <a:solidFill>
                        <a:srgbClr val="E0E3DD"/>
                      </a:solidFill>
                    </a:lnR>
                    <a:lnT w="6350">
                      <a:solidFill>
                        <a:srgbClr val="E0E3DD"/>
                      </a:solidFill>
                    </a:lnT>
                    <a:lnB w="6350">
                      <a:solidFill>
                        <a:srgbClr val="E0E3DD"/>
                      </a:solidFill>
                    </a:lnB>
                    <a:solidFill>
                      <a:srgbClr val="0086B6"/>
                    </a:solidFill>
                  </a:tcPr>
                </a:tc>
                <a:tc>
                  <a:txBody>
                    <a:bodyPr/>
                    <a:lstStyle/>
                    <a:p>
                      <a:pPr marL="0" indent="0" algn="l">
                        <a:lnSpc>
                          <a:spcPts val="2000"/>
                        </a:lnSpc>
                        <a:spcBef>
                          <a:spcPts val="0"/>
                        </a:spcBef>
                        <a:buNone/>
                      </a:pPr>
                      <a:r>
                        <a:rPr lang="en-US" sz="1400" b="1" dirty="0">
                          <a:solidFill>
                            <a:srgbClr val="FFFFFF"/>
                          </a:solidFill>
                          <a:latin typeface="Arial" pitchFamily="34" charset="0"/>
                          <a:ea typeface="Arial" pitchFamily="34" charset="-122"/>
                          <a:cs typeface="Arial" pitchFamily="34" charset="-120"/>
                        </a:rPr>
                        <a:t>Relationship outside the diff</a:t>
                      </a:r>
                      <a:endParaRPr lang="en-US" sz="1400"/>
                    </a:p>
                  </a:txBody>
                  <a:tcPr marL="164592" marR="164592" anchor="ctr">
                    <a:lnL w="6350">
                      <a:solidFill>
                        <a:srgbClr val="E0E3DD"/>
                      </a:solidFill>
                    </a:lnL>
                    <a:lnR w="6350">
                      <a:solidFill>
                        <a:srgbClr val="E0E3DD"/>
                      </a:solidFill>
                    </a:lnR>
                    <a:lnT w="6350">
                      <a:solidFill>
                        <a:srgbClr val="E0E3DD"/>
                      </a:solidFill>
                    </a:lnT>
                    <a:lnB w="6350">
                      <a:solidFill>
                        <a:srgbClr val="E0E3DD"/>
                      </a:solidFill>
                    </a:lnB>
                    <a:solidFill>
                      <a:srgbClr val="0086B6"/>
                    </a:solidFill>
                  </a:tcPr>
                </a:tc>
                <a:tc>
                  <a:txBody>
                    <a:bodyPr/>
                    <a:lstStyle/>
                    <a:p>
                      <a:pPr marL="0" indent="0" algn="l">
                        <a:lnSpc>
                          <a:spcPts val="2000"/>
                        </a:lnSpc>
                        <a:spcBef>
                          <a:spcPts val="0"/>
                        </a:spcBef>
                        <a:buNone/>
                      </a:pPr>
                      <a:r>
                        <a:rPr lang="en-US" sz="1400" b="1" dirty="0">
                          <a:solidFill>
                            <a:srgbClr val="FFFFFF"/>
                          </a:solidFill>
                          <a:latin typeface="Arial" pitchFamily="34" charset="0"/>
                          <a:ea typeface="Arial" pitchFamily="34" charset="-122"/>
                          <a:cs typeface="Arial" pitchFamily="34" charset="-120"/>
                        </a:rPr>
                        <a:t>Original result</a:t>
                      </a:r>
                      <a:endParaRPr lang="en-US" sz="1400"/>
                    </a:p>
                  </a:txBody>
                  <a:tcPr marL="164592" marR="164592" anchor="ctr">
                    <a:lnL w="6350">
                      <a:solidFill>
                        <a:srgbClr val="E0E3DD"/>
                      </a:solidFill>
                    </a:lnL>
                    <a:lnR w="6350">
                      <a:solidFill>
                        <a:srgbClr val="E0E3DD"/>
                      </a:solidFill>
                    </a:lnR>
                    <a:lnT w="6350">
                      <a:solidFill>
                        <a:srgbClr val="E0E3DD"/>
                      </a:solidFill>
                    </a:lnT>
                    <a:lnB w="6350">
                      <a:solidFill>
                        <a:srgbClr val="E0E3DD"/>
                      </a:solidFill>
                    </a:lnB>
                    <a:solidFill>
                      <a:srgbClr val="0086B6"/>
                    </a:solidFill>
                  </a:tcPr>
                </a:tc>
                <a:extLst>
                  <a:ext uri="{0D108BD9-81ED-4DB2-BD59-A6C34878D82A}">
                    <a16:rowId xmlns:a16="http://schemas.microsoft.com/office/drawing/2014/main" val="10000"/>
                  </a:ext>
                </a:extLst>
              </a:tr>
              <a:tr h="621792">
                <a:tc>
                  <a:txBody>
                    <a:bodyPr/>
                    <a:lstStyle/>
                    <a:p>
                      <a:pPr marL="0" indent="0" algn="l">
                        <a:lnSpc>
                          <a:spcPts val="2000"/>
                        </a:lnSpc>
                        <a:spcBef>
                          <a:spcPts val="0"/>
                        </a:spcBef>
                        <a:buNone/>
                      </a:pPr>
                      <a:r>
                        <a:rPr lang="en-US" sz="1700" b="0" dirty="0">
                          <a:solidFill>
                            <a:srgbClr val="33333A"/>
                          </a:solidFill>
                          <a:latin typeface="Arial" pitchFamily="34" charset="0"/>
                          <a:ea typeface="Arial" pitchFamily="34" charset="-122"/>
                          <a:cs typeface="Arial" pitchFamily="34" charset="-120"/>
                        </a:rPr>
                        <a:t>Stored XSS</a:t>
                      </a:r>
                      <a:endParaRPr lang="en-US" sz="1700"/>
                    </a:p>
                  </a:txBody>
                  <a:tcPr marL="164592" marR="164592" anchor="ctr">
                    <a:lnL w="6350">
                      <a:solidFill>
                        <a:srgbClr val="E0E3DD"/>
                      </a:solidFill>
                    </a:lnL>
                    <a:lnR w="6350">
                      <a:solidFill>
                        <a:srgbClr val="E0E3DD"/>
                      </a:solidFill>
                    </a:lnR>
                    <a:lnT w="6350">
                      <a:solidFill>
                        <a:srgbClr val="E0E3DD"/>
                      </a:solidFill>
                    </a:lnT>
                    <a:lnB w="6350">
                      <a:solidFill>
                        <a:srgbClr val="E0E3DD"/>
                      </a:solidFill>
                    </a:lnB>
                    <a:solidFill>
                      <a:srgbClr val="FFFFFF"/>
                    </a:solidFill>
                  </a:tcPr>
                </a:tc>
                <a:tc>
                  <a:txBody>
                    <a:bodyPr/>
                    <a:lstStyle/>
                    <a:p>
                      <a:pPr marL="0" indent="0" algn="l">
                        <a:lnSpc>
                          <a:spcPts val="2000"/>
                        </a:lnSpc>
                        <a:spcBef>
                          <a:spcPts val="0"/>
                        </a:spcBef>
                        <a:buNone/>
                      </a:pPr>
                      <a:r>
                        <a:rPr lang="en-US" sz="1700" b="0" dirty="0">
                          <a:solidFill>
                            <a:srgbClr val="33333A"/>
                          </a:solidFill>
                          <a:latin typeface="Arial" pitchFamily="34" charset="0"/>
                          <a:ea typeface="Arial" pitchFamily="34" charset="-122"/>
                          <a:cs typeface="Arial" pitchFamily="34" charset="-120"/>
                        </a:rPr>
                        <a:t>Caller maps URL inputs and outputs HTML</a:t>
                      </a:r>
                      <a:endParaRPr lang="en-US" sz="1700"/>
                    </a:p>
                  </a:txBody>
                  <a:tcPr marL="164592" marR="164592" anchor="ctr">
                    <a:lnL w="6350">
                      <a:solidFill>
                        <a:srgbClr val="E0E3DD"/>
                      </a:solidFill>
                    </a:lnL>
                    <a:lnR w="6350">
                      <a:solidFill>
                        <a:srgbClr val="E0E3DD"/>
                      </a:solidFill>
                    </a:lnR>
                    <a:lnT w="6350">
                      <a:solidFill>
                        <a:srgbClr val="E0E3DD"/>
                      </a:solidFill>
                    </a:lnT>
                    <a:lnB w="6350">
                      <a:solidFill>
                        <a:srgbClr val="E0E3DD"/>
                      </a:solidFill>
                    </a:lnB>
                    <a:solidFill>
                      <a:srgbClr val="FFFFFF"/>
                    </a:solidFill>
                  </a:tcPr>
                </a:tc>
                <a:tc>
                  <a:txBody>
                    <a:bodyPr/>
                    <a:lstStyle/>
                    <a:p>
                      <a:pPr marL="0" indent="0" algn="l">
                        <a:lnSpc>
                          <a:spcPts val="2000"/>
                        </a:lnSpc>
                        <a:spcBef>
                          <a:spcPts val="0"/>
                        </a:spcBef>
                        <a:buNone/>
                      </a:pPr>
                      <a:r>
                        <a:rPr lang="en-US" sz="1700" b="1" dirty="0">
                          <a:solidFill>
                            <a:srgbClr val="77777F"/>
                          </a:solidFill>
                          <a:latin typeface="Arial" pitchFamily="34" charset="0"/>
                          <a:ea typeface="Arial" pitchFamily="34" charset="-122"/>
                          <a:cs typeface="Arial" pitchFamily="34" charset="-120"/>
                        </a:rPr>
                        <a:t>Missed</a:t>
                      </a:r>
                      <a:endParaRPr lang="en-US" sz="1700"/>
                    </a:p>
                  </a:txBody>
                  <a:tcPr marL="164592" marR="164592" anchor="ctr">
                    <a:lnL w="6350">
                      <a:solidFill>
                        <a:srgbClr val="E0E3DD"/>
                      </a:solidFill>
                    </a:lnL>
                    <a:lnR w="6350">
                      <a:solidFill>
                        <a:srgbClr val="E0E3DD"/>
                      </a:solidFill>
                    </a:lnR>
                    <a:lnT w="6350">
                      <a:solidFill>
                        <a:srgbClr val="E0E3DD"/>
                      </a:solidFill>
                    </a:lnT>
                    <a:lnB w="6350">
                      <a:solidFill>
                        <a:srgbClr val="E0E3DD"/>
                      </a:solidFill>
                    </a:lnB>
                    <a:solidFill>
                      <a:srgbClr val="FFFFFF"/>
                    </a:solidFill>
                  </a:tcPr>
                </a:tc>
                <a:extLst>
                  <a:ext uri="{0D108BD9-81ED-4DB2-BD59-A6C34878D82A}">
                    <a16:rowId xmlns:a16="http://schemas.microsoft.com/office/drawing/2014/main" val="10001"/>
                  </a:ext>
                </a:extLst>
              </a:tr>
              <a:tr h="621792">
                <a:tc>
                  <a:txBody>
                    <a:bodyPr/>
                    <a:lstStyle/>
                    <a:p>
                      <a:pPr marL="0" indent="0" algn="l">
                        <a:lnSpc>
                          <a:spcPts val="2000"/>
                        </a:lnSpc>
                        <a:spcBef>
                          <a:spcPts val="0"/>
                        </a:spcBef>
                        <a:buNone/>
                      </a:pPr>
                      <a:r>
                        <a:rPr lang="en-US" sz="1700" b="0" dirty="0">
                          <a:solidFill>
                            <a:srgbClr val="33333A"/>
                          </a:solidFill>
                          <a:latin typeface="Arial" pitchFamily="34" charset="0"/>
                          <a:ea typeface="Arial" pitchFamily="34" charset="-122"/>
                          <a:cs typeface="Arial" pitchFamily="34" charset="-120"/>
                        </a:rPr>
                        <a:t>Patient access</a:t>
                      </a:r>
                      <a:endParaRPr lang="en-US" sz="1700"/>
                    </a:p>
                  </a:txBody>
                  <a:tcPr marL="164592" marR="164592" anchor="ctr">
                    <a:lnL w="6350">
                      <a:solidFill>
                        <a:srgbClr val="E0E3DD"/>
                      </a:solidFill>
                    </a:lnL>
                    <a:lnR w="6350">
                      <a:solidFill>
                        <a:srgbClr val="E0E3DD"/>
                      </a:solidFill>
                    </a:lnR>
                    <a:lnT w="6350">
                      <a:solidFill>
                        <a:srgbClr val="E0E3DD"/>
                      </a:solidFill>
                    </a:lnT>
                    <a:lnB w="6350">
                      <a:solidFill>
                        <a:srgbClr val="E0E3DD"/>
                      </a:solidFill>
                    </a:lnB>
                    <a:solidFill>
                      <a:srgbClr val="F5F7F2"/>
                    </a:solidFill>
                  </a:tcPr>
                </a:tc>
                <a:tc>
                  <a:txBody>
                    <a:bodyPr/>
                    <a:lstStyle/>
                    <a:p>
                      <a:pPr marL="0" indent="0" algn="l">
                        <a:lnSpc>
                          <a:spcPts val="2000"/>
                        </a:lnSpc>
                        <a:spcBef>
                          <a:spcPts val="0"/>
                        </a:spcBef>
                        <a:buNone/>
                      </a:pPr>
                      <a:r>
                        <a:rPr lang="en-US" sz="1700" b="0" dirty="0">
                          <a:solidFill>
                            <a:srgbClr val="33333A"/>
                          </a:solidFill>
                          <a:latin typeface="Arial" pitchFamily="34" charset="0"/>
                          <a:ea typeface="Arial" pitchFamily="34" charset="-122"/>
                          <a:cs typeface="Arial" pitchFamily="34" charset="-120"/>
                        </a:rPr>
                        <a:t>Base class decides patient filtering</a:t>
                      </a:r>
                      <a:endParaRPr lang="en-US" sz="1700"/>
                    </a:p>
                  </a:txBody>
                  <a:tcPr marL="164592" marR="164592" anchor="ctr">
                    <a:lnL w="6350">
                      <a:solidFill>
                        <a:srgbClr val="E0E3DD"/>
                      </a:solidFill>
                    </a:lnL>
                    <a:lnR w="6350">
                      <a:solidFill>
                        <a:srgbClr val="E0E3DD"/>
                      </a:solidFill>
                    </a:lnR>
                    <a:lnT w="6350">
                      <a:solidFill>
                        <a:srgbClr val="E0E3DD"/>
                      </a:solidFill>
                    </a:lnT>
                    <a:lnB w="6350">
                      <a:solidFill>
                        <a:srgbClr val="E0E3DD"/>
                      </a:solidFill>
                    </a:lnB>
                    <a:solidFill>
                      <a:srgbClr val="F5F7F2"/>
                    </a:solidFill>
                  </a:tcPr>
                </a:tc>
                <a:tc>
                  <a:txBody>
                    <a:bodyPr/>
                    <a:lstStyle/>
                    <a:p>
                      <a:pPr marL="0" indent="0" algn="l">
                        <a:lnSpc>
                          <a:spcPts val="2000"/>
                        </a:lnSpc>
                        <a:spcBef>
                          <a:spcPts val="0"/>
                        </a:spcBef>
                        <a:buNone/>
                      </a:pPr>
                      <a:r>
                        <a:rPr lang="en-US" sz="1700" b="1" dirty="0">
                          <a:solidFill>
                            <a:srgbClr val="B76521"/>
                          </a:solidFill>
                          <a:latin typeface="Arial" pitchFamily="34" charset="0"/>
                          <a:ea typeface="Arial" pitchFamily="34" charset="-122"/>
                          <a:cs typeface="Arial" pitchFamily="34" charset="-120"/>
                        </a:rPr>
                        <a:t>Partial</a:t>
                      </a:r>
                      <a:endParaRPr lang="en-US" sz="1700"/>
                    </a:p>
                  </a:txBody>
                  <a:tcPr marL="164592" marR="164592" anchor="ctr">
                    <a:lnL w="6350">
                      <a:solidFill>
                        <a:srgbClr val="E0E3DD"/>
                      </a:solidFill>
                    </a:lnL>
                    <a:lnR w="6350">
                      <a:solidFill>
                        <a:srgbClr val="E0E3DD"/>
                      </a:solidFill>
                    </a:lnR>
                    <a:lnT w="6350">
                      <a:solidFill>
                        <a:srgbClr val="E0E3DD"/>
                      </a:solidFill>
                    </a:lnT>
                    <a:lnB w="6350">
                      <a:solidFill>
                        <a:srgbClr val="E0E3DD"/>
                      </a:solidFill>
                    </a:lnB>
                    <a:solidFill>
                      <a:srgbClr val="F5F7F2"/>
                    </a:solidFill>
                  </a:tcPr>
                </a:tc>
                <a:extLst>
                  <a:ext uri="{0D108BD9-81ED-4DB2-BD59-A6C34878D82A}">
                    <a16:rowId xmlns:a16="http://schemas.microsoft.com/office/drawing/2014/main" val="10002"/>
                  </a:ext>
                </a:extLst>
              </a:tr>
              <a:tr h="621792">
                <a:tc>
                  <a:txBody>
                    <a:bodyPr/>
                    <a:lstStyle/>
                    <a:p>
                      <a:pPr marL="0" indent="0" algn="l">
                        <a:lnSpc>
                          <a:spcPts val="2000"/>
                        </a:lnSpc>
                        <a:spcBef>
                          <a:spcPts val="0"/>
                        </a:spcBef>
                        <a:buNone/>
                      </a:pPr>
                      <a:r>
                        <a:rPr lang="en-US" sz="1700" b="0" dirty="0">
                          <a:solidFill>
                            <a:srgbClr val="33333A"/>
                          </a:solidFill>
                          <a:latin typeface="Arial" pitchFamily="34" charset="0"/>
                          <a:ea typeface="Arial" pitchFamily="34" charset="-122"/>
                          <a:cs typeface="Arial" pitchFamily="34" charset="-120"/>
                        </a:rPr>
                        <a:t>Payment secret</a:t>
                      </a:r>
                      <a:endParaRPr lang="en-US" sz="1700"/>
                    </a:p>
                  </a:txBody>
                  <a:tcPr marL="164592" marR="164592" anchor="ctr">
                    <a:lnL w="6350">
                      <a:solidFill>
                        <a:srgbClr val="E0E3DD"/>
                      </a:solidFill>
                    </a:lnL>
                    <a:lnR w="6350">
                      <a:solidFill>
                        <a:srgbClr val="E0E3DD"/>
                      </a:solidFill>
                    </a:lnR>
                    <a:lnT w="6350">
                      <a:solidFill>
                        <a:srgbClr val="E0E3DD"/>
                      </a:solidFill>
                    </a:lnT>
                    <a:lnB w="6350">
                      <a:solidFill>
                        <a:srgbClr val="E0E3DD"/>
                      </a:solidFill>
                    </a:lnB>
                    <a:solidFill>
                      <a:srgbClr val="FFFFFF"/>
                    </a:solidFill>
                  </a:tcPr>
                </a:tc>
                <a:tc>
                  <a:txBody>
                    <a:bodyPr/>
                    <a:lstStyle/>
                    <a:p>
                      <a:pPr marL="0" indent="0" algn="l">
                        <a:lnSpc>
                          <a:spcPts val="2000"/>
                        </a:lnSpc>
                        <a:spcBef>
                          <a:spcPts val="0"/>
                        </a:spcBef>
                        <a:buNone/>
                      </a:pPr>
                      <a:r>
                        <a:rPr lang="en-US" sz="1700" b="0" dirty="0">
                          <a:solidFill>
                            <a:srgbClr val="33333A"/>
                          </a:solidFill>
                          <a:latin typeface="Arial" pitchFamily="34" charset="0"/>
                          <a:ea typeface="Arial" pitchFamily="34" charset="-122"/>
                          <a:cs typeface="Arial" pitchFamily="34" charset="-120"/>
                        </a:rPr>
                        <a:t>Configuration identifies a secret key</a:t>
                      </a:r>
                      <a:endParaRPr lang="en-US" sz="1700"/>
                    </a:p>
                  </a:txBody>
                  <a:tcPr marL="164592" marR="164592" anchor="ctr">
                    <a:lnL w="6350">
                      <a:solidFill>
                        <a:srgbClr val="E0E3DD"/>
                      </a:solidFill>
                    </a:lnL>
                    <a:lnR w="6350">
                      <a:solidFill>
                        <a:srgbClr val="E0E3DD"/>
                      </a:solidFill>
                    </a:lnR>
                    <a:lnT w="6350">
                      <a:solidFill>
                        <a:srgbClr val="E0E3DD"/>
                      </a:solidFill>
                    </a:lnT>
                    <a:lnB w="6350">
                      <a:solidFill>
                        <a:srgbClr val="E0E3DD"/>
                      </a:solidFill>
                    </a:lnB>
                    <a:solidFill>
                      <a:srgbClr val="FFFFFF"/>
                    </a:solidFill>
                  </a:tcPr>
                </a:tc>
                <a:tc>
                  <a:txBody>
                    <a:bodyPr/>
                    <a:lstStyle/>
                    <a:p>
                      <a:pPr marL="0" indent="0" algn="l">
                        <a:lnSpc>
                          <a:spcPts val="2000"/>
                        </a:lnSpc>
                        <a:spcBef>
                          <a:spcPts val="0"/>
                        </a:spcBef>
                        <a:buNone/>
                      </a:pPr>
                      <a:r>
                        <a:rPr lang="en-US" sz="1700" b="1" dirty="0">
                          <a:solidFill>
                            <a:srgbClr val="B76521"/>
                          </a:solidFill>
                          <a:latin typeface="Arial" pitchFamily="34" charset="0"/>
                          <a:ea typeface="Arial" pitchFamily="34" charset="-122"/>
                          <a:cs typeface="Arial" pitchFamily="34" charset="-120"/>
                        </a:rPr>
                        <a:t>Partial</a:t>
                      </a:r>
                      <a:endParaRPr lang="en-US" sz="1700"/>
                    </a:p>
                  </a:txBody>
                  <a:tcPr marL="164592" marR="164592" anchor="ctr">
                    <a:lnL w="6350">
                      <a:solidFill>
                        <a:srgbClr val="E0E3DD"/>
                      </a:solidFill>
                    </a:lnL>
                    <a:lnR w="6350">
                      <a:solidFill>
                        <a:srgbClr val="E0E3DD"/>
                      </a:solidFill>
                    </a:lnR>
                    <a:lnT w="6350">
                      <a:solidFill>
                        <a:srgbClr val="E0E3DD"/>
                      </a:solidFill>
                    </a:lnT>
                    <a:lnB w="6350">
                      <a:solidFill>
                        <a:srgbClr val="E0E3DD"/>
                      </a:solidFill>
                    </a:lnB>
                    <a:solidFill>
                      <a:srgbClr val="FFFFFF"/>
                    </a:solidFill>
                  </a:tcPr>
                </a:tc>
                <a:extLst>
                  <a:ext uri="{0D108BD9-81ED-4DB2-BD59-A6C34878D82A}">
                    <a16:rowId xmlns:a16="http://schemas.microsoft.com/office/drawing/2014/main" val="10003"/>
                  </a:ext>
                </a:extLst>
              </a:tr>
              <a:tr h="621792">
                <a:tc>
                  <a:txBody>
                    <a:bodyPr/>
                    <a:lstStyle/>
                    <a:p>
                      <a:pPr marL="0" indent="0" algn="l">
                        <a:lnSpc>
                          <a:spcPts val="2000"/>
                        </a:lnSpc>
                        <a:spcBef>
                          <a:spcPts val="0"/>
                        </a:spcBef>
                        <a:buNone/>
                      </a:pPr>
                      <a:r>
                        <a:rPr lang="en-US" sz="1700" b="0" dirty="0">
                          <a:solidFill>
                            <a:srgbClr val="33333A"/>
                          </a:solidFill>
                          <a:latin typeface="Arial" pitchFamily="34" charset="0"/>
                          <a:ea typeface="Arial" pitchFamily="34" charset="-122"/>
                          <a:cs typeface="Arial" pitchFamily="34" charset="-120"/>
                        </a:rPr>
                        <a:t>PDF-rendering SSRF</a:t>
                      </a:r>
                      <a:endParaRPr lang="en-US" sz="1700"/>
                    </a:p>
                  </a:txBody>
                  <a:tcPr marL="164592" marR="164592" anchor="ctr">
                    <a:lnL w="6350">
                      <a:solidFill>
                        <a:srgbClr val="E0E3DD"/>
                      </a:solidFill>
                    </a:lnL>
                    <a:lnR w="6350">
                      <a:solidFill>
                        <a:srgbClr val="E0E3DD"/>
                      </a:solidFill>
                    </a:lnR>
                    <a:lnT w="6350">
                      <a:solidFill>
                        <a:srgbClr val="E0E3DD"/>
                      </a:solidFill>
                    </a:lnT>
                    <a:lnB w="6350">
                      <a:solidFill>
                        <a:srgbClr val="E0E3DD"/>
                      </a:solidFill>
                    </a:lnB>
                    <a:solidFill>
                      <a:srgbClr val="F5F7F2"/>
                    </a:solidFill>
                  </a:tcPr>
                </a:tc>
                <a:tc>
                  <a:txBody>
                    <a:bodyPr/>
                    <a:lstStyle/>
                    <a:p>
                      <a:pPr marL="0" indent="0" algn="l">
                        <a:lnSpc>
                          <a:spcPts val="2000"/>
                        </a:lnSpc>
                        <a:spcBef>
                          <a:spcPts val="0"/>
                        </a:spcBef>
                        <a:buNone/>
                      </a:pPr>
                      <a:r>
                        <a:rPr lang="en-US" sz="1700" b="0" dirty="0">
                          <a:solidFill>
                            <a:srgbClr val="33333A"/>
                          </a:solidFill>
                          <a:latin typeface="Arial" pitchFamily="34" charset="0"/>
                          <a:ea typeface="Arial" pitchFamily="34" charset="-122"/>
                          <a:cs typeface="Arial" pitchFamily="34" charset="-120"/>
                        </a:rPr>
                        <a:t>A caller renders the content as a PDF</a:t>
                      </a:r>
                      <a:endParaRPr lang="en-US" sz="1700"/>
                    </a:p>
                  </a:txBody>
                  <a:tcPr marL="164592" marR="164592" anchor="ctr">
                    <a:lnL w="6350">
                      <a:solidFill>
                        <a:srgbClr val="E0E3DD"/>
                      </a:solidFill>
                    </a:lnL>
                    <a:lnR w="6350">
                      <a:solidFill>
                        <a:srgbClr val="E0E3DD"/>
                      </a:solidFill>
                    </a:lnR>
                    <a:lnT w="6350">
                      <a:solidFill>
                        <a:srgbClr val="E0E3DD"/>
                      </a:solidFill>
                    </a:lnT>
                    <a:lnB w="6350">
                      <a:solidFill>
                        <a:srgbClr val="E0E3DD"/>
                      </a:solidFill>
                    </a:lnB>
                    <a:solidFill>
                      <a:srgbClr val="F5F7F2"/>
                    </a:solidFill>
                  </a:tcPr>
                </a:tc>
                <a:tc>
                  <a:txBody>
                    <a:bodyPr/>
                    <a:lstStyle/>
                    <a:p>
                      <a:pPr marL="0" indent="0" algn="l">
                        <a:lnSpc>
                          <a:spcPts val="2000"/>
                        </a:lnSpc>
                        <a:spcBef>
                          <a:spcPts val="0"/>
                        </a:spcBef>
                        <a:buNone/>
                      </a:pPr>
                      <a:r>
                        <a:rPr lang="en-US" sz="1700" b="1" dirty="0">
                          <a:solidFill>
                            <a:srgbClr val="B76521"/>
                          </a:solidFill>
                          <a:latin typeface="Arial" pitchFamily="34" charset="0"/>
                          <a:ea typeface="Arial" pitchFamily="34" charset="-122"/>
                          <a:cs typeface="Arial" pitchFamily="34" charset="-120"/>
                        </a:rPr>
                        <a:t>Partial</a:t>
                      </a:r>
                      <a:endParaRPr lang="en-US" sz="1700"/>
                    </a:p>
                  </a:txBody>
                  <a:tcPr marL="164592" marR="164592" anchor="ctr">
                    <a:lnL w="6350">
                      <a:solidFill>
                        <a:srgbClr val="E0E3DD"/>
                      </a:solidFill>
                    </a:lnL>
                    <a:lnR w="6350">
                      <a:solidFill>
                        <a:srgbClr val="E0E3DD"/>
                      </a:solidFill>
                    </a:lnR>
                    <a:lnT w="6350">
                      <a:solidFill>
                        <a:srgbClr val="E0E3DD"/>
                      </a:solidFill>
                    </a:lnT>
                    <a:lnB w="6350">
                      <a:solidFill>
                        <a:srgbClr val="E0E3DD"/>
                      </a:solidFill>
                    </a:lnB>
                    <a:solidFill>
                      <a:srgbClr val="F5F7F2"/>
                    </a:solidFill>
                  </a:tcPr>
                </a:tc>
                <a:extLst>
                  <a:ext uri="{0D108BD9-81ED-4DB2-BD59-A6C34878D82A}">
                    <a16:rowId xmlns:a16="http://schemas.microsoft.com/office/drawing/2014/main" val="10004"/>
                  </a:ext>
                </a:extLst>
              </a:tr>
            </a:tbl>
          </a:graphicData>
        </a:graphic>
      </p:graphicFrame>
      <p:sp>
        <p:nvSpPr>
          <p:cNvPr id="82" name="Narrative 82"/>
          <p:cNvSpPr txBox="1"/>
          <p:nvPr/>
        </p:nvSpPr>
        <p:spPr>
          <a:xfrm>
            <a:off x="812902" y="5212080"/>
            <a:ext cx="10561320" cy="457200"/>
          </a:xfrm>
          <a:prstGeom prst="rect">
            <a:avLst/>
          </a:prstGeom>
          <a:noFill/>
          <a:ln>
            <a:noFill/>
          </a:ln>
        </p:spPr>
        <p:txBody>
          <a:bodyPr wrap="square" lIns="0" tIns="0" rIns="0" bIns="0" rtlCol="0" anchor="t">
            <a:noAutofit/>
          </a:bodyPr>
          <a:lstStyle/>
          <a:p>
            <a:pPr marL="0" indent="0" algn="l">
              <a:lnSpc>
                <a:spcPts val="2250"/>
              </a:lnSpc>
              <a:spcBef>
                <a:spcPts val="0"/>
              </a:spcBef>
              <a:buNone/>
            </a:pPr>
            <a:r>
              <a:rPr lang="en-US" sz="1800" b="0" dirty="0">
                <a:solidFill>
                  <a:srgbClr val="33333A"/>
                </a:solidFill>
                <a:latin typeface="Arial" pitchFamily="34" charset="0"/>
                <a:ea typeface="Arial" pitchFamily="34" charset="-122"/>
                <a:cs typeface="Arial" pitchFamily="34" charset="-120"/>
              </a:rPr>
              <a:t>A caller, base class or configuration can supply the fact that makes the change unsafe.</a:t>
            </a:r>
            <a:endParaRPr lang="en-US" sz="1800"/>
          </a:p>
        </p:txBody>
      </p:sp>
      <p:sp>
        <p:nvSpPr>
          <p:cNvPr id="199" name="Narrative 199"/>
          <p:cNvSpPr txBox="1"/>
          <p:nvPr/>
        </p:nvSpPr>
        <p:spPr>
          <a:xfrm>
            <a:off x="812902" y="5897880"/>
            <a:ext cx="9738360" cy="338328"/>
          </a:xfrm>
          <a:prstGeom prst="rect">
            <a:avLst/>
          </a:prstGeom>
          <a:noFill/>
          <a:ln>
            <a:noFill/>
          </a:ln>
        </p:spPr>
        <p:txBody>
          <a:bodyPr wrap="square" lIns="0" tIns="0" rIns="0" bIns="0" anchor="t">
            <a:noAutofit/>
          </a:bodyPr>
          <a:lstStyle/>
          <a:p>
            <a:pPr marL="0" indent="0" algn="l">
              <a:lnSpc>
                <a:spcPts val="1500"/>
              </a:lnSpc>
              <a:spcBef>
                <a:spcPts val="0"/>
              </a:spcBef>
              <a:buNone/>
            </a:pPr>
            <a:r>
              <a:rPr lang="en-US" sz="1100" b="0" dirty="0">
                <a:solidFill>
                  <a:srgbClr val="8A8A92"/>
                </a:solidFill>
                <a:latin typeface="Arial" pitchFamily="34" charset="0"/>
                <a:ea typeface="Arial" pitchFamily="34" charset="-122"/>
                <a:cs typeface="Arial" pitchFamily="34" charset="-120"/>
              </a:rPr>
              <a:t>This grouping suggested a context problem. It did not, by itself, establish the cause of the incomplete findings.</a:t>
            </a:r>
            <a:endParaRPr lang="en-US" sz="11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18">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4" name="Text 0"/>
          <p:cNvSpPr>
            <a:spLocks noGrp="1"/>
          </p:cNvSpPr>
          <p:nvPr>
            <p:ph type="title"/>
          </p:nvPr>
        </p:nvSpPr>
        <p:spPr>
          <a:xfrm>
            <a:off x="812902" y="812902"/>
            <a:ext cx="8321040" cy="512064"/>
          </a:xfrm>
          <a:prstGeom prst="rect">
            <a:avLst/>
          </a:prstGeom>
          <a:noFill/>
          <a:ln/>
        </p:spPr>
        <p:txBody>
          <a:bodyPr wrap="square" lIns="0" tIns="0" rIns="0" bIns="0" rtlCol="0" anchor="t">
            <a:noAutofit/>
          </a:bodyPr>
          <a:lstStyle/>
          <a:p>
            <a:pPr marL="0" indent="0" algn="l">
              <a:lnSpc>
                <a:spcPts val="3600"/>
              </a:lnSpc>
              <a:spcBef>
                <a:spcPts val="0"/>
              </a:spcBef>
              <a:buNone/>
            </a:pPr>
            <a:r>
              <a:rPr lang="en-US" sz="3000" b="1" dirty="0">
                <a:solidFill>
                  <a:srgbClr val="4C8835"/>
                </a:solidFill>
                <a:latin typeface="Arial" pitchFamily="34" charset="0"/>
                <a:ea typeface="Arial" pitchFamily="34" charset="-122"/>
                <a:cs typeface="Arial" pitchFamily="34" charset="-120"/>
              </a:rPr>
              <a:t>Test the required behavior</a:t>
            </a:r>
            <a:endParaRPr lang="en-US" sz="3000"/>
          </a:p>
        </p:txBody>
      </p:sp>
      <p:sp>
        <p:nvSpPr>
          <p:cNvPr id="6" name="Shape 2"/>
          <p:cNvSpPr/>
          <p:nvPr/>
        </p:nvSpPr>
        <p:spPr>
          <a:xfrm>
            <a:off x="1193800" y="2009080"/>
            <a:ext cx="9804400" cy="63500"/>
          </a:xfrm>
          <a:prstGeom prst="roundRect">
            <a:avLst>
              <a:gd name="adj" fmla="val 50000"/>
            </a:avLst>
          </a:prstGeom>
          <a:solidFill>
            <a:srgbClr val="C9C9CE"/>
          </a:solidFill>
          <a:ln/>
        </p:spPr>
        <p:txBody>
          <a:bodyPr/>
          <a:lstStyle/>
          <a:p>
            <a:endParaRPr lang="en-US"/>
          </a:p>
        </p:txBody>
      </p:sp>
      <p:sp>
        <p:nvSpPr>
          <p:cNvPr id="8" name="Shape 4"/>
          <p:cNvSpPr/>
          <p:nvPr/>
        </p:nvSpPr>
        <p:spPr>
          <a:xfrm>
            <a:off x="831850" y="1875730"/>
            <a:ext cx="330200" cy="330200"/>
          </a:xfrm>
          <a:prstGeom prst="roundRect">
            <a:avLst>
              <a:gd name="adj" fmla="val 50000"/>
            </a:avLst>
          </a:prstGeom>
          <a:solidFill>
            <a:srgbClr val="FFFFFF"/>
          </a:solidFill>
          <a:ln w="38100">
            <a:solidFill>
              <a:srgbClr val="5466AE"/>
            </a:solidFill>
            <a:prstDash val="solid"/>
          </a:ln>
        </p:spPr>
        <p:txBody>
          <a:bodyPr/>
          <a:lstStyle/>
          <a:p>
            <a:endParaRPr lang="en-US"/>
          </a:p>
        </p:txBody>
      </p:sp>
      <p:sp>
        <p:nvSpPr>
          <p:cNvPr id="9" name="Shape 5"/>
          <p:cNvSpPr/>
          <p:nvPr/>
        </p:nvSpPr>
        <p:spPr>
          <a:xfrm>
            <a:off x="4387850" y="1875730"/>
            <a:ext cx="330200" cy="330200"/>
          </a:xfrm>
          <a:prstGeom prst="roundRect">
            <a:avLst>
              <a:gd name="adj" fmla="val 50000"/>
            </a:avLst>
          </a:prstGeom>
          <a:solidFill>
            <a:srgbClr val="FFFFFF"/>
          </a:solidFill>
          <a:ln w="38100">
            <a:solidFill>
              <a:srgbClr val="5466AE"/>
            </a:solidFill>
            <a:prstDash val="solid"/>
          </a:ln>
        </p:spPr>
        <p:txBody>
          <a:bodyPr/>
          <a:lstStyle/>
          <a:p>
            <a:endParaRPr lang="en-US"/>
          </a:p>
        </p:txBody>
      </p:sp>
      <p:sp>
        <p:nvSpPr>
          <p:cNvPr id="10" name="Shape 6"/>
          <p:cNvSpPr/>
          <p:nvPr/>
        </p:nvSpPr>
        <p:spPr>
          <a:xfrm>
            <a:off x="7943850" y="1875730"/>
            <a:ext cx="330200" cy="330200"/>
          </a:xfrm>
          <a:prstGeom prst="roundRect">
            <a:avLst>
              <a:gd name="adj" fmla="val 50000"/>
            </a:avLst>
          </a:prstGeom>
          <a:solidFill>
            <a:srgbClr val="FFFFFF"/>
          </a:solidFill>
          <a:ln w="38100">
            <a:solidFill>
              <a:srgbClr val="F07133"/>
            </a:solidFill>
            <a:prstDash val="solid"/>
          </a:ln>
        </p:spPr>
        <p:txBody>
          <a:bodyPr/>
          <a:lstStyle/>
          <a:p>
            <a:endParaRPr lang="en-US"/>
          </a:p>
        </p:txBody>
      </p:sp>
      <p:sp>
        <p:nvSpPr>
          <p:cNvPr id="11" name="Shape 7"/>
          <p:cNvSpPr/>
          <p:nvPr/>
        </p:nvSpPr>
        <p:spPr>
          <a:xfrm>
            <a:off x="819150" y="2523430"/>
            <a:ext cx="3162300" cy="2527300"/>
          </a:xfrm>
          <a:prstGeom prst="roundRect">
            <a:avLst>
              <a:gd name="adj" fmla="val 4774"/>
            </a:avLst>
          </a:prstGeom>
          <a:solidFill>
            <a:srgbClr val="FFFFFF"/>
          </a:solidFill>
          <a:ln w="12700">
            <a:solidFill>
              <a:srgbClr val="E3E3E6"/>
            </a:solidFill>
            <a:prstDash val="solid"/>
          </a:ln>
        </p:spPr>
        <p:txBody>
          <a:bodyPr/>
          <a:lstStyle/>
          <a:p>
            <a:endParaRPr lang="en-US"/>
          </a:p>
        </p:txBody>
      </p:sp>
      <p:sp>
        <p:nvSpPr>
          <p:cNvPr id="12" name="Text 8"/>
          <p:cNvSpPr/>
          <p:nvPr/>
        </p:nvSpPr>
        <p:spPr>
          <a:xfrm>
            <a:off x="1054100" y="2758380"/>
            <a:ext cx="277317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466AE"/>
                </a:solidFill>
                <a:latin typeface="Arial" pitchFamily="34" charset="0"/>
                <a:ea typeface="Arial" pitchFamily="34" charset="-122"/>
                <a:cs typeface="Arial" pitchFamily="34" charset="-120"/>
              </a:rPr>
              <a:t>TEST 1 · CSRF NEGATIVE</a:t>
            </a:r>
            <a:endParaRPr lang="en-US" sz="1200" dirty="0"/>
          </a:p>
        </p:txBody>
      </p:sp>
      <p:pic>
        <p:nvPicPr>
          <p:cNvPr id="13" name="Image 2" descr="Lock"/>
          <p:cNvPicPr>
            <a:picLocks noChangeAspect="1"/>
          </p:cNvPicPr>
          <p:nvPr/>
        </p:nvPicPr>
        <p:blipFill>
          <a:blip r:embed="rId5"/>
          <a:srcRect/>
          <a:stretch/>
        </p:blipFill>
        <p:spPr>
          <a:xfrm>
            <a:off x="1054100" y="3098701"/>
            <a:ext cx="355600" cy="355600"/>
          </a:xfrm>
          <a:prstGeom prst="rect">
            <a:avLst/>
          </a:prstGeom>
        </p:spPr>
      </p:pic>
      <p:sp>
        <p:nvSpPr>
          <p:cNvPr id="14" name="Text 9"/>
          <p:cNvSpPr/>
          <p:nvPr/>
        </p:nvSpPr>
        <p:spPr>
          <a:xfrm>
            <a:off x="1054100" y="3581301"/>
            <a:ext cx="2773172" cy="580231"/>
          </a:xfrm>
          <a:prstGeom prst="rect">
            <a:avLst/>
          </a:prstGeom>
          <a:noFill/>
          <a:ln/>
        </p:spPr>
        <p:txBody>
          <a:bodyPr wrap="square" lIns="0" tIns="0" rIns="0" bIns="0" rtlCol="0" anchor="t">
            <a:normAutofit/>
          </a:bodyPr>
          <a:lstStyle/>
          <a:p>
            <a:pPr marL="0" indent="0" algn="l">
              <a:lnSpc>
                <a:spcPts val="2185"/>
              </a:lnSpc>
              <a:buNone/>
            </a:pPr>
            <a:r>
              <a:rPr lang="en-US" sz="1900" b="1" dirty="0">
                <a:solidFill>
                  <a:srgbClr val="33333A"/>
                </a:solidFill>
                <a:latin typeface="Arial" pitchFamily="34" charset="0"/>
                <a:ea typeface="Arial" pitchFamily="34" charset="-122"/>
                <a:cs typeface="Arial" pitchFamily="34" charset="-120"/>
              </a:rPr>
              <a:t>Reject bad token; no write</a:t>
            </a:r>
            <a:endParaRPr lang="en-US" sz="1900" dirty="0"/>
          </a:p>
        </p:txBody>
      </p:sp>
      <p:sp>
        <p:nvSpPr>
          <p:cNvPr id="15" name="Text 10"/>
          <p:cNvSpPr/>
          <p:nvPr/>
        </p:nvSpPr>
        <p:spPr>
          <a:xfrm>
            <a:off x="1054100" y="4263132"/>
            <a:ext cx="277317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6B73"/>
                </a:solidFill>
                <a:latin typeface="Arial" pitchFamily="34" charset="0"/>
                <a:ea typeface="Arial" pitchFamily="34" charset="-122"/>
                <a:cs typeface="Arial" pitchFamily="34" charset="-120"/>
              </a:rPr>
              <a:t>Missing or invalid token → 403, and no payment data changed</a:t>
            </a:r>
            <a:endParaRPr lang="en-US" sz="1300" dirty="0"/>
          </a:p>
        </p:txBody>
      </p:sp>
      <p:sp>
        <p:nvSpPr>
          <p:cNvPr id="16" name="Shape 11"/>
          <p:cNvSpPr/>
          <p:nvPr/>
        </p:nvSpPr>
        <p:spPr>
          <a:xfrm>
            <a:off x="4375150" y="2523430"/>
            <a:ext cx="3162300" cy="2527300"/>
          </a:xfrm>
          <a:prstGeom prst="roundRect">
            <a:avLst>
              <a:gd name="adj" fmla="val 4774"/>
            </a:avLst>
          </a:prstGeom>
          <a:solidFill>
            <a:srgbClr val="FFFFFF"/>
          </a:solidFill>
          <a:ln w="12700">
            <a:solidFill>
              <a:srgbClr val="E3E3E6"/>
            </a:solidFill>
            <a:prstDash val="solid"/>
          </a:ln>
        </p:spPr>
        <p:txBody>
          <a:bodyPr/>
          <a:lstStyle/>
          <a:p>
            <a:endParaRPr lang="en-US"/>
          </a:p>
        </p:txBody>
      </p:sp>
      <p:sp>
        <p:nvSpPr>
          <p:cNvPr id="17" name="Text 12"/>
          <p:cNvSpPr/>
          <p:nvPr/>
        </p:nvSpPr>
        <p:spPr>
          <a:xfrm>
            <a:off x="4610100" y="2758380"/>
            <a:ext cx="277317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466AE"/>
                </a:solidFill>
                <a:latin typeface="Arial" pitchFamily="34" charset="0"/>
                <a:ea typeface="Arial" pitchFamily="34" charset="-122"/>
                <a:cs typeface="Arial" pitchFamily="34" charset="-120"/>
              </a:rPr>
              <a:t>TEST 2 · FUNCTIONAL</a:t>
            </a:r>
            <a:endParaRPr lang="en-US" sz="1200" dirty="0"/>
          </a:p>
        </p:txBody>
      </p:sp>
      <p:pic>
        <p:nvPicPr>
          <p:cNvPr id="18" name="Image 3" descr="CheckCircle"/>
          <p:cNvPicPr>
            <a:picLocks noChangeAspect="1"/>
          </p:cNvPicPr>
          <p:nvPr/>
        </p:nvPicPr>
        <p:blipFill>
          <a:blip r:embed="rId6"/>
          <a:srcRect/>
          <a:stretch/>
        </p:blipFill>
        <p:spPr>
          <a:xfrm>
            <a:off x="4610100" y="3098701"/>
            <a:ext cx="355600" cy="355600"/>
          </a:xfrm>
          <a:prstGeom prst="rect">
            <a:avLst/>
          </a:prstGeom>
        </p:spPr>
      </p:pic>
      <p:sp>
        <p:nvSpPr>
          <p:cNvPr id="19" name="Text 13"/>
          <p:cNvSpPr/>
          <p:nvPr/>
        </p:nvSpPr>
        <p:spPr>
          <a:xfrm>
            <a:off x="4610100" y="3581301"/>
            <a:ext cx="2773172" cy="302816"/>
          </a:xfrm>
          <a:prstGeom prst="rect">
            <a:avLst/>
          </a:prstGeom>
          <a:noFill/>
          <a:ln/>
        </p:spPr>
        <p:txBody>
          <a:bodyPr wrap="square" lIns="0" tIns="0" rIns="0" bIns="0" rtlCol="0" anchor="t">
            <a:normAutofit/>
          </a:bodyPr>
          <a:lstStyle/>
          <a:p>
            <a:pPr marL="0" indent="0" algn="l">
              <a:lnSpc>
                <a:spcPts val="2185"/>
              </a:lnSpc>
              <a:buNone/>
            </a:pPr>
            <a:r>
              <a:rPr lang="en-US" sz="1900" b="1" dirty="0">
                <a:solidFill>
                  <a:srgbClr val="33333A"/>
                </a:solidFill>
                <a:latin typeface="Arial" pitchFamily="34" charset="0"/>
                <a:ea typeface="Arial" pitchFamily="34" charset="-122"/>
                <a:cs typeface="Arial" pitchFamily="34" charset="-120"/>
              </a:rPr>
              <a:t>Valid payment works</a:t>
            </a:r>
            <a:endParaRPr lang="en-US" sz="1900" dirty="0"/>
          </a:p>
        </p:txBody>
      </p:sp>
      <p:sp>
        <p:nvSpPr>
          <p:cNvPr id="20" name="Text 14"/>
          <p:cNvSpPr/>
          <p:nvPr/>
        </p:nvSpPr>
        <p:spPr>
          <a:xfrm>
            <a:off x="4610100" y="3985716"/>
            <a:ext cx="2773172"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6B73"/>
                </a:solidFill>
                <a:latin typeface="Arial" pitchFamily="34" charset="0"/>
                <a:ea typeface="Arial" pitchFamily="34" charset="-122"/>
                <a:cs typeface="Arial" pitchFamily="34" charset="-120"/>
              </a:rPr>
              <a:t>Legitimate path with a valid token still completes</a:t>
            </a:r>
            <a:endParaRPr lang="en-US" sz="1300" dirty="0"/>
          </a:p>
        </p:txBody>
      </p:sp>
      <p:sp>
        <p:nvSpPr>
          <p:cNvPr id="21" name="Shape 15"/>
          <p:cNvSpPr/>
          <p:nvPr/>
        </p:nvSpPr>
        <p:spPr>
          <a:xfrm>
            <a:off x="7931150" y="2523430"/>
            <a:ext cx="3441700" cy="2527300"/>
          </a:xfrm>
          <a:prstGeom prst="roundRect">
            <a:avLst>
              <a:gd name="adj" fmla="val 4774"/>
            </a:avLst>
          </a:prstGeom>
          <a:solidFill>
            <a:srgbClr val="FFFFFF"/>
          </a:solidFill>
          <a:ln w="12700">
            <a:solidFill>
              <a:srgbClr val="E3E3E6"/>
            </a:solidFill>
            <a:prstDash val="solid"/>
          </a:ln>
        </p:spPr>
        <p:txBody>
          <a:bodyPr/>
          <a:lstStyle/>
          <a:p>
            <a:endParaRPr lang="en-US"/>
          </a:p>
        </p:txBody>
      </p:sp>
      <p:sp>
        <p:nvSpPr>
          <p:cNvPr id="22" name="Text 16"/>
          <p:cNvSpPr/>
          <p:nvPr/>
        </p:nvSpPr>
        <p:spPr>
          <a:xfrm>
            <a:off x="8166100" y="2758380"/>
            <a:ext cx="320040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7133"/>
                </a:solidFill>
                <a:latin typeface="Arial" pitchFamily="34" charset="0"/>
                <a:ea typeface="Arial" pitchFamily="34" charset="-122"/>
                <a:cs typeface="Arial" pitchFamily="34" charset="-120"/>
              </a:rPr>
              <a:t>TEST 3 · OBJECT AUTHORIZATION</a:t>
            </a:r>
            <a:endParaRPr lang="en-US" sz="1200" dirty="0"/>
          </a:p>
        </p:txBody>
      </p:sp>
      <p:pic>
        <p:nvPicPr>
          <p:cNvPr id="23" name="Image 4" descr="Users"/>
          <p:cNvPicPr>
            <a:picLocks noChangeAspect="1"/>
          </p:cNvPicPr>
          <p:nvPr/>
        </p:nvPicPr>
        <p:blipFill>
          <a:blip r:embed="rId7"/>
          <a:srcRect/>
          <a:stretch/>
        </p:blipFill>
        <p:spPr>
          <a:xfrm>
            <a:off x="8166100" y="3098701"/>
            <a:ext cx="355600" cy="355600"/>
          </a:xfrm>
          <a:prstGeom prst="rect">
            <a:avLst/>
          </a:prstGeom>
        </p:spPr>
      </p:pic>
      <p:sp>
        <p:nvSpPr>
          <p:cNvPr id="24" name="Text 17"/>
          <p:cNvSpPr/>
          <p:nvPr/>
        </p:nvSpPr>
        <p:spPr>
          <a:xfrm>
            <a:off x="8166100" y="3581301"/>
            <a:ext cx="3060954" cy="302816"/>
          </a:xfrm>
          <a:prstGeom prst="rect">
            <a:avLst/>
          </a:prstGeom>
          <a:noFill/>
          <a:ln/>
        </p:spPr>
        <p:txBody>
          <a:bodyPr wrap="square" lIns="0" tIns="0" rIns="0" bIns="0" rtlCol="0" anchor="t">
            <a:normAutofit/>
          </a:bodyPr>
          <a:lstStyle/>
          <a:p>
            <a:pPr marL="0" indent="0" algn="l">
              <a:lnSpc>
                <a:spcPts val="2185"/>
              </a:lnSpc>
              <a:buNone/>
            </a:pPr>
            <a:r>
              <a:rPr lang="en-US" sz="1900" b="1" dirty="0">
                <a:solidFill>
                  <a:srgbClr val="33333A"/>
                </a:solidFill>
                <a:latin typeface="Arial" pitchFamily="34" charset="0"/>
                <a:ea typeface="Arial" pitchFamily="34" charset="-122"/>
                <a:cs typeface="Arial" pitchFamily="34" charset="-120"/>
              </a:rPr>
              <a:t>Right user, right record</a:t>
            </a:r>
            <a:endParaRPr lang="en-US" sz="1900" dirty="0"/>
          </a:p>
        </p:txBody>
      </p:sp>
      <p:sp>
        <p:nvSpPr>
          <p:cNvPr id="25" name="Text 18"/>
          <p:cNvSpPr/>
          <p:nvPr/>
        </p:nvSpPr>
        <p:spPr>
          <a:xfrm>
            <a:off x="8166100" y="3985716"/>
            <a:ext cx="3060954"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6B73"/>
                </a:solidFill>
                <a:latin typeface="Arial" pitchFamily="34" charset="0"/>
                <a:ea typeface="Arial" pitchFamily="34" charset="-122"/>
                <a:cs typeface="Arial" pitchFamily="34" charset="-120"/>
              </a:rPr>
              <a:t>A separate rule the owner must state; a valid-token cross-patient test is a candidate, not a finding</a:t>
            </a:r>
            <a:endParaRPr lang="en-US" sz="1300" dirty="0"/>
          </a:p>
        </p:txBody>
      </p:sp>
      <p:sp>
        <p:nvSpPr>
          <p:cNvPr id="27" name="Text 20"/>
          <p:cNvSpPr/>
          <p:nvPr/>
        </p:nvSpPr>
        <p:spPr>
          <a:xfrm>
            <a:off x="7532370" y="6238280"/>
            <a:ext cx="300863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A92"/>
                </a:solidFill>
                <a:latin typeface="Arial" pitchFamily="34" charset="0"/>
                <a:ea typeface="Arial" pitchFamily="34" charset="-122"/>
                <a:cs typeface="Arial" pitchFamily="34" charset="-120"/>
              </a:rPr>
              <a:t>ISC2.org/Congress | #ISC2Congress</a:t>
            </a:r>
            <a:endParaRPr lang="en-US" sz="1200" dirty="0"/>
          </a:p>
        </p:txBody>
      </p:sp>
      <p:sp>
        <p:nvSpPr>
          <p:cNvPr id="2000" name="Evidence subtitle">
            <a:extLst>
              <a:ext uri="{FF2B5EF4-FFF2-40B4-BE49-F238E27FC236}">
                <a16:creationId xmlns:a16="http://schemas.microsoft.com/office/drawing/2014/main" id="{9617E2FA-EE31-4223-84A1-1A4B1488857E}"/>
              </a:ext>
            </a:extLst>
          </p:cNvPr>
          <p:cNvSpPr>
            <a:spLocks noGrp="1"/>
          </p:cNvSpPr>
          <p:nvPr/>
        </p:nvSpPr>
        <p:spPr>
          <a:xfrm>
            <a:off x="812902" y="1399032"/>
            <a:ext cx="10561320" cy="329184"/>
          </a:xfrm>
          <a:prstGeom prst="rect">
            <a:avLst/>
          </a:prstGeom>
          <a:noFill/>
          <a:ln w="0">
            <a:noFill/>
            <a:prstDash val="solid"/>
          </a:ln>
        </p:spPr>
        <p:txBody>
          <a:bodyPr wrap="square" lIns="0" tIns="0" rIns="0" bIns="0" anchor="t">
            <a:noAutofit/>
          </a:bodyPr>
          <a:lstStyle>
            <a:defPPr>
              <a:defRPr sz="1600">
                <a:solidFill>
                  <a:srgbClr val="6B6B73"/>
                </a:solidFill>
              </a:defRPr>
            </a:defPPr>
            <a:lvl1pPr>
              <a:defRPr sz="1600">
                <a:solidFill>
                  <a:srgbClr val="6B6B73"/>
                </a:solidFill>
              </a:defRPr>
            </a:lvl1pPr>
            <a:lvl2pPr>
              <a:defRPr sz="1600">
                <a:solidFill>
                  <a:srgbClr val="6B6B73"/>
                </a:solidFill>
              </a:defRPr>
            </a:lvl2pPr>
            <a:lvl3pPr>
              <a:defRPr sz="1600">
                <a:solidFill>
                  <a:srgbClr val="6B6B73"/>
                </a:solidFill>
              </a:defRPr>
            </a:lvl3pPr>
            <a:lvl4pPr>
              <a:defRPr sz="1600">
                <a:solidFill>
                  <a:srgbClr val="6B6B73"/>
                </a:solidFill>
              </a:defRPr>
            </a:lvl4pPr>
            <a:lvl5pPr>
              <a:defRPr sz="1600">
                <a:solidFill>
                  <a:srgbClr val="6B6B73"/>
                </a:solidFill>
              </a:defRPr>
            </a:lvl5pPr>
            <a:lvl6pPr>
              <a:defRPr sz="1600">
                <a:solidFill>
                  <a:srgbClr val="6B6B73"/>
                </a:solidFill>
              </a:defRPr>
            </a:lvl6pPr>
            <a:lvl7pPr>
              <a:defRPr sz="1600">
                <a:solidFill>
                  <a:srgbClr val="6B6B73"/>
                </a:solidFill>
              </a:defRPr>
            </a:lvl7pPr>
            <a:lvl8pPr>
              <a:defRPr sz="1600">
                <a:solidFill>
                  <a:srgbClr val="6B6B73"/>
                </a:solidFill>
              </a:defRPr>
            </a:lvl8pPr>
            <a:lvl9pPr>
              <a:defRPr sz="1600">
                <a:solidFill>
                  <a:srgbClr val="6B6B73"/>
                </a:solidFill>
              </a:defRPr>
            </a:lvl9pPr>
          </a:lstStyle>
          <a:p>
            <a:pPr>
              <a:defRPr sz="1600">
                <a:solidFill>
                  <a:srgbClr val="6B6B73"/>
                </a:solidFill>
              </a:defRPr>
            </a:pPr>
            <a:r>
              <a:rPr sz="1600">
                <a:solidFill>
                  <a:srgbClr val="6B6B73"/>
                </a:solidFill>
                <a:latin typeface="Arial"/>
                <a:ea typeface="Arial"/>
                <a:cs typeface="Arial"/>
              </a:rPr>
              <a:t>Proposed tests for PR #11958. Not run.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4" name="Text 0"/>
          <p:cNvSpPr>
            <a:spLocks noGrp="1"/>
          </p:cNvSpPr>
          <p:nvPr>
            <p:ph type="title"/>
          </p:nvPr>
        </p:nvSpPr>
        <p:spPr>
          <a:xfrm>
            <a:off x="812902" y="812902"/>
            <a:ext cx="8321040" cy="512064"/>
          </a:xfrm>
          <a:prstGeom prst="rect">
            <a:avLst/>
          </a:prstGeom>
          <a:noFill/>
          <a:ln/>
        </p:spPr>
        <p:txBody>
          <a:bodyPr wrap="square" lIns="0" tIns="0" rIns="0" bIns="0" rtlCol="0" anchor="t">
            <a:noAutofit/>
          </a:bodyPr>
          <a:lstStyle/>
          <a:p>
            <a:pPr marL="0" indent="0" algn="l">
              <a:lnSpc>
                <a:spcPts val="3600"/>
              </a:lnSpc>
              <a:spcBef>
                <a:spcPts val="0"/>
              </a:spcBef>
              <a:buNone/>
            </a:pPr>
            <a:r>
              <a:rPr lang="en-US" sz="3000" b="1" dirty="0">
                <a:solidFill>
                  <a:srgbClr val="4C8835"/>
                </a:solidFill>
                <a:latin typeface="Arial" pitchFamily="34" charset="0"/>
                <a:ea typeface="Arial" pitchFamily="34" charset="-122"/>
                <a:cs typeface="Arial" pitchFamily="34" charset="-120"/>
              </a:rPr>
              <a:t>Verify evidence before authorizing merge</a:t>
            </a:r>
            <a:endParaRPr lang="en-US" sz="3000"/>
          </a:p>
        </p:txBody>
      </p:sp>
      <p:sp>
        <p:nvSpPr>
          <p:cNvPr id="6" name="Text 2"/>
          <p:cNvSpPr/>
          <p:nvPr/>
        </p:nvSpPr>
        <p:spPr>
          <a:xfrm>
            <a:off x="2489911" y="1488380"/>
            <a:ext cx="3657600" cy="381000"/>
          </a:xfrm>
          <a:prstGeom prst="rect">
            <a:avLst/>
          </a:prstGeom>
          <a:noFill/>
          <a:ln/>
        </p:spPr>
        <p:txBody>
          <a:bodyPr wrap="square" lIns="0" tIns="0" rIns="0" bIns="0" rtlCol="0" anchor="t">
            <a:normAutofit/>
          </a:bodyPr>
          <a:lstStyle/>
          <a:p>
            <a:pPr marL="0" indent="0" algn="ctr">
              <a:lnSpc>
                <a:spcPts val="2760"/>
              </a:lnSpc>
              <a:buNone/>
            </a:pPr>
            <a:r>
              <a:rPr lang="en-US" sz="1200" b="1" kern="0" spc="100" dirty="0">
                <a:solidFill>
                  <a:srgbClr val="6B6B73"/>
                </a:solidFill>
                <a:latin typeface="Arial" pitchFamily="34" charset="0"/>
                <a:ea typeface="Arial" pitchFamily="34" charset="-122"/>
                <a:cs typeface="Arial" pitchFamily="34" charset="-120"/>
              </a:rPr>
              <a:t>PR WORKERS · untrusted inputs</a:t>
            </a:r>
            <a:endParaRPr lang="en-US" sz="1200" dirty="0"/>
          </a:p>
        </p:txBody>
      </p:sp>
      <p:sp>
        <p:nvSpPr>
          <p:cNvPr id="7" name="Text 3"/>
          <p:cNvSpPr/>
          <p:nvPr/>
        </p:nvSpPr>
        <p:spPr>
          <a:xfrm>
            <a:off x="6069787" y="1572768"/>
            <a:ext cx="1005840" cy="381000"/>
          </a:xfrm>
          <a:prstGeom prst="rect">
            <a:avLst/>
          </a:prstGeom>
          <a:noFill/>
          <a:ln/>
        </p:spPr>
        <p:txBody>
          <a:bodyPr wrap="square" lIns="0" tIns="0" rIns="0" bIns="0" rtlCol="0" anchor="t">
            <a:normAutofit/>
          </a:bodyPr>
          <a:lstStyle/>
          <a:p>
            <a:pPr marL="0" indent="0" algn="ctr">
              <a:lnSpc>
                <a:spcPts val="1320"/>
              </a:lnSpc>
              <a:buNone/>
            </a:pPr>
            <a:r>
              <a:rPr lang="en-US" sz="1000" b="1" kern="0" spc="50" dirty="0">
                <a:solidFill>
                  <a:srgbClr val="F07133"/>
                </a:solidFill>
                <a:latin typeface="Arial" pitchFamily="34" charset="0"/>
                <a:ea typeface="Arial" pitchFamily="34" charset="-122"/>
                <a:cs typeface="Arial" pitchFamily="34" charset="-120"/>
              </a:rPr>
              <a:t>TRUST</a:t>
            </a:r>
            <a:endParaRPr lang="en-US" sz="1000" dirty="0"/>
          </a:p>
          <a:p>
            <a:pPr marL="0" indent="0" algn="ctr">
              <a:lnSpc>
                <a:spcPts val="1320"/>
              </a:lnSpc>
              <a:buNone/>
            </a:pPr>
            <a:r>
              <a:rPr lang="en-US" sz="1000" b="1" kern="0" spc="50" dirty="0">
                <a:solidFill>
                  <a:srgbClr val="F07133"/>
                </a:solidFill>
                <a:latin typeface="Arial" pitchFamily="34" charset="0"/>
                <a:ea typeface="Arial" pitchFamily="34" charset="-122"/>
                <a:cs typeface="Arial" pitchFamily="34" charset="-120"/>
              </a:rPr>
              <a:t>BOUNDARY</a:t>
            </a:r>
            <a:endParaRPr lang="en-US" sz="1000" dirty="0"/>
          </a:p>
        </p:txBody>
      </p:sp>
      <p:sp>
        <p:nvSpPr>
          <p:cNvPr id="8" name="Text 4"/>
          <p:cNvSpPr/>
          <p:nvPr/>
        </p:nvSpPr>
        <p:spPr>
          <a:xfrm>
            <a:off x="7417613" y="1488380"/>
            <a:ext cx="3657600" cy="381000"/>
          </a:xfrm>
          <a:prstGeom prst="rect">
            <a:avLst/>
          </a:prstGeom>
          <a:noFill/>
          <a:ln/>
        </p:spPr>
        <p:txBody>
          <a:bodyPr wrap="square" lIns="0" tIns="0" rIns="0" bIns="0" rtlCol="0" anchor="t">
            <a:normAutofit/>
          </a:bodyPr>
          <a:lstStyle/>
          <a:p>
            <a:pPr marL="0" indent="0" algn="ctr">
              <a:lnSpc>
                <a:spcPts val="2760"/>
              </a:lnSpc>
              <a:buNone/>
            </a:pPr>
            <a:r>
              <a:rPr lang="en-US" sz="1200" b="1" kern="0" spc="100" dirty="0">
                <a:solidFill>
                  <a:srgbClr val="6B6B73"/>
                </a:solidFill>
                <a:latin typeface="Arial" pitchFamily="34" charset="0"/>
                <a:ea typeface="Arial" pitchFamily="34" charset="-122"/>
                <a:cs typeface="Arial" pitchFamily="34" charset="-120"/>
              </a:rPr>
              <a:t>VERIFIER · check publisher</a:t>
            </a:r>
            <a:endParaRPr lang="en-US" sz="1200" dirty="0"/>
          </a:p>
        </p:txBody>
      </p:sp>
      <p:sp>
        <p:nvSpPr>
          <p:cNvPr id="9" name="Text 5"/>
          <p:cNvSpPr/>
          <p:nvPr/>
        </p:nvSpPr>
        <p:spPr>
          <a:xfrm>
            <a:off x="812800" y="1945580"/>
            <a:ext cx="1270000" cy="1079500"/>
          </a:xfrm>
          <a:prstGeom prst="roundRect">
            <a:avLst>
              <a:gd name="adj" fmla="val 8235"/>
            </a:avLst>
          </a:prstGeom>
          <a:solidFill>
            <a:srgbClr val="448334"/>
          </a:solidFill>
          <a:ln/>
        </p:spPr>
        <p:txBody>
          <a:bodyPr wrap="square" lIns="0" tIns="0" rIns="0" bIns="0" rtlCol="0" anchor="ctr">
            <a:normAutofit/>
          </a:bodyPr>
          <a:lstStyle/>
          <a:p>
            <a:pPr marL="0" indent="0" algn="ctr">
              <a:lnSpc>
                <a:spcPts val="2100"/>
              </a:lnSpc>
              <a:buNone/>
            </a:pPr>
            <a:r>
              <a:rPr lang="en-US" sz="1500" b="1" kern="0" spc="100" dirty="0">
                <a:solidFill>
                  <a:srgbClr val="FFFFFF"/>
                </a:solidFill>
                <a:latin typeface="Arial" pitchFamily="34" charset="0"/>
                <a:ea typeface="Arial" pitchFamily="34" charset="-122"/>
                <a:cs typeface="Arial" pitchFamily="34" charset="-120"/>
              </a:rPr>
              <a:t>SCOPE</a:t>
            </a:r>
            <a:endParaRPr lang="en-US" sz="1500" dirty="0"/>
          </a:p>
        </p:txBody>
      </p:sp>
      <p:sp>
        <p:nvSpPr>
          <p:cNvPr id="10" name="Shape 6"/>
          <p:cNvSpPr/>
          <p:nvPr/>
        </p:nvSpPr>
        <p:spPr>
          <a:xfrm>
            <a:off x="2190750" y="1951930"/>
            <a:ext cx="4254500" cy="1066800"/>
          </a:xfrm>
          <a:prstGeom prst="roundRect">
            <a:avLst>
              <a:gd name="adj" fmla="val 7738"/>
            </a:avLst>
          </a:prstGeom>
          <a:solidFill>
            <a:srgbClr val="FFFFFF"/>
          </a:solidFill>
          <a:ln w="12700">
            <a:solidFill>
              <a:srgbClr val="E3E3E6"/>
            </a:solidFill>
            <a:prstDash val="solid"/>
          </a:ln>
        </p:spPr>
        <p:txBody>
          <a:bodyPr/>
          <a:lstStyle/>
          <a:p>
            <a:endParaRPr lang="en-US"/>
          </a:p>
        </p:txBody>
      </p:sp>
      <p:sp>
        <p:nvSpPr>
          <p:cNvPr id="11" name="Text 7"/>
          <p:cNvSpPr/>
          <p:nvPr/>
        </p:nvSpPr>
        <p:spPr>
          <a:xfrm>
            <a:off x="2374900" y="2147590"/>
            <a:ext cx="400278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33333A"/>
                </a:solidFill>
                <a:latin typeface="Arial" pitchFamily="34" charset="0"/>
                <a:ea typeface="Arial" pitchFamily="34" charset="-122"/>
                <a:cs typeface="Arial" pitchFamily="34" charset="-120"/>
              </a:rPr>
              <a:t>OSTF links in the source tree</a:t>
            </a:r>
            <a:endParaRPr lang="en-US" sz="1500" dirty="0"/>
          </a:p>
        </p:txBody>
      </p:sp>
      <p:sp>
        <p:nvSpPr>
          <p:cNvPr id="12" name="Text 8"/>
          <p:cNvSpPr/>
          <p:nvPr/>
        </p:nvSpPr>
        <p:spPr>
          <a:xfrm>
            <a:off x="2374900" y="2426990"/>
            <a:ext cx="4002786"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6B6B73"/>
                </a:solidFill>
                <a:latin typeface="Arial" pitchFamily="34" charset="0"/>
                <a:ea typeface="Arial" pitchFamily="34" charset="-122"/>
                <a:cs typeface="Arial" pitchFamily="34" charset="-120"/>
              </a:rPr>
              <a:t>Requirement, code and test links, checked for changes; impact analysis stays separate</a:t>
            </a:r>
            <a:endParaRPr lang="en-US" sz="1200" dirty="0"/>
          </a:p>
        </p:txBody>
      </p:sp>
      <p:sp>
        <p:nvSpPr>
          <p:cNvPr id="13" name="Shape 9"/>
          <p:cNvSpPr/>
          <p:nvPr/>
        </p:nvSpPr>
        <p:spPr>
          <a:xfrm>
            <a:off x="6572250" y="1945580"/>
            <a:ext cx="0" cy="1079500"/>
          </a:xfrm>
          <a:prstGeom prst="line">
            <a:avLst/>
          </a:prstGeom>
          <a:noFill/>
          <a:ln w="38100">
            <a:solidFill>
              <a:srgbClr val="F07133"/>
            </a:solidFill>
            <a:prstDash val="dash"/>
          </a:ln>
        </p:spPr>
        <p:txBody>
          <a:bodyPr/>
          <a:lstStyle/>
          <a:p>
            <a:endParaRPr lang="en-US"/>
          </a:p>
        </p:txBody>
      </p:sp>
      <p:sp>
        <p:nvSpPr>
          <p:cNvPr id="14" name="Shape 10"/>
          <p:cNvSpPr/>
          <p:nvPr/>
        </p:nvSpPr>
        <p:spPr>
          <a:xfrm>
            <a:off x="7118350" y="1951930"/>
            <a:ext cx="4254500" cy="1066800"/>
          </a:xfrm>
          <a:prstGeom prst="roundRect">
            <a:avLst>
              <a:gd name="adj" fmla="val 7738"/>
            </a:avLst>
          </a:prstGeom>
          <a:solidFill>
            <a:srgbClr val="FFFFFF"/>
          </a:solidFill>
          <a:ln w="12700">
            <a:solidFill>
              <a:srgbClr val="E3E3E6"/>
            </a:solidFill>
            <a:prstDash val="solid"/>
          </a:ln>
        </p:spPr>
        <p:txBody>
          <a:bodyPr/>
          <a:lstStyle/>
          <a:p>
            <a:endParaRPr lang="en-US"/>
          </a:p>
        </p:txBody>
      </p:sp>
      <p:sp>
        <p:nvSpPr>
          <p:cNvPr id="15" name="Text 11"/>
          <p:cNvSpPr/>
          <p:nvPr/>
        </p:nvSpPr>
        <p:spPr>
          <a:xfrm>
            <a:off x="7302500" y="2246610"/>
            <a:ext cx="400278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33333A"/>
                </a:solidFill>
                <a:latin typeface="Arial" pitchFamily="34" charset="0"/>
                <a:ea typeface="Arial" pitchFamily="34" charset="-122"/>
                <a:cs typeface="Arial" pitchFamily="34" charset="-120"/>
              </a:rPr>
              <a:t>Payment control owner approves intent</a:t>
            </a:r>
            <a:endParaRPr lang="en-US" sz="1500" dirty="0"/>
          </a:p>
        </p:txBody>
      </p:sp>
      <p:sp>
        <p:nvSpPr>
          <p:cNvPr id="16" name="Text 12"/>
          <p:cNvSpPr/>
          <p:nvPr/>
        </p:nvSpPr>
        <p:spPr>
          <a:xfrm>
            <a:off x="7302500" y="2526010"/>
            <a:ext cx="4002786"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6B6B73"/>
                </a:solidFill>
                <a:latin typeface="Arial" pitchFamily="34" charset="0"/>
                <a:ea typeface="Arial" pitchFamily="34" charset="-122"/>
                <a:cs typeface="Arial" pitchFamily="34" charset="-120"/>
              </a:rPr>
              <a:t>Intended behavior and trace links signed off</a:t>
            </a:r>
            <a:endParaRPr lang="en-US" sz="1200" dirty="0"/>
          </a:p>
        </p:txBody>
      </p:sp>
      <p:sp>
        <p:nvSpPr>
          <p:cNvPr id="17" name="Text 13"/>
          <p:cNvSpPr/>
          <p:nvPr/>
        </p:nvSpPr>
        <p:spPr>
          <a:xfrm>
            <a:off x="812800" y="3126680"/>
            <a:ext cx="1270000" cy="1079500"/>
          </a:xfrm>
          <a:prstGeom prst="roundRect">
            <a:avLst>
              <a:gd name="adj" fmla="val 8235"/>
            </a:avLst>
          </a:prstGeom>
          <a:solidFill>
            <a:srgbClr val="5466AE"/>
          </a:solidFill>
          <a:ln/>
        </p:spPr>
        <p:txBody>
          <a:bodyPr wrap="square" lIns="0" tIns="0" rIns="0" bIns="0" rtlCol="0" anchor="ctr">
            <a:normAutofit/>
          </a:bodyPr>
          <a:lstStyle/>
          <a:p>
            <a:pPr marL="0" indent="0" algn="ctr">
              <a:lnSpc>
                <a:spcPts val="2100"/>
              </a:lnSpc>
              <a:buNone/>
            </a:pPr>
            <a:r>
              <a:rPr lang="en-US" sz="1500" b="1" kern="0" spc="100" dirty="0">
                <a:solidFill>
                  <a:srgbClr val="FFFFFF"/>
                </a:solidFill>
                <a:latin typeface="Arial" pitchFamily="34" charset="0"/>
                <a:ea typeface="Arial" pitchFamily="34" charset="-122"/>
                <a:cs typeface="Arial" pitchFamily="34" charset="-120"/>
              </a:rPr>
              <a:t>EVIDENCE</a:t>
            </a:r>
            <a:endParaRPr lang="en-US" sz="1500" dirty="0"/>
          </a:p>
        </p:txBody>
      </p:sp>
      <p:sp>
        <p:nvSpPr>
          <p:cNvPr id="18" name="Shape 14"/>
          <p:cNvSpPr/>
          <p:nvPr/>
        </p:nvSpPr>
        <p:spPr>
          <a:xfrm>
            <a:off x="2190750" y="3133030"/>
            <a:ext cx="4254500" cy="1066800"/>
          </a:xfrm>
          <a:prstGeom prst="roundRect">
            <a:avLst>
              <a:gd name="adj" fmla="val 7738"/>
            </a:avLst>
          </a:prstGeom>
          <a:solidFill>
            <a:srgbClr val="FFFFFF"/>
          </a:solidFill>
          <a:ln w="12700">
            <a:solidFill>
              <a:srgbClr val="E3E3E6"/>
            </a:solidFill>
            <a:prstDash val="solid"/>
          </a:ln>
        </p:spPr>
        <p:txBody>
          <a:bodyPr/>
          <a:lstStyle/>
          <a:p>
            <a:endParaRPr lang="en-US"/>
          </a:p>
        </p:txBody>
      </p:sp>
      <p:sp>
        <p:nvSpPr>
          <p:cNvPr id="19" name="Text 15"/>
          <p:cNvSpPr/>
          <p:nvPr/>
        </p:nvSpPr>
        <p:spPr>
          <a:xfrm>
            <a:off x="2374900" y="3313410"/>
            <a:ext cx="4002786"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33333A"/>
                </a:solidFill>
                <a:latin typeface="Arial" pitchFamily="34" charset="0"/>
                <a:ea typeface="Arial" pitchFamily="34" charset="-122"/>
                <a:cs typeface="Arial" pitchFamily="34" charset="-120"/>
              </a:rPr>
              <a:t>Controlled tests · scans · isolated AI reviewer</a:t>
            </a:r>
            <a:endParaRPr lang="en-US" sz="1500" dirty="0"/>
          </a:p>
        </p:txBody>
      </p:sp>
      <p:sp>
        <p:nvSpPr>
          <p:cNvPr id="20" name="Text 16"/>
          <p:cNvSpPr/>
          <p:nvPr/>
        </p:nvSpPr>
        <p:spPr>
          <a:xfrm>
            <a:off x="2374900" y="3821410"/>
            <a:ext cx="4002786"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6B6B73"/>
                </a:solidFill>
                <a:latin typeface="Arial" pitchFamily="34" charset="0"/>
                <a:ea typeface="Arial" pitchFamily="34" charset="-122"/>
                <a:cs typeface="Arial" pitchFamily="34" charset="-120"/>
              </a:rPr>
              <a:t>Produce findings and results, never approval</a:t>
            </a:r>
            <a:endParaRPr lang="en-US" sz="1200" dirty="0"/>
          </a:p>
        </p:txBody>
      </p:sp>
      <p:sp>
        <p:nvSpPr>
          <p:cNvPr id="21" name="Shape 17"/>
          <p:cNvSpPr/>
          <p:nvPr/>
        </p:nvSpPr>
        <p:spPr>
          <a:xfrm>
            <a:off x="6572250" y="3126680"/>
            <a:ext cx="0" cy="1079500"/>
          </a:xfrm>
          <a:prstGeom prst="line">
            <a:avLst/>
          </a:prstGeom>
          <a:noFill/>
          <a:ln w="38100">
            <a:solidFill>
              <a:srgbClr val="F07133"/>
            </a:solidFill>
            <a:prstDash val="dash"/>
          </a:ln>
        </p:spPr>
        <p:txBody>
          <a:bodyPr/>
          <a:lstStyle/>
          <a:p>
            <a:endParaRPr lang="en-US"/>
          </a:p>
        </p:txBody>
      </p:sp>
      <p:sp>
        <p:nvSpPr>
          <p:cNvPr id="22" name="Shape 18"/>
          <p:cNvSpPr/>
          <p:nvPr/>
        </p:nvSpPr>
        <p:spPr>
          <a:xfrm>
            <a:off x="7118350" y="3133030"/>
            <a:ext cx="4254500" cy="1066800"/>
          </a:xfrm>
          <a:prstGeom prst="roundRect">
            <a:avLst>
              <a:gd name="adj" fmla="val 7738"/>
            </a:avLst>
          </a:prstGeom>
          <a:solidFill>
            <a:srgbClr val="FFFFFF"/>
          </a:solidFill>
          <a:ln w="12700">
            <a:solidFill>
              <a:srgbClr val="E3E3E6"/>
            </a:solidFill>
            <a:prstDash val="solid"/>
          </a:ln>
        </p:spPr>
        <p:txBody>
          <a:bodyPr/>
          <a:lstStyle/>
          <a:p>
            <a:endParaRPr lang="en-US"/>
          </a:p>
        </p:txBody>
      </p:sp>
      <p:sp>
        <p:nvSpPr>
          <p:cNvPr id="23" name="Text 19"/>
          <p:cNvSpPr/>
          <p:nvPr/>
        </p:nvSpPr>
        <p:spPr>
          <a:xfrm>
            <a:off x="7302500" y="3328690"/>
            <a:ext cx="400278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33333A"/>
                </a:solidFill>
                <a:latin typeface="Arial" pitchFamily="34" charset="0"/>
                <a:ea typeface="Arial" pitchFamily="34" charset="-122"/>
                <a:cs typeface="Arial" pitchFamily="34" charset="-120"/>
              </a:rPr>
              <a:t>Results retained and triaged</a:t>
            </a:r>
            <a:endParaRPr lang="en-US" sz="1500" dirty="0"/>
          </a:p>
        </p:txBody>
      </p:sp>
      <p:sp>
        <p:nvSpPr>
          <p:cNvPr id="24" name="Text 20"/>
          <p:cNvSpPr/>
          <p:nvPr/>
        </p:nvSpPr>
        <p:spPr>
          <a:xfrm>
            <a:off x="7302500" y="3608090"/>
            <a:ext cx="4002786"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6B6B73"/>
                </a:solidFill>
                <a:latin typeface="Arial" pitchFamily="34" charset="0"/>
                <a:ea typeface="Arial" pitchFamily="34" charset="-122"/>
                <a:cs typeface="Arial" pitchFamily="34" charset="-120"/>
              </a:rPr>
              <a:t>Authenticated producer, trusted capture path, pinned source revision</a:t>
            </a:r>
            <a:endParaRPr lang="en-US" sz="1200" dirty="0"/>
          </a:p>
        </p:txBody>
      </p:sp>
      <p:sp>
        <p:nvSpPr>
          <p:cNvPr id="25" name="Text 21"/>
          <p:cNvSpPr/>
          <p:nvPr/>
        </p:nvSpPr>
        <p:spPr>
          <a:xfrm>
            <a:off x="812800" y="4307780"/>
            <a:ext cx="1270000" cy="1079500"/>
          </a:xfrm>
          <a:prstGeom prst="roundRect">
            <a:avLst>
              <a:gd name="adj" fmla="val 8235"/>
            </a:avLst>
          </a:prstGeom>
          <a:solidFill>
            <a:srgbClr val="F07133"/>
          </a:solidFill>
          <a:ln/>
        </p:spPr>
        <p:txBody>
          <a:bodyPr wrap="square" lIns="0" tIns="0" rIns="0" bIns="0" rtlCol="0" anchor="ctr">
            <a:normAutofit/>
          </a:bodyPr>
          <a:lstStyle/>
          <a:p>
            <a:pPr marL="0" indent="0" algn="ctr">
              <a:lnSpc>
                <a:spcPts val="2100"/>
              </a:lnSpc>
              <a:buNone/>
            </a:pPr>
            <a:r>
              <a:rPr lang="en-US" sz="1500" b="1" kern="0" spc="100" dirty="0">
                <a:solidFill>
                  <a:srgbClr val="FFFFFF"/>
                </a:solidFill>
                <a:latin typeface="Arial" pitchFamily="34" charset="0"/>
                <a:ea typeface="Arial" pitchFamily="34" charset="-122"/>
                <a:cs typeface="Arial" pitchFamily="34" charset="-120"/>
              </a:rPr>
              <a:t>DECISION</a:t>
            </a:r>
            <a:endParaRPr lang="en-US" sz="1500" dirty="0"/>
          </a:p>
        </p:txBody>
      </p:sp>
      <p:sp>
        <p:nvSpPr>
          <p:cNvPr id="26" name="Shape 22"/>
          <p:cNvSpPr/>
          <p:nvPr/>
        </p:nvSpPr>
        <p:spPr>
          <a:xfrm>
            <a:off x="2190750" y="4314130"/>
            <a:ext cx="4254500" cy="1066800"/>
          </a:xfrm>
          <a:prstGeom prst="roundRect">
            <a:avLst>
              <a:gd name="adj" fmla="val 7738"/>
            </a:avLst>
          </a:prstGeom>
          <a:solidFill>
            <a:srgbClr val="F4F4F6"/>
          </a:solidFill>
          <a:ln w="12700">
            <a:solidFill>
              <a:srgbClr val="C9C9CE"/>
            </a:solidFill>
            <a:prstDash val="dash"/>
          </a:ln>
        </p:spPr>
        <p:txBody>
          <a:bodyPr/>
          <a:lstStyle/>
          <a:p>
            <a:endParaRPr lang="en-US"/>
          </a:p>
        </p:txBody>
      </p:sp>
      <p:sp>
        <p:nvSpPr>
          <p:cNvPr id="27" name="Text 23"/>
          <p:cNvSpPr/>
          <p:nvPr/>
        </p:nvSpPr>
        <p:spPr>
          <a:xfrm>
            <a:off x="2374900" y="4509790"/>
            <a:ext cx="400278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6B6B73"/>
                </a:solidFill>
                <a:latin typeface="Arial" pitchFamily="34" charset="0"/>
                <a:ea typeface="Arial" pitchFamily="34" charset="-122"/>
                <a:cs typeface="Arial" pitchFamily="34" charset="-120"/>
              </a:rPr>
              <a:t>No gate credentials here</a:t>
            </a:r>
            <a:endParaRPr lang="en-US" sz="1500" dirty="0"/>
          </a:p>
        </p:txBody>
      </p:sp>
      <p:sp>
        <p:nvSpPr>
          <p:cNvPr id="28" name="Text 24"/>
          <p:cNvSpPr/>
          <p:nvPr/>
        </p:nvSpPr>
        <p:spPr>
          <a:xfrm>
            <a:off x="2374900" y="4789190"/>
            <a:ext cx="4002786" cy="42148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8A8A92"/>
                </a:solidFill>
                <a:latin typeface="Arial" pitchFamily="34" charset="0"/>
                <a:ea typeface="Arial" pitchFamily="34" charset="-122"/>
                <a:cs typeface="Arial" pitchFamily="34" charset="-120"/>
              </a:rPr>
              <a:t>A familiar bot, runner or green report gets no implicit authority</a:t>
            </a:r>
            <a:endParaRPr lang="en-US" sz="1200" dirty="0"/>
          </a:p>
        </p:txBody>
      </p:sp>
      <p:sp>
        <p:nvSpPr>
          <p:cNvPr id="29" name="Shape 25"/>
          <p:cNvSpPr/>
          <p:nvPr/>
        </p:nvSpPr>
        <p:spPr>
          <a:xfrm>
            <a:off x="6572250" y="4307780"/>
            <a:ext cx="0" cy="1079500"/>
          </a:xfrm>
          <a:prstGeom prst="line">
            <a:avLst/>
          </a:prstGeom>
          <a:noFill/>
          <a:ln w="38100">
            <a:solidFill>
              <a:srgbClr val="F07133"/>
            </a:solidFill>
            <a:prstDash val="dash"/>
          </a:ln>
        </p:spPr>
        <p:txBody>
          <a:bodyPr/>
          <a:lstStyle/>
          <a:p>
            <a:endParaRPr lang="en-US"/>
          </a:p>
        </p:txBody>
      </p:sp>
      <p:sp>
        <p:nvSpPr>
          <p:cNvPr id="30" name="Shape 26"/>
          <p:cNvSpPr/>
          <p:nvPr/>
        </p:nvSpPr>
        <p:spPr>
          <a:xfrm>
            <a:off x="7121525" y="4317305"/>
            <a:ext cx="4248150" cy="1060450"/>
          </a:xfrm>
          <a:prstGeom prst="roundRect">
            <a:avLst>
              <a:gd name="adj" fmla="val 7485"/>
            </a:avLst>
          </a:prstGeom>
          <a:solidFill>
            <a:srgbClr val="FFFFFF"/>
          </a:solidFill>
          <a:ln w="19050">
            <a:solidFill>
              <a:srgbClr val="F07133"/>
            </a:solidFill>
            <a:prstDash val="solid"/>
          </a:ln>
        </p:spPr>
        <p:txBody>
          <a:bodyPr/>
          <a:lstStyle/>
          <a:p>
            <a:endParaRPr lang="en-US"/>
          </a:p>
        </p:txBody>
      </p:sp>
      <p:sp>
        <p:nvSpPr>
          <p:cNvPr id="31" name="Text 27"/>
          <p:cNvSpPr/>
          <p:nvPr/>
        </p:nvSpPr>
        <p:spPr>
          <a:xfrm>
            <a:off x="7308850" y="4494510"/>
            <a:ext cx="3989705"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33333A"/>
                </a:solidFill>
                <a:latin typeface="Arial" pitchFamily="34" charset="0"/>
                <a:ea typeface="Arial" pitchFamily="34" charset="-122"/>
                <a:cs typeface="Arial" pitchFamily="34" charset="-120"/>
              </a:rPr>
              <a:t>Verifier → required App check + human approvals</a:t>
            </a:r>
            <a:endParaRPr lang="en-US" sz="1500" dirty="0"/>
          </a:p>
        </p:txBody>
      </p:sp>
      <p:sp>
        <p:nvSpPr>
          <p:cNvPr id="32" name="Text 28"/>
          <p:cNvSpPr/>
          <p:nvPr/>
        </p:nvSpPr>
        <p:spPr>
          <a:xfrm>
            <a:off x="7308850" y="5002510"/>
            <a:ext cx="3989705" cy="22344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6B6B73"/>
                </a:solidFill>
                <a:latin typeface="Arial" pitchFamily="34" charset="0"/>
                <a:ea typeface="Arial" pitchFamily="34" charset="-122"/>
                <a:cs typeface="Arial" pitchFamily="34" charset="-120"/>
              </a:rPr>
              <a:t>Enforced at the protected branch for the exact revision</a:t>
            </a:r>
            <a:endParaRPr lang="en-US" sz="1200" dirty="0"/>
          </a:p>
        </p:txBody>
      </p:sp>
      <p:sp>
        <p:nvSpPr>
          <p:cNvPr id="34" name="Text 30"/>
          <p:cNvSpPr/>
          <p:nvPr/>
        </p:nvSpPr>
        <p:spPr>
          <a:xfrm>
            <a:off x="7532370" y="6238280"/>
            <a:ext cx="300863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A92"/>
                </a:solidFill>
                <a:latin typeface="Arial" pitchFamily="34" charset="0"/>
                <a:ea typeface="Arial" pitchFamily="34" charset="-122"/>
                <a:cs typeface="Arial" pitchFamily="34" charset="-120"/>
              </a:rPr>
              <a:t>ISC2.org/Congress | #ISC2Congress</a:t>
            </a:r>
            <a:endParaRPr lang="en-US" sz="1200" dirty="0"/>
          </a:p>
        </p:txBody>
      </p:sp>
      <p:sp>
        <p:nvSpPr>
          <p:cNvPr id="80" name="Narrative 80"/>
          <p:cNvSpPr txBox="1"/>
          <p:nvPr/>
        </p:nvSpPr>
        <p:spPr>
          <a:xfrm>
            <a:off x="812902" y="1353312"/>
            <a:ext cx="10561320" cy="256032"/>
          </a:xfrm>
          <a:prstGeom prst="rect">
            <a:avLst/>
          </a:prstGeom>
          <a:noFill/>
          <a:ln>
            <a:noFill/>
          </a:ln>
        </p:spPr>
        <p:txBody>
          <a:bodyPr wrap="square" lIns="0" tIns="0" rIns="0" bIns="0" anchor="t">
            <a:noAutofit/>
          </a:bodyPr>
          <a:lstStyle/>
          <a:p>
            <a:pPr marL="0" indent="0" algn="l">
              <a:lnSpc>
                <a:spcPts val="1700"/>
              </a:lnSpc>
              <a:spcBef>
                <a:spcPts val="0"/>
              </a:spcBef>
              <a:buNone/>
            </a:pPr>
            <a:r>
              <a:rPr lang="en-US" sz="1400" b="0" dirty="0">
                <a:solidFill>
                  <a:srgbClr val="6B6B73"/>
                </a:solidFill>
                <a:latin typeface="Arial" pitchFamily="34" charset="0"/>
                <a:ea typeface="Arial" pitchFamily="34" charset="-122"/>
                <a:cs typeface="Arial" pitchFamily="34" charset="-120"/>
              </a:rPr>
              <a:t>A separate verifier checks the evidence for the current code and publishes the required check.</a:t>
            </a:r>
            <a:endParaRPr lang="en-US" sz="14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16">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4" name="Text 0"/>
          <p:cNvSpPr>
            <a:spLocks noGrp="1"/>
          </p:cNvSpPr>
          <p:nvPr>
            <p:ph type="title"/>
          </p:nvPr>
        </p:nvSpPr>
        <p:spPr>
          <a:xfrm>
            <a:off x="812902" y="812902"/>
            <a:ext cx="8321040" cy="512064"/>
          </a:xfrm>
          <a:prstGeom prst="rect">
            <a:avLst/>
          </a:prstGeom>
          <a:noFill/>
          <a:ln/>
        </p:spPr>
        <p:txBody>
          <a:bodyPr wrap="square" lIns="0" tIns="0" rIns="0" bIns="0" rtlCol="0" anchor="t">
            <a:noAutofit/>
          </a:bodyPr>
          <a:lstStyle/>
          <a:p>
            <a:pPr marL="0" indent="0" algn="l">
              <a:lnSpc>
                <a:spcPts val="3600"/>
              </a:lnSpc>
              <a:spcBef>
                <a:spcPts val="0"/>
              </a:spcBef>
              <a:buNone/>
            </a:pPr>
            <a:r>
              <a:rPr lang="en-US" sz="3000" b="1" dirty="0">
                <a:solidFill>
                  <a:srgbClr val="4C8835"/>
                </a:solidFill>
                <a:latin typeface="Arial" pitchFamily="34" charset="0"/>
                <a:ea typeface="Arial" pitchFamily="34" charset="-122"/>
                <a:cs typeface="Arial" pitchFamily="34" charset="-120"/>
              </a:rPr>
              <a:t>Refresh evidence after every change</a:t>
            </a:r>
            <a:endParaRPr lang="en-US" sz="3000"/>
          </a:p>
        </p:txBody>
      </p:sp>
      <p:sp>
        <p:nvSpPr>
          <p:cNvPr id="6" name="Shape 2"/>
          <p:cNvSpPr/>
          <p:nvPr/>
        </p:nvSpPr>
        <p:spPr>
          <a:xfrm>
            <a:off x="819150" y="1890979"/>
            <a:ext cx="4114800" cy="2620670"/>
          </a:xfrm>
          <a:prstGeom prst="roundRect">
            <a:avLst>
              <a:gd name="adj" fmla="val 5180"/>
            </a:avLst>
          </a:prstGeom>
          <a:solidFill>
            <a:srgbClr val="FFFFFF"/>
          </a:solidFill>
          <a:ln w="12700">
            <a:solidFill>
              <a:srgbClr val="E3E3E6"/>
            </a:solidFill>
            <a:prstDash val="solid"/>
          </a:ln>
        </p:spPr>
        <p:txBody>
          <a:bodyPr/>
          <a:lstStyle/>
          <a:p>
            <a:endParaRPr lang="en-US"/>
          </a:p>
        </p:txBody>
      </p:sp>
      <p:sp>
        <p:nvSpPr>
          <p:cNvPr id="7" name="Text 3"/>
          <p:cNvSpPr/>
          <p:nvPr/>
        </p:nvSpPr>
        <p:spPr>
          <a:xfrm>
            <a:off x="1079500" y="2151583"/>
            <a:ext cx="370192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B6B73"/>
                </a:solidFill>
                <a:latin typeface="Arial" pitchFamily="34" charset="0"/>
                <a:ea typeface="Arial" pitchFamily="34" charset="-122"/>
                <a:cs typeface="Arial" pitchFamily="34" charset="-120"/>
              </a:rPr>
              <a:t>INITIAL REVISION</a:t>
            </a:r>
            <a:endParaRPr lang="en-US" sz="1200" dirty="0"/>
          </a:p>
        </p:txBody>
      </p:sp>
      <p:sp>
        <p:nvSpPr>
          <p:cNvPr id="8" name="Shape 4"/>
          <p:cNvSpPr/>
          <p:nvPr/>
        </p:nvSpPr>
        <p:spPr>
          <a:xfrm>
            <a:off x="1079500" y="2610612"/>
            <a:ext cx="127000" cy="127000"/>
          </a:xfrm>
          <a:prstGeom prst="roundRect">
            <a:avLst>
              <a:gd name="adj" fmla="val 50000"/>
            </a:avLst>
          </a:prstGeom>
          <a:solidFill>
            <a:srgbClr val="D0342C"/>
          </a:solidFill>
          <a:ln/>
        </p:spPr>
        <p:txBody>
          <a:bodyPr/>
          <a:lstStyle/>
          <a:p>
            <a:endParaRPr lang="en-US"/>
          </a:p>
        </p:txBody>
      </p:sp>
      <p:sp>
        <p:nvSpPr>
          <p:cNvPr id="9" name="Text 5"/>
          <p:cNvSpPr/>
          <p:nvPr/>
        </p:nvSpPr>
        <p:spPr>
          <a:xfrm>
            <a:off x="1308100" y="2517343"/>
            <a:ext cx="2201704"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33333A"/>
                </a:solidFill>
                <a:latin typeface="Arial" pitchFamily="34" charset="0"/>
                <a:ea typeface="Arial" pitchFamily="34" charset="-122"/>
                <a:cs typeface="Arial" pitchFamily="34" charset="-120"/>
              </a:rPr>
              <a:t>Omission open</a:t>
            </a:r>
            <a:endParaRPr lang="en-US" sz="2000" dirty="0"/>
          </a:p>
        </p:txBody>
      </p:sp>
      <p:sp>
        <p:nvSpPr>
          <p:cNvPr id="10" name="Text 6"/>
          <p:cNvSpPr/>
          <p:nvPr/>
        </p:nvSpPr>
        <p:spPr>
          <a:xfrm>
            <a:off x="1079500" y="3108046"/>
            <a:ext cx="3701923"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6B73"/>
                </a:solidFill>
                <a:latin typeface="Arial" pitchFamily="34" charset="0"/>
                <a:ea typeface="Arial" pitchFamily="34" charset="-122"/>
                <a:cs typeface="Arial" pitchFamily="34" charset="-120"/>
              </a:rPr>
              <a:t>One payment save handler lacked server-side CSRF validation, as reported.</a:t>
            </a:r>
            <a:endParaRPr lang="en-US" sz="1300" dirty="0"/>
          </a:p>
        </p:txBody>
      </p:sp>
      <p:sp>
        <p:nvSpPr>
          <p:cNvPr id="11" name="Text 7"/>
          <p:cNvSpPr/>
          <p:nvPr/>
        </p:nvSpPr>
        <p:spPr>
          <a:xfrm>
            <a:off x="1079500" y="3867912"/>
            <a:ext cx="1778000" cy="383480"/>
          </a:xfrm>
          <a:prstGeom prst="roundRect">
            <a:avLst>
              <a:gd name="adj" fmla="val 16559"/>
            </a:avLst>
          </a:prstGeom>
          <a:solidFill>
            <a:srgbClr val="6B6B73"/>
          </a:solidFill>
          <a:ln/>
        </p:spPr>
        <p:txBody>
          <a:bodyPr wrap="square" lIns="108401" tIns="57601" rIns="108401" bIns="32201" rtlCol="0" anchor="t">
            <a:normAutofit/>
          </a:bodyPr>
          <a:lstStyle/>
          <a:p>
            <a:pPr marL="0" indent="0" algn="ctr">
              <a:lnSpc>
                <a:spcPts val="1820"/>
              </a:lnSpc>
              <a:buNone/>
            </a:pPr>
            <a:r>
              <a:rPr lang="en-US" sz="1300" b="1" dirty="0">
                <a:solidFill>
                  <a:srgbClr val="FFFFFF"/>
                </a:solidFill>
                <a:latin typeface="Arial" pitchFamily="34" charset="0"/>
                <a:ea typeface="Arial" pitchFamily="34" charset="-122"/>
                <a:cs typeface="Arial" pitchFamily="34" charset="-120"/>
              </a:rPr>
              <a:t>Merge ineligible</a:t>
            </a:r>
            <a:endParaRPr lang="en-US" sz="1300" dirty="0"/>
          </a:p>
        </p:txBody>
      </p:sp>
      <p:pic>
        <p:nvPicPr>
          <p:cNvPr id="12" name="Image 2" descr="arrow-right"/>
          <p:cNvPicPr>
            <a:picLocks noChangeAspect="1"/>
          </p:cNvPicPr>
          <p:nvPr/>
        </p:nvPicPr>
        <p:blipFill>
          <a:blip r:embed="rId5"/>
          <a:srcRect/>
          <a:stretch/>
        </p:blipFill>
        <p:spPr>
          <a:xfrm>
            <a:off x="5461000" y="2252821"/>
            <a:ext cx="1270000" cy="571500"/>
          </a:xfrm>
          <a:prstGeom prst="rect">
            <a:avLst/>
          </a:prstGeom>
        </p:spPr>
      </p:pic>
      <p:sp>
        <p:nvSpPr>
          <p:cNvPr id="13" name="Text 8"/>
          <p:cNvSpPr/>
          <p:nvPr/>
        </p:nvSpPr>
        <p:spPr>
          <a:xfrm>
            <a:off x="5244703" y="2951321"/>
            <a:ext cx="1702594" cy="314920"/>
          </a:xfrm>
          <a:prstGeom prst="roundRect">
            <a:avLst>
              <a:gd name="adj" fmla="val 16131"/>
            </a:avLst>
          </a:prstGeom>
          <a:solidFill>
            <a:srgbClr val="EEEEF0"/>
          </a:solidFill>
          <a:ln/>
        </p:spPr>
        <p:txBody>
          <a:bodyPr wrap="none" lIns="0" tIns="0" rIns="0" bIns="0" rtlCol="0" anchor="ctr">
            <a:normAutofit/>
          </a:bodyPr>
          <a:lstStyle/>
          <a:p>
            <a:pPr marL="0" indent="0" algn="ctr">
              <a:lnSpc>
                <a:spcPts val="1680"/>
              </a:lnSpc>
              <a:buNone/>
            </a:pPr>
            <a:r>
              <a:rPr lang="en-US" sz="1200" b="1" dirty="0">
                <a:solidFill>
                  <a:srgbClr val="33333A"/>
                </a:solidFill>
                <a:latin typeface="Arial" pitchFamily="34" charset="0"/>
                <a:ea typeface="Arial" pitchFamily="34" charset="-122"/>
                <a:cs typeface="Arial" pitchFamily="34" charset="-120"/>
              </a:rPr>
              <a:t>Re-check trace links</a:t>
            </a:r>
            <a:endParaRPr lang="en-US" sz="1200" dirty="0"/>
          </a:p>
        </p:txBody>
      </p:sp>
      <p:sp>
        <p:nvSpPr>
          <p:cNvPr id="14" name="Text 9"/>
          <p:cNvSpPr/>
          <p:nvPr/>
        </p:nvSpPr>
        <p:spPr>
          <a:xfrm>
            <a:off x="5130502" y="3393242"/>
            <a:ext cx="1930995" cy="314920"/>
          </a:xfrm>
          <a:prstGeom prst="roundRect">
            <a:avLst>
              <a:gd name="adj" fmla="val 16131"/>
            </a:avLst>
          </a:prstGeom>
          <a:solidFill>
            <a:srgbClr val="EEEEF0"/>
          </a:solidFill>
          <a:ln/>
        </p:spPr>
        <p:txBody>
          <a:bodyPr wrap="none" lIns="0" tIns="0" rIns="0" bIns="0" rtlCol="0" anchor="ctr">
            <a:normAutofit/>
          </a:bodyPr>
          <a:lstStyle/>
          <a:p>
            <a:pPr marL="0" indent="0" algn="ctr">
              <a:lnSpc>
                <a:spcPts val="1680"/>
              </a:lnSpc>
              <a:buNone/>
            </a:pPr>
            <a:r>
              <a:rPr lang="en-US" sz="1200" b="1" dirty="0">
                <a:solidFill>
                  <a:srgbClr val="33333A"/>
                </a:solidFill>
                <a:latin typeface="Arial" pitchFamily="34" charset="0"/>
                <a:ea typeface="Arial" pitchFamily="34" charset="-122"/>
                <a:cs typeface="Arial" pitchFamily="34" charset="-120"/>
              </a:rPr>
              <a:t>Re-run required checks</a:t>
            </a:r>
            <a:endParaRPr lang="en-US" sz="1200" dirty="0"/>
          </a:p>
        </p:txBody>
      </p:sp>
      <p:sp>
        <p:nvSpPr>
          <p:cNvPr id="15" name="Text 10"/>
          <p:cNvSpPr/>
          <p:nvPr/>
        </p:nvSpPr>
        <p:spPr>
          <a:xfrm>
            <a:off x="5354935" y="3835162"/>
            <a:ext cx="1482130" cy="314920"/>
          </a:xfrm>
          <a:prstGeom prst="roundRect">
            <a:avLst>
              <a:gd name="adj" fmla="val 16131"/>
            </a:avLst>
          </a:prstGeom>
          <a:solidFill>
            <a:srgbClr val="EEEEF0"/>
          </a:solidFill>
          <a:ln/>
        </p:spPr>
        <p:txBody>
          <a:bodyPr wrap="none" lIns="0" tIns="0" rIns="0" bIns="0" rtlCol="0" anchor="ctr">
            <a:normAutofit/>
          </a:bodyPr>
          <a:lstStyle/>
          <a:p>
            <a:pPr marL="0" indent="0" algn="ctr">
              <a:lnSpc>
                <a:spcPts val="1680"/>
              </a:lnSpc>
              <a:buNone/>
            </a:pPr>
            <a:r>
              <a:rPr lang="en-US" sz="1200" b="1" dirty="0">
                <a:solidFill>
                  <a:srgbClr val="33333A"/>
                </a:solidFill>
                <a:latin typeface="Arial" pitchFamily="34" charset="0"/>
                <a:ea typeface="Arial" pitchFamily="34" charset="-122"/>
                <a:cs typeface="Arial" pitchFamily="34" charset="-120"/>
              </a:rPr>
              <a:t>Renew approvals</a:t>
            </a:r>
            <a:endParaRPr lang="en-US" sz="1200" dirty="0"/>
          </a:p>
        </p:txBody>
      </p:sp>
      <p:sp>
        <p:nvSpPr>
          <p:cNvPr id="16" name="Shape 11"/>
          <p:cNvSpPr/>
          <p:nvPr/>
        </p:nvSpPr>
        <p:spPr>
          <a:xfrm>
            <a:off x="7258050" y="1890970"/>
            <a:ext cx="4114800" cy="2621062"/>
          </a:xfrm>
          <a:prstGeom prst="roundRect">
            <a:avLst>
              <a:gd name="adj" fmla="val 4603"/>
            </a:avLst>
          </a:prstGeom>
          <a:solidFill>
            <a:srgbClr val="FFFFFF"/>
          </a:solidFill>
          <a:ln w="12700">
            <a:solidFill>
              <a:srgbClr val="E3E3E6"/>
            </a:solidFill>
            <a:prstDash val="solid"/>
          </a:ln>
        </p:spPr>
        <p:txBody>
          <a:bodyPr/>
          <a:lstStyle/>
          <a:p>
            <a:endParaRPr lang="en-US"/>
          </a:p>
        </p:txBody>
      </p:sp>
      <p:sp>
        <p:nvSpPr>
          <p:cNvPr id="17" name="Text 12"/>
          <p:cNvSpPr/>
          <p:nvPr/>
        </p:nvSpPr>
        <p:spPr>
          <a:xfrm>
            <a:off x="7518400" y="2151320"/>
            <a:ext cx="370192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B6B73"/>
                </a:solidFill>
                <a:latin typeface="Arial" pitchFamily="34" charset="0"/>
                <a:ea typeface="Arial" pitchFamily="34" charset="-122"/>
                <a:cs typeface="Arial" pitchFamily="34" charset="-120"/>
              </a:rPr>
              <a:t>CORRECTED REVISION</a:t>
            </a:r>
            <a:endParaRPr lang="en-US" sz="1200" dirty="0"/>
          </a:p>
        </p:txBody>
      </p:sp>
      <p:sp>
        <p:nvSpPr>
          <p:cNvPr id="18" name="Shape 13"/>
          <p:cNvSpPr/>
          <p:nvPr/>
        </p:nvSpPr>
        <p:spPr>
          <a:xfrm>
            <a:off x="7518400" y="2745641"/>
            <a:ext cx="127000" cy="127000"/>
          </a:xfrm>
          <a:prstGeom prst="roundRect">
            <a:avLst>
              <a:gd name="adj" fmla="val 50000"/>
            </a:avLst>
          </a:prstGeom>
          <a:solidFill>
            <a:srgbClr val="ECC623"/>
          </a:solidFill>
          <a:ln/>
        </p:spPr>
        <p:txBody>
          <a:bodyPr/>
          <a:lstStyle/>
          <a:p>
            <a:endParaRPr lang="en-US"/>
          </a:p>
        </p:txBody>
      </p:sp>
      <p:sp>
        <p:nvSpPr>
          <p:cNvPr id="19" name="Text 14"/>
          <p:cNvSpPr/>
          <p:nvPr/>
        </p:nvSpPr>
        <p:spPr>
          <a:xfrm>
            <a:off x="7747000" y="2517041"/>
            <a:ext cx="3466465" cy="6096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33333A"/>
                </a:solidFill>
                <a:latin typeface="Arial" pitchFamily="34" charset="0"/>
                <a:ea typeface="Arial" pitchFamily="34" charset="-122"/>
                <a:cs typeface="Arial" pitchFamily="34" charset="-120"/>
              </a:rPr>
              <a:t>Fix present, evidence incomplete</a:t>
            </a:r>
            <a:endParaRPr lang="en-US" sz="2000" dirty="0"/>
          </a:p>
        </p:txBody>
      </p:sp>
      <p:sp>
        <p:nvSpPr>
          <p:cNvPr id="20" name="Text 15"/>
          <p:cNvSpPr/>
          <p:nvPr/>
        </p:nvSpPr>
        <p:spPr>
          <a:xfrm>
            <a:off x="7518400" y="3253641"/>
            <a:ext cx="3701923"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6B73"/>
                </a:solidFill>
                <a:latin typeface="Arial" pitchFamily="34" charset="0"/>
                <a:ea typeface="Arial" pitchFamily="34" charset="-122"/>
                <a:cs typeface="Arial" pitchFamily="34" charset="-120"/>
              </a:rPr>
              <a:t>Example assumption: required results and approval are still missing.</a:t>
            </a:r>
            <a:endParaRPr lang="en-US" sz="1300" dirty="0"/>
          </a:p>
        </p:txBody>
      </p:sp>
      <p:sp>
        <p:nvSpPr>
          <p:cNvPr id="21" name="Text 16"/>
          <p:cNvSpPr/>
          <p:nvPr/>
        </p:nvSpPr>
        <p:spPr>
          <a:xfrm>
            <a:off x="7518400" y="3868202"/>
            <a:ext cx="1778000" cy="383480"/>
          </a:xfrm>
          <a:prstGeom prst="roundRect">
            <a:avLst>
              <a:gd name="adj" fmla="val 16559"/>
            </a:avLst>
          </a:prstGeom>
          <a:solidFill>
            <a:srgbClr val="6B6B73"/>
          </a:solidFill>
          <a:ln/>
        </p:spPr>
        <p:txBody>
          <a:bodyPr wrap="square" lIns="108401" tIns="57601" rIns="108401" bIns="32201" rtlCol="0" anchor="t">
            <a:normAutofit/>
          </a:bodyPr>
          <a:lstStyle/>
          <a:p>
            <a:pPr marL="0" indent="0" algn="ctr">
              <a:lnSpc>
                <a:spcPts val="1820"/>
              </a:lnSpc>
              <a:buNone/>
            </a:pPr>
            <a:r>
              <a:rPr lang="en-US" sz="1300" b="1" dirty="0">
                <a:solidFill>
                  <a:srgbClr val="FFFFFF"/>
                </a:solidFill>
                <a:latin typeface="Arial" pitchFamily="34" charset="0"/>
                <a:ea typeface="Arial" pitchFamily="34" charset="-122"/>
                <a:cs typeface="Arial" pitchFamily="34" charset="-120"/>
              </a:rPr>
              <a:t>Merge ineligible</a:t>
            </a:r>
            <a:endParaRPr lang="en-US" sz="1300" dirty="0"/>
          </a:p>
        </p:txBody>
      </p:sp>
      <p:sp>
        <p:nvSpPr>
          <p:cNvPr id="23" name="Text 18"/>
          <p:cNvSpPr/>
          <p:nvPr/>
        </p:nvSpPr>
        <p:spPr>
          <a:xfrm>
            <a:off x="7532370" y="6238280"/>
            <a:ext cx="300863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A92"/>
                </a:solidFill>
                <a:latin typeface="Arial" pitchFamily="34" charset="0"/>
                <a:ea typeface="Arial" pitchFamily="34" charset="-122"/>
                <a:cs typeface="Arial" pitchFamily="34" charset="-120"/>
              </a:rPr>
              <a:t>ISC2.org/Congress | #ISC2Congress</a:t>
            </a:r>
            <a:endParaRPr lang="en-US" sz="1200" dirty="0"/>
          </a:p>
        </p:txBody>
      </p:sp>
      <p:sp>
        <p:nvSpPr>
          <p:cNvPr id="2000" name="Evidence subtitle">
            <a:extLst>
              <a:ext uri="{FF2B5EF4-FFF2-40B4-BE49-F238E27FC236}">
                <a16:creationId xmlns:a16="http://schemas.microsoft.com/office/drawing/2014/main" id="{7A952C08-AEED-440D-843A-87355C30EE03}"/>
              </a:ext>
            </a:extLst>
          </p:cNvPr>
          <p:cNvSpPr>
            <a:spLocks noGrp="1"/>
          </p:cNvSpPr>
          <p:nvPr/>
        </p:nvSpPr>
        <p:spPr>
          <a:xfrm>
            <a:off x="812902" y="1399032"/>
            <a:ext cx="10561320" cy="329184"/>
          </a:xfrm>
          <a:prstGeom prst="rect">
            <a:avLst/>
          </a:prstGeom>
          <a:noFill/>
          <a:ln w="0">
            <a:noFill/>
            <a:prstDash val="solid"/>
          </a:ln>
        </p:spPr>
        <p:txBody>
          <a:bodyPr wrap="square" lIns="0" tIns="0" rIns="0" bIns="0" anchor="t">
            <a:noAutofit/>
          </a:bodyPr>
          <a:lstStyle>
            <a:defPPr>
              <a:defRPr sz="1600">
                <a:solidFill>
                  <a:srgbClr val="6B6B73"/>
                </a:solidFill>
              </a:defRPr>
            </a:defPPr>
            <a:lvl1pPr>
              <a:defRPr sz="1600">
                <a:solidFill>
                  <a:srgbClr val="6B6B73"/>
                </a:solidFill>
              </a:defRPr>
            </a:lvl1pPr>
            <a:lvl2pPr>
              <a:defRPr sz="1600">
                <a:solidFill>
                  <a:srgbClr val="6B6B73"/>
                </a:solidFill>
              </a:defRPr>
            </a:lvl2pPr>
            <a:lvl3pPr>
              <a:defRPr sz="1600">
                <a:solidFill>
                  <a:srgbClr val="6B6B73"/>
                </a:solidFill>
              </a:defRPr>
            </a:lvl3pPr>
            <a:lvl4pPr>
              <a:defRPr sz="1600">
                <a:solidFill>
                  <a:srgbClr val="6B6B73"/>
                </a:solidFill>
              </a:defRPr>
            </a:lvl4pPr>
            <a:lvl5pPr>
              <a:defRPr sz="1600">
                <a:solidFill>
                  <a:srgbClr val="6B6B73"/>
                </a:solidFill>
              </a:defRPr>
            </a:lvl5pPr>
            <a:lvl6pPr>
              <a:defRPr sz="1600">
                <a:solidFill>
                  <a:srgbClr val="6B6B73"/>
                </a:solidFill>
              </a:defRPr>
            </a:lvl6pPr>
            <a:lvl7pPr>
              <a:defRPr sz="1600">
                <a:solidFill>
                  <a:srgbClr val="6B6B73"/>
                </a:solidFill>
              </a:defRPr>
            </a:lvl7pPr>
            <a:lvl8pPr>
              <a:defRPr sz="1600">
                <a:solidFill>
                  <a:srgbClr val="6B6B73"/>
                </a:solidFill>
              </a:defRPr>
            </a:lvl8pPr>
            <a:lvl9pPr>
              <a:defRPr sz="1600">
                <a:solidFill>
                  <a:srgbClr val="6B6B73"/>
                </a:solidFill>
              </a:defRPr>
            </a:lvl9pPr>
          </a:lstStyle>
          <a:p>
            <a:pPr>
              <a:defRPr sz="1600">
                <a:solidFill>
                  <a:srgbClr val="6B6B73"/>
                </a:solidFill>
              </a:defRPr>
            </a:pPr>
            <a:r>
              <a:rPr sz="1600">
                <a:solidFill>
                  <a:srgbClr val="6B6B73"/>
                </a:solidFill>
                <a:latin typeface="Arial"/>
                <a:ea typeface="Arial"/>
                <a:cs typeface="Arial"/>
              </a:rPr>
              <a:t>Proposed revision policy for PR #11958. Workflow not run.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
    <p:bg>
      <p:bgPr>
        <a:solidFill>
          <a:srgbClr val="FCFCFB"/>
        </a:solidFill>
        <a:effectLst/>
      </p:bgPr>
    </p:bg>
    <p:spTree>
      <p:nvGrpSpPr>
        <p:cNvPr id="1" name=""/>
        <p:cNvGrpSpPr/>
        <p:nvPr/>
      </p:nvGrpSpPr>
      <p:grpSpPr>
        <a:xfrm>
          <a:off x="0" y="0"/>
          <a:ext cx="0" cy="0"/>
          <a:chOff x="0" y="0"/>
          <a:chExt cx="0" cy="0"/>
        </a:xfrm>
      </p:grpSpPr>
      <p:pic>
        <p:nvPicPr>
          <p:cNvPr id="2" name="Image 0" descr="ISC2 Security Congress 2026"/>
          <p:cNvPicPr>
            <a:picLocks noChangeAspect="1"/>
          </p:cNvPicPr>
          <p:nvPr/>
        </p:nvPicPr>
        <p:blipFill>
          <a:blip r:embed="rId3"/>
          <a:srcRect l="-29" r="-29"/>
          <a:stretch/>
        </p:blipFill>
        <p:spPr>
          <a:xfrm>
            <a:off x="812800" y="279400"/>
            <a:ext cx="1276350" cy="279400"/>
          </a:xfrm>
          <a:prstGeom prst="rect">
            <a:avLst/>
          </a:prstGeom>
        </p:spPr>
      </p:pic>
      <p:pic>
        <p:nvPicPr>
          <p:cNvPr id="3" name="Image 1"/>
          <p:cNvPicPr>
            <a:picLocks noChangeAspect="1"/>
          </p:cNvPicPr>
          <p:nvPr/>
        </p:nvPicPr>
        <p:blipFill>
          <a:blip r:embed="rId4"/>
          <a:srcRect l="-87" r="-87"/>
          <a:stretch/>
        </p:blipFill>
        <p:spPr>
          <a:xfrm>
            <a:off x="10731500" y="5613400"/>
            <a:ext cx="1460500" cy="1244600"/>
          </a:xfrm>
          <a:prstGeom prst="rect">
            <a:avLst/>
          </a:prstGeom>
        </p:spPr>
      </p:pic>
      <p:sp>
        <p:nvSpPr>
          <p:cNvPr id="4" name="Text 0"/>
          <p:cNvSpPr>
            <a:spLocks noGrp="1"/>
          </p:cNvSpPr>
          <p:nvPr>
            <p:ph type="title"/>
          </p:nvPr>
        </p:nvSpPr>
        <p:spPr>
          <a:xfrm>
            <a:off x="812902" y="812902"/>
            <a:ext cx="8412480" cy="512064"/>
          </a:xfrm>
          <a:prstGeom prst="rect">
            <a:avLst/>
          </a:prstGeom>
          <a:noFill/>
          <a:ln/>
        </p:spPr>
        <p:txBody>
          <a:bodyPr wrap="square" lIns="0" tIns="0" rIns="0" bIns="0" rtlCol="0" anchor="t">
            <a:noAutofit/>
          </a:bodyPr>
          <a:lstStyle/>
          <a:p>
            <a:pPr marL="0" indent="0" algn="l">
              <a:lnSpc>
                <a:spcPts val="3800"/>
              </a:lnSpc>
              <a:spcBef>
                <a:spcPts val="0"/>
              </a:spcBef>
              <a:buNone/>
            </a:pPr>
            <a:r>
              <a:rPr lang="en-US" sz="3200" b="1" dirty="0">
                <a:solidFill>
                  <a:srgbClr val="4C8835"/>
                </a:solidFill>
                <a:latin typeface="Arial" pitchFamily="34" charset="0"/>
                <a:ea typeface="Arial" pitchFamily="34" charset="-122"/>
                <a:cs typeface="Arial" pitchFamily="34" charset="-120"/>
              </a:rPr>
              <a:t>Measure before adopting the workflow</a:t>
            </a:r>
            <a:endParaRPr lang="en-US" sz="3200"/>
          </a:p>
        </p:txBody>
      </p:sp>
      <p:sp>
        <p:nvSpPr>
          <p:cNvPr id="36" name="Text 25"/>
          <p:cNvSpPr/>
          <p:nvPr/>
        </p:nvSpPr>
        <p:spPr>
          <a:xfrm>
            <a:off x="7532370" y="6238280"/>
            <a:ext cx="300863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8A92"/>
                </a:solidFill>
                <a:latin typeface="Arial" pitchFamily="34" charset="0"/>
                <a:ea typeface="Arial" pitchFamily="34" charset="-122"/>
                <a:cs typeface="Arial" pitchFamily="34" charset="-120"/>
              </a:rPr>
              <a:t>ISC2.org/Congress | #ISC2Congress</a:t>
            </a:r>
            <a:endParaRPr lang="en-US" sz="1200" dirty="0"/>
          </a:p>
        </p:txBody>
      </p:sp>
      <p:sp>
        <p:nvSpPr>
          <p:cNvPr id="1000" name="Pilot scope">
            <a:extLst>
              <a:ext uri="{FF2B5EF4-FFF2-40B4-BE49-F238E27FC236}">
                <a16:creationId xmlns:a16="http://schemas.microsoft.com/office/drawing/2014/main" id="{EB64A5E6-0D19-4945-A725-9E8D536C4416}"/>
              </a:ext>
            </a:extLst>
          </p:cNvPr>
          <p:cNvSpPr>
            <a:spLocks noGrp="1"/>
          </p:cNvSpPr>
          <p:nvPr/>
        </p:nvSpPr>
        <p:spPr>
          <a:xfrm>
            <a:off x="812902" y="1399032"/>
            <a:ext cx="10561320" cy="411480"/>
          </a:xfrm>
          <a:prstGeom prst="rect">
            <a:avLst/>
          </a:prstGeom>
          <a:noFill/>
          <a:ln w="0">
            <a:noFill/>
            <a:prstDash val="solid"/>
          </a:ln>
        </p:spPr>
        <p:txBody>
          <a:bodyPr wrap="square" lIns="0" tIns="0" rIns="0" bIns="0" anchor="t">
            <a:noAutofit/>
          </a:bodyPr>
          <a:lstStyle>
            <a:defPPr>
              <a:defRPr sz="1800" b="0">
                <a:solidFill>
                  <a:srgbClr val="33333A"/>
                </a:solidFill>
              </a:defRPr>
            </a:defPPr>
            <a:lvl1pPr>
              <a:defRPr sz="1800" b="0">
                <a:solidFill>
                  <a:srgbClr val="33333A"/>
                </a:solidFill>
              </a:defRPr>
            </a:lvl1pPr>
            <a:lvl2pPr>
              <a:defRPr sz="1800" b="0">
                <a:solidFill>
                  <a:srgbClr val="33333A"/>
                </a:solidFill>
              </a:defRPr>
            </a:lvl2pPr>
            <a:lvl3pPr>
              <a:defRPr sz="1800" b="0">
                <a:solidFill>
                  <a:srgbClr val="33333A"/>
                </a:solidFill>
              </a:defRPr>
            </a:lvl3pPr>
            <a:lvl4pPr>
              <a:defRPr sz="1800" b="0">
                <a:solidFill>
                  <a:srgbClr val="33333A"/>
                </a:solidFill>
              </a:defRPr>
            </a:lvl4pPr>
            <a:lvl5pPr>
              <a:defRPr sz="1800" b="0">
                <a:solidFill>
                  <a:srgbClr val="33333A"/>
                </a:solidFill>
              </a:defRPr>
            </a:lvl5pPr>
            <a:lvl6pPr>
              <a:defRPr sz="1800" b="0">
                <a:solidFill>
                  <a:srgbClr val="33333A"/>
                </a:solidFill>
              </a:defRPr>
            </a:lvl6pPr>
            <a:lvl7pPr>
              <a:defRPr sz="1800" b="0">
                <a:solidFill>
                  <a:srgbClr val="33333A"/>
                </a:solidFill>
              </a:defRPr>
            </a:lvl7pPr>
            <a:lvl8pPr>
              <a:defRPr sz="1800" b="0">
                <a:solidFill>
                  <a:srgbClr val="33333A"/>
                </a:solidFill>
              </a:defRPr>
            </a:lvl8pPr>
            <a:lvl9pPr>
              <a:defRPr sz="1800" b="0">
                <a:solidFill>
                  <a:srgbClr val="33333A"/>
                </a:solidFill>
              </a:defRPr>
            </a:lvl9pPr>
          </a:lstStyle>
          <a:p>
            <a:pPr>
              <a:defRPr sz="1800" b="0">
                <a:solidFill>
                  <a:srgbClr val="33333A"/>
                </a:solidFill>
              </a:defRPr>
            </a:pPr>
            <a:r>
              <a:rPr sz="1800" b="0">
                <a:solidFill>
                  <a:srgbClr val="33333A"/>
                </a:solidFill>
                <a:latin typeface="Arial"/>
                <a:ea typeface="Arial"/>
                <a:cs typeface="Arial"/>
              </a:rPr>
              <a:t>Freeze the workflow and context-selection rules, then evaluate held-out full PRs.</a:t>
            </a:r>
          </a:p>
        </p:txBody>
      </p:sp>
      <p:sp>
        <p:nvSpPr>
          <p:cNvPr id="1001" name="Acceptance">
            <a:extLst>
              <a:ext uri="{FF2B5EF4-FFF2-40B4-BE49-F238E27FC236}">
                <a16:creationId xmlns:a16="http://schemas.microsoft.com/office/drawing/2014/main" id="{0E103077-FE2A-470B-A655-2F690AF1371F}"/>
              </a:ext>
            </a:extLst>
          </p:cNvPr>
          <p:cNvSpPr>
            <a:spLocks noGrp="1"/>
          </p:cNvSpPr>
          <p:nvPr/>
        </p:nvSpPr>
        <p:spPr>
          <a:xfrm>
            <a:off x="812902" y="5806440"/>
            <a:ext cx="10561320" cy="457200"/>
          </a:xfrm>
          <a:prstGeom prst="rect">
            <a:avLst/>
          </a:prstGeom>
          <a:noFill/>
          <a:ln w="0">
            <a:noFill/>
            <a:prstDash val="solid"/>
          </a:ln>
        </p:spPr>
        <p:txBody>
          <a:bodyPr wrap="square" lIns="0" tIns="0" rIns="0" bIns="0" anchor="t">
            <a:noAutofit/>
          </a:bodyPr>
          <a:lstStyle>
            <a:defPPr>
              <a:defRPr sz="1600" b="1">
                <a:solidFill>
                  <a:srgbClr val="4C8835"/>
                </a:solidFill>
              </a:defRPr>
            </a:defPPr>
            <a:lvl1pPr>
              <a:defRPr sz="1600" b="1">
                <a:solidFill>
                  <a:srgbClr val="4C8835"/>
                </a:solidFill>
              </a:defRPr>
            </a:lvl1pPr>
            <a:lvl2pPr>
              <a:defRPr sz="1600" b="1">
                <a:solidFill>
                  <a:srgbClr val="4C8835"/>
                </a:solidFill>
              </a:defRPr>
            </a:lvl2pPr>
            <a:lvl3pPr>
              <a:defRPr sz="1600" b="1">
                <a:solidFill>
                  <a:srgbClr val="4C8835"/>
                </a:solidFill>
              </a:defRPr>
            </a:lvl3pPr>
            <a:lvl4pPr>
              <a:defRPr sz="1600" b="1">
                <a:solidFill>
                  <a:srgbClr val="4C8835"/>
                </a:solidFill>
              </a:defRPr>
            </a:lvl4pPr>
            <a:lvl5pPr>
              <a:defRPr sz="1600" b="1">
                <a:solidFill>
                  <a:srgbClr val="4C8835"/>
                </a:solidFill>
              </a:defRPr>
            </a:lvl5pPr>
            <a:lvl6pPr>
              <a:defRPr sz="1600" b="1">
                <a:solidFill>
                  <a:srgbClr val="4C8835"/>
                </a:solidFill>
              </a:defRPr>
            </a:lvl6pPr>
            <a:lvl7pPr>
              <a:defRPr sz="1600" b="1">
                <a:solidFill>
                  <a:srgbClr val="4C8835"/>
                </a:solidFill>
              </a:defRPr>
            </a:lvl7pPr>
            <a:lvl8pPr>
              <a:defRPr sz="1600" b="1">
                <a:solidFill>
                  <a:srgbClr val="4C8835"/>
                </a:solidFill>
              </a:defRPr>
            </a:lvl8pPr>
            <a:lvl9pPr>
              <a:defRPr sz="1600" b="1">
                <a:solidFill>
                  <a:srgbClr val="4C8835"/>
                </a:solidFill>
              </a:defRPr>
            </a:lvl9pPr>
          </a:lstStyle>
          <a:p>
            <a:pPr>
              <a:defRPr sz="1600" b="1">
                <a:solidFill>
                  <a:srgbClr val="4C8835"/>
                </a:solidFill>
              </a:defRPr>
            </a:pPr>
            <a:r>
              <a:rPr sz="1600" b="1">
                <a:solidFill>
                  <a:srgbClr val="4C8835"/>
                </a:solidFill>
                <a:latin typeface="Arial"/>
                <a:ea typeface="Arial"/>
                <a:cs typeface="Arial"/>
              </a:rPr>
              <a:t>Set acceptance criteria before the pilot. Record the decision and its accountable owner.</a:t>
            </a:r>
          </a:p>
        </p:txBody>
      </p:sp>
      <p:graphicFrame>
        <p:nvGraphicFramePr>
          <p:cNvPr id="81" name="Editable case evidence"/>
          <p:cNvGraphicFramePr/>
          <p:nvPr/>
        </p:nvGraphicFramePr>
        <p:xfrm>
          <a:off x="812902" y="1938528"/>
          <a:ext cx="10561320" cy="3410712"/>
        </p:xfrm>
        <a:graphic>
          <a:graphicData uri="http://schemas.openxmlformats.org/drawingml/2006/table">
            <a:tbl>
              <a:tblPr firstRow="1"/>
              <a:tblGrid>
                <a:gridCol w="2971800">
                  <a:extLst>
                    <a:ext uri="{9D8B030D-6E8A-4147-A177-3AD203B41FA5}">
                      <a16:colId xmlns:a16="http://schemas.microsoft.com/office/drawing/2014/main" val="20000"/>
                    </a:ext>
                  </a:extLst>
                </a:gridCol>
                <a:gridCol w="7589520">
                  <a:extLst>
                    <a:ext uri="{9D8B030D-6E8A-4147-A177-3AD203B41FA5}">
                      <a16:colId xmlns:a16="http://schemas.microsoft.com/office/drawing/2014/main" val="20001"/>
                    </a:ext>
                  </a:extLst>
                </a:gridCol>
              </a:tblGrid>
              <a:tr h="621792">
                <a:tc>
                  <a:txBody>
                    <a:bodyPr/>
                    <a:lstStyle/>
                    <a:p>
                      <a:pPr marL="0" indent="0" algn="l">
                        <a:lnSpc>
                          <a:spcPts val="2000"/>
                        </a:lnSpc>
                        <a:spcBef>
                          <a:spcPts val="0"/>
                        </a:spcBef>
                        <a:buNone/>
                      </a:pPr>
                      <a:r>
                        <a:rPr lang="en-US" sz="1400" b="1" dirty="0">
                          <a:solidFill>
                            <a:srgbClr val="FFFFFF"/>
                          </a:solidFill>
                          <a:latin typeface="Arial" pitchFamily="34" charset="0"/>
                          <a:ea typeface="Arial" pitchFamily="34" charset="-122"/>
                          <a:cs typeface="Arial" pitchFamily="34" charset="-120"/>
                        </a:rPr>
                        <a:t>Measure</a:t>
                      </a:r>
                      <a:endParaRPr lang="en-US" sz="1400"/>
                    </a:p>
                  </a:txBody>
                  <a:tcPr marL="164592" marR="164592" anchor="ctr">
                    <a:lnL w="6350">
                      <a:solidFill>
                        <a:srgbClr val="E0E3DD"/>
                      </a:solidFill>
                    </a:lnL>
                    <a:lnR w="6350">
                      <a:solidFill>
                        <a:srgbClr val="E0E3DD"/>
                      </a:solidFill>
                    </a:lnR>
                    <a:lnT w="6350">
                      <a:solidFill>
                        <a:srgbClr val="E0E3DD"/>
                      </a:solidFill>
                    </a:lnT>
                    <a:lnB w="6350">
                      <a:solidFill>
                        <a:srgbClr val="E0E3DD"/>
                      </a:solidFill>
                    </a:lnB>
                    <a:solidFill>
                      <a:srgbClr val="0086B6"/>
                    </a:solidFill>
                  </a:tcPr>
                </a:tc>
                <a:tc>
                  <a:txBody>
                    <a:bodyPr/>
                    <a:lstStyle/>
                    <a:p>
                      <a:pPr marL="0" indent="0" algn="l">
                        <a:lnSpc>
                          <a:spcPts val="2000"/>
                        </a:lnSpc>
                        <a:spcBef>
                          <a:spcPts val="0"/>
                        </a:spcBef>
                        <a:buNone/>
                      </a:pPr>
                      <a:r>
                        <a:rPr lang="en-US" sz="1400" b="1" dirty="0">
                          <a:solidFill>
                            <a:srgbClr val="FFFFFF"/>
                          </a:solidFill>
                          <a:latin typeface="Arial" pitchFamily="34" charset="0"/>
                          <a:ea typeface="Arial" pitchFamily="34" charset="-122"/>
                          <a:cs typeface="Arial" pitchFamily="34" charset="-120"/>
                        </a:rPr>
                        <a:t>Record for baseline and proposed workflow</a:t>
                      </a:r>
                      <a:endParaRPr lang="en-US" sz="1400"/>
                    </a:p>
                  </a:txBody>
                  <a:tcPr marL="164592" marR="164592" anchor="ctr">
                    <a:lnL w="6350">
                      <a:solidFill>
                        <a:srgbClr val="E0E3DD"/>
                      </a:solidFill>
                    </a:lnL>
                    <a:lnR w="6350">
                      <a:solidFill>
                        <a:srgbClr val="E0E3DD"/>
                      </a:solidFill>
                    </a:lnR>
                    <a:lnT w="6350">
                      <a:solidFill>
                        <a:srgbClr val="E0E3DD"/>
                      </a:solidFill>
                    </a:lnT>
                    <a:lnB w="6350">
                      <a:solidFill>
                        <a:srgbClr val="E0E3DD"/>
                      </a:solidFill>
                    </a:lnB>
                    <a:solidFill>
                      <a:srgbClr val="0086B6"/>
                    </a:solidFill>
                  </a:tcPr>
                </a:tc>
                <a:extLst>
                  <a:ext uri="{0D108BD9-81ED-4DB2-BD59-A6C34878D82A}">
                    <a16:rowId xmlns:a16="http://schemas.microsoft.com/office/drawing/2014/main" val="10000"/>
                  </a:ext>
                </a:extLst>
              </a:tr>
              <a:tr h="557784">
                <a:tc>
                  <a:txBody>
                    <a:bodyPr/>
                    <a:lstStyle/>
                    <a:p>
                      <a:pPr marL="0" indent="0" algn="l">
                        <a:lnSpc>
                          <a:spcPts val="2000"/>
                        </a:lnSpc>
                        <a:spcBef>
                          <a:spcPts val="0"/>
                        </a:spcBef>
                        <a:buNone/>
                      </a:pPr>
                      <a:r>
                        <a:rPr lang="en-US" sz="1700" b="0" dirty="0">
                          <a:solidFill>
                            <a:srgbClr val="33333A"/>
                          </a:solidFill>
                          <a:latin typeface="Arial" pitchFamily="34" charset="0"/>
                          <a:ea typeface="Arial" pitchFamily="34" charset="-122"/>
                          <a:cs typeface="Arial" pitchFamily="34" charset="-120"/>
                        </a:rPr>
                        <a:t>Verified catches</a:t>
                      </a:r>
                      <a:endParaRPr lang="en-US" sz="1700"/>
                    </a:p>
                  </a:txBody>
                  <a:tcPr marL="164592" marR="164592" anchor="ctr">
                    <a:lnL w="6350">
                      <a:solidFill>
                        <a:srgbClr val="E0E3DD"/>
                      </a:solidFill>
                    </a:lnL>
                    <a:lnR w="6350">
                      <a:solidFill>
                        <a:srgbClr val="E0E3DD"/>
                      </a:solidFill>
                    </a:lnR>
                    <a:lnT w="6350">
                      <a:solidFill>
                        <a:srgbClr val="E0E3DD"/>
                      </a:solidFill>
                    </a:lnT>
                    <a:lnB w="6350">
                      <a:solidFill>
                        <a:srgbClr val="E0E3DD"/>
                      </a:solidFill>
                    </a:lnB>
                    <a:solidFill>
                      <a:srgbClr val="FFFFFF"/>
                    </a:solidFill>
                  </a:tcPr>
                </a:tc>
                <a:tc>
                  <a:txBody>
                    <a:bodyPr/>
                    <a:lstStyle/>
                    <a:p>
                      <a:pPr marL="0" indent="0" algn="l">
                        <a:lnSpc>
                          <a:spcPts val="2000"/>
                        </a:lnSpc>
                        <a:spcBef>
                          <a:spcPts val="0"/>
                        </a:spcBef>
                        <a:buNone/>
                      </a:pPr>
                      <a:r>
                        <a:rPr lang="en-US" sz="1700" b="0" dirty="0">
                          <a:solidFill>
                            <a:srgbClr val="33333A"/>
                          </a:solidFill>
                          <a:latin typeface="Arial" pitchFamily="34" charset="0"/>
                          <a:ea typeface="Arial" pitchFamily="34" charset="-122"/>
                          <a:cs typeface="Arial" pitchFamily="34" charset="-120"/>
                        </a:rPr>
                        <a:t>Independently confirmed findings / known issues</a:t>
                      </a:r>
                      <a:endParaRPr lang="en-US" sz="1700"/>
                    </a:p>
                  </a:txBody>
                  <a:tcPr marL="164592" marR="164592" anchor="ctr">
                    <a:lnL w="6350">
                      <a:solidFill>
                        <a:srgbClr val="E0E3DD"/>
                      </a:solidFill>
                    </a:lnL>
                    <a:lnR w="6350">
                      <a:solidFill>
                        <a:srgbClr val="E0E3DD"/>
                      </a:solidFill>
                    </a:lnR>
                    <a:lnT w="6350">
                      <a:solidFill>
                        <a:srgbClr val="E0E3DD"/>
                      </a:solidFill>
                    </a:lnT>
                    <a:lnB w="6350">
                      <a:solidFill>
                        <a:srgbClr val="E0E3DD"/>
                      </a:solidFill>
                    </a:lnB>
                    <a:solidFill>
                      <a:srgbClr val="FFFFFF"/>
                    </a:solidFill>
                  </a:tcPr>
                </a:tc>
                <a:extLst>
                  <a:ext uri="{0D108BD9-81ED-4DB2-BD59-A6C34878D82A}">
                    <a16:rowId xmlns:a16="http://schemas.microsoft.com/office/drawing/2014/main" val="10001"/>
                  </a:ext>
                </a:extLst>
              </a:tr>
              <a:tr h="557784">
                <a:tc>
                  <a:txBody>
                    <a:bodyPr/>
                    <a:lstStyle/>
                    <a:p>
                      <a:pPr marL="0" indent="0" algn="l">
                        <a:lnSpc>
                          <a:spcPts val="2000"/>
                        </a:lnSpc>
                        <a:spcBef>
                          <a:spcPts val="0"/>
                        </a:spcBef>
                        <a:buNone/>
                      </a:pPr>
                      <a:r>
                        <a:rPr lang="en-US" sz="1700" b="0" dirty="0">
                          <a:solidFill>
                            <a:srgbClr val="33333A"/>
                          </a:solidFill>
                          <a:latin typeface="Arial" pitchFamily="34" charset="0"/>
                          <a:ea typeface="Arial" pitchFamily="34" charset="-122"/>
                          <a:cs typeface="Arial" pitchFamily="34" charset="-120"/>
                        </a:rPr>
                        <a:t>Lost baseline catches</a:t>
                      </a:r>
                      <a:endParaRPr lang="en-US" sz="1700"/>
                    </a:p>
                  </a:txBody>
                  <a:tcPr marL="164592" marR="164592" anchor="ctr">
                    <a:lnL w="6350">
                      <a:solidFill>
                        <a:srgbClr val="E0E3DD"/>
                      </a:solidFill>
                    </a:lnL>
                    <a:lnR w="6350">
                      <a:solidFill>
                        <a:srgbClr val="E0E3DD"/>
                      </a:solidFill>
                    </a:lnR>
                    <a:lnT w="6350">
                      <a:solidFill>
                        <a:srgbClr val="E0E3DD"/>
                      </a:solidFill>
                    </a:lnT>
                    <a:lnB w="6350">
                      <a:solidFill>
                        <a:srgbClr val="E0E3DD"/>
                      </a:solidFill>
                    </a:lnB>
                    <a:solidFill>
                      <a:srgbClr val="F5F7F2"/>
                    </a:solidFill>
                  </a:tcPr>
                </a:tc>
                <a:tc>
                  <a:txBody>
                    <a:bodyPr/>
                    <a:lstStyle/>
                    <a:p>
                      <a:pPr marL="0" indent="0" algn="l">
                        <a:lnSpc>
                          <a:spcPts val="2000"/>
                        </a:lnSpc>
                        <a:spcBef>
                          <a:spcPts val="0"/>
                        </a:spcBef>
                        <a:buNone/>
                      </a:pPr>
                      <a:r>
                        <a:rPr lang="en-US" sz="1700" b="0" dirty="0">
                          <a:solidFill>
                            <a:srgbClr val="33333A"/>
                          </a:solidFill>
                          <a:latin typeface="Arial" pitchFamily="34" charset="0"/>
                          <a:ea typeface="Arial" pitchFamily="34" charset="-122"/>
                          <a:cs typeface="Arial" pitchFamily="34" charset="-120"/>
                        </a:rPr>
                        <a:t>Issues caught before but missed by the new workflow</a:t>
                      </a:r>
                      <a:endParaRPr lang="en-US" sz="1700"/>
                    </a:p>
                  </a:txBody>
                  <a:tcPr marL="164592" marR="164592" anchor="ctr">
                    <a:lnL w="6350">
                      <a:solidFill>
                        <a:srgbClr val="E0E3DD"/>
                      </a:solidFill>
                    </a:lnL>
                    <a:lnR w="6350">
                      <a:solidFill>
                        <a:srgbClr val="E0E3DD"/>
                      </a:solidFill>
                    </a:lnR>
                    <a:lnT w="6350">
                      <a:solidFill>
                        <a:srgbClr val="E0E3DD"/>
                      </a:solidFill>
                    </a:lnT>
                    <a:lnB w="6350">
                      <a:solidFill>
                        <a:srgbClr val="E0E3DD"/>
                      </a:solidFill>
                    </a:lnB>
                    <a:solidFill>
                      <a:srgbClr val="F5F7F2"/>
                    </a:solidFill>
                  </a:tcPr>
                </a:tc>
                <a:extLst>
                  <a:ext uri="{0D108BD9-81ED-4DB2-BD59-A6C34878D82A}">
                    <a16:rowId xmlns:a16="http://schemas.microsoft.com/office/drawing/2014/main" val="10002"/>
                  </a:ext>
                </a:extLst>
              </a:tr>
              <a:tr h="557784">
                <a:tc>
                  <a:txBody>
                    <a:bodyPr/>
                    <a:lstStyle/>
                    <a:p>
                      <a:pPr marL="0" indent="0" algn="l">
                        <a:lnSpc>
                          <a:spcPts val="2000"/>
                        </a:lnSpc>
                        <a:spcBef>
                          <a:spcPts val="0"/>
                        </a:spcBef>
                        <a:buNone/>
                      </a:pPr>
                      <a:r>
                        <a:rPr lang="en-US" sz="1700" b="0" dirty="0">
                          <a:solidFill>
                            <a:srgbClr val="33333A"/>
                          </a:solidFill>
                          <a:latin typeface="Arial" pitchFamily="34" charset="0"/>
                          <a:ea typeface="Arial" pitchFamily="34" charset="-122"/>
                          <a:cs typeface="Arial" pitchFamily="34" charset="-120"/>
                        </a:rPr>
                        <a:t>False alarms</a:t>
                      </a:r>
                      <a:endParaRPr lang="en-US" sz="1700"/>
                    </a:p>
                  </a:txBody>
                  <a:tcPr marL="164592" marR="164592" anchor="ctr">
                    <a:lnL w="6350">
                      <a:solidFill>
                        <a:srgbClr val="E0E3DD"/>
                      </a:solidFill>
                    </a:lnL>
                    <a:lnR w="6350">
                      <a:solidFill>
                        <a:srgbClr val="E0E3DD"/>
                      </a:solidFill>
                    </a:lnR>
                    <a:lnT w="6350">
                      <a:solidFill>
                        <a:srgbClr val="E0E3DD"/>
                      </a:solidFill>
                    </a:lnT>
                    <a:lnB w="6350">
                      <a:solidFill>
                        <a:srgbClr val="E0E3DD"/>
                      </a:solidFill>
                    </a:lnB>
                    <a:solidFill>
                      <a:srgbClr val="FFFFFF"/>
                    </a:solidFill>
                  </a:tcPr>
                </a:tc>
                <a:tc>
                  <a:txBody>
                    <a:bodyPr/>
                    <a:lstStyle/>
                    <a:p>
                      <a:pPr marL="0" indent="0" algn="l">
                        <a:lnSpc>
                          <a:spcPts val="2000"/>
                        </a:lnSpc>
                        <a:spcBef>
                          <a:spcPts val="0"/>
                        </a:spcBef>
                        <a:buNone/>
                      </a:pPr>
                      <a:r>
                        <a:rPr lang="en-US" sz="1700" b="0" dirty="0">
                          <a:solidFill>
                            <a:srgbClr val="33333A"/>
                          </a:solidFill>
                          <a:latin typeface="Arial" pitchFamily="34" charset="0"/>
                          <a:ea typeface="Arial" pitchFamily="34" charset="-122"/>
                          <a:cs typeface="Arial" pitchFamily="34" charset="-120"/>
                        </a:rPr>
                        <a:t>Affected reviews / total reviews; severity and triage time</a:t>
                      </a:r>
                      <a:endParaRPr lang="en-US" sz="1700"/>
                    </a:p>
                  </a:txBody>
                  <a:tcPr marL="164592" marR="164592" anchor="ctr">
                    <a:lnL w="6350">
                      <a:solidFill>
                        <a:srgbClr val="E0E3DD"/>
                      </a:solidFill>
                    </a:lnL>
                    <a:lnR w="6350">
                      <a:solidFill>
                        <a:srgbClr val="E0E3DD"/>
                      </a:solidFill>
                    </a:lnR>
                    <a:lnT w="6350">
                      <a:solidFill>
                        <a:srgbClr val="E0E3DD"/>
                      </a:solidFill>
                    </a:lnT>
                    <a:lnB w="6350">
                      <a:solidFill>
                        <a:srgbClr val="E0E3DD"/>
                      </a:solidFill>
                    </a:lnB>
                    <a:solidFill>
                      <a:srgbClr val="FFFFFF"/>
                    </a:solidFill>
                  </a:tcPr>
                </a:tc>
                <a:extLst>
                  <a:ext uri="{0D108BD9-81ED-4DB2-BD59-A6C34878D82A}">
                    <a16:rowId xmlns:a16="http://schemas.microsoft.com/office/drawing/2014/main" val="10003"/>
                  </a:ext>
                </a:extLst>
              </a:tr>
              <a:tr h="557784">
                <a:tc>
                  <a:txBody>
                    <a:bodyPr/>
                    <a:lstStyle/>
                    <a:p>
                      <a:pPr marL="0" indent="0" algn="l">
                        <a:lnSpc>
                          <a:spcPts val="2000"/>
                        </a:lnSpc>
                        <a:spcBef>
                          <a:spcPts val="0"/>
                        </a:spcBef>
                        <a:buNone/>
                      </a:pPr>
                      <a:r>
                        <a:rPr lang="en-US" sz="1700" b="0" dirty="0">
                          <a:solidFill>
                            <a:srgbClr val="33333A"/>
                          </a:solidFill>
                          <a:latin typeface="Arial" pitchFamily="34" charset="0"/>
                          <a:ea typeface="Arial" pitchFamily="34" charset="-122"/>
                          <a:cs typeface="Arial" pitchFamily="34" charset="-120"/>
                        </a:rPr>
                        <a:t>Review effort</a:t>
                      </a:r>
                      <a:endParaRPr lang="en-US" sz="1700"/>
                    </a:p>
                  </a:txBody>
                  <a:tcPr marL="164592" marR="164592" anchor="ctr">
                    <a:lnL w="6350">
                      <a:solidFill>
                        <a:srgbClr val="E0E3DD"/>
                      </a:solidFill>
                    </a:lnL>
                    <a:lnR w="6350">
                      <a:solidFill>
                        <a:srgbClr val="E0E3DD"/>
                      </a:solidFill>
                    </a:lnR>
                    <a:lnT w="6350">
                      <a:solidFill>
                        <a:srgbClr val="E0E3DD"/>
                      </a:solidFill>
                    </a:lnT>
                    <a:lnB w="6350">
                      <a:solidFill>
                        <a:srgbClr val="E0E3DD"/>
                      </a:solidFill>
                    </a:lnB>
                    <a:solidFill>
                      <a:srgbClr val="F5F7F2"/>
                    </a:solidFill>
                  </a:tcPr>
                </a:tc>
                <a:tc>
                  <a:txBody>
                    <a:bodyPr/>
                    <a:lstStyle/>
                    <a:p>
                      <a:pPr marL="0" indent="0" algn="l">
                        <a:lnSpc>
                          <a:spcPts val="2000"/>
                        </a:lnSpc>
                        <a:spcBef>
                          <a:spcPts val="0"/>
                        </a:spcBef>
                        <a:buNone/>
                      </a:pPr>
                      <a:r>
                        <a:rPr lang="en-US" sz="1700" b="0" dirty="0">
                          <a:solidFill>
                            <a:srgbClr val="33333A"/>
                          </a:solidFill>
                          <a:latin typeface="Arial" pitchFamily="34" charset="0"/>
                          <a:ea typeface="Arial" pitchFamily="34" charset="-122"/>
                          <a:cs typeface="Arial" pitchFamily="34" charset="-120"/>
                        </a:rPr>
                        <a:t>Median reviewer minutes and delay per PR</a:t>
                      </a:r>
                      <a:endParaRPr lang="en-US" sz="1700"/>
                    </a:p>
                  </a:txBody>
                  <a:tcPr marL="164592" marR="164592" anchor="ctr">
                    <a:lnL w="6350">
                      <a:solidFill>
                        <a:srgbClr val="E0E3DD"/>
                      </a:solidFill>
                    </a:lnL>
                    <a:lnR w="6350">
                      <a:solidFill>
                        <a:srgbClr val="E0E3DD"/>
                      </a:solidFill>
                    </a:lnR>
                    <a:lnT w="6350">
                      <a:solidFill>
                        <a:srgbClr val="E0E3DD"/>
                      </a:solidFill>
                    </a:lnT>
                    <a:lnB w="6350">
                      <a:solidFill>
                        <a:srgbClr val="E0E3DD"/>
                      </a:solidFill>
                    </a:lnB>
                    <a:solidFill>
                      <a:srgbClr val="F5F7F2"/>
                    </a:solidFill>
                  </a:tcPr>
                </a:tc>
                <a:extLst>
                  <a:ext uri="{0D108BD9-81ED-4DB2-BD59-A6C34878D82A}">
                    <a16:rowId xmlns:a16="http://schemas.microsoft.com/office/drawing/2014/main" val="10004"/>
                  </a:ext>
                </a:extLst>
              </a:tr>
              <a:tr h="557784">
                <a:tc>
                  <a:txBody>
                    <a:bodyPr/>
                    <a:lstStyle/>
                    <a:p>
                      <a:pPr marL="0" indent="0" algn="l">
                        <a:lnSpc>
                          <a:spcPts val="2000"/>
                        </a:lnSpc>
                        <a:spcBef>
                          <a:spcPts val="0"/>
                        </a:spcBef>
                        <a:buNone/>
                      </a:pPr>
                      <a:r>
                        <a:rPr lang="en-US" sz="1700" b="0" dirty="0">
                          <a:solidFill>
                            <a:srgbClr val="33333A"/>
                          </a:solidFill>
                          <a:latin typeface="Arial" pitchFamily="34" charset="0"/>
                          <a:ea typeface="Arial" pitchFamily="34" charset="-122"/>
                          <a:cs typeface="Arial" pitchFamily="34" charset="-120"/>
                        </a:rPr>
                        <a:t>Adoption decision</a:t>
                      </a:r>
                      <a:endParaRPr lang="en-US" sz="1700"/>
                    </a:p>
                  </a:txBody>
                  <a:tcPr marL="164592" marR="164592" anchor="ctr">
                    <a:lnL w="6350">
                      <a:solidFill>
                        <a:srgbClr val="E0E3DD"/>
                      </a:solidFill>
                    </a:lnL>
                    <a:lnR w="6350">
                      <a:solidFill>
                        <a:srgbClr val="E0E3DD"/>
                      </a:solidFill>
                    </a:lnR>
                    <a:lnT w="6350">
                      <a:solidFill>
                        <a:srgbClr val="E0E3DD"/>
                      </a:solidFill>
                    </a:lnT>
                    <a:lnB w="6350">
                      <a:solidFill>
                        <a:srgbClr val="E0E3DD"/>
                      </a:solidFill>
                    </a:lnB>
                    <a:solidFill>
                      <a:srgbClr val="FFFFFF"/>
                    </a:solidFill>
                  </a:tcPr>
                </a:tc>
                <a:tc>
                  <a:txBody>
                    <a:bodyPr/>
                    <a:lstStyle/>
                    <a:p>
                      <a:pPr marL="0" indent="0" algn="l">
                        <a:lnSpc>
                          <a:spcPts val="2000"/>
                        </a:lnSpc>
                        <a:spcBef>
                          <a:spcPts val="0"/>
                        </a:spcBef>
                        <a:buNone/>
                      </a:pPr>
                      <a:r>
                        <a:rPr lang="en-US" sz="1700" b="0" dirty="0">
                          <a:solidFill>
                            <a:srgbClr val="33333A"/>
                          </a:solidFill>
                          <a:latin typeface="Arial" pitchFamily="34" charset="0"/>
                          <a:ea typeface="Arial" pitchFamily="34" charset="-122"/>
                          <a:cs typeface="Arial" pitchFamily="34" charset="-120"/>
                        </a:rPr>
                        <a:t>Acceptance criteria, scope, decision and named owner</a:t>
                      </a:r>
                      <a:endParaRPr lang="en-US" sz="1700"/>
                    </a:p>
                  </a:txBody>
                  <a:tcPr marL="164592" marR="164592" anchor="ctr">
                    <a:lnL w="6350">
                      <a:solidFill>
                        <a:srgbClr val="E0E3DD"/>
                      </a:solidFill>
                    </a:lnL>
                    <a:lnR w="6350">
                      <a:solidFill>
                        <a:srgbClr val="E0E3DD"/>
                      </a:solidFill>
                    </a:lnR>
                    <a:lnT w="6350">
                      <a:solidFill>
                        <a:srgbClr val="E0E3DD"/>
                      </a:solidFill>
                    </a:lnT>
                    <a:lnB w="6350">
                      <a:solidFill>
                        <a:srgbClr val="E0E3DD"/>
                      </a:solidFill>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Who Writes the Bug, Who Finds the Bug — OpenEMR Security Review">
  <a:themeElements>
    <a:clrScheme name="Who Writes the Bug, Who Finds the Bug — OpenEMR Security Review">
      <a:dk1>
        <a:srgbClr val="448334"/>
      </a:dk1>
      <a:lt1>
        <a:srgbClr val="FCFCFB"/>
      </a:lt1>
      <a:dk2>
        <a:srgbClr val="72A166"/>
      </a:dk2>
      <a:lt2>
        <a:srgbClr val="EAF0E7"/>
      </a:lt2>
      <a:accent1>
        <a:srgbClr val="0086B6"/>
      </a:accent1>
      <a:accent2>
        <a:srgbClr val="F07133"/>
      </a:accent2>
      <a:accent3>
        <a:srgbClr val="5466AE"/>
      </a:accent3>
      <a:accent4>
        <a:srgbClr val="D0342C"/>
      </a:accent4>
      <a:accent5>
        <a:srgbClr val="2F5F24"/>
      </a:accent5>
      <a:accent6>
        <a:srgbClr val="6B5600"/>
      </a:accent6>
      <a:hlink>
        <a:srgbClr val="0563C1"/>
      </a:hlink>
      <a:folHlink>
        <a:srgbClr val="954F72"/>
      </a:folHlink>
    </a:clrScheme>
    <a:fontScheme name="Who Writes the Bug, Who Finds the Bug — OpenEMR Security Review">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2025 ISC2 All-hands Meeting">
  <a:themeElements>
    <a:clrScheme name="ISC2 Palette &amp; custom colors">
      <a:dk1>
        <a:srgbClr val="000000"/>
      </a:dk1>
      <a:lt1>
        <a:srgbClr val="FFFFFF"/>
      </a:lt1>
      <a:dk2>
        <a:srgbClr val="33333A"/>
      </a:dk2>
      <a:lt2>
        <a:srgbClr val="EBEBEB"/>
      </a:lt2>
      <a:accent1>
        <a:srgbClr val="448334"/>
      </a:accent1>
      <a:accent2>
        <a:srgbClr val="9AC23C"/>
      </a:accent2>
      <a:accent3>
        <a:srgbClr val="5466AE"/>
      </a:accent3>
      <a:accent4>
        <a:srgbClr val="ECC623"/>
      </a:accent4>
      <a:accent5>
        <a:srgbClr val="F07133"/>
      </a:accent5>
      <a:accent6>
        <a:srgbClr val="0086B6"/>
      </a:accent6>
      <a:hlink>
        <a:srgbClr val="0086B6"/>
      </a:hlink>
      <a:folHlink>
        <a:srgbClr val="448334"/>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Custom Color 1">
      <a:srgbClr val="88C0C1"/>
    </a:custClr>
    <a:custClr name="Custom Color 2">
      <a:srgbClr val="009879"/>
    </a:custClr>
    <a:custClr name="Custom Color 3">
      <a:srgbClr val="99A726"/>
    </a:custClr>
    <a:custClr name="Custom Color 4">
      <a:srgbClr val="14662D"/>
    </a:custClr>
  </a:custClrLst>
  <a:extLst>
    <a:ext uri="{05A4C25C-085E-4340-85A3-A5531E510DB2}">
      <thm15:themeFamily xmlns:thm15="http://schemas.microsoft.com/office/thememl/2012/main" name="EVENTS-SC2026-PPT_template" id="{751BF938-288E-4E8C-A37A-E30F3B14EDF8}" vid="{0D8F1C87-060D-49EE-88C7-38FEFB2F7C7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160</TotalTime>
  <Words>7143</Words>
  <Application>Microsoft Macintosh PowerPoint</Application>
  <PresentationFormat>Widescreen</PresentationFormat>
  <Paragraphs>930</Paragraphs>
  <Slides>42</Slides>
  <Notes>42</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42</vt:i4>
      </vt:variant>
    </vt:vector>
  </HeadingPairs>
  <TitlesOfParts>
    <vt:vector size="46" baseType="lpstr">
      <vt:lpstr>Arial</vt:lpstr>
      <vt:lpstr>Wingdings</vt:lpstr>
      <vt:lpstr>Who Writes the Bug, Who Finds the Bug — OpenEMR Security Review</vt:lpstr>
      <vt:lpstr>2025 ISC2 All-hands Meeting</vt:lpstr>
      <vt:lpstr>Who Writes the Bug, Who Finds the Bug?</vt:lpstr>
      <vt:lpstr>Why OpenEMR?</vt:lpstr>
      <vt:lpstr>Have you measured your AI reviewer’s detection rate?</vt:lpstr>
      <vt:lpstr>The review improvement loop</vt:lpstr>
      <vt:lpstr>PowerPoint Presentation</vt:lpstr>
      <vt:lpstr>AI review starts with a generic prompt</vt:lpstr>
      <vt:lpstr>Which bug class do you trust AI review least to catch?</vt:lpstr>
      <vt:lpstr>PowerPoint Presentation</vt:lpstr>
      <vt:lpstr>PowerPoint Presentation</vt:lpstr>
      <vt:lpstr>What does your AI reviewer receive today?</vt:lpstr>
      <vt:lpstr>Give the agent the context it needs</vt:lpstr>
      <vt:lpstr>Why the payment finding changed</vt:lpstr>
      <vt:lpstr>PowerPoint Presentation</vt:lpstr>
      <vt:lpstr>A decision support for pull-request review</vt:lpstr>
      <vt:lpstr>A specialized security prompt</vt:lpstr>
      <vt:lpstr>PowerPoint Presentation</vt:lpstr>
      <vt:lpstr>PowerPoint Presentation</vt:lpstr>
      <vt:lpstr>PowerPoint Presentation</vt:lpstr>
      <vt:lpstr>PowerPoint Presentation</vt:lpstr>
      <vt:lpstr>Better coverage has a review cost</vt:lpstr>
      <vt:lpstr>Follow one request across services</vt:lpstr>
      <vt:lpstr>Traceability connects more evidence</vt:lpstr>
      <vt:lpstr>PowerPoint Presentation</vt:lpstr>
      <vt:lpstr>PowerPoint Presentation</vt:lpstr>
      <vt:lpstr>What does the clean AISLE comment establish?</vt:lpstr>
      <vt:lpstr>PowerPoint Presentation</vt:lpstr>
      <vt:lpstr>PowerPoint Presentation</vt:lpstr>
      <vt:lpstr>PowerPoint Presentation</vt:lpstr>
      <vt:lpstr>PowerPoint Presentation</vt:lpstr>
      <vt:lpstr>Which improvement will you try first on Monday?</vt:lpstr>
      <vt:lpstr>PowerPoint Presentation</vt:lpstr>
      <vt:lpstr>The exact review prompts</vt:lpstr>
      <vt:lpstr>Inherited flaws survived review</vt:lpstr>
      <vt:lpstr>More catches, more false alarms</vt:lpstr>
      <vt:lpstr>One dependent file changed findings</vt:lpstr>
      <vt:lpstr>Where a focused model fits</vt:lpstr>
      <vt:lpstr>Where defects enter and surface</vt:lpstr>
      <vt:lpstr>Context adds the missing relationship</vt:lpstr>
      <vt:lpstr>Test the required behavior</vt:lpstr>
      <vt:lpstr>Verify evidence before authorizing merge</vt:lpstr>
      <vt:lpstr>Refresh evidence after every change</vt:lpstr>
      <vt:lpstr>Measure before adopting the workflow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Writes the Bug, Who Finds the Bug: OpenEMR Security Review</dc:title>
  <dc:subject/>
  <dc:creator/>
  <cp:lastModifiedBy>Eric St-Pierre</cp:lastModifiedBy>
  <cp:revision>21</cp:revision>
  <dcterms:created xsi:type="dcterms:W3CDTF">2026-10-23T14:36:45Z</dcterms:created>
  <dcterms:modified xsi:type="dcterms:W3CDTF">2026-10-24T03:44:01Z</dcterms:modified>
</cp:coreProperties>
</file>