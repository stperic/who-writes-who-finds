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7af4051608d44f4" /><Relationship Type="http://schemas.openxmlformats.org/officeDocument/2006/relationships/extended-properties" Target="/docProps/app.xml" Id="R42be9d8408264839" /><Relationship Type="http://schemas.openxmlformats.org/officeDocument/2006/relationships/officeDocument" Target="/ppt/presentation.xml" Id="Rc16ca6bc74714cea" /></Relationships>
</file>

<file path=ppt/presentation.xml><?xml version="1.0" encoding="utf-8"?>
<p:presentation xmlns:p="http://schemas.openxmlformats.org/presentationml/2006/main">
  <p:sldMasterIdLst>
    <p:sldMasterId xmlns:r="http://schemas.openxmlformats.org/officeDocument/2006/relationships" id="2147483648" r:id="Ref380a00fa174d52"/>
    <p:sldMasterId xmlns:r="http://schemas.openxmlformats.org/officeDocument/2006/relationships" id="2147483653" r:id="R9221c8dc450948f0"/>
  </p:sldMasterIdLst>
  <p:notesMasterIdLst>
    <p:notesMasterId xmlns:r="http://schemas.openxmlformats.org/officeDocument/2006/relationships" r:id="R56c3e82569c84378"/>
  </p:notesMasterIdLst>
  <p:sldIdLst>
    <p:sldId xmlns:r="http://schemas.openxmlformats.org/officeDocument/2006/relationships" id="256" r:id="R2871a88a42c94223"/>
    <p:sldId xmlns:r="http://schemas.openxmlformats.org/officeDocument/2006/relationships" id="257" r:id="R034765d1fff34a3d"/>
    <p:sldId xmlns:r="http://schemas.openxmlformats.org/officeDocument/2006/relationships" id="258" r:id="R605c38b538a14db2"/>
    <p:sldId xmlns:r="http://schemas.openxmlformats.org/officeDocument/2006/relationships" id="259" r:id="R99467c152f804b2c"/>
    <p:sldId xmlns:r="http://schemas.openxmlformats.org/officeDocument/2006/relationships" id="260" r:id="Reeba515b064747c6"/>
    <p:sldId xmlns:r="http://schemas.openxmlformats.org/officeDocument/2006/relationships" id="261" r:id="Rf145124633804c25"/>
    <p:sldId xmlns:r="http://schemas.openxmlformats.org/officeDocument/2006/relationships" id="262" r:id="Re0cde52c008d46c9"/>
    <p:sldId xmlns:r="http://schemas.openxmlformats.org/officeDocument/2006/relationships" id="263" r:id="Rfef51d0750a647a3"/>
    <p:sldId xmlns:r="http://schemas.openxmlformats.org/officeDocument/2006/relationships" id="264" r:id="Rddbf53a795754f69"/>
    <p:sldId xmlns:r="http://schemas.openxmlformats.org/officeDocument/2006/relationships" id="265" r:id="R74e134c2e43547f5"/>
    <p:sldId xmlns:r="http://schemas.openxmlformats.org/officeDocument/2006/relationships" id="266" r:id="R904211da64b745af"/>
    <p:sldId xmlns:r="http://schemas.openxmlformats.org/officeDocument/2006/relationships" id="267" r:id="R05a320ea3d364041"/>
    <p:sldId xmlns:r="http://schemas.openxmlformats.org/officeDocument/2006/relationships" id="268" r:id="Rbb7dc499a6e84ca1"/>
    <p:sldId xmlns:r="http://schemas.openxmlformats.org/officeDocument/2006/relationships" id="269" r:id="R8686b54bc9364ef8"/>
    <p:sldId xmlns:r="http://schemas.openxmlformats.org/officeDocument/2006/relationships" id="270" r:id="Re90126f2601e4350"/>
    <p:sldId xmlns:r="http://schemas.openxmlformats.org/officeDocument/2006/relationships" id="271" r:id="R12b3e4c8ccdc4952"/>
    <p:sldId xmlns:r="http://schemas.openxmlformats.org/officeDocument/2006/relationships" id="272" r:id="R0e1cf9be83254048"/>
    <p:sldId xmlns:r="http://schemas.openxmlformats.org/officeDocument/2006/relationships" id="273" r:id="R1b6ec10d6e374529"/>
    <p:sldId xmlns:r="http://schemas.openxmlformats.org/officeDocument/2006/relationships" id="274" r:id="R88671c3541404d04"/>
    <p:sldId xmlns:r="http://schemas.openxmlformats.org/officeDocument/2006/relationships" id="275" r:id="Rf4d8af7d72bf469f"/>
    <p:sldId xmlns:r="http://schemas.openxmlformats.org/officeDocument/2006/relationships" id="276" r:id="Rf8f80c6abc8642fb"/>
    <p:sldId xmlns:r="http://schemas.openxmlformats.org/officeDocument/2006/relationships" id="277" r:id="Re99cc7ccc6844ce3"/>
    <p:sldId xmlns:r="http://schemas.openxmlformats.org/officeDocument/2006/relationships" id="278" r:id="Rd188d0467fcd41c7"/>
    <p:sldId xmlns:r="http://schemas.openxmlformats.org/officeDocument/2006/relationships" id="279" r:id="R4c758015f9c34b40"/>
    <p:sldId xmlns:r="http://schemas.openxmlformats.org/officeDocument/2006/relationships" id="280" r:id="R41823433ea704a99"/>
    <p:sldId xmlns:r="http://schemas.openxmlformats.org/officeDocument/2006/relationships" id="281" r:id="Re06b01b7ac084d71"/>
    <p:sldId xmlns:r="http://schemas.openxmlformats.org/officeDocument/2006/relationships" id="282" r:id="R2482a904e17c46f0"/>
    <p:sldId xmlns:r="http://schemas.openxmlformats.org/officeDocument/2006/relationships" id="283" r:id="Rb560f1c2987b430f"/>
    <p:sldId xmlns:r="http://schemas.openxmlformats.org/officeDocument/2006/relationships" id="284" r:id="Rd6bb758cab854947"/>
    <p:sldId xmlns:r="http://schemas.openxmlformats.org/officeDocument/2006/relationships" id="285" r:id="Rbb664433351443d3"/>
    <p:sldId xmlns:r="http://schemas.openxmlformats.org/officeDocument/2006/relationships" id="286" r:id="R4270cd717ca14be2"/>
    <p:sldId xmlns:r="http://schemas.openxmlformats.org/officeDocument/2006/relationships" id="287" r:id="R26d174c859ef41e2"/>
    <p:sldId xmlns:r="http://schemas.openxmlformats.org/officeDocument/2006/relationships" id="288" r:id="Rfbd75e089066406b"/>
    <p:sldId xmlns:r="http://schemas.openxmlformats.org/officeDocument/2006/relationships" id="289" r:id="R94a4f8e0436b422e"/>
    <p:sldId xmlns:r="http://schemas.openxmlformats.org/officeDocument/2006/relationships" id="290" r:id="Rc1ded62c4a63401b"/>
    <p:sldId xmlns:r="http://schemas.openxmlformats.org/officeDocument/2006/relationships" id="291" r:id="R37050972cb554097"/>
    <p:sldId xmlns:r="http://schemas.openxmlformats.org/officeDocument/2006/relationships" id="292" r:id="R44b11b5617dd4640"/>
    <p:sldId xmlns:r="http://schemas.openxmlformats.org/officeDocument/2006/relationships" id="293" r:id="R21e77d99f5ad4afc"/>
    <p:sldId xmlns:r="http://schemas.openxmlformats.org/officeDocument/2006/relationships" id="294" r:id="R1be271261634444b"/>
    <p:sldId xmlns:r="http://schemas.openxmlformats.org/officeDocument/2006/relationships" id="295" r:id="Rfe6340fe05ad40c2"/>
    <p:sldId xmlns:r="http://schemas.openxmlformats.org/officeDocument/2006/relationships" id="296" r:id="R0eff87fed401497a"/>
    <p:sldId xmlns:r="http://schemas.openxmlformats.org/officeDocument/2006/relationships" id="297" r:id="R7fba766c39724758"/>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715e7fd0ae64bb4" /><Relationship Type="http://schemas.openxmlformats.org/officeDocument/2006/relationships/slideMaster" Target="/ppt/slideMasters/slideMaster1.xml" Id="Ref380a00fa174d52" /><Relationship Type="http://schemas.openxmlformats.org/officeDocument/2006/relationships/slideMaster" Target="/ppt/slideMasters/slideMaster2.xml" Id="R9221c8dc450948f0" /><Relationship Type="http://schemas.openxmlformats.org/officeDocument/2006/relationships/notesMaster" Target="/ppt/notesMasters/notesMaster1.xml" Id="R56c3e82569c84378" /><Relationship Type="http://schemas.openxmlformats.org/officeDocument/2006/relationships/presProps" Target="/ppt/presProps.xml" Id="R97cdd1eb2e984072" /><Relationship Type="http://schemas.openxmlformats.org/officeDocument/2006/relationships/viewProps" Target="/ppt/viewProps.xml" Id="Re02c880036d1421a" /><Relationship Type="http://schemas.openxmlformats.org/officeDocument/2006/relationships/tableStyles" Target="/ppt/tableStyles.xml" Id="Rf7204aa344f247ac" /><Relationship Type="http://schemas.openxmlformats.org/officeDocument/2006/relationships/slide" Target="/ppt/slides/slide1.xml" Id="R2871a88a42c94223" /><Relationship Type="http://schemas.openxmlformats.org/officeDocument/2006/relationships/slide" Target="/ppt/slides/slide2.xml" Id="R034765d1fff34a3d" /><Relationship Type="http://schemas.openxmlformats.org/officeDocument/2006/relationships/slide" Target="/ppt/slides/slide3.xml" Id="R605c38b538a14db2" /><Relationship Type="http://schemas.openxmlformats.org/officeDocument/2006/relationships/slide" Target="/ppt/slides/slide4.xml" Id="R99467c152f804b2c" /><Relationship Type="http://schemas.openxmlformats.org/officeDocument/2006/relationships/slide" Target="/ppt/slides/slide5.xml" Id="Reeba515b064747c6" /><Relationship Type="http://schemas.openxmlformats.org/officeDocument/2006/relationships/slide" Target="/ppt/slides/slide6.xml" Id="Rf145124633804c25" /><Relationship Type="http://schemas.openxmlformats.org/officeDocument/2006/relationships/slide" Target="/ppt/slides/slide7.xml" Id="Re0cde52c008d46c9" /><Relationship Type="http://schemas.openxmlformats.org/officeDocument/2006/relationships/slide" Target="/ppt/slides/slide8.xml" Id="Rfef51d0750a647a3" /><Relationship Type="http://schemas.openxmlformats.org/officeDocument/2006/relationships/slide" Target="/ppt/slides/slide9.xml" Id="Rddbf53a795754f69" /><Relationship Type="http://schemas.openxmlformats.org/officeDocument/2006/relationships/slide" Target="/ppt/slides/slide10.xml" Id="R74e134c2e43547f5" /><Relationship Type="http://schemas.openxmlformats.org/officeDocument/2006/relationships/slide" Target="/ppt/slides/slide11.xml" Id="R904211da64b745af" /><Relationship Type="http://schemas.openxmlformats.org/officeDocument/2006/relationships/slide" Target="/ppt/slides/slide12.xml" Id="R05a320ea3d364041" /><Relationship Type="http://schemas.openxmlformats.org/officeDocument/2006/relationships/slide" Target="/ppt/slides/slide13.xml" Id="Rbb7dc499a6e84ca1" /><Relationship Type="http://schemas.openxmlformats.org/officeDocument/2006/relationships/slide" Target="/ppt/slides/slide14.xml" Id="R8686b54bc9364ef8" /><Relationship Type="http://schemas.openxmlformats.org/officeDocument/2006/relationships/slide" Target="/ppt/slides/slide15.xml" Id="Re90126f2601e4350" /><Relationship Type="http://schemas.openxmlformats.org/officeDocument/2006/relationships/slide" Target="/ppt/slides/slide16.xml" Id="R12b3e4c8ccdc4952" /><Relationship Type="http://schemas.openxmlformats.org/officeDocument/2006/relationships/slide" Target="/ppt/slides/slide17.xml" Id="R0e1cf9be83254048" /><Relationship Type="http://schemas.openxmlformats.org/officeDocument/2006/relationships/slide" Target="/ppt/slides/slide18.xml" Id="R1b6ec10d6e374529" /><Relationship Type="http://schemas.openxmlformats.org/officeDocument/2006/relationships/slide" Target="/ppt/slides/slide19.xml" Id="R88671c3541404d04" /><Relationship Type="http://schemas.openxmlformats.org/officeDocument/2006/relationships/slide" Target="/ppt/slides/slide20.xml" Id="Rf4d8af7d72bf469f" /><Relationship Type="http://schemas.openxmlformats.org/officeDocument/2006/relationships/slide" Target="/ppt/slides/slide21.xml" Id="Rf8f80c6abc8642fb" /><Relationship Type="http://schemas.openxmlformats.org/officeDocument/2006/relationships/slide" Target="/ppt/slides/slide22.xml" Id="Re99cc7ccc6844ce3" /><Relationship Type="http://schemas.openxmlformats.org/officeDocument/2006/relationships/slide" Target="/ppt/slides/slide23.xml" Id="Rd188d0467fcd41c7" /><Relationship Type="http://schemas.openxmlformats.org/officeDocument/2006/relationships/slide" Target="/ppt/slides/slide24.xml" Id="R4c758015f9c34b40" /><Relationship Type="http://schemas.openxmlformats.org/officeDocument/2006/relationships/slide" Target="/ppt/slides/slide25.xml" Id="R41823433ea704a99" /><Relationship Type="http://schemas.openxmlformats.org/officeDocument/2006/relationships/slide" Target="/ppt/slides/slide26.xml" Id="Re06b01b7ac084d71" /><Relationship Type="http://schemas.openxmlformats.org/officeDocument/2006/relationships/slide" Target="/ppt/slides/slide27.xml" Id="R2482a904e17c46f0" /><Relationship Type="http://schemas.openxmlformats.org/officeDocument/2006/relationships/slide" Target="/ppt/slides/slide28.xml" Id="Rb560f1c2987b430f" /><Relationship Type="http://schemas.openxmlformats.org/officeDocument/2006/relationships/slide" Target="/ppt/slides/slide29.xml" Id="Rd6bb758cab854947" /><Relationship Type="http://schemas.openxmlformats.org/officeDocument/2006/relationships/slide" Target="/ppt/slides/slide30.xml" Id="Rbb664433351443d3" /><Relationship Type="http://schemas.openxmlformats.org/officeDocument/2006/relationships/slide" Target="/ppt/slides/slide31.xml" Id="R4270cd717ca14be2" /><Relationship Type="http://schemas.openxmlformats.org/officeDocument/2006/relationships/slide" Target="/ppt/slides/slide32.xml" Id="R26d174c859ef41e2" /><Relationship Type="http://schemas.openxmlformats.org/officeDocument/2006/relationships/slide" Target="/ppt/slides/slide33.xml" Id="Rfbd75e089066406b" /><Relationship Type="http://schemas.openxmlformats.org/officeDocument/2006/relationships/slide" Target="/ppt/slides/slide34.xml" Id="R94a4f8e0436b422e" /><Relationship Type="http://schemas.openxmlformats.org/officeDocument/2006/relationships/slide" Target="/ppt/slides/slide35.xml" Id="Rc1ded62c4a63401b" /><Relationship Type="http://schemas.openxmlformats.org/officeDocument/2006/relationships/slide" Target="/ppt/slides/slide36.xml" Id="R37050972cb554097" /><Relationship Type="http://schemas.openxmlformats.org/officeDocument/2006/relationships/slide" Target="/ppt/slides/slide37.xml" Id="R44b11b5617dd4640" /><Relationship Type="http://schemas.openxmlformats.org/officeDocument/2006/relationships/slide" Target="/ppt/slides/slide38.xml" Id="R21e77d99f5ad4afc" /><Relationship Type="http://schemas.openxmlformats.org/officeDocument/2006/relationships/slide" Target="/ppt/slides/slide39.xml" Id="R1be271261634444b" /><Relationship Type="http://schemas.openxmlformats.org/officeDocument/2006/relationships/slide" Target="/ppt/slides/slide40.xml" Id="Rfe6340fe05ad40c2" /><Relationship Type="http://schemas.openxmlformats.org/officeDocument/2006/relationships/slide" Target="/ppt/slides/slide41.xml" Id="R0eff87fed401497a" /><Relationship Type="http://schemas.openxmlformats.org/officeDocument/2006/relationships/slide" Target="/ppt/slides/slide42.xml" Id="R7fba766c3972475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2ed5a12bd2a746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Who Writes the Bug, Who Finds the Bug — OpenEMR Security Review">
  <a:themeElements>
    <a:clrScheme name="Who Writes the Bug, Who Finds the Bug — OpenEMR Security Review">
      <a:dk1>
        <a:srgbClr val="448334"/>
      </a:dk1>
      <a:lt1>
        <a:srgbClr val="FCFCFB"/>
      </a:lt1>
      <a:dk2>
        <a:srgbClr val="72A166"/>
      </a:dk2>
      <a:lt2>
        <a:srgbClr val="EAF0E7"/>
      </a:lt2>
      <a:accent1>
        <a:srgbClr val="0086B6"/>
      </a:accent1>
      <a:accent2>
        <a:srgbClr val="F07133"/>
      </a:accent2>
      <a:accent3>
        <a:srgbClr val="5466AE"/>
      </a:accent3>
      <a:accent4>
        <a:srgbClr val="D0342C"/>
      </a:accent4>
      <a:accent5>
        <a:srgbClr val="2F5F24"/>
      </a:accent5>
      <a:accent6>
        <a:srgbClr val="6B5600"/>
      </a:accent6>
      <a:hlink>
        <a:srgbClr val="0563C1"/>
      </a:hlink>
      <a:folHlink>
        <a:srgbClr val="954F72"/>
      </a:folHlink>
    </a:clrScheme>
    <a:fontScheme name="Who Writes the Bug, Who Finds the Bug — OpenEMR Security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Who Writes the Bug, Who Finds the Bug — OpenEMR Security Review">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933c4896184f82" /><Relationship Type="http://schemas.openxmlformats.org/officeDocument/2006/relationships/notesMaster" Target="/ppt/notesMasters/notesMaster1.xml" Id="R4032986bd25947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7c470155035401a" /><Relationship Type="http://schemas.openxmlformats.org/officeDocument/2006/relationships/notesMaster" Target="/ppt/notesMasters/notesMaster1.xml" Id="Re3bc25da45f64592" /></Relationships>
</file>

<file path=ppt/notesSlides/_rels/notesSlide3.xml.rels>&#65279;<?xml version="1.0" encoding="utf-8"?><Relationships xmlns="http://schemas.openxmlformats.org/package/2006/relationships"><Relationship Type="http://schemas.openxmlformats.org/officeDocument/2006/relationships/slide" Target="/ppt/slides/slide3.xml" Id="Rec391a1e8fe74d10" /><Relationship Type="http://schemas.openxmlformats.org/officeDocument/2006/relationships/notesMaster" Target="/ppt/notesMasters/notesMaster1.xml" Id="Rb0c3ea206eb2476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94d5ac7ad1e4d69" /><Relationship Type="http://schemas.openxmlformats.org/officeDocument/2006/relationships/notesMaster" Target="/ppt/notesMasters/notesMaster1.xml" Id="R25b96bbecc3b4f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355b17203e6429f" /><Relationship Type="http://schemas.openxmlformats.org/officeDocument/2006/relationships/notesMaster" Target="/ppt/notesMasters/notesMaster1.xml" Id="R4edbed8195b4426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75924f287854c8b" /><Relationship Type="http://schemas.openxmlformats.org/officeDocument/2006/relationships/notesMaster" Target="/ppt/notesMasters/notesMaster1.xml" Id="R025694665ee74dc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eae89143cf4949" /><Relationship Type="http://schemas.openxmlformats.org/officeDocument/2006/relationships/notesMaster" Target="/ppt/notesMasters/notesMaster1.xml" Id="R776778b41efc44b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6539f08f4145e0" /><Relationship Type="http://schemas.openxmlformats.org/officeDocument/2006/relationships/notesMaster" Target="/ppt/notesMasters/notesMaster1.xml" Id="R84cad74c428540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10405d9abcd40b1" /><Relationship Type="http://schemas.openxmlformats.org/officeDocument/2006/relationships/notesMaster" Target="/ppt/notesMasters/notesMaster1.xml" Id="R9ad6949538ae41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9c0c25155fd4b20" /><Relationship Type="http://schemas.openxmlformats.org/officeDocument/2006/relationships/notesMaster" Target="/ppt/notesMasters/notesMaster1.xml" Id="R8501c3d3b464479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49ee2f967c44724" /><Relationship Type="http://schemas.openxmlformats.org/officeDocument/2006/relationships/notesMaster" Target="/ppt/notesMasters/notesMaster1.xml" Id="R0c92ad28d0604b2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f21f50551d49ea" /><Relationship Type="http://schemas.openxmlformats.org/officeDocument/2006/relationships/notesMaster" Target="/ppt/notesMasters/notesMaster1.xml" Id="Rd93252377f914f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cbed61d9b754431" /><Relationship Type="http://schemas.openxmlformats.org/officeDocument/2006/relationships/notesMaster" Target="/ppt/notesMasters/notesMaster1.xml" Id="R98f1053347c047b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086e5de1064bf1" /><Relationship Type="http://schemas.openxmlformats.org/officeDocument/2006/relationships/notesMaster" Target="/ppt/notesMasters/notesMaster1.xml" Id="R8382c05c3a7948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ec0851db6404b55" /><Relationship Type="http://schemas.openxmlformats.org/officeDocument/2006/relationships/notesMaster" Target="/ppt/notesMasters/notesMaster1.xml" Id="R8d93ac87275946f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b6bd9817e2c4686" /><Relationship Type="http://schemas.openxmlformats.org/officeDocument/2006/relationships/notesMaster" Target="/ppt/notesMasters/notesMaster1.xml" Id="Rb7081436e49647b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0cc36ad3ce54ce8" /><Relationship Type="http://schemas.openxmlformats.org/officeDocument/2006/relationships/notesMaster" Target="/ppt/notesMasters/notesMaster1.xml" Id="R2e73d68c4caa4bf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83c6423f70b4c55" /><Relationship Type="http://schemas.openxmlformats.org/officeDocument/2006/relationships/notesMaster" Target="/ppt/notesMasters/notesMaster1.xml" Id="R7978deb391f54bd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6172288db8c436b" /><Relationship Type="http://schemas.openxmlformats.org/officeDocument/2006/relationships/notesMaster" Target="/ppt/notesMasters/notesMaster1.xml" Id="R2ae3eb272c964d6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31d2a89dbad4508" /><Relationship Type="http://schemas.openxmlformats.org/officeDocument/2006/relationships/notesMaster" Target="/ppt/notesMasters/notesMaster1.xml" Id="Ra49f6ca3a8d54fa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154ff5c0da141b2" /><Relationship Type="http://schemas.openxmlformats.org/officeDocument/2006/relationships/notesMaster" Target="/ppt/notesMasters/notesMaster1.xml" Id="Re225cc7d66d446d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6d12aa9cd1f4e28" /><Relationship Type="http://schemas.openxmlformats.org/officeDocument/2006/relationships/notesMaster" Target="/ppt/notesMasters/notesMaster1.xml" Id="Rd066e98b4fc841c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287870d1a8c44f7" /><Relationship Type="http://schemas.openxmlformats.org/officeDocument/2006/relationships/notesMaster" Target="/ppt/notesMasters/notesMaster1.xml" Id="Read8417f4915410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1aa8d16b346ca" /><Relationship Type="http://schemas.openxmlformats.org/officeDocument/2006/relationships/notesMaster" Target="/ppt/notesMasters/notesMaster1.xml" Id="Redea4f1c464b457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0bbbf548f3642fe" /><Relationship Type="http://schemas.openxmlformats.org/officeDocument/2006/relationships/notesMaster" Target="/ppt/notesMasters/notesMaster1.xml" Id="R95d65d89fd8f402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eee19af75d54a5f" /><Relationship Type="http://schemas.openxmlformats.org/officeDocument/2006/relationships/notesMaster" Target="/ppt/notesMasters/notesMaster1.xml" Id="R6edf77d7c742486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f90f84d34484c77" /><Relationship Type="http://schemas.openxmlformats.org/officeDocument/2006/relationships/notesMaster" Target="/ppt/notesMasters/notesMaster1.xml" Id="R0657301b3e7b4c0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09148cfb818466c" /><Relationship Type="http://schemas.openxmlformats.org/officeDocument/2006/relationships/notesMaster" Target="/ppt/notesMasters/notesMaster1.xml" Id="R55201aec3fe941b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ffd8b46d9c864cac" /><Relationship Type="http://schemas.openxmlformats.org/officeDocument/2006/relationships/notesMaster" Target="/ppt/notesMasters/notesMaster1.xml" Id="R62abd5cc0a0e4ac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9eb125a0d4e4568" /><Relationship Type="http://schemas.openxmlformats.org/officeDocument/2006/relationships/notesMaster" Target="/ppt/notesMasters/notesMaster1.xml" Id="R6056bec34f48497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b30a6ee56cb4c8d" /><Relationship Type="http://schemas.openxmlformats.org/officeDocument/2006/relationships/notesMaster" Target="/ppt/notesMasters/notesMaster1.xml" Id="R8a964b62f1c4469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9902c2fd19842b2" /><Relationship Type="http://schemas.openxmlformats.org/officeDocument/2006/relationships/notesMaster" Target="/ppt/notesMasters/notesMaster1.xml" Id="R0585ea84d44c426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80647585a9d42f2" /><Relationship Type="http://schemas.openxmlformats.org/officeDocument/2006/relationships/notesMaster" Target="/ppt/notesMasters/notesMaster1.xml" Id="Re4f53837017442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ab75b22c53534168" /><Relationship Type="http://schemas.openxmlformats.org/officeDocument/2006/relationships/notesMaster" Target="/ppt/notesMasters/notesMaster1.xml" Id="Ra2a57a2e93d7426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4d860d652a74317" /><Relationship Type="http://schemas.openxmlformats.org/officeDocument/2006/relationships/notesMaster" Target="/ppt/notesMasters/notesMaster1.xml" Id="R7ea2cc8a723d47d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4400ee51e524d48" /><Relationship Type="http://schemas.openxmlformats.org/officeDocument/2006/relationships/notesMaster" Target="/ppt/notesMasters/notesMaster1.xml" Id="R27eac512b3354b3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b878aee797a4093" /><Relationship Type="http://schemas.openxmlformats.org/officeDocument/2006/relationships/notesMaster" Target="/ppt/notesMasters/notesMaster1.xml" Id="R57e996d31df640b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ac9b871439645e6" /><Relationship Type="http://schemas.openxmlformats.org/officeDocument/2006/relationships/notesMaster" Target="/ppt/notesMasters/notesMaster1.xml" Id="R67eb067c8262493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42a98212b234786" /><Relationship Type="http://schemas.openxmlformats.org/officeDocument/2006/relationships/notesMaster" Target="/ppt/notesMasters/notesMaster1.xml" Id="R98890a82c5114df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9a670192aa7647d2" /><Relationship Type="http://schemas.openxmlformats.org/officeDocument/2006/relationships/notesMaster" Target="/ppt/notesMasters/notesMaster1.xml" Id="R3dc3d8095985420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4e7481efec344d3" /><Relationship Type="http://schemas.openxmlformats.org/officeDocument/2006/relationships/notesMaster" Target="/ppt/notesMasters/notesMaster1.xml" Id="R2574312783ae45c3"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85d2aff980743e4" /><Relationship Type="http://schemas.openxmlformats.org/officeDocument/2006/relationships/notesMaster" Target="/ppt/notesMasters/notesMaster1.xml" Id="R8eff61bba5dd455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can introduce defects and help detect them. This talk examines historical OpenEMR vulnerabilities, a component replay and a public assisted-fix PR.</a:t>
            </a:r>
          </a:p>
          <a:p xmlns:a="http://schemas.openxmlformats.org/drawingml/2006/main">
            <a:r>
              <a:t>Four questions guide the review: intended behavior, code changes, current evidence and merge authority.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code, advisories and fixes make OpenEMR a useful test bed for historical review experiments.</a:t>
            </a:r>
          </a:p>
          <a:p xmlns:a="http://schemas.openxmlformats.org/drawingml/2006/main">
            <a:r>
              <a:t>Provider and patient counts are project estimates, not audited 2026 totals. Public releases date to 2002.</a:t>
            </a:r>
          </a:p>
          <a:p xmlns:a="http://schemas.openxmlformats.org/drawingml/2006/main">
            <a:r>
              <a:t>Sources: https://www.open-emr.org/wiki/index.php/OpenEMR_Cloud_Full_Stack_Data_Sheet and https://www.open-emr.org/releases/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answer closest to your organization’s practice. There is no graded answer.</a:t>
            </a:r>
          </a:p>
          <a:p xmlns:a="http://schemas.openxmlformats.org/drawingml/2006/main">
            <a:r>
              <a:t>Known vulnerabilities provide a baseline for measuring what a reviewer catches and misses.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Establish a baseline, examine incomplete findings, change an input and compare results.</a:t>
            </a:r>
          </a:p>
          <a:p xmlns:a="http://schemas.openxmlformats.org/drawingml/2006/main">
            <a:r>
              <a:t>All 24 historical vulnerabilities are linked to published CVEs. The initial comparison covers all 24. Later rounds retest selected gaps and carry earlier findings forward.</a:t>
            </a:r>
          </a:p>
          <a:p xmlns:a="http://schemas.openxmlformats.org/drawingml/2006/main">
            <a:r>
              <a:t>Prompt false-alarm controls are separate. False alarms with added context and requirements remain unmeasured.</a:t>
            </a:r>
          </a:p>
          <a:p xmlns:a="http://schemas.openxmlformats.org/drawingml/2006/main">
            <a:r>
              <a:t>Source: https://github.com/stperic/who-writes-who-finds/blob/main/openemr-study/data/original/numbers.md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Snyk scanned each full historical repository once, with current default rules. Six targets matched; one borderline SQL-injection result is excluded. Independent verification is pending.</a:t>
            </a:r>
          </a:p>
          <a:p xmlns:a="http://schemas.openxmlformats.org/drawingml/2006/main">
            <a:r>
              <a:t>The scan ran after the CVEs were public. We did not replay a historical engine matched to model training cutoffs. AI reviewers saw selected diffs; timing and scope can favor Snyk.</a:t>
            </a:r>
          </a:p>
          <a:p xmlns:a="http://schemas.openxmlformats.org/drawingml/2006/main">
            <a:r>
              <a:t>26,927 findings across 24 scans, including repeats. This measures selected-case detection, not precision.</a:t>
            </a:r>
          </a:p>
          <a:p xmlns:a="http://schemas.openxmlformats.org/drawingml/2006/main">
            <a:r>
              <a:t>Source: Snyk Code, CLI 1.1308.2; 23 October 2026 run, retained SARIF and 24-case adjudication.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model receives a selected historical diff without the advisory or scoring key. The generic prompt includes security.</a:t>
            </a:r>
          </a:p>
          <a:p xmlns:a="http://schemas.openxmlformats.org/drawingml/2006/main">
            <a:r>
              <a:t>Caught means an actionable finding in at least two of three reviews. Partial findings are excluded from the caught total.</a:t>
            </a:r>
          </a:p>
          <a:p xmlns:a="http://schemas.openxmlformats.org/drawingml/2006/main">
            <a:r>
              <a:t>The original comparison used Claude Code. Later controlled follow-ups used the direct API. Exact user instructions appear in the appendix.</a:t>
            </a:r>
          </a:p>
          <a:p xmlns:a="http://schemas.openxmlformats.org/drawingml/2006/main">
            <a:r>
              <a:t>Source: https://github.com/stperic/who-writes-who-finds/blob/main/openemr-study/data/original/rubric.md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vulnerability class you trust AI review least to catch.</a:t>
            </a:r>
          </a:p>
          <a:p xmlns:a="http://schemas.openxmlformats.org/drawingml/2006/main">
            <a:r>
              <a:t>Compare the vote with the next two tables. These selected cases do not establish a universal ranking of vulnerability classes.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Haiku fully caught 8 of 24 cases: three access-control and five injection cases. Seven were Partial and nine Missed.</a:t>
            </a:r>
          </a:p>
          <a:p xmlns:a="http://schemas.openxmlformats.org/drawingml/2006/main">
            <a:r>
              <a:t>Caught requires an actionable finding identifying the target flaw in at least two of three reviews. Partial findings do not count.</a:t>
            </a:r>
          </a:p>
          <a:p xmlns:a="http://schemas.openxmlformats.org/drawingml/2006/main">
            <a:r>
              <a:t>Each case received three reviews. Original-study scores were human-validated.</a:t>
            </a:r>
          </a:p>
          <a:p xmlns:a="http://schemas.openxmlformats.org/drawingml/2006/main">
            <a:r>
              <a:t>What would you change next: the model or the prompt?</a:t>
            </a:r>
          </a:p>
          <a:p xmlns:a="http://schemas.openxmlformats.org/drawingml/2006/main">
            <a:r>
              <a:t>Source: https://github.com/stperic/who-writes-who-finds/blob/main/openemr-study/data/original/numbers.md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With the same generic prompt, Sonnet fully caught 20 of 24: twelve more cases than Haiku. Three were Partial and one Missed.</a:t>
            </a:r>
          </a:p>
          <a:p xmlns:a="http://schemas.openxmlformats.org/drawingml/2006/main">
            <a:r>
              <a:t>The additional catches were four access-control, five injection and three authentication cases.</a:t>
            </a:r>
          </a:p>
          <a:p xmlns:a="http://schemas.openxmlformats.org/drawingml/2006/main">
            <a:r>
              <a:t>Original reviews used Claude Code. Later follow-ups used the API. A recorded model name does not guarantee an identical harness or fixed model snapshot.</a:t>
            </a:r>
          </a:p>
          <a:p xmlns:a="http://schemas.openxmlformats.org/drawingml/2006/main">
            <a:r>
              <a:t>What information might the four incomplete cases require?</a:t>
            </a:r>
          </a:p>
          <a:p xmlns:a="http://schemas.openxmlformats.org/drawingml/2006/main">
            <a:r>
              <a:t>Source: https://github.com/stperic/who-writes-who-finds/blob/main/openemr-study/data/original/numbers.md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context your reviewer normally receives.</a:t>
            </a:r>
          </a:p>
          <a:p xmlns:a="http://schemas.openxmlformats.org/drawingml/2006/main">
            <a:r>
              <a:t>The study begins with a diff. The next round adds a related file to test whether missing context explains incomplete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Relevant context includes architecture, requirements, code relationships and observed evidence. Retain its source, revision and capture time.</a:t>
            </a:r>
          </a:p>
          <a:p xmlns:a="http://schemas.openxmlformats.org/drawingml/2006/main">
            <a:r>
              <a:t>The diagram illustrates a proposed workflow. In the study, researchers selected the related files. Automatic retrieval was not tested.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diff exposes a key to the browser. The related configuration identifies it as a secret.</a:t>
            </a:r>
          </a:p>
          <a:p xmlns:a="http://schemas.openxmlformats.org/drawingml/2006/main">
            <a:r>
              <a:t>With the same generic prompt and Sonnet model, the matched review changed from Partial to Caught. The case majority changed likewise.</a:t>
            </a:r>
          </a:p>
          <a:p xmlns:a="http://schemas.openxmlformats.org/drawingml/2006/main">
            <a:r>
              <a:t>Researchers selected the file. Follow-up scores were automated and await independent human verification.</a:t>
            </a:r>
          </a:p>
          <a:p xmlns:a="http://schemas.openxmlformats.org/drawingml/2006/main">
            <a:r>
              <a:t>Source: https://github.com/stperic/who-writes-who-finds/blob/main/openemr-study/data/prior-followups/followup_expanded_context/README.md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Related files recover patient access and payment-secret exposure. Stored XSS and PDF-rendering SSRF remain Partial at this stage.</a:t>
            </a:r>
          </a:p>
          <a:p xmlns:a="http://schemas.openxmlformats.org/drawingml/2006/main">
            <a:r>
              <a:t>Only the four original gaps were retested. Twenty original catches carry forward, giving 22 of 24. No complete rerun occurred, and follow-up scores await independent verification.</a:t>
            </a:r>
          </a:p>
          <a:p xmlns:a="http://schemas.openxmlformats.org/drawingml/2006/main">
            <a:r>
              <a:t>What would a focused security review add?</a:t>
            </a:r>
          </a:p>
          <a:p xmlns:a="http://schemas.openxmlformats.org/drawingml/2006/main">
            <a:r>
              <a:t>Source: https://github.com/stperic/who-writes-who-finds/blob/main/openemr-study/data/prior-followups/followup_expanded_context/README.md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Jev is an example of a decision model that returns structured answers to focused questions about supplied context.</a:t>
            </a:r>
          </a:p>
          <a:p xmlns:a="http://schemas.openxmlformats.org/drawingml/2006/main">
            <a:r>
              <a:t>In the proposed workflow, application policy maps those answers to security prompts and required files. Owners retain merge authority.</a:t>
            </a:r>
          </a:p>
          <a:p xmlns:a="http://schemas.openxmlformats.org/drawingml/2006/main">
            <a:r>
              <a:t>The diagram’s scores are illustrative. The scored review experiments used researcher-selected inputs, not Jev routing.</a:t>
            </a:r>
          </a:p>
          <a:p xmlns:a="http://schemas.openxmlformats.org/drawingml/2006/main">
            <a:r>
              <a:t>Source: https://openrouter.ai/docs/guides/community/jev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Sonnet, the diff and the related file fixed. Add a security-engineer role, an OWASP checklist and explicit scope for existing flaws.</a:t>
            </a:r>
          </a:p>
          <a:p xmlns:a="http://schemas.openxmlformats.org/drawingml/2006/main">
            <a:r>
              <a:t>The generic prompt already includes security. The stronger prompt changes several instructions together, so the result cannot isolate one sentence’s effect.</a:t>
            </a:r>
          </a:p>
          <a:p xmlns:a="http://schemas.openxmlformats.org/drawingml/2006/main">
            <a:r>
              <a:t>Source: https://github.com/stperic/who-writes-who-finds/blob/main/openemr-study/data/prior-followups/followup_expanded_context/README.md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specialized prompt recovers stored XSS, bringing cumulative coverage to 23 of 24. PDF-rendering SSRF remains Partial at this stage.</a:t>
            </a:r>
          </a:p>
          <a:p xmlns:a="http://schemas.openxmlformats.org/drawingml/2006/main">
            <a:r>
              <a:t>Twenty original catches carry forward. The four-gap retests await independent verification.</a:t>
            </a:r>
          </a:p>
          <a:p xmlns:a="http://schemas.openxmlformats.org/drawingml/2006/main">
            <a:r>
              <a:t>What must PDF export preserve, and what must it prevent?</a:t>
            </a:r>
          </a:p>
          <a:p xmlns:a="http://schemas.openxmlformats.org/drawingml/2006/main">
            <a:r>
              <a:t>Source: https://github.com/stperic/who-writes-who-finds/blob/main/openemr-study/data/prior-followups/followup_expanded_context/README.md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use of </a:t>
            </a:r>
            <a:r>
              <a:t>OSTF</a:t>
            </a:r>
            <a:r>
              <a:t>: link reviewed code to relevant requirements so the AI can read the required behavior.</a:t>
            </a:r>
          </a:p>
          <a:p xmlns:a="http://schemas.openxmlformats.org/drawingml/2006/main">
            <a:r>
              <a:t>OSTF means Open Software Traceability Format, a working draft for these links.</a:t>
            </a:r>
          </a:p>
          <a:p xmlns:a="http://schemas.openxmlformats.org/drawingml/2006/main">
            <a:r>
              <a:t>The diagram illustrates the intended workflow. This experiment supplied the requirement directly. Automated requirement retrieval remains untested.</a:t>
            </a:r>
          </a:p>
          <a:p xmlns:a="http://schemas.openxmlformats.org/drawingml/2006/main">
            <a:r>
              <a:t>Source: https://</a:t>
            </a:r>
            <a:r>
              <a:t>github.com</a:t>
            </a:r>
            <a:r>
              <a:t>/</a:t>
            </a:r>
            <a:r>
              <a:t>ostf</a:t>
            </a:r>
            <a:r>
              <a:t>-spec/</a:t>
            </a:r>
            <a:r>
              <a:t>ostf</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CVE-2026-33321, the functional requirement produced 0 of 3 explicit PDF-SSRF findings. The proposed security requirement produced 3 of 3.</a:t>
            </a:r>
          </a:p>
          <a:p xmlns:a="http://schemas.openxmlformats.org/drawingml/2006/main">
            <a:r>
              <a:t>The requirement cards were the only difference between the two arms. Neither included the related caller file.</a:t>
            </a:r>
          </a:p>
          <a:p xmlns:a="http://schemas.openxmlformats.org/drawingml/2006/main">
            <a:r>
              <a:t>The security requirement was written with hindsight and awaits owner approval. Findings were observed manually. Other findings and false alarms were not adjudicated.</a:t>
            </a:r>
          </a:p>
          <a:p xmlns:a="http://schemas.openxmlformats.org/drawingml/2006/main">
            <a:r>
              <a:t>Proposed acceptance tests preserve authorized clinical images while preventing narrative-driven resource loading. These tests were not run.</a:t>
            </a:r>
          </a:p>
          <a:p xmlns:a="http://schemas.openxmlformats.org/drawingml/2006/main">
            <a:r>
              <a:t>Advisory: https://github.com/openemr/openemr/security/advisories/GHSA-5pc3-2crw-96rv</a:t>
            </a:r>
          </a:p>
          <a:p xmlns:a="http://schemas.openxmlformats.org/drawingml/2006/main">
            <a:r>
              <a:t>Source: https://github.com/stperic/who-writes-who-finds/blob/main/openemr-study/data/pdf-requirement-followup/conditions/security.txt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24 original cases now have a target finding across the rounds. The earlier 23 carry forward, and the final SSRF case appears in three of three requirement-assisted reviews.</a:t>
            </a:r>
          </a:p>
          <a:p xmlns:a="http://schemas.openxmlformats.org/drawingml/2006/main">
            <a:r>
              <a:t>This is cumulative case coverage, not a full 24-case rerun. The final result is a manual target observation using a hindsight-informed requirement supplied directly.</a:t>
            </a:r>
          </a:p>
          <a:p xmlns:a="http://schemas.openxmlformats.org/drawingml/2006/main">
            <a:r>
              <a:t>Independent verification and automated requirement retrieval remain pending.</a:t>
            </a:r>
          </a:p>
          <a:p xmlns:a="http://schemas.openxmlformats.org/drawingml/2006/main">
            <a:r>
              <a:t>Source: https://github.com/stperic/who-writes-who-finds/blob/main/openemr-study/data/pdf-requirement-followup/README.md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controls used ten comparison changes and one Sonnet review per prompt. False alarms appeared in 0 of 10 generic reviews and 5 of 10 stronger-prompt reviews.</a:t>
            </a:r>
          </a:p>
          <a:p xmlns:a="http://schemas.openxmlformats.org/drawingml/2006/main">
            <a:r>
              <a:t>Two reviews included a Medium-or-higher false alarm. Counts describe affected reviews, not individual findings.</a:t>
            </a:r>
          </a:p>
          <a:p xmlns:a="http://schemas.openxmlformats.org/drawingml/2006/main">
            <a:r>
              <a:t>False alarms with added context and requirements remain unmeasured. What triage burden would your team accept?</a:t>
            </a:r>
          </a:p>
          <a:p xmlns:a="http://schemas.openxmlformats.org/drawingml/2006/main">
            <a:r>
              <a:t>Source: https://github.com/stperic/who-writes-who-finds/blob/main/openemr-study/data/prior-followups/followup_security_prompt/README.md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code and requirements leave questions open, runtime evidence can add context. A trace connects timed operations, called spans, across services. Logs with matching trace and span IDs can be correlated.</a:t>
            </a:r>
          </a:p>
          <a:p xmlns:a="http://schemas.openxmlformats.org/drawingml/2006/main">
            <a:r>
              <a:t>This illustrative flow was not evaluated in the study. A successful span does not prove a security control worked.</a:t>
            </a:r>
          </a:p>
          <a:p xmlns:a="http://schemas.openxmlformats.org/drawingml/2006/main">
            <a:r>
              <a:t>Sources: https://opentelemetry.io/docs/concepts/signals/traces/ and https://opentelemetry.io/docs/concepts/signals/logs/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Traceability links requirements, revisions and test results. Correlated runtime evidence can add context. OSTF describes traceability data; tools perform this proposed integration.</a:t>
            </a:r>
          </a:p>
          <a:p xmlns:a="http://schemas.openxmlformats.org/drawingml/2006/main">
            <a:r>
              <a:t>Next, inspect the browser response and retain the result for that revision. The captured component check uses synthetic credentials and contains no OpenTelemetry trace.</a:t>
            </a:r>
          </a:p>
          <a:p xmlns:a="http://schemas.openxmlformats.org/drawingml/2006/main">
            <a:r>
              <a:t>Source: https://github.com/ostf-spec/ostf/blob/main/scope.md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captured replay uses synthetic credentials in an isolated payment component. The browser-response check fails before correction and passes afterward. Required scanner/trace triage and human review remain open, so merge stays blocked.</a:t>
            </a:r>
          </a:p>
          <a:p xmlns:a="http://schemas.openxmlformats.org/drawingml/2006/main">
            <a:r>
              <a:t>This is component evidence, not another detection result or an end-to-end payment test.</a:t>
            </a:r>
          </a:p>
          <a:p xmlns:a="http://schemas.openxmlformats.org/drawingml/2006/main">
            <a:r>
              <a:t>Source: https://github.com/stperic/openemr-review-gate-demo/blob/main/demo/REVIEW-PACKET.md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 public PR fixes an existing CSRF flaw. AISLE identifies missing validation, and the developer adds the guard. A later no-finding comment names the earlier revision in its footer.</a:t>
            </a:r>
          </a:p>
          <a:p xmlns:a="http://schemas.openxmlformats.org/drawingml/2006/main">
            <a:r>
              <a:t>Let the audience interpret that record in the next poll. It does not establish who introduced the original flaw.</a:t>
            </a:r>
          </a:p>
          <a:p xmlns:a="http://schemas.openxmlformats.org/drawingml/2006/main">
            <a:r>
              <a:t>Source: https://github.com/openemr/openemr/pull/11958#issuecomment-4360920068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voting: no finding was reported, for an unclear revision.</a:t>
            </a:r>
          </a:p>
          <a:p xmlns:a="http://schemas.openxmlformats.org/drawingml/2006/main">
            <a:r>
              <a:t>The public record cannot distinguish a stale footer from a stale scan. A clean comment alone does not establish that the corrected revision met every merge requirement.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Retain actual inputs and outputs, including the rendered prompt, requirement text and versions, retrieval/tool results, errors and final decision. Link them to the run and commit.</a:t>
            </a:r>
          </a:p>
          <a:p xmlns:a="http://schemas.openxmlformats.org/drawingml/2006/main">
            <a:r>
              <a:t>Record requested and returned model IDs where available; an alias may not identify fixed weights. Protect access and apply a retention policy. Records support investigation, not identical reruns.</a:t>
            </a:r>
          </a:p>
          <a:p xmlns:a="http://schemas.openxmlformats.org/drawingml/2006/main">
            <a:r>
              <a:t>References: https://genai.owasp.org/download/49068/ and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proposed policy, not OpenEMR’s historical policy. Agree on required behavior, retain and verify results for the exact revision, and require accountable approval.</a:t>
            </a:r>
          </a:p>
          <a:p xmlns:a="http://schemas.openxmlformats.org/drawingml/2006/main">
            <a:r>
              <a:t>Workers produce evidence; a separate verifier checks it. Branch protection enforces required checks and approvals. Missing requirements keep merge pending. New commits trigger reassessment.</a:t>
            </a:r>
          </a:p>
          <a:p xmlns:a="http://schemas.openxmlformats.org/drawingml/2006/main">
            <a:r>
              <a:t>References: https://doi.org/10.6028/NIST.SP.800-218 and https://doi.org/10.6028/NIST.SP.800-207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independently verify recovered findings and rerun all 24 cases. Then freeze the workflow and context-selection rules before evaluating held-out full PRs.</a:t>
            </a:r>
          </a:p>
          <a:p xmlns:a="http://schemas.openxmlformats.org/drawingml/2006/main">
            <a:r>
              <a:t>Retain existing controls. Measure verified and lost catches, false alarms and review effort. Challenge stale results, missing evidence and changed revisions. The accountable owner decides against predefined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progression reaches a target finding for each of the 24 cases across the rounds. Independent verification, a full rerun and automated requirement retrieval remain pending.</a:t>
            </a:r>
          </a:p>
          <a:p xmlns:a="http://schemas.openxmlformats.org/drawingml/2006/main">
            <a:r>
              <a:t>Keep each review’s model, prompt, actual context, outputs and decision linked to its revision. Verify the evidence and retain accountable merge authority.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one improvement to try first. How will you measure whether it helped?</a:t>
            </a:r>
          </a:p>
          <a:p xmlns:a="http://schemas.openxmlformats.org/drawingml/2006/main">
            <a:r>
              <a:t>The vote describes this audience’s priorities, not industry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Questions and discussion. The review kit contains the study, prompts and supporting records.</a:t>
            </a:r>
          </a:p>
          <a:p xmlns:a="http://schemas.openxmlformats.org/drawingml/2006/main">
            <a:r>
              <a:t>Keep measured findings, captured component evidence and proposed workflows distinct.</a:t>
            </a:r>
          </a:p>
          <a:p xmlns:a="http://schemas.openxmlformats.org/drawingml/2006/main">
            <a:r>
              <a:t>Review kit: https://github.com/stperic/who-writes-who-finds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stronger prompt adds a security role, an OWASP Top 10 (2021) checklist and explicit scope for existing flaws.</a:t>
            </a:r>
          </a:p>
          <a:p xmlns:a="http://schemas.openxmlformats.org/drawingml/2006/main">
            <a:r>
              <a:t>The controlled context comparison keeps the diff and related file fixed. Catches among the four gaps rise from 2 of 4 to 3 of 4. Automated scores await independent verification.</a:t>
            </a:r>
          </a:p>
          <a:p xmlns:a="http://schemas.openxmlformats.org/drawingml/2006/main">
            <a:r>
              <a:t>The original comparison used Claude Code. Follow-ups used the direct API. The slide preserves the user instruction text.</a:t>
            </a:r>
          </a:p>
          <a:p xmlns:a="http://schemas.openxmlformats.org/drawingml/2006/main">
            <a:r>
              <a:t>Source: https://github.com/stperic/who-writes-who-finds/blob/main/openemr-study/data/original/prompt.md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separate follow-up tested two AI-assisted changes with five models and three reviews per model/change pair.</a:t>
            </a:r>
          </a:p>
          <a:p xmlns:a="http://schemas.openxmlformats.org/drawingml/2006/main">
            <a:r>
              <a:t>Both changes carried older flaws forward. None of the ten pairs was Caught by majority, although two of thirty individual reviews were Caught.</a:t>
            </a:r>
          </a:p>
          <a:p xmlns:a="http://schemas.openxmlformats.org/drawingml/2006/main">
            <a:r>
              <a:t>Some reviews recognized the issue but treated it as pre-existing and optional.</a:t>
            </a:r>
          </a:p>
          <a:p xmlns:a="http://schemas.openxmlformats.org/drawingml/2006/main">
            <a:r>
              <a:t>Source: https://github.com/stperic/who-writes-who-finds/blob/main/openemr-study/data/prior-followups/followup_security_prompt/README.md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Detection covers ten model/change pairs per prompt, each scored by majority of three. False alarms cover fifty individual comparison reviews per prompt.</a:t>
            </a:r>
          </a:p>
          <a:p xmlns:a="http://schemas.openxmlformats.org/drawingml/2006/main">
            <a:r>
              <a:t>General review caught 0 of 10, with false alarms in 2 of 50 reviews. Security plus existing-flaw scope caught 7 of 10, with false alarms in 18 of 50.</a:t>
            </a:r>
          </a:p>
          <a:p xmlns:a="http://schemas.openxmlformats.org/drawingml/2006/main">
            <a:r>
              <a:t>These small follow-ups do not establish universal prompt rankings.</a:t>
            </a:r>
          </a:p>
          <a:p xmlns:a="http://schemas.openxmlformats.org/drawingml/2006/main">
            <a:r>
              <a:t>Source: https://github.com/stperic/who-writes-who-finds/blob/main/openemr-study/data/prior-followups/followup_security_prompt/README.md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models review five cases: four original context gaps and one inherited access-control flaw. Each condition yields 25 model/case results.</a:t>
            </a:r>
          </a:p>
          <a:p xmlns:a="http://schemas.openxmlformats.org/drawingml/2006/main">
            <a:r>
              <a:t>With the same security prompt, one dependent file changes catches from 7 of 25 to 16 of 25. PDF SSRF remains difficult in this earlier related-file comparison.</a:t>
            </a:r>
          </a:p>
          <a:p xmlns:a="http://schemas.openxmlformats.org/drawingml/2006/main">
            <a:r>
              <a:t>For the inherited access-control case, the generic prompt plus context produced no fully caught result across five models.</a:t>
            </a:r>
          </a:p>
          <a:p xmlns:a="http://schemas.openxmlformats.org/drawingml/2006/main">
            <a:r>
              <a:t>False alarms were not measured. The later requirement-assisted SSRF result belongs to the main Sonnet progression.</a:t>
            </a:r>
          </a:p>
          <a:p xmlns:a="http://schemas.openxmlformats.org/drawingml/2006/main">
            <a:r>
              <a:t>Source: https://github.com/stperic/who-writes-who-finds/blob/main/openemr-study/data/prior-followups/followup_expanded_context/README.md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Exploratory PR routing: 32 of 42 calls matched draft policy, six disagreed and four abstained. Reference roles await independent adjudication.</a:t>
            </a:r>
          </a:p>
          <a:p xmlns:a="http://schemas.openxmlformats.org/drawingml/2006/main">
            <a:r>
              <a:t>Separate MedHallu benchmark: Jev scored 92.9% versus 95.1% for the best comparator. The timing comparison was separate.</a:t>
            </a:r>
          </a:p>
          <a:p xmlns:a="http://schemas.openxmlformats.org/drawingml/2006/main">
            <a:r>
              <a:t>Neither experiment validates PR-routing accuracy or thresholds. Policy and accountable owners decide required review.</a:t>
            </a:r>
          </a:p>
          <a:p xmlns:a="http://schemas.openxmlformats.org/drawingml/2006/main">
            <a:r>
              <a:t>Source: https://github.com/stperic/who-writes-who-finds/blob/main/jev-study/README.md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People and AI can both introduce and detect defects. The examples overlap and are not exclusive assignments.</a:t>
            </a:r>
          </a:p>
          <a:p xmlns:a="http://schemas.openxmlformats.org/drawingml/2006/main">
            <a:r>
              <a:t>People define expected behavior, acceptable outcomes and approval rules. AI can assist code review when the necessary context is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original Sonnet gaps were one Missed and three Partial cases. Each depended on a relationship outside the supplied diff.</a:t>
            </a:r>
          </a:p>
          <a:p xmlns:a="http://schemas.openxmlformats.org/drawingml/2006/main">
            <a:r>
              <a:t>Caller behavior, patient filtering, credential configuration and PDF rendering suggested where additional context could help. This retrospective grouping alone does not establish causation.</a:t>
            </a:r>
          </a:p>
          <a:p xmlns:a="http://schemas.openxmlformats.org/drawingml/2006/main">
            <a:r>
              <a:t>Source: https://github.com/stperic/who-writes-who-finds/blob/main/openemr-study/data/prior-followups/followup_expanded_context/final_detection.csv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tests: reject missing or invalid CSRF tokens without changing payment data, and confirm a legitimate payment still succeeds.</a:t>
            </a:r>
          </a:p>
          <a:p xmlns:a="http://schemas.openxmlformats.org/drawingml/2006/main">
            <a:r>
              <a:t>Object authorization is a separate rule for the owner to define. A cross-patient test is a candidate, not a newly discovered flaw.</a:t>
            </a:r>
          </a:p>
          <a:p xmlns:a="http://schemas.openxmlformats.org/drawingml/2006/main">
            <a:r>
              <a:t>These tests were not run for PR #11958.</a:t>
            </a:r>
          </a:p>
          <a:p xmlns:a="http://schemas.openxmlformats.org/drawingml/2006/main">
            <a:r>
              <a:t>Source: https://cheatsheetseries.owasp.org/cheatsheets/Cross-Site_Request_Forgery_Prevention_Cheat_Sheet.html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workflow: workers produce evidence, a separate verifier checks it, and protected-branch rules enforce required checks and human approvals.</a:t>
            </a:r>
          </a:p>
          <a:p xmlns:a="http://schemas.openxmlformats.org/drawingml/2006/main">
            <a:r>
              <a:t>Keep gate-publishing credentials outside untrusted workers. Verify producer identity, source revision and required outcomes.</a:t>
            </a:r>
          </a:p>
          <a:p xmlns:a="http://schemas.openxmlformats.org/drawingml/2006/main">
            <a:r>
              <a:t>This design was not run for PR #11958. Zero Trust principles are applied by analogy.</a:t>
            </a:r>
          </a:p>
          <a:p xmlns:a="http://schemas.openxmlformats.org/drawingml/2006/main">
            <a:r>
              <a:t>References: https://doi.org/10.6028/NIST.SP.800-207 and https://doi.org/10.6028/NIST.SP.800-218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an example policy, not OpenEMR’s historical process. Assume the correction is present but the required current results and owner approval are missing; merge remains pending.</a:t>
            </a:r>
          </a:p>
          <a:p xmlns:a="http://schemas.openxmlformats.org/drawingml/2006/main">
            <a:r>
              <a:t>A new revision triggers impact review and refresh of affected checks, retained review evidence and approvals.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Freeze the model, prompts, context selection, permissions and judging before evaluation.</a:t>
            </a:r>
          </a:p>
          <a:p xmlns:a="http://schemas.openxmlformats.org/drawingml/2006/main">
            <a:r>
              <a:t>Verify recovered findings, rerun all 24 cases to check for lost catches, then evaluate held-out full PRs.</a:t>
            </a:r>
          </a:p>
          <a:p xmlns:a="http://schemas.openxmlformats.org/drawingml/2006/main">
            <a:r>
              <a:t>Measure verified catches, false alarms, triage time and review effort. Record the decision, scope and accountable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d890dec5531461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6c9c9f1990149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a569b6168744809" /><Relationship Type="http://schemas.openxmlformats.org/officeDocument/2006/relationships/image" Target="/ppt/media/image4.png" Id="R2492d61bedd44bb7" /><Relationship Type="http://schemas.openxmlformats.org/officeDocument/2006/relationships/image" Target="/ppt/media/image3.png" Id="R4b252177e267456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fd83aa671074d2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2.xml" Id="Rc4caf66cfc744a17"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Title and body">
    <p:bg>
      <p:bgPr>
        <a:solidFill xmlns:a="http://schemas.openxmlformats.org/drawingml/2006/main">
          <a:srgbClr val="FCFCFB"/>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1CDAA926-B41A-42FE-B72F-B662AE1ABD7D}"/>
              </a:ext>
            </a:extLst>
          </p:cNvPr>
          <p:cNvSpPr>
            <a:spLocks xmlns:a="http://schemas.openxmlformats.org/drawingml/2006/main" noGrp="1"/>
          </p:cNvSpPr>
          <p:nvPr>
            <p:ph type="title" idx="0"/>
          </p:nvPr>
        </p:nvSpPr>
        <p:spPr>
          <a:xfrm xmlns:a="http://schemas.openxmlformats.org/drawingml/2006/main">
            <a:off x="812800" y="812800"/>
            <a:ext cx="5069284" cy="4469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200">
                <a:solidFill>
                  <a:srgbClr val="448334"/>
                </a:solidFill>
                <a:latin typeface="Arial"/>
                <a:ea typeface="Arial"/>
                <a:cs typeface="Arial"/>
              </a:defRPr>
            </a:lvl1pPr>
          </a:lstStyle>
          <a:p xmlns:a="http://schemas.openxmlformats.org/drawingml/2006/main">
            <a:pPr marL="0" indent="0" algn="l">
              <a:lnSpc>
                <a:spcPct val="115000"/>
              </a:lnSpc>
              <a:buNone/>
            </a:pPr>
            <a:endParaRPr sz="3200"/>
          </a:p>
        </p:txBody>
      </p:sp>
      <p:sp>
        <p:nvSpPr>
          <p:cNvPr id="3" name="Text Placeholder 2">
            <a:extLst xmlns:a="http://schemas.openxmlformats.org/drawingml/2006/main">
              <a:ext uri="{FF2B5EF4-FFF2-40B4-BE49-F238E27FC236}">
                <a16:creationId xmlns:a16="http://schemas.microsoft.com/office/drawing/2014/main" id="{469703FB-1540-43C6-B9C0-74098CDADC17}"/>
              </a:ext>
            </a:extLst>
          </p:cNvPr>
          <p:cNvSpPr>
            <a:spLocks xmlns:a="http://schemas.openxmlformats.org/drawingml/2006/main" noGrp="1"/>
          </p:cNvSpPr>
          <p:nvPr>
            <p:ph type="body" idx="101"/>
          </p:nvPr>
        </p:nvSpPr>
        <p:spPr>
          <a:xfrm xmlns:a="http://schemas.openxmlformats.org/drawingml/2006/main">
            <a:off x="812800" y="1564580"/>
            <a:ext cx="10566400" cy="44806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448334"/>
                </a:solidFill>
                <a:latin typeface="Arial"/>
                <a:ea typeface="Arial"/>
                <a:cs typeface="Arial"/>
              </a:defRPr>
            </a:lvl1pPr>
          </a:lstStyle>
          <a:p xmlns:a="http://schemas.openxmlformats.org/drawingml/2006/main">
            <a:pPr marL="0" indent="0" algn="l">
              <a:lnSpc>
                <a:spcPct val="140000"/>
              </a:lnSpc>
              <a:buNone/>
            </a:pPr>
            <a:endParaRPr sz="1600"/>
          </a:p>
        </p:txBody>
      </p:sp>
    </p:spTree>
  </p:cSld>
</p:sldLayout>
</file>

<file path=ppt/slideLayouts/slideLayout3.xml><?xml version="1.0" encoding="utf-8"?>
<p:sldLayout xmlns:p="http://schemas.openxmlformats.org/presentationml/2006/main" showMasterSp="0" userDrawn="1">
  <p:cSld name="Any Questions?">
    <p:bg>
      <p:bgPr>
        <a:solidFill xmlns:a="http://schemas.openxmlformats.org/drawingml/2006/main">
          <a:schemeClr val="bg1"/>
        </a:solidFill>
      </p:bgPr>
    </p:bg>
    <p:spTree>
      <p:nvGrpSpPr>
        <p:cNvPr id="1" name=""/>
        <p:cNvGrpSpPr/>
        <p:nvPr/>
      </p:nvGrpSpPr>
      <p:grpSpPr>
        <a:xfrm xmlns:a="http://schemas.openxmlformats.org/drawingml/2006/main"/>
      </p:grpSpPr>
      <p:sp>
        <p:nvSpPr>
          <p:cNvPr id="2" name="Any Questions?">
            <a:extLst xmlns:a="http://schemas.openxmlformats.org/drawingml/2006/main">
              <a:ext uri="{FF2B5EF4-FFF2-40B4-BE49-F238E27FC236}">
                <a16:creationId xmlns:a16="http://schemas.microsoft.com/office/drawing/2014/main" id="{6E2286D2-B5B8-3D6F-AAB0-B1E909CBAA15}"/>
              </a:ext>
            </a:extLst>
          </p:cNvPr>
          <p:cNvSpPr>
            <a:spLocks xmlns:a="http://schemas.openxmlformats.org/drawingml/2006/main" noGrp="1"/>
          </p:cNvSpPr>
          <p:nvPr/>
        </p:nvSpPr>
        <p:spPr>
          <a:xfrm xmlns:a="http://schemas.openxmlformats.org/drawingml/2006/main">
            <a:off x="817405" y="2349350"/>
            <a:ext cx="5931662" cy="609398"/>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lgn="l">
              <a:defRPr sz="900" b="0" i="0" u="none" strike="noStrike" cap="none" spc="0" baseline="0">
                <a:ln>
                  <a:noFill/>
                </a:ln>
                <a:solidFill>
                  <a:srgbClr val="000000"/>
                </a:solidFill>
              </a:defRPr>
            </a:defPPr>
            <a:lvl1pPr algn="l">
              <a:lnSpc>
                <a:spcPct val="90000"/>
              </a:lnSpc>
              <a:buNone/>
              <a:defRPr sz="4399" b="1" i="0" u="none" strike="noStrike" kern="1200" cap="none" spc="0" baseline="0">
                <a:ln>
                  <a:noFill/>
                </a:ln>
                <a:solidFill>
                  <a:schemeClr val="accent1"/>
                </a:solidFill>
                <a:latin typeface="+mj-lt"/>
                <a:ea typeface="+mj-lt"/>
                <a:cs typeface="+mj-lt"/>
              </a:defRPr>
            </a:lvl1pPr>
            <a:lvl2pPr algn="l">
              <a:defRPr sz="900" b="0" i="0" u="none" strike="noStrike" cap="none" spc="0" baseline="0">
                <a:ln>
                  <a:noFill/>
                </a:ln>
                <a:solidFill>
                  <a:srgbClr val="000000"/>
                </a:solidFill>
              </a:defRPr>
            </a:lvl2pPr>
            <a:lvl3pPr algn="l">
              <a:defRPr sz="900" b="0" i="0" u="none" strike="noStrike" cap="none" spc="0" baseline="0">
                <a:ln>
                  <a:noFill/>
                </a:ln>
                <a:solidFill>
                  <a:srgbClr val="000000"/>
                </a:solidFill>
              </a:defRPr>
            </a:lvl3pPr>
            <a:lvl4pPr algn="l">
              <a:defRPr sz="900" b="0" i="0" u="none" strike="noStrike" cap="none" spc="0" baseline="0">
                <a:ln>
                  <a:noFill/>
                </a:ln>
                <a:solidFill>
                  <a:srgbClr val="000000"/>
                </a:solidFill>
              </a:defRPr>
            </a:lvl4pPr>
            <a:lvl5pPr algn="l">
              <a:defRPr sz="900" b="0" i="0" u="none" strike="noStrike" cap="none" spc="0" baseline="0">
                <a:ln>
                  <a:noFill/>
                </a:ln>
                <a:solidFill>
                  <a:srgbClr val="000000"/>
                </a:solidFill>
              </a:defRPr>
            </a:lvl5pPr>
            <a:lvl6pPr algn="l">
              <a:defRPr sz="900" b="0" i="0" u="none" strike="noStrike" cap="none" spc="0" baseline="0">
                <a:ln>
                  <a:noFill/>
                </a:ln>
                <a:solidFill>
                  <a:srgbClr val="000000"/>
                </a:solidFill>
              </a:defRPr>
            </a:lvl6pPr>
            <a:lvl7pPr algn="l">
              <a:defRPr sz="900" b="0" i="0" u="none" strike="noStrike" cap="none" spc="0" baseline="0">
                <a:ln>
                  <a:noFill/>
                </a:ln>
                <a:solidFill>
                  <a:srgbClr val="000000"/>
                </a:solidFill>
              </a:defRPr>
            </a:lvl7pPr>
            <a:lvl8pPr algn="l">
              <a:defRPr sz="900" b="0" i="0" u="none" strike="noStrike" cap="none" spc="0" baseline="0">
                <a:ln>
                  <a:noFill/>
                </a:ln>
                <a:solidFill>
                  <a:srgbClr val="000000"/>
                </a:solidFill>
              </a:defRPr>
            </a:lvl8pPr>
            <a:lvl9pPr algn="l">
              <a:defRPr sz="900" b="0" i="0" u="none" strike="noStrike" cap="none" spc="0" baseline="0">
                <a:ln>
                  <a:noFill/>
                </a:ln>
                <a:solidFill>
                  <a:srgbClr val="000000"/>
                </a:solidFill>
              </a:defRPr>
            </a:lvl9pPr>
          </a:lstStyle>
          <a:p xmlns:a="http://schemas.openxmlformats.org/drawingml/2006/main">
            <a:pPr lvl="0">
              <a:buNone/>
            </a:pPr>
            <a:r>
              <a:rPr sz="4399"/>
              <a:t>Any Questions?</a:t>
            </a:r>
          </a:p>
        </p:txBody>
      </p:sp>
      <p:sp>
        <p:nvSpPr>
          <p:cNvPr id="11" name="Title">
            <a:extLst xmlns:a="http://schemas.openxmlformats.org/drawingml/2006/main">
              <a:ext uri="{FF2B5EF4-FFF2-40B4-BE49-F238E27FC236}">
                <a16:creationId xmlns:a16="http://schemas.microsoft.com/office/drawing/2014/main" id="{5457E467-A7E0-DAFA-0DB8-7E27AFF90797}"/>
              </a:ext>
            </a:extLst>
          </p:cNvPr>
          <p:cNvSpPr>
            <a:spLocks xmlns:a="http://schemas.openxmlformats.org/drawingml/2006/main" noGrp="1"/>
          </p:cNvSpPr>
          <p:nvPr>
            <p:ph type="body" idx="11" hasCustomPrompt="1"/>
          </p:nvPr>
        </p:nvSpPr>
        <p:spPr>
          <a:xfrm xmlns:a="http://schemas.openxmlformats.org/drawingml/2006/main">
            <a:off x="817406" y="3008873"/>
            <a:ext cx="8629265" cy="387798"/>
          </a:xfrm>
        </p:spPr>
        <p:txBody>
          <a:bodyPr xmlns:a="http://schemas.openxmlformats.org/drawingml/2006/main" wrap="square" lIns="0" tIns="0" rIns="0" bIns="0" anchor="t">
            <a:noAutofit/>
          </a:bodyPr>
          <a:lstStyle xmlns:a="http://schemas.openxmlformats.org/drawingml/2006/main">
            <a:lvl1pPr marL="0" indent="0">
              <a:spcAft>
                <a:spcPts val="1000"/>
              </a:spcAft>
              <a:buNone/>
              <a:defRPr sz="3199" b="0" kern="1200">
                <a:solidFill>
                  <a:schemeClr val="tx1"/>
                </a:solidFill>
                <a:latin typeface="+mj-lt"/>
                <a:ea typeface="+mj-lt"/>
                <a:cs typeface="+mj-lt"/>
              </a:defRPr>
            </a:lvl1pPr>
            <a:lvl2pPr marL="0" indent="0">
              <a:buNone/>
              <a:defRPr>
                <a:solidFill>
                  <a:schemeClr val="bg1"/>
                </a:solidFill>
              </a:defRPr>
            </a:lvl2pPr>
            <a:lvl3pPr marL="914126" indent="0">
              <a:buNone/>
              <a:defRPr/>
            </a:lvl3pPr>
          </a:lstStyle>
          <a:p xmlns:a="http://schemas.openxmlformats.org/drawingml/2006/main">
            <a:pPr lvl="0">
              <a:buNone/>
            </a:pPr>
            <a:r>
              <a:t>Contact info, next steps, etc.</a:t>
            </a:r>
          </a:p>
        </p:txBody>
      </p:sp>
      <p:pic>
        <p:nvPicPr>
          <p:cNvPr id="3" name="Pretty parallelograms">
            <a:extLst xmlns:a="http://schemas.openxmlformats.org/drawingml/2006/main">
              <a:ext uri="{FF2B5EF4-FFF2-40B4-BE49-F238E27FC236}">
                <a16:creationId xmlns:a16="http://schemas.microsoft.com/office/drawing/2014/main" id="{C3C40A2D-5F1A-4A8C-B584-2D0669F060C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2492d61bedd44bb7"/>
          <a:srcRect xmlns:a="http://schemas.openxmlformats.org/drawingml/2006/main" l="53170" t="43574" r="0" b="0"/>
          <a:stretch xmlns:a="http://schemas.openxmlformats.org/drawingml/2006/main"/>
        </p:blipFill>
        <p:spPr>
          <a:xfrm xmlns:a="http://schemas.openxmlformats.org/drawingml/2006/main">
            <a:off x="6482499" y="2988496"/>
            <a:ext cx="5709502" cy="3869504"/>
          </a:xfrm>
          <a:prstGeom xmlns:a="http://schemas.openxmlformats.org/drawingml/2006/main" prst="rect">
            <a:avLst/>
          </a:prstGeom>
        </p:spPr>
      </p:pic>
      <p:sp>
        <p:nvSpPr>
          <p:cNvPr id="7" name="Freeform: Shape 6">
            <a:extLst xmlns:a="http://schemas.openxmlformats.org/drawingml/2006/main">
              <a:ext uri="{FF2B5EF4-FFF2-40B4-BE49-F238E27FC236}">
                <a16:creationId xmlns:a16="http://schemas.microsoft.com/office/drawing/2014/main" id="{B0953411-BC05-052A-90CE-DEA7C812A468}"/>
              </a:ext>
            </a:extLst>
          </p:cNvPr>
          <p:cNvSpPr>
            <a:spLocks xmlns:a="http://schemas.openxmlformats.org/drawingml/2006/main" noGrp="1"/>
          </p:cNvSpPr>
          <p:nvPr/>
        </p:nvSpPr>
        <p:spPr>
          <a:xfrm xmlns:a="http://schemas.openxmlformats.org/drawingml/2006/main" rot="0" flipH="0" flipV="0">
            <a:off x="575363" y="884995"/>
            <a:ext cx="2904417" cy="175933"/>
          </a:xfrm>
          <a:custGeom xmlns:a="http://schemas.openxmlformats.org/drawingml/2006/main">
            <a:rect l="l" t="t" r="r" b="b"/>
            <a:pathLst>
              <a:path w="2994143" h="181417">
                <a:moveTo>
                  <a:pt x="2592958" y="135555"/>
                </a:moveTo>
                <a:cubicBezTo>
                  <a:pt x="2588599" y="135555"/>
                  <a:pt x="2584799" y="136232"/>
                  <a:pt x="2581559" y="137587"/>
                </a:cubicBezTo>
                <a:cubicBezTo>
                  <a:pt x="2578319" y="138942"/>
                  <a:pt x="2575830" y="140945"/>
                  <a:pt x="2574092" y="143596"/>
                </a:cubicBezTo>
                <a:cubicBezTo>
                  <a:pt x="2572354" y="146247"/>
                  <a:pt x="2571485" y="149546"/>
                  <a:pt x="2571485" y="153493"/>
                </a:cubicBezTo>
                <a:cubicBezTo>
                  <a:pt x="2571485" y="158736"/>
                  <a:pt x="2573694" y="162728"/>
                  <a:pt x="2578112" y="165467"/>
                </a:cubicBezTo>
                <a:cubicBezTo>
                  <a:pt x="2582531" y="168206"/>
                  <a:pt x="2588834" y="169576"/>
                  <a:pt x="2597023" y="169576"/>
                </a:cubicBezTo>
                <a:cubicBezTo>
                  <a:pt x="2605035" y="169576"/>
                  <a:pt x="2611677" y="168766"/>
                  <a:pt x="2616950" y="167146"/>
                </a:cubicBezTo>
                <a:cubicBezTo>
                  <a:pt x="2622222" y="165526"/>
                  <a:pt x="2626169" y="163199"/>
                  <a:pt x="2628791" y="160165"/>
                </a:cubicBezTo>
                <a:cubicBezTo>
                  <a:pt x="2631412" y="157131"/>
                  <a:pt x="2632723" y="153523"/>
                  <a:pt x="2632723" y="149340"/>
                </a:cubicBezTo>
                <a:cubicBezTo>
                  <a:pt x="2632723" y="145452"/>
                  <a:pt x="2631839" y="142521"/>
                  <a:pt x="2630072" y="140548"/>
                </a:cubicBezTo>
                <a:cubicBezTo>
                  <a:pt x="2628305" y="138574"/>
                  <a:pt x="2625713" y="137249"/>
                  <a:pt x="2622296" y="136571"/>
                </a:cubicBezTo>
                <a:cubicBezTo>
                  <a:pt x="2618879" y="135894"/>
                  <a:pt x="2614696" y="135555"/>
                  <a:pt x="2609748" y="135555"/>
                </a:cubicBezTo>
                <a:close/>
                <a:moveTo>
                  <a:pt x="1107058" y="135555"/>
                </a:moveTo>
                <a:cubicBezTo>
                  <a:pt x="1102699" y="135555"/>
                  <a:pt x="1098899" y="136232"/>
                  <a:pt x="1095659" y="137587"/>
                </a:cubicBezTo>
                <a:cubicBezTo>
                  <a:pt x="1092419" y="138942"/>
                  <a:pt x="1089930" y="140945"/>
                  <a:pt x="1088192" y="143596"/>
                </a:cubicBezTo>
                <a:cubicBezTo>
                  <a:pt x="1086454" y="146247"/>
                  <a:pt x="1085585" y="149546"/>
                  <a:pt x="1085585" y="153493"/>
                </a:cubicBezTo>
                <a:cubicBezTo>
                  <a:pt x="1085585" y="158736"/>
                  <a:pt x="1087794" y="162728"/>
                  <a:pt x="1092213" y="165467"/>
                </a:cubicBezTo>
                <a:cubicBezTo>
                  <a:pt x="1096631" y="168206"/>
                  <a:pt x="1102934" y="169576"/>
                  <a:pt x="1111123" y="169576"/>
                </a:cubicBezTo>
                <a:cubicBezTo>
                  <a:pt x="1119135" y="169576"/>
                  <a:pt x="1125777" y="168766"/>
                  <a:pt x="1131050" y="167146"/>
                </a:cubicBezTo>
                <a:cubicBezTo>
                  <a:pt x="1136322" y="165526"/>
                  <a:pt x="1140269" y="163199"/>
                  <a:pt x="1142891" y="160165"/>
                </a:cubicBezTo>
                <a:cubicBezTo>
                  <a:pt x="1145512" y="157131"/>
                  <a:pt x="1146823" y="153523"/>
                  <a:pt x="1146823" y="149340"/>
                </a:cubicBezTo>
                <a:cubicBezTo>
                  <a:pt x="1146823" y="145452"/>
                  <a:pt x="1145939" y="142521"/>
                  <a:pt x="1144172" y="140548"/>
                </a:cubicBezTo>
                <a:cubicBezTo>
                  <a:pt x="1142405" y="138574"/>
                  <a:pt x="1139813" y="137249"/>
                  <a:pt x="1136396" y="136571"/>
                </a:cubicBezTo>
                <a:cubicBezTo>
                  <a:pt x="1132979" y="135894"/>
                  <a:pt x="1128796" y="135555"/>
                  <a:pt x="1123848" y="135555"/>
                </a:cubicBezTo>
                <a:close/>
                <a:moveTo>
                  <a:pt x="611758" y="135555"/>
                </a:moveTo>
                <a:cubicBezTo>
                  <a:pt x="607399" y="135555"/>
                  <a:pt x="603599" y="136232"/>
                  <a:pt x="600359" y="137587"/>
                </a:cubicBezTo>
                <a:cubicBezTo>
                  <a:pt x="597119" y="138942"/>
                  <a:pt x="594630" y="140945"/>
                  <a:pt x="592892" y="143596"/>
                </a:cubicBezTo>
                <a:cubicBezTo>
                  <a:pt x="591154" y="146247"/>
                  <a:pt x="590285" y="149546"/>
                  <a:pt x="590285" y="153493"/>
                </a:cubicBezTo>
                <a:cubicBezTo>
                  <a:pt x="590285" y="158736"/>
                  <a:pt x="592494" y="162728"/>
                  <a:pt x="596912" y="165467"/>
                </a:cubicBezTo>
                <a:cubicBezTo>
                  <a:pt x="601331" y="168206"/>
                  <a:pt x="607634" y="169576"/>
                  <a:pt x="615823" y="169576"/>
                </a:cubicBezTo>
                <a:cubicBezTo>
                  <a:pt x="623835" y="169576"/>
                  <a:pt x="630477" y="168766"/>
                  <a:pt x="635750" y="167146"/>
                </a:cubicBezTo>
                <a:cubicBezTo>
                  <a:pt x="641022" y="165526"/>
                  <a:pt x="644969" y="163199"/>
                  <a:pt x="647591" y="160165"/>
                </a:cubicBezTo>
                <a:cubicBezTo>
                  <a:pt x="650212" y="157131"/>
                  <a:pt x="651523" y="153523"/>
                  <a:pt x="651523" y="149340"/>
                </a:cubicBezTo>
                <a:cubicBezTo>
                  <a:pt x="651523" y="145452"/>
                  <a:pt x="650639" y="142521"/>
                  <a:pt x="648872" y="140548"/>
                </a:cubicBezTo>
                <a:cubicBezTo>
                  <a:pt x="647105" y="138574"/>
                  <a:pt x="644513" y="137249"/>
                  <a:pt x="641096" y="136571"/>
                </a:cubicBezTo>
                <a:cubicBezTo>
                  <a:pt x="637679" y="135894"/>
                  <a:pt x="633496" y="135555"/>
                  <a:pt x="628548" y="135555"/>
                </a:cubicBezTo>
                <a:close/>
                <a:moveTo>
                  <a:pt x="367871" y="116998"/>
                </a:moveTo>
                <a:cubicBezTo>
                  <a:pt x="370875" y="116998"/>
                  <a:pt x="373408" y="117867"/>
                  <a:pt x="375470" y="119605"/>
                </a:cubicBezTo>
                <a:cubicBezTo>
                  <a:pt x="377532" y="121343"/>
                  <a:pt x="378563" y="124273"/>
                  <a:pt x="378563" y="128397"/>
                </a:cubicBezTo>
                <a:cubicBezTo>
                  <a:pt x="378563" y="132462"/>
                  <a:pt x="377532" y="135422"/>
                  <a:pt x="375470" y="137278"/>
                </a:cubicBezTo>
                <a:cubicBezTo>
                  <a:pt x="373408" y="139134"/>
                  <a:pt x="370875" y="140062"/>
                  <a:pt x="367871" y="140062"/>
                </a:cubicBezTo>
                <a:cubicBezTo>
                  <a:pt x="364984" y="140062"/>
                  <a:pt x="362539" y="139134"/>
                  <a:pt x="360536" y="137278"/>
                </a:cubicBezTo>
                <a:cubicBezTo>
                  <a:pt x="358533" y="135422"/>
                  <a:pt x="357532" y="132462"/>
                  <a:pt x="357532" y="128397"/>
                </a:cubicBezTo>
                <a:cubicBezTo>
                  <a:pt x="357532" y="124273"/>
                  <a:pt x="358533" y="121343"/>
                  <a:pt x="360536" y="119605"/>
                </a:cubicBezTo>
                <a:cubicBezTo>
                  <a:pt x="362539" y="117867"/>
                  <a:pt x="364984" y="116998"/>
                  <a:pt x="367871" y="116998"/>
                </a:cubicBezTo>
                <a:close/>
                <a:moveTo>
                  <a:pt x="1792170" y="58146"/>
                </a:moveTo>
                <a:lnTo>
                  <a:pt x="1786337" y="88190"/>
                </a:lnTo>
                <a:lnTo>
                  <a:pt x="1813289" y="88190"/>
                </a:lnTo>
                <a:lnTo>
                  <a:pt x="1819122" y="58146"/>
                </a:lnTo>
                <a:close/>
                <a:moveTo>
                  <a:pt x="2389435" y="51341"/>
                </a:moveTo>
                <a:cubicBezTo>
                  <a:pt x="2379362" y="51341"/>
                  <a:pt x="2371983" y="54670"/>
                  <a:pt x="2367300" y="61327"/>
                </a:cubicBezTo>
                <a:cubicBezTo>
                  <a:pt x="2362616" y="67984"/>
                  <a:pt x="2360274" y="77203"/>
                  <a:pt x="2360274" y="88986"/>
                </a:cubicBezTo>
                <a:cubicBezTo>
                  <a:pt x="2360274" y="96762"/>
                  <a:pt x="2361306" y="103507"/>
                  <a:pt x="2363367" y="109222"/>
                </a:cubicBezTo>
                <a:cubicBezTo>
                  <a:pt x="2365429" y="114936"/>
                  <a:pt x="2368611" y="119354"/>
                  <a:pt x="2372911" y="122477"/>
                </a:cubicBezTo>
                <a:cubicBezTo>
                  <a:pt x="2377212" y="125599"/>
                  <a:pt x="2382749" y="127160"/>
                  <a:pt x="2389524" y="127160"/>
                </a:cubicBezTo>
                <a:cubicBezTo>
                  <a:pt x="2396240" y="127160"/>
                  <a:pt x="2401763" y="125599"/>
                  <a:pt x="2406093" y="122477"/>
                </a:cubicBezTo>
                <a:cubicBezTo>
                  <a:pt x="2410423" y="119354"/>
                  <a:pt x="2413619" y="114936"/>
                  <a:pt x="2415680" y="109222"/>
                </a:cubicBezTo>
                <a:cubicBezTo>
                  <a:pt x="2417742" y="103507"/>
                  <a:pt x="2418773" y="96762"/>
                  <a:pt x="2418773" y="88986"/>
                </a:cubicBezTo>
                <a:cubicBezTo>
                  <a:pt x="2418773" y="81268"/>
                  <a:pt x="2417742" y="74597"/>
                  <a:pt x="2415680" y="68971"/>
                </a:cubicBezTo>
                <a:cubicBezTo>
                  <a:pt x="2413619" y="63344"/>
                  <a:pt x="2410437" y="59000"/>
                  <a:pt x="2406137" y="55936"/>
                </a:cubicBezTo>
                <a:cubicBezTo>
                  <a:pt x="2401836" y="52873"/>
                  <a:pt x="2396269" y="51341"/>
                  <a:pt x="2389435" y="51341"/>
                </a:cubicBezTo>
                <a:close/>
                <a:moveTo>
                  <a:pt x="903536" y="51341"/>
                </a:moveTo>
                <a:cubicBezTo>
                  <a:pt x="893462" y="51341"/>
                  <a:pt x="886083" y="54670"/>
                  <a:pt x="881400" y="61327"/>
                </a:cubicBezTo>
                <a:cubicBezTo>
                  <a:pt x="876716" y="67984"/>
                  <a:pt x="874375" y="77203"/>
                  <a:pt x="874375" y="88986"/>
                </a:cubicBezTo>
                <a:cubicBezTo>
                  <a:pt x="874375" y="96762"/>
                  <a:pt x="875406" y="103507"/>
                  <a:pt x="877467" y="109222"/>
                </a:cubicBezTo>
                <a:cubicBezTo>
                  <a:pt x="879529" y="114936"/>
                  <a:pt x="882711" y="119354"/>
                  <a:pt x="887011" y="122477"/>
                </a:cubicBezTo>
                <a:cubicBezTo>
                  <a:pt x="891312" y="125599"/>
                  <a:pt x="896849" y="127160"/>
                  <a:pt x="903624" y="127160"/>
                </a:cubicBezTo>
                <a:cubicBezTo>
                  <a:pt x="910340" y="127160"/>
                  <a:pt x="915863" y="125599"/>
                  <a:pt x="920193" y="122477"/>
                </a:cubicBezTo>
                <a:cubicBezTo>
                  <a:pt x="924523" y="119354"/>
                  <a:pt x="927719" y="114936"/>
                  <a:pt x="929781" y="109222"/>
                </a:cubicBezTo>
                <a:cubicBezTo>
                  <a:pt x="931842" y="103507"/>
                  <a:pt x="932873" y="96762"/>
                  <a:pt x="932873" y="88986"/>
                </a:cubicBezTo>
                <a:cubicBezTo>
                  <a:pt x="932873" y="81268"/>
                  <a:pt x="931842" y="74597"/>
                  <a:pt x="929781" y="68971"/>
                </a:cubicBezTo>
                <a:cubicBezTo>
                  <a:pt x="927719" y="63344"/>
                  <a:pt x="924537" y="59000"/>
                  <a:pt x="920237" y="55936"/>
                </a:cubicBezTo>
                <a:cubicBezTo>
                  <a:pt x="915936" y="52873"/>
                  <a:pt x="910369" y="51341"/>
                  <a:pt x="903536" y="51341"/>
                </a:cubicBezTo>
                <a:close/>
                <a:moveTo>
                  <a:pt x="446336" y="51341"/>
                </a:moveTo>
                <a:cubicBezTo>
                  <a:pt x="436262" y="51341"/>
                  <a:pt x="428883" y="54670"/>
                  <a:pt x="424200" y="61327"/>
                </a:cubicBezTo>
                <a:cubicBezTo>
                  <a:pt x="419516" y="67984"/>
                  <a:pt x="417175" y="77203"/>
                  <a:pt x="417175" y="88986"/>
                </a:cubicBezTo>
                <a:cubicBezTo>
                  <a:pt x="417175" y="96762"/>
                  <a:pt x="418206" y="103507"/>
                  <a:pt x="420267" y="109222"/>
                </a:cubicBezTo>
                <a:cubicBezTo>
                  <a:pt x="422329" y="114936"/>
                  <a:pt x="425511" y="119354"/>
                  <a:pt x="429811" y="122477"/>
                </a:cubicBezTo>
                <a:cubicBezTo>
                  <a:pt x="434111" y="125599"/>
                  <a:pt x="439649" y="127160"/>
                  <a:pt x="446424" y="127160"/>
                </a:cubicBezTo>
                <a:cubicBezTo>
                  <a:pt x="453140" y="127160"/>
                  <a:pt x="458663" y="125599"/>
                  <a:pt x="462993" y="122477"/>
                </a:cubicBezTo>
                <a:cubicBezTo>
                  <a:pt x="467323" y="119354"/>
                  <a:pt x="470519" y="114936"/>
                  <a:pt x="472580" y="109222"/>
                </a:cubicBezTo>
                <a:cubicBezTo>
                  <a:pt x="474642" y="103507"/>
                  <a:pt x="475673" y="96762"/>
                  <a:pt x="475673" y="88986"/>
                </a:cubicBezTo>
                <a:cubicBezTo>
                  <a:pt x="475673" y="81268"/>
                  <a:pt x="474642" y="74597"/>
                  <a:pt x="472580" y="68971"/>
                </a:cubicBezTo>
                <a:cubicBezTo>
                  <a:pt x="470519" y="63344"/>
                  <a:pt x="467337" y="59000"/>
                  <a:pt x="463037" y="55936"/>
                </a:cubicBezTo>
                <a:cubicBezTo>
                  <a:pt x="458736" y="52873"/>
                  <a:pt x="453169" y="51341"/>
                  <a:pt x="446336" y="51341"/>
                </a:cubicBezTo>
                <a:close/>
                <a:moveTo>
                  <a:pt x="2778105" y="50988"/>
                </a:moveTo>
                <a:cubicBezTo>
                  <a:pt x="2770270" y="50988"/>
                  <a:pt x="2764025" y="53551"/>
                  <a:pt x="2759371" y="58676"/>
                </a:cubicBezTo>
                <a:cubicBezTo>
                  <a:pt x="2754717" y="63801"/>
                  <a:pt x="2751948" y="70959"/>
                  <a:pt x="2751065" y="80149"/>
                </a:cubicBezTo>
                <a:lnTo>
                  <a:pt x="2802317" y="80149"/>
                </a:lnTo>
                <a:cubicBezTo>
                  <a:pt x="2802258" y="74376"/>
                  <a:pt x="2801360" y="69295"/>
                  <a:pt x="2799622" y="64906"/>
                </a:cubicBezTo>
                <a:cubicBezTo>
                  <a:pt x="2797884" y="60517"/>
                  <a:pt x="2795248" y="57100"/>
                  <a:pt x="2791713" y="54655"/>
                </a:cubicBezTo>
                <a:cubicBezTo>
                  <a:pt x="2788179" y="52210"/>
                  <a:pt x="2783643" y="50988"/>
                  <a:pt x="2778105" y="50988"/>
                </a:cubicBezTo>
                <a:close/>
                <a:moveTo>
                  <a:pt x="1292205" y="50988"/>
                </a:moveTo>
                <a:cubicBezTo>
                  <a:pt x="1284370" y="50988"/>
                  <a:pt x="1278125" y="53551"/>
                  <a:pt x="1273471" y="58676"/>
                </a:cubicBezTo>
                <a:cubicBezTo>
                  <a:pt x="1268817" y="63801"/>
                  <a:pt x="1266048" y="70959"/>
                  <a:pt x="1265165" y="80149"/>
                </a:cubicBezTo>
                <a:lnTo>
                  <a:pt x="1316417" y="80149"/>
                </a:lnTo>
                <a:cubicBezTo>
                  <a:pt x="1316358" y="74376"/>
                  <a:pt x="1315460" y="69295"/>
                  <a:pt x="1313722" y="64906"/>
                </a:cubicBezTo>
                <a:cubicBezTo>
                  <a:pt x="1311984" y="60517"/>
                  <a:pt x="1309348" y="57100"/>
                  <a:pt x="1305813" y="54655"/>
                </a:cubicBezTo>
                <a:cubicBezTo>
                  <a:pt x="1302279" y="52210"/>
                  <a:pt x="1297742" y="50988"/>
                  <a:pt x="1292205" y="50988"/>
                </a:cubicBezTo>
                <a:close/>
                <a:moveTo>
                  <a:pt x="2600646" y="49662"/>
                </a:moveTo>
                <a:cubicBezTo>
                  <a:pt x="2593930" y="49662"/>
                  <a:pt x="2588761" y="51533"/>
                  <a:pt x="2585137" y="55274"/>
                </a:cubicBezTo>
                <a:cubicBezTo>
                  <a:pt x="2581514" y="59015"/>
                  <a:pt x="2579703" y="64479"/>
                  <a:pt x="2579703" y="71666"/>
                </a:cubicBezTo>
                <a:cubicBezTo>
                  <a:pt x="2579703" y="78264"/>
                  <a:pt x="2581529" y="83330"/>
                  <a:pt x="2585182" y="86865"/>
                </a:cubicBezTo>
                <a:cubicBezTo>
                  <a:pt x="2588834" y="90399"/>
                  <a:pt x="2594048" y="92167"/>
                  <a:pt x="2600823" y="92167"/>
                </a:cubicBezTo>
                <a:cubicBezTo>
                  <a:pt x="2607833" y="92167"/>
                  <a:pt x="2613106" y="90399"/>
                  <a:pt x="2616640" y="86865"/>
                </a:cubicBezTo>
                <a:cubicBezTo>
                  <a:pt x="2620175" y="83330"/>
                  <a:pt x="2621942" y="78175"/>
                  <a:pt x="2621942" y="71401"/>
                </a:cubicBezTo>
                <a:cubicBezTo>
                  <a:pt x="2621942" y="64155"/>
                  <a:pt x="2620146" y="58720"/>
                  <a:pt x="2616552" y="55097"/>
                </a:cubicBezTo>
                <a:cubicBezTo>
                  <a:pt x="2612958" y="51474"/>
                  <a:pt x="2607656" y="49662"/>
                  <a:pt x="2600646" y="49662"/>
                </a:cubicBezTo>
                <a:close/>
                <a:moveTo>
                  <a:pt x="1114746" y="49662"/>
                </a:moveTo>
                <a:cubicBezTo>
                  <a:pt x="1108030" y="49662"/>
                  <a:pt x="1102861" y="51533"/>
                  <a:pt x="1099238" y="55274"/>
                </a:cubicBezTo>
                <a:cubicBezTo>
                  <a:pt x="1095615" y="59015"/>
                  <a:pt x="1093803" y="64479"/>
                  <a:pt x="1093803" y="71666"/>
                </a:cubicBezTo>
                <a:cubicBezTo>
                  <a:pt x="1093803" y="78264"/>
                  <a:pt x="1095629" y="83330"/>
                  <a:pt x="1099282" y="86865"/>
                </a:cubicBezTo>
                <a:cubicBezTo>
                  <a:pt x="1102934" y="90399"/>
                  <a:pt x="1108148" y="92167"/>
                  <a:pt x="1114923" y="92167"/>
                </a:cubicBezTo>
                <a:cubicBezTo>
                  <a:pt x="1121933" y="92167"/>
                  <a:pt x="1127206" y="90399"/>
                  <a:pt x="1130740" y="86865"/>
                </a:cubicBezTo>
                <a:cubicBezTo>
                  <a:pt x="1134275" y="83330"/>
                  <a:pt x="1136042" y="78175"/>
                  <a:pt x="1136042" y="71401"/>
                </a:cubicBezTo>
                <a:cubicBezTo>
                  <a:pt x="1136042" y="64155"/>
                  <a:pt x="1134246" y="58720"/>
                  <a:pt x="1130652" y="55097"/>
                </a:cubicBezTo>
                <a:cubicBezTo>
                  <a:pt x="1127058" y="51474"/>
                  <a:pt x="1121756" y="49662"/>
                  <a:pt x="1114746" y="49662"/>
                </a:cubicBezTo>
                <a:close/>
                <a:moveTo>
                  <a:pt x="619446" y="49662"/>
                </a:moveTo>
                <a:cubicBezTo>
                  <a:pt x="612730" y="49662"/>
                  <a:pt x="607561" y="51533"/>
                  <a:pt x="603938" y="55274"/>
                </a:cubicBezTo>
                <a:cubicBezTo>
                  <a:pt x="600314" y="59015"/>
                  <a:pt x="598503" y="64479"/>
                  <a:pt x="598503" y="71666"/>
                </a:cubicBezTo>
                <a:cubicBezTo>
                  <a:pt x="598503" y="78264"/>
                  <a:pt x="600329" y="83330"/>
                  <a:pt x="603982" y="86865"/>
                </a:cubicBezTo>
                <a:cubicBezTo>
                  <a:pt x="607634" y="90399"/>
                  <a:pt x="612848" y="92167"/>
                  <a:pt x="619623" y="92167"/>
                </a:cubicBezTo>
                <a:cubicBezTo>
                  <a:pt x="626633" y="92167"/>
                  <a:pt x="631906" y="90399"/>
                  <a:pt x="635440" y="86865"/>
                </a:cubicBezTo>
                <a:cubicBezTo>
                  <a:pt x="638975" y="83330"/>
                  <a:pt x="640742" y="78175"/>
                  <a:pt x="640742" y="71401"/>
                </a:cubicBezTo>
                <a:cubicBezTo>
                  <a:pt x="640742" y="64155"/>
                  <a:pt x="638946" y="58720"/>
                  <a:pt x="635352" y="55097"/>
                </a:cubicBezTo>
                <a:cubicBezTo>
                  <a:pt x="631758" y="51474"/>
                  <a:pt x="626456" y="49662"/>
                  <a:pt x="619446" y="49662"/>
                </a:cubicBezTo>
                <a:close/>
                <a:moveTo>
                  <a:pt x="2961359" y="38970"/>
                </a:moveTo>
                <a:cubicBezTo>
                  <a:pt x="2967191" y="38970"/>
                  <a:pt x="2972655" y="39544"/>
                  <a:pt x="2977751" y="40693"/>
                </a:cubicBezTo>
                <a:cubicBezTo>
                  <a:pt x="2982847" y="41842"/>
                  <a:pt x="2987604" y="43388"/>
                  <a:pt x="2992022" y="45332"/>
                </a:cubicBezTo>
                <a:lnTo>
                  <a:pt x="2987073" y="57085"/>
                </a:lnTo>
                <a:cubicBezTo>
                  <a:pt x="2983068" y="55377"/>
                  <a:pt x="2978797" y="53933"/>
                  <a:pt x="2974260" y="52755"/>
                </a:cubicBezTo>
                <a:cubicBezTo>
                  <a:pt x="2969724" y="51577"/>
                  <a:pt x="2965100" y="50988"/>
                  <a:pt x="2960387" y="50988"/>
                </a:cubicBezTo>
                <a:cubicBezTo>
                  <a:pt x="2953612" y="50988"/>
                  <a:pt x="2948413" y="52107"/>
                  <a:pt x="2944790" y="54346"/>
                </a:cubicBezTo>
                <a:cubicBezTo>
                  <a:pt x="2941167" y="56584"/>
                  <a:pt x="2939355" y="59648"/>
                  <a:pt x="2939355" y="63536"/>
                </a:cubicBezTo>
                <a:cubicBezTo>
                  <a:pt x="2939355" y="66540"/>
                  <a:pt x="2940195" y="69015"/>
                  <a:pt x="2941874" y="70959"/>
                </a:cubicBezTo>
                <a:cubicBezTo>
                  <a:pt x="2943553" y="72903"/>
                  <a:pt x="2946248" y="74729"/>
                  <a:pt x="2949959" y="76437"/>
                </a:cubicBezTo>
                <a:cubicBezTo>
                  <a:pt x="2953671" y="78146"/>
                  <a:pt x="2958561" y="80149"/>
                  <a:pt x="2964628" y="82446"/>
                </a:cubicBezTo>
                <a:cubicBezTo>
                  <a:pt x="2970696" y="84685"/>
                  <a:pt x="2975939" y="86997"/>
                  <a:pt x="2980358" y="89383"/>
                </a:cubicBezTo>
                <a:cubicBezTo>
                  <a:pt x="2984776" y="91769"/>
                  <a:pt x="2988178" y="94656"/>
                  <a:pt x="2990564" y="98043"/>
                </a:cubicBezTo>
                <a:cubicBezTo>
                  <a:pt x="2992950" y="101431"/>
                  <a:pt x="2994143" y="105775"/>
                  <a:pt x="2994143" y="111077"/>
                </a:cubicBezTo>
                <a:cubicBezTo>
                  <a:pt x="2994143" y="117263"/>
                  <a:pt x="2992596" y="122462"/>
                  <a:pt x="2989504" y="126674"/>
                </a:cubicBezTo>
                <a:cubicBezTo>
                  <a:pt x="2986411" y="130886"/>
                  <a:pt x="2981992" y="134053"/>
                  <a:pt x="2976248" y="136173"/>
                </a:cubicBezTo>
                <a:cubicBezTo>
                  <a:pt x="2970505" y="138294"/>
                  <a:pt x="2963656" y="139355"/>
                  <a:pt x="2955703" y="139355"/>
                </a:cubicBezTo>
                <a:cubicBezTo>
                  <a:pt x="2948929" y="139355"/>
                  <a:pt x="2943067" y="138824"/>
                  <a:pt x="2938118" y="137764"/>
                </a:cubicBezTo>
                <a:cubicBezTo>
                  <a:pt x="2933170" y="136704"/>
                  <a:pt x="2928840" y="135201"/>
                  <a:pt x="2925128" y="133257"/>
                </a:cubicBezTo>
                <a:lnTo>
                  <a:pt x="2925128" y="119737"/>
                </a:lnTo>
                <a:cubicBezTo>
                  <a:pt x="2929076" y="121681"/>
                  <a:pt x="2933788" y="123449"/>
                  <a:pt x="2939267" y="125039"/>
                </a:cubicBezTo>
                <a:cubicBezTo>
                  <a:pt x="2944746" y="126630"/>
                  <a:pt x="2950343" y="127425"/>
                  <a:pt x="2956057" y="127425"/>
                </a:cubicBezTo>
                <a:cubicBezTo>
                  <a:pt x="2964422" y="127425"/>
                  <a:pt x="2970490" y="126070"/>
                  <a:pt x="2974260" y="123360"/>
                </a:cubicBezTo>
                <a:cubicBezTo>
                  <a:pt x="2978031" y="120650"/>
                  <a:pt x="2979916" y="116968"/>
                  <a:pt x="2979916" y="112314"/>
                </a:cubicBezTo>
                <a:cubicBezTo>
                  <a:pt x="2979916" y="109663"/>
                  <a:pt x="2979165" y="107322"/>
                  <a:pt x="2977662" y="105289"/>
                </a:cubicBezTo>
                <a:cubicBezTo>
                  <a:pt x="2976160" y="103257"/>
                  <a:pt x="2973642" y="101283"/>
                  <a:pt x="2970107" y="99369"/>
                </a:cubicBezTo>
                <a:cubicBezTo>
                  <a:pt x="2966572" y="97454"/>
                  <a:pt x="2961683" y="95348"/>
                  <a:pt x="2955438" y="93050"/>
                </a:cubicBezTo>
                <a:cubicBezTo>
                  <a:pt x="2949252" y="90694"/>
                  <a:pt x="2943906" y="88352"/>
                  <a:pt x="2939400" y="86025"/>
                </a:cubicBezTo>
                <a:cubicBezTo>
                  <a:pt x="2934893" y="83698"/>
                  <a:pt x="2931417" y="80856"/>
                  <a:pt x="2928972" y="77498"/>
                </a:cubicBezTo>
                <a:cubicBezTo>
                  <a:pt x="2926528" y="74140"/>
                  <a:pt x="2925305" y="69781"/>
                  <a:pt x="2925305" y="64420"/>
                </a:cubicBezTo>
                <a:cubicBezTo>
                  <a:pt x="2925305" y="56231"/>
                  <a:pt x="2928619" y="49942"/>
                  <a:pt x="2935246" y="45553"/>
                </a:cubicBezTo>
                <a:cubicBezTo>
                  <a:pt x="2941874" y="41164"/>
                  <a:pt x="2950578" y="38970"/>
                  <a:pt x="2961359" y="38970"/>
                </a:cubicBezTo>
                <a:close/>
                <a:moveTo>
                  <a:pt x="2875634" y="38970"/>
                </a:moveTo>
                <a:cubicBezTo>
                  <a:pt x="2881466" y="38970"/>
                  <a:pt x="2886930" y="39544"/>
                  <a:pt x="2892025" y="40693"/>
                </a:cubicBezTo>
                <a:cubicBezTo>
                  <a:pt x="2897121" y="41842"/>
                  <a:pt x="2901878" y="43388"/>
                  <a:pt x="2906297" y="45332"/>
                </a:cubicBezTo>
                <a:lnTo>
                  <a:pt x="2901348" y="57085"/>
                </a:lnTo>
                <a:cubicBezTo>
                  <a:pt x="2897342" y="55377"/>
                  <a:pt x="2893072" y="53933"/>
                  <a:pt x="2888535" y="52755"/>
                </a:cubicBezTo>
                <a:cubicBezTo>
                  <a:pt x="2883999" y="51577"/>
                  <a:pt x="2879375" y="50988"/>
                  <a:pt x="2874662" y="50988"/>
                </a:cubicBezTo>
                <a:cubicBezTo>
                  <a:pt x="2867887" y="50988"/>
                  <a:pt x="2862688" y="52107"/>
                  <a:pt x="2859065" y="54346"/>
                </a:cubicBezTo>
                <a:cubicBezTo>
                  <a:pt x="2855442" y="56584"/>
                  <a:pt x="2853630" y="59648"/>
                  <a:pt x="2853630" y="63536"/>
                </a:cubicBezTo>
                <a:cubicBezTo>
                  <a:pt x="2853630" y="66540"/>
                  <a:pt x="2854470" y="69015"/>
                  <a:pt x="2856149" y="70959"/>
                </a:cubicBezTo>
                <a:cubicBezTo>
                  <a:pt x="2857828" y="72903"/>
                  <a:pt x="2860523" y="74729"/>
                  <a:pt x="2864234" y="76437"/>
                </a:cubicBezTo>
                <a:cubicBezTo>
                  <a:pt x="2867946" y="78146"/>
                  <a:pt x="2872836" y="80149"/>
                  <a:pt x="2878903" y="82446"/>
                </a:cubicBezTo>
                <a:cubicBezTo>
                  <a:pt x="2884971" y="84685"/>
                  <a:pt x="2890214" y="86997"/>
                  <a:pt x="2894632" y="89383"/>
                </a:cubicBezTo>
                <a:cubicBezTo>
                  <a:pt x="2899051" y="91769"/>
                  <a:pt x="2902453" y="94656"/>
                  <a:pt x="2904839" y="98043"/>
                </a:cubicBezTo>
                <a:cubicBezTo>
                  <a:pt x="2907225" y="101431"/>
                  <a:pt x="2908417" y="105775"/>
                  <a:pt x="2908417" y="111077"/>
                </a:cubicBezTo>
                <a:cubicBezTo>
                  <a:pt x="2908417" y="117263"/>
                  <a:pt x="2906871" y="122462"/>
                  <a:pt x="2903778" y="126674"/>
                </a:cubicBezTo>
                <a:cubicBezTo>
                  <a:pt x="2900685" y="130886"/>
                  <a:pt x="2896267" y="134053"/>
                  <a:pt x="2890523" y="136173"/>
                </a:cubicBezTo>
                <a:cubicBezTo>
                  <a:pt x="2884779" y="138294"/>
                  <a:pt x="2877931" y="139355"/>
                  <a:pt x="2869978" y="139355"/>
                </a:cubicBezTo>
                <a:cubicBezTo>
                  <a:pt x="2863204" y="139355"/>
                  <a:pt x="2857342" y="138824"/>
                  <a:pt x="2852393" y="137764"/>
                </a:cubicBezTo>
                <a:cubicBezTo>
                  <a:pt x="2847445" y="136704"/>
                  <a:pt x="2843115" y="135201"/>
                  <a:pt x="2839403" y="133257"/>
                </a:cubicBezTo>
                <a:lnTo>
                  <a:pt x="2839403" y="119737"/>
                </a:lnTo>
                <a:cubicBezTo>
                  <a:pt x="2843350" y="121681"/>
                  <a:pt x="2848063" y="123449"/>
                  <a:pt x="2853542" y="125039"/>
                </a:cubicBezTo>
                <a:cubicBezTo>
                  <a:pt x="2859021" y="126630"/>
                  <a:pt x="2864618" y="127425"/>
                  <a:pt x="2870332" y="127425"/>
                </a:cubicBezTo>
                <a:cubicBezTo>
                  <a:pt x="2878697" y="127425"/>
                  <a:pt x="2884765" y="126070"/>
                  <a:pt x="2888535" y="123360"/>
                </a:cubicBezTo>
                <a:cubicBezTo>
                  <a:pt x="2892305" y="120650"/>
                  <a:pt x="2894190" y="116968"/>
                  <a:pt x="2894190" y="112314"/>
                </a:cubicBezTo>
                <a:cubicBezTo>
                  <a:pt x="2894190" y="109663"/>
                  <a:pt x="2893439" y="107322"/>
                  <a:pt x="2891937" y="105289"/>
                </a:cubicBezTo>
                <a:cubicBezTo>
                  <a:pt x="2890435" y="103257"/>
                  <a:pt x="2887916" y="101283"/>
                  <a:pt x="2884382" y="99369"/>
                </a:cubicBezTo>
                <a:cubicBezTo>
                  <a:pt x="2880847" y="97454"/>
                  <a:pt x="2875958" y="95348"/>
                  <a:pt x="2869713" y="93050"/>
                </a:cubicBezTo>
                <a:cubicBezTo>
                  <a:pt x="2863527" y="90694"/>
                  <a:pt x="2858181" y="88352"/>
                  <a:pt x="2853675" y="86025"/>
                </a:cubicBezTo>
                <a:cubicBezTo>
                  <a:pt x="2849168" y="83698"/>
                  <a:pt x="2845692" y="80856"/>
                  <a:pt x="2843247" y="77498"/>
                </a:cubicBezTo>
                <a:cubicBezTo>
                  <a:pt x="2840803" y="74140"/>
                  <a:pt x="2839580" y="69781"/>
                  <a:pt x="2839580" y="64420"/>
                </a:cubicBezTo>
                <a:cubicBezTo>
                  <a:pt x="2839580" y="56231"/>
                  <a:pt x="2842894" y="49942"/>
                  <a:pt x="2849521" y="45553"/>
                </a:cubicBezTo>
                <a:cubicBezTo>
                  <a:pt x="2856149" y="41164"/>
                  <a:pt x="2864853" y="38970"/>
                  <a:pt x="2875634" y="38970"/>
                </a:cubicBezTo>
                <a:close/>
                <a:moveTo>
                  <a:pt x="2778282" y="38970"/>
                </a:moveTo>
                <a:cubicBezTo>
                  <a:pt x="2786529" y="38970"/>
                  <a:pt x="2793598" y="40796"/>
                  <a:pt x="2799490" y="44449"/>
                </a:cubicBezTo>
                <a:cubicBezTo>
                  <a:pt x="2805381" y="48101"/>
                  <a:pt x="2809887" y="53212"/>
                  <a:pt x="2813010" y="59780"/>
                </a:cubicBezTo>
                <a:cubicBezTo>
                  <a:pt x="2816132" y="66349"/>
                  <a:pt x="2817693" y="74022"/>
                  <a:pt x="2817693" y="82800"/>
                </a:cubicBezTo>
                <a:lnTo>
                  <a:pt x="2817693" y="91902"/>
                </a:lnTo>
                <a:lnTo>
                  <a:pt x="2750799" y="91902"/>
                </a:lnTo>
                <a:cubicBezTo>
                  <a:pt x="2750976" y="103272"/>
                  <a:pt x="2753804" y="111931"/>
                  <a:pt x="2759283" y="117881"/>
                </a:cubicBezTo>
                <a:cubicBezTo>
                  <a:pt x="2764761" y="123831"/>
                  <a:pt x="2772479" y="126807"/>
                  <a:pt x="2782435" y="126807"/>
                </a:cubicBezTo>
                <a:cubicBezTo>
                  <a:pt x="2788561" y="126807"/>
                  <a:pt x="2793981" y="126247"/>
                  <a:pt x="2798694" y="125128"/>
                </a:cubicBezTo>
                <a:cubicBezTo>
                  <a:pt x="2803407" y="124008"/>
                  <a:pt x="2808297" y="122359"/>
                  <a:pt x="2813363" y="120179"/>
                </a:cubicBezTo>
                <a:lnTo>
                  <a:pt x="2813363" y="133081"/>
                </a:lnTo>
                <a:cubicBezTo>
                  <a:pt x="2808474" y="135260"/>
                  <a:pt x="2803628" y="136851"/>
                  <a:pt x="2798827" y="137852"/>
                </a:cubicBezTo>
                <a:cubicBezTo>
                  <a:pt x="2794026" y="138854"/>
                  <a:pt x="2788355" y="139355"/>
                  <a:pt x="2781816" y="139355"/>
                </a:cubicBezTo>
                <a:cubicBezTo>
                  <a:pt x="2772508" y="139355"/>
                  <a:pt x="2764393" y="137455"/>
                  <a:pt x="2757471" y="133655"/>
                </a:cubicBezTo>
                <a:cubicBezTo>
                  <a:pt x="2750549" y="129855"/>
                  <a:pt x="2745173" y="124273"/>
                  <a:pt x="2741344" y="116909"/>
                </a:cubicBezTo>
                <a:cubicBezTo>
                  <a:pt x="2737515" y="109546"/>
                  <a:pt x="2735600" y="100532"/>
                  <a:pt x="2735600" y="89869"/>
                </a:cubicBezTo>
                <a:cubicBezTo>
                  <a:pt x="2735600" y="79442"/>
                  <a:pt x="2737353" y="70414"/>
                  <a:pt x="2740858" y="62785"/>
                </a:cubicBezTo>
                <a:cubicBezTo>
                  <a:pt x="2744364" y="55156"/>
                  <a:pt x="2749312" y="49279"/>
                  <a:pt x="2755704" y="45156"/>
                </a:cubicBezTo>
                <a:cubicBezTo>
                  <a:pt x="2762096" y="41032"/>
                  <a:pt x="2769622" y="38970"/>
                  <a:pt x="2778282" y="38970"/>
                </a:cubicBezTo>
                <a:close/>
                <a:moveTo>
                  <a:pt x="2708797" y="38970"/>
                </a:moveTo>
                <a:cubicBezTo>
                  <a:pt x="2710741" y="38970"/>
                  <a:pt x="2712774" y="39073"/>
                  <a:pt x="2714895" y="39279"/>
                </a:cubicBezTo>
                <a:cubicBezTo>
                  <a:pt x="2717015" y="39485"/>
                  <a:pt x="2718901" y="39765"/>
                  <a:pt x="2720550" y="40119"/>
                </a:cubicBezTo>
                <a:lnTo>
                  <a:pt x="2718694" y="53727"/>
                </a:lnTo>
                <a:cubicBezTo>
                  <a:pt x="2717104" y="53315"/>
                  <a:pt x="2715337" y="52991"/>
                  <a:pt x="2713392" y="52755"/>
                </a:cubicBezTo>
                <a:cubicBezTo>
                  <a:pt x="2711448" y="52520"/>
                  <a:pt x="2709622" y="52402"/>
                  <a:pt x="2707914" y="52402"/>
                </a:cubicBezTo>
                <a:cubicBezTo>
                  <a:pt x="2704026" y="52402"/>
                  <a:pt x="2700358" y="53182"/>
                  <a:pt x="2696912" y="54743"/>
                </a:cubicBezTo>
                <a:cubicBezTo>
                  <a:pt x="2693466" y="56305"/>
                  <a:pt x="2690447" y="58543"/>
                  <a:pt x="2687854" y="61459"/>
                </a:cubicBezTo>
                <a:cubicBezTo>
                  <a:pt x="2685262" y="64375"/>
                  <a:pt x="2683230" y="67881"/>
                  <a:pt x="2681757" y="71975"/>
                </a:cubicBezTo>
                <a:cubicBezTo>
                  <a:pt x="2680285" y="76069"/>
                  <a:pt x="2679548" y="80620"/>
                  <a:pt x="2679548" y="85628"/>
                </a:cubicBezTo>
                <a:lnTo>
                  <a:pt x="2679548" y="137587"/>
                </a:lnTo>
                <a:lnTo>
                  <a:pt x="2664791" y="137587"/>
                </a:lnTo>
                <a:lnTo>
                  <a:pt x="2664791" y="40737"/>
                </a:lnTo>
                <a:lnTo>
                  <a:pt x="2676985" y="40737"/>
                </a:lnTo>
                <a:lnTo>
                  <a:pt x="2678576" y="58587"/>
                </a:lnTo>
                <a:lnTo>
                  <a:pt x="2679195" y="58587"/>
                </a:lnTo>
                <a:cubicBezTo>
                  <a:pt x="2681197" y="54994"/>
                  <a:pt x="2683613" y="51710"/>
                  <a:pt x="2686441" y="48735"/>
                </a:cubicBezTo>
                <a:cubicBezTo>
                  <a:pt x="2689268" y="45760"/>
                  <a:pt x="2692552" y="43388"/>
                  <a:pt x="2696293" y="41621"/>
                </a:cubicBezTo>
                <a:cubicBezTo>
                  <a:pt x="2700035" y="39854"/>
                  <a:pt x="2704202" y="38970"/>
                  <a:pt x="2708797" y="38970"/>
                </a:cubicBezTo>
                <a:close/>
                <a:moveTo>
                  <a:pt x="2501103" y="38970"/>
                </a:moveTo>
                <a:cubicBezTo>
                  <a:pt x="2512591" y="38970"/>
                  <a:pt x="2521280" y="41783"/>
                  <a:pt x="2527171" y="47409"/>
                </a:cubicBezTo>
                <a:cubicBezTo>
                  <a:pt x="2533062" y="53035"/>
                  <a:pt x="2536008" y="62063"/>
                  <a:pt x="2536008" y="74493"/>
                </a:cubicBezTo>
                <a:lnTo>
                  <a:pt x="2536008" y="137587"/>
                </a:lnTo>
                <a:lnTo>
                  <a:pt x="2521516" y="137587"/>
                </a:lnTo>
                <a:lnTo>
                  <a:pt x="2521516" y="75465"/>
                </a:lnTo>
                <a:cubicBezTo>
                  <a:pt x="2521516" y="67395"/>
                  <a:pt x="2519675" y="61356"/>
                  <a:pt x="2515993" y="57350"/>
                </a:cubicBezTo>
                <a:cubicBezTo>
                  <a:pt x="2512311" y="53344"/>
                  <a:pt x="2506670" y="51341"/>
                  <a:pt x="2499071" y="51341"/>
                </a:cubicBezTo>
                <a:cubicBezTo>
                  <a:pt x="2488349" y="51341"/>
                  <a:pt x="2480808" y="54375"/>
                  <a:pt x="2476449" y="60443"/>
                </a:cubicBezTo>
                <a:cubicBezTo>
                  <a:pt x="2472089" y="66511"/>
                  <a:pt x="2469910" y="75318"/>
                  <a:pt x="2469910" y="86865"/>
                </a:cubicBezTo>
                <a:lnTo>
                  <a:pt x="2469910" y="137587"/>
                </a:lnTo>
                <a:lnTo>
                  <a:pt x="2455241" y="137587"/>
                </a:lnTo>
                <a:lnTo>
                  <a:pt x="2455241" y="40737"/>
                </a:lnTo>
                <a:lnTo>
                  <a:pt x="2467082" y="40737"/>
                </a:lnTo>
                <a:lnTo>
                  <a:pt x="2469291" y="54699"/>
                </a:lnTo>
                <a:lnTo>
                  <a:pt x="2470086" y="54699"/>
                </a:lnTo>
                <a:cubicBezTo>
                  <a:pt x="2472148" y="51282"/>
                  <a:pt x="2474770" y="48411"/>
                  <a:pt x="2477951" y="46084"/>
                </a:cubicBezTo>
                <a:cubicBezTo>
                  <a:pt x="2481132" y="43757"/>
                  <a:pt x="2484696" y="41989"/>
                  <a:pt x="2488643" y="40782"/>
                </a:cubicBezTo>
                <a:cubicBezTo>
                  <a:pt x="2492591" y="39574"/>
                  <a:pt x="2496744" y="38970"/>
                  <a:pt x="2501103" y="38970"/>
                </a:cubicBezTo>
                <a:close/>
                <a:moveTo>
                  <a:pt x="2389789" y="38970"/>
                </a:moveTo>
                <a:cubicBezTo>
                  <a:pt x="2398626" y="38970"/>
                  <a:pt x="2406358" y="40944"/>
                  <a:pt x="2412985" y="44891"/>
                </a:cubicBezTo>
                <a:cubicBezTo>
                  <a:pt x="2419613" y="48838"/>
                  <a:pt x="2424768" y="54537"/>
                  <a:pt x="2428449" y="61990"/>
                </a:cubicBezTo>
                <a:cubicBezTo>
                  <a:pt x="2432131" y="69442"/>
                  <a:pt x="2433972" y="78440"/>
                  <a:pt x="2433972" y="88986"/>
                </a:cubicBezTo>
                <a:cubicBezTo>
                  <a:pt x="2433972" y="96939"/>
                  <a:pt x="2432942" y="104037"/>
                  <a:pt x="2430879" y="110282"/>
                </a:cubicBezTo>
                <a:cubicBezTo>
                  <a:pt x="2428817" y="116527"/>
                  <a:pt x="2425843" y="121799"/>
                  <a:pt x="2421954" y="126100"/>
                </a:cubicBezTo>
                <a:cubicBezTo>
                  <a:pt x="2418066" y="130400"/>
                  <a:pt x="2413368" y="133684"/>
                  <a:pt x="2407860" y="135952"/>
                </a:cubicBezTo>
                <a:cubicBezTo>
                  <a:pt x="2402352" y="138221"/>
                  <a:pt x="2396122" y="139355"/>
                  <a:pt x="2389170" y="139355"/>
                </a:cubicBezTo>
                <a:cubicBezTo>
                  <a:pt x="2382690" y="139355"/>
                  <a:pt x="2376755" y="138221"/>
                  <a:pt x="2371364" y="135952"/>
                </a:cubicBezTo>
                <a:cubicBezTo>
                  <a:pt x="2365974" y="133684"/>
                  <a:pt x="2361320" y="130400"/>
                  <a:pt x="2357403" y="126100"/>
                </a:cubicBezTo>
                <a:cubicBezTo>
                  <a:pt x="2353485" y="121799"/>
                  <a:pt x="2350451" y="116527"/>
                  <a:pt x="2348301" y="110282"/>
                </a:cubicBezTo>
                <a:cubicBezTo>
                  <a:pt x="2346151" y="104037"/>
                  <a:pt x="2345075" y="96939"/>
                  <a:pt x="2345075" y="88986"/>
                </a:cubicBezTo>
                <a:cubicBezTo>
                  <a:pt x="2345075" y="78382"/>
                  <a:pt x="2346872" y="69353"/>
                  <a:pt x="2350466" y="61901"/>
                </a:cubicBezTo>
                <a:cubicBezTo>
                  <a:pt x="2354059" y="54449"/>
                  <a:pt x="2359200" y="48764"/>
                  <a:pt x="2365886" y="44846"/>
                </a:cubicBezTo>
                <a:cubicBezTo>
                  <a:pt x="2372572" y="40929"/>
                  <a:pt x="2380540" y="38970"/>
                  <a:pt x="2389789" y="38970"/>
                </a:cubicBezTo>
                <a:close/>
                <a:moveTo>
                  <a:pt x="1475459" y="38970"/>
                </a:moveTo>
                <a:cubicBezTo>
                  <a:pt x="1481291" y="38970"/>
                  <a:pt x="1486755" y="39544"/>
                  <a:pt x="1491851" y="40693"/>
                </a:cubicBezTo>
                <a:cubicBezTo>
                  <a:pt x="1496947" y="41842"/>
                  <a:pt x="1501704" y="43388"/>
                  <a:pt x="1506122" y="45332"/>
                </a:cubicBezTo>
                <a:lnTo>
                  <a:pt x="1501173" y="57085"/>
                </a:lnTo>
                <a:cubicBezTo>
                  <a:pt x="1497167" y="55377"/>
                  <a:pt x="1492897" y="53933"/>
                  <a:pt x="1488360" y="52755"/>
                </a:cubicBezTo>
                <a:cubicBezTo>
                  <a:pt x="1483824" y="51577"/>
                  <a:pt x="1479200" y="50988"/>
                  <a:pt x="1474487" y="50988"/>
                </a:cubicBezTo>
                <a:cubicBezTo>
                  <a:pt x="1467712" y="50988"/>
                  <a:pt x="1462513" y="52107"/>
                  <a:pt x="1458890" y="54346"/>
                </a:cubicBezTo>
                <a:cubicBezTo>
                  <a:pt x="1455267" y="56584"/>
                  <a:pt x="1453455" y="59648"/>
                  <a:pt x="1453455" y="63536"/>
                </a:cubicBezTo>
                <a:cubicBezTo>
                  <a:pt x="1453455" y="66540"/>
                  <a:pt x="1454295" y="69015"/>
                  <a:pt x="1455974" y="70959"/>
                </a:cubicBezTo>
                <a:cubicBezTo>
                  <a:pt x="1457653" y="72903"/>
                  <a:pt x="1460348" y="74729"/>
                  <a:pt x="1464059" y="76437"/>
                </a:cubicBezTo>
                <a:cubicBezTo>
                  <a:pt x="1467771" y="78146"/>
                  <a:pt x="1472661" y="80149"/>
                  <a:pt x="1478728" y="82446"/>
                </a:cubicBezTo>
                <a:cubicBezTo>
                  <a:pt x="1484796" y="84685"/>
                  <a:pt x="1490039" y="86997"/>
                  <a:pt x="1494458" y="89383"/>
                </a:cubicBezTo>
                <a:cubicBezTo>
                  <a:pt x="1498876" y="91769"/>
                  <a:pt x="1502278" y="94656"/>
                  <a:pt x="1504664" y="98043"/>
                </a:cubicBezTo>
                <a:cubicBezTo>
                  <a:pt x="1507050" y="101431"/>
                  <a:pt x="1508243" y="105775"/>
                  <a:pt x="1508243" y="111077"/>
                </a:cubicBezTo>
                <a:cubicBezTo>
                  <a:pt x="1508243" y="117263"/>
                  <a:pt x="1506696" y="122462"/>
                  <a:pt x="1503604" y="126674"/>
                </a:cubicBezTo>
                <a:cubicBezTo>
                  <a:pt x="1500511" y="130886"/>
                  <a:pt x="1496092" y="134053"/>
                  <a:pt x="1490349" y="136173"/>
                </a:cubicBezTo>
                <a:cubicBezTo>
                  <a:pt x="1484605" y="138294"/>
                  <a:pt x="1477756" y="139355"/>
                  <a:pt x="1469803" y="139355"/>
                </a:cubicBezTo>
                <a:cubicBezTo>
                  <a:pt x="1463029" y="139355"/>
                  <a:pt x="1457167" y="138824"/>
                  <a:pt x="1452218" y="137764"/>
                </a:cubicBezTo>
                <a:cubicBezTo>
                  <a:pt x="1447270" y="136704"/>
                  <a:pt x="1442940" y="135201"/>
                  <a:pt x="1439228" y="133257"/>
                </a:cubicBezTo>
                <a:lnTo>
                  <a:pt x="1439228" y="119737"/>
                </a:lnTo>
                <a:cubicBezTo>
                  <a:pt x="1443175" y="121681"/>
                  <a:pt x="1447888" y="123449"/>
                  <a:pt x="1453367" y="125039"/>
                </a:cubicBezTo>
                <a:cubicBezTo>
                  <a:pt x="1458846" y="126630"/>
                  <a:pt x="1464442" y="127425"/>
                  <a:pt x="1470157" y="127425"/>
                </a:cubicBezTo>
                <a:cubicBezTo>
                  <a:pt x="1478522" y="127425"/>
                  <a:pt x="1484590" y="126070"/>
                  <a:pt x="1488360" y="123360"/>
                </a:cubicBezTo>
                <a:cubicBezTo>
                  <a:pt x="1492131" y="120650"/>
                  <a:pt x="1494016" y="116968"/>
                  <a:pt x="1494016" y="112314"/>
                </a:cubicBezTo>
                <a:cubicBezTo>
                  <a:pt x="1494016" y="109663"/>
                  <a:pt x="1493265" y="107322"/>
                  <a:pt x="1491762" y="105289"/>
                </a:cubicBezTo>
                <a:cubicBezTo>
                  <a:pt x="1490260" y="103257"/>
                  <a:pt x="1487742" y="101283"/>
                  <a:pt x="1484207" y="99369"/>
                </a:cubicBezTo>
                <a:cubicBezTo>
                  <a:pt x="1480672" y="97454"/>
                  <a:pt x="1475783" y="95348"/>
                  <a:pt x="1469538" y="93050"/>
                </a:cubicBezTo>
                <a:cubicBezTo>
                  <a:pt x="1463353" y="90694"/>
                  <a:pt x="1458006" y="88352"/>
                  <a:pt x="1453500" y="86025"/>
                </a:cubicBezTo>
                <a:cubicBezTo>
                  <a:pt x="1448993" y="83698"/>
                  <a:pt x="1445517" y="80856"/>
                  <a:pt x="1443072" y="77498"/>
                </a:cubicBezTo>
                <a:cubicBezTo>
                  <a:pt x="1440628" y="74140"/>
                  <a:pt x="1439405" y="69781"/>
                  <a:pt x="1439405" y="64420"/>
                </a:cubicBezTo>
                <a:cubicBezTo>
                  <a:pt x="1439405" y="56231"/>
                  <a:pt x="1442719" y="49942"/>
                  <a:pt x="1449346" y="45553"/>
                </a:cubicBezTo>
                <a:cubicBezTo>
                  <a:pt x="1455974" y="41164"/>
                  <a:pt x="1464678" y="38970"/>
                  <a:pt x="1475459" y="38970"/>
                </a:cubicBezTo>
                <a:close/>
                <a:moveTo>
                  <a:pt x="1389734" y="38970"/>
                </a:moveTo>
                <a:cubicBezTo>
                  <a:pt x="1395566" y="38970"/>
                  <a:pt x="1401030" y="39544"/>
                  <a:pt x="1406126" y="40693"/>
                </a:cubicBezTo>
                <a:cubicBezTo>
                  <a:pt x="1411222" y="41842"/>
                  <a:pt x="1415979" y="43388"/>
                  <a:pt x="1420397" y="45332"/>
                </a:cubicBezTo>
                <a:lnTo>
                  <a:pt x="1415448" y="57085"/>
                </a:lnTo>
                <a:cubicBezTo>
                  <a:pt x="1411442" y="55377"/>
                  <a:pt x="1407172" y="53933"/>
                  <a:pt x="1402635" y="52755"/>
                </a:cubicBezTo>
                <a:cubicBezTo>
                  <a:pt x="1398099" y="51577"/>
                  <a:pt x="1393475" y="50988"/>
                  <a:pt x="1388762" y="50988"/>
                </a:cubicBezTo>
                <a:cubicBezTo>
                  <a:pt x="1381987" y="50988"/>
                  <a:pt x="1376788" y="52107"/>
                  <a:pt x="1373165" y="54346"/>
                </a:cubicBezTo>
                <a:cubicBezTo>
                  <a:pt x="1369542" y="56584"/>
                  <a:pt x="1367730" y="59648"/>
                  <a:pt x="1367730" y="63536"/>
                </a:cubicBezTo>
                <a:cubicBezTo>
                  <a:pt x="1367730" y="66540"/>
                  <a:pt x="1368570" y="69015"/>
                  <a:pt x="1370249" y="70959"/>
                </a:cubicBezTo>
                <a:cubicBezTo>
                  <a:pt x="1371928" y="72903"/>
                  <a:pt x="1374623" y="74729"/>
                  <a:pt x="1378334" y="76437"/>
                </a:cubicBezTo>
                <a:cubicBezTo>
                  <a:pt x="1382046" y="78146"/>
                  <a:pt x="1386936" y="80149"/>
                  <a:pt x="1393003" y="82446"/>
                </a:cubicBezTo>
                <a:cubicBezTo>
                  <a:pt x="1399071" y="84685"/>
                  <a:pt x="1404314" y="86997"/>
                  <a:pt x="1408733" y="89383"/>
                </a:cubicBezTo>
                <a:cubicBezTo>
                  <a:pt x="1413151" y="91769"/>
                  <a:pt x="1416553" y="94656"/>
                  <a:pt x="1418939" y="98043"/>
                </a:cubicBezTo>
                <a:cubicBezTo>
                  <a:pt x="1421325" y="101431"/>
                  <a:pt x="1422518" y="105775"/>
                  <a:pt x="1422518" y="111077"/>
                </a:cubicBezTo>
                <a:cubicBezTo>
                  <a:pt x="1422518" y="117263"/>
                  <a:pt x="1420971" y="122462"/>
                  <a:pt x="1417879" y="126674"/>
                </a:cubicBezTo>
                <a:cubicBezTo>
                  <a:pt x="1414786" y="130886"/>
                  <a:pt x="1410367" y="134053"/>
                  <a:pt x="1404624" y="136173"/>
                </a:cubicBezTo>
                <a:cubicBezTo>
                  <a:pt x="1398880" y="138294"/>
                  <a:pt x="1392031" y="139355"/>
                  <a:pt x="1384078" y="139355"/>
                </a:cubicBezTo>
                <a:cubicBezTo>
                  <a:pt x="1377303" y="139355"/>
                  <a:pt x="1371442" y="138824"/>
                  <a:pt x="1366493" y="137764"/>
                </a:cubicBezTo>
                <a:cubicBezTo>
                  <a:pt x="1361545" y="136704"/>
                  <a:pt x="1357215" y="135201"/>
                  <a:pt x="1353503" y="133257"/>
                </a:cubicBezTo>
                <a:lnTo>
                  <a:pt x="1353503" y="119737"/>
                </a:lnTo>
                <a:cubicBezTo>
                  <a:pt x="1357450" y="121681"/>
                  <a:pt x="1362163" y="123449"/>
                  <a:pt x="1367642" y="125039"/>
                </a:cubicBezTo>
                <a:cubicBezTo>
                  <a:pt x="1373121" y="126630"/>
                  <a:pt x="1378717" y="127425"/>
                  <a:pt x="1384432" y="127425"/>
                </a:cubicBezTo>
                <a:cubicBezTo>
                  <a:pt x="1392797" y="127425"/>
                  <a:pt x="1398865" y="126070"/>
                  <a:pt x="1402635" y="123360"/>
                </a:cubicBezTo>
                <a:cubicBezTo>
                  <a:pt x="1406406" y="120650"/>
                  <a:pt x="1408291" y="116968"/>
                  <a:pt x="1408291" y="112314"/>
                </a:cubicBezTo>
                <a:cubicBezTo>
                  <a:pt x="1408291" y="109663"/>
                  <a:pt x="1407540" y="107322"/>
                  <a:pt x="1406037" y="105289"/>
                </a:cubicBezTo>
                <a:cubicBezTo>
                  <a:pt x="1404535" y="103257"/>
                  <a:pt x="1402017" y="101283"/>
                  <a:pt x="1398482" y="99369"/>
                </a:cubicBezTo>
                <a:cubicBezTo>
                  <a:pt x="1394947" y="97454"/>
                  <a:pt x="1390058" y="95348"/>
                  <a:pt x="1383813" y="93050"/>
                </a:cubicBezTo>
                <a:cubicBezTo>
                  <a:pt x="1377628" y="90694"/>
                  <a:pt x="1372281" y="88352"/>
                  <a:pt x="1367775" y="86025"/>
                </a:cubicBezTo>
                <a:cubicBezTo>
                  <a:pt x="1363268" y="83698"/>
                  <a:pt x="1359792" y="80856"/>
                  <a:pt x="1357347" y="77498"/>
                </a:cubicBezTo>
                <a:cubicBezTo>
                  <a:pt x="1354902" y="74140"/>
                  <a:pt x="1353680" y="69781"/>
                  <a:pt x="1353680" y="64420"/>
                </a:cubicBezTo>
                <a:cubicBezTo>
                  <a:pt x="1353680" y="56231"/>
                  <a:pt x="1356994" y="49942"/>
                  <a:pt x="1363621" y="45553"/>
                </a:cubicBezTo>
                <a:cubicBezTo>
                  <a:pt x="1370249" y="41164"/>
                  <a:pt x="1378953" y="38970"/>
                  <a:pt x="1389734" y="38970"/>
                </a:cubicBezTo>
                <a:close/>
                <a:moveTo>
                  <a:pt x="1292382" y="38970"/>
                </a:moveTo>
                <a:cubicBezTo>
                  <a:pt x="1300629" y="38970"/>
                  <a:pt x="1307699" y="40796"/>
                  <a:pt x="1313590" y="44449"/>
                </a:cubicBezTo>
                <a:cubicBezTo>
                  <a:pt x="1319481" y="48101"/>
                  <a:pt x="1323987" y="53212"/>
                  <a:pt x="1327110" y="59780"/>
                </a:cubicBezTo>
                <a:cubicBezTo>
                  <a:pt x="1330232" y="66349"/>
                  <a:pt x="1331793" y="74022"/>
                  <a:pt x="1331793" y="82800"/>
                </a:cubicBezTo>
                <a:lnTo>
                  <a:pt x="1331793" y="91902"/>
                </a:lnTo>
                <a:lnTo>
                  <a:pt x="1264900" y="91902"/>
                </a:lnTo>
                <a:cubicBezTo>
                  <a:pt x="1265076" y="103272"/>
                  <a:pt x="1267904" y="111931"/>
                  <a:pt x="1273383" y="117881"/>
                </a:cubicBezTo>
                <a:cubicBezTo>
                  <a:pt x="1278861" y="123831"/>
                  <a:pt x="1286579" y="126807"/>
                  <a:pt x="1296535" y="126807"/>
                </a:cubicBezTo>
                <a:cubicBezTo>
                  <a:pt x="1302662" y="126807"/>
                  <a:pt x="1308081" y="126247"/>
                  <a:pt x="1312794" y="125128"/>
                </a:cubicBezTo>
                <a:cubicBezTo>
                  <a:pt x="1317507" y="124008"/>
                  <a:pt x="1322397" y="122359"/>
                  <a:pt x="1327463" y="120179"/>
                </a:cubicBezTo>
                <a:lnTo>
                  <a:pt x="1327463" y="133081"/>
                </a:lnTo>
                <a:cubicBezTo>
                  <a:pt x="1322573" y="135260"/>
                  <a:pt x="1317728" y="136851"/>
                  <a:pt x="1312927" y="137852"/>
                </a:cubicBezTo>
                <a:cubicBezTo>
                  <a:pt x="1308126" y="138854"/>
                  <a:pt x="1302455" y="139355"/>
                  <a:pt x="1295916" y="139355"/>
                </a:cubicBezTo>
                <a:cubicBezTo>
                  <a:pt x="1286608" y="139355"/>
                  <a:pt x="1278493" y="137455"/>
                  <a:pt x="1271571" y="133655"/>
                </a:cubicBezTo>
                <a:cubicBezTo>
                  <a:pt x="1264649" y="129855"/>
                  <a:pt x="1259274" y="124273"/>
                  <a:pt x="1255444" y="116909"/>
                </a:cubicBezTo>
                <a:cubicBezTo>
                  <a:pt x="1251615" y="109546"/>
                  <a:pt x="1249700" y="100532"/>
                  <a:pt x="1249700" y="89869"/>
                </a:cubicBezTo>
                <a:cubicBezTo>
                  <a:pt x="1249700" y="79442"/>
                  <a:pt x="1251453" y="70414"/>
                  <a:pt x="1254958" y="62785"/>
                </a:cubicBezTo>
                <a:cubicBezTo>
                  <a:pt x="1258463" y="55156"/>
                  <a:pt x="1263412" y="49279"/>
                  <a:pt x="1269804" y="45156"/>
                </a:cubicBezTo>
                <a:cubicBezTo>
                  <a:pt x="1276196" y="41032"/>
                  <a:pt x="1283722" y="38970"/>
                  <a:pt x="1292382" y="38970"/>
                </a:cubicBezTo>
                <a:close/>
                <a:moveTo>
                  <a:pt x="1222897" y="38970"/>
                </a:moveTo>
                <a:cubicBezTo>
                  <a:pt x="1224842" y="38970"/>
                  <a:pt x="1226874" y="39073"/>
                  <a:pt x="1228995" y="39279"/>
                </a:cubicBezTo>
                <a:cubicBezTo>
                  <a:pt x="1231116" y="39485"/>
                  <a:pt x="1233001" y="39765"/>
                  <a:pt x="1234650" y="40119"/>
                </a:cubicBezTo>
                <a:lnTo>
                  <a:pt x="1232795" y="53727"/>
                </a:lnTo>
                <a:cubicBezTo>
                  <a:pt x="1231204" y="53315"/>
                  <a:pt x="1229437" y="52991"/>
                  <a:pt x="1227493" y="52755"/>
                </a:cubicBezTo>
                <a:cubicBezTo>
                  <a:pt x="1225548" y="52520"/>
                  <a:pt x="1223722" y="52402"/>
                  <a:pt x="1222014" y="52402"/>
                </a:cubicBezTo>
                <a:cubicBezTo>
                  <a:pt x="1218126" y="52402"/>
                  <a:pt x="1214458" y="53182"/>
                  <a:pt x="1211012" y="54743"/>
                </a:cubicBezTo>
                <a:cubicBezTo>
                  <a:pt x="1207566" y="56305"/>
                  <a:pt x="1204547" y="58543"/>
                  <a:pt x="1201955" y="61459"/>
                </a:cubicBezTo>
                <a:cubicBezTo>
                  <a:pt x="1199363" y="64375"/>
                  <a:pt x="1197330" y="67881"/>
                  <a:pt x="1195857" y="71975"/>
                </a:cubicBezTo>
                <a:cubicBezTo>
                  <a:pt x="1194385" y="76069"/>
                  <a:pt x="1193648" y="80620"/>
                  <a:pt x="1193648" y="85628"/>
                </a:cubicBezTo>
                <a:lnTo>
                  <a:pt x="1193648" y="137587"/>
                </a:lnTo>
                <a:lnTo>
                  <a:pt x="1178891" y="137587"/>
                </a:lnTo>
                <a:lnTo>
                  <a:pt x="1178891" y="40737"/>
                </a:lnTo>
                <a:lnTo>
                  <a:pt x="1191086" y="40737"/>
                </a:lnTo>
                <a:lnTo>
                  <a:pt x="1192676" y="58587"/>
                </a:lnTo>
                <a:lnTo>
                  <a:pt x="1193295" y="58587"/>
                </a:lnTo>
                <a:cubicBezTo>
                  <a:pt x="1195298" y="54994"/>
                  <a:pt x="1197713" y="51710"/>
                  <a:pt x="1200541" y="48735"/>
                </a:cubicBezTo>
                <a:cubicBezTo>
                  <a:pt x="1203368" y="45760"/>
                  <a:pt x="1206653" y="43388"/>
                  <a:pt x="1210394" y="41621"/>
                </a:cubicBezTo>
                <a:cubicBezTo>
                  <a:pt x="1214134" y="39854"/>
                  <a:pt x="1218302" y="38970"/>
                  <a:pt x="1222897" y="38970"/>
                </a:cubicBezTo>
                <a:close/>
                <a:moveTo>
                  <a:pt x="1015203" y="38970"/>
                </a:moveTo>
                <a:cubicBezTo>
                  <a:pt x="1026691" y="38970"/>
                  <a:pt x="1035380" y="41783"/>
                  <a:pt x="1041271" y="47409"/>
                </a:cubicBezTo>
                <a:cubicBezTo>
                  <a:pt x="1047163" y="53035"/>
                  <a:pt x="1050108" y="62063"/>
                  <a:pt x="1050108" y="74493"/>
                </a:cubicBezTo>
                <a:lnTo>
                  <a:pt x="1050108" y="137587"/>
                </a:lnTo>
                <a:lnTo>
                  <a:pt x="1035616" y="137587"/>
                </a:lnTo>
                <a:lnTo>
                  <a:pt x="1035616" y="75465"/>
                </a:lnTo>
                <a:cubicBezTo>
                  <a:pt x="1035616" y="67395"/>
                  <a:pt x="1033775" y="61356"/>
                  <a:pt x="1030093" y="57350"/>
                </a:cubicBezTo>
                <a:cubicBezTo>
                  <a:pt x="1026411" y="53344"/>
                  <a:pt x="1020770" y="51341"/>
                  <a:pt x="1013171" y="51341"/>
                </a:cubicBezTo>
                <a:cubicBezTo>
                  <a:pt x="1002449" y="51341"/>
                  <a:pt x="994908" y="54375"/>
                  <a:pt x="990549" y="60443"/>
                </a:cubicBezTo>
                <a:cubicBezTo>
                  <a:pt x="986190" y="66511"/>
                  <a:pt x="984010" y="75318"/>
                  <a:pt x="984010" y="86865"/>
                </a:cubicBezTo>
                <a:lnTo>
                  <a:pt x="984010" y="137587"/>
                </a:lnTo>
                <a:lnTo>
                  <a:pt x="969341" y="137587"/>
                </a:lnTo>
                <a:lnTo>
                  <a:pt x="969341" y="40737"/>
                </a:lnTo>
                <a:lnTo>
                  <a:pt x="981182" y="40737"/>
                </a:lnTo>
                <a:lnTo>
                  <a:pt x="983391" y="54699"/>
                </a:lnTo>
                <a:lnTo>
                  <a:pt x="984187" y="54699"/>
                </a:lnTo>
                <a:cubicBezTo>
                  <a:pt x="986248" y="51282"/>
                  <a:pt x="988870" y="48411"/>
                  <a:pt x="992051" y="46084"/>
                </a:cubicBezTo>
                <a:cubicBezTo>
                  <a:pt x="995232" y="43757"/>
                  <a:pt x="998796" y="41989"/>
                  <a:pt x="1002743" y="40782"/>
                </a:cubicBezTo>
                <a:cubicBezTo>
                  <a:pt x="1006691" y="39574"/>
                  <a:pt x="1010844" y="38970"/>
                  <a:pt x="1015203" y="38970"/>
                </a:cubicBezTo>
                <a:close/>
                <a:moveTo>
                  <a:pt x="903889" y="38970"/>
                </a:moveTo>
                <a:cubicBezTo>
                  <a:pt x="912726" y="38970"/>
                  <a:pt x="920458" y="40944"/>
                  <a:pt x="927085" y="44891"/>
                </a:cubicBezTo>
                <a:cubicBezTo>
                  <a:pt x="933713" y="48838"/>
                  <a:pt x="938868" y="54537"/>
                  <a:pt x="942550" y="61990"/>
                </a:cubicBezTo>
                <a:cubicBezTo>
                  <a:pt x="946231" y="69442"/>
                  <a:pt x="948072" y="78440"/>
                  <a:pt x="948072" y="88986"/>
                </a:cubicBezTo>
                <a:cubicBezTo>
                  <a:pt x="948072" y="96939"/>
                  <a:pt x="947042" y="104037"/>
                  <a:pt x="944980" y="110282"/>
                </a:cubicBezTo>
                <a:cubicBezTo>
                  <a:pt x="942918" y="116527"/>
                  <a:pt x="939943" y="121799"/>
                  <a:pt x="936054" y="126100"/>
                </a:cubicBezTo>
                <a:cubicBezTo>
                  <a:pt x="932166" y="130400"/>
                  <a:pt x="927468" y="133684"/>
                  <a:pt x="921960" y="135952"/>
                </a:cubicBezTo>
                <a:cubicBezTo>
                  <a:pt x="916452" y="138221"/>
                  <a:pt x="910222" y="139355"/>
                  <a:pt x="903271" y="139355"/>
                </a:cubicBezTo>
                <a:cubicBezTo>
                  <a:pt x="896790" y="139355"/>
                  <a:pt x="890855" y="138221"/>
                  <a:pt x="885465" y="135952"/>
                </a:cubicBezTo>
                <a:cubicBezTo>
                  <a:pt x="880074" y="133684"/>
                  <a:pt x="875420" y="130400"/>
                  <a:pt x="871503" y="126100"/>
                </a:cubicBezTo>
                <a:cubicBezTo>
                  <a:pt x="867585" y="121799"/>
                  <a:pt x="864551" y="116527"/>
                  <a:pt x="862401" y="110282"/>
                </a:cubicBezTo>
                <a:cubicBezTo>
                  <a:pt x="860251" y="104037"/>
                  <a:pt x="859175" y="96939"/>
                  <a:pt x="859175" y="88986"/>
                </a:cubicBezTo>
                <a:cubicBezTo>
                  <a:pt x="859175" y="78382"/>
                  <a:pt x="860972" y="69353"/>
                  <a:pt x="864566" y="61901"/>
                </a:cubicBezTo>
                <a:cubicBezTo>
                  <a:pt x="868160" y="54449"/>
                  <a:pt x="873300" y="48764"/>
                  <a:pt x="879986" y="44846"/>
                </a:cubicBezTo>
                <a:cubicBezTo>
                  <a:pt x="886672" y="40929"/>
                  <a:pt x="894640" y="38970"/>
                  <a:pt x="903889" y="38970"/>
                </a:cubicBezTo>
                <a:close/>
                <a:moveTo>
                  <a:pt x="556147" y="38970"/>
                </a:moveTo>
                <a:cubicBezTo>
                  <a:pt x="558091" y="38970"/>
                  <a:pt x="560124" y="39073"/>
                  <a:pt x="562245" y="39279"/>
                </a:cubicBezTo>
                <a:cubicBezTo>
                  <a:pt x="564366" y="39485"/>
                  <a:pt x="566251" y="39765"/>
                  <a:pt x="567900" y="40119"/>
                </a:cubicBezTo>
                <a:lnTo>
                  <a:pt x="566044" y="53727"/>
                </a:lnTo>
                <a:cubicBezTo>
                  <a:pt x="564454" y="53315"/>
                  <a:pt x="562687" y="52991"/>
                  <a:pt x="560742" y="52755"/>
                </a:cubicBezTo>
                <a:cubicBezTo>
                  <a:pt x="558798" y="52520"/>
                  <a:pt x="556972" y="52402"/>
                  <a:pt x="555264" y="52402"/>
                </a:cubicBezTo>
                <a:cubicBezTo>
                  <a:pt x="551376" y="52402"/>
                  <a:pt x="547708" y="53182"/>
                  <a:pt x="544262" y="54743"/>
                </a:cubicBezTo>
                <a:cubicBezTo>
                  <a:pt x="540816" y="56305"/>
                  <a:pt x="537797" y="58543"/>
                  <a:pt x="535205" y="61459"/>
                </a:cubicBezTo>
                <a:cubicBezTo>
                  <a:pt x="532613" y="64375"/>
                  <a:pt x="530580" y="67881"/>
                  <a:pt x="529107" y="71975"/>
                </a:cubicBezTo>
                <a:cubicBezTo>
                  <a:pt x="527634" y="76069"/>
                  <a:pt x="526898" y="80620"/>
                  <a:pt x="526898" y="85628"/>
                </a:cubicBezTo>
                <a:lnTo>
                  <a:pt x="526898" y="137587"/>
                </a:lnTo>
                <a:lnTo>
                  <a:pt x="512141" y="137587"/>
                </a:lnTo>
                <a:lnTo>
                  <a:pt x="512141" y="40737"/>
                </a:lnTo>
                <a:lnTo>
                  <a:pt x="524335" y="40737"/>
                </a:lnTo>
                <a:lnTo>
                  <a:pt x="525926" y="58587"/>
                </a:lnTo>
                <a:lnTo>
                  <a:pt x="526545" y="58587"/>
                </a:lnTo>
                <a:cubicBezTo>
                  <a:pt x="528548" y="54994"/>
                  <a:pt x="530963" y="51710"/>
                  <a:pt x="533791" y="48735"/>
                </a:cubicBezTo>
                <a:cubicBezTo>
                  <a:pt x="536618" y="45760"/>
                  <a:pt x="539903" y="43388"/>
                  <a:pt x="543644" y="41621"/>
                </a:cubicBezTo>
                <a:cubicBezTo>
                  <a:pt x="547384" y="39854"/>
                  <a:pt x="551552" y="38970"/>
                  <a:pt x="556147" y="38970"/>
                </a:cubicBezTo>
                <a:close/>
                <a:moveTo>
                  <a:pt x="446689" y="38970"/>
                </a:moveTo>
                <a:cubicBezTo>
                  <a:pt x="455526" y="38970"/>
                  <a:pt x="463258" y="40944"/>
                  <a:pt x="469885" y="44891"/>
                </a:cubicBezTo>
                <a:cubicBezTo>
                  <a:pt x="476513" y="48838"/>
                  <a:pt x="481668" y="54537"/>
                  <a:pt x="485349" y="61990"/>
                </a:cubicBezTo>
                <a:cubicBezTo>
                  <a:pt x="489031" y="69442"/>
                  <a:pt x="490872" y="78440"/>
                  <a:pt x="490872" y="88986"/>
                </a:cubicBezTo>
                <a:cubicBezTo>
                  <a:pt x="490872" y="96939"/>
                  <a:pt x="489841" y="104037"/>
                  <a:pt x="487780" y="110282"/>
                </a:cubicBezTo>
                <a:cubicBezTo>
                  <a:pt x="485718" y="116527"/>
                  <a:pt x="482743" y="121799"/>
                  <a:pt x="478855" y="126100"/>
                </a:cubicBezTo>
                <a:cubicBezTo>
                  <a:pt x="474966" y="130400"/>
                  <a:pt x="470268" y="133684"/>
                  <a:pt x="464760" y="135952"/>
                </a:cubicBezTo>
                <a:cubicBezTo>
                  <a:pt x="459252" y="138221"/>
                  <a:pt x="453022" y="139355"/>
                  <a:pt x="446070" y="139355"/>
                </a:cubicBezTo>
                <a:cubicBezTo>
                  <a:pt x="439590" y="139355"/>
                  <a:pt x="433655" y="138221"/>
                  <a:pt x="428265" y="135952"/>
                </a:cubicBezTo>
                <a:cubicBezTo>
                  <a:pt x="422874" y="133684"/>
                  <a:pt x="418220" y="130400"/>
                  <a:pt x="414303" y="126100"/>
                </a:cubicBezTo>
                <a:cubicBezTo>
                  <a:pt x="410385" y="121799"/>
                  <a:pt x="407351" y="116527"/>
                  <a:pt x="405201" y="110282"/>
                </a:cubicBezTo>
                <a:cubicBezTo>
                  <a:pt x="403051" y="104037"/>
                  <a:pt x="401976" y="96939"/>
                  <a:pt x="401976" y="88986"/>
                </a:cubicBezTo>
                <a:cubicBezTo>
                  <a:pt x="401976" y="78382"/>
                  <a:pt x="403772" y="69353"/>
                  <a:pt x="407366" y="61901"/>
                </a:cubicBezTo>
                <a:cubicBezTo>
                  <a:pt x="410959" y="54449"/>
                  <a:pt x="416099" y="48764"/>
                  <a:pt x="422786" y="44846"/>
                </a:cubicBezTo>
                <a:cubicBezTo>
                  <a:pt x="429472" y="40929"/>
                  <a:pt x="437440" y="38970"/>
                  <a:pt x="446689" y="38970"/>
                </a:cubicBezTo>
                <a:close/>
                <a:moveTo>
                  <a:pt x="2601176" y="38793"/>
                </a:moveTo>
                <a:cubicBezTo>
                  <a:pt x="2602885" y="38793"/>
                  <a:pt x="2604608" y="38867"/>
                  <a:pt x="2606345" y="39014"/>
                </a:cubicBezTo>
                <a:cubicBezTo>
                  <a:pt x="2608083" y="39161"/>
                  <a:pt x="2609748" y="39368"/>
                  <a:pt x="2611338" y="39633"/>
                </a:cubicBezTo>
                <a:cubicBezTo>
                  <a:pt x="2612929" y="39898"/>
                  <a:pt x="2614313" y="40207"/>
                  <a:pt x="2615491" y="40561"/>
                </a:cubicBezTo>
                <a:lnTo>
                  <a:pt x="2648717" y="40561"/>
                </a:lnTo>
                <a:lnTo>
                  <a:pt x="2648717" y="50016"/>
                </a:lnTo>
                <a:lnTo>
                  <a:pt x="2630867" y="52225"/>
                </a:lnTo>
                <a:cubicBezTo>
                  <a:pt x="2632635" y="54523"/>
                  <a:pt x="2634107" y="57291"/>
                  <a:pt x="2635286" y="60531"/>
                </a:cubicBezTo>
                <a:cubicBezTo>
                  <a:pt x="2636464" y="63772"/>
                  <a:pt x="2637053" y="67365"/>
                  <a:pt x="2637053" y="71312"/>
                </a:cubicBezTo>
                <a:cubicBezTo>
                  <a:pt x="2637053" y="80974"/>
                  <a:pt x="2633783" y="88647"/>
                  <a:pt x="2627244" y="94332"/>
                </a:cubicBezTo>
                <a:cubicBezTo>
                  <a:pt x="2620705" y="100017"/>
                  <a:pt x="2611721" y="102859"/>
                  <a:pt x="2600292" y="102859"/>
                </a:cubicBezTo>
                <a:cubicBezTo>
                  <a:pt x="2597583" y="102859"/>
                  <a:pt x="2594814" y="102623"/>
                  <a:pt x="2591986" y="102152"/>
                </a:cubicBezTo>
                <a:cubicBezTo>
                  <a:pt x="2589099" y="103743"/>
                  <a:pt x="2586905" y="105510"/>
                  <a:pt x="2585403" y="107454"/>
                </a:cubicBezTo>
                <a:cubicBezTo>
                  <a:pt x="2583900" y="109398"/>
                  <a:pt x="2583149" y="111637"/>
                  <a:pt x="2583149" y="114170"/>
                </a:cubicBezTo>
                <a:cubicBezTo>
                  <a:pt x="2583149" y="116055"/>
                  <a:pt x="2583724" y="117557"/>
                  <a:pt x="2584872" y="118677"/>
                </a:cubicBezTo>
                <a:cubicBezTo>
                  <a:pt x="2586021" y="119796"/>
                  <a:pt x="2587686" y="120606"/>
                  <a:pt x="2589865" y="121107"/>
                </a:cubicBezTo>
                <a:cubicBezTo>
                  <a:pt x="2592045" y="121608"/>
                  <a:pt x="2594667" y="121858"/>
                  <a:pt x="2597730" y="121858"/>
                </a:cubicBezTo>
                <a:lnTo>
                  <a:pt x="2614785" y="121858"/>
                </a:lnTo>
                <a:cubicBezTo>
                  <a:pt x="2625330" y="121858"/>
                  <a:pt x="2633415" y="124067"/>
                  <a:pt x="2639041" y="128485"/>
                </a:cubicBezTo>
                <a:cubicBezTo>
                  <a:pt x="2644667" y="132904"/>
                  <a:pt x="2647480" y="139355"/>
                  <a:pt x="2647480" y="147838"/>
                </a:cubicBezTo>
                <a:cubicBezTo>
                  <a:pt x="2647480" y="158560"/>
                  <a:pt x="2643121" y="166778"/>
                  <a:pt x="2634402" y="172492"/>
                </a:cubicBezTo>
                <a:cubicBezTo>
                  <a:pt x="2625683" y="178206"/>
                  <a:pt x="2613076" y="181064"/>
                  <a:pt x="2596581" y="181064"/>
                </a:cubicBezTo>
                <a:cubicBezTo>
                  <a:pt x="2583856" y="181064"/>
                  <a:pt x="2574047" y="178692"/>
                  <a:pt x="2567155" y="173950"/>
                </a:cubicBezTo>
                <a:cubicBezTo>
                  <a:pt x="2560262" y="169208"/>
                  <a:pt x="2556816" y="162566"/>
                  <a:pt x="2556816" y="154023"/>
                </a:cubicBezTo>
                <a:cubicBezTo>
                  <a:pt x="2556816" y="147956"/>
                  <a:pt x="2558745" y="142771"/>
                  <a:pt x="2562604" y="138471"/>
                </a:cubicBezTo>
                <a:cubicBezTo>
                  <a:pt x="2566463" y="134170"/>
                  <a:pt x="2571809" y="131313"/>
                  <a:pt x="2578643" y="129899"/>
                </a:cubicBezTo>
                <a:cubicBezTo>
                  <a:pt x="2576110" y="128721"/>
                  <a:pt x="2573945" y="126954"/>
                  <a:pt x="2572148" y="124597"/>
                </a:cubicBezTo>
                <a:cubicBezTo>
                  <a:pt x="2570351" y="122241"/>
                  <a:pt x="2569452" y="119531"/>
                  <a:pt x="2569452" y="116468"/>
                </a:cubicBezTo>
                <a:cubicBezTo>
                  <a:pt x="2569452" y="112933"/>
                  <a:pt x="2570439" y="109825"/>
                  <a:pt x="2572413" y="107145"/>
                </a:cubicBezTo>
                <a:cubicBezTo>
                  <a:pt x="2574386" y="104464"/>
                  <a:pt x="2577405" y="101887"/>
                  <a:pt x="2581470" y="99413"/>
                </a:cubicBezTo>
                <a:cubicBezTo>
                  <a:pt x="2576404" y="97351"/>
                  <a:pt x="2572295" y="93860"/>
                  <a:pt x="2569143" y="88941"/>
                </a:cubicBezTo>
                <a:cubicBezTo>
                  <a:pt x="2565992" y="84022"/>
                  <a:pt x="2564415" y="78293"/>
                  <a:pt x="2564415" y="71754"/>
                </a:cubicBezTo>
                <a:cubicBezTo>
                  <a:pt x="2564415" y="64803"/>
                  <a:pt x="2565859" y="58867"/>
                  <a:pt x="2568745" y="53948"/>
                </a:cubicBezTo>
                <a:cubicBezTo>
                  <a:pt x="2571632" y="49029"/>
                  <a:pt x="2575815" y="45274"/>
                  <a:pt x="2581294" y="42681"/>
                </a:cubicBezTo>
                <a:cubicBezTo>
                  <a:pt x="2586772" y="40089"/>
                  <a:pt x="2593400" y="38793"/>
                  <a:pt x="2601176" y="38793"/>
                </a:cubicBezTo>
                <a:close/>
                <a:moveTo>
                  <a:pt x="1115276" y="38793"/>
                </a:moveTo>
                <a:cubicBezTo>
                  <a:pt x="1116985" y="38793"/>
                  <a:pt x="1118708" y="38867"/>
                  <a:pt x="1120446" y="39014"/>
                </a:cubicBezTo>
                <a:cubicBezTo>
                  <a:pt x="1122184" y="39161"/>
                  <a:pt x="1123848" y="39368"/>
                  <a:pt x="1125438" y="39633"/>
                </a:cubicBezTo>
                <a:cubicBezTo>
                  <a:pt x="1127029" y="39898"/>
                  <a:pt x="1128413" y="40207"/>
                  <a:pt x="1129592" y="40561"/>
                </a:cubicBezTo>
                <a:lnTo>
                  <a:pt x="1162818" y="40561"/>
                </a:lnTo>
                <a:lnTo>
                  <a:pt x="1162818" y="50016"/>
                </a:lnTo>
                <a:lnTo>
                  <a:pt x="1144967" y="52225"/>
                </a:lnTo>
                <a:cubicBezTo>
                  <a:pt x="1146735" y="54523"/>
                  <a:pt x="1148208" y="57291"/>
                  <a:pt x="1149386" y="60531"/>
                </a:cubicBezTo>
                <a:cubicBezTo>
                  <a:pt x="1150564" y="63772"/>
                  <a:pt x="1151153" y="67365"/>
                  <a:pt x="1151153" y="71312"/>
                </a:cubicBezTo>
                <a:cubicBezTo>
                  <a:pt x="1151153" y="80974"/>
                  <a:pt x="1147884" y="88647"/>
                  <a:pt x="1141344" y="94332"/>
                </a:cubicBezTo>
                <a:cubicBezTo>
                  <a:pt x="1134805" y="100017"/>
                  <a:pt x="1125821" y="102859"/>
                  <a:pt x="1114393" y="102859"/>
                </a:cubicBezTo>
                <a:cubicBezTo>
                  <a:pt x="1111683" y="102859"/>
                  <a:pt x="1108914" y="102623"/>
                  <a:pt x="1106086" y="102152"/>
                </a:cubicBezTo>
                <a:cubicBezTo>
                  <a:pt x="1103199" y="103743"/>
                  <a:pt x="1101005" y="105510"/>
                  <a:pt x="1099503" y="107454"/>
                </a:cubicBezTo>
                <a:cubicBezTo>
                  <a:pt x="1098001" y="109398"/>
                  <a:pt x="1097249" y="111637"/>
                  <a:pt x="1097249" y="114170"/>
                </a:cubicBezTo>
                <a:cubicBezTo>
                  <a:pt x="1097249" y="116055"/>
                  <a:pt x="1097824" y="117557"/>
                  <a:pt x="1098973" y="118677"/>
                </a:cubicBezTo>
                <a:cubicBezTo>
                  <a:pt x="1100121" y="119796"/>
                  <a:pt x="1101786" y="120606"/>
                  <a:pt x="1103965" y="121107"/>
                </a:cubicBezTo>
                <a:cubicBezTo>
                  <a:pt x="1106145" y="121608"/>
                  <a:pt x="1108766" y="121858"/>
                  <a:pt x="1111830" y="121858"/>
                </a:cubicBezTo>
                <a:lnTo>
                  <a:pt x="1128885" y="121858"/>
                </a:lnTo>
                <a:cubicBezTo>
                  <a:pt x="1139430" y="121858"/>
                  <a:pt x="1147515" y="124067"/>
                  <a:pt x="1153141" y="128485"/>
                </a:cubicBezTo>
                <a:cubicBezTo>
                  <a:pt x="1158767" y="132904"/>
                  <a:pt x="1161580" y="139355"/>
                  <a:pt x="1161580" y="147838"/>
                </a:cubicBezTo>
                <a:cubicBezTo>
                  <a:pt x="1161580" y="158560"/>
                  <a:pt x="1157221" y="166778"/>
                  <a:pt x="1148502" y="172492"/>
                </a:cubicBezTo>
                <a:cubicBezTo>
                  <a:pt x="1139783" y="178206"/>
                  <a:pt x="1127176" y="181064"/>
                  <a:pt x="1110681" y="181064"/>
                </a:cubicBezTo>
                <a:cubicBezTo>
                  <a:pt x="1097956" y="181064"/>
                  <a:pt x="1088148" y="178692"/>
                  <a:pt x="1081255" y="173950"/>
                </a:cubicBezTo>
                <a:cubicBezTo>
                  <a:pt x="1074362" y="169208"/>
                  <a:pt x="1070916" y="162566"/>
                  <a:pt x="1070916" y="154023"/>
                </a:cubicBezTo>
                <a:cubicBezTo>
                  <a:pt x="1070916" y="147956"/>
                  <a:pt x="1072845" y="142771"/>
                  <a:pt x="1076704" y="138471"/>
                </a:cubicBezTo>
                <a:cubicBezTo>
                  <a:pt x="1080563" y="134170"/>
                  <a:pt x="1085909" y="131313"/>
                  <a:pt x="1092743" y="129899"/>
                </a:cubicBezTo>
                <a:cubicBezTo>
                  <a:pt x="1090209" y="128721"/>
                  <a:pt x="1088044" y="126954"/>
                  <a:pt x="1086248" y="124597"/>
                </a:cubicBezTo>
                <a:cubicBezTo>
                  <a:pt x="1084451" y="122241"/>
                  <a:pt x="1083553" y="119531"/>
                  <a:pt x="1083553" y="116468"/>
                </a:cubicBezTo>
                <a:cubicBezTo>
                  <a:pt x="1083553" y="112933"/>
                  <a:pt x="1084539" y="109825"/>
                  <a:pt x="1086513" y="107145"/>
                </a:cubicBezTo>
                <a:cubicBezTo>
                  <a:pt x="1088486" y="104464"/>
                  <a:pt x="1091505" y="101887"/>
                  <a:pt x="1095570" y="99413"/>
                </a:cubicBezTo>
                <a:cubicBezTo>
                  <a:pt x="1090504" y="97351"/>
                  <a:pt x="1086395" y="93860"/>
                  <a:pt x="1083243" y="88941"/>
                </a:cubicBezTo>
                <a:cubicBezTo>
                  <a:pt x="1080091" y="84022"/>
                  <a:pt x="1078516" y="78293"/>
                  <a:pt x="1078516" y="71754"/>
                </a:cubicBezTo>
                <a:cubicBezTo>
                  <a:pt x="1078516" y="64803"/>
                  <a:pt x="1079959" y="58867"/>
                  <a:pt x="1082846" y="53948"/>
                </a:cubicBezTo>
                <a:cubicBezTo>
                  <a:pt x="1085732" y="49029"/>
                  <a:pt x="1089915" y="45274"/>
                  <a:pt x="1095394" y="42681"/>
                </a:cubicBezTo>
                <a:cubicBezTo>
                  <a:pt x="1100872" y="40089"/>
                  <a:pt x="1107500" y="38793"/>
                  <a:pt x="1115276" y="38793"/>
                </a:cubicBezTo>
                <a:close/>
                <a:moveTo>
                  <a:pt x="619976" y="38793"/>
                </a:moveTo>
                <a:cubicBezTo>
                  <a:pt x="621685" y="38793"/>
                  <a:pt x="623408" y="38867"/>
                  <a:pt x="625146" y="39014"/>
                </a:cubicBezTo>
                <a:cubicBezTo>
                  <a:pt x="626883" y="39161"/>
                  <a:pt x="628548" y="39368"/>
                  <a:pt x="630138" y="39633"/>
                </a:cubicBezTo>
                <a:cubicBezTo>
                  <a:pt x="631729" y="39898"/>
                  <a:pt x="633113" y="40207"/>
                  <a:pt x="634292" y="40561"/>
                </a:cubicBezTo>
                <a:lnTo>
                  <a:pt x="667517" y="40561"/>
                </a:lnTo>
                <a:lnTo>
                  <a:pt x="667517" y="50016"/>
                </a:lnTo>
                <a:lnTo>
                  <a:pt x="649667" y="52225"/>
                </a:lnTo>
                <a:cubicBezTo>
                  <a:pt x="651435" y="54523"/>
                  <a:pt x="652907" y="57291"/>
                  <a:pt x="654086" y="60531"/>
                </a:cubicBezTo>
                <a:cubicBezTo>
                  <a:pt x="655264" y="63772"/>
                  <a:pt x="655853" y="67365"/>
                  <a:pt x="655853" y="71312"/>
                </a:cubicBezTo>
                <a:cubicBezTo>
                  <a:pt x="655853" y="80974"/>
                  <a:pt x="652583" y="88647"/>
                  <a:pt x="646044" y="94332"/>
                </a:cubicBezTo>
                <a:cubicBezTo>
                  <a:pt x="639505" y="100017"/>
                  <a:pt x="630521" y="102859"/>
                  <a:pt x="619092" y="102859"/>
                </a:cubicBezTo>
                <a:cubicBezTo>
                  <a:pt x="616382" y="102859"/>
                  <a:pt x="613614" y="102623"/>
                  <a:pt x="610786" y="102152"/>
                </a:cubicBezTo>
                <a:cubicBezTo>
                  <a:pt x="607899" y="103743"/>
                  <a:pt x="605705" y="105510"/>
                  <a:pt x="604203" y="107454"/>
                </a:cubicBezTo>
                <a:cubicBezTo>
                  <a:pt x="602700" y="109398"/>
                  <a:pt x="601949" y="111637"/>
                  <a:pt x="601949" y="114170"/>
                </a:cubicBezTo>
                <a:cubicBezTo>
                  <a:pt x="601949" y="116055"/>
                  <a:pt x="602524" y="117557"/>
                  <a:pt x="603672" y="118677"/>
                </a:cubicBezTo>
                <a:cubicBezTo>
                  <a:pt x="604821" y="119796"/>
                  <a:pt x="606485" y="120606"/>
                  <a:pt x="608665" y="121107"/>
                </a:cubicBezTo>
                <a:cubicBezTo>
                  <a:pt x="610845" y="121608"/>
                  <a:pt x="613466" y="121858"/>
                  <a:pt x="616530" y="121858"/>
                </a:cubicBezTo>
                <a:lnTo>
                  <a:pt x="633585" y="121858"/>
                </a:lnTo>
                <a:cubicBezTo>
                  <a:pt x="644130" y="121858"/>
                  <a:pt x="652215" y="124067"/>
                  <a:pt x="657841" y="128485"/>
                </a:cubicBezTo>
                <a:cubicBezTo>
                  <a:pt x="663467" y="132904"/>
                  <a:pt x="666280" y="139355"/>
                  <a:pt x="666280" y="147838"/>
                </a:cubicBezTo>
                <a:cubicBezTo>
                  <a:pt x="666280" y="158560"/>
                  <a:pt x="661921" y="166778"/>
                  <a:pt x="653202" y="172492"/>
                </a:cubicBezTo>
                <a:cubicBezTo>
                  <a:pt x="644483" y="178206"/>
                  <a:pt x="631876" y="181064"/>
                  <a:pt x="615381" y="181064"/>
                </a:cubicBezTo>
                <a:cubicBezTo>
                  <a:pt x="602656" y="181064"/>
                  <a:pt x="592848" y="178692"/>
                  <a:pt x="585955" y="173950"/>
                </a:cubicBezTo>
                <a:cubicBezTo>
                  <a:pt x="579062" y="169208"/>
                  <a:pt x="575616" y="162566"/>
                  <a:pt x="575616" y="154023"/>
                </a:cubicBezTo>
                <a:cubicBezTo>
                  <a:pt x="575616" y="147956"/>
                  <a:pt x="577545" y="142771"/>
                  <a:pt x="581404" y="138471"/>
                </a:cubicBezTo>
                <a:cubicBezTo>
                  <a:pt x="585263" y="134170"/>
                  <a:pt x="590609" y="131313"/>
                  <a:pt x="597443" y="129899"/>
                </a:cubicBezTo>
                <a:cubicBezTo>
                  <a:pt x="594909" y="128721"/>
                  <a:pt x="592744" y="126954"/>
                  <a:pt x="590948" y="124597"/>
                </a:cubicBezTo>
                <a:cubicBezTo>
                  <a:pt x="589151" y="122241"/>
                  <a:pt x="588253" y="119531"/>
                  <a:pt x="588253" y="116468"/>
                </a:cubicBezTo>
                <a:cubicBezTo>
                  <a:pt x="588253" y="112933"/>
                  <a:pt x="589239" y="109825"/>
                  <a:pt x="591213" y="107145"/>
                </a:cubicBezTo>
                <a:cubicBezTo>
                  <a:pt x="593186" y="104464"/>
                  <a:pt x="596206" y="101887"/>
                  <a:pt x="600270" y="99413"/>
                </a:cubicBezTo>
                <a:cubicBezTo>
                  <a:pt x="595204" y="97351"/>
                  <a:pt x="591095" y="93860"/>
                  <a:pt x="587943" y="88941"/>
                </a:cubicBezTo>
                <a:cubicBezTo>
                  <a:pt x="584791" y="84022"/>
                  <a:pt x="583216" y="78293"/>
                  <a:pt x="583216" y="71754"/>
                </a:cubicBezTo>
                <a:cubicBezTo>
                  <a:pt x="583216" y="64803"/>
                  <a:pt x="584659" y="58867"/>
                  <a:pt x="587546" y="53948"/>
                </a:cubicBezTo>
                <a:cubicBezTo>
                  <a:pt x="590432" y="49029"/>
                  <a:pt x="594615" y="45274"/>
                  <a:pt x="600094" y="42681"/>
                </a:cubicBezTo>
                <a:cubicBezTo>
                  <a:pt x="605572" y="40089"/>
                  <a:pt x="612200" y="38793"/>
                  <a:pt x="619976" y="38793"/>
                </a:cubicBezTo>
                <a:close/>
                <a:moveTo>
                  <a:pt x="1876425" y="8395"/>
                </a:moveTo>
                <a:lnTo>
                  <a:pt x="1891447" y="8395"/>
                </a:lnTo>
                <a:lnTo>
                  <a:pt x="1891447" y="137587"/>
                </a:lnTo>
                <a:lnTo>
                  <a:pt x="1876425" y="137587"/>
                </a:lnTo>
                <a:close/>
                <a:moveTo>
                  <a:pt x="1789695" y="8395"/>
                </a:moveTo>
                <a:lnTo>
                  <a:pt x="1801802" y="8395"/>
                </a:lnTo>
                <a:lnTo>
                  <a:pt x="1794467" y="47100"/>
                </a:lnTo>
                <a:lnTo>
                  <a:pt x="1821596" y="47100"/>
                </a:lnTo>
                <a:lnTo>
                  <a:pt x="1828930" y="8395"/>
                </a:lnTo>
                <a:lnTo>
                  <a:pt x="1840595" y="8395"/>
                </a:lnTo>
                <a:lnTo>
                  <a:pt x="1833260" y="47100"/>
                </a:lnTo>
                <a:lnTo>
                  <a:pt x="1856677" y="47100"/>
                </a:lnTo>
                <a:lnTo>
                  <a:pt x="1856677" y="58146"/>
                </a:lnTo>
                <a:lnTo>
                  <a:pt x="1831051" y="58146"/>
                </a:lnTo>
                <a:lnTo>
                  <a:pt x="1825307" y="88190"/>
                </a:lnTo>
                <a:lnTo>
                  <a:pt x="1850315" y="88190"/>
                </a:lnTo>
                <a:lnTo>
                  <a:pt x="1850315" y="99413"/>
                </a:lnTo>
                <a:lnTo>
                  <a:pt x="1823098" y="99413"/>
                </a:lnTo>
                <a:lnTo>
                  <a:pt x="1815587" y="137587"/>
                </a:lnTo>
                <a:lnTo>
                  <a:pt x="1803657" y="137587"/>
                </a:lnTo>
                <a:lnTo>
                  <a:pt x="1811169" y="99413"/>
                </a:lnTo>
                <a:lnTo>
                  <a:pt x="1784217" y="99413"/>
                </a:lnTo>
                <a:lnTo>
                  <a:pt x="1776971" y="137587"/>
                </a:lnTo>
                <a:lnTo>
                  <a:pt x="1765218" y="137587"/>
                </a:lnTo>
                <a:lnTo>
                  <a:pt x="1772199" y="99413"/>
                </a:lnTo>
                <a:lnTo>
                  <a:pt x="1749047" y="99413"/>
                </a:lnTo>
                <a:lnTo>
                  <a:pt x="1749047" y="88190"/>
                </a:lnTo>
                <a:lnTo>
                  <a:pt x="1774408" y="88190"/>
                </a:lnTo>
                <a:lnTo>
                  <a:pt x="1780329" y="58146"/>
                </a:lnTo>
                <a:lnTo>
                  <a:pt x="1755763" y="58146"/>
                </a:lnTo>
                <a:lnTo>
                  <a:pt x="1755763" y="47100"/>
                </a:lnTo>
                <a:lnTo>
                  <a:pt x="1782361" y="47100"/>
                </a:lnTo>
                <a:close/>
                <a:moveTo>
                  <a:pt x="718142" y="8395"/>
                </a:moveTo>
                <a:lnTo>
                  <a:pt x="732546" y="8395"/>
                </a:lnTo>
                <a:lnTo>
                  <a:pt x="684475" y="137587"/>
                </a:lnTo>
                <a:lnTo>
                  <a:pt x="669982" y="137587"/>
                </a:lnTo>
                <a:close/>
                <a:moveTo>
                  <a:pt x="0" y="8395"/>
                </a:moveTo>
                <a:lnTo>
                  <a:pt x="15022" y="8395"/>
                </a:lnTo>
                <a:lnTo>
                  <a:pt x="15022" y="137587"/>
                </a:lnTo>
                <a:lnTo>
                  <a:pt x="0" y="137587"/>
                </a:lnTo>
                <a:close/>
                <a:moveTo>
                  <a:pt x="2293781" y="6539"/>
                </a:moveTo>
                <a:cubicBezTo>
                  <a:pt x="2300320" y="6539"/>
                  <a:pt x="2306623" y="7187"/>
                  <a:pt x="2312691" y="8483"/>
                </a:cubicBezTo>
                <a:cubicBezTo>
                  <a:pt x="2318759" y="9780"/>
                  <a:pt x="2324238" y="11635"/>
                  <a:pt x="2329128" y="14051"/>
                </a:cubicBezTo>
                <a:lnTo>
                  <a:pt x="2323119" y="26775"/>
                </a:lnTo>
                <a:cubicBezTo>
                  <a:pt x="2318995" y="24890"/>
                  <a:pt x="2314473" y="23255"/>
                  <a:pt x="2309554" y="21871"/>
                </a:cubicBezTo>
                <a:cubicBezTo>
                  <a:pt x="2304635" y="20487"/>
                  <a:pt x="2299319" y="19794"/>
                  <a:pt x="2293604" y="19794"/>
                </a:cubicBezTo>
                <a:cubicBezTo>
                  <a:pt x="2286476" y="19794"/>
                  <a:pt x="2280069" y="21017"/>
                  <a:pt x="2274384" y="23462"/>
                </a:cubicBezTo>
                <a:cubicBezTo>
                  <a:pt x="2268700" y="25906"/>
                  <a:pt x="2263869" y="29441"/>
                  <a:pt x="2259892" y="34066"/>
                </a:cubicBezTo>
                <a:cubicBezTo>
                  <a:pt x="2255916" y="38690"/>
                  <a:pt x="2252867" y="44272"/>
                  <a:pt x="2250746" y="50811"/>
                </a:cubicBezTo>
                <a:cubicBezTo>
                  <a:pt x="2248625" y="57350"/>
                  <a:pt x="2247565" y="64714"/>
                  <a:pt x="2247565" y="72903"/>
                </a:cubicBezTo>
                <a:cubicBezTo>
                  <a:pt x="2247565" y="83742"/>
                  <a:pt x="2249259" y="93154"/>
                  <a:pt x="2252646" y="101136"/>
                </a:cubicBezTo>
                <a:cubicBezTo>
                  <a:pt x="2256033" y="109118"/>
                  <a:pt x="2261100" y="115289"/>
                  <a:pt x="2267845" y="119649"/>
                </a:cubicBezTo>
                <a:cubicBezTo>
                  <a:pt x="2274590" y="124008"/>
                  <a:pt x="2283029" y="126188"/>
                  <a:pt x="2293162" y="126188"/>
                </a:cubicBezTo>
                <a:cubicBezTo>
                  <a:pt x="2298935" y="126188"/>
                  <a:pt x="2304370" y="125702"/>
                  <a:pt x="2309466" y="124730"/>
                </a:cubicBezTo>
                <a:cubicBezTo>
                  <a:pt x="2314562" y="123758"/>
                  <a:pt x="2319525" y="122535"/>
                  <a:pt x="2324356" y="121063"/>
                </a:cubicBezTo>
                <a:lnTo>
                  <a:pt x="2324356" y="134141"/>
                </a:lnTo>
                <a:cubicBezTo>
                  <a:pt x="2319643" y="135908"/>
                  <a:pt x="2314694" y="137219"/>
                  <a:pt x="2309510" y="138073"/>
                </a:cubicBezTo>
                <a:cubicBezTo>
                  <a:pt x="2304326" y="138927"/>
                  <a:pt x="2298170" y="139355"/>
                  <a:pt x="2291041" y="139355"/>
                </a:cubicBezTo>
                <a:cubicBezTo>
                  <a:pt x="2277904" y="139355"/>
                  <a:pt x="2266932" y="136630"/>
                  <a:pt x="2258125" y="131181"/>
                </a:cubicBezTo>
                <a:cubicBezTo>
                  <a:pt x="2249318" y="125731"/>
                  <a:pt x="2242720" y="118029"/>
                  <a:pt x="2238331" y="108073"/>
                </a:cubicBezTo>
                <a:cubicBezTo>
                  <a:pt x="2233942" y="98117"/>
                  <a:pt x="2231747" y="86364"/>
                  <a:pt x="2231747" y="72814"/>
                </a:cubicBezTo>
                <a:cubicBezTo>
                  <a:pt x="2231747" y="63035"/>
                  <a:pt x="2233117" y="54095"/>
                  <a:pt x="2235856" y="45995"/>
                </a:cubicBezTo>
                <a:cubicBezTo>
                  <a:pt x="2238596" y="37895"/>
                  <a:pt x="2242602" y="30899"/>
                  <a:pt x="2247874" y="25008"/>
                </a:cubicBezTo>
                <a:cubicBezTo>
                  <a:pt x="2253147" y="19117"/>
                  <a:pt x="2259627" y="14566"/>
                  <a:pt x="2267315" y="11355"/>
                </a:cubicBezTo>
                <a:cubicBezTo>
                  <a:pt x="2275003" y="8145"/>
                  <a:pt x="2283825" y="6539"/>
                  <a:pt x="2293781" y="6539"/>
                </a:cubicBezTo>
                <a:close/>
                <a:moveTo>
                  <a:pt x="2165500" y="6539"/>
                </a:moveTo>
                <a:cubicBezTo>
                  <a:pt x="2173453" y="6539"/>
                  <a:pt x="2180316" y="7924"/>
                  <a:pt x="2186090" y="10693"/>
                </a:cubicBezTo>
                <a:cubicBezTo>
                  <a:pt x="2191863" y="13461"/>
                  <a:pt x="2196326" y="17409"/>
                  <a:pt x="2199477" y="22534"/>
                </a:cubicBezTo>
                <a:cubicBezTo>
                  <a:pt x="2202629" y="27659"/>
                  <a:pt x="2204205" y="33756"/>
                  <a:pt x="2204205" y="40826"/>
                </a:cubicBezTo>
                <a:cubicBezTo>
                  <a:pt x="2204205" y="47659"/>
                  <a:pt x="2202850" y="54007"/>
                  <a:pt x="2200140" y="59869"/>
                </a:cubicBezTo>
                <a:cubicBezTo>
                  <a:pt x="2197430" y="65730"/>
                  <a:pt x="2193630" y="71533"/>
                  <a:pt x="2188741" y="77277"/>
                </a:cubicBezTo>
                <a:cubicBezTo>
                  <a:pt x="2183851" y="83021"/>
                  <a:pt x="2178137" y="89103"/>
                  <a:pt x="2171598" y="95525"/>
                </a:cubicBezTo>
                <a:lnTo>
                  <a:pt x="2143497" y="123537"/>
                </a:lnTo>
                <a:lnTo>
                  <a:pt x="2143497" y="124156"/>
                </a:lnTo>
                <a:lnTo>
                  <a:pt x="2209507" y="124156"/>
                </a:lnTo>
                <a:lnTo>
                  <a:pt x="2209507" y="137587"/>
                </a:lnTo>
                <a:lnTo>
                  <a:pt x="2124852" y="137587"/>
                </a:lnTo>
                <a:lnTo>
                  <a:pt x="2124852" y="125304"/>
                </a:lnTo>
                <a:lnTo>
                  <a:pt x="2159403" y="90223"/>
                </a:lnTo>
                <a:cubicBezTo>
                  <a:pt x="2165824" y="83742"/>
                  <a:pt x="2171229" y="77969"/>
                  <a:pt x="2175618" y="72903"/>
                </a:cubicBezTo>
                <a:cubicBezTo>
                  <a:pt x="2180007" y="67836"/>
                  <a:pt x="2183350" y="62844"/>
                  <a:pt x="2185648" y="57925"/>
                </a:cubicBezTo>
                <a:cubicBezTo>
                  <a:pt x="2187945" y="53006"/>
                  <a:pt x="2189094" y="47600"/>
                  <a:pt x="2189094" y="41709"/>
                </a:cubicBezTo>
                <a:cubicBezTo>
                  <a:pt x="2189094" y="34404"/>
                  <a:pt x="2186929" y="28823"/>
                  <a:pt x="2182599" y="24964"/>
                </a:cubicBezTo>
                <a:cubicBezTo>
                  <a:pt x="2178269" y="21105"/>
                  <a:pt x="2172570" y="19176"/>
                  <a:pt x="2165500" y="19176"/>
                </a:cubicBezTo>
                <a:cubicBezTo>
                  <a:pt x="2159315" y="19176"/>
                  <a:pt x="2153836" y="20236"/>
                  <a:pt x="2149064" y="22357"/>
                </a:cubicBezTo>
                <a:cubicBezTo>
                  <a:pt x="2144292" y="24478"/>
                  <a:pt x="2139403" y="27482"/>
                  <a:pt x="2134395" y="31370"/>
                </a:cubicBezTo>
                <a:lnTo>
                  <a:pt x="2126531" y="21473"/>
                </a:lnTo>
                <a:cubicBezTo>
                  <a:pt x="2129947" y="18587"/>
                  <a:pt x="2133674" y="16024"/>
                  <a:pt x="2137709" y="13786"/>
                </a:cubicBezTo>
                <a:cubicBezTo>
                  <a:pt x="2141744" y="11547"/>
                  <a:pt x="2146074" y="9780"/>
                  <a:pt x="2150699" y="8483"/>
                </a:cubicBezTo>
                <a:cubicBezTo>
                  <a:pt x="2155323" y="7187"/>
                  <a:pt x="2160257" y="6539"/>
                  <a:pt x="2165500" y="6539"/>
                </a:cubicBezTo>
                <a:close/>
                <a:moveTo>
                  <a:pt x="2074706" y="6539"/>
                </a:moveTo>
                <a:cubicBezTo>
                  <a:pt x="2081245" y="6539"/>
                  <a:pt x="2087548" y="7187"/>
                  <a:pt x="2093616" y="8483"/>
                </a:cubicBezTo>
                <a:cubicBezTo>
                  <a:pt x="2099684" y="9780"/>
                  <a:pt x="2105163" y="11635"/>
                  <a:pt x="2110053" y="14051"/>
                </a:cubicBezTo>
                <a:lnTo>
                  <a:pt x="2104044" y="26775"/>
                </a:lnTo>
                <a:cubicBezTo>
                  <a:pt x="2099920" y="24890"/>
                  <a:pt x="2095398" y="23255"/>
                  <a:pt x="2090479" y="21871"/>
                </a:cubicBezTo>
                <a:cubicBezTo>
                  <a:pt x="2085560" y="20487"/>
                  <a:pt x="2080243" y="19794"/>
                  <a:pt x="2074529" y="19794"/>
                </a:cubicBezTo>
                <a:cubicBezTo>
                  <a:pt x="2067401" y="19794"/>
                  <a:pt x="2060994" y="21017"/>
                  <a:pt x="2055309" y="23462"/>
                </a:cubicBezTo>
                <a:cubicBezTo>
                  <a:pt x="2049624" y="25906"/>
                  <a:pt x="2044794" y="29441"/>
                  <a:pt x="2040817" y="34066"/>
                </a:cubicBezTo>
                <a:cubicBezTo>
                  <a:pt x="2036841" y="38690"/>
                  <a:pt x="2033792" y="44272"/>
                  <a:pt x="2031671" y="50811"/>
                </a:cubicBezTo>
                <a:cubicBezTo>
                  <a:pt x="2029550" y="57350"/>
                  <a:pt x="2028490" y="64714"/>
                  <a:pt x="2028490" y="72903"/>
                </a:cubicBezTo>
                <a:cubicBezTo>
                  <a:pt x="2028490" y="83742"/>
                  <a:pt x="2030184" y="93154"/>
                  <a:pt x="2033571" y="101136"/>
                </a:cubicBezTo>
                <a:cubicBezTo>
                  <a:pt x="2036958" y="109118"/>
                  <a:pt x="2042025" y="115289"/>
                  <a:pt x="2048770" y="119649"/>
                </a:cubicBezTo>
                <a:cubicBezTo>
                  <a:pt x="2055515" y="124008"/>
                  <a:pt x="2063954" y="126188"/>
                  <a:pt x="2074087" y="126188"/>
                </a:cubicBezTo>
                <a:cubicBezTo>
                  <a:pt x="2079860" y="126188"/>
                  <a:pt x="2085295" y="125702"/>
                  <a:pt x="2090391" y="124730"/>
                </a:cubicBezTo>
                <a:cubicBezTo>
                  <a:pt x="2095487" y="123758"/>
                  <a:pt x="2100450" y="122535"/>
                  <a:pt x="2105281" y="121063"/>
                </a:cubicBezTo>
                <a:lnTo>
                  <a:pt x="2105281" y="134141"/>
                </a:lnTo>
                <a:cubicBezTo>
                  <a:pt x="2100568" y="135908"/>
                  <a:pt x="2095619" y="137219"/>
                  <a:pt x="2090435" y="138073"/>
                </a:cubicBezTo>
                <a:cubicBezTo>
                  <a:pt x="2085251" y="138927"/>
                  <a:pt x="2079095" y="139355"/>
                  <a:pt x="2071966" y="139355"/>
                </a:cubicBezTo>
                <a:cubicBezTo>
                  <a:pt x="2058829" y="139355"/>
                  <a:pt x="2047857" y="136630"/>
                  <a:pt x="2039050" y="131181"/>
                </a:cubicBezTo>
                <a:cubicBezTo>
                  <a:pt x="2030243" y="125731"/>
                  <a:pt x="2023645" y="118029"/>
                  <a:pt x="2019256" y="108073"/>
                </a:cubicBezTo>
                <a:cubicBezTo>
                  <a:pt x="2014867" y="98117"/>
                  <a:pt x="2012672" y="86364"/>
                  <a:pt x="2012672" y="72814"/>
                </a:cubicBezTo>
                <a:cubicBezTo>
                  <a:pt x="2012672" y="63035"/>
                  <a:pt x="2014042" y="54095"/>
                  <a:pt x="2016781" y="45995"/>
                </a:cubicBezTo>
                <a:cubicBezTo>
                  <a:pt x="2019521" y="37895"/>
                  <a:pt x="2023527" y="30899"/>
                  <a:pt x="2028799" y="25008"/>
                </a:cubicBezTo>
                <a:cubicBezTo>
                  <a:pt x="2034072" y="19117"/>
                  <a:pt x="2040552" y="14566"/>
                  <a:pt x="2048240" y="11355"/>
                </a:cubicBezTo>
                <a:cubicBezTo>
                  <a:pt x="2055928" y="8145"/>
                  <a:pt x="2064750" y="6539"/>
                  <a:pt x="2074706" y="6539"/>
                </a:cubicBezTo>
                <a:close/>
                <a:moveTo>
                  <a:pt x="1958601" y="6539"/>
                </a:moveTo>
                <a:cubicBezTo>
                  <a:pt x="1965494" y="6539"/>
                  <a:pt x="1971871" y="7187"/>
                  <a:pt x="1977733" y="8483"/>
                </a:cubicBezTo>
                <a:cubicBezTo>
                  <a:pt x="1983594" y="9780"/>
                  <a:pt x="1988970" y="11517"/>
                  <a:pt x="1993860" y="13697"/>
                </a:cubicBezTo>
                <a:lnTo>
                  <a:pt x="1989176" y="26599"/>
                </a:lnTo>
                <a:cubicBezTo>
                  <a:pt x="1984522" y="24655"/>
                  <a:pt x="1979589" y="23035"/>
                  <a:pt x="1974375" y="21739"/>
                </a:cubicBezTo>
                <a:cubicBezTo>
                  <a:pt x="1969161" y="20442"/>
                  <a:pt x="1963786" y="19794"/>
                  <a:pt x="1958248" y="19794"/>
                </a:cubicBezTo>
                <a:cubicBezTo>
                  <a:pt x="1952710" y="19794"/>
                  <a:pt x="1948042" y="20604"/>
                  <a:pt x="1944242" y="22225"/>
                </a:cubicBezTo>
                <a:cubicBezTo>
                  <a:pt x="1940442" y="23845"/>
                  <a:pt x="1937541" y="26127"/>
                  <a:pt x="1935538" y="29073"/>
                </a:cubicBezTo>
                <a:cubicBezTo>
                  <a:pt x="1933535" y="32018"/>
                  <a:pt x="1932533" y="35524"/>
                  <a:pt x="1932533" y="39589"/>
                </a:cubicBezTo>
                <a:cubicBezTo>
                  <a:pt x="1932533" y="44125"/>
                  <a:pt x="1933490" y="47895"/>
                  <a:pt x="1935405" y="50900"/>
                </a:cubicBezTo>
                <a:cubicBezTo>
                  <a:pt x="1937320" y="53904"/>
                  <a:pt x="1940383" y="56570"/>
                  <a:pt x="1944595" y="58897"/>
                </a:cubicBezTo>
                <a:cubicBezTo>
                  <a:pt x="1948807" y="61224"/>
                  <a:pt x="1954389" y="63654"/>
                  <a:pt x="1961341" y="66187"/>
                </a:cubicBezTo>
                <a:cubicBezTo>
                  <a:pt x="1968940" y="68956"/>
                  <a:pt x="1975391" y="71887"/>
                  <a:pt x="1980693" y="74979"/>
                </a:cubicBezTo>
                <a:cubicBezTo>
                  <a:pt x="1985995" y="78072"/>
                  <a:pt x="1990030" y="81843"/>
                  <a:pt x="1992799" y="86290"/>
                </a:cubicBezTo>
                <a:cubicBezTo>
                  <a:pt x="1995568" y="90738"/>
                  <a:pt x="1996953" y="96379"/>
                  <a:pt x="1996953" y="103213"/>
                </a:cubicBezTo>
                <a:cubicBezTo>
                  <a:pt x="1996953" y="110871"/>
                  <a:pt x="1995053" y="117395"/>
                  <a:pt x="1991253" y="122786"/>
                </a:cubicBezTo>
                <a:cubicBezTo>
                  <a:pt x="1987453" y="128176"/>
                  <a:pt x="1982136" y="132285"/>
                  <a:pt x="1975303" y="135113"/>
                </a:cubicBezTo>
                <a:cubicBezTo>
                  <a:pt x="1968469" y="137941"/>
                  <a:pt x="1960428" y="139355"/>
                  <a:pt x="1951179" y="139355"/>
                </a:cubicBezTo>
                <a:cubicBezTo>
                  <a:pt x="1946289" y="139355"/>
                  <a:pt x="1941664" y="139119"/>
                  <a:pt x="1937305" y="138648"/>
                </a:cubicBezTo>
                <a:cubicBezTo>
                  <a:pt x="1932946" y="138176"/>
                  <a:pt x="1928939" y="137499"/>
                  <a:pt x="1925287" y="136615"/>
                </a:cubicBezTo>
                <a:cubicBezTo>
                  <a:pt x="1921635" y="135732"/>
                  <a:pt x="1918424" y="134642"/>
                  <a:pt x="1915655" y="133346"/>
                </a:cubicBezTo>
                <a:lnTo>
                  <a:pt x="1915655" y="118942"/>
                </a:lnTo>
                <a:cubicBezTo>
                  <a:pt x="1920074" y="120768"/>
                  <a:pt x="1925464" y="122462"/>
                  <a:pt x="1931826" y="124023"/>
                </a:cubicBezTo>
                <a:cubicBezTo>
                  <a:pt x="1938189" y="125584"/>
                  <a:pt x="1944845" y="126365"/>
                  <a:pt x="1951797" y="126365"/>
                </a:cubicBezTo>
                <a:cubicBezTo>
                  <a:pt x="1958277" y="126365"/>
                  <a:pt x="1963756" y="125496"/>
                  <a:pt x="1968233" y="123758"/>
                </a:cubicBezTo>
                <a:cubicBezTo>
                  <a:pt x="1972711" y="122020"/>
                  <a:pt x="1976113" y="119516"/>
                  <a:pt x="1978440" y="116247"/>
                </a:cubicBezTo>
                <a:cubicBezTo>
                  <a:pt x="1980767" y="112977"/>
                  <a:pt x="1981930" y="109045"/>
                  <a:pt x="1981930" y="104450"/>
                </a:cubicBezTo>
                <a:cubicBezTo>
                  <a:pt x="1981930" y="100031"/>
                  <a:pt x="1980958" y="96335"/>
                  <a:pt x="1979014" y="93360"/>
                </a:cubicBezTo>
                <a:cubicBezTo>
                  <a:pt x="1977070" y="90385"/>
                  <a:pt x="1973845" y="87675"/>
                  <a:pt x="1969338" y="85230"/>
                </a:cubicBezTo>
                <a:cubicBezTo>
                  <a:pt x="1964831" y="82785"/>
                  <a:pt x="1958690" y="80178"/>
                  <a:pt x="1950914" y="77410"/>
                </a:cubicBezTo>
                <a:cubicBezTo>
                  <a:pt x="1945435" y="75465"/>
                  <a:pt x="1940604" y="73330"/>
                  <a:pt x="1936421" y="71003"/>
                </a:cubicBezTo>
                <a:cubicBezTo>
                  <a:pt x="1932239" y="68676"/>
                  <a:pt x="1928734" y="66040"/>
                  <a:pt x="1925906" y="63094"/>
                </a:cubicBezTo>
                <a:cubicBezTo>
                  <a:pt x="1923078" y="60149"/>
                  <a:pt x="1920942" y="56732"/>
                  <a:pt x="1919499" y="52844"/>
                </a:cubicBezTo>
                <a:cubicBezTo>
                  <a:pt x="1918056" y="48955"/>
                  <a:pt x="1917334" y="44508"/>
                  <a:pt x="1917334" y="39500"/>
                </a:cubicBezTo>
                <a:cubicBezTo>
                  <a:pt x="1917334" y="32608"/>
                  <a:pt x="1919087" y="26702"/>
                  <a:pt x="1922592" y="21783"/>
                </a:cubicBezTo>
                <a:cubicBezTo>
                  <a:pt x="1926097" y="16864"/>
                  <a:pt x="1930957" y="13093"/>
                  <a:pt x="1937173" y="10472"/>
                </a:cubicBezTo>
                <a:cubicBezTo>
                  <a:pt x="1943387" y="7850"/>
                  <a:pt x="1950531" y="6539"/>
                  <a:pt x="1958601" y="6539"/>
                </a:cubicBezTo>
                <a:close/>
                <a:moveTo>
                  <a:pt x="807881" y="6539"/>
                </a:moveTo>
                <a:cubicBezTo>
                  <a:pt x="814420" y="6539"/>
                  <a:pt x="820724" y="7187"/>
                  <a:pt x="826791" y="8483"/>
                </a:cubicBezTo>
                <a:cubicBezTo>
                  <a:pt x="832859" y="9780"/>
                  <a:pt x="838338" y="11635"/>
                  <a:pt x="843228" y="14051"/>
                </a:cubicBezTo>
                <a:lnTo>
                  <a:pt x="837219" y="26775"/>
                </a:lnTo>
                <a:cubicBezTo>
                  <a:pt x="833095" y="24890"/>
                  <a:pt x="828573" y="23255"/>
                  <a:pt x="823654" y="21871"/>
                </a:cubicBezTo>
                <a:cubicBezTo>
                  <a:pt x="818735" y="20487"/>
                  <a:pt x="813419" y="19794"/>
                  <a:pt x="807704" y="19794"/>
                </a:cubicBezTo>
                <a:cubicBezTo>
                  <a:pt x="800576" y="19794"/>
                  <a:pt x="794169" y="21017"/>
                  <a:pt x="788484" y="23462"/>
                </a:cubicBezTo>
                <a:cubicBezTo>
                  <a:pt x="782799" y="25906"/>
                  <a:pt x="777969" y="29441"/>
                  <a:pt x="773992" y="34066"/>
                </a:cubicBezTo>
                <a:cubicBezTo>
                  <a:pt x="770016" y="38690"/>
                  <a:pt x="766967" y="44272"/>
                  <a:pt x="764846" y="50811"/>
                </a:cubicBezTo>
                <a:cubicBezTo>
                  <a:pt x="762726" y="57350"/>
                  <a:pt x="761665" y="64714"/>
                  <a:pt x="761665" y="72903"/>
                </a:cubicBezTo>
                <a:cubicBezTo>
                  <a:pt x="761665" y="83742"/>
                  <a:pt x="763359" y="93154"/>
                  <a:pt x="766746" y="101136"/>
                </a:cubicBezTo>
                <a:cubicBezTo>
                  <a:pt x="770134" y="109118"/>
                  <a:pt x="775200" y="115289"/>
                  <a:pt x="781945" y="119649"/>
                </a:cubicBezTo>
                <a:cubicBezTo>
                  <a:pt x="788691" y="124008"/>
                  <a:pt x="797130" y="126188"/>
                  <a:pt x="807262" y="126188"/>
                </a:cubicBezTo>
                <a:cubicBezTo>
                  <a:pt x="813036" y="126188"/>
                  <a:pt x="818470" y="125702"/>
                  <a:pt x="823566" y="124730"/>
                </a:cubicBezTo>
                <a:cubicBezTo>
                  <a:pt x="828662" y="123758"/>
                  <a:pt x="833625" y="122535"/>
                  <a:pt x="838456" y="121063"/>
                </a:cubicBezTo>
                <a:lnTo>
                  <a:pt x="838456" y="134141"/>
                </a:lnTo>
                <a:cubicBezTo>
                  <a:pt x="833743" y="135908"/>
                  <a:pt x="828794" y="137219"/>
                  <a:pt x="823610" y="138073"/>
                </a:cubicBezTo>
                <a:cubicBezTo>
                  <a:pt x="818426" y="138927"/>
                  <a:pt x="812270" y="139355"/>
                  <a:pt x="805142" y="139355"/>
                </a:cubicBezTo>
                <a:cubicBezTo>
                  <a:pt x="792004" y="139355"/>
                  <a:pt x="781032" y="136630"/>
                  <a:pt x="772225" y="131181"/>
                </a:cubicBezTo>
                <a:cubicBezTo>
                  <a:pt x="763418" y="125731"/>
                  <a:pt x="756820" y="118029"/>
                  <a:pt x="752431" y="108073"/>
                </a:cubicBezTo>
                <a:cubicBezTo>
                  <a:pt x="748042" y="98117"/>
                  <a:pt x="745847" y="86364"/>
                  <a:pt x="745847" y="72814"/>
                </a:cubicBezTo>
                <a:cubicBezTo>
                  <a:pt x="745847" y="63035"/>
                  <a:pt x="747217" y="54095"/>
                  <a:pt x="749957" y="45995"/>
                </a:cubicBezTo>
                <a:cubicBezTo>
                  <a:pt x="752696" y="37895"/>
                  <a:pt x="756702" y="30899"/>
                  <a:pt x="761974" y="25008"/>
                </a:cubicBezTo>
                <a:cubicBezTo>
                  <a:pt x="767247" y="19117"/>
                  <a:pt x="773727" y="14566"/>
                  <a:pt x="781415" y="11355"/>
                </a:cubicBezTo>
                <a:cubicBezTo>
                  <a:pt x="789103" y="8145"/>
                  <a:pt x="797925" y="6539"/>
                  <a:pt x="807881" y="6539"/>
                </a:cubicBezTo>
                <a:close/>
                <a:moveTo>
                  <a:pt x="289075" y="6539"/>
                </a:moveTo>
                <a:cubicBezTo>
                  <a:pt x="297028" y="6539"/>
                  <a:pt x="303892" y="7924"/>
                  <a:pt x="309665" y="10693"/>
                </a:cubicBezTo>
                <a:cubicBezTo>
                  <a:pt x="315438" y="13461"/>
                  <a:pt x="319901" y="17409"/>
                  <a:pt x="323052" y="22534"/>
                </a:cubicBezTo>
                <a:cubicBezTo>
                  <a:pt x="326204" y="27659"/>
                  <a:pt x="327780" y="33756"/>
                  <a:pt x="327780" y="40826"/>
                </a:cubicBezTo>
                <a:cubicBezTo>
                  <a:pt x="327780" y="47659"/>
                  <a:pt x="326425" y="54007"/>
                  <a:pt x="323715" y="59869"/>
                </a:cubicBezTo>
                <a:cubicBezTo>
                  <a:pt x="321005" y="65730"/>
                  <a:pt x="317205" y="71533"/>
                  <a:pt x="312316" y="77277"/>
                </a:cubicBezTo>
                <a:cubicBezTo>
                  <a:pt x="307426" y="83021"/>
                  <a:pt x="301712" y="89103"/>
                  <a:pt x="295173" y="95525"/>
                </a:cubicBezTo>
                <a:lnTo>
                  <a:pt x="267072" y="123537"/>
                </a:lnTo>
                <a:lnTo>
                  <a:pt x="267072" y="124156"/>
                </a:lnTo>
                <a:lnTo>
                  <a:pt x="333082" y="124156"/>
                </a:lnTo>
                <a:lnTo>
                  <a:pt x="333082" y="137587"/>
                </a:lnTo>
                <a:lnTo>
                  <a:pt x="248427" y="137587"/>
                </a:lnTo>
                <a:lnTo>
                  <a:pt x="248427" y="125304"/>
                </a:lnTo>
                <a:lnTo>
                  <a:pt x="282978" y="90223"/>
                </a:lnTo>
                <a:cubicBezTo>
                  <a:pt x="289399" y="83742"/>
                  <a:pt x="294805" y="77969"/>
                  <a:pt x="299193" y="72903"/>
                </a:cubicBezTo>
                <a:cubicBezTo>
                  <a:pt x="303582" y="67836"/>
                  <a:pt x="306925" y="62844"/>
                  <a:pt x="309223" y="57925"/>
                </a:cubicBezTo>
                <a:cubicBezTo>
                  <a:pt x="311521" y="53006"/>
                  <a:pt x="312669" y="47600"/>
                  <a:pt x="312669" y="41709"/>
                </a:cubicBezTo>
                <a:cubicBezTo>
                  <a:pt x="312669" y="34404"/>
                  <a:pt x="310504" y="28823"/>
                  <a:pt x="306174" y="24964"/>
                </a:cubicBezTo>
                <a:cubicBezTo>
                  <a:pt x="301844" y="21105"/>
                  <a:pt x="296145" y="19176"/>
                  <a:pt x="289075" y="19176"/>
                </a:cubicBezTo>
                <a:cubicBezTo>
                  <a:pt x="282890" y="19176"/>
                  <a:pt x="277411" y="20236"/>
                  <a:pt x="272639" y="22357"/>
                </a:cubicBezTo>
                <a:cubicBezTo>
                  <a:pt x="267867" y="24478"/>
                  <a:pt x="262978" y="27482"/>
                  <a:pt x="257970" y="31370"/>
                </a:cubicBezTo>
                <a:lnTo>
                  <a:pt x="250106" y="21473"/>
                </a:lnTo>
                <a:cubicBezTo>
                  <a:pt x="253523" y="18587"/>
                  <a:pt x="257249" y="16024"/>
                  <a:pt x="261284" y="13786"/>
                </a:cubicBezTo>
                <a:cubicBezTo>
                  <a:pt x="265319" y="11547"/>
                  <a:pt x="269649" y="9780"/>
                  <a:pt x="274274" y="8483"/>
                </a:cubicBezTo>
                <a:cubicBezTo>
                  <a:pt x="278898" y="7187"/>
                  <a:pt x="283832" y="6539"/>
                  <a:pt x="289075" y="6539"/>
                </a:cubicBezTo>
                <a:close/>
                <a:moveTo>
                  <a:pt x="198281" y="6539"/>
                </a:moveTo>
                <a:cubicBezTo>
                  <a:pt x="204820" y="6539"/>
                  <a:pt x="211124" y="7187"/>
                  <a:pt x="217191" y="8483"/>
                </a:cubicBezTo>
                <a:cubicBezTo>
                  <a:pt x="223259" y="9780"/>
                  <a:pt x="228738" y="11635"/>
                  <a:pt x="233628" y="14051"/>
                </a:cubicBezTo>
                <a:lnTo>
                  <a:pt x="227619" y="26775"/>
                </a:lnTo>
                <a:cubicBezTo>
                  <a:pt x="223495" y="24890"/>
                  <a:pt x="218974" y="23255"/>
                  <a:pt x="214054" y="21871"/>
                </a:cubicBezTo>
                <a:cubicBezTo>
                  <a:pt x="209135" y="20487"/>
                  <a:pt x="203819" y="19794"/>
                  <a:pt x="198104" y="19794"/>
                </a:cubicBezTo>
                <a:cubicBezTo>
                  <a:pt x="190976" y="19794"/>
                  <a:pt x="184569" y="21017"/>
                  <a:pt x="178884" y="23462"/>
                </a:cubicBezTo>
                <a:cubicBezTo>
                  <a:pt x="173200" y="25906"/>
                  <a:pt x="168369" y="29441"/>
                  <a:pt x="164392" y="34066"/>
                </a:cubicBezTo>
                <a:cubicBezTo>
                  <a:pt x="160416" y="38690"/>
                  <a:pt x="157367" y="44272"/>
                  <a:pt x="155246" y="50811"/>
                </a:cubicBezTo>
                <a:cubicBezTo>
                  <a:pt x="153126" y="57350"/>
                  <a:pt x="152065" y="64714"/>
                  <a:pt x="152065" y="72903"/>
                </a:cubicBezTo>
                <a:cubicBezTo>
                  <a:pt x="152065" y="83742"/>
                  <a:pt x="153759" y="93154"/>
                  <a:pt x="157146" y="101136"/>
                </a:cubicBezTo>
                <a:cubicBezTo>
                  <a:pt x="160534" y="109118"/>
                  <a:pt x="165600" y="115289"/>
                  <a:pt x="172345" y="119649"/>
                </a:cubicBezTo>
                <a:cubicBezTo>
                  <a:pt x="179091" y="124008"/>
                  <a:pt x="187530" y="126188"/>
                  <a:pt x="197662" y="126188"/>
                </a:cubicBezTo>
                <a:cubicBezTo>
                  <a:pt x="203436" y="126188"/>
                  <a:pt x="208870" y="125702"/>
                  <a:pt x="213966" y="124730"/>
                </a:cubicBezTo>
                <a:cubicBezTo>
                  <a:pt x="219062" y="123758"/>
                  <a:pt x="224025" y="122535"/>
                  <a:pt x="228856" y="121063"/>
                </a:cubicBezTo>
                <a:lnTo>
                  <a:pt x="228856" y="134141"/>
                </a:lnTo>
                <a:cubicBezTo>
                  <a:pt x="224143" y="135908"/>
                  <a:pt x="219194" y="137219"/>
                  <a:pt x="214010" y="138073"/>
                </a:cubicBezTo>
                <a:cubicBezTo>
                  <a:pt x="208826" y="138927"/>
                  <a:pt x="202670" y="139355"/>
                  <a:pt x="195542" y="139355"/>
                </a:cubicBezTo>
                <a:cubicBezTo>
                  <a:pt x="182404" y="139355"/>
                  <a:pt x="171432" y="136630"/>
                  <a:pt x="162625" y="131181"/>
                </a:cubicBezTo>
                <a:cubicBezTo>
                  <a:pt x="153818" y="125731"/>
                  <a:pt x="147220" y="118029"/>
                  <a:pt x="142831" y="108073"/>
                </a:cubicBezTo>
                <a:cubicBezTo>
                  <a:pt x="138442" y="98117"/>
                  <a:pt x="136248" y="86364"/>
                  <a:pt x="136248" y="72814"/>
                </a:cubicBezTo>
                <a:cubicBezTo>
                  <a:pt x="136248" y="63035"/>
                  <a:pt x="137617" y="54095"/>
                  <a:pt x="140357" y="45995"/>
                </a:cubicBezTo>
                <a:cubicBezTo>
                  <a:pt x="143096" y="37895"/>
                  <a:pt x="147102" y="30899"/>
                  <a:pt x="152374" y="25008"/>
                </a:cubicBezTo>
                <a:cubicBezTo>
                  <a:pt x="157647" y="19117"/>
                  <a:pt x="164127" y="14566"/>
                  <a:pt x="171815" y="11355"/>
                </a:cubicBezTo>
                <a:cubicBezTo>
                  <a:pt x="179503" y="8145"/>
                  <a:pt x="188325" y="6539"/>
                  <a:pt x="198281" y="6539"/>
                </a:cubicBezTo>
                <a:close/>
                <a:moveTo>
                  <a:pt x="82176" y="6539"/>
                </a:moveTo>
                <a:cubicBezTo>
                  <a:pt x="89069" y="6539"/>
                  <a:pt x="95446" y="7187"/>
                  <a:pt x="101308" y="8483"/>
                </a:cubicBezTo>
                <a:cubicBezTo>
                  <a:pt x="107169" y="9780"/>
                  <a:pt x="112545" y="11517"/>
                  <a:pt x="117435" y="13697"/>
                </a:cubicBezTo>
                <a:lnTo>
                  <a:pt x="112751" y="26599"/>
                </a:lnTo>
                <a:cubicBezTo>
                  <a:pt x="108097" y="24655"/>
                  <a:pt x="103163" y="23035"/>
                  <a:pt x="97950" y="21739"/>
                </a:cubicBezTo>
                <a:cubicBezTo>
                  <a:pt x="92736" y="20442"/>
                  <a:pt x="87361" y="19794"/>
                  <a:pt x="81823" y="19794"/>
                </a:cubicBezTo>
                <a:cubicBezTo>
                  <a:pt x="76285" y="19794"/>
                  <a:pt x="71617" y="20604"/>
                  <a:pt x="67817" y="22225"/>
                </a:cubicBezTo>
                <a:cubicBezTo>
                  <a:pt x="64017" y="23845"/>
                  <a:pt x="61116" y="26127"/>
                  <a:pt x="59113" y="29073"/>
                </a:cubicBezTo>
                <a:cubicBezTo>
                  <a:pt x="57110" y="32018"/>
                  <a:pt x="56108" y="35524"/>
                  <a:pt x="56108" y="39589"/>
                </a:cubicBezTo>
                <a:cubicBezTo>
                  <a:pt x="56108" y="44125"/>
                  <a:pt x="57066" y="47895"/>
                  <a:pt x="58980" y="50900"/>
                </a:cubicBezTo>
                <a:cubicBezTo>
                  <a:pt x="60895" y="53904"/>
                  <a:pt x="63958" y="56570"/>
                  <a:pt x="68170" y="58897"/>
                </a:cubicBezTo>
                <a:cubicBezTo>
                  <a:pt x="72382" y="61224"/>
                  <a:pt x="77964" y="63654"/>
                  <a:pt x="84916" y="66187"/>
                </a:cubicBezTo>
                <a:cubicBezTo>
                  <a:pt x="92515" y="68956"/>
                  <a:pt x="98966" y="71887"/>
                  <a:pt x="104268" y="74979"/>
                </a:cubicBezTo>
                <a:cubicBezTo>
                  <a:pt x="109570" y="78072"/>
                  <a:pt x="113605" y="81843"/>
                  <a:pt x="116374" y="86290"/>
                </a:cubicBezTo>
                <a:cubicBezTo>
                  <a:pt x="119143" y="90738"/>
                  <a:pt x="120528" y="96379"/>
                  <a:pt x="120528" y="103213"/>
                </a:cubicBezTo>
                <a:cubicBezTo>
                  <a:pt x="120528" y="110871"/>
                  <a:pt x="118628" y="117395"/>
                  <a:pt x="114828" y="122786"/>
                </a:cubicBezTo>
                <a:cubicBezTo>
                  <a:pt x="111028" y="128176"/>
                  <a:pt x="105711" y="132285"/>
                  <a:pt x="98878" y="135113"/>
                </a:cubicBezTo>
                <a:cubicBezTo>
                  <a:pt x="92044" y="137941"/>
                  <a:pt x="84003" y="139355"/>
                  <a:pt x="74754" y="139355"/>
                </a:cubicBezTo>
                <a:cubicBezTo>
                  <a:pt x="69864" y="139355"/>
                  <a:pt x="65239" y="139119"/>
                  <a:pt x="60880" y="138648"/>
                </a:cubicBezTo>
                <a:cubicBezTo>
                  <a:pt x="56521" y="138176"/>
                  <a:pt x="52515" y="137499"/>
                  <a:pt x="48862" y="136615"/>
                </a:cubicBezTo>
                <a:cubicBezTo>
                  <a:pt x="45210" y="135732"/>
                  <a:pt x="41999" y="134642"/>
                  <a:pt x="39230" y="133346"/>
                </a:cubicBezTo>
                <a:lnTo>
                  <a:pt x="39230" y="118942"/>
                </a:lnTo>
                <a:cubicBezTo>
                  <a:pt x="43649" y="120768"/>
                  <a:pt x="49039" y="122462"/>
                  <a:pt x="55401" y="124023"/>
                </a:cubicBezTo>
                <a:cubicBezTo>
                  <a:pt x="61764" y="125584"/>
                  <a:pt x="68421" y="126365"/>
                  <a:pt x="75372" y="126365"/>
                </a:cubicBezTo>
                <a:cubicBezTo>
                  <a:pt x="81852" y="126365"/>
                  <a:pt x="87331" y="125496"/>
                  <a:pt x="91808" y="123758"/>
                </a:cubicBezTo>
                <a:cubicBezTo>
                  <a:pt x="96286" y="122020"/>
                  <a:pt x="99688" y="119516"/>
                  <a:pt x="102015" y="116247"/>
                </a:cubicBezTo>
                <a:cubicBezTo>
                  <a:pt x="104342" y="112977"/>
                  <a:pt x="105505" y="109045"/>
                  <a:pt x="105505" y="104450"/>
                </a:cubicBezTo>
                <a:cubicBezTo>
                  <a:pt x="105505" y="100031"/>
                  <a:pt x="104533" y="96335"/>
                  <a:pt x="102589" y="93360"/>
                </a:cubicBezTo>
                <a:cubicBezTo>
                  <a:pt x="100645" y="90385"/>
                  <a:pt x="97420" y="87675"/>
                  <a:pt x="92913" y="85230"/>
                </a:cubicBezTo>
                <a:cubicBezTo>
                  <a:pt x="88406" y="82785"/>
                  <a:pt x="82265" y="80178"/>
                  <a:pt x="74488" y="77410"/>
                </a:cubicBezTo>
                <a:cubicBezTo>
                  <a:pt x="69010" y="75465"/>
                  <a:pt x="64179" y="73330"/>
                  <a:pt x="59996" y="71003"/>
                </a:cubicBezTo>
                <a:cubicBezTo>
                  <a:pt x="55814" y="68676"/>
                  <a:pt x="52308" y="66040"/>
                  <a:pt x="49481" y="63094"/>
                </a:cubicBezTo>
                <a:cubicBezTo>
                  <a:pt x="46653" y="60149"/>
                  <a:pt x="44517" y="56732"/>
                  <a:pt x="43074" y="52844"/>
                </a:cubicBezTo>
                <a:cubicBezTo>
                  <a:pt x="41631" y="48955"/>
                  <a:pt x="40909" y="44508"/>
                  <a:pt x="40909" y="39500"/>
                </a:cubicBezTo>
                <a:cubicBezTo>
                  <a:pt x="40909" y="32608"/>
                  <a:pt x="42662" y="26702"/>
                  <a:pt x="46167" y="21783"/>
                </a:cubicBezTo>
                <a:cubicBezTo>
                  <a:pt x="49672" y="16864"/>
                  <a:pt x="54532" y="13093"/>
                  <a:pt x="60747" y="10472"/>
                </a:cubicBezTo>
                <a:cubicBezTo>
                  <a:pt x="66963" y="7850"/>
                  <a:pt x="74106" y="6539"/>
                  <a:pt x="82176" y="6539"/>
                </a:cubicBezTo>
                <a:close/>
                <a:moveTo>
                  <a:pt x="1635528" y="0"/>
                </a:moveTo>
                <a:lnTo>
                  <a:pt x="1647811" y="0"/>
                </a:lnTo>
                <a:lnTo>
                  <a:pt x="1647811" y="181417"/>
                </a:lnTo>
                <a:lnTo>
                  <a:pt x="1635528" y="181417"/>
                </a:lnTo>
                <a:close/>
              </a:path>
            </a:pathLst>
          </a:custGeom>
          <a:solidFill xmlns:a="http://schemas.openxmlformats.org/drawingml/2006/main">
            <a:schemeClr val="tx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sz="1800"/>
          </a:p>
        </p:txBody>
      </p:sp>
      <p:pic>
        <p:nvPicPr>
          <p:cNvPr id="8" name="SC 2025 logo">
            <a:extLst xmlns:a="http://schemas.openxmlformats.org/drawingml/2006/main">
              <a:ext uri="{FF2B5EF4-FFF2-40B4-BE49-F238E27FC236}">
                <a16:creationId xmlns:a16="http://schemas.microsoft.com/office/drawing/2014/main" id="{87F99C44-8B3D-47B8-BC26-678595C82B28}"/>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4b252177e2674563"/>
          <a:srcRect xmlns:a="http://schemas.openxmlformats.org/drawingml/2006/main" l="1298" t="12156" r="20" b="12156"/>
          <a:stretch xmlns:a="http://schemas.openxmlformats.org/drawingml/2006/main">
            <a:fillRect l="0" t="0" r="0" b="0"/>
          </a:stretch>
        </p:blipFill>
        <p:spPr>
          <a:xfrm xmlns:a="http://schemas.openxmlformats.org/drawingml/2006/main" rot="0" flipH="0" flipV="0">
            <a:off x="512500" y="270118"/>
            <a:ext cx="3095803" cy="519957"/>
          </a:xfrm>
          <a:prstGeom xmlns:a="http://schemas.openxmlformats.org/drawingml/2006/main" prst="rect">
            <a:avLst/>
          </a:prstGeom>
        </p:spPr>
      </p:pic>
    </p:spTree>
  </p:cSld>
</p:sldLayout>
</file>

<file path=ppt/slideLayouts/slideLayout4.xml><?xml version="1.0" encoding="utf-8"?>
<p:sldLayout xmlns:p="http://schemas.openxmlformats.org/presentationml/2006/main" userDrawn="1">
  <p:cSld name="Key Takeaways">
    <p:spTree>
      <p:nvGrpSpPr>
        <p:cNvPr id="1" name=""/>
        <p:cNvGrpSpPr/>
        <p:nvPr/>
      </p:nvGrpSpPr>
      <p:grpSpPr>
        <a:xfrm xmlns:a="http://schemas.openxmlformats.org/drawingml/2006/main"/>
      </p:grpSpPr>
      <p:sp>
        <p:nvSpPr>
          <p:cNvPr id="4" name="Content Placeholder 3">
            <a:extLst xmlns:a="http://schemas.openxmlformats.org/drawingml/2006/main">
              <a:ext uri="{FF2B5EF4-FFF2-40B4-BE49-F238E27FC236}">
                <a16:creationId xmlns:a16="http://schemas.microsoft.com/office/drawing/2014/main" id="{89914116-753C-5821-9568-2003BC6C73B1}"/>
              </a:ext>
            </a:extLst>
          </p:cNvPr>
          <p:cNvSpPr>
            <a:spLocks xmlns:a="http://schemas.openxmlformats.org/drawingml/2006/main" noGrp="1"/>
          </p:cNvSpPr>
          <p:nvPr>
            <p:ph idx="11"/>
          </p:nvPr>
        </p:nvSpPr>
        <p:spPr>
          <a:xfrm xmlns:a="http://schemas.openxmlformats.org/drawingml/2006/main">
            <a:off x="597316" y="2429223"/>
            <a:ext cx="11022322" cy="3747643"/>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p:txBody>
      </p:sp>
      <p:sp>
        <p:nvSpPr>
          <p:cNvPr id="2" name="Key takeaways">
            <a:extLst xmlns:a="http://schemas.openxmlformats.org/drawingml/2006/main">
              <a:ext uri="{FF2B5EF4-FFF2-40B4-BE49-F238E27FC236}">
                <a16:creationId xmlns:a16="http://schemas.microsoft.com/office/drawing/2014/main" id="{6E2286D2-B5B8-3D6F-AAB0-B1E909CBAA15}"/>
              </a:ext>
            </a:extLst>
          </p:cNvPr>
          <p:cNvSpPr>
            <a:spLocks xmlns:a="http://schemas.openxmlformats.org/drawingml/2006/main" noGrp="1"/>
          </p:cNvSpPr>
          <p:nvPr/>
        </p:nvSpPr>
        <p:spPr>
          <a:xfrm xmlns:a="http://schemas.openxmlformats.org/drawingml/2006/main">
            <a:off x="570062" y="933450"/>
            <a:ext cx="11051877" cy="1352550"/>
          </a:xfrm>
          <a:prstGeom xmlns:a="http://schemas.openxmlformats.org/drawingml/2006/main" prst="rect">
            <a:avLst/>
          </a:prstGeom>
        </p:spPr>
        <p:txBody>
          <a:bodyPr xmlns:a="http://schemas.openxmlformats.org/drawingml/2006/main" vert="horz" lIns="0" tIns="0" rIns="0" bIns="0" anchor="ctr">
            <a:noAutofit/>
          </a:bodyPr>
          <a:lstStyle xmlns:a="http://schemas.openxmlformats.org/drawingml/2006/main">
            <a:lvl1pPr algn="l" defTabSz="457109">
              <a:lnSpc>
                <a:spcPct val="90000"/>
              </a:lnSpc>
              <a:spcBef>
                <a:spcPct val="0"/>
              </a:spcBef>
              <a:buNone/>
              <a:defRPr sz="4000" kern="1200">
                <a:solidFill>
                  <a:schemeClr val="accent1"/>
                </a:solidFill>
                <a:latin typeface="+mj-lt"/>
                <a:ea typeface="+mj-lt"/>
                <a:cs typeface="+mj-lt"/>
              </a:defRPr>
            </a:lvl1pPr>
          </a:lstStyle>
          <a:p xmlns:a="http://schemas.openxmlformats.org/drawingml/2006/main">
            <a:pPr lvl="0">
              <a:buNone/>
            </a:pPr>
            <a:r>
              <a:rPr sz="4000"/>
              <a:t>Key Takeaways</a:t>
            </a:r>
          </a:p>
        </p:txBody>
      </p:sp>
      <p:sp>
        <p:nvSpPr>
          <p:cNvPr id="5" name="Text Placeholder 4">
            <a:extLst xmlns:a="http://schemas.openxmlformats.org/drawingml/2006/main">
              <a:ext uri="{FF2B5EF4-FFF2-40B4-BE49-F238E27FC236}">
                <a16:creationId xmlns:a16="http://schemas.microsoft.com/office/drawing/2014/main" id="{8C222462-45AA-18C1-032B-CD6E294C9D46}"/>
              </a:ext>
            </a:extLst>
          </p:cNvPr>
          <p:cNvSpPr>
            <a:spLocks xmlns:a="http://schemas.openxmlformats.org/drawingml/2006/main" noGrp="1"/>
          </p:cNvSpPr>
          <p:nvPr>
            <p:ph type="body" idx="12" hasCustomPrompt="1"/>
          </p:nvPr>
        </p:nvSpPr>
        <p:spPr>
          <a:xfrm xmlns:a="http://schemas.openxmlformats.org/drawingml/2006/main">
            <a:off x="6216681" y="1"/>
            <a:ext cx="5975319" cy="1427955"/>
          </a:xfrm>
          <a:prstGeom xmlns:a="http://schemas.openxmlformats.org/drawingml/2006/main" prst="rect">
            <a:avLst/>
          </a:prstGeom>
          <a:noFill xmlns:a="http://schemas.openxmlformats.org/drawingml/2006/main"/>
        </p:spPr>
        <p:txBody>
          <a:bodyPr xmlns:a="http://schemas.openxmlformats.org/drawingml/2006/main" lIns="91440" tIns="91440" rIns="91440" bIns="91440">
            <a:spAutoFit/>
          </a:bodyPr>
          <a:lstStyle xmlns:a="http://schemas.openxmlformats.org/drawingml/2006/main">
            <a:lvl1pPr>
              <a:buNone/>
              <a:defRPr sz="2000" b="1">
                <a:solidFill>
                  <a:schemeClr val="accent5"/>
                </a:solidFill>
              </a:defRPr>
            </a:lvl1pPr>
          </a:lstStyle>
          <a:p xmlns:a="http://schemas.openxmlformats.org/drawingml/2006/main">
            <a:pPr lvl="0">
              <a:buNone/>
            </a:pPr>
            <a:r>
              <a:t>With SmartArt, be sure to use white text with dark green (Accent 1) and indigo (Accent 3) backgrounds and black text with other colors. </a:t>
            </a:r>
          </a:p>
        </p:txBody>
      </p:sp>
    </p:spTree>
  </p:cSld>
</p:sldLayout>
</file>

<file path=ppt/slideLayouts/slideLayout5.xml><?xml version="1.0" encoding="utf-8"?>
<p:sldLayout xmlns:p="http://schemas.openxmlformats.org/presentationml/2006/main" preserve="1" userDrawn="1">
  <p:cSld name="Poll questions">
    <p:bg>
      <p:bgPr>
        <a:solidFill xmlns:a="http://schemas.openxmlformats.org/drawingml/2006/main">
          <a:schemeClr val="accent4">
            <a:lumMod val="60000"/>
            <a:lumOff val="40000"/>
          </a:schemeClr>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24E42A2-F89D-6CCB-FF71-DEB921270844}"/>
              </a:ext>
            </a:extLst>
          </p:cNvPr>
          <p:cNvSpPr>
            <a:spLocks xmlns:a="http://schemas.openxmlformats.org/drawingml/2006/main" noGrp="1"/>
          </p:cNvSpPr>
          <p:nvPr>
            <p:ph type="title" idx="0" hasCustomPrompt="1"/>
          </p:nvPr>
        </p:nvSpPr>
        <p:spPr>
          <a:xfrm xmlns:a="http://schemas.openxmlformats.org/drawingml/2006/main">
            <a:off x="2659223" y="960437"/>
            <a:ext cx="8691401" cy="1325563"/>
          </a:xfrm>
          <a:prstGeom xmlns:a="http://schemas.openxmlformats.org/drawingml/2006/main" prst="rect">
            <a:avLst/>
          </a:prstGeom>
        </p:spPr>
        <p:txBody>
          <a:bodyPr xmlns:a="http://schemas.openxmlformats.org/drawingml/2006/main" anchor="ctr"/>
          <a:lstStyle xmlns:a="http://schemas.openxmlformats.org/drawingml/2006/main">
            <a:lvl1pPr>
              <a:buNone/>
              <a:defRPr sz="4000" b="0">
                <a:solidFill>
                  <a:srgbClr val="458134"/>
                </a:solidFill>
                <a:latin typeface="Arial"/>
                <a:ea typeface="Arial"/>
                <a:cs typeface="Arial"/>
              </a:defRPr>
            </a:lvl1pPr>
          </a:lstStyle>
          <a:p xmlns:a="http://schemas.openxmlformats.org/drawingml/2006/main">
            <a:r>
              <a:t>Type question here</a:t>
            </a:r>
          </a:p>
        </p:txBody>
      </p:sp>
      <p:sp>
        <p:nvSpPr>
          <p:cNvPr id="5" name="Text Placeholder 4">
            <a:extLst xmlns:a="http://schemas.openxmlformats.org/drawingml/2006/main">
              <a:ext uri="{FF2B5EF4-FFF2-40B4-BE49-F238E27FC236}">
                <a16:creationId xmlns:a16="http://schemas.microsoft.com/office/drawing/2014/main" id="{10ABD383-D81E-E500-5CF7-3F7CD9C5C7EA}"/>
              </a:ext>
            </a:extLst>
          </p:cNvPr>
          <p:cNvSpPr>
            <a:spLocks xmlns:a="http://schemas.openxmlformats.org/drawingml/2006/main" noGrp="1"/>
          </p:cNvSpPr>
          <p:nvPr>
            <p:ph type="body" idx="10" hasCustomPrompt="1"/>
          </p:nvPr>
        </p:nvSpPr>
        <p:spPr>
          <a:xfrm xmlns:a="http://schemas.openxmlformats.org/drawingml/2006/main">
            <a:off x="569913" y="2416175"/>
            <a:ext cx="11048999" cy="3760788"/>
          </a:xfrm>
        </p:spPr>
        <p:txBody>
          <a:bodyPr xmlns:a="http://schemas.openxmlformats.org/drawingml/2006/main"/>
          <a:lstStyle xmlns:a="http://schemas.openxmlformats.org/drawingml/2006/main">
            <a:lvl1pPr marL="457200" indent="-457200">
              <a:spcBef>
                <a:spcPts val="0"/>
              </a:spcBef>
              <a:spcAft>
                <a:spcPts val="500"/>
              </a:spcAft>
              <a:buFont typeface="+mj-lt"/>
              <a:buAutoNum type="alphaUcPeriod"/>
              <a:defRPr/>
            </a:lvl1pPr>
          </a:lstStyle>
          <a:p xmlns:a="http://schemas.openxmlformats.org/drawingml/2006/main">
            <a:pPr lvl="0">
              <a:buNone/>
            </a:pPr>
            <a:r>
              <a:t>Type answer choices here</a:t>
            </a:r>
          </a:p>
        </p:txBody>
      </p:sp>
      <p:sp>
        <p:nvSpPr>
          <p:cNvPr id="3" name="Footer Placeholder 5">
            <a:extLst xmlns:a="http://schemas.openxmlformats.org/drawingml/2006/main">
              <a:ext uri="{FF2B5EF4-FFF2-40B4-BE49-F238E27FC236}">
                <a16:creationId xmlns:a16="http://schemas.microsoft.com/office/drawing/2014/main" id="{C40DA2AA-215B-EEBB-68F3-087066605303}"/>
              </a:ext>
            </a:extLst>
          </p:cNvPr>
          <p:cNvSpPr>
            <a:spLocks xmlns:a="http://schemas.openxmlformats.org/drawingml/2006/main" noGrp="1"/>
          </p:cNvSpPr>
          <p:nvPr>
            <p:ph type="ftr" idx="11"/>
          </p:nvPr>
        </p:nvSpPr>
        <p:spPr>
          <a:xfrm xmlns:a="http://schemas.openxmlformats.org/drawingml/2006/main">
            <a:off x="569913" y="6432610"/>
            <a:ext cx="6654674" cy="169277"/>
          </a:xfrm>
        </p:spPr>
        <p:txBody>
          <a:bodyPr xmlns:a="http://schemas.openxmlformats.org/drawingml/2006/main">
            <a:noAutofit/>
          </a:bodyPr>
          <a:lstStyle xmlns:a="http://schemas.openxmlformats.org/drawingml/2006/main"/>
          <a:p xmlns:a="http://schemas.openxmlformats.org/drawingml/2006/main">
            <a:pPr algn="l">
              <a:buNone/>
            </a:pPr>
            <a:r>
              <a:t>Footnotes and Sources ⭐⭐⭐ DELETE IF NOT NEEDED ⭐⭐⭐</a:t>
            </a:r>
          </a:p>
        </p:txBody>
      </p:sp>
      <p:sp>
        <p:nvSpPr>
          <p:cNvPr id="4" name="TextBox 3">
            <a:extLst xmlns:a="http://schemas.openxmlformats.org/drawingml/2006/main">
              <a:ext uri="{FF2B5EF4-FFF2-40B4-BE49-F238E27FC236}">
                <a16:creationId xmlns:a16="http://schemas.microsoft.com/office/drawing/2014/main" id="{5ED426F0-DE5E-0AD5-23AC-304204CF75AA}"/>
              </a:ext>
            </a:extLst>
          </p:cNvPr>
          <p:cNvSpPr>
            <a:spLocks xmlns:a="http://schemas.openxmlformats.org/drawingml/2006/main" noGrp="1"/>
          </p:cNvSpPr>
          <p:nvPr/>
        </p:nvSpPr>
        <p:spPr>
          <a:xfrm xmlns:a="http://schemas.openxmlformats.org/drawingml/2006/main">
            <a:off x="838200" y="1284664"/>
            <a:ext cx="1588971" cy="6771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buNone/>
            </a:pPr>
            <a:r>
              <a:rPr sz="4400" b="1">
                <a:solidFill>
                  <a:schemeClr val="accent6"/>
                </a:solidFill>
              </a:rPr>
              <a:t>POLL</a:t>
            </a: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34e7267fcf41bd" /><Relationship Type="http://schemas.openxmlformats.org/officeDocument/2006/relationships/slideLayout" Target="/ppt/slideLayouts/slideLayout1.xml" Id="Ra02deffaeee74e72" /><Relationship Type="http://schemas.openxmlformats.org/officeDocument/2006/relationships/slideLayout" Target="/ppt/slideLayouts/slideLayout2.xml" Id="R4016ea319fe44fa2" /><Relationship Type="http://schemas.openxmlformats.org/officeDocument/2006/relationships/slideLayout" Target="/ppt/slideLayouts/slideLayout3.xml" Id="R88cc8c3f266a499d" /><Relationship Type="http://schemas.openxmlformats.org/officeDocument/2006/relationships/slideLayout" Target="/ppt/slideLayouts/slideLayout4.xml" Id="R1527d4c6eb5147a3" /></Relationships>
</file>

<file path=ppt/slideMasters/_rels/slideMaster2.xml.rels>&#65279;<?xml version="1.0" encoding="utf-8"?><Relationships xmlns="http://schemas.openxmlformats.org/package/2006/relationships"><Relationship Type="http://schemas.openxmlformats.org/officeDocument/2006/relationships/image" Target="/ppt/media/image.png" Id="Rae1aaaf5a97849fe" /><Relationship Type="http://schemas.openxmlformats.org/officeDocument/2006/relationships/image" Target="/ppt/media/image2.png" Id="R95ab774cf4364842" /><Relationship Type="http://schemas.openxmlformats.org/officeDocument/2006/relationships/image" Target="/ppt/media/image.svg" Id="R6c70418a2e254984" /><Relationship Type="http://schemas.openxmlformats.org/officeDocument/2006/relationships/image" Target="/ppt/media/image3.png" Id="R0d14b0a415324711" /><Relationship Type="http://schemas.openxmlformats.org/officeDocument/2006/relationships/theme" Target="/ppt/slideMasters/theme/theme3.xml" Id="R9ecba2c4be05414d" /><Relationship Type="http://schemas.openxmlformats.org/officeDocument/2006/relationships/slideLayout" Target="/ppt/slideLayouts/slideLayout5.xml" Id="Ra4880da45c1247bf" /></Relationships>
</file>

<file path=ppt/slideMasters/slideMaster1.xml><?xml version="1.0" encoding="utf-8"?>
<p:sldMaster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699EAA80-0511-4A37-AA2F-527397431D0D}"/>
              </a:ext>
            </a:extLst>
          </p:cNvPr>
          <p:cNvSpPr>
            <a:spLocks xmlns:a="http://schemas.openxmlformats.org/drawingml/2006/main" noGrp="1"/>
          </p:cNvSpPr>
          <p:nvPr>
            <p:ph type="title" idx="0"/>
          </p:nvPr>
        </p:nvSpPr>
        <p:spPr>
          <a:xfrm xmlns:a="http://schemas.openxmlformats.org/drawingml/2006/main">
            <a:off x="812800" y="812800"/>
            <a:ext cx="5069284" cy="4469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15000"/>
              </a:lnSpc>
              <a:buNone/>
              <a:defRPr sz="3200">
                <a:solidFill>
                  <a:srgbClr val="448334"/>
                </a:solidFill>
                <a:latin typeface="Arial"/>
                <a:ea typeface="Arial"/>
                <a:cs typeface="Arial"/>
              </a:defRPr>
            </a:lvl1pPr>
          </a:lstStyle>
          <a:p xmlns:a="http://schemas.openxmlformats.org/drawingml/2006/main">
            <a:pPr marL="0" indent="0" algn="l">
              <a:lnSpc>
                <a:spcPct val="115000"/>
              </a:lnSpc>
              <a:buNone/>
            </a:pPr>
            <a:endParaRPr sz="3200"/>
          </a:p>
        </p:txBody>
      </p:sp>
      <p:sp>
        <p:nvSpPr>
          <p:cNvPr id="3" name="Text Placeholder 2">
            <a:extLst xmlns:a="http://schemas.openxmlformats.org/drawingml/2006/main">
              <a:ext uri="{FF2B5EF4-FFF2-40B4-BE49-F238E27FC236}">
                <a16:creationId xmlns:a16="http://schemas.microsoft.com/office/drawing/2014/main" id="{9A2AF639-526F-4D75-B3EF-A2D9FEAF1D01}"/>
              </a:ext>
            </a:extLst>
          </p:cNvPr>
          <p:cNvSpPr>
            <a:spLocks xmlns:a="http://schemas.openxmlformats.org/drawingml/2006/main" noGrp="1"/>
          </p:cNvSpPr>
          <p:nvPr>
            <p:ph type="body" idx="101"/>
          </p:nvPr>
        </p:nvSpPr>
        <p:spPr>
          <a:xfrm xmlns:a="http://schemas.openxmlformats.org/drawingml/2006/main">
            <a:off x="812800" y="1564580"/>
            <a:ext cx="10566400" cy="44806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lvl1pPr marL="0" indent="0" algn="l">
              <a:lnSpc>
                <a:spcPct val="140000"/>
              </a:lnSpc>
              <a:buNone/>
              <a:defRPr sz="1600">
                <a:solidFill>
                  <a:srgbClr val="448334"/>
                </a:solidFill>
                <a:latin typeface="Arial"/>
                <a:ea typeface="Arial"/>
                <a:cs typeface="Arial"/>
              </a:defRPr>
            </a:lvl1pPr>
          </a:lstStyle>
          <a:p xmlns:a="http://schemas.openxmlformats.org/drawingml/2006/main">
            <a:pPr marL="0" indent="0" algn="l">
              <a:lnSpc>
                <a:spcPct val="140000"/>
              </a:lnSpc>
              <a:buNone/>
            </a:pPr>
            <a:endParaRPr sz="16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2deffaeee74e72"/>
    <p:sldLayoutId xmlns:r="http://schemas.openxmlformats.org/officeDocument/2006/relationships" id="2147483650" r:id="R4016ea319fe44fa2"/>
    <p:sldLayoutId xmlns:r="http://schemas.openxmlformats.org/officeDocument/2006/relationships" id="2147483651" r:id="R88cc8c3f266a499d"/>
    <p:sldLayoutId xmlns:r="http://schemas.openxmlformats.org/officeDocument/2006/relationships" id="2147483652" r:id="R1527d4c6eb5147a3"/>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slideMaster2.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17" name="Title Placeholder 16">
            <a:extLst xmlns:a="http://schemas.openxmlformats.org/drawingml/2006/main">
              <a:ext uri="{FF2B5EF4-FFF2-40B4-BE49-F238E27FC236}">
                <a16:creationId xmlns:a16="http://schemas.microsoft.com/office/drawing/2014/main" id="{CC71D888-446C-2E19-550A-6547C8ED2039}"/>
              </a:ext>
            </a:extLst>
          </p:cNvPr>
          <p:cNvSpPr>
            <a:spLocks xmlns:a="http://schemas.openxmlformats.org/drawingml/2006/main" noGrp="1"/>
          </p:cNvSpPr>
          <p:nvPr>
            <p:ph type="title" idx="0"/>
          </p:nvPr>
        </p:nvSpPr>
        <p:spPr>
          <a:xfrm xmlns:a="http://schemas.openxmlformats.org/drawingml/2006/main">
            <a:off x="597160" y="951253"/>
            <a:ext cx="11019452" cy="1325563"/>
          </a:xfrm>
          <a:prstGeom xmlns:a="http://schemas.openxmlformats.org/drawingml/2006/main" prst="rect">
            <a:avLst/>
          </a:prstGeom>
        </p:spPr>
        <p:txBody>
          <a:bodyPr xmlns:a="http://schemas.openxmlformats.org/drawingml/2006/main" vert="horz" lIns="0" tIns="0" rIns="0" bIns="0" anchor="ctr">
            <a:noAutofit/>
          </a:bodyPr>
          <a:lstStyle xmlns:a="http://schemas.openxmlformats.org/drawingml/2006/main"/>
          <a:p xmlns:a="http://schemas.openxmlformats.org/drawingml/2006/main">
            <a:r>
              <a:t>Title Case (Capitalize Important Words)</a:t>
            </a:r>
          </a:p>
        </p:txBody>
      </p:sp>
      <p:sp>
        <p:nvSpPr>
          <p:cNvPr id="18" name="Text Placeholder 17">
            <a:extLst xmlns:a="http://schemas.openxmlformats.org/drawingml/2006/main">
              <a:ext uri="{FF2B5EF4-FFF2-40B4-BE49-F238E27FC236}">
                <a16:creationId xmlns:a16="http://schemas.microsoft.com/office/drawing/2014/main" id="{BB221828-6B4C-7E4C-D055-C9B0D49B05EC}"/>
              </a:ext>
            </a:extLst>
          </p:cNvPr>
          <p:cNvSpPr>
            <a:spLocks xmlns:a="http://schemas.openxmlformats.org/drawingml/2006/main" noGrp="1"/>
          </p:cNvSpPr>
          <p:nvPr>
            <p:ph type="body" idx="1"/>
          </p:nvPr>
        </p:nvSpPr>
        <p:spPr>
          <a:xfrm xmlns:a="http://schemas.openxmlformats.org/drawingml/2006/main">
            <a:off x="597160" y="2429222"/>
            <a:ext cx="11019452" cy="3747643"/>
          </a:xfrm>
          <a:prstGeom xmlns:a="http://schemas.openxmlformats.org/drawingml/2006/main" prst="rect">
            <a:avLst/>
          </a:prstGeom>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p:txBody>
      </p:sp>
      <p:sp>
        <p:nvSpPr>
          <p:cNvPr id="3" name="Footer Placeholder 2">
            <a:extLst xmlns:a="http://schemas.openxmlformats.org/drawingml/2006/main">
              <a:ext uri="{FF2B5EF4-FFF2-40B4-BE49-F238E27FC236}">
                <a16:creationId xmlns:a16="http://schemas.microsoft.com/office/drawing/2014/main" id="{C83E7B77-CE86-E32A-335B-7C7E850D2821}"/>
              </a:ext>
            </a:extLst>
          </p:cNvPr>
          <p:cNvSpPr>
            <a:spLocks xmlns:a="http://schemas.openxmlformats.org/drawingml/2006/main" noGrp="1"/>
          </p:cNvSpPr>
          <p:nvPr>
            <p:ph type="ftr" idx="3"/>
          </p:nvPr>
        </p:nvSpPr>
        <p:spPr>
          <a:xfrm xmlns:a="http://schemas.openxmlformats.org/drawingml/2006/main">
            <a:off x="569913" y="6432610"/>
            <a:ext cx="6654674" cy="169277"/>
          </a:xfrm>
          <a:prstGeom xmlns:a="http://schemas.openxmlformats.org/drawingml/2006/main" prst="rect">
            <a:avLst/>
          </a:prstGeom>
        </p:spPr>
        <p:txBody>
          <a:bodyPr xmlns:a="http://schemas.openxmlformats.org/drawingml/2006/main" vert="horz" wrap="square" lIns="0" tIns="0" rIns="0" bIns="0" anchor="b">
            <a:spAutoFit/>
          </a:bodyPr>
          <a:lstStyle xmlns:a="http://schemas.openxmlformats.org/drawingml/2006/main">
            <a:lvl1pPr algn="ctr">
              <a:buNone/>
              <a:defRPr sz="1100">
                <a:solidFill>
                  <a:schemeClr val="tx1"/>
                </a:solidFill>
              </a:defRPr>
            </a:lvl1pPr>
          </a:lstStyle>
          <a:p xmlns:a="http://schemas.openxmlformats.org/drawingml/2006/main">
            <a:pPr algn="l">
              <a:buNone/>
            </a:pPr>
            <a:r>
              <a:t>Footnotes and Sources ⭐⭐⭐ DELETE IF NOT NEEDED ⭐⭐⭐</a:t>
            </a:r>
          </a:p>
        </p:txBody>
      </p:sp>
      <p:pic>
        <p:nvPicPr>
          <p:cNvPr id="21" name="Pretty parallelograms">
            <a:extLst xmlns:a="http://schemas.openxmlformats.org/drawingml/2006/main">
              <a:ext uri="{FF2B5EF4-FFF2-40B4-BE49-F238E27FC236}">
                <a16:creationId xmlns:a16="http://schemas.microsoft.com/office/drawing/2014/main" id="{682B56EC-B7F9-4F5A-9769-423B4BB74AE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ae1aaaf5a97849fe"/>
          <a:srcRect xmlns:a="http://schemas.openxmlformats.org/drawingml/2006/main" l="-2359" t="-4906" r="44934" b="36063"/>
          <a:stretch xmlns:a="http://schemas.openxmlformats.org/drawingml/2006/main"/>
        </p:blipFill>
        <p:spPr>
          <a:xfrm xmlns:a="http://schemas.openxmlformats.org/drawingml/2006/main">
            <a:off x="9852660" y="5031301"/>
            <a:ext cx="2336165" cy="1826699"/>
          </a:xfrm>
          <a:prstGeom xmlns:a="http://schemas.openxmlformats.org/drawingml/2006/main" prst="rect">
            <a:avLst/>
          </a:prstGeom>
        </p:spPr>
      </p:pic>
      <p:pic>
        <p:nvPicPr>
          <p:cNvPr id="6" name="KEEP FOR REFERENCE" hidden="1">
            <a:extLst xmlns:a="http://schemas.openxmlformats.org/drawingml/2006/main">
              <a:ext uri="{FF2B5EF4-FFF2-40B4-BE49-F238E27FC236}">
                <a16:creationId xmlns:a16="http://schemas.microsoft.com/office/drawing/2014/main" id="{04FC07FB-6091-4990-B47C-67E76B864022}"/>
              </a:ext>
            </a:extLst>
          </p:cNvPr>
          <p:cNvPicPr>
            <a:picLocks xmlns:a="http://schemas.openxmlformats.org/drawingml/2006/main" noChangeAspect="1"/>
          </p:cNvPicPr>
          <p:nvPr/>
        </p:nvPicPr>
        <p:blipFill>
          <a:blip xmlns:r="http://schemas.openxmlformats.org/officeDocument/2006/relationships" xmlns:a="http://schemas.openxmlformats.org/drawingml/2006/main" r:embed="R95ab774cf4364842">
            <a:extLst>
              <a:ext uri="{96DAC541-7B7A-43D3-8B79-37D633B846F1}">
                <asvg:svgBlip xmlns:asvg="http://schemas.microsoft.com/office/drawing/2016/SVG/main" r:embed="R6c70418a2e254984"/>
              </a:ext>
            </a:extLst>
          </a:blip>
          <a:stretch xmlns:a="http://schemas.openxmlformats.org/drawingml/2006/main">
            <a:fillRect l="0" t="0" r="0" b="0"/>
          </a:stretch>
        </p:blipFill>
        <p:spPr>
          <a:xfrm xmlns:a="http://schemas.openxmlformats.org/drawingml/2006/main">
            <a:off x="9948568" y="5161401"/>
            <a:ext cx="4068737" cy="2651723"/>
          </a:xfrm>
          <a:prstGeom xmlns:a="http://schemas.openxmlformats.org/drawingml/2006/main" prst="rect">
            <a:avLst/>
          </a:prstGeom>
        </p:spPr>
      </p:pic>
      <p:sp>
        <p:nvSpPr>
          <p:cNvPr id="9" name="URL and hashtag">
            <a:extLst xmlns:a="http://schemas.openxmlformats.org/drawingml/2006/main">
              <a:ext uri="{FF2B5EF4-FFF2-40B4-BE49-F238E27FC236}">
                <a16:creationId xmlns:a16="http://schemas.microsoft.com/office/drawing/2014/main" id="{74CD90AD-2882-2840-EB3E-EFD2694D1FF0}"/>
              </a:ext>
            </a:extLst>
          </p:cNvPr>
          <p:cNvSpPr>
            <a:spLocks xmlns:a="http://schemas.openxmlformats.org/drawingml/2006/main" noGrp="1"/>
          </p:cNvSpPr>
          <p:nvPr/>
        </p:nvSpPr>
        <p:spPr>
          <a:xfrm xmlns:a="http://schemas.openxmlformats.org/drawingml/2006/main">
            <a:off x="7482737" y="6427558"/>
            <a:ext cx="2960561" cy="179381"/>
          </a:xfrm>
          <a:custGeom xmlns:a="http://schemas.openxmlformats.org/drawingml/2006/main">
            <a:rect l="l" t="t" r="r" b="b"/>
            <a:pathLst>
              <a:path w="2994143" h="181417">
                <a:moveTo>
                  <a:pt x="2592958" y="135555"/>
                </a:moveTo>
                <a:cubicBezTo>
                  <a:pt x="2588599" y="135555"/>
                  <a:pt x="2584799" y="136232"/>
                  <a:pt x="2581559" y="137587"/>
                </a:cubicBezTo>
                <a:cubicBezTo>
                  <a:pt x="2578319" y="138942"/>
                  <a:pt x="2575830" y="140945"/>
                  <a:pt x="2574092" y="143596"/>
                </a:cubicBezTo>
                <a:cubicBezTo>
                  <a:pt x="2572354" y="146247"/>
                  <a:pt x="2571485" y="149546"/>
                  <a:pt x="2571485" y="153493"/>
                </a:cubicBezTo>
                <a:cubicBezTo>
                  <a:pt x="2571485" y="158736"/>
                  <a:pt x="2573694" y="162728"/>
                  <a:pt x="2578112" y="165467"/>
                </a:cubicBezTo>
                <a:cubicBezTo>
                  <a:pt x="2582531" y="168206"/>
                  <a:pt x="2588834" y="169576"/>
                  <a:pt x="2597023" y="169576"/>
                </a:cubicBezTo>
                <a:cubicBezTo>
                  <a:pt x="2605035" y="169576"/>
                  <a:pt x="2611677" y="168766"/>
                  <a:pt x="2616950" y="167146"/>
                </a:cubicBezTo>
                <a:cubicBezTo>
                  <a:pt x="2622222" y="165526"/>
                  <a:pt x="2626169" y="163199"/>
                  <a:pt x="2628791" y="160165"/>
                </a:cubicBezTo>
                <a:cubicBezTo>
                  <a:pt x="2631412" y="157131"/>
                  <a:pt x="2632723" y="153523"/>
                  <a:pt x="2632723" y="149340"/>
                </a:cubicBezTo>
                <a:cubicBezTo>
                  <a:pt x="2632723" y="145452"/>
                  <a:pt x="2631839" y="142521"/>
                  <a:pt x="2630072" y="140548"/>
                </a:cubicBezTo>
                <a:cubicBezTo>
                  <a:pt x="2628305" y="138574"/>
                  <a:pt x="2625713" y="137249"/>
                  <a:pt x="2622296" y="136571"/>
                </a:cubicBezTo>
                <a:cubicBezTo>
                  <a:pt x="2618879" y="135894"/>
                  <a:pt x="2614696" y="135555"/>
                  <a:pt x="2609748" y="135555"/>
                </a:cubicBezTo>
                <a:close/>
                <a:moveTo>
                  <a:pt x="1107058" y="135555"/>
                </a:moveTo>
                <a:cubicBezTo>
                  <a:pt x="1102699" y="135555"/>
                  <a:pt x="1098899" y="136232"/>
                  <a:pt x="1095659" y="137587"/>
                </a:cubicBezTo>
                <a:cubicBezTo>
                  <a:pt x="1092419" y="138942"/>
                  <a:pt x="1089930" y="140945"/>
                  <a:pt x="1088192" y="143596"/>
                </a:cubicBezTo>
                <a:cubicBezTo>
                  <a:pt x="1086454" y="146247"/>
                  <a:pt x="1085585" y="149546"/>
                  <a:pt x="1085585" y="153493"/>
                </a:cubicBezTo>
                <a:cubicBezTo>
                  <a:pt x="1085585" y="158736"/>
                  <a:pt x="1087794" y="162728"/>
                  <a:pt x="1092213" y="165467"/>
                </a:cubicBezTo>
                <a:cubicBezTo>
                  <a:pt x="1096631" y="168206"/>
                  <a:pt x="1102934" y="169576"/>
                  <a:pt x="1111123" y="169576"/>
                </a:cubicBezTo>
                <a:cubicBezTo>
                  <a:pt x="1119135" y="169576"/>
                  <a:pt x="1125777" y="168766"/>
                  <a:pt x="1131050" y="167146"/>
                </a:cubicBezTo>
                <a:cubicBezTo>
                  <a:pt x="1136322" y="165526"/>
                  <a:pt x="1140269" y="163199"/>
                  <a:pt x="1142891" y="160165"/>
                </a:cubicBezTo>
                <a:cubicBezTo>
                  <a:pt x="1145512" y="157131"/>
                  <a:pt x="1146823" y="153523"/>
                  <a:pt x="1146823" y="149340"/>
                </a:cubicBezTo>
                <a:cubicBezTo>
                  <a:pt x="1146823" y="145452"/>
                  <a:pt x="1145939" y="142521"/>
                  <a:pt x="1144172" y="140548"/>
                </a:cubicBezTo>
                <a:cubicBezTo>
                  <a:pt x="1142405" y="138574"/>
                  <a:pt x="1139813" y="137249"/>
                  <a:pt x="1136396" y="136571"/>
                </a:cubicBezTo>
                <a:cubicBezTo>
                  <a:pt x="1132979" y="135894"/>
                  <a:pt x="1128796" y="135555"/>
                  <a:pt x="1123848" y="135555"/>
                </a:cubicBezTo>
                <a:close/>
                <a:moveTo>
                  <a:pt x="611758" y="135555"/>
                </a:moveTo>
                <a:cubicBezTo>
                  <a:pt x="607399" y="135555"/>
                  <a:pt x="603599" y="136232"/>
                  <a:pt x="600359" y="137587"/>
                </a:cubicBezTo>
                <a:cubicBezTo>
                  <a:pt x="597119" y="138942"/>
                  <a:pt x="594630" y="140945"/>
                  <a:pt x="592892" y="143596"/>
                </a:cubicBezTo>
                <a:cubicBezTo>
                  <a:pt x="591154" y="146247"/>
                  <a:pt x="590285" y="149546"/>
                  <a:pt x="590285" y="153493"/>
                </a:cubicBezTo>
                <a:cubicBezTo>
                  <a:pt x="590285" y="158736"/>
                  <a:pt x="592494" y="162728"/>
                  <a:pt x="596912" y="165467"/>
                </a:cubicBezTo>
                <a:cubicBezTo>
                  <a:pt x="601331" y="168206"/>
                  <a:pt x="607634" y="169576"/>
                  <a:pt x="615823" y="169576"/>
                </a:cubicBezTo>
                <a:cubicBezTo>
                  <a:pt x="623835" y="169576"/>
                  <a:pt x="630477" y="168766"/>
                  <a:pt x="635750" y="167146"/>
                </a:cubicBezTo>
                <a:cubicBezTo>
                  <a:pt x="641022" y="165526"/>
                  <a:pt x="644969" y="163199"/>
                  <a:pt x="647591" y="160165"/>
                </a:cubicBezTo>
                <a:cubicBezTo>
                  <a:pt x="650212" y="157131"/>
                  <a:pt x="651523" y="153523"/>
                  <a:pt x="651523" y="149340"/>
                </a:cubicBezTo>
                <a:cubicBezTo>
                  <a:pt x="651523" y="145452"/>
                  <a:pt x="650639" y="142521"/>
                  <a:pt x="648872" y="140548"/>
                </a:cubicBezTo>
                <a:cubicBezTo>
                  <a:pt x="647105" y="138574"/>
                  <a:pt x="644513" y="137249"/>
                  <a:pt x="641096" y="136571"/>
                </a:cubicBezTo>
                <a:cubicBezTo>
                  <a:pt x="637679" y="135894"/>
                  <a:pt x="633496" y="135555"/>
                  <a:pt x="628548" y="135555"/>
                </a:cubicBezTo>
                <a:close/>
                <a:moveTo>
                  <a:pt x="367871" y="116998"/>
                </a:moveTo>
                <a:cubicBezTo>
                  <a:pt x="370875" y="116998"/>
                  <a:pt x="373408" y="117867"/>
                  <a:pt x="375470" y="119605"/>
                </a:cubicBezTo>
                <a:cubicBezTo>
                  <a:pt x="377532" y="121343"/>
                  <a:pt x="378563" y="124273"/>
                  <a:pt x="378563" y="128397"/>
                </a:cubicBezTo>
                <a:cubicBezTo>
                  <a:pt x="378563" y="132462"/>
                  <a:pt x="377532" y="135422"/>
                  <a:pt x="375470" y="137278"/>
                </a:cubicBezTo>
                <a:cubicBezTo>
                  <a:pt x="373408" y="139134"/>
                  <a:pt x="370875" y="140062"/>
                  <a:pt x="367871" y="140062"/>
                </a:cubicBezTo>
                <a:cubicBezTo>
                  <a:pt x="364984" y="140062"/>
                  <a:pt x="362539" y="139134"/>
                  <a:pt x="360536" y="137278"/>
                </a:cubicBezTo>
                <a:cubicBezTo>
                  <a:pt x="358533" y="135422"/>
                  <a:pt x="357532" y="132462"/>
                  <a:pt x="357532" y="128397"/>
                </a:cubicBezTo>
                <a:cubicBezTo>
                  <a:pt x="357532" y="124273"/>
                  <a:pt x="358533" y="121343"/>
                  <a:pt x="360536" y="119605"/>
                </a:cubicBezTo>
                <a:cubicBezTo>
                  <a:pt x="362539" y="117867"/>
                  <a:pt x="364984" y="116998"/>
                  <a:pt x="367871" y="116998"/>
                </a:cubicBezTo>
                <a:close/>
                <a:moveTo>
                  <a:pt x="1792170" y="58146"/>
                </a:moveTo>
                <a:lnTo>
                  <a:pt x="1786337" y="88190"/>
                </a:lnTo>
                <a:lnTo>
                  <a:pt x="1813289" y="88190"/>
                </a:lnTo>
                <a:lnTo>
                  <a:pt x="1819122" y="58146"/>
                </a:lnTo>
                <a:close/>
                <a:moveTo>
                  <a:pt x="2389435" y="51341"/>
                </a:moveTo>
                <a:cubicBezTo>
                  <a:pt x="2379362" y="51341"/>
                  <a:pt x="2371983" y="54670"/>
                  <a:pt x="2367300" y="61327"/>
                </a:cubicBezTo>
                <a:cubicBezTo>
                  <a:pt x="2362616" y="67984"/>
                  <a:pt x="2360274" y="77203"/>
                  <a:pt x="2360274" y="88986"/>
                </a:cubicBezTo>
                <a:cubicBezTo>
                  <a:pt x="2360274" y="96762"/>
                  <a:pt x="2361306" y="103507"/>
                  <a:pt x="2363367" y="109222"/>
                </a:cubicBezTo>
                <a:cubicBezTo>
                  <a:pt x="2365429" y="114936"/>
                  <a:pt x="2368611" y="119354"/>
                  <a:pt x="2372911" y="122477"/>
                </a:cubicBezTo>
                <a:cubicBezTo>
                  <a:pt x="2377212" y="125599"/>
                  <a:pt x="2382749" y="127160"/>
                  <a:pt x="2389524" y="127160"/>
                </a:cubicBezTo>
                <a:cubicBezTo>
                  <a:pt x="2396240" y="127160"/>
                  <a:pt x="2401763" y="125599"/>
                  <a:pt x="2406093" y="122477"/>
                </a:cubicBezTo>
                <a:cubicBezTo>
                  <a:pt x="2410423" y="119354"/>
                  <a:pt x="2413619" y="114936"/>
                  <a:pt x="2415680" y="109222"/>
                </a:cubicBezTo>
                <a:cubicBezTo>
                  <a:pt x="2417742" y="103507"/>
                  <a:pt x="2418773" y="96762"/>
                  <a:pt x="2418773" y="88986"/>
                </a:cubicBezTo>
                <a:cubicBezTo>
                  <a:pt x="2418773" y="81268"/>
                  <a:pt x="2417742" y="74597"/>
                  <a:pt x="2415680" y="68971"/>
                </a:cubicBezTo>
                <a:cubicBezTo>
                  <a:pt x="2413619" y="63344"/>
                  <a:pt x="2410437" y="59000"/>
                  <a:pt x="2406137" y="55936"/>
                </a:cubicBezTo>
                <a:cubicBezTo>
                  <a:pt x="2401836" y="52873"/>
                  <a:pt x="2396269" y="51341"/>
                  <a:pt x="2389435" y="51341"/>
                </a:cubicBezTo>
                <a:close/>
                <a:moveTo>
                  <a:pt x="903536" y="51341"/>
                </a:moveTo>
                <a:cubicBezTo>
                  <a:pt x="893462" y="51341"/>
                  <a:pt x="886083" y="54670"/>
                  <a:pt x="881400" y="61327"/>
                </a:cubicBezTo>
                <a:cubicBezTo>
                  <a:pt x="876716" y="67984"/>
                  <a:pt x="874375" y="77203"/>
                  <a:pt x="874375" y="88986"/>
                </a:cubicBezTo>
                <a:cubicBezTo>
                  <a:pt x="874375" y="96762"/>
                  <a:pt x="875406" y="103507"/>
                  <a:pt x="877467" y="109222"/>
                </a:cubicBezTo>
                <a:cubicBezTo>
                  <a:pt x="879529" y="114936"/>
                  <a:pt x="882711" y="119354"/>
                  <a:pt x="887011" y="122477"/>
                </a:cubicBezTo>
                <a:cubicBezTo>
                  <a:pt x="891312" y="125599"/>
                  <a:pt x="896849" y="127160"/>
                  <a:pt x="903624" y="127160"/>
                </a:cubicBezTo>
                <a:cubicBezTo>
                  <a:pt x="910340" y="127160"/>
                  <a:pt x="915863" y="125599"/>
                  <a:pt x="920193" y="122477"/>
                </a:cubicBezTo>
                <a:cubicBezTo>
                  <a:pt x="924523" y="119354"/>
                  <a:pt x="927719" y="114936"/>
                  <a:pt x="929781" y="109222"/>
                </a:cubicBezTo>
                <a:cubicBezTo>
                  <a:pt x="931842" y="103507"/>
                  <a:pt x="932873" y="96762"/>
                  <a:pt x="932873" y="88986"/>
                </a:cubicBezTo>
                <a:cubicBezTo>
                  <a:pt x="932873" y="81268"/>
                  <a:pt x="931842" y="74597"/>
                  <a:pt x="929781" y="68971"/>
                </a:cubicBezTo>
                <a:cubicBezTo>
                  <a:pt x="927719" y="63344"/>
                  <a:pt x="924537" y="59000"/>
                  <a:pt x="920237" y="55936"/>
                </a:cubicBezTo>
                <a:cubicBezTo>
                  <a:pt x="915936" y="52873"/>
                  <a:pt x="910369" y="51341"/>
                  <a:pt x="903536" y="51341"/>
                </a:cubicBezTo>
                <a:close/>
                <a:moveTo>
                  <a:pt x="446336" y="51341"/>
                </a:moveTo>
                <a:cubicBezTo>
                  <a:pt x="436262" y="51341"/>
                  <a:pt x="428883" y="54670"/>
                  <a:pt x="424200" y="61327"/>
                </a:cubicBezTo>
                <a:cubicBezTo>
                  <a:pt x="419516" y="67984"/>
                  <a:pt x="417175" y="77203"/>
                  <a:pt x="417175" y="88986"/>
                </a:cubicBezTo>
                <a:cubicBezTo>
                  <a:pt x="417175" y="96762"/>
                  <a:pt x="418206" y="103507"/>
                  <a:pt x="420267" y="109222"/>
                </a:cubicBezTo>
                <a:cubicBezTo>
                  <a:pt x="422329" y="114936"/>
                  <a:pt x="425511" y="119354"/>
                  <a:pt x="429811" y="122477"/>
                </a:cubicBezTo>
                <a:cubicBezTo>
                  <a:pt x="434111" y="125599"/>
                  <a:pt x="439649" y="127160"/>
                  <a:pt x="446424" y="127160"/>
                </a:cubicBezTo>
                <a:cubicBezTo>
                  <a:pt x="453140" y="127160"/>
                  <a:pt x="458663" y="125599"/>
                  <a:pt x="462993" y="122477"/>
                </a:cubicBezTo>
                <a:cubicBezTo>
                  <a:pt x="467323" y="119354"/>
                  <a:pt x="470519" y="114936"/>
                  <a:pt x="472580" y="109222"/>
                </a:cubicBezTo>
                <a:cubicBezTo>
                  <a:pt x="474642" y="103507"/>
                  <a:pt x="475673" y="96762"/>
                  <a:pt x="475673" y="88986"/>
                </a:cubicBezTo>
                <a:cubicBezTo>
                  <a:pt x="475673" y="81268"/>
                  <a:pt x="474642" y="74597"/>
                  <a:pt x="472580" y="68971"/>
                </a:cubicBezTo>
                <a:cubicBezTo>
                  <a:pt x="470519" y="63344"/>
                  <a:pt x="467337" y="59000"/>
                  <a:pt x="463037" y="55936"/>
                </a:cubicBezTo>
                <a:cubicBezTo>
                  <a:pt x="458736" y="52873"/>
                  <a:pt x="453169" y="51341"/>
                  <a:pt x="446336" y="51341"/>
                </a:cubicBezTo>
                <a:close/>
                <a:moveTo>
                  <a:pt x="2778105" y="50988"/>
                </a:moveTo>
                <a:cubicBezTo>
                  <a:pt x="2770270" y="50988"/>
                  <a:pt x="2764025" y="53551"/>
                  <a:pt x="2759371" y="58676"/>
                </a:cubicBezTo>
                <a:cubicBezTo>
                  <a:pt x="2754717" y="63801"/>
                  <a:pt x="2751948" y="70959"/>
                  <a:pt x="2751065" y="80149"/>
                </a:cubicBezTo>
                <a:lnTo>
                  <a:pt x="2802317" y="80149"/>
                </a:lnTo>
                <a:cubicBezTo>
                  <a:pt x="2802258" y="74376"/>
                  <a:pt x="2801360" y="69295"/>
                  <a:pt x="2799622" y="64906"/>
                </a:cubicBezTo>
                <a:cubicBezTo>
                  <a:pt x="2797884" y="60517"/>
                  <a:pt x="2795248" y="57100"/>
                  <a:pt x="2791713" y="54655"/>
                </a:cubicBezTo>
                <a:cubicBezTo>
                  <a:pt x="2788179" y="52210"/>
                  <a:pt x="2783643" y="50988"/>
                  <a:pt x="2778105" y="50988"/>
                </a:cubicBezTo>
                <a:close/>
                <a:moveTo>
                  <a:pt x="1292205" y="50988"/>
                </a:moveTo>
                <a:cubicBezTo>
                  <a:pt x="1284370" y="50988"/>
                  <a:pt x="1278125" y="53551"/>
                  <a:pt x="1273471" y="58676"/>
                </a:cubicBezTo>
                <a:cubicBezTo>
                  <a:pt x="1268817" y="63801"/>
                  <a:pt x="1266048" y="70959"/>
                  <a:pt x="1265165" y="80149"/>
                </a:cubicBezTo>
                <a:lnTo>
                  <a:pt x="1316417" y="80149"/>
                </a:lnTo>
                <a:cubicBezTo>
                  <a:pt x="1316358" y="74376"/>
                  <a:pt x="1315460" y="69295"/>
                  <a:pt x="1313722" y="64906"/>
                </a:cubicBezTo>
                <a:cubicBezTo>
                  <a:pt x="1311984" y="60517"/>
                  <a:pt x="1309348" y="57100"/>
                  <a:pt x="1305813" y="54655"/>
                </a:cubicBezTo>
                <a:cubicBezTo>
                  <a:pt x="1302279" y="52210"/>
                  <a:pt x="1297742" y="50988"/>
                  <a:pt x="1292205" y="50988"/>
                </a:cubicBezTo>
                <a:close/>
                <a:moveTo>
                  <a:pt x="2600646" y="49662"/>
                </a:moveTo>
                <a:cubicBezTo>
                  <a:pt x="2593930" y="49662"/>
                  <a:pt x="2588761" y="51533"/>
                  <a:pt x="2585137" y="55274"/>
                </a:cubicBezTo>
                <a:cubicBezTo>
                  <a:pt x="2581514" y="59015"/>
                  <a:pt x="2579703" y="64479"/>
                  <a:pt x="2579703" y="71666"/>
                </a:cubicBezTo>
                <a:cubicBezTo>
                  <a:pt x="2579703" y="78264"/>
                  <a:pt x="2581529" y="83330"/>
                  <a:pt x="2585182" y="86865"/>
                </a:cubicBezTo>
                <a:cubicBezTo>
                  <a:pt x="2588834" y="90399"/>
                  <a:pt x="2594048" y="92167"/>
                  <a:pt x="2600823" y="92167"/>
                </a:cubicBezTo>
                <a:cubicBezTo>
                  <a:pt x="2607833" y="92167"/>
                  <a:pt x="2613106" y="90399"/>
                  <a:pt x="2616640" y="86865"/>
                </a:cubicBezTo>
                <a:cubicBezTo>
                  <a:pt x="2620175" y="83330"/>
                  <a:pt x="2621942" y="78175"/>
                  <a:pt x="2621942" y="71401"/>
                </a:cubicBezTo>
                <a:cubicBezTo>
                  <a:pt x="2621942" y="64155"/>
                  <a:pt x="2620146" y="58720"/>
                  <a:pt x="2616552" y="55097"/>
                </a:cubicBezTo>
                <a:cubicBezTo>
                  <a:pt x="2612958" y="51474"/>
                  <a:pt x="2607656" y="49662"/>
                  <a:pt x="2600646" y="49662"/>
                </a:cubicBezTo>
                <a:close/>
                <a:moveTo>
                  <a:pt x="1114746" y="49662"/>
                </a:moveTo>
                <a:cubicBezTo>
                  <a:pt x="1108030" y="49662"/>
                  <a:pt x="1102861" y="51533"/>
                  <a:pt x="1099238" y="55274"/>
                </a:cubicBezTo>
                <a:cubicBezTo>
                  <a:pt x="1095615" y="59015"/>
                  <a:pt x="1093803" y="64479"/>
                  <a:pt x="1093803" y="71666"/>
                </a:cubicBezTo>
                <a:cubicBezTo>
                  <a:pt x="1093803" y="78264"/>
                  <a:pt x="1095629" y="83330"/>
                  <a:pt x="1099282" y="86865"/>
                </a:cubicBezTo>
                <a:cubicBezTo>
                  <a:pt x="1102934" y="90399"/>
                  <a:pt x="1108148" y="92167"/>
                  <a:pt x="1114923" y="92167"/>
                </a:cubicBezTo>
                <a:cubicBezTo>
                  <a:pt x="1121933" y="92167"/>
                  <a:pt x="1127206" y="90399"/>
                  <a:pt x="1130740" y="86865"/>
                </a:cubicBezTo>
                <a:cubicBezTo>
                  <a:pt x="1134275" y="83330"/>
                  <a:pt x="1136042" y="78175"/>
                  <a:pt x="1136042" y="71401"/>
                </a:cubicBezTo>
                <a:cubicBezTo>
                  <a:pt x="1136042" y="64155"/>
                  <a:pt x="1134246" y="58720"/>
                  <a:pt x="1130652" y="55097"/>
                </a:cubicBezTo>
                <a:cubicBezTo>
                  <a:pt x="1127058" y="51474"/>
                  <a:pt x="1121756" y="49662"/>
                  <a:pt x="1114746" y="49662"/>
                </a:cubicBezTo>
                <a:close/>
                <a:moveTo>
                  <a:pt x="619446" y="49662"/>
                </a:moveTo>
                <a:cubicBezTo>
                  <a:pt x="612730" y="49662"/>
                  <a:pt x="607561" y="51533"/>
                  <a:pt x="603938" y="55274"/>
                </a:cubicBezTo>
                <a:cubicBezTo>
                  <a:pt x="600314" y="59015"/>
                  <a:pt x="598503" y="64479"/>
                  <a:pt x="598503" y="71666"/>
                </a:cubicBezTo>
                <a:cubicBezTo>
                  <a:pt x="598503" y="78264"/>
                  <a:pt x="600329" y="83330"/>
                  <a:pt x="603982" y="86865"/>
                </a:cubicBezTo>
                <a:cubicBezTo>
                  <a:pt x="607634" y="90399"/>
                  <a:pt x="612848" y="92167"/>
                  <a:pt x="619623" y="92167"/>
                </a:cubicBezTo>
                <a:cubicBezTo>
                  <a:pt x="626633" y="92167"/>
                  <a:pt x="631906" y="90399"/>
                  <a:pt x="635440" y="86865"/>
                </a:cubicBezTo>
                <a:cubicBezTo>
                  <a:pt x="638975" y="83330"/>
                  <a:pt x="640742" y="78175"/>
                  <a:pt x="640742" y="71401"/>
                </a:cubicBezTo>
                <a:cubicBezTo>
                  <a:pt x="640742" y="64155"/>
                  <a:pt x="638946" y="58720"/>
                  <a:pt x="635352" y="55097"/>
                </a:cubicBezTo>
                <a:cubicBezTo>
                  <a:pt x="631758" y="51474"/>
                  <a:pt x="626456" y="49662"/>
                  <a:pt x="619446" y="49662"/>
                </a:cubicBezTo>
                <a:close/>
                <a:moveTo>
                  <a:pt x="2961359" y="38970"/>
                </a:moveTo>
                <a:cubicBezTo>
                  <a:pt x="2967191" y="38970"/>
                  <a:pt x="2972655" y="39544"/>
                  <a:pt x="2977751" y="40693"/>
                </a:cubicBezTo>
                <a:cubicBezTo>
                  <a:pt x="2982847" y="41842"/>
                  <a:pt x="2987604" y="43388"/>
                  <a:pt x="2992022" y="45332"/>
                </a:cubicBezTo>
                <a:lnTo>
                  <a:pt x="2987073" y="57085"/>
                </a:lnTo>
                <a:cubicBezTo>
                  <a:pt x="2983068" y="55377"/>
                  <a:pt x="2978797" y="53933"/>
                  <a:pt x="2974260" y="52755"/>
                </a:cubicBezTo>
                <a:cubicBezTo>
                  <a:pt x="2969724" y="51577"/>
                  <a:pt x="2965100" y="50988"/>
                  <a:pt x="2960387" y="50988"/>
                </a:cubicBezTo>
                <a:cubicBezTo>
                  <a:pt x="2953612" y="50988"/>
                  <a:pt x="2948413" y="52107"/>
                  <a:pt x="2944790" y="54346"/>
                </a:cubicBezTo>
                <a:cubicBezTo>
                  <a:pt x="2941167" y="56584"/>
                  <a:pt x="2939355" y="59648"/>
                  <a:pt x="2939355" y="63536"/>
                </a:cubicBezTo>
                <a:cubicBezTo>
                  <a:pt x="2939355" y="66540"/>
                  <a:pt x="2940195" y="69015"/>
                  <a:pt x="2941874" y="70959"/>
                </a:cubicBezTo>
                <a:cubicBezTo>
                  <a:pt x="2943553" y="72903"/>
                  <a:pt x="2946248" y="74729"/>
                  <a:pt x="2949959" y="76437"/>
                </a:cubicBezTo>
                <a:cubicBezTo>
                  <a:pt x="2953671" y="78146"/>
                  <a:pt x="2958561" y="80149"/>
                  <a:pt x="2964628" y="82446"/>
                </a:cubicBezTo>
                <a:cubicBezTo>
                  <a:pt x="2970696" y="84685"/>
                  <a:pt x="2975939" y="86997"/>
                  <a:pt x="2980358" y="89383"/>
                </a:cubicBezTo>
                <a:cubicBezTo>
                  <a:pt x="2984776" y="91769"/>
                  <a:pt x="2988178" y="94656"/>
                  <a:pt x="2990564" y="98043"/>
                </a:cubicBezTo>
                <a:cubicBezTo>
                  <a:pt x="2992950" y="101431"/>
                  <a:pt x="2994143" y="105775"/>
                  <a:pt x="2994143" y="111077"/>
                </a:cubicBezTo>
                <a:cubicBezTo>
                  <a:pt x="2994143" y="117263"/>
                  <a:pt x="2992596" y="122462"/>
                  <a:pt x="2989504" y="126674"/>
                </a:cubicBezTo>
                <a:cubicBezTo>
                  <a:pt x="2986411" y="130886"/>
                  <a:pt x="2981992" y="134053"/>
                  <a:pt x="2976248" y="136173"/>
                </a:cubicBezTo>
                <a:cubicBezTo>
                  <a:pt x="2970505" y="138294"/>
                  <a:pt x="2963656" y="139355"/>
                  <a:pt x="2955703" y="139355"/>
                </a:cubicBezTo>
                <a:cubicBezTo>
                  <a:pt x="2948929" y="139355"/>
                  <a:pt x="2943067" y="138824"/>
                  <a:pt x="2938118" y="137764"/>
                </a:cubicBezTo>
                <a:cubicBezTo>
                  <a:pt x="2933170" y="136704"/>
                  <a:pt x="2928840" y="135201"/>
                  <a:pt x="2925128" y="133257"/>
                </a:cubicBezTo>
                <a:lnTo>
                  <a:pt x="2925128" y="119737"/>
                </a:lnTo>
                <a:cubicBezTo>
                  <a:pt x="2929076" y="121681"/>
                  <a:pt x="2933788" y="123449"/>
                  <a:pt x="2939267" y="125039"/>
                </a:cubicBezTo>
                <a:cubicBezTo>
                  <a:pt x="2944746" y="126630"/>
                  <a:pt x="2950343" y="127425"/>
                  <a:pt x="2956057" y="127425"/>
                </a:cubicBezTo>
                <a:cubicBezTo>
                  <a:pt x="2964422" y="127425"/>
                  <a:pt x="2970490" y="126070"/>
                  <a:pt x="2974260" y="123360"/>
                </a:cubicBezTo>
                <a:cubicBezTo>
                  <a:pt x="2978031" y="120650"/>
                  <a:pt x="2979916" y="116968"/>
                  <a:pt x="2979916" y="112314"/>
                </a:cubicBezTo>
                <a:cubicBezTo>
                  <a:pt x="2979916" y="109663"/>
                  <a:pt x="2979165" y="107322"/>
                  <a:pt x="2977662" y="105289"/>
                </a:cubicBezTo>
                <a:cubicBezTo>
                  <a:pt x="2976160" y="103257"/>
                  <a:pt x="2973642" y="101283"/>
                  <a:pt x="2970107" y="99369"/>
                </a:cubicBezTo>
                <a:cubicBezTo>
                  <a:pt x="2966572" y="97454"/>
                  <a:pt x="2961683" y="95348"/>
                  <a:pt x="2955438" y="93050"/>
                </a:cubicBezTo>
                <a:cubicBezTo>
                  <a:pt x="2949252" y="90694"/>
                  <a:pt x="2943906" y="88352"/>
                  <a:pt x="2939400" y="86025"/>
                </a:cubicBezTo>
                <a:cubicBezTo>
                  <a:pt x="2934893" y="83698"/>
                  <a:pt x="2931417" y="80856"/>
                  <a:pt x="2928972" y="77498"/>
                </a:cubicBezTo>
                <a:cubicBezTo>
                  <a:pt x="2926528" y="74140"/>
                  <a:pt x="2925305" y="69781"/>
                  <a:pt x="2925305" y="64420"/>
                </a:cubicBezTo>
                <a:cubicBezTo>
                  <a:pt x="2925305" y="56231"/>
                  <a:pt x="2928619" y="49942"/>
                  <a:pt x="2935246" y="45553"/>
                </a:cubicBezTo>
                <a:cubicBezTo>
                  <a:pt x="2941874" y="41164"/>
                  <a:pt x="2950578" y="38970"/>
                  <a:pt x="2961359" y="38970"/>
                </a:cubicBezTo>
                <a:close/>
                <a:moveTo>
                  <a:pt x="2875634" y="38970"/>
                </a:moveTo>
                <a:cubicBezTo>
                  <a:pt x="2881466" y="38970"/>
                  <a:pt x="2886930" y="39544"/>
                  <a:pt x="2892025" y="40693"/>
                </a:cubicBezTo>
                <a:cubicBezTo>
                  <a:pt x="2897121" y="41842"/>
                  <a:pt x="2901878" y="43388"/>
                  <a:pt x="2906297" y="45332"/>
                </a:cubicBezTo>
                <a:lnTo>
                  <a:pt x="2901348" y="57085"/>
                </a:lnTo>
                <a:cubicBezTo>
                  <a:pt x="2897342" y="55377"/>
                  <a:pt x="2893072" y="53933"/>
                  <a:pt x="2888535" y="52755"/>
                </a:cubicBezTo>
                <a:cubicBezTo>
                  <a:pt x="2883999" y="51577"/>
                  <a:pt x="2879375" y="50988"/>
                  <a:pt x="2874662" y="50988"/>
                </a:cubicBezTo>
                <a:cubicBezTo>
                  <a:pt x="2867887" y="50988"/>
                  <a:pt x="2862688" y="52107"/>
                  <a:pt x="2859065" y="54346"/>
                </a:cubicBezTo>
                <a:cubicBezTo>
                  <a:pt x="2855442" y="56584"/>
                  <a:pt x="2853630" y="59648"/>
                  <a:pt x="2853630" y="63536"/>
                </a:cubicBezTo>
                <a:cubicBezTo>
                  <a:pt x="2853630" y="66540"/>
                  <a:pt x="2854470" y="69015"/>
                  <a:pt x="2856149" y="70959"/>
                </a:cubicBezTo>
                <a:cubicBezTo>
                  <a:pt x="2857828" y="72903"/>
                  <a:pt x="2860523" y="74729"/>
                  <a:pt x="2864234" y="76437"/>
                </a:cubicBezTo>
                <a:cubicBezTo>
                  <a:pt x="2867946" y="78146"/>
                  <a:pt x="2872836" y="80149"/>
                  <a:pt x="2878903" y="82446"/>
                </a:cubicBezTo>
                <a:cubicBezTo>
                  <a:pt x="2884971" y="84685"/>
                  <a:pt x="2890214" y="86997"/>
                  <a:pt x="2894632" y="89383"/>
                </a:cubicBezTo>
                <a:cubicBezTo>
                  <a:pt x="2899051" y="91769"/>
                  <a:pt x="2902453" y="94656"/>
                  <a:pt x="2904839" y="98043"/>
                </a:cubicBezTo>
                <a:cubicBezTo>
                  <a:pt x="2907225" y="101431"/>
                  <a:pt x="2908417" y="105775"/>
                  <a:pt x="2908417" y="111077"/>
                </a:cubicBezTo>
                <a:cubicBezTo>
                  <a:pt x="2908417" y="117263"/>
                  <a:pt x="2906871" y="122462"/>
                  <a:pt x="2903778" y="126674"/>
                </a:cubicBezTo>
                <a:cubicBezTo>
                  <a:pt x="2900685" y="130886"/>
                  <a:pt x="2896267" y="134053"/>
                  <a:pt x="2890523" y="136173"/>
                </a:cubicBezTo>
                <a:cubicBezTo>
                  <a:pt x="2884779" y="138294"/>
                  <a:pt x="2877931" y="139355"/>
                  <a:pt x="2869978" y="139355"/>
                </a:cubicBezTo>
                <a:cubicBezTo>
                  <a:pt x="2863204" y="139355"/>
                  <a:pt x="2857342" y="138824"/>
                  <a:pt x="2852393" y="137764"/>
                </a:cubicBezTo>
                <a:cubicBezTo>
                  <a:pt x="2847445" y="136704"/>
                  <a:pt x="2843115" y="135201"/>
                  <a:pt x="2839403" y="133257"/>
                </a:cubicBezTo>
                <a:lnTo>
                  <a:pt x="2839403" y="119737"/>
                </a:lnTo>
                <a:cubicBezTo>
                  <a:pt x="2843350" y="121681"/>
                  <a:pt x="2848063" y="123449"/>
                  <a:pt x="2853542" y="125039"/>
                </a:cubicBezTo>
                <a:cubicBezTo>
                  <a:pt x="2859021" y="126630"/>
                  <a:pt x="2864618" y="127425"/>
                  <a:pt x="2870332" y="127425"/>
                </a:cubicBezTo>
                <a:cubicBezTo>
                  <a:pt x="2878697" y="127425"/>
                  <a:pt x="2884765" y="126070"/>
                  <a:pt x="2888535" y="123360"/>
                </a:cubicBezTo>
                <a:cubicBezTo>
                  <a:pt x="2892305" y="120650"/>
                  <a:pt x="2894190" y="116968"/>
                  <a:pt x="2894190" y="112314"/>
                </a:cubicBezTo>
                <a:cubicBezTo>
                  <a:pt x="2894190" y="109663"/>
                  <a:pt x="2893439" y="107322"/>
                  <a:pt x="2891937" y="105289"/>
                </a:cubicBezTo>
                <a:cubicBezTo>
                  <a:pt x="2890435" y="103257"/>
                  <a:pt x="2887916" y="101283"/>
                  <a:pt x="2884382" y="99369"/>
                </a:cubicBezTo>
                <a:cubicBezTo>
                  <a:pt x="2880847" y="97454"/>
                  <a:pt x="2875958" y="95348"/>
                  <a:pt x="2869713" y="93050"/>
                </a:cubicBezTo>
                <a:cubicBezTo>
                  <a:pt x="2863527" y="90694"/>
                  <a:pt x="2858181" y="88352"/>
                  <a:pt x="2853675" y="86025"/>
                </a:cubicBezTo>
                <a:cubicBezTo>
                  <a:pt x="2849168" y="83698"/>
                  <a:pt x="2845692" y="80856"/>
                  <a:pt x="2843247" y="77498"/>
                </a:cubicBezTo>
                <a:cubicBezTo>
                  <a:pt x="2840803" y="74140"/>
                  <a:pt x="2839580" y="69781"/>
                  <a:pt x="2839580" y="64420"/>
                </a:cubicBezTo>
                <a:cubicBezTo>
                  <a:pt x="2839580" y="56231"/>
                  <a:pt x="2842894" y="49942"/>
                  <a:pt x="2849521" y="45553"/>
                </a:cubicBezTo>
                <a:cubicBezTo>
                  <a:pt x="2856149" y="41164"/>
                  <a:pt x="2864853" y="38970"/>
                  <a:pt x="2875634" y="38970"/>
                </a:cubicBezTo>
                <a:close/>
                <a:moveTo>
                  <a:pt x="2778282" y="38970"/>
                </a:moveTo>
                <a:cubicBezTo>
                  <a:pt x="2786529" y="38970"/>
                  <a:pt x="2793598" y="40796"/>
                  <a:pt x="2799490" y="44449"/>
                </a:cubicBezTo>
                <a:cubicBezTo>
                  <a:pt x="2805381" y="48101"/>
                  <a:pt x="2809887" y="53212"/>
                  <a:pt x="2813010" y="59780"/>
                </a:cubicBezTo>
                <a:cubicBezTo>
                  <a:pt x="2816132" y="66349"/>
                  <a:pt x="2817693" y="74022"/>
                  <a:pt x="2817693" y="82800"/>
                </a:cubicBezTo>
                <a:lnTo>
                  <a:pt x="2817693" y="91902"/>
                </a:lnTo>
                <a:lnTo>
                  <a:pt x="2750799" y="91902"/>
                </a:lnTo>
                <a:cubicBezTo>
                  <a:pt x="2750976" y="103272"/>
                  <a:pt x="2753804" y="111931"/>
                  <a:pt x="2759283" y="117881"/>
                </a:cubicBezTo>
                <a:cubicBezTo>
                  <a:pt x="2764761" y="123831"/>
                  <a:pt x="2772479" y="126807"/>
                  <a:pt x="2782435" y="126807"/>
                </a:cubicBezTo>
                <a:cubicBezTo>
                  <a:pt x="2788561" y="126807"/>
                  <a:pt x="2793981" y="126247"/>
                  <a:pt x="2798694" y="125128"/>
                </a:cubicBezTo>
                <a:cubicBezTo>
                  <a:pt x="2803407" y="124008"/>
                  <a:pt x="2808297" y="122359"/>
                  <a:pt x="2813363" y="120179"/>
                </a:cubicBezTo>
                <a:lnTo>
                  <a:pt x="2813363" y="133081"/>
                </a:lnTo>
                <a:cubicBezTo>
                  <a:pt x="2808474" y="135260"/>
                  <a:pt x="2803628" y="136851"/>
                  <a:pt x="2798827" y="137852"/>
                </a:cubicBezTo>
                <a:cubicBezTo>
                  <a:pt x="2794026" y="138854"/>
                  <a:pt x="2788355" y="139355"/>
                  <a:pt x="2781816" y="139355"/>
                </a:cubicBezTo>
                <a:cubicBezTo>
                  <a:pt x="2772508" y="139355"/>
                  <a:pt x="2764393" y="137455"/>
                  <a:pt x="2757471" y="133655"/>
                </a:cubicBezTo>
                <a:cubicBezTo>
                  <a:pt x="2750549" y="129855"/>
                  <a:pt x="2745173" y="124273"/>
                  <a:pt x="2741344" y="116909"/>
                </a:cubicBezTo>
                <a:cubicBezTo>
                  <a:pt x="2737515" y="109546"/>
                  <a:pt x="2735600" y="100532"/>
                  <a:pt x="2735600" y="89869"/>
                </a:cubicBezTo>
                <a:cubicBezTo>
                  <a:pt x="2735600" y="79442"/>
                  <a:pt x="2737353" y="70414"/>
                  <a:pt x="2740858" y="62785"/>
                </a:cubicBezTo>
                <a:cubicBezTo>
                  <a:pt x="2744364" y="55156"/>
                  <a:pt x="2749312" y="49279"/>
                  <a:pt x="2755704" y="45156"/>
                </a:cubicBezTo>
                <a:cubicBezTo>
                  <a:pt x="2762096" y="41032"/>
                  <a:pt x="2769622" y="38970"/>
                  <a:pt x="2778282" y="38970"/>
                </a:cubicBezTo>
                <a:close/>
                <a:moveTo>
                  <a:pt x="2708797" y="38970"/>
                </a:moveTo>
                <a:cubicBezTo>
                  <a:pt x="2710741" y="38970"/>
                  <a:pt x="2712774" y="39073"/>
                  <a:pt x="2714895" y="39279"/>
                </a:cubicBezTo>
                <a:cubicBezTo>
                  <a:pt x="2717015" y="39485"/>
                  <a:pt x="2718901" y="39765"/>
                  <a:pt x="2720550" y="40119"/>
                </a:cubicBezTo>
                <a:lnTo>
                  <a:pt x="2718694" y="53727"/>
                </a:lnTo>
                <a:cubicBezTo>
                  <a:pt x="2717104" y="53315"/>
                  <a:pt x="2715337" y="52991"/>
                  <a:pt x="2713392" y="52755"/>
                </a:cubicBezTo>
                <a:cubicBezTo>
                  <a:pt x="2711448" y="52520"/>
                  <a:pt x="2709622" y="52402"/>
                  <a:pt x="2707914" y="52402"/>
                </a:cubicBezTo>
                <a:cubicBezTo>
                  <a:pt x="2704026" y="52402"/>
                  <a:pt x="2700358" y="53182"/>
                  <a:pt x="2696912" y="54743"/>
                </a:cubicBezTo>
                <a:cubicBezTo>
                  <a:pt x="2693466" y="56305"/>
                  <a:pt x="2690447" y="58543"/>
                  <a:pt x="2687854" y="61459"/>
                </a:cubicBezTo>
                <a:cubicBezTo>
                  <a:pt x="2685262" y="64375"/>
                  <a:pt x="2683230" y="67881"/>
                  <a:pt x="2681757" y="71975"/>
                </a:cubicBezTo>
                <a:cubicBezTo>
                  <a:pt x="2680285" y="76069"/>
                  <a:pt x="2679548" y="80620"/>
                  <a:pt x="2679548" y="85628"/>
                </a:cubicBezTo>
                <a:lnTo>
                  <a:pt x="2679548" y="137587"/>
                </a:lnTo>
                <a:lnTo>
                  <a:pt x="2664791" y="137587"/>
                </a:lnTo>
                <a:lnTo>
                  <a:pt x="2664791" y="40737"/>
                </a:lnTo>
                <a:lnTo>
                  <a:pt x="2676985" y="40737"/>
                </a:lnTo>
                <a:lnTo>
                  <a:pt x="2678576" y="58587"/>
                </a:lnTo>
                <a:lnTo>
                  <a:pt x="2679195" y="58587"/>
                </a:lnTo>
                <a:cubicBezTo>
                  <a:pt x="2681197" y="54994"/>
                  <a:pt x="2683613" y="51710"/>
                  <a:pt x="2686441" y="48735"/>
                </a:cubicBezTo>
                <a:cubicBezTo>
                  <a:pt x="2689268" y="45760"/>
                  <a:pt x="2692552" y="43388"/>
                  <a:pt x="2696293" y="41621"/>
                </a:cubicBezTo>
                <a:cubicBezTo>
                  <a:pt x="2700035" y="39854"/>
                  <a:pt x="2704202" y="38970"/>
                  <a:pt x="2708797" y="38970"/>
                </a:cubicBezTo>
                <a:close/>
                <a:moveTo>
                  <a:pt x="2501103" y="38970"/>
                </a:moveTo>
                <a:cubicBezTo>
                  <a:pt x="2512591" y="38970"/>
                  <a:pt x="2521280" y="41783"/>
                  <a:pt x="2527171" y="47409"/>
                </a:cubicBezTo>
                <a:cubicBezTo>
                  <a:pt x="2533062" y="53035"/>
                  <a:pt x="2536008" y="62063"/>
                  <a:pt x="2536008" y="74493"/>
                </a:cubicBezTo>
                <a:lnTo>
                  <a:pt x="2536008" y="137587"/>
                </a:lnTo>
                <a:lnTo>
                  <a:pt x="2521516" y="137587"/>
                </a:lnTo>
                <a:lnTo>
                  <a:pt x="2521516" y="75465"/>
                </a:lnTo>
                <a:cubicBezTo>
                  <a:pt x="2521516" y="67395"/>
                  <a:pt x="2519675" y="61356"/>
                  <a:pt x="2515993" y="57350"/>
                </a:cubicBezTo>
                <a:cubicBezTo>
                  <a:pt x="2512311" y="53344"/>
                  <a:pt x="2506670" y="51341"/>
                  <a:pt x="2499071" y="51341"/>
                </a:cubicBezTo>
                <a:cubicBezTo>
                  <a:pt x="2488349" y="51341"/>
                  <a:pt x="2480808" y="54375"/>
                  <a:pt x="2476449" y="60443"/>
                </a:cubicBezTo>
                <a:cubicBezTo>
                  <a:pt x="2472089" y="66511"/>
                  <a:pt x="2469910" y="75318"/>
                  <a:pt x="2469910" y="86865"/>
                </a:cubicBezTo>
                <a:lnTo>
                  <a:pt x="2469910" y="137587"/>
                </a:lnTo>
                <a:lnTo>
                  <a:pt x="2455241" y="137587"/>
                </a:lnTo>
                <a:lnTo>
                  <a:pt x="2455241" y="40737"/>
                </a:lnTo>
                <a:lnTo>
                  <a:pt x="2467082" y="40737"/>
                </a:lnTo>
                <a:lnTo>
                  <a:pt x="2469291" y="54699"/>
                </a:lnTo>
                <a:lnTo>
                  <a:pt x="2470086" y="54699"/>
                </a:lnTo>
                <a:cubicBezTo>
                  <a:pt x="2472148" y="51282"/>
                  <a:pt x="2474770" y="48411"/>
                  <a:pt x="2477951" y="46084"/>
                </a:cubicBezTo>
                <a:cubicBezTo>
                  <a:pt x="2481132" y="43757"/>
                  <a:pt x="2484696" y="41989"/>
                  <a:pt x="2488643" y="40782"/>
                </a:cubicBezTo>
                <a:cubicBezTo>
                  <a:pt x="2492591" y="39574"/>
                  <a:pt x="2496744" y="38970"/>
                  <a:pt x="2501103" y="38970"/>
                </a:cubicBezTo>
                <a:close/>
                <a:moveTo>
                  <a:pt x="2389789" y="38970"/>
                </a:moveTo>
                <a:cubicBezTo>
                  <a:pt x="2398626" y="38970"/>
                  <a:pt x="2406358" y="40944"/>
                  <a:pt x="2412985" y="44891"/>
                </a:cubicBezTo>
                <a:cubicBezTo>
                  <a:pt x="2419613" y="48838"/>
                  <a:pt x="2424768" y="54537"/>
                  <a:pt x="2428449" y="61990"/>
                </a:cubicBezTo>
                <a:cubicBezTo>
                  <a:pt x="2432131" y="69442"/>
                  <a:pt x="2433972" y="78440"/>
                  <a:pt x="2433972" y="88986"/>
                </a:cubicBezTo>
                <a:cubicBezTo>
                  <a:pt x="2433972" y="96939"/>
                  <a:pt x="2432942" y="104037"/>
                  <a:pt x="2430879" y="110282"/>
                </a:cubicBezTo>
                <a:cubicBezTo>
                  <a:pt x="2428817" y="116527"/>
                  <a:pt x="2425843" y="121799"/>
                  <a:pt x="2421954" y="126100"/>
                </a:cubicBezTo>
                <a:cubicBezTo>
                  <a:pt x="2418066" y="130400"/>
                  <a:pt x="2413368" y="133684"/>
                  <a:pt x="2407860" y="135952"/>
                </a:cubicBezTo>
                <a:cubicBezTo>
                  <a:pt x="2402352" y="138221"/>
                  <a:pt x="2396122" y="139355"/>
                  <a:pt x="2389170" y="139355"/>
                </a:cubicBezTo>
                <a:cubicBezTo>
                  <a:pt x="2382690" y="139355"/>
                  <a:pt x="2376755" y="138221"/>
                  <a:pt x="2371364" y="135952"/>
                </a:cubicBezTo>
                <a:cubicBezTo>
                  <a:pt x="2365974" y="133684"/>
                  <a:pt x="2361320" y="130400"/>
                  <a:pt x="2357403" y="126100"/>
                </a:cubicBezTo>
                <a:cubicBezTo>
                  <a:pt x="2353485" y="121799"/>
                  <a:pt x="2350451" y="116527"/>
                  <a:pt x="2348301" y="110282"/>
                </a:cubicBezTo>
                <a:cubicBezTo>
                  <a:pt x="2346151" y="104037"/>
                  <a:pt x="2345075" y="96939"/>
                  <a:pt x="2345075" y="88986"/>
                </a:cubicBezTo>
                <a:cubicBezTo>
                  <a:pt x="2345075" y="78382"/>
                  <a:pt x="2346872" y="69353"/>
                  <a:pt x="2350466" y="61901"/>
                </a:cubicBezTo>
                <a:cubicBezTo>
                  <a:pt x="2354059" y="54449"/>
                  <a:pt x="2359200" y="48764"/>
                  <a:pt x="2365886" y="44846"/>
                </a:cubicBezTo>
                <a:cubicBezTo>
                  <a:pt x="2372572" y="40929"/>
                  <a:pt x="2380540" y="38970"/>
                  <a:pt x="2389789" y="38970"/>
                </a:cubicBezTo>
                <a:close/>
                <a:moveTo>
                  <a:pt x="1475459" y="38970"/>
                </a:moveTo>
                <a:cubicBezTo>
                  <a:pt x="1481291" y="38970"/>
                  <a:pt x="1486755" y="39544"/>
                  <a:pt x="1491851" y="40693"/>
                </a:cubicBezTo>
                <a:cubicBezTo>
                  <a:pt x="1496947" y="41842"/>
                  <a:pt x="1501704" y="43388"/>
                  <a:pt x="1506122" y="45332"/>
                </a:cubicBezTo>
                <a:lnTo>
                  <a:pt x="1501173" y="57085"/>
                </a:lnTo>
                <a:cubicBezTo>
                  <a:pt x="1497167" y="55377"/>
                  <a:pt x="1492897" y="53933"/>
                  <a:pt x="1488360" y="52755"/>
                </a:cubicBezTo>
                <a:cubicBezTo>
                  <a:pt x="1483824" y="51577"/>
                  <a:pt x="1479200" y="50988"/>
                  <a:pt x="1474487" y="50988"/>
                </a:cubicBezTo>
                <a:cubicBezTo>
                  <a:pt x="1467712" y="50988"/>
                  <a:pt x="1462513" y="52107"/>
                  <a:pt x="1458890" y="54346"/>
                </a:cubicBezTo>
                <a:cubicBezTo>
                  <a:pt x="1455267" y="56584"/>
                  <a:pt x="1453455" y="59648"/>
                  <a:pt x="1453455" y="63536"/>
                </a:cubicBezTo>
                <a:cubicBezTo>
                  <a:pt x="1453455" y="66540"/>
                  <a:pt x="1454295" y="69015"/>
                  <a:pt x="1455974" y="70959"/>
                </a:cubicBezTo>
                <a:cubicBezTo>
                  <a:pt x="1457653" y="72903"/>
                  <a:pt x="1460348" y="74729"/>
                  <a:pt x="1464059" y="76437"/>
                </a:cubicBezTo>
                <a:cubicBezTo>
                  <a:pt x="1467771" y="78146"/>
                  <a:pt x="1472661" y="80149"/>
                  <a:pt x="1478728" y="82446"/>
                </a:cubicBezTo>
                <a:cubicBezTo>
                  <a:pt x="1484796" y="84685"/>
                  <a:pt x="1490039" y="86997"/>
                  <a:pt x="1494458" y="89383"/>
                </a:cubicBezTo>
                <a:cubicBezTo>
                  <a:pt x="1498876" y="91769"/>
                  <a:pt x="1502278" y="94656"/>
                  <a:pt x="1504664" y="98043"/>
                </a:cubicBezTo>
                <a:cubicBezTo>
                  <a:pt x="1507050" y="101431"/>
                  <a:pt x="1508243" y="105775"/>
                  <a:pt x="1508243" y="111077"/>
                </a:cubicBezTo>
                <a:cubicBezTo>
                  <a:pt x="1508243" y="117263"/>
                  <a:pt x="1506696" y="122462"/>
                  <a:pt x="1503604" y="126674"/>
                </a:cubicBezTo>
                <a:cubicBezTo>
                  <a:pt x="1500511" y="130886"/>
                  <a:pt x="1496092" y="134053"/>
                  <a:pt x="1490349" y="136173"/>
                </a:cubicBezTo>
                <a:cubicBezTo>
                  <a:pt x="1484605" y="138294"/>
                  <a:pt x="1477756" y="139355"/>
                  <a:pt x="1469803" y="139355"/>
                </a:cubicBezTo>
                <a:cubicBezTo>
                  <a:pt x="1463029" y="139355"/>
                  <a:pt x="1457167" y="138824"/>
                  <a:pt x="1452218" y="137764"/>
                </a:cubicBezTo>
                <a:cubicBezTo>
                  <a:pt x="1447270" y="136704"/>
                  <a:pt x="1442940" y="135201"/>
                  <a:pt x="1439228" y="133257"/>
                </a:cubicBezTo>
                <a:lnTo>
                  <a:pt x="1439228" y="119737"/>
                </a:lnTo>
                <a:cubicBezTo>
                  <a:pt x="1443175" y="121681"/>
                  <a:pt x="1447888" y="123449"/>
                  <a:pt x="1453367" y="125039"/>
                </a:cubicBezTo>
                <a:cubicBezTo>
                  <a:pt x="1458846" y="126630"/>
                  <a:pt x="1464442" y="127425"/>
                  <a:pt x="1470157" y="127425"/>
                </a:cubicBezTo>
                <a:cubicBezTo>
                  <a:pt x="1478522" y="127425"/>
                  <a:pt x="1484590" y="126070"/>
                  <a:pt x="1488360" y="123360"/>
                </a:cubicBezTo>
                <a:cubicBezTo>
                  <a:pt x="1492131" y="120650"/>
                  <a:pt x="1494016" y="116968"/>
                  <a:pt x="1494016" y="112314"/>
                </a:cubicBezTo>
                <a:cubicBezTo>
                  <a:pt x="1494016" y="109663"/>
                  <a:pt x="1493265" y="107322"/>
                  <a:pt x="1491762" y="105289"/>
                </a:cubicBezTo>
                <a:cubicBezTo>
                  <a:pt x="1490260" y="103257"/>
                  <a:pt x="1487742" y="101283"/>
                  <a:pt x="1484207" y="99369"/>
                </a:cubicBezTo>
                <a:cubicBezTo>
                  <a:pt x="1480672" y="97454"/>
                  <a:pt x="1475783" y="95348"/>
                  <a:pt x="1469538" y="93050"/>
                </a:cubicBezTo>
                <a:cubicBezTo>
                  <a:pt x="1463353" y="90694"/>
                  <a:pt x="1458006" y="88352"/>
                  <a:pt x="1453500" y="86025"/>
                </a:cubicBezTo>
                <a:cubicBezTo>
                  <a:pt x="1448993" y="83698"/>
                  <a:pt x="1445517" y="80856"/>
                  <a:pt x="1443072" y="77498"/>
                </a:cubicBezTo>
                <a:cubicBezTo>
                  <a:pt x="1440628" y="74140"/>
                  <a:pt x="1439405" y="69781"/>
                  <a:pt x="1439405" y="64420"/>
                </a:cubicBezTo>
                <a:cubicBezTo>
                  <a:pt x="1439405" y="56231"/>
                  <a:pt x="1442719" y="49942"/>
                  <a:pt x="1449346" y="45553"/>
                </a:cubicBezTo>
                <a:cubicBezTo>
                  <a:pt x="1455974" y="41164"/>
                  <a:pt x="1464678" y="38970"/>
                  <a:pt x="1475459" y="38970"/>
                </a:cubicBezTo>
                <a:close/>
                <a:moveTo>
                  <a:pt x="1389734" y="38970"/>
                </a:moveTo>
                <a:cubicBezTo>
                  <a:pt x="1395566" y="38970"/>
                  <a:pt x="1401030" y="39544"/>
                  <a:pt x="1406126" y="40693"/>
                </a:cubicBezTo>
                <a:cubicBezTo>
                  <a:pt x="1411222" y="41842"/>
                  <a:pt x="1415979" y="43388"/>
                  <a:pt x="1420397" y="45332"/>
                </a:cubicBezTo>
                <a:lnTo>
                  <a:pt x="1415448" y="57085"/>
                </a:lnTo>
                <a:cubicBezTo>
                  <a:pt x="1411442" y="55377"/>
                  <a:pt x="1407172" y="53933"/>
                  <a:pt x="1402635" y="52755"/>
                </a:cubicBezTo>
                <a:cubicBezTo>
                  <a:pt x="1398099" y="51577"/>
                  <a:pt x="1393475" y="50988"/>
                  <a:pt x="1388762" y="50988"/>
                </a:cubicBezTo>
                <a:cubicBezTo>
                  <a:pt x="1381987" y="50988"/>
                  <a:pt x="1376788" y="52107"/>
                  <a:pt x="1373165" y="54346"/>
                </a:cubicBezTo>
                <a:cubicBezTo>
                  <a:pt x="1369542" y="56584"/>
                  <a:pt x="1367730" y="59648"/>
                  <a:pt x="1367730" y="63536"/>
                </a:cubicBezTo>
                <a:cubicBezTo>
                  <a:pt x="1367730" y="66540"/>
                  <a:pt x="1368570" y="69015"/>
                  <a:pt x="1370249" y="70959"/>
                </a:cubicBezTo>
                <a:cubicBezTo>
                  <a:pt x="1371928" y="72903"/>
                  <a:pt x="1374623" y="74729"/>
                  <a:pt x="1378334" y="76437"/>
                </a:cubicBezTo>
                <a:cubicBezTo>
                  <a:pt x="1382046" y="78146"/>
                  <a:pt x="1386936" y="80149"/>
                  <a:pt x="1393003" y="82446"/>
                </a:cubicBezTo>
                <a:cubicBezTo>
                  <a:pt x="1399071" y="84685"/>
                  <a:pt x="1404314" y="86997"/>
                  <a:pt x="1408733" y="89383"/>
                </a:cubicBezTo>
                <a:cubicBezTo>
                  <a:pt x="1413151" y="91769"/>
                  <a:pt x="1416553" y="94656"/>
                  <a:pt x="1418939" y="98043"/>
                </a:cubicBezTo>
                <a:cubicBezTo>
                  <a:pt x="1421325" y="101431"/>
                  <a:pt x="1422518" y="105775"/>
                  <a:pt x="1422518" y="111077"/>
                </a:cubicBezTo>
                <a:cubicBezTo>
                  <a:pt x="1422518" y="117263"/>
                  <a:pt x="1420971" y="122462"/>
                  <a:pt x="1417879" y="126674"/>
                </a:cubicBezTo>
                <a:cubicBezTo>
                  <a:pt x="1414786" y="130886"/>
                  <a:pt x="1410367" y="134053"/>
                  <a:pt x="1404624" y="136173"/>
                </a:cubicBezTo>
                <a:cubicBezTo>
                  <a:pt x="1398880" y="138294"/>
                  <a:pt x="1392031" y="139355"/>
                  <a:pt x="1384078" y="139355"/>
                </a:cubicBezTo>
                <a:cubicBezTo>
                  <a:pt x="1377303" y="139355"/>
                  <a:pt x="1371442" y="138824"/>
                  <a:pt x="1366493" y="137764"/>
                </a:cubicBezTo>
                <a:cubicBezTo>
                  <a:pt x="1361545" y="136704"/>
                  <a:pt x="1357215" y="135201"/>
                  <a:pt x="1353503" y="133257"/>
                </a:cubicBezTo>
                <a:lnTo>
                  <a:pt x="1353503" y="119737"/>
                </a:lnTo>
                <a:cubicBezTo>
                  <a:pt x="1357450" y="121681"/>
                  <a:pt x="1362163" y="123449"/>
                  <a:pt x="1367642" y="125039"/>
                </a:cubicBezTo>
                <a:cubicBezTo>
                  <a:pt x="1373121" y="126630"/>
                  <a:pt x="1378717" y="127425"/>
                  <a:pt x="1384432" y="127425"/>
                </a:cubicBezTo>
                <a:cubicBezTo>
                  <a:pt x="1392797" y="127425"/>
                  <a:pt x="1398865" y="126070"/>
                  <a:pt x="1402635" y="123360"/>
                </a:cubicBezTo>
                <a:cubicBezTo>
                  <a:pt x="1406406" y="120650"/>
                  <a:pt x="1408291" y="116968"/>
                  <a:pt x="1408291" y="112314"/>
                </a:cubicBezTo>
                <a:cubicBezTo>
                  <a:pt x="1408291" y="109663"/>
                  <a:pt x="1407540" y="107322"/>
                  <a:pt x="1406037" y="105289"/>
                </a:cubicBezTo>
                <a:cubicBezTo>
                  <a:pt x="1404535" y="103257"/>
                  <a:pt x="1402017" y="101283"/>
                  <a:pt x="1398482" y="99369"/>
                </a:cubicBezTo>
                <a:cubicBezTo>
                  <a:pt x="1394947" y="97454"/>
                  <a:pt x="1390058" y="95348"/>
                  <a:pt x="1383813" y="93050"/>
                </a:cubicBezTo>
                <a:cubicBezTo>
                  <a:pt x="1377628" y="90694"/>
                  <a:pt x="1372281" y="88352"/>
                  <a:pt x="1367775" y="86025"/>
                </a:cubicBezTo>
                <a:cubicBezTo>
                  <a:pt x="1363268" y="83698"/>
                  <a:pt x="1359792" y="80856"/>
                  <a:pt x="1357347" y="77498"/>
                </a:cubicBezTo>
                <a:cubicBezTo>
                  <a:pt x="1354902" y="74140"/>
                  <a:pt x="1353680" y="69781"/>
                  <a:pt x="1353680" y="64420"/>
                </a:cubicBezTo>
                <a:cubicBezTo>
                  <a:pt x="1353680" y="56231"/>
                  <a:pt x="1356994" y="49942"/>
                  <a:pt x="1363621" y="45553"/>
                </a:cubicBezTo>
                <a:cubicBezTo>
                  <a:pt x="1370249" y="41164"/>
                  <a:pt x="1378953" y="38970"/>
                  <a:pt x="1389734" y="38970"/>
                </a:cubicBezTo>
                <a:close/>
                <a:moveTo>
                  <a:pt x="1292382" y="38970"/>
                </a:moveTo>
                <a:cubicBezTo>
                  <a:pt x="1300629" y="38970"/>
                  <a:pt x="1307699" y="40796"/>
                  <a:pt x="1313590" y="44449"/>
                </a:cubicBezTo>
                <a:cubicBezTo>
                  <a:pt x="1319481" y="48101"/>
                  <a:pt x="1323987" y="53212"/>
                  <a:pt x="1327110" y="59780"/>
                </a:cubicBezTo>
                <a:cubicBezTo>
                  <a:pt x="1330232" y="66349"/>
                  <a:pt x="1331793" y="74022"/>
                  <a:pt x="1331793" y="82800"/>
                </a:cubicBezTo>
                <a:lnTo>
                  <a:pt x="1331793" y="91902"/>
                </a:lnTo>
                <a:lnTo>
                  <a:pt x="1264900" y="91902"/>
                </a:lnTo>
                <a:cubicBezTo>
                  <a:pt x="1265076" y="103272"/>
                  <a:pt x="1267904" y="111931"/>
                  <a:pt x="1273383" y="117881"/>
                </a:cubicBezTo>
                <a:cubicBezTo>
                  <a:pt x="1278861" y="123831"/>
                  <a:pt x="1286579" y="126807"/>
                  <a:pt x="1296535" y="126807"/>
                </a:cubicBezTo>
                <a:cubicBezTo>
                  <a:pt x="1302662" y="126807"/>
                  <a:pt x="1308081" y="126247"/>
                  <a:pt x="1312794" y="125128"/>
                </a:cubicBezTo>
                <a:cubicBezTo>
                  <a:pt x="1317507" y="124008"/>
                  <a:pt x="1322397" y="122359"/>
                  <a:pt x="1327463" y="120179"/>
                </a:cubicBezTo>
                <a:lnTo>
                  <a:pt x="1327463" y="133081"/>
                </a:lnTo>
                <a:cubicBezTo>
                  <a:pt x="1322573" y="135260"/>
                  <a:pt x="1317728" y="136851"/>
                  <a:pt x="1312927" y="137852"/>
                </a:cubicBezTo>
                <a:cubicBezTo>
                  <a:pt x="1308126" y="138854"/>
                  <a:pt x="1302455" y="139355"/>
                  <a:pt x="1295916" y="139355"/>
                </a:cubicBezTo>
                <a:cubicBezTo>
                  <a:pt x="1286608" y="139355"/>
                  <a:pt x="1278493" y="137455"/>
                  <a:pt x="1271571" y="133655"/>
                </a:cubicBezTo>
                <a:cubicBezTo>
                  <a:pt x="1264649" y="129855"/>
                  <a:pt x="1259274" y="124273"/>
                  <a:pt x="1255444" y="116909"/>
                </a:cubicBezTo>
                <a:cubicBezTo>
                  <a:pt x="1251615" y="109546"/>
                  <a:pt x="1249700" y="100532"/>
                  <a:pt x="1249700" y="89869"/>
                </a:cubicBezTo>
                <a:cubicBezTo>
                  <a:pt x="1249700" y="79442"/>
                  <a:pt x="1251453" y="70414"/>
                  <a:pt x="1254958" y="62785"/>
                </a:cubicBezTo>
                <a:cubicBezTo>
                  <a:pt x="1258463" y="55156"/>
                  <a:pt x="1263412" y="49279"/>
                  <a:pt x="1269804" y="45156"/>
                </a:cubicBezTo>
                <a:cubicBezTo>
                  <a:pt x="1276196" y="41032"/>
                  <a:pt x="1283722" y="38970"/>
                  <a:pt x="1292382" y="38970"/>
                </a:cubicBezTo>
                <a:close/>
                <a:moveTo>
                  <a:pt x="1222897" y="38970"/>
                </a:moveTo>
                <a:cubicBezTo>
                  <a:pt x="1224842" y="38970"/>
                  <a:pt x="1226874" y="39073"/>
                  <a:pt x="1228995" y="39279"/>
                </a:cubicBezTo>
                <a:cubicBezTo>
                  <a:pt x="1231116" y="39485"/>
                  <a:pt x="1233001" y="39765"/>
                  <a:pt x="1234650" y="40119"/>
                </a:cubicBezTo>
                <a:lnTo>
                  <a:pt x="1232795" y="53727"/>
                </a:lnTo>
                <a:cubicBezTo>
                  <a:pt x="1231204" y="53315"/>
                  <a:pt x="1229437" y="52991"/>
                  <a:pt x="1227493" y="52755"/>
                </a:cubicBezTo>
                <a:cubicBezTo>
                  <a:pt x="1225548" y="52520"/>
                  <a:pt x="1223722" y="52402"/>
                  <a:pt x="1222014" y="52402"/>
                </a:cubicBezTo>
                <a:cubicBezTo>
                  <a:pt x="1218126" y="52402"/>
                  <a:pt x="1214458" y="53182"/>
                  <a:pt x="1211012" y="54743"/>
                </a:cubicBezTo>
                <a:cubicBezTo>
                  <a:pt x="1207566" y="56305"/>
                  <a:pt x="1204547" y="58543"/>
                  <a:pt x="1201955" y="61459"/>
                </a:cubicBezTo>
                <a:cubicBezTo>
                  <a:pt x="1199363" y="64375"/>
                  <a:pt x="1197330" y="67881"/>
                  <a:pt x="1195857" y="71975"/>
                </a:cubicBezTo>
                <a:cubicBezTo>
                  <a:pt x="1194385" y="76069"/>
                  <a:pt x="1193648" y="80620"/>
                  <a:pt x="1193648" y="85628"/>
                </a:cubicBezTo>
                <a:lnTo>
                  <a:pt x="1193648" y="137587"/>
                </a:lnTo>
                <a:lnTo>
                  <a:pt x="1178891" y="137587"/>
                </a:lnTo>
                <a:lnTo>
                  <a:pt x="1178891" y="40737"/>
                </a:lnTo>
                <a:lnTo>
                  <a:pt x="1191086" y="40737"/>
                </a:lnTo>
                <a:lnTo>
                  <a:pt x="1192676" y="58587"/>
                </a:lnTo>
                <a:lnTo>
                  <a:pt x="1193295" y="58587"/>
                </a:lnTo>
                <a:cubicBezTo>
                  <a:pt x="1195298" y="54994"/>
                  <a:pt x="1197713" y="51710"/>
                  <a:pt x="1200541" y="48735"/>
                </a:cubicBezTo>
                <a:cubicBezTo>
                  <a:pt x="1203368" y="45760"/>
                  <a:pt x="1206653" y="43388"/>
                  <a:pt x="1210394" y="41621"/>
                </a:cubicBezTo>
                <a:cubicBezTo>
                  <a:pt x="1214134" y="39854"/>
                  <a:pt x="1218302" y="38970"/>
                  <a:pt x="1222897" y="38970"/>
                </a:cubicBezTo>
                <a:close/>
                <a:moveTo>
                  <a:pt x="1015203" y="38970"/>
                </a:moveTo>
                <a:cubicBezTo>
                  <a:pt x="1026691" y="38970"/>
                  <a:pt x="1035380" y="41783"/>
                  <a:pt x="1041271" y="47409"/>
                </a:cubicBezTo>
                <a:cubicBezTo>
                  <a:pt x="1047163" y="53035"/>
                  <a:pt x="1050108" y="62063"/>
                  <a:pt x="1050108" y="74493"/>
                </a:cubicBezTo>
                <a:lnTo>
                  <a:pt x="1050108" y="137587"/>
                </a:lnTo>
                <a:lnTo>
                  <a:pt x="1035616" y="137587"/>
                </a:lnTo>
                <a:lnTo>
                  <a:pt x="1035616" y="75465"/>
                </a:lnTo>
                <a:cubicBezTo>
                  <a:pt x="1035616" y="67395"/>
                  <a:pt x="1033775" y="61356"/>
                  <a:pt x="1030093" y="57350"/>
                </a:cubicBezTo>
                <a:cubicBezTo>
                  <a:pt x="1026411" y="53344"/>
                  <a:pt x="1020770" y="51341"/>
                  <a:pt x="1013171" y="51341"/>
                </a:cubicBezTo>
                <a:cubicBezTo>
                  <a:pt x="1002449" y="51341"/>
                  <a:pt x="994908" y="54375"/>
                  <a:pt x="990549" y="60443"/>
                </a:cubicBezTo>
                <a:cubicBezTo>
                  <a:pt x="986190" y="66511"/>
                  <a:pt x="984010" y="75318"/>
                  <a:pt x="984010" y="86865"/>
                </a:cubicBezTo>
                <a:lnTo>
                  <a:pt x="984010" y="137587"/>
                </a:lnTo>
                <a:lnTo>
                  <a:pt x="969341" y="137587"/>
                </a:lnTo>
                <a:lnTo>
                  <a:pt x="969341" y="40737"/>
                </a:lnTo>
                <a:lnTo>
                  <a:pt x="981182" y="40737"/>
                </a:lnTo>
                <a:lnTo>
                  <a:pt x="983391" y="54699"/>
                </a:lnTo>
                <a:lnTo>
                  <a:pt x="984187" y="54699"/>
                </a:lnTo>
                <a:cubicBezTo>
                  <a:pt x="986248" y="51282"/>
                  <a:pt x="988870" y="48411"/>
                  <a:pt x="992051" y="46084"/>
                </a:cubicBezTo>
                <a:cubicBezTo>
                  <a:pt x="995232" y="43757"/>
                  <a:pt x="998796" y="41989"/>
                  <a:pt x="1002743" y="40782"/>
                </a:cubicBezTo>
                <a:cubicBezTo>
                  <a:pt x="1006691" y="39574"/>
                  <a:pt x="1010844" y="38970"/>
                  <a:pt x="1015203" y="38970"/>
                </a:cubicBezTo>
                <a:close/>
                <a:moveTo>
                  <a:pt x="903889" y="38970"/>
                </a:moveTo>
                <a:cubicBezTo>
                  <a:pt x="912726" y="38970"/>
                  <a:pt x="920458" y="40944"/>
                  <a:pt x="927085" y="44891"/>
                </a:cubicBezTo>
                <a:cubicBezTo>
                  <a:pt x="933713" y="48838"/>
                  <a:pt x="938868" y="54537"/>
                  <a:pt x="942550" y="61990"/>
                </a:cubicBezTo>
                <a:cubicBezTo>
                  <a:pt x="946231" y="69442"/>
                  <a:pt x="948072" y="78440"/>
                  <a:pt x="948072" y="88986"/>
                </a:cubicBezTo>
                <a:cubicBezTo>
                  <a:pt x="948072" y="96939"/>
                  <a:pt x="947042" y="104037"/>
                  <a:pt x="944980" y="110282"/>
                </a:cubicBezTo>
                <a:cubicBezTo>
                  <a:pt x="942918" y="116527"/>
                  <a:pt x="939943" y="121799"/>
                  <a:pt x="936054" y="126100"/>
                </a:cubicBezTo>
                <a:cubicBezTo>
                  <a:pt x="932166" y="130400"/>
                  <a:pt x="927468" y="133684"/>
                  <a:pt x="921960" y="135952"/>
                </a:cubicBezTo>
                <a:cubicBezTo>
                  <a:pt x="916452" y="138221"/>
                  <a:pt x="910222" y="139355"/>
                  <a:pt x="903271" y="139355"/>
                </a:cubicBezTo>
                <a:cubicBezTo>
                  <a:pt x="896790" y="139355"/>
                  <a:pt x="890855" y="138221"/>
                  <a:pt x="885465" y="135952"/>
                </a:cubicBezTo>
                <a:cubicBezTo>
                  <a:pt x="880074" y="133684"/>
                  <a:pt x="875420" y="130400"/>
                  <a:pt x="871503" y="126100"/>
                </a:cubicBezTo>
                <a:cubicBezTo>
                  <a:pt x="867585" y="121799"/>
                  <a:pt x="864551" y="116527"/>
                  <a:pt x="862401" y="110282"/>
                </a:cubicBezTo>
                <a:cubicBezTo>
                  <a:pt x="860251" y="104037"/>
                  <a:pt x="859175" y="96939"/>
                  <a:pt x="859175" y="88986"/>
                </a:cubicBezTo>
                <a:cubicBezTo>
                  <a:pt x="859175" y="78382"/>
                  <a:pt x="860972" y="69353"/>
                  <a:pt x="864566" y="61901"/>
                </a:cubicBezTo>
                <a:cubicBezTo>
                  <a:pt x="868160" y="54449"/>
                  <a:pt x="873300" y="48764"/>
                  <a:pt x="879986" y="44846"/>
                </a:cubicBezTo>
                <a:cubicBezTo>
                  <a:pt x="886672" y="40929"/>
                  <a:pt x="894640" y="38970"/>
                  <a:pt x="903889" y="38970"/>
                </a:cubicBezTo>
                <a:close/>
                <a:moveTo>
                  <a:pt x="556147" y="38970"/>
                </a:moveTo>
                <a:cubicBezTo>
                  <a:pt x="558091" y="38970"/>
                  <a:pt x="560124" y="39073"/>
                  <a:pt x="562245" y="39279"/>
                </a:cubicBezTo>
                <a:cubicBezTo>
                  <a:pt x="564366" y="39485"/>
                  <a:pt x="566251" y="39765"/>
                  <a:pt x="567900" y="40119"/>
                </a:cubicBezTo>
                <a:lnTo>
                  <a:pt x="566044" y="53727"/>
                </a:lnTo>
                <a:cubicBezTo>
                  <a:pt x="564454" y="53315"/>
                  <a:pt x="562687" y="52991"/>
                  <a:pt x="560742" y="52755"/>
                </a:cubicBezTo>
                <a:cubicBezTo>
                  <a:pt x="558798" y="52520"/>
                  <a:pt x="556972" y="52402"/>
                  <a:pt x="555264" y="52402"/>
                </a:cubicBezTo>
                <a:cubicBezTo>
                  <a:pt x="551376" y="52402"/>
                  <a:pt x="547708" y="53182"/>
                  <a:pt x="544262" y="54743"/>
                </a:cubicBezTo>
                <a:cubicBezTo>
                  <a:pt x="540816" y="56305"/>
                  <a:pt x="537797" y="58543"/>
                  <a:pt x="535205" y="61459"/>
                </a:cubicBezTo>
                <a:cubicBezTo>
                  <a:pt x="532613" y="64375"/>
                  <a:pt x="530580" y="67881"/>
                  <a:pt x="529107" y="71975"/>
                </a:cubicBezTo>
                <a:cubicBezTo>
                  <a:pt x="527634" y="76069"/>
                  <a:pt x="526898" y="80620"/>
                  <a:pt x="526898" y="85628"/>
                </a:cubicBezTo>
                <a:lnTo>
                  <a:pt x="526898" y="137587"/>
                </a:lnTo>
                <a:lnTo>
                  <a:pt x="512141" y="137587"/>
                </a:lnTo>
                <a:lnTo>
                  <a:pt x="512141" y="40737"/>
                </a:lnTo>
                <a:lnTo>
                  <a:pt x="524335" y="40737"/>
                </a:lnTo>
                <a:lnTo>
                  <a:pt x="525926" y="58587"/>
                </a:lnTo>
                <a:lnTo>
                  <a:pt x="526545" y="58587"/>
                </a:lnTo>
                <a:cubicBezTo>
                  <a:pt x="528548" y="54994"/>
                  <a:pt x="530963" y="51710"/>
                  <a:pt x="533791" y="48735"/>
                </a:cubicBezTo>
                <a:cubicBezTo>
                  <a:pt x="536618" y="45760"/>
                  <a:pt x="539903" y="43388"/>
                  <a:pt x="543644" y="41621"/>
                </a:cubicBezTo>
                <a:cubicBezTo>
                  <a:pt x="547384" y="39854"/>
                  <a:pt x="551552" y="38970"/>
                  <a:pt x="556147" y="38970"/>
                </a:cubicBezTo>
                <a:close/>
                <a:moveTo>
                  <a:pt x="446689" y="38970"/>
                </a:moveTo>
                <a:cubicBezTo>
                  <a:pt x="455526" y="38970"/>
                  <a:pt x="463258" y="40944"/>
                  <a:pt x="469885" y="44891"/>
                </a:cubicBezTo>
                <a:cubicBezTo>
                  <a:pt x="476513" y="48838"/>
                  <a:pt x="481668" y="54537"/>
                  <a:pt x="485349" y="61990"/>
                </a:cubicBezTo>
                <a:cubicBezTo>
                  <a:pt x="489031" y="69442"/>
                  <a:pt x="490872" y="78440"/>
                  <a:pt x="490872" y="88986"/>
                </a:cubicBezTo>
                <a:cubicBezTo>
                  <a:pt x="490872" y="96939"/>
                  <a:pt x="489841" y="104037"/>
                  <a:pt x="487780" y="110282"/>
                </a:cubicBezTo>
                <a:cubicBezTo>
                  <a:pt x="485718" y="116527"/>
                  <a:pt x="482743" y="121799"/>
                  <a:pt x="478855" y="126100"/>
                </a:cubicBezTo>
                <a:cubicBezTo>
                  <a:pt x="474966" y="130400"/>
                  <a:pt x="470268" y="133684"/>
                  <a:pt x="464760" y="135952"/>
                </a:cubicBezTo>
                <a:cubicBezTo>
                  <a:pt x="459252" y="138221"/>
                  <a:pt x="453022" y="139355"/>
                  <a:pt x="446070" y="139355"/>
                </a:cubicBezTo>
                <a:cubicBezTo>
                  <a:pt x="439590" y="139355"/>
                  <a:pt x="433655" y="138221"/>
                  <a:pt x="428265" y="135952"/>
                </a:cubicBezTo>
                <a:cubicBezTo>
                  <a:pt x="422874" y="133684"/>
                  <a:pt x="418220" y="130400"/>
                  <a:pt x="414303" y="126100"/>
                </a:cubicBezTo>
                <a:cubicBezTo>
                  <a:pt x="410385" y="121799"/>
                  <a:pt x="407351" y="116527"/>
                  <a:pt x="405201" y="110282"/>
                </a:cubicBezTo>
                <a:cubicBezTo>
                  <a:pt x="403051" y="104037"/>
                  <a:pt x="401976" y="96939"/>
                  <a:pt x="401976" y="88986"/>
                </a:cubicBezTo>
                <a:cubicBezTo>
                  <a:pt x="401976" y="78382"/>
                  <a:pt x="403772" y="69353"/>
                  <a:pt x="407366" y="61901"/>
                </a:cubicBezTo>
                <a:cubicBezTo>
                  <a:pt x="410959" y="54449"/>
                  <a:pt x="416099" y="48764"/>
                  <a:pt x="422786" y="44846"/>
                </a:cubicBezTo>
                <a:cubicBezTo>
                  <a:pt x="429472" y="40929"/>
                  <a:pt x="437440" y="38970"/>
                  <a:pt x="446689" y="38970"/>
                </a:cubicBezTo>
                <a:close/>
                <a:moveTo>
                  <a:pt x="2601176" y="38793"/>
                </a:moveTo>
                <a:cubicBezTo>
                  <a:pt x="2602885" y="38793"/>
                  <a:pt x="2604608" y="38867"/>
                  <a:pt x="2606345" y="39014"/>
                </a:cubicBezTo>
                <a:cubicBezTo>
                  <a:pt x="2608083" y="39161"/>
                  <a:pt x="2609748" y="39368"/>
                  <a:pt x="2611338" y="39633"/>
                </a:cubicBezTo>
                <a:cubicBezTo>
                  <a:pt x="2612929" y="39898"/>
                  <a:pt x="2614313" y="40207"/>
                  <a:pt x="2615491" y="40561"/>
                </a:cubicBezTo>
                <a:lnTo>
                  <a:pt x="2648717" y="40561"/>
                </a:lnTo>
                <a:lnTo>
                  <a:pt x="2648717" y="50016"/>
                </a:lnTo>
                <a:lnTo>
                  <a:pt x="2630867" y="52225"/>
                </a:lnTo>
                <a:cubicBezTo>
                  <a:pt x="2632635" y="54523"/>
                  <a:pt x="2634107" y="57291"/>
                  <a:pt x="2635286" y="60531"/>
                </a:cubicBezTo>
                <a:cubicBezTo>
                  <a:pt x="2636464" y="63772"/>
                  <a:pt x="2637053" y="67365"/>
                  <a:pt x="2637053" y="71312"/>
                </a:cubicBezTo>
                <a:cubicBezTo>
                  <a:pt x="2637053" y="80974"/>
                  <a:pt x="2633783" y="88647"/>
                  <a:pt x="2627244" y="94332"/>
                </a:cubicBezTo>
                <a:cubicBezTo>
                  <a:pt x="2620705" y="100017"/>
                  <a:pt x="2611721" y="102859"/>
                  <a:pt x="2600292" y="102859"/>
                </a:cubicBezTo>
                <a:cubicBezTo>
                  <a:pt x="2597583" y="102859"/>
                  <a:pt x="2594814" y="102623"/>
                  <a:pt x="2591986" y="102152"/>
                </a:cubicBezTo>
                <a:cubicBezTo>
                  <a:pt x="2589099" y="103743"/>
                  <a:pt x="2586905" y="105510"/>
                  <a:pt x="2585403" y="107454"/>
                </a:cubicBezTo>
                <a:cubicBezTo>
                  <a:pt x="2583900" y="109398"/>
                  <a:pt x="2583149" y="111637"/>
                  <a:pt x="2583149" y="114170"/>
                </a:cubicBezTo>
                <a:cubicBezTo>
                  <a:pt x="2583149" y="116055"/>
                  <a:pt x="2583724" y="117557"/>
                  <a:pt x="2584872" y="118677"/>
                </a:cubicBezTo>
                <a:cubicBezTo>
                  <a:pt x="2586021" y="119796"/>
                  <a:pt x="2587686" y="120606"/>
                  <a:pt x="2589865" y="121107"/>
                </a:cubicBezTo>
                <a:cubicBezTo>
                  <a:pt x="2592045" y="121608"/>
                  <a:pt x="2594667" y="121858"/>
                  <a:pt x="2597730" y="121858"/>
                </a:cubicBezTo>
                <a:lnTo>
                  <a:pt x="2614785" y="121858"/>
                </a:lnTo>
                <a:cubicBezTo>
                  <a:pt x="2625330" y="121858"/>
                  <a:pt x="2633415" y="124067"/>
                  <a:pt x="2639041" y="128485"/>
                </a:cubicBezTo>
                <a:cubicBezTo>
                  <a:pt x="2644667" y="132904"/>
                  <a:pt x="2647480" y="139355"/>
                  <a:pt x="2647480" y="147838"/>
                </a:cubicBezTo>
                <a:cubicBezTo>
                  <a:pt x="2647480" y="158560"/>
                  <a:pt x="2643121" y="166778"/>
                  <a:pt x="2634402" y="172492"/>
                </a:cubicBezTo>
                <a:cubicBezTo>
                  <a:pt x="2625683" y="178206"/>
                  <a:pt x="2613076" y="181064"/>
                  <a:pt x="2596581" y="181064"/>
                </a:cubicBezTo>
                <a:cubicBezTo>
                  <a:pt x="2583856" y="181064"/>
                  <a:pt x="2574047" y="178692"/>
                  <a:pt x="2567155" y="173950"/>
                </a:cubicBezTo>
                <a:cubicBezTo>
                  <a:pt x="2560262" y="169208"/>
                  <a:pt x="2556816" y="162566"/>
                  <a:pt x="2556816" y="154023"/>
                </a:cubicBezTo>
                <a:cubicBezTo>
                  <a:pt x="2556816" y="147956"/>
                  <a:pt x="2558745" y="142771"/>
                  <a:pt x="2562604" y="138471"/>
                </a:cubicBezTo>
                <a:cubicBezTo>
                  <a:pt x="2566463" y="134170"/>
                  <a:pt x="2571809" y="131313"/>
                  <a:pt x="2578643" y="129899"/>
                </a:cubicBezTo>
                <a:cubicBezTo>
                  <a:pt x="2576110" y="128721"/>
                  <a:pt x="2573945" y="126954"/>
                  <a:pt x="2572148" y="124597"/>
                </a:cubicBezTo>
                <a:cubicBezTo>
                  <a:pt x="2570351" y="122241"/>
                  <a:pt x="2569452" y="119531"/>
                  <a:pt x="2569452" y="116468"/>
                </a:cubicBezTo>
                <a:cubicBezTo>
                  <a:pt x="2569452" y="112933"/>
                  <a:pt x="2570439" y="109825"/>
                  <a:pt x="2572413" y="107145"/>
                </a:cubicBezTo>
                <a:cubicBezTo>
                  <a:pt x="2574386" y="104464"/>
                  <a:pt x="2577405" y="101887"/>
                  <a:pt x="2581470" y="99413"/>
                </a:cubicBezTo>
                <a:cubicBezTo>
                  <a:pt x="2576404" y="97351"/>
                  <a:pt x="2572295" y="93860"/>
                  <a:pt x="2569143" y="88941"/>
                </a:cubicBezTo>
                <a:cubicBezTo>
                  <a:pt x="2565992" y="84022"/>
                  <a:pt x="2564415" y="78293"/>
                  <a:pt x="2564415" y="71754"/>
                </a:cubicBezTo>
                <a:cubicBezTo>
                  <a:pt x="2564415" y="64803"/>
                  <a:pt x="2565859" y="58867"/>
                  <a:pt x="2568745" y="53948"/>
                </a:cubicBezTo>
                <a:cubicBezTo>
                  <a:pt x="2571632" y="49029"/>
                  <a:pt x="2575815" y="45274"/>
                  <a:pt x="2581294" y="42681"/>
                </a:cubicBezTo>
                <a:cubicBezTo>
                  <a:pt x="2586772" y="40089"/>
                  <a:pt x="2593400" y="38793"/>
                  <a:pt x="2601176" y="38793"/>
                </a:cubicBezTo>
                <a:close/>
                <a:moveTo>
                  <a:pt x="1115276" y="38793"/>
                </a:moveTo>
                <a:cubicBezTo>
                  <a:pt x="1116985" y="38793"/>
                  <a:pt x="1118708" y="38867"/>
                  <a:pt x="1120446" y="39014"/>
                </a:cubicBezTo>
                <a:cubicBezTo>
                  <a:pt x="1122184" y="39161"/>
                  <a:pt x="1123848" y="39368"/>
                  <a:pt x="1125438" y="39633"/>
                </a:cubicBezTo>
                <a:cubicBezTo>
                  <a:pt x="1127029" y="39898"/>
                  <a:pt x="1128413" y="40207"/>
                  <a:pt x="1129592" y="40561"/>
                </a:cubicBezTo>
                <a:lnTo>
                  <a:pt x="1162818" y="40561"/>
                </a:lnTo>
                <a:lnTo>
                  <a:pt x="1162818" y="50016"/>
                </a:lnTo>
                <a:lnTo>
                  <a:pt x="1144967" y="52225"/>
                </a:lnTo>
                <a:cubicBezTo>
                  <a:pt x="1146735" y="54523"/>
                  <a:pt x="1148208" y="57291"/>
                  <a:pt x="1149386" y="60531"/>
                </a:cubicBezTo>
                <a:cubicBezTo>
                  <a:pt x="1150564" y="63772"/>
                  <a:pt x="1151153" y="67365"/>
                  <a:pt x="1151153" y="71312"/>
                </a:cubicBezTo>
                <a:cubicBezTo>
                  <a:pt x="1151153" y="80974"/>
                  <a:pt x="1147884" y="88647"/>
                  <a:pt x="1141344" y="94332"/>
                </a:cubicBezTo>
                <a:cubicBezTo>
                  <a:pt x="1134805" y="100017"/>
                  <a:pt x="1125821" y="102859"/>
                  <a:pt x="1114393" y="102859"/>
                </a:cubicBezTo>
                <a:cubicBezTo>
                  <a:pt x="1111683" y="102859"/>
                  <a:pt x="1108914" y="102623"/>
                  <a:pt x="1106086" y="102152"/>
                </a:cubicBezTo>
                <a:cubicBezTo>
                  <a:pt x="1103199" y="103743"/>
                  <a:pt x="1101005" y="105510"/>
                  <a:pt x="1099503" y="107454"/>
                </a:cubicBezTo>
                <a:cubicBezTo>
                  <a:pt x="1098001" y="109398"/>
                  <a:pt x="1097249" y="111637"/>
                  <a:pt x="1097249" y="114170"/>
                </a:cubicBezTo>
                <a:cubicBezTo>
                  <a:pt x="1097249" y="116055"/>
                  <a:pt x="1097824" y="117557"/>
                  <a:pt x="1098973" y="118677"/>
                </a:cubicBezTo>
                <a:cubicBezTo>
                  <a:pt x="1100121" y="119796"/>
                  <a:pt x="1101786" y="120606"/>
                  <a:pt x="1103965" y="121107"/>
                </a:cubicBezTo>
                <a:cubicBezTo>
                  <a:pt x="1106145" y="121608"/>
                  <a:pt x="1108766" y="121858"/>
                  <a:pt x="1111830" y="121858"/>
                </a:cubicBezTo>
                <a:lnTo>
                  <a:pt x="1128885" y="121858"/>
                </a:lnTo>
                <a:cubicBezTo>
                  <a:pt x="1139430" y="121858"/>
                  <a:pt x="1147515" y="124067"/>
                  <a:pt x="1153141" y="128485"/>
                </a:cubicBezTo>
                <a:cubicBezTo>
                  <a:pt x="1158767" y="132904"/>
                  <a:pt x="1161580" y="139355"/>
                  <a:pt x="1161580" y="147838"/>
                </a:cubicBezTo>
                <a:cubicBezTo>
                  <a:pt x="1161580" y="158560"/>
                  <a:pt x="1157221" y="166778"/>
                  <a:pt x="1148502" y="172492"/>
                </a:cubicBezTo>
                <a:cubicBezTo>
                  <a:pt x="1139783" y="178206"/>
                  <a:pt x="1127176" y="181064"/>
                  <a:pt x="1110681" y="181064"/>
                </a:cubicBezTo>
                <a:cubicBezTo>
                  <a:pt x="1097956" y="181064"/>
                  <a:pt x="1088148" y="178692"/>
                  <a:pt x="1081255" y="173950"/>
                </a:cubicBezTo>
                <a:cubicBezTo>
                  <a:pt x="1074362" y="169208"/>
                  <a:pt x="1070916" y="162566"/>
                  <a:pt x="1070916" y="154023"/>
                </a:cubicBezTo>
                <a:cubicBezTo>
                  <a:pt x="1070916" y="147956"/>
                  <a:pt x="1072845" y="142771"/>
                  <a:pt x="1076704" y="138471"/>
                </a:cubicBezTo>
                <a:cubicBezTo>
                  <a:pt x="1080563" y="134170"/>
                  <a:pt x="1085909" y="131313"/>
                  <a:pt x="1092743" y="129899"/>
                </a:cubicBezTo>
                <a:cubicBezTo>
                  <a:pt x="1090209" y="128721"/>
                  <a:pt x="1088044" y="126954"/>
                  <a:pt x="1086248" y="124597"/>
                </a:cubicBezTo>
                <a:cubicBezTo>
                  <a:pt x="1084451" y="122241"/>
                  <a:pt x="1083553" y="119531"/>
                  <a:pt x="1083553" y="116468"/>
                </a:cubicBezTo>
                <a:cubicBezTo>
                  <a:pt x="1083553" y="112933"/>
                  <a:pt x="1084539" y="109825"/>
                  <a:pt x="1086513" y="107145"/>
                </a:cubicBezTo>
                <a:cubicBezTo>
                  <a:pt x="1088486" y="104464"/>
                  <a:pt x="1091505" y="101887"/>
                  <a:pt x="1095570" y="99413"/>
                </a:cubicBezTo>
                <a:cubicBezTo>
                  <a:pt x="1090504" y="97351"/>
                  <a:pt x="1086395" y="93860"/>
                  <a:pt x="1083243" y="88941"/>
                </a:cubicBezTo>
                <a:cubicBezTo>
                  <a:pt x="1080091" y="84022"/>
                  <a:pt x="1078516" y="78293"/>
                  <a:pt x="1078516" y="71754"/>
                </a:cubicBezTo>
                <a:cubicBezTo>
                  <a:pt x="1078516" y="64803"/>
                  <a:pt x="1079959" y="58867"/>
                  <a:pt x="1082846" y="53948"/>
                </a:cubicBezTo>
                <a:cubicBezTo>
                  <a:pt x="1085732" y="49029"/>
                  <a:pt x="1089915" y="45274"/>
                  <a:pt x="1095394" y="42681"/>
                </a:cubicBezTo>
                <a:cubicBezTo>
                  <a:pt x="1100872" y="40089"/>
                  <a:pt x="1107500" y="38793"/>
                  <a:pt x="1115276" y="38793"/>
                </a:cubicBezTo>
                <a:close/>
                <a:moveTo>
                  <a:pt x="619976" y="38793"/>
                </a:moveTo>
                <a:cubicBezTo>
                  <a:pt x="621685" y="38793"/>
                  <a:pt x="623408" y="38867"/>
                  <a:pt x="625146" y="39014"/>
                </a:cubicBezTo>
                <a:cubicBezTo>
                  <a:pt x="626883" y="39161"/>
                  <a:pt x="628548" y="39368"/>
                  <a:pt x="630138" y="39633"/>
                </a:cubicBezTo>
                <a:cubicBezTo>
                  <a:pt x="631729" y="39898"/>
                  <a:pt x="633113" y="40207"/>
                  <a:pt x="634292" y="40561"/>
                </a:cubicBezTo>
                <a:lnTo>
                  <a:pt x="667517" y="40561"/>
                </a:lnTo>
                <a:lnTo>
                  <a:pt x="667517" y="50016"/>
                </a:lnTo>
                <a:lnTo>
                  <a:pt x="649667" y="52225"/>
                </a:lnTo>
                <a:cubicBezTo>
                  <a:pt x="651435" y="54523"/>
                  <a:pt x="652907" y="57291"/>
                  <a:pt x="654086" y="60531"/>
                </a:cubicBezTo>
                <a:cubicBezTo>
                  <a:pt x="655264" y="63772"/>
                  <a:pt x="655853" y="67365"/>
                  <a:pt x="655853" y="71312"/>
                </a:cubicBezTo>
                <a:cubicBezTo>
                  <a:pt x="655853" y="80974"/>
                  <a:pt x="652583" y="88647"/>
                  <a:pt x="646044" y="94332"/>
                </a:cubicBezTo>
                <a:cubicBezTo>
                  <a:pt x="639505" y="100017"/>
                  <a:pt x="630521" y="102859"/>
                  <a:pt x="619092" y="102859"/>
                </a:cubicBezTo>
                <a:cubicBezTo>
                  <a:pt x="616382" y="102859"/>
                  <a:pt x="613614" y="102623"/>
                  <a:pt x="610786" y="102152"/>
                </a:cubicBezTo>
                <a:cubicBezTo>
                  <a:pt x="607899" y="103743"/>
                  <a:pt x="605705" y="105510"/>
                  <a:pt x="604203" y="107454"/>
                </a:cubicBezTo>
                <a:cubicBezTo>
                  <a:pt x="602700" y="109398"/>
                  <a:pt x="601949" y="111637"/>
                  <a:pt x="601949" y="114170"/>
                </a:cubicBezTo>
                <a:cubicBezTo>
                  <a:pt x="601949" y="116055"/>
                  <a:pt x="602524" y="117557"/>
                  <a:pt x="603672" y="118677"/>
                </a:cubicBezTo>
                <a:cubicBezTo>
                  <a:pt x="604821" y="119796"/>
                  <a:pt x="606485" y="120606"/>
                  <a:pt x="608665" y="121107"/>
                </a:cubicBezTo>
                <a:cubicBezTo>
                  <a:pt x="610845" y="121608"/>
                  <a:pt x="613466" y="121858"/>
                  <a:pt x="616530" y="121858"/>
                </a:cubicBezTo>
                <a:lnTo>
                  <a:pt x="633585" y="121858"/>
                </a:lnTo>
                <a:cubicBezTo>
                  <a:pt x="644130" y="121858"/>
                  <a:pt x="652215" y="124067"/>
                  <a:pt x="657841" y="128485"/>
                </a:cubicBezTo>
                <a:cubicBezTo>
                  <a:pt x="663467" y="132904"/>
                  <a:pt x="666280" y="139355"/>
                  <a:pt x="666280" y="147838"/>
                </a:cubicBezTo>
                <a:cubicBezTo>
                  <a:pt x="666280" y="158560"/>
                  <a:pt x="661921" y="166778"/>
                  <a:pt x="653202" y="172492"/>
                </a:cubicBezTo>
                <a:cubicBezTo>
                  <a:pt x="644483" y="178206"/>
                  <a:pt x="631876" y="181064"/>
                  <a:pt x="615381" y="181064"/>
                </a:cubicBezTo>
                <a:cubicBezTo>
                  <a:pt x="602656" y="181064"/>
                  <a:pt x="592848" y="178692"/>
                  <a:pt x="585955" y="173950"/>
                </a:cubicBezTo>
                <a:cubicBezTo>
                  <a:pt x="579062" y="169208"/>
                  <a:pt x="575616" y="162566"/>
                  <a:pt x="575616" y="154023"/>
                </a:cubicBezTo>
                <a:cubicBezTo>
                  <a:pt x="575616" y="147956"/>
                  <a:pt x="577545" y="142771"/>
                  <a:pt x="581404" y="138471"/>
                </a:cubicBezTo>
                <a:cubicBezTo>
                  <a:pt x="585263" y="134170"/>
                  <a:pt x="590609" y="131313"/>
                  <a:pt x="597443" y="129899"/>
                </a:cubicBezTo>
                <a:cubicBezTo>
                  <a:pt x="594909" y="128721"/>
                  <a:pt x="592744" y="126954"/>
                  <a:pt x="590948" y="124597"/>
                </a:cubicBezTo>
                <a:cubicBezTo>
                  <a:pt x="589151" y="122241"/>
                  <a:pt x="588253" y="119531"/>
                  <a:pt x="588253" y="116468"/>
                </a:cubicBezTo>
                <a:cubicBezTo>
                  <a:pt x="588253" y="112933"/>
                  <a:pt x="589239" y="109825"/>
                  <a:pt x="591213" y="107145"/>
                </a:cubicBezTo>
                <a:cubicBezTo>
                  <a:pt x="593186" y="104464"/>
                  <a:pt x="596206" y="101887"/>
                  <a:pt x="600270" y="99413"/>
                </a:cubicBezTo>
                <a:cubicBezTo>
                  <a:pt x="595204" y="97351"/>
                  <a:pt x="591095" y="93860"/>
                  <a:pt x="587943" y="88941"/>
                </a:cubicBezTo>
                <a:cubicBezTo>
                  <a:pt x="584791" y="84022"/>
                  <a:pt x="583216" y="78293"/>
                  <a:pt x="583216" y="71754"/>
                </a:cubicBezTo>
                <a:cubicBezTo>
                  <a:pt x="583216" y="64803"/>
                  <a:pt x="584659" y="58867"/>
                  <a:pt x="587546" y="53948"/>
                </a:cubicBezTo>
                <a:cubicBezTo>
                  <a:pt x="590432" y="49029"/>
                  <a:pt x="594615" y="45274"/>
                  <a:pt x="600094" y="42681"/>
                </a:cubicBezTo>
                <a:cubicBezTo>
                  <a:pt x="605572" y="40089"/>
                  <a:pt x="612200" y="38793"/>
                  <a:pt x="619976" y="38793"/>
                </a:cubicBezTo>
                <a:close/>
                <a:moveTo>
                  <a:pt x="1876425" y="8395"/>
                </a:moveTo>
                <a:lnTo>
                  <a:pt x="1891447" y="8395"/>
                </a:lnTo>
                <a:lnTo>
                  <a:pt x="1891447" y="137587"/>
                </a:lnTo>
                <a:lnTo>
                  <a:pt x="1876425" y="137587"/>
                </a:lnTo>
                <a:close/>
                <a:moveTo>
                  <a:pt x="1789695" y="8395"/>
                </a:moveTo>
                <a:lnTo>
                  <a:pt x="1801802" y="8395"/>
                </a:lnTo>
                <a:lnTo>
                  <a:pt x="1794467" y="47100"/>
                </a:lnTo>
                <a:lnTo>
                  <a:pt x="1821596" y="47100"/>
                </a:lnTo>
                <a:lnTo>
                  <a:pt x="1828930" y="8395"/>
                </a:lnTo>
                <a:lnTo>
                  <a:pt x="1840595" y="8395"/>
                </a:lnTo>
                <a:lnTo>
                  <a:pt x="1833260" y="47100"/>
                </a:lnTo>
                <a:lnTo>
                  <a:pt x="1856677" y="47100"/>
                </a:lnTo>
                <a:lnTo>
                  <a:pt x="1856677" y="58146"/>
                </a:lnTo>
                <a:lnTo>
                  <a:pt x="1831051" y="58146"/>
                </a:lnTo>
                <a:lnTo>
                  <a:pt x="1825307" y="88190"/>
                </a:lnTo>
                <a:lnTo>
                  <a:pt x="1850315" y="88190"/>
                </a:lnTo>
                <a:lnTo>
                  <a:pt x="1850315" y="99413"/>
                </a:lnTo>
                <a:lnTo>
                  <a:pt x="1823098" y="99413"/>
                </a:lnTo>
                <a:lnTo>
                  <a:pt x="1815587" y="137587"/>
                </a:lnTo>
                <a:lnTo>
                  <a:pt x="1803657" y="137587"/>
                </a:lnTo>
                <a:lnTo>
                  <a:pt x="1811169" y="99413"/>
                </a:lnTo>
                <a:lnTo>
                  <a:pt x="1784217" y="99413"/>
                </a:lnTo>
                <a:lnTo>
                  <a:pt x="1776971" y="137587"/>
                </a:lnTo>
                <a:lnTo>
                  <a:pt x="1765218" y="137587"/>
                </a:lnTo>
                <a:lnTo>
                  <a:pt x="1772199" y="99413"/>
                </a:lnTo>
                <a:lnTo>
                  <a:pt x="1749047" y="99413"/>
                </a:lnTo>
                <a:lnTo>
                  <a:pt x="1749047" y="88190"/>
                </a:lnTo>
                <a:lnTo>
                  <a:pt x="1774408" y="88190"/>
                </a:lnTo>
                <a:lnTo>
                  <a:pt x="1780329" y="58146"/>
                </a:lnTo>
                <a:lnTo>
                  <a:pt x="1755763" y="58146"/>
                </a:lnTo>
                <a:lnTo>
                  <a:pt x="1755763" y="47100"/>
                </a:lnTo>
                <a:lnTo>
                  <a:pt x="1782361" y="47100"/>
                </a:lnTo>
                <a:close/>
                <a:moveTo>
                  <a:pt x="718142" y="8395"/>
                </a:moveTo>
                <a:lnTo>
                  <a:pt x="732546" y="8395"/>
                </a:lnTo>
                <a:lnTo>
                  <a:pt x="684475" y="137587"/>
                </a:lnTo>
                <a:lnTo>
                  <a:pt x="669982" y="137587"/>
                </a:lnTo>
                <a:close/>
                <a:moveTo>
                  <a:pt x="0" y="8395"/>
                </a:moveTo>
                <a:lnTo>
                  <a:pt x="15022" y="8395"/>
                </a:lnTo>
                <a:lnTo>
                  <a:pt x="15022" y="137587"/>
                </a:lnTo>
                <a:lnTo>
                  <a:pt x="0" y="137587"/>
                </a:lnTo>
                <a:close/>
                <a:moveTo>
                  <a:pt x="2293781" y="6539"/>
                </a:moveTo>
                <a:cubicBezTo>
                  <a:pt x="2300320" y="6539"/>
                  <a:pt x="2306623" y="7187"/>
                  <a:pt x="2312691" y="8483"/>
                </a:cubicBezTo>
                <a:cubicBezTo>
                  <a:pt x="2318759" y="9780"/>
                  <a:pt x="2324238" y="11635"/>
                  <a:pt x="2329128" y="14051"/>
                </a:cubicBezTo>
                <a:lnTo>
                  <a:pt x="2323119" y="26775"/>
                </a:lnTo>
                <a:cubicBezTo>
                  <a:pt x="2318995" y="24890"/>
                  <a:pt x="2314473" y="23255"/>
                  <a:pt x="2309554" y="21871"/>
                </a:cubicBezTo>
                <a:cubicBezTo>
                  <a:pt x="2304635" y="20487"/>
                  <a:pt x="2299319" y="19794"/>
                  <a:pt x="2293604" y="19794"/>
                </a:cubicBezTo>
                <a:cubicBezTo>
                  <a:pt x="2286476" y="19794"/>
                  <a:pt x="2280069" y="21017"/>
                  <a:pt x="2274384" y="23462"/>
                </a:cubicBezTo>
                <a:cubicBezTo>
                  <a:pt x="2268700" y="25906"/>
                  <a:pt x="2263869" y="29441"/>
                  <a:pt x="2259892" y="34066"/>
                </a:cubicBezTo>
                <a:cubicBezTo>
                  <a:pt x="2255916" y="38690"/>
                  <a:pt x="2252867" y="44272"/>
                  <a:pt x="2250746" y="50811"/>
                </a:cubicBezTo>
                <a:cubicBezTo>
                  <a:pt x="2248625" y="57350"/>
                  <a:pt x="2247565" y="64714"/>
                  <a:pt x="2247565" y="72903"/>
                </a:cubicBezTo>
                <a:cubicBezTo>
                  <a:pt x="2247565" y="83742"/>
                  <a:pt x="2249259" y="93154"/>
                  <a:pt x="2252646" y="101136"/>
                </a:cubicBezTo>
                <a:cubicBezTo>
                  <a:pt x="2256033" y="109118"/>
                  <a:pt x="2261100" y="115289"/>
                  <a:pt x="2267845" y="119649"/>
                </a:cubicBezTo>
                <a:cubicBezTo>
                  <a:pt x="2274590" y="124008"/>
                  <a:pt x="2283029" y="126188"/>
                  <a:pt x="2293162" y="126188"/>
                </a:cubicBezTo>
                <a:cubicBezTo>
                  <a:pt x="2298935" y="126188"/>
                  <a:pt x="2304370" y="125702"/>
                  <a:pt x="2309466" y="124730"/>
                </a:cubicBezTo>
                <a:cubicBezTo>
                  <a:pt x="2314562" y="123758"/>
                  <a:pt x="2319525" y="122535"/>
                  <a:pt x="2324356" y="121063"/>
                </a:cubicBezTo>
                <a:lnTo>
                  <a:pt x="2324356" y="134141"/>
                </a:lnTo>
                <a:cubicBezTo>
                  <a:pt x="2319643" y="135908"/>
                  <a:pt x="2314694" y="137219"/>
                  <a:pt x="2309510" y="138073"/>
                </a:cubicBezTo>
                <a:cubicBezTo>
                  <a:pt x="2304326" y="138927"/>
                  <a:pt x="2298170" y="139355"/>
                  <a:pt x="2291041" y="139355"/>
                </a:cubicBezTo>
                <a:cubicBezTo>
                  <a:pt x="2277904" y="139355"/>
                  <a:pt x="2266932" y="136630"/>
                  <a:pt x="2258125" y="131181"/>
                </a:cubicBezTo>
                <a:cubicBezTo>
                  <a:pt x="2249318" y="125731"/>
                  <a:pt x="2242720" y="118029"/>
                  <a:pt x="2238331" y="108073"/>
                </a:cubicBezTo>
                <a:cubicBezTo>
                  <a:pt x="2233942" y="98117"/>
                  <a:pt x="2231747" y="86364"/>
                  <a:pt x="2231747" y="72814"/>
                </a:cubicBezTo>
                <a:cubicBezTo>
                  <a:pt x="2231747" y="63035"/>
                  <a:pt x="2233117" y="54095"/>
                  <a:pt x="2235856" y="45995"/>
                </a:cubicBezTo>
                <a:cubicBezTo>
                  <a:pt x="2238596" y="37895"/>
                  <a:pt x="2242602" y="30899"/>
                  <a:pt x="2247874" y="25008"/>
                </a:cubicBezTo>
                <a:cubicBezTo>
                  <a:pt x="2253147" y="19117"/>
                  <a:pt x="2259627" y="14566"/>
                  <a:pt x="2267315" y="11355"/>
                </a:cubicBezTo>
                <a:cubicBezTo>
                  <a:pt x="2275003" y="8145"/>
                  <a:pt x="2283825" y="6539"/>
                  <a:pt x="2293781" y="6539"/>
                </a:cubicBezTo>
                <a:close/>
                <a:moveTo>
                  <a:pt x="2165500" y="6539"/>
                </a:moveTo>
                <a:cubicBezTo>
                  <a:pt x="2173453" y="6539"/>
                  <a:pt x="2180316" y="7924"/>
                  <a:pt x="2186090" y="10693"/>
                </a:cubicBezTo>
                <a:cubicBezTo>
                  <a:pt x="2191863" y="13461"/>
                  <a:pt x="2196326" y="17409"/>
                  <a:pt x="2199477" y="22534"/>
                </a:cubicBezTo>
                <a:cubicBezTo>
                  <a:pt x="2202629" y="27659"/>
                  <a:pt x="2204205" y="33756"/>
                  <a:pt x="2204205" y="40826"/>
                </a:cubicBezTo>
                <a:cubicBezTo>
                  <a:pt x="2204205" y="47659"/>
                  <a:pt x="2202850" y="54007"/>
                  <a:pt x="2200140" y="59869"/>
                </a:cubicBezTo>
                <a:cubicBezTo>
                  <a:pt x="2197430" y="65730"/>
                  <a:pt x="2193630" y="71533"/>
                  <a:pt x="2188741" y="77277"/>
                </a:cubicBezTo>
                <a:cubicBezTo>
                  <a:pt x="2183851" y="83021"/>
                  <a:pt x="2178137" y="89103"/>
                  <a:pt x="2171598" y="95525"/>
                </a:cubicBezTo>
                <a:lnTo>
                  <a:pt x="2143497" y="123537"/>
                </a:lnTo>
                <a:lnTo>
                  <a:pt x="2143497" y="124156"/>
                </a:lnTo>
                <a:lnTo>
                  <a:pt x="2209507" y="124156"/>
                </a:lnTo>
                <a:lnTo>
                  <a:pt x="2209507" y="137587"/>
                </a:lnTo>
                <a:lnTo>
                  <a:pt x="2124852" y="137587"/>
                </a:lnTo>
                <a:lnTo>
                  <a:pt x="2124852" y="125304"/>
                </a:lnTo>
                <a:lnTo>
                  <a:pt x="2159403" y="90223"/>
                </a:lnTo>
                <a:cubicBezTo>
                  <a:pt x="2165824" y="83742"/>
                  <a:pt x="2171229" y="77969"/>
                  <a:pt x="2175618" y="72903"/>
                </a:cubicBezTo>
                <a:cubicBezTo>
                  <a:pt x="2180007" y="67836"/>
                  <a:pt x="2183350" y="62844"/>
                  <a:pt x="2185648" y="57925"/>
                </a:cubicBezTo>
                <a:cubicBezTo>
                  <a:pt x="2187945" y="53006"/>
                  <a:pt x="2189094" y="47600"/>
                  <a:pt x="2189094" y="41709"/>
                </a:cubicBezTo>
                <a:cubicBezTo>
                  <a:pt x="2189094" y="34404"/>
                  <a:pt x="2186929" y="28823"/>
                  <a:pt x="2182599" y="24964"/>
                </a:cubicBezTo>
                <a:cubicBezTo>
                  <a:pt x="2178269" y="21105"/>
                  <a:pt x="2172570" y="19176"/>
                  <a:pt x="2165500" y="19176"/>
                </a:cubicBezTo>
                <a:cubicBezTo>
                  <a:pt x="2159315" y="19176"/>
                  <a:pt x="2153836" y="20236"/>
                  <a:pt x="2149064" y="22357"/>
                </a:cubicBezTo>
                <a:cubicBezTo>
                  <a:pt x="2144292" y="24478"/>
                  <a:pt x="2139403" y="27482"/>
                  <a:pt x="2134395" y="31370"/>
                </a:cubicBezTo>
                <a:lnTo>
                  <a:pt x="2126531" y="21473"/>
                </a:lnTo>
                <a:cubicBezTo>
                  <a:pt x="2129947" y="18587"/>
                  <a:pt x="2133674" y="16024"/>
                  <a:pt x="2137709" y="13786"/>
                </a:cubicBezTo>
                <a:cubicBezTo>
                  <a:pt x="2141744" y="11547"/>
                  <a:pt x="2146074" y="9780"/>
                  <a:pt x="2150699" y="8483"/>
                </a:cubicBezTo>
                <a:cubicBezTo>
                  <a:pt x="2155323" y="7187"/>
                  <a:pt x="2160257" y="6539"/>
                  <a:pt x="2165500" y="6539"/>
                </a:cubicBezTo>
                <a:close/>
                <a:moveTo>
                  <a:pt x="2074706" y="6539"/>
                </a:moveTo>
                <a:cubicBezTo>
                  <a:pt x="2081245" y="6539"/>
                  <a:pt x="2087548" y="7187"/>
                  <a:pt x="2093616" y="8483"/>
                </a:cubicBezTo>
                <a:cubicBezTo>
                  <a:pt x="2099684" y="9780"/>
                  <a:pt x="2105163" y="11635"/>
                  <a:pt x="2110053" y="14051"/>
                </a:cubicBezTo>
                <a:lnTo>
                  <a:pt x="2104044" y="26775"/>
                </a:lnTo>
                <a:cubicBezTo>
                  <a:pt x="2099920" y="24890"/>
                  <a:pt x="2095398" y="23255"/>
                  <a:pt x="2090479" y="21871"/>
                </a:cubicBezTo>
                <a:cubicBezTo>
                  <a:pt x="2085560" y="20487"/>
                  <a:pt x="2080243" y="19794"/>
                  <a:pt x="2074529" y="19794"/>
                </a:cubicBezTo>
                <a:cubicBezTo>
                  <a:pt x="2067401" y="19794"/>
                  <a:pt x="2060994" y="21017"/>
                  <a:pt x="2055309" y="23462"/>
                </a:cubicBezTo>
                <a:cubicBezTo>
                  <a:pt x="2049624" y="25906"/>
                  <a:pt x="2044794" y="29441"/>
                  <a:pt x="2040817" y="34066"/>
                </a:cubicBezTo>
                <a:cubicBezTo>
                  <a:pt x="2036841" y="38690"/>
                  <a:pt x="2033792" y="44272"/>
                  <a:pt x="2031671" y="50811"/>
                </a:cubicBezTo>
                <a:cubicBezTo>
                  <a:pt x="2029550" y="57350"/>
                  <a:pt x="2028490" y="64714"/>
                  <a:pt x="2028490" y="72903"/>
                </a:cubicBezTo>
                <a:cubicBezTo>
                  <a:pt x="2028490" y="83742"/>
                  <a:pt x="2030184" y="93154"/>
                  <a:pt x="2033571" y="101136"/>
                </a:cubicBezTo>
                <a:cubicBezTo>
                  <a:pt x="2036958" y="109118"/>
                  <a:pt x="2042025" y="115289"/>
                  <a:pt x="2048770" y="119649"/>
                </a:cubicBezTo>
                <a:cubicBezTo>
                  <a:pt x="2055515" y="124008"/>
                  <a:pt x="2063954" y="126188"/>
                  <a:pt x="2074087" y="126188"/>
                </a:cubicBezTo>
                <a:cubicBezTo>
                  <a:pt x="2079860" y="126188"/>
                  <a:pt x="2085295" y="125702"/>
                  <a:pt x="2090391" y="124730"/>
                </a:cubicBezTo>
                <a:cubicBezTo>
                  <a:pt x="2095487" y="123758"/>
                  <a:pt x="2100450" y="122535"/>
                  <a:pt x="2105281" y="121063"/>
                </a:cubicBezTo>
                <a:lnTo>
                  <a:pt x="2105281" y="134141"/>
                </a:lnTo>
                <a:cubicBezTo>
                  <a:pt x="2100568" y="135908"/>
                  <a:pt x="2095619" y="137219"/>
                  <a:pt x="2090435" y="138073"/>
                </a:cubicBezTo>
                <a:cubicBezTo>
                  <a:pt x="2085251" y="138927"/>
                  <a:pt x="2079095" y="139355"/>
                  <a:pt x="2071966" y="139355"/>
                </a:cubicBezTo>
                <a:cubicBezTo>
                  <a:pt x="2058829" y="139355"/>
                  <a:pt x="2047857" y="136630"/>
                  <a:pt x="2039050" y="131181"/>
                </a:cubicBezTo>
                <a:cubicBezTo>
                  <a:pt x="2030243" y="125731"/>
                  <a:pt x="2023645" y="118029"/>
                  <a:pt x="2019256" y="108073"/>
                </a:cubicBezTo>
                <a:cubicBezTo>
                  <a:pt x="2014867" y="98117"/>
                  <a:pt x="2012672" y="86364"/>
                  <a:pt x="2012672" y="72814"/>
                </a:cubicBezTo>
                <a:cubicBezTo>
                  <a:pt x="2012672" y="63035"/>
                  <a:pt x="2014042" y="54095"/>
                  <a:pt x="2016781" y="45995"/>
                </a:cubicBezTo>
                <a:cubicBezTo>
                  <a:pt x="2019521" y="37895"/>
                  <a:pt x="2023527" y="30899"/>
                  <a:pt x="2028799" y="25008"/>
                </a:cubicBezTo>
                <a:cubicBezTo>
                  <a:pt x="2034072" y="19117"/>
                  <a:pt x="2040552" y="14566"/>
                  <a:pt x="2048240" y="11355"/>
                </a:cubicBezTo>
                <a:cubicBezTo>
                  <a:pt x="2055928" y="8145"/>
                  <a:pt x="2064750" y="6539"/>
                  <a:pt x="2074706" y="6539"/>
                </a:cubicBezTo>
                <a:close/>
                <a:moveTo>
                  <a:pt x="1958601" y="6539"/>
                </a:moveTo>
                <a:cubicBezTo>
                  <a:pt x="1965494" y="6539"/>
                  <a:pt x="1971871" y="7187"/>
                  <a:pt x="1977733" y="8483"/>
                </a:cubicBezTo>
                <a:cubicBezTo>
                  <a:pt x="1983594" y="9780"/>
                  <a:pt x="1988970" y="11517"/>
                  <a:pt x="1993860" y="13697"/>
                </a:cubicBezTo>
                <a:lnTo>
                  <a:pt x="1989176" y="26599"/>
                </a:lnTo>
                <a:cubicBezTo>
                  <a:pt x="1984522" y="24655"/>
                  <a:pt x="1979589" y="23035"/>
                  <a:pt x="1974375" y="21739"/>
                </a:cubicBezTo>
                <a:cubicBezTo>
                  <a:pt x="1969161" y="20442"/>
                  <a:pt x="1963786" y="19794"/>
                  <a:pt x="1958248" y="19794"/>
                </a:cubicBezTo>
                <a:cubicBezTo>
                  <a:pt x="1952710" y="19794"/>
                  <a:pt x="1948042" y="20604"/>
                  <a:pt x="1944242" y="22225"/>
                </a:cubicBezTo>
                <a:cubicBezTo>
                  <a:pt x="1940442" y="23845"/>
                  <a:pt x="1937541" y="26127"/>
                  <a:pt x="1935538" y="29073"/>
                </a:cubicBezTo>
                <a:cubicBezTo>
                  <a:pt x="1933535" y="32018"/>
                  <a:pt x="1932533" y="35524"/>
                  <a:pt x="1932533" y="39589"/>
                </a:cubicBezTo>
                <a:cubicBezTo>
                  <a:pt x="1932533" y="44125"/>
                  <a:pt x="1933490" y="47895"/>
                  <a:pt x="1935405" y="50900"/>
                </a:cubicBezTo>
                <a:cubicBezTo>
                  <a:pt x="1937320" y="53904"/>
                  <a:pt x="1940383" y="56570"/>
                  <a:pt x="1944595" y="58897"/>
                </a:cubicBezTo>
                <a:cubicBezTo>
                  <a:pt x="1948807" y="61224"/>
                  <a:pt x="1954389" y="63654"/>
                  <a:pt x="1961341" y="66187"/>
                </a:cubicBezTo>
                <a:cubicBezTo>
                  <a:pt x="1968940" y="68956"/>
                  <a:pt x="1975391" y="71887"/>
                  <a:pt x="1980693" y="74979"/>
                </a:cubicBezTo>
                <a:cubicBezTo>
                  <a:pt x="1985995" y="78072"/>
                  <a:pt x="1990030" y="81843"/>
                  <a:pt x="1992799" y="86290"/>
                </a:cubicBezTo>
                <a:cubicBezTo>
                  <a:pt x="1995568" y="90738"/>
                  <a:pt x="1996953" y="96379"/>
                  <a:pt x="1996953" y="103213"/>
                </a:cubicBezTo>
                <a:cubicBezTo>
                  <a:pt x="1996953" y="110871"/>
                  <a:pt x="1995053" y="117395"/>
                  <a:pt x="1991253" y="122786"/>
                </a:cubicBezTo>
                <a:cubicBezTo>
                  <a:pt x="1987453" y="128176"/>
                  <a:pt x="1982136" y="132285"/>
                  <a:pt x="1975303" y="135113"/>
                </a:cubicBezTo>
                <a:cubicBezTo>
                  <a:pt x="1968469" y="137941"/>
                  <a:pt x="1960428" y="139355"/>
                  <a:pt x="1951179" y="139355"/>
                </a:cubicBezTo>
                <a:cubicBezTo>
                  <a:pt x="1946289" y="139355"/>
                  <a:pt x="1941664" y="139119"/>
                  <a:pt x="1937305" y="138648"/>
                </a:cubicBezTo>
                <a:cubicBezTo>
                  <a:pt x="1932946" y="138176"/>
                  <a:pt x="1928939" y="137499"/>
                  <a:pt x="1925287" y="136615"/>
                </a:cubicBezTo>
                <a:cubicBezTo>
                  <a:pt x="1921635" y="135732"/>
                  <a:pt x="1918424" y="134642"/>
                  <a:pt x="1915655" y="133346"/>
                </a:cubicBezTo>
                <a:lnTo>
                  <a:pt x="1915655" y="118942"/>
                </a:lnTo>
                <a:cubicBezTo>
                  <a:pt x="1920074" y="120768"/>
                  <a:pt x="1925464" y="122462"/>
                  <a:pt x="1931826" y="124023"/>
                </a:cubicBezTo>
                <a:cubicBezTo>
                  <a:pt x="1938189" y="125584"/>
                  <a:pt x="1944845" y="126365"/>
                  <a:pt x="1951797" y="126365"/>
                </a:cubicBezTo>
                <a:cubicBezTo>
                  <a:pt x="1958277" y="126365"/>
                  <a:pt x="1963756" y="125496"/>
                  <a:pt x="1968233" y="123758"/>
                </a:cubicBezTo>
                <a:cubicBezTo>
                  <a:pt x="1972711" y="122020"/>
                  <a:pt x="1976113" y="119516"/>
                  <a:pt x="1978440" y="116247"/>
                </a:cubicBezTo>
                <a:cubicBezTo>
                  <a:pt x="1980767" y="112977"/>
                  <a:pt x="1981930" y="109045"/>
                  <a:pt x="1981930" y="104450"/>
                </a:cubicBezTo>
                <a:cubicBezTo>
                  <a:pt x="1981930" y="100031"/>
                  <a:pt x="1980958" y="96335"/>
                  <a:pt x="1979014" y="93360"/>
                </a:cubicBezTo>
                <a:cubicBezTo>
                  <a:pt x="1977070" y="90385"/>
                  <a:pt x="1973845" y="87675"/>
                  <a:pt x="1969338" y="85230"/>
                </a:cubicBezTo>
                <a:cubicBezTo>
                  <a:pt x="1964831" y="82785"/>
                  <a:pt x="1958690" y="80178"/>
                  <a:pt x="1950914" y="77410"/>
                </a:cubicBezTo>
                <a:cubicBezTo>
                  <a:pt x="1945435" y="75465"/>
                  <a:pt x="1940604" y="73330"/>
                  <a:pt x="1936421" y="71003"/>
                </a:cubicBezTo>
                <a:cubicBezTo>
                  <a:pt x="1932239" y="68676"/>
                  <a:pt x="1928734" y="66040"/>
                  <a:pt x="1925906" y="63094"/>
                </a:cubicBezTo>
                <a:cubicBezTo>
                  <a:pt x="1923078" y="60149"/>
                  <a:pt x="1920942" y="56732"/>
                  <a:pt x="1919499" y="52844"/>
                </a:cubicBezTo>
                <a:cubicBezTo>
                  <a:pt x="1918056" y="48955"/>
                  <a:pt x="1917334" y="44508"/>
                  <a:pt x="1917334" y="39500"/>
                </a:cubicBezTo>
                <a:cubicBezTo>
                  <a:pt x="1917334" y="32608"/>
                  <a:pt x="1919087" y="26702"/>
                  <a:pt x="1922592" y="21783"/>
                </a:cubicBezTo>
                <a:cubicBezTo>
                  <a:pt x="1926097" y="16864"/>
                  <a:pt x="1930957" y="13093"/>
                  <a:pt x="1937173" y="10472"/>
                </a:cubicBezTo>
                <a:cubicBezTo>
                  <a:pt x="1943387" y="7850"/>
                  <a:pt x="1950531" y="6539"/>
                  <a:pt x="1958601" y="6539"/>
                </a:cubicBezTo>
                <a:close/>
                <a:moveTo>
                  <a:pt x="807881" y="6539"/>
                </a:moveTo>
                <a:cubicBezTo>
                  <a:pt x="814420" y="6539"/>
                  <a:pt x="820724" y="7187"/>
                  <a:pt x="826791" y="8483"/>
                </a:cubicBezTo>
                <a:cubicBezTo>
                  <a:pt x="832859" y="9780"/>
                  <a:pt x="838338" y="11635"/>
                  <a:pt x="843228" y="14051"/>
                </a:cubicBezTo>
                <a:lnTo>
                  <a:pt x="837219" y="26775"/>
                </a:lnTo>
                <a:cubicBezTo>
                  <a:pt x="833095" y="24890"/>
                  <a:pt x="828573" y="23255"/>
                  <a:pt x="823654" y="21871"/>
                </a:cubicBezTo>
                <a:cubicBezTo>
                  <a:pt x="818735" y="20487"/>
                  <a:pt x="813419" y="19794"/>
                  <a:pt x="807704" y="19794"/>
                </a:cubicBezTo>
                <a:cubicBezTo>
                  <a:pt x="800576" y="19794"/>
                  <a:pt x="794169" y="21017"/>
                  <a:pt x="788484" y="23462"/>
                </a:cubicBezTo>
                <a:cubicBezTo>
                  <a:pt x="782799" y="25906"/>
                  <a:pt x="777969" y="29441"/>
                  <a:pt x="773992" y="34066"/>
                </a:cubicBezTo>
                <a:cubicBezTo>
                  <a:pt x="770016" y="38690"/>
                  <a:pt x="766967" y="44272"/>
                  <a:pt x="764846" y="50811"/>
                </a:cubicBezTo>
                <a:cubicBezTo>
                  <a:pt x="762726" y="57350"/>
                  <a:pt x="761665" y="64714"/>
                  <a:pt x="761665" y="72903"/>
                </a:cubicBezTo>
                <a:cubicBezTo>
                  <a:pt x="761665" y="83742"/>
                  <a:pt x="763359" y="93154"/>
                  <a:pt x="766746" y="101136"/>
                </a:cubicBezTo>
                <a:cubicBezTo>
                  <a:pt x="770134" y="109118"/>
                  <a:pt x="775200" y="115289"/>
                  <a:pt x="781945" y="119649"/>
                </a:cubicBezTo>
                <a:cubicBezTo>
                  <a:pt x="788691" y="124008"/>
                  <a:pt x="797130" y="126188"/>
                  <a:pt x="807262" y="126188"/>
                </a:cubicBezTo>
                <a:cubicBezTo>
                  <a:pt x="813036" y="126188"/>
                  <a:pt x="818470" y="125702"/>
                  <a:pt x="823566" y="124730"/>
                </a:cubicBezTo>
                <a:cubicBezTo>
                  <a:pt x="828662" y="123758"/>
                  <a:pt x="833625" y="122535"/>
                  <a:pt x="838456" y="121063"/>
                </a:cubicBezTo>
                <a:lnTo>
                  <a:pt x="838456" y="134141"/>
                </a:lnTo>
                <a:cubicBezTo>
                  <a:pt x="833743" y="135908"/>
                  <a:pt x="828794" y="137219"/>
                  <a:pt x="823610" y="138073"/>
                </a:cubicBezTo>
                <a:cubicBezTo>
                  <a:pt x="818426" y="138927"/>
                  <a:pt x="812270" y="139355"/>
                  <a:pt x="805142" y="139355"/>
                </a:cubicBezTo>
                <a:cubicBezTo>
                  <a:pt x="792004" y="139355"/>
                  <a:pt x="781032" y="136630"/>
                  <a:pt x="772225" y="131181"/>
                </a:cubicBezTo>
                <a:cubicBezTo>
                  <a:pt x="763418" y="125731"/>
                  <a:pt x="756820" y="118029"/>
                  <a:pt x="752431" y="108073"/>
                </a:cubicBezTo>
                <a:cubicBezTo>
                  <a:pt x="748042" y="98117"/>
                  <a:pt x="745847" y="86364"/>
                  <a:pt x="745847" y="72814"/>
                </a:cubicBezTo>
                <a:cubicBezTo>
                  <a:pt x="745847" y="63035"/>
                  <a:pt x="747217" y="54095"/>
                  <a:pt x="749957" y="45995"/>
                </a:cubicBezTo>
                <a:cubicBezTo>
                  <a:pt x="752696" y="37895"/>
                  <a:pt x="756702" y="30899"/>
                  <a:pt x="761974" y="25008"/>
                </a:cubicBezTo>
                <a:cubicBezTo>
                  <a:pt x="767247" y="19117"/>
                  <a:pt x="773727" y="14566"/>
                  <a:pt x="781415" y="11355"/>
                </a:cubicBezTo>
                <a:cubicBezTo>
                  <a:pt x="789103" y="8145"/>
                  <a:pt x="797925" y="6539"/>
                  <a:pt x="807881" y="6539"/>
                </a:cubicBezTo>
                <a:close/>
                <a:moveTo>
                  <a:pt x="289075" y="6539"/>
                </a:moveTo>
                <a:cubicBezTo>
                  <a:pt x="297028" y="6539"/>
                  <a:pt x="303892" y="7924"/>
                  <a:pt x="309665" y="10693"/>
                </a:cubicBezTo>
                <a:cubicBezTo>
                  <a:pt x="315438" y="13461"/>
                  <a:pt x="319901" y="17409"/>
                  <a:pt x="323052" y="22534"/>
                </a:cubicBezTo>
                <a:cubicBezTo>
                  <a:pt x="326204" y="27659"/>
                  <a:pt x="327780" y="33756"/>
                  <a:pt x="327780" y="40826"/>
                </a:cubicBezTo>
                <a:cubicBezTo>
                  <a:pt x="327780" y="47659"/>
                  <a:pt x="326425" y="54007"/>
                  <a:pt x="323715" y="59869"/>
                </a:cubicBezTo>
                <a:cubicBezTo>
                  <a:pt x="321005" y="65730"/>
                  <a:pt x="317205" y="71533"/>
                  <a:pt x="312316" y="77277"/>
                </a:cubicBezTo>
                <a:cubicBezTo>
                  <a:pt x="307426" y="83021"/>
                  <a:pt x="301712" y="89103"/>
                  <a:pt x="295173" y="95525"/>
                </a:cubicBezTo>
                <a:lnTo>
                  <a:pt x="267072" y="123537"/>
                </a:lnTo>
                <a:lnTo>
                  <a:pt x="267072" y="124156"/>
                </a:lnTo>
                <a:lnTo>
                  <a:pt x="333082" y="124156"/>
                </a:lnTo>
                <a:lnTo>
                  <a:pt x="333082" y="137587"/>
                </a:lnTo>
                <a:lnTo>
                  <a:pt x="248427" y="137587"/>
                </a:lnTo>
                <a:lnTo>
                  <a:pt x="248427" y="125304"/>
                </a:lnTo>
                <a:lnTo>
                  <a:pt x="282978" y="90223"/>
                </a:lnTo>
                <a:cubicBezTo>
                  <a:pt x="289399" y="83742"/>
                  <a:pt x="294805" y="77969"/>
                  <a:pt x="299193" y="72903"/>
                </a:cubicBezTo>
                <a:cubicBezTo>
                  <a:pt x="303582" y="67836"/>
                  <a:pt x="306925" y="62844"/>
                  <a:pt x="309223" y="57925"/>
                </a:cubicBezTo>
                <a:cubicBezTo>
                  <a:pt x="311521" y="53006"/>
                  <a:pt x="312669" y="47600"/>
                  <a:pt x="312669" y="41709"/>
                </a:cubicBezTo>
                <a:cubicBezTo>
                  <a:pt x="312669" y="34404"/>
                  <a:pt x="310504" y="28823"/>
                  <a:pt x="306174" y="24964"/>
                </a:cubicBezTo>
                <a:cubicBezTo>
                  <a:pt x="301844" y="21105"/>
                  <a:pt x="296145" y="19176"/>
                  <a:pt x="289075" y="19176"/>
                </a:cubicBezTo>
                <a:cubicBezTo>
                  <a:pt x="282890" y="19176"/>
                  <a:pt x="277411" y="20236"/>
                  <a:pt x="272639" y="22357"/>
                </a:cubicBezTo>
                <a:cubicBezTo>
                  <a:pt x="267867" y="24478"/>
                  <a:pt x="262978" y="27482"/>
                  <a:pt x="257970" y="31370"/>
                </a:cubicBezTo>
                <a:lnTo>
                  <a:pt x="250106" y="21473"/>
                </a:lnTo>
                <a:cubicBezTo>
                  <a:pt x="253523" y="18587"/>
                  <a:pt x="257249" y="16024"/>
                  <a:pt x="261284" y="13786"/>
                </a:cubicBezTo>
                <a:cubicBezTo>
                  <a:pt x="265319" y="11547"/>
                  <a:pt x="269649" y="9780"/>
                  <a:pt x="274274" y="8483"/>
                </a:cubicBezTo>
                <a:cubicBezTo>
                  <a:pt x="278898" y="7187"/>
                  <a:pt x="283832" y="6539"/>
                  <a:pt x="289075" y="6539"/>
                </a:cubicBezTo>
                <a:close/>
                <a:moveTo>
                  <a:pt x="198281" y="6539"/>
                </a:moveTo>
                <a:cubicBezTo>
                  <a:pt x="204820" y="6539"/>
                  <a:pt x="211124" y="7187"/>
                  <a:pt x="217191" y="8483"/>
                </a:cubicBezTo>
                <a:cubicBezTo>
                  <a:pt x="223259" y="9780"/>
                  <a:pt x="228738" y="11635"/>
                  <a:pt x="233628" y="14051"/>
                </a:cubicBezTo>
                <a:lnTo>
                  <a:pt x="227619" y="26775"/>
                </a:lnTo>
                <a:cubicBezTo>
                  <a:pt x="223495" y="24890"/>
                  <a:pt x="218974" y="23255"/>
                  <a:pt x="214054" y="21871"/>
                </a:cubicBezTo>
                <a:cubicBezTo>
                  <a:pt x="209135" y="20487"/>
                  <a:pt x="203819" y="19794"/>
                  <a:pt x="198104" y="19794"/>
                </a:cubicBezTo>
                <a:cubicBezTo>
                  <a:pt x="190976" y="19794"/>
                  <a:pt x="184569" y="21017"/>
                  <a:pt x="178884" y="23462"/>
                </a:cubicBezTo>
                <a:cubicBezTo>
                  <a:pt x="173200" y="25906"/>
                  <a:pt x="168369" y="29441"/>
                  <a:pt x="164392" y="34066"/>
                </a:cubicBezTo>
                <a:cubicBezTo>
                  <a:pt x="160416" y="38690"/>
                  <a:pt x="157367" y="44272"/>
                  <a:pt x="155246" y="50811"/>
                </a:cubicBezTo>
                <a:cubicBezTo>
                  <a:pt x="153126" y="57350"/>
                  <a:pt x="152065" y="64714"/>
                  <a:pt x="152065" y="72903"/>
                </a:cubicBezTo>
                <a:cubicBezTo>
                  <a:pt x="152065" y="83742"/>
                  <a:pt x="153759" y="93154"/>
                  <a:pt x="157146" y="101136"/>
                </a:cubicBezTo>
                <a:cubicBezTo>
                  <a:pt x="160534" y="109118"/>
                  <a:pt x="165600" y="115289"/>
                  <a:pt x="172345" y="119649"/>
                </a:cubicBezTo>
                <a:cubicBezTo>
                  <a:pt x="179091" y="124008"/>
                  <a:pt x="187530" y="126188"/>
                  <a:pt x="197662" y="126188"/>
                </a:cubicBezTo>
                <a:cubicBezTo>
                  <a:pt x="203436" y="126188"/>
                  <a:pt x="208870" y="125702"/>
                  <a:pt x="213966" y="124730"/>
                </a:cubicBezTo>
                <a:cubicBezTo>
                  <a:pt x="219062" y="123758"/>
                  <a:pt x="224025" y="122535"/>
                  <a:pt x="228856" y="121063"/>
                </a:cubicBezTo>
                <a:lnTo>
                  <a:pt x="228856" y="134141"/>
                </a:lnTo>
                <a:cubicBezTo>
                  <a:pt x="224143" y="135908"/>
                  <a:pt x="219194" y="137219"/>
                  <a:pt x="214010" y="138073"/>
                </a:cubicBezTo>
                <a:cubicBezTo>
                  <a:pt x="208826" y="138927"/>
                  <a:pt x="202670" y="139355"/>
                  <a:pt x="195542" y="139355"/>
                </a:cubicBezTo>
                <a:cubicBezTo>
                  <a:pt x="182404" y="139355"/>
                  <a:pt x="171432" y="136630"/>
                  <a:pt x="162625" y="131181"/>
                </a:cubicBezTo>
                <a:cubicBezTo>
                  <a:pt x="153818" y="125731"/>
                  <a:pt x="147220" y="118029"/>
                  <a:pt x="142831" y="108073"/>
                </a:cubicBezTo>
                <a:cubicBezTo>
                  <a:pt x="138442" y="98117"/>
                  <a:pt x="136248" y="86364"/>
                  <a:pt x="136248" y="72814"/>
                </a:cubicBezTo>
                <a:cubicBezTo>
                  <a:pt x="136248" y="63035"/>
                  <a:pt x="137617" y="54095"/>
                  <a:pt x="140357" y="45995"/>
                </a:cubicBezTo>
                <a:cubicBezTo>
                  <a:pt x="143096" y="37895"/>
                  <a:pt x="147102" y="30899"/>
                  <a:pt x="152374" y="25008"/>
                </a:cubicBezTo>
                <a:cubicBezTo>
                  <a:pt x="157647" y="19117"/>
                  <a:pt x="164127" y="14566"/>
                  <a:pt x="171815" y="11355"/>
                </a:cubicBezTo>
                <a:cubicBezTo>
                  <a:pt x="179503" y="8145"/>
                  <a:pt x="188325" y="6539"/>
                  <a:pt x="198281" y="6539"/>
                </a:cubicBezTo>
                <a:close/>
                <a:moveTo>
                  <a:pt x="82176" y="6539"/>
                </a:moveTo>
                <a:cubicBezTo>
                  <a:pt x="89069" y="6539"/>
                  <a:pt x="95446" y="7187"/>
                  <a:pt x="101308" y="8483"/>
                </a:cubicBezTo>
                <a:cubicBezTo>
                  <a:pt x="107169" y="9780"/>
                  <a:pt x="112545" y="11517"/>
                  <a:pt x="117435" y="13697"/>
                </a:cubicBezTo>
                <a:lnTo>
                  <a:pt x="112751" y="26599"/>
                </a:lnTo>
                <a:cubicBezTo>
                  <a:pt x="108097" y="24655"/>
                  <a:pt x="103163" y="23035"/>
                  <a:pt x="97950" y="21739"/>
                </a:cubicBezTo>
                <a:cubicBezTo>
                  <a:pt x="92736" y="20442"/>
                  <a:pt x="87361" y="19794"/>
                  <a:pt x="81823" y="19794"/>
                </a:cubicBezTo>
                <a:cubicBezTo>
                  <a:pt x="76285" y="19794"/>
                  <a:pt x="71617" y="20604"/>
                  <a:pt x="67817" y="22225"/>
                </a:cubicBezTo>
                <a:cubicBezTo>
                  <a:pt x="64017" y="23845"/>
                  <a:pt x="61116" y="26127"/>
                  <a:pt x="59113" y="29073"/>
                </a:cubicBezTo>
                <a:cubicBezTo>
                  <a:pt x="57110" y="32018"/>
                  <a:pt x="56108" y="35524"/>
                  <a:pt x="56108" y="39589"/>
                </a:cubicBezTo>
                <a:cubicBezTo>
                  <a:pt x="56108" y="44125"/>
                  <a:pt x="57066" y="47895"/>
                  <a:pt x="58980" y="50900"/>
                </a:cubicBezTo>
                <a:cubicBezTo>
                  <a:pt x="60895" y="53904"/>
                  <a:pt x="63958" y="56570"/>
                  <a:pt x="68170" y="58897"/>
                </a:cubicBezTo>
                <a:cubicBezTo>
                  <a:pt x="72382" y="61224"/>
                  <a:pt x="77964" y="63654"/>
                  <a:pt x="84916" y="66187"/>
                </a:cubicBezTo>
                <a:cubicBezTo>
                  <a:pt x="92515" y="68956"/>
                  <a:pt x="98966" y="71887"/>
                  <a:pt x="104268" y="74979"/>
                </a:cubicBezTo>
                <a:cubicBezTo>
                  <a:pt x="109570" y="78072"/>
                  <a:pt x="113605" y="81843"/>
                  <a:pt x="116374" y="86290"/>
                </a:cubicBezTo>
                <a:cubicBezTo>
                  <a:pt x="119143" y="90738"/>
                  <a:pt x="120528" y="96379"/>
                  <a:pt x="120528" y="103213"/>
                </a:cubicBezTo>
                <a:cubicBezTo>
                  <a:pt x="120528" y="110871"/>
                  <a:pt x="118628" y="117395"/>
                  <a:pt x="114828" y="122786"/>
                </a:cubicBezTo>
                <a:cubicBezTo>
                  <a:pt x="111028" y="128176"/>
                  <a:pt x="105711" y="132285"/>
                  <a:pt x="98878" y="135113"/>
                </a:cubicBezTo>
                <a:cubicBezTo>
                  <a:pt x="92044" y="137941"/>
                  <a:pt x="84003" y="139355"/>
                  <a:pt x="74754" y="139355"/>
                </a:cubicBezTo>
                <a:cubicBezTo>
                  <a:pt x="69864" y="139355"/>
                  <a:pt x="65239" y="139119"/>
                  <a:pt x="60880" y="138648"/>
                </a:cubicBezTo>
                <a:cubicBezTo>
                  <a:pt x="56521" y="138176"/>
                  <a:pt x="52515" y="137499"/>
                  <a:pt x="48862" y="136615"/>
                </a:cubicBezTo>
                <a:cubicBezTo>
                  <a:pt x="45210" y="135732"/>
                  <a:pt x="41999" y="134642"/>
                  <a:pt x="39230" y="133346"/>
                </a:cubicBezTo>
                <a:lnTo>
                  <a:pt x="39230" y="118942"/>
                </a:lnTo>
                <a:cubicBezTo>
                  <a:pt x="43649" y="120768"/>
                  <a:pt x="49039" y="122462"/>
                  <a:pt x="55401" y="124023"/>
                </a:cubicBezTo>
                <a:cubicBezTo>
                  <a:pt x="61764" y="125584"/>
                  <a:pt x="68421" y="126365"/>
                  <a:pt x="75372" y="126365"/>
                </a:cubicBezTo>
                <a:cubicBezTo>
                  <a:pt x="81852" y="126365"/>
                  <a:pt x="87331" y="125496"/>
                  <a:pt x="91808" y="123758"/>
                </a:cubicBezTo>
                <a:cubicBezTo>
                  <a:pt x="96286" y="122020"/>
                  <a:pt x="99688" y="119516"/>
                  <a:pt x="102015" y="116247"/>
                </a:cubicBezTo>
                <a:cubicBezTo>
                  <a:pt x="104342" y="112977"/>
                  <a:pt x="105505" y="109045"/>
                  <a:pt x="105505" y="104450"/>
                </a:cubicBezTo>
                <a:cubicBezTo>
                  <a:pt x="105505" y="100031"/>
                  <a:pt x="104533" y="96335"/>
                  <a:pt x="102589" y="93360"/>
                </a:cubicBezTo>
                <a:cubicBezTo>
                  <a:pt x="100645" y="90385"/>
                  <a:pt x="97420" y="87675"/>
                  <a:pt x="92913" y="85230"/>
                </a:cubicBezTo>
                <a:cubicBezTo>
                  <a:pt x="88406" y="82785"/>
                  <a:pt x="82265" y="80178"/>
                  <a:pt x="74488" y="77410"/>
                </a:cubicBezTo>
                <a:cubicBezTo>
                  <a:pt x="69010" y="75465"/>
                  <a:pt x="64179" y="73330"/>
                  <a:pt x="59996" y="71003"/>
                </a:cubicBezTo>
                <a:cubicBezTo>
                  <a:pt x="55814" y="68676"/>
                  <a:pt x="52308" y="66040"/>
                  <a:pt x="49481" y="63094"/>
                </a:cubicBezTo>
                <a:cubicBezTo>
                  <a:pt x="46653" y="60149"/>
                  <a:pt x="44517" y="56732"/>
                  <a:pt x="43074" y="52844"/>
                </a:cubicBezTo>
                <a:cubicBezTo>
                  <a:pt x="41631" y="48955"/>
                  <a:pt x="40909" y="44508"/>
                  <a:pt x="40909" y="39500"/>
                </a:cubicBezTo>
                <a:cubicBezTo>
                  <a:pt x="40909" y="32608"/>
                  <a:pt x="42662" y="26702"/>
                  <a:pt x="46167" y="21783"/>
                </a:cubicBezTo>
                <a:cubicBezTo>
                  <a:pt x="49672" y="16864"/>
                  <a:pt x="54532" y="13093"/>
                  <a:pt x="60747" y="10472"/>
                </a:cubicBezTo>
                <a:cubicBezTo>
                  <a:pt x="66963" y="7850"/>
                  <a:pt x="74106" y="6539"/>
                  <a:pt x="82176" y="6539"/>
                </a:cubicBezTo>
                <a:close/>
                <a:moveTo>
                  <a:pt x="1635528" y="0"/>
                </a:moveTo>
                <a:lnTo>
                  <a:pt x="1647811" y="0"/>
                </a:lnTo>
                <a:lnTo>
                  <a:pt x="1647811" y="181417"/>
                </a:lnTo>
                <a:lnTo>
                  <a:pt x="1635528" y="181417"/>
                </a:lnTo>
                <a:close/>
              </a:path>
            </a:pathLst>
          </a:custGeom>
          <a:solidFill xmlns:a="http://schemas.openxmlformats.org/drawingml/2006/main">
            <a:schemeClr val="tx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2" name="SC 2025 logo">
            <a:extLst xmlns:a="http://schemas.openxmlformats.org/drawingml/2006/main">
              <a:ext uri="{FF2B5EF4-FFF2-40B4-BE49-F238E27FC236}">
                <a16:creationId xmlns:a16="http://schemas.microsoft.com/office/drawing/2014/main" id="{7BB322B4-9D77-44DC-A2C6-9CF511EAFD0C}"/>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0d14b0a415324711"/>
          <a:srcRect xmlns:a="http://schemas.openxmlformats.org/drawingml/2006/main" l="1298" t="12156" r="1298" b="12156"/>
          <a:stretch xmlns:a="http://schemas.openxmlformats.org/drawingml/2006/main">
            <a:fillRect l="0" t="0" r="0" b="0"/>
          </a:stretch>
        </p:blipFill>
        <p:spPr>
          <a:xfrm xmlns:a="http://schemas.openxmlformats.org/drawingml/2006/main">
            <a:off x="512366" y="270118"/>
            <a:ext cx="3054920" cy="519957"/>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54" r:id="Ra4880da45c1247bf"/>
  </p:sldLayoutIdLst>
  <p:hf sldNum="0" hdr="0" dt="0"/>
  <p:txStyles>
    <p:titleStyle>
      <a:lvl1pPr xmlns:a="http://schemas.openxmlformats.org/drawingml/2006/main" algn="l" defTabSz="457109">
        <a:lnSpc>
          <a:spcPct val="90000"/>
        </a:lnSpc>
        <a:spcBef>
          <a:spcPct val="0"/>
        </a:spcBef>
        <a:buNone/>
        <a:defRPr sz="4000" kern="1200">
          <a:solidFill>
            <a:schemeClr val="accent1"/>
          </a:solidFill>
          <a:latin typeface="+mj-lt"/>
          <a:ea typeface="+mj-lt"/>
          <a:cs typeface="+mj-lt"/>
        </a:defRPr>
      </a:lvl1pPr>
    </p:titleStyle>
    <p:bodyStyle>
      <a:lvl1pPr xmlns:a="http://schemas.openxmlformats.org/drawingml/2006/main" marL="0" indent="0" algn="l" defTabSz="457109">
        <a:lnSpc>
          <a:spcPct val="90000"/>
        </a:lnSpc>
        <a:spcBef>
          <a:spcPts val="1000"/>
        </a:spcBef>
        <a:spcAft>
          <a:spcPts val="1000"/>
        </a:spcAft>
        <a:buFont typeface="Arial"/>
        <a:buNone/>
        <a:defRPr sz="2400" kern="1200">
          <a:solidFill>
            <a:schemeClr val="tx1"/>
          </a:solidFill>
          <a:latin typeface="+mn-lt"/>
          <a:ea typeface="+mn-lt"/>
          <a:cs typeface="+mn-lt"/>
        </a:defRPr>
      </a:lvl1pPr>
      <a:lvl2pPr xmlns:a="http://schemas.openxmlformats.org/drawingml/2006/main" marL="356616" indent="-356616" algn="l" defTabSz="457109">
        <a:lnSpc>
          <a:spcPct val="90000"/>
        </a:lnSpc>
        <a:spcBef>
          <a:spcPts val="500"/>
        </a:spcBef>
        <a:spcAft>
          <a:spcPts val="500"/>
        </a:spcAft>
        <a:buClr>
          <a:schemeClr val="accent2"/>
        </a:buClr>
        <a:buFont typeface="Wingdings"/>
        <a:buChar char="§"/>
        <a:defRPr sz="2000" kern="1200">
          <a:solidFill>
            <a:schemeClr val="tx1"/>
          </a:solidFill>
          <a:latin typeface="+mn-lt"/>
          <a:ea typeface="+mn-lt"/>
          <a:cs typeface="+mn-lt"/>
        </a:defRPr>
      </a:lvl2pPr>
      <a:lvl3pPr xmlns:a="http://schemas.openxmlformats.org/drawingml/2006/main" marL="685800" indent="-338328" algn="l" defTabSz="457109">
        <a:lnSpc>
          <a:spcPct val="90000"/>
        </a:lnSpc>
        <a:spcBef>
          <a:spcPts val="500"/>
        </a:spcBef>
        <a:spcAft>
          <a:spcPts val="500"/>
        </a:spcAft>
        <a:buFont typeface="Arial"/>
        <a:buChar char="–"/>
        <a:defRPr sz="1800" kern="1200">
          <a:solidFill>
            <a:schemeClr val="tx1"/>
          </a:solidFill>
          <a:latin typeface="+mn-lt"/>
          <a:ea typeface="+mn-lt"/>
          <a:cs typeface="+mn-lt"/>
        </a:defRPr>
      </a:lvl3pPr>
      <a:lvl4pPr xmlns:a="http://schemas.openxmlformats.org/drawingml/2006/main" marL="799940" indent="-114277" algn="l" defTabSz="457109">
        <a:lnSpc>
          <a:spcPct val="90000"/>
        </a:lnSpc>
        <a:spcBef>
          <a:spcPts val="250"/>
        </a:spcBef>
        <a:buFont typeface="Arial"/>
        <a:buChar char="•"/>
        <a:defRPr sz="1200" kern="1200">
          <a:solidFill>
            <a:schemeClr val="tx1"/>
          </a:solidFill>
          <a:latin typeface="+mn-lt"/>
          <a:ea typeface="+mn-lt"/>
          <a:cs typeface="+mn-lt"/>
        </a:defRPr>
      </a:lvl4pPr>
      <a:lvl5pPr xmlns:a="http://schemas.openxmlformats.org/drawingml/2006/main" marL="1028494" indent="-114277" algn="l" defTabSz="457109">
        <a:lnSpc>
          <a:spcPct val="90000"/>
        </a:lnSpc>
        <a:spcBef>
          <a:spcPts val="250"/>
        </a:spcBef>
        <a:buFont typeface="Arial"/>
        <a:buChar char="•"/>
        <a:defRPr sz="1200" kern="1200">
          <a:solidFill>
            <a:schemeClr val="tx1"/>
          </a:solidFill>
          <a:latin typeface="+mn-lt"/>
          <a:ea typeface="+mn-lt"/>
          <a:cs typeface="+mn-lt"/>
        </a:defRPr>
      </a:lvl5pPr>
      <a:lvl6pPr xmlns:a="http://schemas.openxmlformats.org/drawingml/2006/main" marL="1257049" indent="-114277" algn="l" defTabSz="457109">
        <a:lnSpc>
          <a:spcPct val="90000"/>
        </a:lnSpc>
        <a:spcBef>
          <a:spcPts val="250"/>
        </a:spcBef>
        <a:buFont typeface="Arial"/>
        <a:buChar char="•"/>
        <a:defRPr sz="900" kern="1200">
          <a:solidFill>
            <a:schemeClr val="tx1"/>
          </a:solidFill>
          <a:latin typeface="+mn-lt"/>
          <a:ea typeface="+mn-lt"/>
          <a:cs typeface="+mn-lt"/>
        </a:defRPr>
      </a:lvl6pPr>
      <a:lvl7pPr xmlns:a="http://schemas.openxmlformats.org/drawingml/2006/main" marL="1485603" indent="-114277" algn="l" defTabSz="457109">
        <a:lnSpc>
          <a:spcPct val="90000"/>
        </a:lnSpc>
        <a:spcBef>
          <a:spcPts val="250"/>
        </a:spcBef>
        <a:buFont typeface="Arial"/>
        <a:buChar char="•"/>
        <a:defRPr sz="900" kern="1200">
          <a:solidFill>
            <a:schemeClr val="tx1"/>
          </a:solidFill>
          <a:latin typeface="+mn-lt"/>
          <a:ea typeface="+mn-lt"/>
          <a:cs typeface="+mn-lt"/>
        </a:defRPr>
      </a:lvl7pPr>
      <a:lvl8pPr xmlns:a="http://schemas.openxmlformats.org/drawingml/2006/main" marL="1714157" indent="-114277" algn="l" defTabSz="457109">
        <a:lnSpc>
          <a:spcPct val="90000"/>
        </a:lnSpc>
        <a:spcBef>
          <a:spcPts val="250"/>
        </a:spcBef>
        <a:buFont typeface="Arial"/>
        <a:buChar char="•"/>
        <a:defRPr sz="900" kern="1200">
          <a:solidFill>
            <a:schemeClr val="tx1"/>
          </a:solidFill>
          <a:latin typeface="+mn-lt"/>
          <a:ea typeface="+mn-lt"/>
          <a:cs typeface="+mn-lt"/>
        </a:defRPr>
      </a:lvl8pPr>
      <a:lvl9pPr xmlns:a="http://schemas.openxmlformats.org/drawingml/2006/main" marL="1942711" indent="-114277" algn="l" defTabSz="457109">
        <a:lnSpc>
          <a:spcPct val="90000"/>
        </a:lnSpc>
        <a:spcBef>
          <a:spcPts val="250"/>
        </a:spcBef>
        <a:buFont typeface="Arial"/>
        <a:buChar char="•"/>
        <a:defRPr sz="900" kern="1200">
          <a:solidFill>
            <a:schemeClr val="tx1"/>
          </a:solidFill>
          <a:latin typeface="+mn-lt"/>
          <a:ea typeface="+mn-lt"/>
          <a:cs typeface="+mn-lt"/>
        </a:defRPr>
      </a:lvl9pPr>
    </p:bodyStyle>
    <p:otherStyle>
      <a:lvl1pPr xmlns:a="http://schemas.openxmlformats.org/drawingml/2006/main" marL="0" algn="l" defTabSz="457109">
        <a:buNone/>
        <a:defRPr sz="900" kern="1200">
          <a:solidFill>
            <a:schemeClr val="tx1"/>
          </a:solidFill>
          <a:latin typeface="+mn-lt"/>
          <a:ea typeface="+mn-lt"/>
          <a:cs typeface="+mn-lt"/>
        </a:defRPr>
      </a:lvl1pPr>
      <a:lvl2pPr xmlns:a="http://schemas.openxmlformats.org/drawingml/2006/main" marL="228554" algn="l" defTabSz="457109">
        <a:buNone/>
        <a:defRPr sz="900" kern="1200">
          <a:solidFill>
            <a:schemeClr val="tx1"/>
          </a:solidFill>
          <a:latin typeface="+mn-lt"/>
          <a:ea typeface="+mn-lt"/>
          <a:cs typeface="+mn-lt"/>
        </a:defRPr>
      </a:lvl2pPr>
      <a:lvl3pPr xmlns:a="http://schemas.openxmlformats.org/drawingml/2006/main" marL="457109" algn="l" defTabSz="457109">
        <a:buNone/>
        <a:defRPr sz="900" kern="1200">
          <a:solidFill>
            <a:schemeClr val="tx1"/>
          </a:solidFill>
          <a:latin typeface="+mn-lt"/>
          <a:ea typeface="+mn-lt"/>
          <a:cs typeface="+mn-lt"/>
        </a:defRPr>
      </a:lvl3pPr>
      <a:lvl4pPr xmlns:a="http://schemas.openxmlformats.org/drawingml/2006/main" marL="685663" algn="l" defTabSz="457109">
        <a:buNone/>
        <a:defRPr sz="900" kern="1200">
          <a:solidFill>
            <a:schemeClr val="tx1"/>
          </a:solidFill>
          <a:latin typeface="+mn-lt"/>
          <a:ea typeface="+mn-lt"/>
          <a:cs typeface="+mn-lt"/>
        </a:defRPr>
      </a:lvl4pPr>
      <a:lvl5pPr xmlns:a="http://schemas.openxmlformats.org/drawingml/2006/main" marL="914217" algn="l" defTabSz="457109">
        <a:buNone/>
        <a:defRPr sz="900" kern="1200">
          <a:solidFill>
            <a:schemeClr val="tx1"/>
          </a:solidFill>
          <a:latin typeface="+mn-lt"/>
          <a:ea typeface="+mn-lt"/>
          <a:cs typeface="+mn-lt"/>
        </a:defRPr>
      </a:lvl5pPr>
      <a:lvl6pPr xmlns:a="http://schemas.openxmlformats.org/drawingml/2006/main" marL="1142771" algn="l" defTabSz="457109">
        <a:buNone/>
        <a:defRPr sz="900" kern="1200">
          <a:solidFill>
            <a:schemeClr val="tx1"/>
          </a:solidFill>
          <a:latin typeface="+mn-lt"/>
          <a:ea typeface="+mn-lt"/>
          <a:cs typeface="+mn-lt"/>
        </a:defRPr>
      </a:lvl6pPr>
      <a:lvl7pPr xmlns:a="http://schemas.openxmlformats.org/drawingml/2006/main" marL="1371326" algn="l" defTabSz="457109">
        <a:buNone/>
        <a:defRPr sz="900" kern="1200">
          <a:solidFill>
            <a:schemeClr val="tx1"/>
          </a:solidFill>
          <a:latin typeface="+mn-lt"/>
          <a:ea typeface="+mn-lt"/>
          <a:cs typeface="+mn-lt"/>
        </a:defRPr>
      </a:lvl7pPr>
      <a:lvl8pPr xmlns:a="http://schemas.openxmlformats.org/drawingml/2006/main" marL="1599880" algn="l" defTabSz="457109">
        <a:buNone/>
        <a:defRPr sz="900" kern="1200">
          <a:solidFill>
            <a:schemeClr val="tx1"/>
          </a:solidFill>
          <a:latin typeface="+mn-lt"/>
          <a:ea typeface="+mn-lt"/>
          <a:cs typeface="+mn-lt"/>
        </a:defRPr>
      </a:lvl8pPr>
      <a:lvl9pPr xmlns:a="http://schemas.openxmlformats.org/drawingml/2006/main" marL="1828434" algn="l" defTabSz="457109">
        <a:buNone/>
        <a:defRPr sz="9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1522" userDrawn="1">
          <p15:clr>
            <a:srgbClr xmlns:a="http://schemas.openxmlformats.org/drawingml/2006/main" val="F26B43"/>
          </p15:clr>
        </p15:guide>
        <p15:guide id="2" pos="3839" userDrawn="1">
          <p15:clr>
            <a:srgbClr xmlns:a="http://schemas.openxmlformats.org/drawingml/2006/main" val="F26B43"/>
          </p15:clr>
        </p15:guide>
        <p15:guide id="3" pos="359" userDrawn="1">
          <p15:clr>
            <a:srgbClr xmlns:a="http://schemas.openxmlformats.org/drawingml/2006/main" val="F26B43"/>
          </p15:clr>
        </p15:guide>
        <p15:guide id="4" pos="7319" userDrawn="1">
          <p15:clr>
            <a:srgbClr xmlns:a="http://schemas.openxmlformats.org/drawingml/2006/main" val="F26B43"/>
          </p15:clr>
        </p15:guide>
        <p15:guide id="5" orient="horz" pos="1440" userDrawn="1">
          <p15:clr>
            <a:srgbClr xmlns:a="http://schemas.openxmlformats.org/drawingml/2006/main" val="F26B43"/>
          </p15:clr>
        </p15:guide>
        <p15:guide id="6" orient="horz" pos="3891" userDrawn="1">
          <p15:clr>
            <a:srgbClr xmlns:a="http://schemas.openxmlformats.org/drawingml/2006/main" val="F26B43"/>
          </p15:clr>
        </p15:guide>
        <p15:guide id="7" pos="3935" userDrawn="1">
          <p15:clr>
            <a:srgbClr xmlns:a="http://schemas.openxmlformats.org/drawingml/2006/main" val="F26B43"/>
          </p15:clr>
        </p15:guide>
        <p15:guide id="8" pos="3743" userDrawn="1">
          <p15:clr>
            <a:srgbClr xmlns:a="http://schemas.openxmlformats.org/drawingml/2006/main" val="F26B43"/>
          </p15:clr>
        </p15:guide>
        <p15:guide id="9" orient="horz" pos="5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Who Writes the Bug, Who Finds the Bug — OpenEMR Security Review">
  <a:themeElements>
    <a:clrScheme name="Who Writes the Bug, Who Finds the Bug — OpenEMR Security Review">
      <a:dk1>
        <a:srgbClr val="448334"/>
      </a:dk1>
      <a:lt1>
        <a:srgbClr val="FCFCFB"/>
      </a:lt1>
      <a:dk2>
        <a:srgbClr val="72A166"/>
      </a:dk2>
      <a:lt2>
        <a:srgbClr val="EAF0E7"/>
      </a:lt2>
      <a:accent1>
        <a:srgbClr val="0086B6"/>
      </a:accent1>
      <a:accent2>
        <a:srgbClr val="F07133"/>
      </a:accent2>
      <a:accent3>
        <a:srgbClr val="5466AE"/>
      </a:accent3>
      <a:accent4>
        <a:srgbClr val="D0342C"/>
      </a:accent4>
      <a:accent5>
        <a:srgbClr val="2F5F24"/>
      </a:accent5>
      <a:accent6>
        <a:srgbClr val="6B5600"/>
      </a:accent6>
      <a:hlink>
        <a:srgbClr val="0563C1"/>
      </a:hlink>
      <a:folHlink>
        <a:srgbClr val="954F72"/>
      </a:folHlink>
    </a:clrScheme>
    <a:fontScheme name="Who Writes the Bug, Who Finds the Bug — OpenEMR Security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Who Writes the Bug, Who Finds the Bug — OpenEMR Security Review">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3.xml><?xml version="1.0" encoding="utf-8"?>
<a:theme xmlns:a="http://schemas.openxmlformats.org/drawingml/2006/main" name="2025 ISC2 All-hands Meeting">
  <a:themeElements>
    <a:clrScheme name="ISC2 Palette &amp; custom colors">
      <a:dk1>
        <a:srgbClr val="000000"/>
      </a:dk1>
      <a:lt1>
        <a:srgbClr val="FFFFFF"/>
      </a:lt1>
      <a:dk2>
        <a:srgbClr val="33333A"/>
      </a:dk2>
      <a:lt2>
        <a:srgbClr val="EBEBEB"/>
      </a:lt2>
      <a:accent1>
        <a:srgbClr val="448334"/>
      </a:accent1>
      <a:accent2>
        <a:srgbClr val="9AC23C"/>
      </a:accent2>
      <a:accent3>
        <a:srgbClr val="5466AE"/>
      </a:accent3>
      <a:accent4>
        <a:srgbClr val="ECC623"/>
      </a:accent4>
      <a:accent5>
        <a:srgbClr val="F07133"/>
      </a:accent5>
      <a:accent6>
        <a:srgbClr val="0086B6"/>
      </a:accent6>
      <a:hlink>
        <a:srgbClr val="0086B6"/>
      </a:hlink>
      <a:folHlink>
        <a:srgbClr val="448334"/>
      </a:folHlink>
    </a:clrScheme>
    <a:fontScheme name="Arial">
      <a:majorFont>
        <a:latin typeface="Arial"/>
        <a:ea typeface=""/>
        <a:cs typeface=""/>
      </a:majorFont>
      <a:minorFont>
        <a:latin typeface="Arial"/>
        <a:ea typeface=""/>
        <a:cs typeface=""/>
      </a:minorFont>
    </a:fontScheme>
    <a:fmtScheme name="ISC2 Palette &amp; custom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9bd1ab5eb1fa407c" /><Relationship Type="http://schemas.openxmlformats.org/officeDocument/2006/relationships/image" Target="/ppt/media/image5.png" Id="R3de8d913fefc4623" /><Relationship Type="http://schemas.openxmlformats.org/officeDocument/2006/relationships/image" Target="/ppt/media/image3.png" Id="Rb376bab51e804a11" /><Relationship Type="http://schemas.openxmlformats.org/officeDocument/2006/relationships/image" Target="/ppt/media/image6.png" Id="Rcf5c4b7bccba4714" /><Relationship Type="http://schemas.openxmlformats.org/officeDocument/2006/relationships/notesSlide" Target="/ppt/notesSlides/notesSlide1.xml" Id="Rbfd8304805e348c9"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20c16b80d6b4226" /><Relationship Type="http://schemas.openxmlformats.org/officeDocument/2006/relationships/image" Target="/ppt/media/image3.png" Id="R0eee1bdd57434b4f" /><Relationship Type="http://schemas.openxmlformats.org/officeDocument/2006/relationships/image" Target="/ppt/media/image7.png" Id="Ra9a61eb2208b40ea" /><Relationship Type="http://schemas.openxmlformats.org/officeDocument/2006/relationships/image" Target="/ppt/media/image8.png" Id="R1c3edee334544a79" /><Relationship Type="http://schemas.openxmlformats.org/officeDocument/2006/relationships/image" Target="/ppt/media/image9.png" Id="R50e9de88dae74b57" /><Relationship Type="http://schemas.openxmlformats.org/officeDocument/2006/relationships/image" Target="/ppt/media/image10.png" Id="R78f15caa80274bc2" /><Relationship Type="http://schemas.openxmlformats.org/officeDocument/2006/relationships/image" Target="/ppt/media/image11.png" Id="R6454d80bc7094a2a" /><Relationship Type="http://schemas.openxmlformats.org/officeDocument/2006/relationships/image" Target="/ppt/media/image12.png" Id="R68b31548ab724a40" /><Relationship Type="http://schemas.openxmlformats.org/officeDocument/2006/relationships/image" Target="/ppt/media/image13.png" Id="R0094c1050c094731" /><Relationship Type="http://schemas.openxmlformats.org/officeDocument/2006/relationships/notesSlide" Target="/ppt/notesSlides/notesSlide2.xml" Id="R7f5aa214df334e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5.xml" Id="R1f219f5a1b544d27" /><Relationship Type="http://schemas.openxmlformats.org/officeDocument/2006/relationships/notesSlide" Target="/ppt/notesSlides/notesSlide3.xml" Id="Rf709c033de6e498b"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b9fb146c84b4168" /><Relationship Type="http://schemas.openxmlformats.org/officeDocument/2006/relationships/image" Target="/ppt/media/image3.png" Id="R5fcde17405f94fa3" /><Relationship Type="http://schemas.openxmlformats.org/officeDocument/2006/relationships/image" Target="/ppt/media/image7.png" Id="R8878657e15f3435e" /><Relationship Type="http://schemas.openxmlformats.org/officeDocument/2006/relationships/notesSlide" Target="/ppt/notesSlides/notesSlide4.xml" Id="Rf42c45c4361146d3"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ee44c2ecef57495e" /><Relationship Type="http://schemas.openxmlformats.org/officeDocument/2006/relationships/image" Target="/ppt/media/image3.png" Id="Ra7202ddeb8d04b0c" /><Relationship Type="http://schemas.openxmlformats.org/officeDocument/2006/relationships/image" Target="/ppt/media/image7.png" Id="Ra8feff4afd514754" /><Relationship Type="http://schemas.openxmlformats.org/officeDocument/2006/relationships/notesSlide" Target="/ppt/notesSlides/notesSlide5.xml" Id="R9683c1a8ca2c4b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4d583fa7b08243bf" /><Relationship Type="http://schemas.openxmlformats.org/officeDocument/2006/relationships/image" Target="/ppt/media/image3.png" Id="R768f9966561a4867" /><Relationship Type="http://schemas.openxmlformats.org/officeDocument/2006/relationships/image" Target="/ppt/media/image7.png" Id="Re43ffc9262484f61" /><Relationship Type="http://schemas.openxmlformats.org/officeDocument/2006/relationships/notesSlide" Target="/ppt/notesSlides/notesSlide6.xml" Id="R23ffba4485c24d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5.xml" Id="Rfc8633f8b541404b" /><Relationship Type="http://schemas.openxmlformats.org/officeDocument/2006/relationships/notesSlide" Target="/ppt/notesSlides/notesSlide7.xml" Id="Rb217053ce43d4714"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40f33f6720094c4e" /><Relationship Type="http://schemas.openxmlformats.org/officeDocument/2006/relationships/image" Target="/ppt/media/image3.png" Id="R1c556699b8014a7d" /><Relationship Type="http://schemas.openxmlformats.org/officeDocument/2006/relationships/image" Target="/ppt/media/image7.png" Id="R4a41f0c73ecb4c51" /><Relationship Type="http://schemas.openxmlformats.org/officeDocument/2006/relationships/notesSlide" Target="/ppt/notesSlides/notesSlide8.xml" Id="R655079301df041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6a366f2289e44480" /><Relationship Type="http://schemas.openxmlformats.org/officeDocument/2006/relationships/image" Target="/ppt/media/image3.png" Id="Rff7c09fc0347412b" /><Relationship Type="http://schemas.openxmlformats.org/officeDocument/2006/relationships/image" Target="/ppt/media/image7.png" Id="Reb3a35bd6b714eaa" /><Relationship Type="http://schemas.openxmlformats.org/officeDocument/2006/relationships/notesSlide" Target="/ppt/notesSlides/notesSlide9.xml" Id="R589211a0731c4d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xml" Id="R10f52ed51e044403" /><Relationship Type="http://schemas.openxmlformats.org/officeDocument/2006/relationships/notesSlide" Target="/ppt/notesSlides/notesSlide10.xml" Id="Ra60ec3a6446f497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991dfe1166664d86" /><Relationship Type="http://schemas.openxmlformats.org/officeDocument/2006/relationships/image" Target="/ppt/media/image3.png" Id="Ref6b5f59135f4c99" /><Relationship Type="http://schemas.openxmlformats.org/officeDocument/2006/relationships/image" Target="/ppt/media/image7.png" Id="R106998104e2545ba" /><Relationship Type="http://schemas.openxmlformats.org/officeDocument/2006/relationships/notesSlide" Target="/ppt/notesSlides/notesSlide11.xml" Id="Rd2257352e70745f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5f2e0fc8ee854ccb" /><Relationship Type="http://schemas.openxmlformats.org/officeDocument/2006/relationships/image" Target="/ppt/media/image3.png" Id="Rbaab86ba09594505" /><Relationship Type="http://schemas.openxmlformats.org/officeDocument/2006/relationships/image" Target="/ppt/media/image7.png" Id="Rbd7ac314bf6f42e6" /><Relationship Type="http://schemas.openxmlformats.org/officeDocument/2006/relationships/notesSlide" Target="/ppt/notesSlides/notesSlide12.xml" Id="Rd842eaf3accb454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5b1d95882183431b" /><Relationship Type="http://schemas.openxmlformats.org/officeDocument/2006/relationships/image" Target="/ppt/media/image3.png" Id="R8e716adc27f24ce4" /><Relationship Type="http://schemas.openxmlformats.org/officeDocument/2006/relationships/image" Target="/ppt/media/image7.png" Id="Rde39361a0d48483a" /><Relationship Type="http://schemas.openxmlformats.org/officeDocument/2006/relationships/notesSlide" Target="/ppt/notesSlides/notesSlide13.xml" Id="R0e36fef7394d465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8538ff1729654696" /><Relationship Type="http://schemas.openxmlformats.org/officeDocument/2006/relationships/image" Target="/ppt/media/image3.png" Id="R9f5ad55da153401c" /><Relationship Type="http://schemas.openxmlformats.org/officeDocument/2006/relationships/image" Target="/ppt/media/image7.png" Id="R81a1e635a2ca465e" /><Relationship Type="http://schemas.openxmlformats.org/officeDocument/2006/relationships/image" Target="/ppt/media/image14.png" Id="Rc9921724d427415a" /><Relationship Type="http://schemas.openxmlformats.org/officeDocument/2006/relationships/notesSlide" Target="/ppt/notesSlides/notesSlide14.xml" Id="R7aa5bc0250ff456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e049e833ae374c80" /><Relationship Type="http://schemas.openxmlformats.org/officeDocument/2006/relationships/image" Target="/ppt/media/image3.png" Id="R5135902601ac4b45" /><Relationship Type="http://schemas.openxmlformats.org/officeDocument/2006/relationships/image" Target="/ppt/media/image7.png" Id="Rd434291ef69248cf" /><Relationship Type="http://schemas.openxmlformats.org/officeDocument/2006/relationships/notesSlide" Target="/ppt/notesSlides/notesSlide15.xml" Id="Ra23a2d9c89b44d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120584a7dc5549dd" /><Relationship Type="http://schemas.openxmlformats.org/officeDocument/2006/relationships/image" Target="/ppt/media/image3.png" Id="Rfb1199be1feb490a" /><Relationship Type="http://schemas.openxmlformats.org/officeDocument/2006/relationships/image" Target="/ppt/media/image7.png" Id="R0b1efae635754cc4" /><Relationship Type="http://schemas.openxmlformats.org/officeDocument/2006/relationships/notesSlide" Target="/ppt/notesSlides/notesSlide16.xml" Id="R3acf2fea981a49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7458284fd4ac4c25" /><Relationship Type="http://schemas.openxmlformats.org/officeDocument/2006/relationships/image" Target="/ppt/media/image3.png" Id="Rb52462f77610413f" /><Relationship Type="http://schemas.openxmlformats.org/officeDocument/2006/relationships/image" Target="/ppt/media/image7.png" Id="Rd53001a51a2b431f" /><Relationship Type="http://schemas.openxmlformats.org/officeDocument/2006/relationships/notesSlide" Target="/ppt/notesSlides/notesSlide17.xml" Id="R21fe5ded861c421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21b962f4560f4c97" /><Relationship Type="http://schemas.openxmlformats.org/officeDocument/2006/relationships/image" Target="/ppt/media/image3.png" Id="R1167cdaef0bb4465" /><Relationship Type="http://schemas.openxmlformats.org/officeDocument/2006/relationships/image" Target="/ppt/media/image7.png" Id="R20948790b2734083" /><Relationship Type="http://schemas.openxmlformats.org/officeDocument/2006/relationships/notesSlide" Target="/ppt/notesSlides/notesSlide18.xml" Id="R310896449c034fb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5fbe61975ab44e83" /><Relationship Type="http://schemas.openxmlformats.org/officeDocument/2006/relationships/image" Target="/ppt/media/image3.png" Id="R9025b279819b4ea2" /><Relationship Type="http://schemas.openxmlformats.org/officeDocument/2006/relationships/image" Target="/ppt/media/image7.png" Id="Ra3d122f896144e4a" /><Relationship Type="http://schemas.openxmlformats.org/officeDocument/2006/relationships/notesSlide" Target="/ppt/notesSlides/notesSlide19.xml" Id="R2ce3ff7f645f487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053fff88efb04bd9" /><Relationship Type="http://schemas.openxmlformats.org/officeDocument/2006/relationships/image" Target="/ppt/media/image3.png" Id="R51daa92d58cd4b1c" /><Relationship Type="http://schemas.openxmlformats.org/officeDocument/2006/relationships/image" Target="/ppt/media/image7.png" Id="R8692ee30c74140bc" /><Relationship Type="http://schemas.openxmlformats.org/officeDocument/2006/relationships/notesSlide" Target="/ppt/notesSlides/notesSlide20.xml" Id="R33a7b2e10743488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39aff3dcae0b49e1" /><Relationship Type="http://schemas.openxmlformats.org/officeDocument/2006/relationships/image" Target="/ppt/media/image3.png" Id="R6349a335215a47eb" /><Relationship Type="http://schemas.openxmlformats.org/officeDocument/2006/relationships/image" Target="/ppt/media/image7.png" Id="R655a2875116a43e4" /><Relationship Type="http://schemas.openxmlformats.org/officeDocument/2006/relationships/image" Target="/ppt/media/image15.png" Id="R860fad66be204abb" /><Relationship Type="http://schemas.openxmlformats.org/officeDocument/2006/relationships/notesSlide" Target="/ppt/notesSlides/notesSlide21.xml" Id="R8c983f7d77774875"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391efccd68ee420f" /><Relationship Type="http://schemas.openxmlformats.org/officeDocument/2006/relationships/image" Target="/ppt/media/image3.png" Id="R156dfa79c02b4918" /><Relationship Type="http://schemas.openxmlformats.org/officeDocument/2006/relationships/image" Target="/ppt/media/image7.png" Id="Rf8c13597bcf143ad" /><Relationship Type="http://schemas.openxmlformats.org/officeDocument/2006/relationships/notesSlide" Target="/ppt/notesSlides/notesSlide22.xml" Id="R2fcf41f17e8a46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0059eaa994f5452f" /><Relationship Type="http://schemas.openxmlformats.org/officeDocument/2006/relationships/image" Target="/ppt/media/image3.png" Id="Ra005fe6d52cc4769" /><Relationship Type="http://schemas.openxmlformats.org/officeDocument/2006/relationships/image" Target="/ppt/media/image7.png" Id="R8eeb1ede70d74f33" /><Relationship Type="http://schemas.openxmlformats.org/officeDocument/2006/relationships/notesSlide" Target="/ppt/notesSlides/notesSlide23.xml" Id="R027fc0b933354d5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c4ec2323b59e4806" /><Relationship Type="http://schemas.openxmlformats.org/officeDocument/2006/relationships/image" Target="/ppt/media/image3.png" Id="Rf0ba7cce190545e4" /><Relationship Type="http://schemas.openxmlformats.org/officeDocument/2006/relationships/image" Target="/ppt/media/image7.png" Id="R51c46d8700b24229" /><Relationship Type="http://schemas.openxmlformats.org/officeDocument/2006/relationships/notesSlide" Target="/ppt/notesSlides/notesSlide24.xml" Id="Rb7578b4fad9141a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5.xml" Id="Rd71541c222144b29" /><Relationship Type="http://schemas.openxmlformats.org/officeDocument/2006/relationships/notesSlide" Target="/ppt/notesSlides/notesSlide25.xml" Id="R7f1c89df2a344a7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c79f6991cb8f48eb" /><Relationship Type="http://schemas.openxmlformats.org/officeDocument/2006/relationships/image" Target="/ppt/media/image3.png" Id="R74d30f83bce349d4" /><Relationship Type="http://schemas.openxmlformats.org/officeDocument/2006/relationships/image" Target="/ppt/media/image7.png" Id="Ra1be4dd9bee24d68" /><Relationship Type="http://schemas.openxmlformats.org/officeDocument/2006/relationships/notesSlide" Target="/ppt/notesSlides/notesSlide26.xml" Id="Rd88920197cbc460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xml" Id="R3df63ff473454aaa" /><Relationship Type="http://schemas.openxmlformats.org/officeDocument/2006/relationships/image" Target="/ppt/media/image3.png" Id="Rfd00a1fd0aa747a3" /><Relationship Type="http://schemas.openxmlformats.org/officeDocument/2006/relationships/image" Target="/ppt/media/image7.png" Id="Re20c4d8fc5524366" /><Relationship Type="http://schemas.openxmlformats.org/officeDocument/2006/relationships/notesSlide" Target="/ppt/notesSlides/notesSlide27.xml" Id="Rf628aa829b01401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2.xml" Id="Rf83f2378d35b4949" /><Relationship Type="http://schemas.openxmlformats.org/officeDocument/2006/relationships/image" Target="/ppt/media/image3.png" Id="R24e5f4232cfe4cdf" /><Relationship Type="http://schemas.openxmlformats.org/officeDocument/2006/relationships/image" Target="/ppt/media/image7.png" Id="Rfed332356ab34bac" /><Relationship Type="http://schemas.openxmlformats.org/officeDocument/2006/relationships/notesSlide" Target="/ppt/notesSlides/notesSlide28.xml" Id="R2f541cc3da304e48" /></Relationships>
</file>

<file path=ppt/slides/_rels/slide29.xml.rels>&#65279;<?xml version="1.0" encoding="utf-8"?><Relationships xmlns="http://schemas.openxmlformats.org/package/2006/relationships"><Relationship Type="http://schemas.openxmlformats.org/officeDocument/2006/relationships/slideLayout" Target="/ppt/slideLayouts/slideLayout4.xml" Id="R0716cc6288dd4a41" /><Relationship Type="http://schemas.openxmlformats.org/officeDocument/2006/relationships/image" Target="/ppt/media/image16.png" Id="R7caea81db5ac4bcb" /><Relationship Type="http://schemas.openxmlformats.org/officeDocument/2006/relationships/image" Target="/ppt/media/image17.png" Id="Rdc79a241d2b1408d" /><Relationship Type="http://schemas.openxmlformats.org/officeDocument/2006/relationships/image" Target="/ppt/media/image18.png" Id="Rd04b32948472440c" /><Relationship Type="http://schemas.openxmlformats.org/officeDocument/2006/relationships/notesSlide" Target="/ppt/notesSlides/notesSlide29.xml" Id="R729f53ac7bfd4bb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xml" Id="Ra0f88d2d933948e7" /><Relationship Type="http://schemas.openxmlformats.org/officeDocument/2006/relationships/notesSlide" Target="/ppt/notesSlides/notesSlide30.xml" Id="R501ecd7653ad4d8c" /></Relationships>
</file>

<file path=ppt/slides/_rels/slide31.xml.rels>&#65279;<?xml version="1.0" encoding="utf-8"?><Relationships xmlns="http://schemas.openxmlformats.org/package/2006/relationships"><Relationship Type="http://schemas.openxmlformats.org/officeDocument/2006/relationships/slideLayout" Target="/ppt/slideLayouts/slideLayout3.xml" Id="R0d4a8612e3f84406" /><Relationship Type="http://schemas.openxmlformats.org/officeDocument/2006/relationships/hyperlink" Target="https://github.com/stperic/who-writes-who-finds" TargetMode="External" Id="Rb23af1da4e5a4ddc" /><Relationship Type="http://schemas.openxmlformats.org/officeDocument/2006/relationships/notesSlide" Target="/ppt/notesSlides/notesSlide31.xml" Id="Rbc4693027e124e9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2.xml" Id="Rb67f0850f0c7434d" /><Relationship Type="http://schemas.openxmlformats.org/officeDocument/2006/relationships/image" Target="/ppt/media/image3.png" Id="Rcfb38b9a4a5a4d49" /><Relationship Type="http://schemas.openxmlformats.org/officeDocument/2006/relationships/image" Target="/ppt/media/image7.png" Id="Rc56495229b004d06" /><Relationship Type="http://schemas.openxmlformats.org/officeDocument/2006/relationships/notesSlide" Target="/ppt/notesSlides/notesSlide32.xml" Id="Re55ea365df8340c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2.xml" Id="Rc0f3777100ec486a" /><Relationship Type="http://schemas.openxmlformats.org/officeDocument/2006/relationships/image" Target="/ppt/media/image3.png" Id="R00e1c93acf894633" /><Relationship Type="http://schemas.openxmlformats.org/officeDocument/2006/relationships/image" Target="/ppt/media/image7.png" Id="R74a69c1851f249b5" /><Relationship Type="http://schemas.openxmlformats.org/officeDocument/2006/relationships/notesSlide" Target="/ppt/notesSlides/notesSlide33.xml" Id="Re6f2e1394a3e439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2.xml" Id="Rd439a84167954d68" /><Relationship Type="http://schemas.openxmlformats.org/officeDocument/2006/relationships/image" Target="/ppt/media/image3.png" Id="R1ea6263bdcb84b0b" /><Relationship Type="http://schemas.openxmlformats.org/officeDocument/2006/relationships/image" Target="/ppt/media/image7.png" Id="R936c72f952e844a9" /><Relationship Type="http://schemas.openxmlformats.org/officeDocument/2006/relationships/notesSlide" Target="/ppt/notesSlides/notesSlide34.xml" Id="R6ee8d5b74fd84bd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2.xml" Id="R1e9c5c1c9b1245c5" /><Relationship Type="http://schemas.openxmlformats.org/officeDocument/2006/relationships/image" Target="/ppt/media/image3.png" Id="R08f6cebb8b2c42f3" /><Relationship Type="http://schemas.openxmlformats.org/officeDocument/2006/relationships/image" Target="/ppt/media/image7.png" Id="R6be6fac1b6734e16" /><Relationship Type="http://schemas.openxmlformats.org/officeDocument/2006/relationships/image" Target="/ppt/media/image19.png" Id="Rf68927ede205458e" /><Relationship Type="http://schemas.openxmlformats.org/officeDocument/2006/relationships/image" Target="/ppt/media/image20.png" Id="Rf452f5a44f174599" /><Relationship Type="http://schemas.openxmlformats.org/officeDocument/2006/relationships/image" Target="/ppt/media/image21.png" Id="R41720ba2208848cc" /><Relationship Type="http://schemas.openxmlformats.org/officeDocument/2006/relationships/notesSlide" Target="/ppt/notesSlides/notesSlide35.xml" Id="R6f70d7a4398d4c5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2.xml" Id="Rb67e848c2ddb42b2" /><Relationship Type="http://schemas.openxmlformats.org/officeDocument/2006/relationships/image" Target="/ppt/media/image3.png" Id="R86270df0701f44c6" /><Relationship Type="http://schemas.openxmlformats.org/officeDocument/2006/relationships/image" Target="/ppt/media/image7.png" Id="R3e697ef6daa94543" /><Relationship Type="http://schemas.openxmlformats.org/officeDocument/2006/relationships/image" Target="/ppt/media/image22.png" Id="R80ae3901239c4f80" /><Relationship Type="http://schemas.openxmlformats.org/officeDocument/2006/relationships/notesSlide" Target="/ppt/notesSlides/notesSlide36.xml" Id="Rb0dba0735a9342d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2.xml" Id="R497c47dd175c47c1" /><Relationship Type="http://schemas.openxmlformats.org/officeDocument/2006/relationships/image" Target="/ppt/media/image3.png" Id="R15858db5f94d44ae" /><Relationship Type="http://schemas.openxmlformats.org/officeDocument/2006/relationships/image" Target="/ppt/media/image7.png" Id="Rc01cc743cae2410d" /><Relationship Type="http://schemas.openxmlformats.org/officeDocument/2006/relationships/image" Target="/ppt/media/image23.png" Id="R17431be06f3641aa" /><Relationship Type="http://schemas.openxmlformats.org/officeDocument/2006/relationships/image" Target="/ppt/media/image24.png" Id="R098e8e622dfb4f49" /><Relationship Type="http://schemas.openxmlformats.org/officeDocument/2006/relationships/notesSlide" Target="/ppt/notesSlides/notesSlide37.xml" Id="R86beb05cd213433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2.xml" Id="Rcaeea7eb82744ffa" /><Relationship Type="http://schemas.openxmlformats.org/officeDocument/2006/relationships/image" Target="/ppt/media/image3.png" Id="R14ee6a0cf458462c" /><Relationship Type="http://schemas.openxmlformats.org/officeDocument/2006/relationships/image" Target="/ppt/media/image7.png" Id="R060f4eed77b249f4" /><Relationship Type="http://schemas.openxmlformats.org/officeDocument/2006/relationships/notesSlide" Target="/ppt/notesSlides/notesSlide38.xml" Id="R1d4c043b35a64a8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2.xml" Id="Rbac5ffbdb6b446eb" /><Relationship Type="http://schemas.openxmlformats.org/officeDocument/2006/relationships/image" Target="/ppt/media/image3.png" Id="R873e8ed1325548fb" /><Relationship Type="http://schemas.openxmlformats.org/officeDocument/2006/relationships/image" Target="/ppt/media/image7.png" Id="R620b1cde37944a5a" /><Relationship Type="http://schemas.openxmlformats.org/officeDocument/2006/relationships/image" Target="/ppt/media/image25.png" Id="Ra71bfc2ff5a34e1e" /><Relationship Type="http://schemas.openxmlformats.org/officeDocument/2006/relationships/image" Target="/ppt/media/image26.png" Id="R8542ad59b0814d43" /><Relationship Type="http://schemas.openxmlformats.org/officeDocument/2006/relationships/image" Target="/ppt/media/image27.png" Id="Rbb21b9470de04222" /><Relationship Type="http://schemas.openxmlformats.org/officeDocument/2006/relationships/notesSlide" Target="/ppt/notesSlides/notesSlide39.xml" Id="Rde6e3833a2fd465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2.xml" Id="R749ce3e2e3b74bc5" /><Relationship Type="http://schemas.openxmlformats.org/officeDocument/2006/relationships/image" Target="/ppt/media/image3.png" Id="R6a9d98edd8684fe5" /><Relationship Type="http://schemas.openxmlformats.org/officeDocument/2006/relationships/image" Target="/ppt/media/image7.png" Id="R5a5b9210178144ab" /><Relationship Type="http://schemas.openxmlformats.org/officeDocument/2006/relationships/notesSlide" Target="/ppt/notesSlides/notesSlide40.xml" Id="R4b6c7d2286ac4f86" /></Relationships>
</file>

<file path=ppt/slides/_rels/slide41.xml.rels>&#65279;<?xml version="1.0" encoding="utf-8"?><Relationships xmlns="http://schemas.openxmlformats.org/package/2006/relationships"><Relationship Type="http://schemas.openxmlformats.org/officeDocument/2006/relationships/slideLayout" Target="/ppt/slideLayouts/slideLayout2.xml" Id="R4d23e08919c7431f" /><Relationship Type="http://schemas.openxmlformats.org/officeDocument/2006/relationships/image" Target="/ppt/media/image3.png" Id="R1356b772a3e44a36" /><Relationship Type="http://schemas.openxmlformats.org/officeDocument/2006/relationships/image" Target="/ppt/media/image7.png" Id="Rd86587f628a54530" /><Relationship Type="http://schemas.openxmlformats.org/officeDocument/2006/relationships/image" Target="/ppt/media/image28.png" Id="R76fb2e9766954552" /><Relationship Type="http://schemas.openxmlformats.org/officeDocument/2006/relationships/notesSlide" Target="/ppt/notesSlides/notesSlide41.xml" Id="R000d7dc5534b493c" /></Relationships>
</file>

<file path=ppt/slides/_rels/slide42.xml.rels>&#65279;<?xml version="1.0" encoding="utf-8"?><Relationships xmlns="http://schemas.openxmlformats.org/package/2006/relationships"><Relationship Type="http://schemas.openxmlformats.org/officeDocument/2006/relationships/slideLayout" Target="/ppt/slideLayouts/slideLayout2.xml" Id="R5bf199513e0c4fab" /><Relationship Type="http://schemas.openxmlformats.org/officeDocument/2006/relationships/image" Target="/ppt/media/image3.png" Id="R8d3d0dd8b4814e63" /><Relationship Type="http://schemas.openxmlformats.org/officeDocument/2006/relationships/image" Target="/ppt/media/image7.png" Id="R5a8ae3c40cc840cb" /><Relationship Type="http://schemas.openxmlformats.org/officeDocument/2006/relationships/notesSlide" Target="/ppt/notesSlides/notesSlide42.xml" Id="R7a0bfb14218c43c2" /></Relationships>
</file>

<file path=ppt/slides/slide1.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46420740-5BA8-4EF3-B202-90FBBF0784E9}"/>
              </a:ext>
            </a:extLst>
          </p:cNvPr>
          <p:cNvPicPr>
            <a:picLocks xmlns:a="http://schemas.openxmlformats.org/drawingml/2006/main" noChangeAspect="1"/>
          </p:cNvPicPr>
          <p:nvPr/>
        </p:nvPicPr>
        <p:blipFill>
          <a:blip xmlns:r="http://schemas.openxmlformats.org/officeDocument/2006/relationships" xmlns:a="http://schemas.openxmlformats.org/drawingml/2006/main" r:embed="R3de8d913fefc4623"/>
          <a:srcRect xmlns:a="http://schemas.openxmlformats.org/drawingml/2006/main" l="-44" t="0" r="-44" b="0"/>
          <a:stretch xmlns:a="http://schemas.openxmlformats.org/drawingml/2006/main"/>
        </p:blipFill>
        <p:spPr>
          <a:xfrm xmlns:a="http://schemas.openxmlformats.org/drawingml/2006/main">
            <a:off x="6731000" y="3302000"/>
            <a:ext cx="5461000" cy="35560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5F148670-82D9-4ABA-B928-D261EEC765AC}"/>
              </a:ext>
            </a:extLst>
          </p:cNvPr>
          <p:cNvPicPr>
            <a:picLocks xmlns:a="http://schemas.openxmlformats.org/drawingml/2006/main" noChangeAspect="1"/>
          </p:cNvPicPr>
          <p:nvPr/>
        </p:nvPicPr>
        <p:blipFill>
          <a:blip xmlns:r="http://schemas.openxmlformats.org/officeDocument/2006/relationships" xmlns:a="http://schemas.openxmlformats.org/drawingml/2006/main" r:embed="Rb376bab51e804a11"/>
          <a:srcRect xmlns:a="http://schemas.openxmlformats.org/drawingml/2006/main" l="-65" t="0" r="-65" b="0"/>
          <a:stretch xmlns:a="http://schemas.openxmlformats.org/drawingml/2006/main"/>
        </p:blipFill>
        <p:spPr>
          <a:xfrm xmlns:a="http://schemas.openxmlformats.org/drawingml/2006/main">
            <a:off x="812800" y="508000"/>
            <a:ext cx="2032000" cy="4445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65024E66-7DE4-494D-AB63-37A6CE96FF5B}"/>
              </a:ext>
            </a:extLst>
          </p:cNvPr>
          <p:cNvSpPr>
            <a:spLocks xmlns:a="http://schemas.openxmlformats.org/drawingml/2006/main" noGrp="1"/>
          </p:cNvSpPr>
          <p:nvPr>
            <p:ph type="title" idx="0"/>
          </p:nvPr>
        </p:nvSpPr>
        <p:spPr>
          <a:xfrm xmlns:a="http://schemas.openxmlformats.org/drawingml/2006/main">
            <a:off x="812800" y="1371599"/>
            <a:ext cx="6337300" cy="1518841"/>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ct val="105000"/>
              </a:lnSpc>
              <a:buNone/>
            </a:pPr>
            <a:r>
              <a:rPr sz="4000" b="1" i="0">
                <a:solidFill>
                  <a:srgbClr val="448334"/>
                </a:solidFill>
                <a:latin typeface="Arial"/>
                <a:ea typeface="Arial"/>
                <a:cs typeface="Arial"/>
              </a:rPr>
              <a:t>Who Writes the Bug,</a:t>
            </a:r>
            <a:br/>
            <a:r>
              <a:rPr sz="4000" b="1" i="0">
                <a:solidFill>
                  <a:srgbClr val="448334"/>
                </a:solidFill>
                <a:latin typeface="Arial"/>
                <a:ea typeface="Arial"/>
                <a:cs typeface="Arial"/>
              </a:rPr>
              <a:t>Who Finds the Bug?</a:t>
            </a:r>
          </a:p>
        </p:txBody>
      </p:sp>
      <p:sp>
        <p:nvSpPr>
          <p:cNvPr id="5" name="Text 1">
            <a:extLst xmlns:a="http://schemas.openxmlformats.org/drawingml/2006/main">
              <a:ext uri="{FF2B5EF4-FFF2-40B4-BE49-F238E27FC236}">
                <a16:creationId xmlns:a16="http://schemas.microsoft.com/office/drawing/2014/main" id="{9D54E41A-1977-4877-BCBE-B2AD103263A0}"/>
              </a:ext>
            </a:extLst>
          </p:cNvPr>
          <p:cNvSpPr>
            <a:spLocks xmlns:a="http://schemas.openxmlformats.org/drawingml/2006/main" noGrp="1"/>
          </p:cNvSpPr>
          <p:nvPr/>
        </p:nvSpPr>
        <p:spPr>
          <a:xfrm xmlns:a="http://schemas.openxmlformats.org/drawingml/2006/main">
            <a:off x="812800" y="3526830"/>
            <a:ext cx="5886450" cy="355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600"/>
              </a:lnSpc>
              <a:buNone/>
            </a:pPr>
            <a:endParaRPr sz="2000"/>
          </a:p>
        </p:txBody>
      </p:sp>
      <p:sp>
        <p:nvSpPr>
          <p:cNvPr id="6" name="Text 2">
            <a:extLst xmlns:a="http://schemas.openxmlformats.org/drawingml/2006/main">
              <a:ext uri="{FF2B5EF4-FFF2-40B4-BE49-F238E27FC236}">
                <a16:creationId xmlns:a16="http://schemas.microsoft.com/office/drawing/2014/main" id="{70D3315C-1DEE-43FD-9CD3-F4398F93F416}"/>
              </a:ext>
            </a:extLst>
          </p:cNvPr>
          <p:cNvSpPr>
            <a:spLocks xmlns:a="http://schemas.openxmlformats.org/drawingml/2006/main" noGrp="1"/>
          </p:cNvSpPr>
          <p:nvPr/>
        </p:nvSpPr>
        <p:spPr>
          <a:xfrm xmlns:a="http://schemas.openxmlformats.org/drawingml/2006/main">
            <a:off x="828675" y="3052961"/>
            <a:ext cx="5886450" cy="52308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2000">
                <a:solidFill>
                  <a:srgbClr val="6B6B73"/>
                </a:solidFill>
                <a:latin typeface="Arial"/>
                <a:ea typeface="Arial"/>
                <a:cs typeface="Arial"/>
              </a:rPr>
              <a:t>Human-AI Security Lessons from Open Source</a:t>
            </a:r>
          </a:p>
          <a:p xmlns:a="http://schemas.openxmlformats.org/drawingml/2006/main">
            <a:pPr marL="0" indent="0" algn="l">
              <a:lnSpc>
                <a:spcPts val="1960"/>
              </a:lnSpc>
              <a:buNone/>
            </a:pPr>
            <a:endParaRPr sz="2000">
              <a:solidFill>
                <a:srgbClr val="6B6B73"/>
              </a:solidFill>
              <a:latin typeface="Arial"/>
              <a:ea typeface="Arial"/>
              <a:cs typeface="Arial"/>
            </a:endParaRPr>
          </a:p>
        </p:txBody>
      </p:sp>
      <p:sp>
        <p:nvSpPr>
          <p:cNvPr id="7" name="Text 3">
            <a:extLst xmlns:a="http://schemas.openxmlformats.org/drawingml/2006/main">
              <a:ext uri="{FF2B5EF4-FFF2-40B4-BE49-F238E27FC236}">
                <a16:creationId xmlns:a16="http://schemas.microsoft.com/office/drawing/2014/main" id="{25C02FEF-94A6-45AE-9088-E80EEACCD326}"/>
              </a:ext>
            </a:extLst>
          </p:cNvPr>
          <p:cNvSpPr>
            <a:spLocks xmlns:a="http://schemas.openxmlformats.org/drawingml/2006/main" noGrp="1"/>
          </p:cNvSpPr>
          <p:nvPr/>
        </p:nvSpPr>
        <p:spPr>
          <a:xfrm xmlns:a="http://schemas.openxmlformats.org/drawingml/2006/main">
            <a:off x="812800" y="5340351"/>
            <a:ext cx="5886450" cy="2921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00"/>
              </a:lnSpc>
              <a:buNone/>
            </a:pPr>
            <a:r>
              <a:rPr sz="1500" b="1">
                <a:solidFill>
                  <a:srgbClr val="33333A"/>
                </a:solidFill>
                <a:latin typeface="Arial"/>
                <a:ea typeface="Arial"/>
                <a:cs typeface="Arial"/>
              </a:rPr>
              <a:t>Eric St-Pierre, CISSP, CCSP, HCISPP</a:t>
            </a:r>
            <a:endParaRPr sz="1500"/>
          </a:p>
        </p:txBody>
      </p:sp>
      <p:sp>
        <p:nvSpPr>
          <p:cNvPr id="8" name="Shape 4">
            <a:extLst xmlns:a="http://schemas.openxmlformats.org/drawingml/2006/main">
              <a:ext uri="{FF2B5EF4-FFF2-40B4-BE49-F238E27FC236}">
                <a16:creationId xmlns:a16="http://schemas.microsoft.com/office/drawing/2014/main" id="{D2398EB7-5CD9-487C-87B3-F265A76FA1D7}"/>
              </a:ext>
            </a:extLst>
          </p:cNvPr>
          <p:cNvSpPr>
            <a:spLocks xmlns:a="http://schemas.openxmlformats.org/drawingml/2006/main" noGrp="1"/>
          </p:cNvSpPr>
          <p:nvPr/>
        </p:nvSpPr>
        <p:spPr>
          <a:xfrm xmlns:a="http://schemas.openxmlformats.org/drawingml/2006/main" rot="0" flipH="0" flipV="0">
            <a:off x="2164262" y="3625447"/>
            <a:ext cx="1889466" cy="1461703"/>
          </a:xfrm>
          <a:prstGeom xmlns:a="http://schemas.openxmlformats.org/drawingml/2006/main" prst="roundRect">
            <a:avLst>
              <a:gd name="adj" fmla="val 5536"/>
            </a:avLst>
          </a:prstGeom>
          <a:solidFill xmlns:a="http://schemas.openxmlformats.org/drawingml/2006/main">
            <a:srgbClr val="FFFFFF"/>
          </a:solidFill>
          <a:ln xmlns:a="http://schemas.openxmlformats.org/drawingml/2006/main" w="12700">
            <a:solidFill>
              <a:srgbClr val="E3E3E6"/>
            </a:solidFill>
            <a:prstDash val="solid"/>
          </a:ln>
          <a:effectLst xmlns:a="http://schemas.openxmlformats.org/drawingml/2006/main">
            <a:outerShdw blurRad="254000" dist="101600" dir="5400000" algn="bl" rotWithShape="0">
              <a:srgbClr val="33333A">
                <a:alpha val="12000"/>
              </a:srgbClr>
            </a:outerShdw>
          </a:effectLst>
        </p:spPr>
        <p:txBody>
          <a:bodyPr xmlns:a="http://schemas.openxmlformats.org/drawingml/2006/main" anchor="ctr"/>
          <a:lstStyle xmlns:a="http://schemas.openxmlformats.org/drawingml/2006/main"/>
          <a:p xmlns:a="http://schemas.openxmlformats.org/drawingml/2006/main">
            <a:endParaRPr sz="1050"/>
          </a:p>
        </p:txBody>
      </p:sp>
      <p:pic>
        <p:nvPicPr>
          <p:cNvPr id="9" name="Image 2">
            <a:extLst xmlns:a="http://schemas.openxmlformats.org/drawingml/2006/main">
              <a:ext uri="{FF2B5EF4-FFF2-40B4-BE49-F238E27FC236}">
                <a16:creationId xmlns:a16="http://schemas.microsoft.com/office/drawing/2014/main" id="{F1AB5A97-6409-4551-A8CC-85710DD551D1}"/>
              </a:ext>
            </a:extLst>
          </p:cNvPr>
          <p:cNvPicPr>
            <a:picLocks xmlns:a="http://schemas.openxmlformats.org/drawingml/2006/main" noChangeAspect="1"/>
          </p:cNvPicPr>
          <p:nvPr/>
        </p:nvPicPr>
        <p:blipFill>
          <a:blip xmlns:r="http://schemas.openxmlformats.org/officeDocument/2006/relationships" xmlns:a="http://schemas.openxmlformats.org/drawingml/2006/main" r:embed="Rcf5c4b7bccba4714"/>
          <a:srcRect xmlns:a="http://schemas.openxmlformats.org/drawingml/2006/main" l="0" t="0" r="0" b="0"/>
          <a:stretch xmlns:a="http://schemas.openxmlformats.org/drawingml/2006/main"/>
        </p:blipFill>
        <p:spPr>
          <a:xfrm xmlns:a="http://schemas.openxmlformats.org/drawingml/2006/main" rot="0" flipH="0" flipV="0">
            <a:off x="2320926" y="3772789"/>
            <a:ext cx="170906" cy="153331"/>
          </a:xfrm>
          <a:prstGeom xmlns:a="http://schemas.openxmlformats.org/drawingml/2006/main" prst="rect">
            <a:avLst/>
          </a:prstGeom>
        </p:spPr>
      </p:pic>
      <p:sp>
        <p:nvSpPr>
          <p:cNvPr id="10" name="Text 5">
            <a:extLst xmlns:a="http://schemas.openxmlformats.org/drawingml/2006/main">
              <a:ext uri="{FF2B5EF4-FFF2-40B4-BE49-F238E27FC236}">
                <a16:creationId xmlns:a16="http://schemas.microsoft.com/office/drawing/2014/main" id="{6D91E57C-71A2-4C90-BD54-4351A810027F}"/>
              </a:ext>
            </a:extLst>
          </p:cNvPr>
          <p:cNvSpPr>
            <a:spLocks xmlns:a="http://schemas.openxmlformats.org/drawingml/2006/main" noGrp="1"/>
          </p:cNvSpPr>
          <p:nvPr/>
        </p:nvSpPr>
        <p:spPr>
          <a:xfrm xmlns:a="http://schemas.openxmlformats.org/drawingml/2006/main" rot="0" flipH="0" flipV="0">
            <a:off x="2567791" y="3766001"/>
            <a:ext cx="913014" cy="183944"/>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960"/>
              </a:lnSpc>
              <a:buNone/>
            </a:pPr>
            <a:r>
              <a:rPr sz="900" b="1">
                <a:solidFill>
                  <a:srgbClr val="33333A"/>
                </a:solidFill>
                <a:latin typeface="Arial"/>
                <a:ea typeface="Arial"/>
                <a:cs typeface="Arial"/>
              </a:rPr>
              <a:t>Pull request</a:t>
            </a:r>
            <a:endParaRPr sz="900"/>
          </a:p>
        </p:txBody>
      </p:sp>
      <p:sp>
        <p:nvSpPr>
          <p:cNvPr id="11" name="Shape 6">
            <a:extLst xmlns:a="http://schemas.openxmlformats.org/drawingml/2006/main">
              <a:ext uri="{FF2B5EF4-FFF2-40B4-BE49-F238E27FC236}">
                <a16:creationId xmlns:a16="http://schemas.microsoft.com/office/drawing/2014/main" id="{BD48EB91-316C-4422-A9CC-726144478B6E}"/>
              </a:ext>
            </a:extLst>
          </p:cNvPr>
          <p:cNvSpPr>
            <a:spLocks xmlns:a="http://schemas.openxmlformats.org/drawingml/2006/main" noGrp="1"/>
          </p:cNvSpPr>
          <p:nvPr/>
        </p:nvSpPr>
        <p:spPr>
          <a:xfrm xmlns:a="http://schemas.openxmlformats.org/drawingml/2006/main" rot="0" flipH="0" flipV="0">
            <a:off x="2320926" y="4018092"/>
            <a:ext cx="1424220" cy="59628"/>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nchor="ctr"/>
          <a:lstStyle xmlns:a="http://schemas.openxmlformats.org/drawingml/2006/main"/>
          <a:p xmlns:a="http://schemas.openxmlformats.org/drawingml/2006/main">
            <a:endParaRPr sz="1050"/>
          </a:p>
        </p:txBody>
      </p:sp>
      <p:sp>
        <p:nvSpPr>
          <p:cNvPr id="12" name="Shape 7">
            <a:extLst xmlns:a="http://schemas.openxmlformats.org/drawingml/2006/main">
              <a:ext uri="{FF2B5EF4-FFF2-40B4-BE49-F238E27FC236}">
                <a16:creationId xmlns:a16="http://schemas.microsoft.com/office/drawing/2014/main" id="{4331FC79-321F-4CFA-9332-28B7032F12E7}"/>
              </a:ext>
            </a:extLst>
          </p:cNvPr>
          <p:cNvSpPr>
            <a:spLocks xmlns:a="http://schemas.openxmlformats.org/drawingml/2006/main" noGrp="1"/>
          </p:cNvSpPr>
          <p:nvPr/>
        </p:nvSpPr>
        <p:spPr>
          <a:xfrm xmlns:a="http://schemas.openxmlformats.org/drawingml/2006/main" rot="0" flipH="0" flipV="0">
            <a:off x="2320926" y="4162905"/>
            <a:ext cx="1139376" cy="59628"/>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nchor="ctr"/>
          <a:lstStyle xmlns:a="http://schemas.openxmlformats.org/drawingml/2006/main"/>
          <a:p xmlns:a="http://schemas.openxmlformats.org/drawingml/2006/main">
            <a:endParaRPr sz="1050"/>
          </a:p>
        </p:txBody>
      </p:sp>
      <p:sp>
        <p:nvSpPr>
          <p:cNvPr id="13" name="Shape 8">
            <a:extLst xmlns:a="http://schemas.openxmlformats.org/drawingml/2006/main">
              <a:ext uri="{FF2B5EF4-FFF2-40B4-BE49-F238E27FC236}">
                <a16:creationId xmlns:a16="http://schemas.microsoft.com/office/drawing/2014/main" id="{0081CC17-B58A-4CC3-BAA3-88875508BB05}"/>
              </a:ext>
            </a:extLst>
          </p:cNvPr>
          <p:cNvSpPr>
            <a:spLocks xmlns:a="http://schemas.openxmlformats.org/drawingml/2006/main" noGrp="1"/>
          </p:cNvSpPr>
          <p:nvPr/>
        </p:nvSpPr>
        <p:spPr>
          <a:xfrm xmlns:a="http://schemas.openxmlformats.org/drawingml/2006/main" rot="0" flipH="0" flipV="0">
            <a:off x="2320926" y="4307718"/>
            <a:ext cx="1329272" cy="59628"/>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nchor="ctr"/>
          <a:lstStyle xmlns:a="http://schemas.openxmlformats.org/drawingml/2006/main"/>
          <a:p xmlns:a="http://schemas.openxmlformats.org/drawingml/2006/main">
            <a:endParaRPr sz="1050"/>
          </a:p>
        </p:txBody>
      </p:sp>
      <p:sp>
        <p:nvSpPr>
          <p:cNvPr id="14" name="Shape 9">
            <a:extLst xmlns:a="http://schemas.openxmlformats.org/drawingml/2006/main">
              <a:ext uri="{FF2B5EF4-FFF2-40B4-BE49-F238E27FC236}">
                <a16:creationId xmlns:a16="http://schemas.microsoft.com/office/drawing/2014/main" id="{4E6AD278-2BF3-4E58-B9B2-0D78453B0E1D}"/>
              </a:ext>
            </a:extLst>
          </p:cNvPr>
          <p:cNvSpPr>
            <a:spLocks xmlns:a="http://schemas.openxmlformats.org/drawingml/2006/main" noGrp="1"/>
          </p:cNvSpPr>
          <p:nvPr/>
        </p:nvSpPr>
        <p:spPr>
          <a:xfrm xmlns:a="http://schemas.openxmlformats.org/drawingml/2006/main" rot="0" flipH="0" flipV="0">
            <a:off x="2320926" y="4452530"/>
            <a:ext cx="949480" cy="59628"/>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nchor="ctr"/>
          <a:lstStyle xmlns:a="http://schemas.openxmlformats.org/drawingml/2006/main"/>
          <a:p xmlns:a="http://schemas.openxmlformats.org/drawingml/2006/main">
            <a:endParaRPr sz="1050"/>
          </a:p>
        </p:txBody>
      </p:sp>
      <p:sp>
        <p:nvSpPr>
          <p:cNvPr id="15" name="Shape 10">
            <a:extLst xmlns:a="http://schemas.openxmlformats.org/drawingml/2006/main">
              <a:ext uri="{FF2B5EF4-FFF2-40B4-BE49-F238E27FC236}">
                <a16:creationId xmlns:a16="http://schemas.microsoft.com/office/drawing/2014/main" id="{C55D622B-1668-4F2C-AA63-EED0D6DF35FF}"/>
              </a:ext>
            </a:extLst>
          </p:cNvPr>
          <p:cNvSpPr>
            <a:spLocks xmlns:a="http://schemas.openxmlformats.org/drawingml/2006/main" noGrp="1"/>
          </p:cNvSpPr>
          <p:nvPr/>
        </p:nvSpPr>
        <p:spPr>
          <a:xfrm xmlns:a="http://schemas.openxmlformats.org/drawingml/2006/main" rot="0" flipH="0" flipV="0">
            <a:off x="2320926" y="4597343"/>
            <a:ext cx="1234324" cy="59628"/>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nchor="ctr"/>
          <a:lstStyle xmlns:a="http://schemas.openxmlformats.org/drawingml/2006/main"/>
          <a:p xmlns:a="http://schemas.openxmlformats.org/drawingml/2006/main">
            <a:endParaRPr sz="1050"/>
          </a:p>
        </p:txBody>
      </p:sp>
      <p:sp>
        <p:nvSpPr>
          <p:cNvPr id="16" name="Shape 11">
            <a:extLst xmlns:a="http://schemas.openxmlformats.org/drawingml/2006/main">
              <a:ext uri="{FF2B5EF4-FFF2-40B4-BE49-F238E27FC236}">
                <a16:creationId xmlns:a16="http://schemas.microsoft.com/office/drawing/2014/main" id="{9A192575-1B33-4D8B-A613-B0BF6274ADA5}"/>
              </a:ext>
            </a:extLst>
          </p:cNvPr>
          <p:cNvSpPr>
            <a:spLocks xmlns:a="http://schemas.openxmlformats.org/drawingml/2006/main" noGrp="1"/>
          </p:cNvSpPr>
          <p:nvPr/>
        </p:nvSpPr>
        <p:spPr>
          <a:xfrm xmlns:a="http://schemas.openxmlformats.org/drawingml/2006/main" rot="0" flipH="0" flipV="0">
            <a:off x="2320926" y="4742156"/>
            <a:ext cx="854532" cy="59628"/>
          </a:xfrm>
          <a:prstGeom xmlns:a="http://schemas.openxmlformats.org/drawingml/2006/main" prst="roundRect">
            <a:avLst>
              <a:gd name="adj" fmla="val 50000"/>
            </a:avLst>
          </a:prstGeom>
          <a:solidFill xmlns:a="http://schemas.openxmlformats.org/drawingml/2006/main">
            <a:srgbClr val="F9D8CB"/>
          </a:solidFill>
        </p:spPr>
        <p:txBody>
          <a:bodyPr xmlns:a="http://schemas.openxmlformats.org/drawingml/2006/main" anchor="ctr"/>
          <a:lstStyle xmlns:a="http://schemas.openxmlformats.org/drawingml/2006/main"/>
          <a:p xmlns:a="http://schemas.openxmlformats.org/drawingml/2006/main">
            <a:endParaRPr sz="1050"/>
          </a:p>
        </p:txBody>
      </p:sp>
      <p:sp>
        <p:nvSpPr>
          <p:cNvPr id="17" name="Shape 12">
            <a:extLst xmlns:a="http://schemas.openxmlformats.org/drawingml/2006/main">
              <a:ext uri="{FF2B5EF4-FFF2-40B4-BE49-F238E27FC236}">
                <a16:creationId xmlns:a16="http://schemas.microsoft.com/office/drawing/2014/main" id="{8129BEB7-E3EE-45A2-BDDD-FA4071986758}"/>
              </a:ext>
            </a:extLst>
          </p:cNvPr>
          <p:cNvSpPr>
            <a:spLocks xmlns:a="http://schemas.openxmlformats.org/drawingml/2006/main" noGrp="1"/>
          </p:cNvSpPr>
          <p:nvPr/>
        </p:nvSpPr>
        <p:spPr>
          <a:xfrm xmlns:a="http://schemas.openxmlformats.org/drawingml/2006/main" rot="0" flipH="0" flipV="0">
            <a:off x="2320926" y="4886968"/>
            <a:ext cx="1424220" cy="59628"/>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nchor="ctr"/>
          <a:lstStyle xmlns:a="http://schemas.openxmlformats.org/drawingml/2006/main"/>
          <a:p xmlns:a="http://schemas.openxmlformats.org/drawingml/2006/main">
            <a:endParaRPr sz="1050"/>
          </a:p>
        </p:txBody>
      </p:sp>
      <p:sp>
        <p:nvSpPr>
          <p:cNvPr id="18" name="Text 13">
            <a:extLst xmlns:a="http://schemas.openxmlformats.org/drawingml/2006/main">
              <a:ext uri="{FF2B5EF4-FFF2-40B4-BE49-F238E27FC236}">
                <a16:creationId xmlns:a16="http://schemas.microsoft.com/office/drawing/2014/main" id="{064E9D3F-52B3-467B-9396-7602F7C92C33}"/>
              </a:ext>
            </a:extLst>
          </p:cNvPr>
          <p:cNvSpPr>
            <a:spLocks xmlns:a="http://schemas.openxmlformats.org/drawingml/2006/main" noGrp="1"/>
          </p:cNvSpPr>
          <p:nvPr/>
        </p:nvSpPr>
        <p:spPr>
          <a:xfrm xmlns:a="http://schemas.openxmlformats.org/drawingml/2006/main" rot="0" flipH="0" flipV="0">
            <a:off x="945807" y="4052266"/>
            <a:ext cx="1531322" cy="256983"/>
          </a:xfrm>
          <a:prstGeom xmlns:a="http://schemas.openxmlformats.org/drawingml/2006/main" prst="roundRect">
            <a:avLst>
              <a:gd name="adj" fmla="val 50000"/>
            </a:avLst>
          </a:prstGeom>
          <a:solidFill xmlns:a="http://schemas.openxmlformats.org/drawingml/2006/main">
            <a:srgbClr val="448334"/>
          </a:solidFill>
          <a:effectLst xmlns:a="http://schemas.openxmlformats.org/drawingml/2006/main">
            <a:outerShdw blurRad="127000" dist="38100" dir="5400000" algn="bl" rotWithShape="0">
              <a:srgbClr val="33333A">
                <a:alpha val="15000"/>
              </a:srgbClr>
            </a:outerShdw>
          </a:effectLst>
        </p:spPr>
        <p:txBody>
          <a:bodyPr xmlns:a="http://schemas.openxmlformats.org/drawingml/2006/main" wrap="square" lIns="45441" tIns="20041" rIns="45441" bIns="0" anchor="b">
            <a:noAutofit/>
          </a:bodyPr>
          <a:lstStyle xmlns:a="http://schemas.openxmlformats.org/drawingml/2006/main"/>
          <a:p xmlns:a="http://schemas.openxmlformats.org/drawingml/2006/main">
            <a:pPr marL="0" indent="0" algn="ctr">
              <a:lnSpc>
                <a:spcPts val="1820"/>
              </a:lnSpc>
              <a:buNone/>
            </a:pPr>
            <a:r>
              <a:rPr sz="900" b="1">
                <a:solidFill>
                  <a:srgbClr val="FFFFFF"/>
                </a:solidFill>
                <a:latin typeface="Arial"/>
                <a:ea typeface="Arial"/>
                <a:cs typeface="Arial"/>
              </a:rPr>
              <a:t>What’s intended?</a:t>
            </a:r>
            <a:endParaRPr sz="900"/>
          </a:p>
        </p:txBody>
      </p:sp>
      <p:sp>
        <p:nvSpPr>
          <p:cNvPr id="19" name="Text 14">
            <a:extLst xmlns:a="http://schemas.openxmlformats.org/drawingml/2006/main">
              <a:ext uri="{FF2B5EF4-FFF2-40B4-BE49-F238E27FC236}">
                <a16:creationId xmlns:a16="http://schemas.microsoft.com/office/drawing/2014/main" id="{9D26EE9B-334C-47E1-BD18-182842BCF688}"/>
              </a:ext>
            </a:extLst>
          </p:cNvPr>
          <p:cNvSpPr>
            <a:spLocks xmlns:a="http://schemas.openxmlformats.org/drawingml/2006/main" noGrp="1"/>
          </p:cNvSpPr>
          <p:nvPr/>
        </p:nvSpPr>
        <p:spPr>
          <a:xfrm xmlns:a="http://schemas.openxmlformats.org/drawingml/2006/main" rot="0" flipH="0" flipV="0">
            <a:off x="3835374" y="4043230"/>
            <a:ext cx="1531322" cy="256983"/>
          </a:xfrm>
          <a:prstGeom xmlns:a="http://schemas.openxmlformats.org/drawingml/2006/main" prst="roundRect">
            <a:avLst>
              <a:gd name="adj" fmla="val 50000"/>
            </a:avLst>
          </a:prstGeom>
          <a:solidFill xmlns:a="http://schemas.openxmlformats.org/drawingml/2006/main">
            <a:srgbClr val="0086B6"/>
          </a:solidFill>
          <a:effectLst xmlns:a="http://schemas.openxmlformats.org/drawingml/2006/main">
            <a:outerShdw blurRad="127000" dist="38100" dir="5400000" algn="bl" rotWithShape="0">
              <a:srgbClr val="33333A">
                <a:alpha val="15000"/>
              </a:srgbClr>
            </a:outerShdw>
          </a:effectLst>
        </p:spPr>
        <p:txBody>
          <a:bodyPr xmlns:a="http://schemas.openxmlformats.org/drawingml/2006/main" wrap="square" lIns="45441" tIns="0" rIns="45441" bIns="0" anchor="ctr">
            <a:noAutofit/>
          </a:bodyPr>
          <a:lstStyle xmlns:a="http://schemas.openxmlformats.org/drawingml/2006/main"/>
          <a:p xmlns:a="http://schemas.openxmlformats.org/drawingml/2006/main">
            <a:pPr marL="0" indent="0" algn="ctr">
              <a:lnSpc>
                <a:spcPts val="1820"/>
              </a:lnSpc>
              <a:buNone/>
            </a:pPr>
            <a:r>
              <a:rPr sz="900" b="1">
                <a:solidFill>
                  <a:srgbClr val="FFFFFF"/>
                </a:solidFill>
                <a:latin typeface="Arial"/>
                <a:ea typeface="Arial"/>
                <a:cs typeface="Arial"/>
              </a:rPr>
              <a:t>What changed?</a:t>
            </a:r>
            <a:endParaRPr sz="900"/>
          </a:p>
        </p:txBody>
      </p:sp>
      <p:sp>
        <p:nvSpPr>
          <p:cNvPr id="20" name="Text 15">
            <a:extLst xmlns:a="http://schemas.openxmlformats.org/drawingml/2006/main">
              <a:ext uri="{FF2B5EF4-FFF2-40B4-BE49-F238E27FC236}">
                <a16:creationId xmlns:a16="http://schemas.microsoft.com/office/drawing/2014/main" id="{0716A07F-7F3A-46BC-A28D-27584B4660BA}"/>
              </a:ext>
            </a:extLst>
          </p:cNvPr>
          <p:cNvSpPr>
            <a:spLocks xmlns:a="http://schemas.openxmlformats.org/drawingml/2006/main" noGrp="1"/>
          </p:cNvSpPr>
          <p:nvPr/>
        </p:nvSpPr>
        <p:spPr>
          <a:xfrm xmlns:a="http://schemas.openxmlformats.org/drawingml/2006/main" rot="0" flipH="0" flipV="0">
            <a:off x="960510" y="4435395"/>
            <a:ext cx="1531322" cy="256983"/>
          </a:xfrm>
          <a:prstGeom xmlns:a="http://schemas.openxmlformats.org/drawingml/2006/main" prst="roundRect">
            <a:avLst>
              <a:gd name="adj" fmla="val 41330"/>
            </a:avLst>
          </a:prstGeom>
          <a:solidFill xmlns:a="http://schemas.openxmlformats.org/drawingml/2006/main">
            <a:srgbClr val="5466AE"/>
          </a:solidFill>
          <a:effectLst xmlns:a="http://schemas.openxmlformats.org/drawingml/2006/main">
            <a:outerShdw blurRad="127000" dist="38100" dir="5400000" algn="bl" rotWithShape="0">
              <a:srgbClr val="33333A">
                <a:alpha val="15000"/>
              </a:srgbClr>
            </a:outerShdw>
          </a:effectLst>
        </p:spPr>
        <p:txBody>
          <a:bodyPr xmlns:a="http://schemas.openxmlformats.org/drawingml/2006/main" wrap="square" lIns="27206" tIns="1806" rIns="27206" bIns="0" anchor="ctr">
            <a:noAutofit/>
          </a:bodyPr>
          <a:lstStyle xmlns:a="http://schemas.openxmlformats.org/drawingml/2006/main"/>
          <a:p xmlns:a="http://schemas.openxmlformats.org/drawingml/2006/main">
            <a:pPr marL="0" indent="0" algn="ctr">
              <a:lnSpc>
                <a:spcPts val="1820"/>
              </a:lnSpc>
              <a:buNone/>
            </a:pPr>
            <a:r>
              <a:rPr sz="900" b="1">
                <a:solidFill>
                  <a:srgbClr val="FFFFFF"/>
                </a:solidFill>
                <a:latin typeface="Arial"/>
                <a:ea typeface="Arial"/>
                <a:cs typeface="Arial"/>
              </a:rPr>
              <a:t>Evidence current?</a:t>
            </a:r>
            <a:endParaRPr sz="900"/>
          </a:p>
        </p:txBody>
      </p:sp>
      <p:sp>
        <p:nvSpPr>
          <p:cNvPr id="21" name="Text 16">
            <a:extLst xmlns:a="http://schemas.openxmlformats.org/drawingml/2006/main">
              <a:ext uri="{FF2B5EF4-FFF2-40B4-BE49-F238E27FC236}">
                <a16:creationId xmlns:a16="http://schemas.microsoft.com/office/drawing/2014/main" id="{84D2F1A4-1267-4AA0-8A7F-F85895A8D4A6}"/>
              </a:ext>
            </a:extLst>
          </p:cNvPr>
          <p:cNvSpPr>
            <a:spLocks xmlns:a="http://schemas.openxmlformats.org/drawingml/2006/main" noGrp="1"/>
          </p:cNvSpPr>
          <p:nvPr/>
        </p:nvSpPr>
        <p:spPr>
          <a:xfrm xmlns:a="http://schemas.openxmlformats.org/drawingml/2006/main" rot="0" flipH="0" flipV="0">
            <a:off x="3835374" y="4435394"/>
            <a:ext cx="1531322" cy="256983"/>
          </a:xfrm>
          <a:prstGeom xmlns:a="http://schemas.openxmlformats.org/drawingml/2006/main" prst="roundRect">
            <a:avLst>
              <a:gd name="adj" fmla="val 50000"/>
            </a:avLst>
          </a:prstGeom>
          <a:solidFill xmlns:a="http://schemas.openxmlformats.org/drawingml/2006/main">
            <a:srgbClr val="F07133"/>
          </a:solidFill>
          <a:effectLst xmlns:a="http://schemas.openxmlformats.org/drawingml/2006/main">
            <a:outerShdw blurRad="127000" dist="38100" dir="5400000" algn="bl" rotWithShape="0">
              <a:srgbClr val="33333A">
                <a:alpha val="15000"/>
              </a:srgbClr>
            </a:outerShdw>
          </a:effectLst>
        </p:spPr>
        <p:txBody>
          <a:bodyPr xmlns:a="http://schemas.openxmlformats.org/drawingml/2006/main" wrap="square" lIns="45441" tIns="20041" rIns="45441" bIns="0" anchor="ctr">
            <a:noAutofit/>
          </a:bodyPr>
          <a:lstStyle xmlns:a="http://schemas.openxmlformats.org/drawingml/2006/main"/>
          <a:p xmlns:a="http://schemas.openxmlformats.org/drawingml/2006/main">
            <a:pPr marL="0" indent="0" algn="ctr">
              <a:lnSpc>
                <a:spcPts val="1820"/>
              </a:lnSpc>
              <a:buNone/>
            </a:pPr>
            <a:r>
              <a:rPr sz="900" b="1">
                <a:solidFill>
                  <a:srgbClr val="FFFFFF"/>
                </a:solidFill>
                <a:latin typeface="Arial"/>
                <a:ea typeface="Arial"/>
                <a:cs typeface="Arial"/>
              </a:rPr>
              <a:t>Who may authorize?</a:t>
            </a:r>
            <a:endParaRPr sz="900"/>
          </a:p>
        </p:txBody>
      </p:sp>
      <p:sp>
        <p:nvSpPr>
          <p:cNvPr id="22" name="Text 17">
            <a:extLst xmlns:a="http://schemas.openxmlformats.org/drawingml/2006/main">
              <a:ext uri="{FF2B5EF4-FFF2-40B4-BE49-F238E27FC236}">
                <a16:creationId xmlns:a16="http://schemas.microsoft.com/office/drawing/2014/main" id="{F3344F90-C2C1-4BD4-9EFD-B583DF8EE875}"/>
              </a:ext>
            </a:extLst>
          </p:cNvPr>
          <p:cNvSpPr>
            <a:spLocks xmlns:a="http://schemas.openxmlformats.org/drawingml/2006/main" noGrp="1"/>
          </p:cNvSpPr>
          <p:nvPr/>
        </p:nvSpPr>
        <p:spPr>
          <a:xfrm xmlns:a="http://schemas.openxmlformats.org/drawingml/2006/main">
            <a:off x="812800" y="6238280"/>
            <a:ext cx="2995374"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8A8A92"/>
                </a:solidFill>
                <a:latin typeface="Arial"/>
                <a:ea typeface="Arial"/>
                <a:cs typeface="Arial"/>
              </a:rPr>
              <a:t>ISC2.org/Congress | #ISC2Congress</a:t>
            </a:r>
            <a:endParaRPr sz="1200"/>
          </a:p>
        </p:txBody>
      </p:sp>
    </p:spTree>
    <p:extLst>
      <p:ext uri="{BB962C8B-B14F-4D97-AF65-F5344CB8AC3E}">
        <p14:creationId xmlns:p14="http://schemas.microsoft.com/office/powerpoint/2010/main" val="1183332611"/>
      </p:ext>
    </p:extLst>
  </p:cSld>
</p:sld>
</file>

<file path=ppt/slides/slide2.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BAC40770-C2E3-432C-925B-7D7F0956E6C7}"/>
              </a:ext>
            </a:extLst>
          </p:cNvPr>
          <p:cNvPicPr>
            <a:picLocks xmlns:a="http://schemas.openxmlformats.org/drawingml/2006/main" noChangeAspect="1"/>
          </p:cNvPicPr>
          <p:nvPr/>
        </p:nvPicPr>
        <p:blipFill>
          <a:blip xmlns:r="http://schemas.openxmlformats.org/officeDocument/2006/relationships" xmlns:a="http://schemas.openxmlformats.org/drawingml/2006/main" r:embed="R0eee1bdd57434b4f"/>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452641BA-4E05-4C73-B363-945B6C45E183}"/>
              </a:ext>
            </a:extLst>
          </p:cNvPr>
          <p:cNvPicPr>
            <a:picLocks xmlns:a="http://schemas.openxmlformats.org/drawingml/2006/main" noChangeAspect="1"/>
          </p:cNvPicPr>
          <p:nvPr/>
        </p:nvPicPr>
        <p:blipFill>
          <a:blip xmlns:r="http://schemas.openxmlformats.org/officeDocument/2006/relationships" xmlns:a="http://schemas.openxmlformats.org/drawingml/2006/main" r:embed="Ra9a61eb2208b40ea"/>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9A3FCC42-89B3-49D2-AF1C-60A6DBCE320E}"/>
              </a:ext>
            </a:extLst>
          </p:cNvPr>
          <p:cNvSpPr>
            <a:spLocks xmlns:a="http://schemas.openxmlformats.org/drawingml/2006/main" noGrp="1"/>
          </p:cNvSpPr>
          <p:nvPr>
            <p:ph type="title" idx="0"/>
          </p:nvPr>
        </p:nvSpPr>
        <p:spPr>
          <a:xfrm xmlns:a="http://schemas.openxmlformats.org/drawingml/2006/main">
            <a:off x="812800" y="812800"/>
            <a:ext cx="3792855" cy="4723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i="0">
                <a:solidFill>
                  <a:srgbClr val="448334"/>
                </a:solidFill>
                <a:latin typeface="Arial"/>
                <a:ea typeface="Arial"/>
                <a:cs typeface="Arial"/>
              </a:rPr>
              <a:t>Why OpenEMR?</a:t>
            </a:r>
            <a:endParaRPr sz="3200"/>
          </a:p>
        </p:txBody>
      </p:sp>
      <p:sp>
        <p:nvSpPr>
          <p:cNvPr id="6" name="Shape 2">
            <a:extLst xmlns:a="http://schemas.openxmlformats.org/drawingml/2006/main">
              <a:ext uri="{FF2B5EF4-FFF2-40B4-BE49-F238E27FC236}">
                <a16:creationId xmlns:a16="http://schemas.microsoft.com/office/drawing/2014/main" id="{670ADA97-643D-43AF-83E9-7CE177DDAF7E}"/>
              </a:ext>
            </a:extLst>
          </p:cNvPr>
          <p:cNvSpPr>
            <a:spLocks xmlns:a="http://schemas.openxmlformats.org/drawingml/2006/main" noGrp="1"/>
          </p:cNvSpPr>
          <p:nvPr/>
        </p:nvSpPr>
        <p:spPr>
          <a:xfrm xmlns:a="http://schemas.openxmlformats.org/drawingml/2006/main">
            <a:off x="812800" y="1975712"/>
            <a:ext cx="3924300" cy="1828800"/>
          </a:xfrm>
          <a:prstGeom xmlns:a="http://schemas.openxmlformats.org/drawingml/2006/main" prst="roundRect">
            <a:avLst>
              <a:gd name="adj" fmla="val 4245"/>
            </a:avLst>
          </a:prstGeom>
          <a:solidFill xmlns:a="http://schemas.openxmlformats.org/drawingml/2006/main">
            <a:srgbClr val="FFFFFF"/>
          </a:solidFill>
          <a:ln xmlns:a="http://schemas.openxmlformats.org/drawingml/2006/main" w="12700">
            <a:solidFill>
              <a:srgbClr val="E3E3E6"/>
            </a:solidFill>
            <a:prstDash val="solid"/>
          </a:ln>
          <a:effectLst xmlns:a="http://schemas.openxmlformats.org/drawingml/2006/main">
            <a:outerShdw blurRad="203200" dist="76200" dir="5400000" algn="bl" rotWithShape="0">
              <a:srgbClr val="33333A">
                <a:alpha val="8000"/>
              </a:srgbClr>
            </a:outerShdw>
          </a:effectLst>
        </p:spPr>
        <p:txBody>
          <a:bodyPr xmlns:a="http://schemas.openxmlformats.org/drawingml/2006/main"/>
          <a:lstStyle xmlns:a="http://schemas.openxmlformats.org/drawingml/2006/main"/>
          <a:p xmlns:a="http://schemas.openxmlformats.org/drawingml/2006/main">
            <a:endParaRPr/>
          </a:p>
        </p:txBody>
      </p:sp>
      <p:sp>
        <p:nvSpPr>
          <p:cNvPr id="7" name="Shape 3">
            <a:extLst xmlns:a="http://schemas.openxmlformats.org/drawingml/2006/main">
              <a:ext uri="{FF2B5EF4-FFF2-40B4-BE49-F238E27FC236}">
                <a16:creationId xmlns:a16="http://schemas.microsoft.com/office/drawing/2014/main" id="{E9B43E60-6BBB-400C-9A2D-A1A067482ACE}"/>
              </a:ext>
            </a:extLst>
          </p:cNvPr>
          <p:cNvSpPr>
            <a:spLocks xmlns:a="http://schemas.openxmlformats.org/drawingml/2006/main" noGrp="1"/>
          </p:cNvSpPr>
          <p:nvPr/>
        </p:nvSpPr>
        <p:spPr>
          <a:xfrm xmlns:a="http://schemas.openxmlformats.org/drawingml/2006/main">
            <a:off x="819150" y="1982062"/>
            <a:ext cx="3911600" cy="485080"/>
          </a:xfrm>
          <a:prstGeom xmlns:a="http://schemas.openxmlformats.org/drawingml/2006/main" prst="round2SameRect">
            <a:avLst>
              <a:gd name="adj1" fmla="val 23562"/>
              <a:gd name="adj2" fmla="val 0"/>
            </a:avLst>
          </a:prstGeom>
          <a:solidFill xmlns:a="http://schemas.openxmlformats.org/drawingml/2006/main">
            <a:srgbClr val="33333A"/>
          </a:solidFill>
        </p:spPr>
        <p:txBody>
          <a:bodyPr xmlns:a="http://schemas.openxmlformats.org/drawingml/2006/main"/>
          <a:lstStyle xmlns:a="http://schemas.openxmlformats.org/drawingml/2006/main"/>
          <a:p xmlns:a="http://schemas.openxmlformats.org/drawingml/2006/main">
            <a:endParaRPr/>
          </a:p>
        </p:txBody>
      </p:sp>
      <p:pic>
        <p:nvPicPr>
          <p:cNvPr id="8" name="Image 2">
            <a:extLst xmlns:a="http://schemas.openxmlformats.org/drawingml/2006/main">
              <a:ext uri="{FF2B5EF4-FFF2-40B4-BE49-F238E27FC236}">
                <a16:creationId xmlns:a16="http://schemas.microsoft.com/office/drawing/2014/main" id="{785241AC-19C3-47FF-A565-6C4AB09A5F97}"/>
              </a:ext>
            </a:extLst>
          </p:cNvPr>
          <p:cNvPicPr>
            <a:picLocks xmlns:a="http://schemas.openxmlformats.org/drawingml/2006/main" noChangeAspect="1"/>
          </p:cNvPicPr>
          <p:nvPr/>
        </p:nvPicPr>
        <p:blipFill>
          <a:blip xmlns:r="http://schemas.openxmlformats.org/officeDocument/2006/relationships" xmlns:a="http://schemas.openxmlformats.org/drawingml/2006/main" r:embed="R1c3edee334544a79"/>
          <a:srcRect xmlns:a="http://schemas.openxmlformats.org/drawingml/2006/main" l="0" t="0" r="0" b="0"/>
          <a:stretch xmlns:a="http://schemas.openxmlformats.org/drawingml/2006/main"/>
        </p:blipFill>
        <p:spPr>
          <a:xfrm xmlns:a="http://schemas.openxmlformats.org/drawingml/2006/main">
            <a:off x="1022350" y="2129302"/>
            <a:ext cx="190500" cy="190500"/>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BEB9C244-5281-4692-BF06-D35A577601A9}"/>
              </a:ext>
            </a:extLst>
          </p:cNvPr>
          <p:cNvSpPr>
            <a:spLocks xmlns:a="http://schemas.openxmlformats.org/drawingml/2006/main" noGrp="1"/>
          </p:cNvSpPr>
          <p:nvPr/>
        </p:nvSpPr>
        <p:spPr>
          <a:xfrm xmlns:a="http://schemas.openxmlformats.org/drawingml/2006/main">
            <a:off x="1314450" y="2109062"/>
            <a:ext cx="2851071" cy="2564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b="1">
                <a:solidFill>
                  <a:srgbClr val="FFFFFF"/>
                </a:solidFill>
                <a:latin typeface="Arial"/>
                <a:ea typeface="Arial"/>
                <a:cs typeface="Arial"/>
              </a:rPr>
              <a:t>github.com/openemr/openemr</a:t>
            </a:r>
            <a:endParaRPr sz="1300"/>
          </a:p>
        </p:txBody>
      </p:sp>
      <p:sp>
        <p:nvSpPr>
          <p:cNvPr id="10" name="Text 5">
            <a:extLst xmlns:a="http://schemas.openxmlformats.org/drawingml/2006/main">
              <a:ext uri="{FF2B5EF4-FFF2-40B4-BE49-F238E27FC236}">
                <a16:creationId xmlns:a16="http://schemas.microsoft.com/office/drawing/2014/main" id="{B22E54B2-1071-4214-B630-29314F856418}"/>
              </a:ext>
            </a:extLst>
          </p:cNvPr>
          <p:cNvSpPr>
            <a:spLocks xmlns:a="http://schemas.openxmlformats.org/drawingml/2006/main" noGrp="1"/>
          </p:cNvSpPr>
          <p:nvPr/>
        </p:nvSpPr>
        <p:spPr>
          <a:xfrm xmlns:a="http://schemas.openxmlformats.org/drawingml/2006/main">
            <a:off x="1022350" y="2670342"/>
            <a:ext cx="3610356"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400">
                <a:solidFill>
                  <a:srgbClr val="33333A"/>
                </a:solidFill>
                <a:latin typeface="Arial"/>
                <a:ea typeface="Arial"/>
                <a:cs typeface="Arial"/>
              </a:rPr>
              <a:t>Open-source electronic health record platform</a:t>
            </a:r>
            <a:endParaRPr sz="1400"/>
          </a:p>
        </p:txBody>
      </p:sp>
      <p:sp>
        <p:nvSpPr>
          <p:cNvPr id="11" name="Text 6">
            <a:extLst xmlns:a="http://schemas.openxmlformats.org/drawingml/2006/main">
              <a:ext uri="{FF2B5EF4-FFF2-40B4-BE49-F238E27FC236}">
                <a16:creationId xmlns:a16="http://schemas.microsoft.com/office/drawing/2014/main" id="{4E7D320A-8DF9-4123-A949-B239E36A6D5C}"/>
              </a:ext>
            </a:extLst>
          </p:cNvPr>
          <p:cNvSpPr>
            <a:spLocks xmlns:a="http://schemas.openxmlformats.org/drawingml/2006/main" noGrp="1"/>
          </p:cNvSpPr>
          <p:nvPr/>
        </p:nvSpPr>
        <p:spPr>
          <a:xfrm xmlns:a="http://schemas.openxmlformats.org/drawingml/2006/main">
            <a:off x="1022350" y="3259503"/>
            <a:ext cx="1083965" cy="314920"/>
          </a:xfrm>
          <a:prstGeom xmlns:a="http://schemas.openxmlformats.org/drawingml/2006/main" prst="roundRect">
            <a:avLst>
              <a:gd name="adj" fmla="val 50000"/>
            </a:avLst>
          </a:prstGeom>
          <a:solidFill xmlns:a="http://schemas.openxmlformats.org/drawingml/2006/main">
            <a:srgbClr val="EAF3E6"/>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448334"/>
                </a:solidFill>
                <a:latin typeface="Arial"/>
                <a:ea typeface="Arial"/>
                <a:cs typeface="Arial"/>
              </a:rPr>
              <a:t>Public code</a:t>
            </a:r>
            <a:endParaRPr sz="1200"/>
          </a:p>
        </p:txBody>
      </p:sp>
      <p:sp>
        <p:nvSpPr>
          <p:cNvPr id="12" name="Text 7">
            <a:extLst xmlns:a="http://schemas.openxmlformats.org/drawingml/2006/main">
              <a:ext uri="{FF2B5EF4-FFF2-40B4-BE49-F238E27FC236}">
                <a16:creationId xmlns:a16="http://schemas.microsoft.com/office/drawing/2014/main" id="{BB420777-F9C8-4248-8050-9A3618AF7CB3}"/>
              </a:ext>
            </a:extLst>
          </p:cNvPr>
          <p:cNvSpPr>
            <a:spLocks xmlns:a="http://schemas.openxmlformats.org/drawingml/2006/main" noGrp="1"/>
          </p:cNvSpPr>
          <p:nvPr/>
        </p:nvSpPr>
        <p:spPr>
          <a:xfrm xmlns:a="http://schemas.openxmlformats.org/drawingml/2006/main">
            <a:off x="2207915" y="3259503"/>
            <a:ext cx="1007864" cy="314920"/>
          </a:xfrm>
          <a:prstGeom xmlns:a="http://schemas.openxmlformats.org/drawingml/2006/main" prst="roundRect">
            <a:avLst>
              <a:gd name="adj" fmla="val 50000"/>
            </a:avLst>
          </a:prstGeom>
          <a:solidFill xmlns:a="http://schemas.openxmlformats.org/drawingml/2006/main">
            <a:srgbClr val="EAF3E6"/>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448334"/>
                </a:solidFill>
                <a:latin typeface="Arial"/>
                <a:ea typeface="Arial"/>
                <a:cs typeface="Arial"/>
              </a:rPr>
              <a:t>Advisories</a:t>
            </a:r>
            <a:endParaRPr sz="1200"/>
          </a:p>
        </p:txBody>
      </p:sp>
      <p:sp>
        <p:nvSpPr>
          <p:cNvPr id="13" name="Text 8">
            <a:extLst xmlns:a="http://schemas.openxmlformats.org/drawingml/2006/main">
              <a:ext uri="{FF2B5EF4-FFF2-40B4-BE49-F238E27FC236}">
                <a16:creationId xmlns:a16="http://schemas.microsoft.com/office/drawing/2014/main" id="{99B78AC6-0926-42F0-8F7A-EC699F671880}"/>
              </a:ext>
            </a:extLst>
          </p:cNvPr>
          <p:cNvSpPr>
            <a:spLocks xmlns:a="http://schemas.openxmlformats.org/drawingml/2006/main" noGrp="1"/>
          </p:cNvSpPr>
          <p:nvPr/>
        </p:nvSpPr>
        <p:spPr>
          <a:xfrm xmlns:a="http://schemas.openxmlformats.org/drawingml/2006/main">
            <a:off x="3317379" y="3259503"/>
            <a:ext cx="1075630" cy="314920"/>
          </a:xfrm>
          <a:prstGeom xmlns:a="http://schemas.openxmlformats.org/drawingml/2006/main" prst="roundRect">
            <a:avLst>
              <a:gd name="adj" fmla="val 50000"/>
            </a:avLst>
          </a:prstGeom>
          <a:solidFill xmlns:a="http://schemas.openxmlformats.org/drawingml/2006/main">
            <a:srgbClr val="EAF3E6"/>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448334"/>
                </a:solidFill>
                <a:latin typeface="Arial"/>
                <a:ea typeface="Arial"/>
                <a:cs typeface="Arial"/>
              </a:rPr>
              <a:t>Public fixes</a:t>
            </a:r>
            <a:endParaRPr sz="1200"/>
          </a:p>
        </p:txBody>
      </p:sp>
      <p:sp>
        <p:nvSpPr>
          <p:cNvPr id="18" name="Text 11">
            <a:extLst xmlns:a="http://schemas.openxmlformats.org/drawingml/2006/main">
              <a:ext uri="{FF2B5EF4-FFF2-40B4-BE49-F238E27FC236}">
                <a16:creationId xmlns:a16="http://schemas.microsoft.com/office/drawing/2014/main" id="{A88113F0-2ACF-4014-B9E2-A1793BF64FB0}"/>
              </a:ext>
            </a:extLst>
          </p:cNvPr>
          <p:cNvSpPr>
            <a:spLocks xmlns:a="http://schemas.openxmlformats.org/drawingml/2006/main" noGrp="1"/>
          </p:cNvSpPr>
          <p:nvPr/>
        </p:nvSpPr>
        <p:spPr>
          <a:xfrm xmlns:a="http://schemas.openxmlformats.org/drawingml/2006/main">
            <a:off x="5108956" y="2774377"/>
            <a:ext cx="6409690" cy="585216"/>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ctr">
              <a:lnSpc>
                <a:spcPts val="2200"/>
              </a:lnSpc>
              <a:buNone/>
            </a:pPr>
            <a:r>
              <a:rPr sz="1800" b="1">
                <a:solidFill>
                  <a:srgbClr val="33333A"/>
                </a:solidFill>
                <a:latin typeface="Arial"/>
                <a:ea typeface="Arial"/>
                <a:cs typeface="Arial"/>
              </a:rPr>
              <a:t>Real healthcare software.</a:t>
            </a:r>
            <a:endParaRPr sz="1800"/>
          </a:p>
          <a:p xmlns:a="http://schemas.openxmlformats.org/drawingml/2006/main">
            <a:pPr marL="0" indent="0" algn="ctr">
              <a:lnSpc>
                <a:spcPts val="2200"/>
              </a:lnSpc>
              <a:buNone/>
            </a:pPr>
            <a:r>
              <a:rPr sz="1800" b="1">
                <a:solidFill>
                  <a:srgbClr val="33333A"/>
                </a:solidFill>
                <a:latin typeface="Arial"/>
                <a:ea typeface="Arial"/>
                <a:cs typeface="Arial"/>
              </a:rPr>
              <a:t>Traceable security history.</a:t>
            </a:r>
            <a:endParaRPr sz="1800"/>
          </a:p>
        </p:txBody>
      </p:sp>
      <p:sp>
        <p:nvSpPr>
          <p:cNvPr id="19" name="Shape 12">
            <a:extLst xmlns:a="http://schemas.openxmlformats.org/drawingml/2006/main">
              <a:ext uri="{FF2B5EF4-FFF2-40B4-BE49-F238E27FC236}">
                <a16:creationId xmlns:a16="http://schemas.microsoft.com/office/drawing/2014/main" id="{2F38E14F-05ED-4FFD-919F-D6300A57910C}"/>
              </a:ext>
            </a:extLst>
          </p:cNvPr>
          <p:cNvSpPr>
            <a:spLocks xmlns:a="http://schemas.openxmlformats.org/drawingml/2006/main" noGrp="1"/>
          </p:cNvSpPr>
          <p:nvPr/>
        </p:nvSpPr>
        <p:spPr>
          <a:xfrm xmlns:a="http://schemas.openxmlformats.org/drawingml/2006/main">
            <a:off x="5108956" y="3441028"/>
            <a:ext cx="1667867" cy="1173361"/>
          </a:xfrm>
          <a:prstGeom xmlns:a="http://schemas.openxmlformats.org/drawingml/2006/main" prst="roundRect">
            <a:avLst>
              <a:gd name="adj" fmla="val 8659"/>
            </a:avLst>
          </a:prstGeom>
          <a:solidFill xmlns:a="http://schemas.openxmlformats.org/drawingml/2006/main">
            <a:srgbClr val="448334"/>
          </a:solidFill>
        </p:spPr>
        <p:txBody>
          <a:bodyPr xmlns:a="http://schemas.openxmlformats.org/drawingml/2006/main"/>
          <a:lstStyle xmlns:a="http://schemas.openxmlformats.org/drawingml/2006/main"/>
          <a:p xmlns:a="http://schemas.openxmlformats.org/drawingml/2006/main">
            <a:endParaRPr/>
          </a:p>
        </p:txBody>
      </p:sp>
      <p:pic>
        <p:nvPicPr>
          <p:cNvPr id="20" name="Image 5">
            <a:extLst xmlns:a="http://schemas.openxmlformats.org/drawingml/2006/main">
              <a:ext uri="{FF2B5EF4-FFF2-40B4-BE49-F238E27FC236}">
                <a16:creationId xmlns:a16="http://schemas.microsoft.com/office/drawing/2014/main" id="{BD5DCA82-096E-4C35-9063-2900D244E1D2}"/>
              </a:ext>
            </a:extLst>
          </p:cNvPr>
          <p:cNvPicPr>
            <a:picLocks xmlns:a="http://schemas.openxmlformats.org/drawingml/2006/main" noChangeAspect="1"/>
          </p:cNvPicPr>
          <p:nvPr/>
        </p:nvPicPr>
        <p:blipFill>
          <a:blip xmlns:r="http://schemas.openxmlformats.org/officeDocument/2006/relationships" xmlns:a="http://schemas.openxmlformats.org/drawingml/2006/main" r:embed="R50e9de88dae74b57"/>
          <a:srcRect xmlns:a="http://schemas.openxmlformats.org/drawingml/2006/main" l="0" t="0" r="0" b="0"/>
          <a:stretch xmlns:a="http://schemas.openxmlformats.org/drawingml/2006/main"/>
        </p:blipFill>
        <p:spPr>
          <a:xfrm xmlns:a="http://schemas.openxmlformats.org/drawingml/2006/main">
            <a:off x="5803190" y="3618828"/>
            <a:ext cx="279400" cy="279400"/>
          </a:xfrm>
          <a:prstGeom xmlns:a="http://schemas.openxmlformats.org/drawingml/2006/main" prst="rect">
            <a:avLst/>
          </a:prstGeom>
        </p:spPr>
      </p:pic>
      <p:sp>
        <p:nvSpPr>
          <p:cNvPr id="21" name="Text 13">
            <a:extLst xmlns:a="http://schemas.openxmlformats.org/drawingml/2006/main">
              <a:ext uri="{FF2B5EF4-FFF2-40B4-BE49-F238E27FC236}">
                <a16:creationId xmlns:a16="http://schemas.microsoft.com/office/drawing/2014/main" id="{0BA9D55B-F3A1-4327-B819-288B085CC37D}"/>
              </a:ext>
            </a:extLst>
          </p:cNvPr>
          <p:cNvSpPr>
            <a:spLocks xmlns:a="http://schemas.openxmlformats.org/drawingml/2006/main" noGrp="1"/>
          </p:cNvSpPr>
          <p:nvPr/>
        </p:nvSpPr>
        <p:spPr>
          <a:xfrm xmlns:a="http://schemas.openxmlformats.org/drawingml/2006/main">
            <a:off x="5210556" y="3974428"/>
            <a:ext cx="1464667"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820"/>
              </a:lnSpc>
              <a:buNone/>
            </a:pPr>
            <a:r>
              <a:rPr sz="1300" b="1">
                <a:solidFill>
                  <a:srgbClr val="FFFFFF"/>
                </a:solidFill>
                <a:latin typeface="Arial"/>
                <a:ea typeface="Arial"/>
                <a:cs typeface="Arial"/>
              </a:rPr>
              <a:t>Verified historical flaw</a:t>
            </a:r>
            <a:endParaRPr sz="1300"/>
          </a:p>
        </p:txBody>
      </p:sp>
      <p:pic>
        <p:nvPicPr>
          <p:cNvPr id="22" name="Image 6">
            <a:extLst xmlns:a="http://schemas.openxmlformats.org/drawingml/2006/main">
              <a:ext uri="{FF2B5EF4-FFF2-40B4-BE49-F238E27FC236}">
                <a16:creationId xmlns:a16="http://schemas.microsoft.com/office/drawing/2014/main" id="{92CDCF1A-41C0-435B-AEDE-0FE0C66E7EA6}"/>
              </a:ext>
            </a:extLst>
          </p:cNvPr>
          <p:cNvPicPr>
            <a:picLocks xmlns:a="http://schemas.openxmlformats.org/drawingml/2006/main" noChangeAspect="1"/>
          </p:cNvPicPr>
          <p:nvPr/>
        </p:nvPicPr>
        <p:blipFill>
          <a:blip xmlns:r="http://schemas.openxmlformats.org/officeDocument/2006/relationships" xmlns:a="http://schemas.openxmlformats.org/drawingml/2006/main" r:embed="R78f15caa80274bc2"/>
          <a:srcRect xmlns:a="http://schemas.openxmlformats.org/drawingml/2006/main" l="0" t="0" r="0" b="0"/>
          <a:stretch xmlns:a="http://schemas.openxmlformats.org/drawingml/2006/main"/>
        </p:blipFill>
        <p:spPr>
          <a:xfrm xmlns:a="http://schemas.openxmlformats.org/drawingml/2006/main">
            <a:off x="6903823" y="3938809"/>
            <a:ext cx="355600" cy="177800"/>
          </a:xfrm>
          <a:prstGeom xmlns:a="http://schemas.openxmlformats.org/drawingml/2006/main" prst="rect">
            <a:avLst/>
          </a:prstGeom>
        </p:spPr>
      </p:pic>
      <p:sp>
        <p:nvSpPr>
          <p:cNvPr id="23" name="Shape 14">
            <a:extLst xmlns:a="http://schemas.openxmlformats.org/drawingml/2006/main">
              <a:ext uri="{FF2B5EF4-FFF2-40B4-BE49-F238E27FC236}">
                <a16:creationId xmlns:a16="http://schemas.microsoft.com/office/drawing/2014/main" id="{073E299C-F5C5-4E6E-9EB0-6CED1497B795}"/>
              </a:ext>
            </a:extLst>
          </p:cNvPr>
          <p:cNvSpPr>
            <a:spLocks xmlns:a="http://schemas.openxmlformats.org/drawingml/2006/main" noGrp="1"/>
          </p:cNvSpPr>
          <p:nvPr/>
        </p:nvSpPr>
        <p:spPr>
          <a:xfrm xmlns:a="http://schemas.openxmlformats.org/drawingml/2006/main">
            <a:off x="7386423" y="3440933"/>
            <a:ext cx="1667966" cy="1173175"/>
          </a:xfrm>
          <a:prstGeom xmlns:a="http://schemas.openxmlformats.org/drawingml/2006/main" prst="roundRect">
            <a:avLst>
              <a:gd name="adj" fmla="val 7234"/>
            </a:avLst>
          </a:prstGeom>
          <a:solidFill xmlns:a="http://schemas.openxmlformats.org/drawingml/2006/main">
            <a:srgbClr val="0086B6"/>
          </a:solidFill>
        </p:spPr>
        <p:txBody>
          <a:bodyPr xmlns:a="http://schemas.openxmlformats.org/drawingml/2006/main"/>
          <a:lstStyle xmlns:a="http://schemas.openxmlformats.org/drawingml/2006/main"/>
          <a:p xmlns:a="http://schemas.openxmlformats.org/drawingml/2006/main">
            <a:endParaRPr/>
          </a:p>
        </p:txBody>
      </p:sp>
      <p:pic>
        <p:nvPicPr>
          <p:cNvPr id="24" name="Image 7">
            <a:extLst xmlns:a="http://schemas.openxmlformats.org/drawingml/2006/main">
              <a:ext uri="{FF2B5EF4-FFF2-40B4-BE49-F238E27FC236}">
                <a16:creationId xmlns:a16="http://schemas.microsoft.com/office/drawing/2014/main" id="{A979BA57-A68C-4168-9EC5-6D188D963642}"/>
              </a:ext>
            </a:extLst>
          </p:cNvPr>
          <p:cNvPicPr>
            <a:picLocks xmlns:a="http://schemas.openxmlformats.org/drawingml/2006/main" noChangeAspect="1"/>
          </p:cNvPicPr>
          <p:nvPr/>
        </p:nvPicPr>
        <p:blipFill>
          <a:blip xmlns:r="http://schemas.openxmlformats.org/officeDocument/2006/relationships" xmlns:a="http://schemas.openxmlformats.org/drawingml/2006/main" r:embed="R6454d80bc7094a2a"/>
          <a:srcRect xmlns:a="http://schemas.openxmlformats.org/drawingml/2006/main" l="0" t="0" r="0" b="0"/>
          <a:stretch xmlns:a="http://schemas.openxmlformats.org/drawingml/2006/main"/>
        </p:blipFill>
        <p:spPr>
          <a:xfrm xmlns:a="http://schemas.openxmlformats.org/drawingml/2006/main">
            <a:off x="8080657" y="3619241"/>
            <a:ext cx="279400" cy="279400"/>
          </a:xfrm>
          <a:prstGeom xmlns:a="http://schemas.openxmlformats.org/drawingml/2006/main" prst="rect">
            <a:avLst/>
          </a:prstGeom>
        </p:spPr>
      </p:pic>
      <p:sp>
        <p:nvSpPr>
          <p:cNvPr id="25" name="Text 15">
            <a:extLst xmlns:a="http://schemas.openxmlformats.org/drawingml/2006/main">
              <a:ext uri="{FF2B5EF4-FFF2-40B4-BE49-F238E27FC236}">
                <a16:creationId xmlns:a16="http://schemas.microsoft.com/office/drawing/2014/main" id="{BD1DC4D1-CE24-466A-A0C7-28E96D6F356D}"/>
              </a:ext>
            </a:extLst>
          </p:cNvPr>
          <p:cNvSpPr>
            <a:spLocks xmlns:a="http://schemas.openxmlformats.org/drawingml/2006/main" noGrp="1"/>
          </p:cNvSpPr>
          <p:nvPr/>
        </p:nvSpPr>
        <p:spPr>
          <a:xfrm xmlns:a="http://schemas.openxmlformats.org/drawingml/2006/main">
            <a:off x="7488023" y="3974028"/>
            <a:ext cx="1464766" cy="48737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92500"/>
          </a:bodyPr>
          <a:lstStyle xmlns:a="http://schemas.openxmlformats.org/drawingml/2006/main"/>
          <a:p xmlns:a="http://schemas.openxmlformats.org/drawingml/2006/main">
            <a:pPr marL="0" indent="0" algn="ctr">
              <a:lnSpc>
                <a:spcPts val="1820"/>
              </a:lnSpc>
              <a:buNone/>
            </a:pPr>
            <a:r>
              <a:rPr sz="1300" b="1">
                <a:solidFill>
                  <a:srgbClr val="FFFFFF"/>
                </a:solidFill>
                <a:latin typeface="Arial"/>
                <a:ea typeface="Arial"/>
                <a:cs typeface="Arial"/>
              </a:rPr>
              <a:t>Replay the change to a reviewer</a:t>
            </a:r>
            <a:endParaRPr sz="1300"/>
          </a:p>
        </p:txBody>
      </p:sp>
      <p:pic>
        <p:nvPicPr>
          <p:cNvPr id="26" name="Image 8">
            <a:extLst xmlns:a="http://schemas.openxmlformats.org/drawingml/2006/main">
              <a:ext uri="{FF2B5EF4-FFF2-40B4-BE49-F238E27FC236}">
                <a16:creationId xmlns:a16="http://schemas.microsoft.com/office/drawing/2014/main" id="{2B1395F5-39A4-434A-9715-81FE895236DE}"/>
              </a:ext>
            </a:extLst>
          </p:cNvPr>
          <p:cNvPicPr>
            <a:picLocks xmlns:a="http://schemas.openxmlformats.org/drawingml/2006/main" noChangeAspect="1"/>
          </p:cNvPicPr>
          <p:nvPr/>
        </p:nvPicPr>
        <p:blipFill>
          <a:blip xmlns:r="http://schemas.openxmlformats.org/officeDocument/2006/relationships" xmlns:a="http://schemas.openxmlformats.org/drawingml/2006/main" r:embed="R78f15caa80274bc2"/>
          <a:srcRect xmlns:a="http://schemas.openxmlformats.org/drawingml/2006/main" l="0" t="0" r="0" b="0"/>
          <a:stretch xmlns:a="http://schemas.openxmlformats.org/drawingml/2006/main"/>
        </p:blipFill>
        <p:spPr>
          <a:xfrm xmlns:a="http://schemas.openxmlformats.org/drawingml/2006/main">
            <a:off x="9181390" y="3938809"/>
            <a:ext cx="355600" cy="177800"/>
          </a:xfrm>
          <a:prstGeom xmlns:a="http://schemas.openxmlformats.org/drawingml/2006/main" prst="rect">
            <a:avLst/>
          </a:prstGeom>
        </p:spPr>
      </p:pic>
      <p:sp>
        <p:nvSpPr>
          <p:cNvPr id="27" name="Shape 16">
            <a:extLst xmlns:a="http://schemas.openxmlformats.org/drawingml/2006/main">
              <a:ext uri="{FF2B5EF4-FFF2-40B4-BE49-F238E27FC236}">
                <a16:creationId xmlns:a16="http://schemas.microsoft.com/office/drawing/2014/main" id="{994D65D9-FAFF-4DB3-ADB8-1E2AD97C24AB}"/>
              </a:ext>
            </a:extLst>
          </p:cNvPr>
          <p:cNvSpPr>
            <a:spLocks xmlns:a="http://schemas.openxmlformats.org/drawingml/2006/main" noGrp="1"/>
          </p:cNvSpPr>
          <p:nvPr/>
        </p:nvSpPr>
        <p:spPr>
          <a:xfrm xmlns:a="http://schemas.openxmlformats.org/drawingml/2006/main">
            <a:off x="9663990" y="3441028"/>
            <a:ext cx="1667966" cy="1173361"/>
          </a:xfrm>
          <a:prstGeom xmlns:a="http://schemas.openxmlformats.org/drawingml/2006/main" prst="roundRect">
            <a:avLst>
              <a:gd name="adj" fmla="val 8659"/>
            </a:avLst>
          </a:prstGeom>
          <a:solidFill xmlns:a="http://schemas.openxmlformats.org/drawingml/2006/main">
            <a:srgbClr val="5466AE"/>
          </a:solidFill>
        </p:spPr>
        <p:txBody>
          <a:bodyPr xmlns:a="http://schemas.openxmlformats.org/drawingml/2006/main"/>
          <a:lstStyle xmlns:a="http://schemas.openxmlformats.org/drawingml/2006/main"/>
          <a:p xmlns:a="http://schemas.openxmlformats.org/drawingml/2006/main">
            <a:endParaRPr/>
          </a:p>
        </p:txBody>
      </p:sp>
      <p:pic>
        <p:nvPicPr>
          <p:cNvPr id="28" name="Image 9">
            <a:extLst xmlns:a="http://schemas.openxmlformats.org/drawingml/2006/main">
              <a:ext uri="{FF2B5EF4-FFF2-40B4-BE49-F238E27FC236}">
                <a16:creationId xmlns:a16="http://schemas.microsoft.com/office/drawing/2014/main" id="{479BEFCC-CAD5-4BA9-A869-F8BA547B0EF7}"/>
              </a:ext>
            </a:extLst>
          </p:cNvPr>
          <p:cNvPicPr>
            <a:picLocks xmlns:a="http://schemas.openxmlformats.org/drawingml/2006/main" noChangeAspect="1"/>
          </p:cNvPicPr>
          <p:nvPr/>
        </p:nvPicPr>
        <p:blipFill>
          <a:blip xmlns:r="http://schemas.openxmlformats.org/officeDocument/2006/relationships" xmlns:a="http://schemas.openxmlformats.org/drawingml/2006/main" r:embed="R68b31548ab724a40"/>
          <a:srcRect xmlns:a="http://schemas.openxmlformats.org/drawingml/2006/main" l="0" t="0" r="0" b="0"/>
          <a:stretch xmlns:a="http://schemas.openxmlformats.org/drawingml/2006/main"/>
        </p:blipFill>
        <p:spPr>
          <a:xfrm xmlns:a="http://schemas.openxmlformats.org/drawingml/2006/main">
            <a:off x="10358223" y="3618828"/>
            <a:ext cx="279400" cy="279400"/>
          </a:xfrm>
          <a:prstGeom xmlns:a="http://schemas.openxmlformats.org/drawingml/2006/main" prst="rect">
            <a:avLst/>
          </a:prstGeom>
        </p:spPr>
      </p:pic>
      <p:sp>
        <p:nvSpPr>
          <p:cNvPr id="29" name="Text 17">
            <a:extLst xmlns:a="http://schemas.openxmlformats.org/drawingml/2006/main">
              <a:ext uri="{FF2B5EF4-FFF2-40B4-BE49-F238E27FC236}">
                <a16:creationId xmlns:a16="http://schemas.microsoft.com/office/drawing/2014/main" id="{687BCAC3-453B-4047-867A-1B1A3A3984FC}"/>
              </a:ext>
            </a:extLst>
          </p:cNvPr>
          <p:cNvSpPr>
            <a:spLocks xmlns:a="http://schemas.openxmlformats.org/drawingml/2006/main" noGrp="1"/>
          </p:cNvSpPr>
          <p:nvPr/>
        </p:nvSpPr>
        <p:spPr>
          <a:xfrm xmlns:a="http://schemas.openxmlformats.org/drawingml/2006/main">
            <a:off x="9765590" y="3974428"/>
            <a:ext cx="1464766"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820"/>
              </a:lnSpc>
              <a:buNone/>
            </a:pPr>
            <a:r>
              <a:rPr sz="1300" b="1">
                <a:solidFill>
                  <a:srgbClr val="FFFFFF"/>
                </a:solidFill>
                <a:latin typeface="Arial"/>
                <a:ea typeface="Arial"/>
                <a:cs typeface="Arial"/>
              </a:rPr>
              <a:t>Score the response</a:t>
            </a:r>
            <a:endParaRPr sz="1300"/>
          </a:p>
        </p:txBody>
      </p:sp>
      <p:sp>
        <p:nvSpPr>
          <p:cNvPr id="30" name="Text 18">
            <a:extLst xmlns:a="http://schemas.openxmlformats.org/drawingml/2006/main">
              <a:ext uri="{FF2B5EF4-FFF2-40B4-BE49-F238E27FC236}">
                <a16:creationId xmlns:a16="http://schemas.microsoft.com/office/drawing/2014/main" id="{89B31CE0-AFF8-4FED-957B-9034498DBB0C}"/>
              </a:ext>
            </a:extLst>
          </p:cNvPr>
          <p:cNvSpPr>
            <a:spLocks xmlns:a="http://schemas.openxmlformats.org/drawingml/2006/main" noGrp="1"/>
          </p:cNvSpPr>
          <p:nvPr/>
        </p:nvSpPr>
        <p:spPr>
          <a:xfrm xmlns:a="http://schemas.openxmlformats.org/drawingml/2006/main">
            <a:off x="5108956" y="4894478"/>
            <a:ext cx="6409690" cy="718641"/>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00"/>
              </a:lnSpc>
              <a:buNone/>
            </a:pPr>
            <a:r>
              <a:rPr sz="1600" b="0">
                <a:solidFill>
                  <a:srgbClr val="6B6B73"/>
                </a:solidFill>
                <a:latin typeface="Arial"/>
                <a:ea typeface="Arial"/>
                <a:cs typeface="Arial"/>
              </a:rPr>
              <a:t>We replayed selected historical changes and scored AI reviews.</a:t>
            </a:r>
            <a:endParaRPr sz="1600"/>
          </a:p>
        </p:txBody>
      </p:sp>
      <p:sp>
        <p:nvSpPr>
          <p:cNvPr id="32" name="Text 20">
            <a:extLst xmlns:a="http://schemas.openxmlformats.org/drawingml/2006/main">
              <a:ext uri="{FF2B5EF4-FFF2-40B4-BE49-F238E27FC236}">
                <a16:creationId xmlns:a16="http://schemas.microsoft.com/office/drawing/2014/main" id="{2A01E9BC-AF60-4DD4-9CAE-7B2549D48A02}"/>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pic>
        <p:nvPicPr>
          <p:cNvPr id="35" name="Picture 34">
            <a:extLst xmlns:a="http://schemas.openxmlformats.org/drawingml/2006/main">
              <a:ext uri="{FF2B5EF4-FFF2-40B4-BE49-F238E27FC236}">
                <a16:creationId xmlns:a16="http://schemas.microsoft.com/office/drawing/2014/main" id="{4FE280F6-4F02-48D3-A025-5FAFADC430F4}"/>
              </a:ext>
            </a:extLst>
          </p:cNvPr>
          <p:cNvPicPr>
            <a:picLocks xmlns:a="http://schemas.openxmlformats.org/drawingml/2006/main" noChangeAspect="1"/>
          </p:cNvPicPr>
          <p:nvPr/>
        </p:nvPicPr>
        <p:blipFill>
          <a:blip xmlns:r="http://schemas.openxmlformats.org/officeDocument/2006/relationships" xmlns:a="http://schemas.openxmlformats.org/drawingml/2006/main" r:embed="R0094c1050c094731"/>
          <a:stretch xmlns:a="http://schemas.openxmlformats.org/drawingml/2006/main">
            <a:fillRect l="0" t="0" r="0" b="0"/>
          </a:stretch>
        </p:blipFill>
        <p:spPr>
          <a:xfrm xmlns:a="http://schemas.openxmlformats.org/drawingml/2006/main">
            <a:off x="5583382" y="1439702"/>
            <a:ext cx="5077684" cy="1130715"/>
          </a:xfrm>
          <a:prstGeom xmlns:a="http://schemas.openxmlformats.org/drawingml/2006/main" prst="rect">
            <a:avLst/>
          </a:prstGeom>
        </p:spPr>
      </p:pic>
      <p:sp>
        <p:nvSpPr>
          <p:cNvPr id="36" name="TextBox 35">
            <a:extLst xmlns:a="http://schemas.openxmlformats.org/drawingml/2006/main">
              <a:ext uri="{FF2B5EF4-FFF2-40B4-BE49-F238E27FC236}">
                <a16:creationId xmlns:a16="http://schemas.microsoft.com/office/drawing/2014/main" id="{3E4352BB-07A5-E02C-7B2B-3F85FF7D6D5A}"/>
              </a:ext>
            </a:extLst>
          </p:cNvPr>
          <p:cNvSpPr>
            <a:spLocks xmlns:a="http://schemas.openxmlformats.org/drawingml/2006/main" noGrp="1"/>
          </p:cNvSpPr>
          <p:nvPr/>
        </p:nvSpPr>
        <p:spPr>
          <a:xfrm xmlns:a="http://schemas.openxmlformats.org/drawingml/2006/main">
            <a:off x="1005840" y="397764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60"/>
              </a:lnSpc>
              <a:buNone/>
            </a:pPr>
            <a:r>
              <a:rPr sz="1800" b="1">
                <a:solidFill>
                  <a:srgbClr val="33333A"/>
                </a:solidFill>
                <a:latin typeface="Arial"/>
                <a:ea typeface="Arial"/>
                <a:cs typeface="Arial"/>
              </a:rPr>
              <a:t>100,000+</a:t>
            </a:r>
            <a:endParaRPr sz="1800"/>
          </a:p>
        </p:txBody>
      </p:sp>
      <p:sp>
        <p:nvSpPr>
          <p:cNvPr id="37" name="TextBox 36">
            <a:extLst xmlns:a="http://schemas.openxmlformats.org/drawingml/2006/main">
              <a:ext uri="{FF2B5EF4-FFF2-40B4-BE49-F238E27FC236}">
                <a16:creationId xmlns:a16="http://schemas.microsoft.com/office/drawing/2014/main" id="{8088E061-09EE-7FEB-CDE7-3ECAC3BAA327}"/>
              </a:ext>
            </a:extLst>
          </p:cNvPr>
          <p:cNvSpPr>
            <a:spLocks xmlns:a="http://schemas.openxmlformats.org/drawingml/2006/main" noGrp="1"/>
          </p:cNvSpPr>
          <p:nvPr/>
        </p:nvSpPr>
        <p:spPr>
          <a:xfrm xmlns:a="http://schemas.openxmlformats.org/drawingml/2006/main">
            <a:off x="1005840" y="4361688"/>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60"/>
              </a:lnSpc>
              <a:buNone/>
            </a:pPr>
            <a:r>
              <a:rPr sz="1800" b="1">
                <a:solidFill>
                  <a:srgbClr val="33333A"/>
                </a:solidFill>
                <a:latin typeface="Arial"/>
                <a:ea typeface="Arial"/>
                <a:cs typeface="Arial"/>
              </a:rPr>
              <a:t>200M+</a:t>
            </a:r>
            <a:endParaRPr sz="1800"/>
          </a:p>
        </p:txBody>
      </p:sp>
      <p:sp>
        <p:nvSpPr>
          <p:cNvPr id="38" name="TextBox 37">
            <a:extLst xmlns:a="http://schemas.openxmlformats.org/drawingml/2006/main">
              <a:ext uri="{FF2B5EF4-FFF2-40B4-BE49-F238E27FC236}">
                <a16:creationId xmlns:a16="http://schemas.microsoft.com/office/drawing/2014/main" id="{4AEBA3A3-3ECB-7A61-14C8-5728F3E7577E}"/>
              </a:ext>
            </a:extLst>
          </p:cNvPr>
          <p:cNvSpPr>
            <a:spLocks xmlns:a="http://schemas.openxmlformats.org/drawingml/2006/main" noGrp="1"/>
          </p:cNvSpPr>
          <p:nvPr/>
        </p:nvSpPr>
        <p:spPr>
          <a:xfrm xmlns:a="http://schemas.openxmlformats.org/drawingml/2006/main">
            <a:off x="1005840" y="4745736"/>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60"/>
              </a:lnSpc>
              <a:buNone/>
            </a:pPr>
            <a:r>
              <a:rPr sz="1800" b="1">
                <a:solidFill>
                  <a:srgbClr val="33333A"/>
                </a:solidFill>
                <a:latin typeface="Arial"/>
                <a:ea typeface="Arial"/>
                <a:cs typeface="Arial"/>
              </a:rPr>
              <a:t>20+ years</a:t>
            </a:r>
            <a:endParaRPr sz="1800"/>
          </a:p>
        </p:txBody>
      </p:sp>
      <p:sp>
        <p:nvSpPr>
          <p:cNvPr id="39" name="TextBox 38">
            <a:extLst xmlns:a="http://schemas.openxmlformats.org/drawingml/2006/main">
              <a:ext uri="{FF2B5EF4-FFF2-40B4-BE49-F238E27FC236}">
                <a16:creationId xmlns:a16="http://schemas.microsoft.com/office/drawing/2014/main" id="{F4FE470A-B43B-3AC7-5A9B-2E421D5834A7}"/>
              </a:ext>
            </a:extLst>
          </p:cNvPr>
          <p:cNvSpPr>
            <a:spLocks xmlns:a="http://schemas.openxmlformats.org/drawingml/2006/main" noGrp="1"/>
          </p:cNvSpPr>
          <p:nvPr/>
        </p:nvSpPr>
        <p:spPr>
          <a:xfrm xmlns:a="http://schemas.openxmlformats.org/drawingml/2006/main">
            <a:off x="2240280" y="397764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60"/>
              </a:lnSpc>
              <a:buNone/>
            </a:pPr>
            <a:r>
              <a:rPr sz="1800" b="0">
                <a:solidFill>
                  <a:srgbClr val="33333A"/>
                </a:solidFill>
                <a:latin typeface="Arial"/>
                <a:ea typeface="Arial"/>
                <a:cs typeface="Arial"/>
              </a:rPr>
              <a:t>providers</a:t>
            </a:r>
            <a:endParaRPr sz="1800"/>
          </a:p>
        </p:txBody>
      </p:sp>
      <p:sp>
        <p:nvSpPr>
          <p:cNvPr id="40" name="TextBox 39">
            <a:extLst xmlns:a="http://schemas.openxmlformats.org/drawingml/2006/main">
              <a:ext uri="{FF2B5EF4-FFF2-40B4-BE49-F238E27FC236}">
                <a16:creationId xmlns:a16="http://schemas.microsoft.com/office/drawing/2014/main" id="{73A3DFB9-0968-3F08-09C3-3B377FA4837F}"/>
              </a:ext>
            </a:extLst>
          </p:cNvPr>
          <p:cNvSpPr>
            <a:spLocks xmlns:a="http://schemas.openxmlformats.org/drawingml/2006/main" noGrp="1"/>
          </p:cNvSpPr>
          <p:nvPr/>
        </p:nvSpPr>
        <p:spPr>
          <a:xfrm xmlns:a="http://schemas.openxmlformats.org/drawingml/2006/main">
            <a:off x="2240280" y="4361688"/>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60"/>
              </a:lnSpc>
              <a:buNone/>
            </a:pPr>
            <a:r>
              <a:rPr sz="1800" b="0">
                <a:solidFill>
                  <a:srgbClr val="33333A"/>
                </a:solidFill>
                <a:latin typeface="Arial"/>
                <a:ea typeface="Arial"/>
                <a:cs typeface="Arial"/>
              </a:rPr>
              <a:t>patients</a:t>
            </a:r>
            <a:endParaRPr sz="1800"/>
          </a:p>
        </p:txBody>
      </p:sp>
      <p:sp>
        <p:nvSpPr>
          <p:cNvPr id="41" name="TextBox 40">
            <a:extLst xmlns:a="http://schemas.openxmlformats.org/drawingml/2006/main">
              <a:ext uri="{FF2B5EF4-FFF2-40B4-BE49-F238E27FC236}">
                <a16:creationId xmlns:a16="http://schemas.microsoft.com/office/drawing/2014/main" id="{781B2AFD-18FA-3190-B6DC-087512205DCD}"/>
              </a:ext>
            </a:extLst>
          </p:cNvPr>
          <p:cNvSpPr>
            <a:spLocks xmlns:a="http://schemas.openxmlformats.org/drawingml/2006/main" noGrp="1"/>
          </p:cNvSpPr>
          <p:nvPr/>
        </p:nvSpPr>
        <p:spPr>
          <a:xfrm xmlns:a="http://schemas.openxmlformats.org/drawingml/2006/main">
            <a:off x="2240280" y="4745736"/>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60"/>
              </a:lnSpc>
              <a:buNone/>
            </a:pPr>
            <a:r>
              <a:rPr sz="1800" b="0">
                <a:solidFill>
                  <a:srgbClr val="33333A"/>
                </a:solidFill>
                <a:latin typeface="Arial"/>
                <a:ea typeface="Arial"/>
                <a:cs typeface="Arial"/>
              </a:rPr>
              <a:t>public releases</a:t>
            </a:r>
            <a:endParaRPr sz="1800"/>
          </a:p>
        </p:txBody>
      </p:sp>
    </p:spTree>
    <p:extLst>
      <p:ext uri="{BB962C8B-B14F-4D97-AF65-F5344CB8AC3E}">
        <p14:creationId xmlns:p14="http://schemas.microsoft.com/office/powerpoint/2010/main" val="109040801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31954C46-8FA5-26DC-E432-1C58183ABA5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i="1"/>
              <a:t>Have you measured your AI reviewer’s detection rate?</a:t>
            </a:r>
          </a:p>
        </p:txBody>
      </p:sp>
      <p:sp>
        <p:nvSpPr>
          <p:cNvPr id="9" name="Text Placeholder 8">
            <a:extLst xmlns:a="http://schemas.openxmlformats.org/drawingml/2006/main">
              <a:ext uri="{FF2B5EF4-FFF2-40B4-BE49-F238E27FC236}">
                <a16:creationId xmlns:a16="http://schemas.microsoft.com/office/drawing/2014/main" id="{1259DAE5-9F0D-7E04-A1D3-5FA1144BED57}"/>
              </a:ext>
            </a:extLst>
          </p:cNvPr>
          <p:cNvSpPr>
            <a:spLocks xmlns:a="http://schemas.openxmlformats.org/drawingml/2006/main" noGrp="1"/>
          </p:cNvSpPr>
          <p:nvPr>
            <p:ph type="body" idx="10"/>
          </p:nvPr>
        </p:nvSpPr>
        <p:spPr/>
        <p:txBody>
          <a:bodyPr xmlns:a="http://schemas.openxmlformats.org/drawingml/2006/main"/>
          <a:lstStyle xmlns:a="http://schemas.openxmlformats.org/drawingml/2006/main"/>
          <a:p xmlns:a="http://schemas.openxmlformats.org/drawingml/2006/main">
            <a:r>
              <a:t>Yes, against seeded or known vulnerabilities</a:t>
            </a:r>
          </a:p>
          <a:p xmlns:a="http://schemas.openxmlformats.org/drawingml/2006/main">
            <a:r>
              <a:t>Partly: we track its findings, but not what it misses</a:t>
            </a:r>
          </a:p>
          <a:p xmlns:a="http://schemas.openxmlformats.org/drawingml/2006/main">
            <a:r>
              <a:t>Only informally, by gut feel</a:t>
            </a:r>
          </a:p>
          <a:p xmlns:a="http://schemas.openxmlformats.org/drawingml/2006/main">
            <a:r>
              <a:t>No, or not that I know of</a:t>
            </a:r>
          </a:p>
          <a:p xmlns:a="http://schemas.openxmlformats.org/drawingml/2006/main">
            <a:r>
              <a:t>We don’t use AI review</a:t>
            </a:r>
          </a:p>
          <a:p xmlns:a="http://schemas.openxmlformats.org/drawingml/2006/main">
            <a:endParaRPr/>
          </a:p>
        </p:txBody>
      </p:sp>
    </p:spTree>
    <p:extLst>
      <p:ext uri="{BB962C8B-B14F-4D97-AF65-F5344CB8AC3E}">
        <p14:creationId xmlns:p14="http://schemas.microsoft.com/office/powerpoint/2010/main" val="3755223190"/>
      </p:ext>
    </p:extLst>
  </p:cSld>
</p:sld>
</file>

<file path=ppt/slides/slide4.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BAD8DB91-003D-4241-853C-E1ABDBCDD6B5}"/>
              </a:ext>
            </a:extLst>
          </p:cNvPr>
          <p:cNvPicPr>
            <a:picLocks xmlns:a="http://schemas.openxmlformats.org/drawingml/2006/main" noChangeAspect="1"/>
          </p:cNvPicPr>
          <p:nvPr/>
        </p:nvPicPr>
        <p:blipFill>
          <a:blip xmlns:r="http://schemas.openxmlformats.org/officeDocument/2006/relationships" xmlns:a="http://schemas.openxmlformats.org/drawingml/2006/main" r:embed="R5fcde17405f94fa3"/>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97FF8783-5640-4305-9FA5-8A74A985F17A}"/>
              </a:ext>
            </a:extLst>
          </p:cNvPr>
          <p:cNvPicPr>
            <a:picLocks xmlns:a="http://schemas.openxmlformats.org/drawingml/2006/main" noChangeAspect="1"/>
          </p:cNvPicPr>
          <p:nvPr/>
        </p:nvPicPr>
        <p:blipFill>
          <a:blip xmlns:r="http://schemas.openxmlformats.org/officeDocument/2006/relationships" xmlns:a="http://schemas.openxmlformats.org/drawingml/2006/main" r:embed="R8878657e15f3435e"/>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E3C544BA-5D00-4C1C-A965-60F437578341}"/>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The review improvement loop</a:t>
            </a:r>
            <a:endParaRPr sz="3200"/>
          </a:p>
        </p:txBody>
      </p:sp>
      <p:sp>
        <p:nvSpPr>
          <p:cNvPr id="36" name="Text 25">
            <a:extLst xmlns:a="http://schemas.openxmlformats.org/drawingml/2006/main">
              <a:ext uri="{FF2B5EF4-FFF2-40B4-BE49-F238E27FC236}">
                <a16:creationId xmlns:a16="http://schemas.microsoft.com/office/drawing/2014/main" id="{FFE37C2D-9498-41C9-8BC2-796686DB9B61}"/>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Continuous loop">
            <a:extLst xmlns:a="http://schemas.openxmlformats.org/drawingml/2006/main">
              <a:ext uri="{FF2B5EF4-FFF2-40B4-BE49-F238E27FC236}">
                <a16:creationId xmlns:a16="http://schemas.microsoft.com/office/drawing/2014/main" id="{E704DC78-AC8A-4E65-9D42-47D3AAC86097}"/>
              </a:ext>
            </a:extLst>
          </p:cNvPr>
          <p:cNvSpPr>
            <a:spLocks xmlns:a="http://schemas.openxmlformats.org/drawingml/2006/main" noGrp="1"/>
          </p:cNvSpPr>
          <p:nvPr/>
        </p:nvSpPr>
        <p:spPr>
          <a:xfrm xmlns:a="http://schemas.openxmlformats.org/drawingml/2006/main">
            <a:off x="4114800" y="2423160"/>
            <a:ext cx="3968496" cy="2468880"/>
          </a:xfrm>
          <a:prstGeom xmlns:a="http://schemas.openxmlformats.org/drawingml/2006/main" prst="ellipse">
            <a:avLst/>
          </a:prstGeom>
          <a:noFill xmlns:a="http://schemas.openxmlformats.org/drawingml/2006/main"/>
          <a:ln xmlns:a="http://schemas.openxmlformats.org/drawingml/2006/main" w="28575">
            <a:solidFill>
              <a:srgbClr val="DBE3E5"/>
            </a:solidFill>
            <a:prstDash val="solid"/>
          </a:ln>
        </p:spPr>
        <p:txBody>
          <a:bodyPr xmlns:a="http://schemas.openxmlformats.org/drawingml/2006/main"/>
          <a:lstStyle xmlns:a="http://schemas.openxmlformats.org/drawingml/2006/main"/>
          <a:p xmlns:a="http://schemas.openxmlformats.org/drawingml/2006/main">
            <a:endParaRPr/>
          </a:p>
        </p:txBody>
      </p:sp>
      <p:sp>
        <p:nvSpPr>
          <p:cNvPr id="1001" name="Clockwise arc 0">
            <a:extLst xmlns:a="http://schemas.openxmlformats.org/drawingml/2006/main">
              <a:ext uri="{FF2B5EF4-FFF2-40B4-BE49-F238E27FC236}">
                <a16:creationId xmlns:a16="http://schemas.microsoft.com/office/drawing/2014/main" id="{91093FE1-86A5-4B65-9C77-591F16D3DA60}"/>
              </a:ext>
            </a:extLst>
          </p:cNvPr>
          <p:cNvSpPr>
            <a:spLocks xmlns:a="http://schemas.openxmlformats.org/drawingml/2006/main" noGrp="1"/>
          </p:cNvSpPr>
          <p:nvPr/>
        </p:nvSpPr>
        <p:spPr>
          <a:xfrm xmlns:a="http://schemas.openxmlformats.org/drawingml/2006/main">
            <a:off x="6545407" y="2454799"/>
            <a:ext cx="1470278" cy="883305"/>
          </a:xfrm>
          <a:custGeom xmlns:a="http://schemas.openxmlformats.org/drawingml/2006/main">
            <a:rect l="0" t="0" r="0" b="0"/>
            <a:pathLst>
              <a:path w="1470278" h="883305">
                <a:moveTo>
                  <a:pt x="0" y="0"/>
                </a:moveTo>
                <a:lnTo>
                  <a:pt x="52134" y="7951"/>
                </a:lnTo>
                <a:lnTo>
                  <a:pt x="103902" y="16777"/>
                </a:lnTo>
                <a:lnTo>
                  <a:pt x="155268" y="26471"/>
                </a:lnTo>
                <a:lnTo>
                  <a:pt x="206194" y="37025"/>
                </a:lnTo>
                <a:lnTo>
                  <a:pt x="256643" y="48433"/>
                </a:lnTo>
                <a:lnTo>
                  <a:pt x="306576" y="60685"/>
                </a:lnTo>
                <a:lnTo>
                  <a:pt x="355959" y="73774"/>
                </a:lnTo>
                <a:lnTo>
                  <a:pt x="404755" y="87688"/>
                </a:lnTo>
                <a:lnTo>
                  <a:pt x="452928" y="102419"/>
                </a:lnTo>
                <a:lnTo>
                  <a:pt x="500443" y="117954"/>
                </a:lnTo>
                <a:lnTo>
                  <a:pt x="547265" y="134284"/>
                </a:lnTo>
                <a:lnTo>
                  <a:pt x="593359" y="151396"/>
                </a:lnTo>
                <a:lnTo>
                  <a:pt x="638693" y="169277"/>
                </a:lnTo>
                <a:lnTo>
                  <a:pt x="683233" y="187914"/>
                </a:lnTo>
                <a:lnTo>
                  <a:pt x="726946" y="207294"/>
                </a:lnTo>
                <a:lnTo>
                  <a:pt x="769801" y="227402"/>
                </a:lnTo>
                <a:lnTo>
                  <a:pt x="811766" y="248225"/>
                </a:lnTo>
                <a:lnTo>
                  <a:pt x="852809" y="269746"/>
                </a:lnTo>
                <a:lnTo>
                  <a:pt x="892903" y="291949"/>
                </a:lnTo>
                <a:lnTo>
                  <a:pt x="932016" y="314820"/>
                </a:lnTo>
                <a:lnTo>
                  <a:pt x="970120" y="338340"/>
                </a:lnTo>
                <a:lnTo>
                  <a:pt x="1007188" y="362492"/>
                </a:lnTo>
                <a:lnTo>
                  <a:pt x="1043192" y="387260"/>
                </a:lnTo>
                <a:lnTo>
                  <a:pt x="1078106" y="412624"/>
                </a:lnTo>
                <a:lnTo>
                  <a:pt x="1111905" y="438567"/>
                </a:lnTo>
                <a:lnTo>
                  <a:pt x="1144563" y="465069"/>
                </a:lnTo>
                <a:lnTo>
                  <a:pt x="1176057" y="492111"/>
                </a:lnTo>
                <a:lnTo>
                  <a:pt x="1206364" y="519673"/>
                </a:lnTo>
                <a:lnTo>
                  <a:pt x="1235461" y="547735"/>
                </a:lnTo>
                <a:lnTo>
                  <a:pt x="1263327" y="576276"/>
                </a:lnTo>
                <a:lnTo>
                  <a:pt x="1289943" y="605275"/>
                </a:lnTo>
                <a:lnTo>
                  <a:pt x="1315287" y="634712"/>
                </a:lnTo>
                <a:lnTo>
                  <a:pt x="1339343" y="664565"/>
                </a:lnTo>
                <a:lnTo>
                  <a:pt x="1362091" y="694812"/>
                </a:lnTo>
                <a:lnTo>
                  <a:pt x="1383517" y="725430"/>
                </a:lnTo>
                <a:lnTo>
                  <a:pt x="1403603" y="756398"/>
                </a:lnTo>
                <a:lnTo>
                  <a:pt x="1422335" y="787692"/>
                </a:lnTo>
                <a:lnTo>
                  <a:pt x="1439700" y="819290"/>
                </a:lnTo>
                <a:lnTo>
                  <a:pt x="1455685" y="851169"/>
                </a:lnTo>
                <a:lnTo>
                  <a:pt x="1470278" y="883305"/>
                </a:lnTo>
              </a:path>
            </a:pathLst>
          </a:custGeom>
          <a:noFill xmlns:a="http://schemas.openxmlformats.org/drawingml/2006/main"/>
          <a:ln xmlns:a="http://schemas.openxmlformats.org/drawingml/2006/main" w="42863">
            <a:solidFill>
              <a:srgbClr val="0086B6"/>
            </a:solidFill>
            <a:prstDash val="solid"/>
          </a:ln>
        </p:spPr>
        <p:txBody>
          <a:bodyPr xmlns:a="http://schemas.openxmlformats.org/drawingml/2006/main"/>
          <a:lstStyle xmlns:a="http://schemas.openxmlformats.org/drawingml/2006/main"/>
          <a:p xmlns:a="http://schemas.openxmlformats.org/drawingml/2006/main">
            <a:endParaRPr/>
          </a:p>
        </p:txBody>
      </p:sp>
      <p:sp>
        <p:nvSpPr>
          <p:cNvPr id="1002" name="Arrowhead 0">
            <a:extLst xmlns:a="http://schemas.openxmlformats.org/drawingml/2006/main">
              <a:ext uri="{FF2B5EF4-FFF2-40B4-BE49-F238E27FC236}">
                <a16:creationId xmlns:a16="http://schemas.microsoft.com/office/drawing/2014/main" id="{37FA99D3-6F44-4C52-BE4C-198EEFEBA4FF}"/>
              </a:ext>
            </a:extLst>
          </p:cNvPr>
          <p:cNvSpPr>
            <a:spLocks xmlns:a="http://schemas.openxmlformats.org/drawingml/2006/main" noGrp="1"/>
          </p:cNvSpPr>
          <p:nvPr/>
        </p:nvSpPr>
        <p:spPr>
          <a:xfrm xmlns:a="http://schemas.openxmlformats.org/drawingml/2006/main">
            <a:off x="7859360" y="3133969"/>
            <a:ext cx="167963" cy="204135"/>
          </a:xfrm>
          <a:custGeom xmlns:a="http://schemas.openxmlformats.org/drawingml/2006/main">
            <a:rect l="0" t="0" r="0" b="0"/>
            <a:pathLst>
              <a:path w="167963" h="204135">
                <a:moveTo>
                  <a:pt x="156324" y="204135"/>
                </a:moveTo>
                <a:lnTo>
                  <a:pt x="0" y="72342"/>
                </a:lnTo>
                <a:lnTo>
                  <a:pt x="167963" y="0"/>
                </a:lnTo>
                <a:close/>
              </a:path>
            </a:pathLst>
          </a:cu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3" name="Clockwise arc 1">
            <a:extLst xmlns:a="http://schemas.openxmlformats.org/drawingml/2006/main">
              <a:ext uri="{FF2B5EF4-FFF2-40B4-BE49-F238E27FC236}">
                <a16:creationId xmlns:a16="http://schemas.microsoft.com/office/drawing/2014/main" id="{10A0BD84-A460-4E20-AD0E-8FD7415CED50}"/>
              </a:ext>
            </a:extLst>
          </p:cNvPr>
          <p:cNvSpPr>
            <a:spLocks xmlns:a="http://schemas.openxmlformats.org/drawingml/2006/main" noGrp="1"/>
          </p:cNvSpPr>
          <p:nvPr/>
        </p:nvSpPr>
        <p:spPr>
          <a:xfrm xmlns:a="http://schemas.openxmlformats.org/drawingml/2006/main">
            <a:off x="6612609" y="3935289"/>
            <a:ext cx="1419831" cy="914689"/>
          </a:xfrm>
          <a:custGeom xmlns:a="http://schemas.openxmlformats.org/drawingml/2006/main">
            <a:rect l="0" t="0" r="0" b="0"/>
            <a:pathLst>
              <a:path w="1419831" h="914689">
                <a:moveTo>
                  <a:pt x="1419831" y="0"/>
                </a:moveTo>
                <a:lnTo>
                  <a:pt x="1407050" y="32433"/>
                </a:lnTo>
                <a:lnTo>
                  <a:pt x="1392863" y="64640"/>
                </a:lnTo>
                <a:lnTo>
                  <a:pt x="1377281" y="96596"/>
                </a:lnTo>
                <a:lnTo>
                  <a:pt x="1360316" y="128278"/>
                </a:lnTo>
                <a:lnTo>
                  <a:pt x="1341979" y="159662"/>
                </a:lnTo>
                <a:lnTo>
                  <a:pt x="1322284" y="190727"/>
                </a:lnTo>
                <a:lnTo>
                  <a:pt x="1301246" y="221449"/>
                </a:lnTo>
                <a:lnTo>
                  <a:pt x="1278880" y="251806"/>
                </a:lnTo>
                <a:lnTo>
                  <a:pt x="1255202" y="281775"/>
                </a:lnTo>
                <a:lnTo>
                  <a:pt x="1230230" y="311335"/>
                </a:lnTo>
                <a:lnTo>
                  <a:pt x="1203982" y="340464"/>
                </a:lnTo>
                <a:lnTo>
                  <a:pt x="1176476" y="369141"/>
                </a:lnTo>
                <a:lnTo>
                  <a:pt x="1147734" y="397344"/>
                </a:lnTo>
                <a:lnTo>
                  <a:pt x="1117776" y="425053"/>
                </a:lnTo>
                <a:lnTo>
                  <a:pt x="1086625" y="452248"/>
                </a:lnTo>
                <a:lnTo>
                  <a:pt x="1054302" y="478908"/>
                </a:lnTo>
                <a:lnTo>
                  <a:pt x="1020832" y="505015"/>
                </a:lnTo>
                <a:lnTo>
                  <a:pt x="986240" y="530550"/>
                </a:lnTo>
                <a:lnTo>
                  <a:pt x="950549" y="555492"/>
                </a:lnTo>
                <a:lnTo>
                  <a:pt x="913787" y="579825"/>
                </a:lnTo>
                <a:lnTo>
                  <a:pt x="875981" y="603531"/>
                </a:lnTo>
                <a:lnTo>
                  <a:pt x="837158" y="626592"/>
                </a:lnTo>
                <a:lnTo>
                  <a:pt x="797346" y="648991"/>
                </a:lnTo>
                <a:lnTo>
                  <a:pt x="756575" y="670711"/>
                </a:lnTo>
                <a:lnTo>
                  <a:pt x="714875" y="691738"/>
                </a:lnTo>
                <a:lnTo>
                  <a:pt x="672275" y="712055"/>
                </a:lnTo>
                <a:lnTo>
                  <a:pt x="628808" y="731648"/>
                </a:lnTo>
                <a:lnTo>
                  <a:pt x="584505" y="750503"/>
                </a:lnTo>
                <a:lnTo>
                  <a:pt x="539398" y="768605"/>
                </a:lnTo>
                <a:lnTo>
                  <a:pt x="493521" y="785941"/>
                </a:lnTo>
                <a:lnTo>
                  <a:pt x="446907" y="802499"/>
                </a:lnTo>
                <a:lnTo>
                  <a:pt x="399589" y="818266"/>
                </a:lnTo>
                <a:lnTo>
                  <a:pt x="351604" y="833232"/>
                </a:lnTo>
                <a:lnTo>
                  <a:pt x="302985" y="847384"/>
                </a:lnTo>
                <a:lnTo>
                  <a:pt x="253769" y="860713"/>
                </a:lnTo>
                <a:lnTo>
                  <a:pt x="203992" y="873209"/>
                </a:lnTo>
                <a:lnTo>
                  <a:pt x="153689" y="884863"/>
                </a:lnTo>
                <a:lnTo>
                  <a:pt x="102898" y="895666"/>
                </a:lnTo>
                <a:lnTo>
                  <a:pt x="51656" y="905610"/>
                </a:lnTo>
                <a:lnTo>
                  <a:pt x="0" y="914689"/>
                </a:lnTo>
              </a:path>
            </a:pathLst>
          </a:custGeom>
          <a:noFill xmlns:a="http://schemas.openxmlformats.org/drawingml/2006/main"/>
          <a:ln xmlns:a="http://schemas.openxmlformats.org/drawingml/2006/main" w="42863">
            <a:solidFill>
              <a:srgbClr val="5665AE"/>
            </a:solidFill>
            <a:prstDash val="solid"/>
          </a:ln>
        </p:spPr>
        <p:txBody>
          <a:bodyPr xmlns:a="http://schemas.openxmlformats.org/drawingml/2006/main"/>
          <a:lstStyle xmlns:a="http://schemas.openxmlformats.org/drawingml/2006/main"/>
          <a:p xmlns:a="http://schemas.openxmlformats.org/drawingml/2006/main">
            <a:endParaRPr/>
          </a:p>
        </p:txBody>
      </p:sp>
      <p:sp>
        <p:nvSpPr>
          <p:cNvPr id="1004" name="Arrowhead 1">
            <a:extLst xmlns:a="http://schemas.openxmlformats.org/drawingml/2006/main">
              <a:ext uri="{FF2B5EF4-FFF2-40B4-BE49-F238E27FC236}">
                <a16:creationId xmlns:a16="http://schemas.microsoft.com/office/drawing/2014/main" id="{983FCE1D-B29B-4C4B-A955-F7F019E4A9E6}"/>
              </a:ext>
            </a:extLst>
          </p:cNvPr>
          <p:cNvSpPr>
            <a:spLocks xmlns:a="http://schemas.openxmlformats.org/drawingml/2006/main" noGrp="1"/>
          </p:cNvSpPr>
          <p:nvPr/>
        </p:nvSpPr>
        <p:spPr>
          <a:xfrm xmlns:a="http://schemas.openxmlformats.org/drawingml/2006/main">
            <a:off x="6612609" y="4729712"/>
            <a:ext cx="195426" cy="180391"/>
          </a:xfrm>
          <a:custGeom xmlns:a="http://schemas.openxmlformats.org/drawingml/2006/main">
            <a:rect l="0" t="0" r="0" b="0"/>
            <a:pathLst>
              <a:path w="195426" h="180391">
                <a:moveTo>
                  <a:pt x="0" y="120266"/>
                </a:moveTo>
                <a:lnTo>
                  <a:pt x="165356" y="0"/>
                </a:lnTo>
                <a:lnTo>
                  <a:pt x="195426" y="180391"/>
                </a:lnTo>
                <a:close/>
              </a:path>
            </a:pathLst>
          </a:custGeom>
          <a:solidFill xmlns:a="http://schemas.openxmlformats.org/drawingml/2006/main">
            <a:srgbClr val="5665A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5" name="Clockwise arc 2">
            <a:extLst xmlns:a="http://schemas.openxmlformats.org/drawingml/2006/main">
              <a:ext uri="{FF2B5EF4-FFF2-40B4-BE49-F238E27FC236}">
                <a16:creationId xmlns:a16="http://schemas.microsoft.com/office/drawing/2014/main" id="{CE5A83F5-8682-43BE-8ABB-CCEE43F9C310}"/>
              </a:ext>
            </a:extLst>
          </p:cNvPr>
          <p:cNvSpPr>
            <a:spLocks xmlns:a="http://schemas.openxmlformats.org/drawingml/2006/main" noGrp="1"/>
          </p:cNvSpPr>
          <p:nvPr/>
        </p:nvSpPr>
        <p:spPr>
          <a:xfrm xmlns:a="http://schemas.openxmlformats.org/drawingml/2006/main">
            <a:off x="4182412" y="3977097"/>
            <a:ext cx="1470278" cy="883305"/>
          </a:xfrm>
          <a:custGeom xmlns:a="http://schemas.openxmlformats.org/drawingml/2006/main">
            <a:rect l="0" t="0" r="0" b="0"/>
            <a:pathLst>
              <a:path w="1470278" h="883305">
                <a:moveTo>
                  <a:pt x="1470278" y="883305"/>
                </a:moveTo>
                <a:lnTo>
                  <a:pt x="1418144" y="875353"/>
                </a:lnTo>
                <a:lnTo>
                  <a:pt x="1366375" y="866528"/>
                </a:lnTo>
                <a:lnTo>
                  <a:pt x="1315009" y="856834"/>
                </a:lnTo>
                <a:lnTo>
                  <a:pt x="1264083" y="846279"/>
                </a:lnTo>
                <a:lnTo>
                  <a:pt x="1213635" y="834872"/>
                </a:lnTo>
                <a:lnTo>
                  <a:pt x="1163701" y="822619"/>
                </a:lnTo>
                <a:lnTo>
                  <a:pt x="1114318" y="809531"/>
                </a:lnTo>
                <a:lnTo>
                  <a:pt x="1065523" y="795617"/>
                </a:lnTo>
                <a:lnTo>
                  <a:pt x="1017350" y="780886"/>
                </a:lnTo>
                <a:lnTo>
                  <a:pt x="969835" y="765350"/>
                </a:lnTo>
                <a:lnTo>
                  <a:pt x="923013" y="749021"/>
                </a:lnTo>
                <a:lnTo>
                  <a:pt x="876918" y="731909"/>
                </a:lnTo>
                <a:lnTo>
                  <a:pt x="831584" y="714028"/>
                </a:lnTo>
                <a:lnTo>
                  <a:pt x="787045" y="695391"/>
                </a:lnTo>
                <a:lnTo>
                  <a:pt x="743331" y="676011"/>
                </a:lnTo>
                <a:lnTo>
                  <a:pt x="700477" y="655902"/>
                </a:lnTo>
                <a:lnTo>
                  <a:pt x="658512" y="635080"/>
                </a:lnTo>
                <a:lnTo>
                  <a:pt x="617468" y="613559"/>
                </a:lnTo>
                <a:lnTo>
                  <a:pt x="577375" y="591355"/>
                </a:lnTo>
                <a:lnTo>
                  <a:pt x="538262" y="568485"/>
                </a:lnTo>
                <a:lnTo>
                  <a:pt x="500157" y="544965"/>
                </a:lnTo>
                <a:lnTo>
                  <a:pt x="463090" y="520812"/>
                </a:lnTo>
                <a:lnTo>
                  <a:pt x="427085" y="496045"/>
                </a:lnTo>
                <a:lnTo>
                  <a:pt x="392171" y="470680"/>
                </a:lnTo>
                <a:lnTo>
                  <a:pt x="358373" y="444738"/>
                </a:lnTo>
                <a:lnTo>
                  <a:pt x="325715" y="418236"/>
                </a:lnTo>
                <a:lnTo>
                  <a:pt x="294221" y="391194"/>
                </a:lnTo>
                <a:lnTo>
                  <a:pt x="263914" y="363632"/>
                </a:lnTo>
                <a:lnTo>
                  <a:pt x="234817" y="335570"/>
                </a:lnTo>
                <a:lnTo>
                  <a:pt x="206950" y="307029"/>
                </a:lnTo>
                <a:lnTo>
                  <a:pt x="180335" y="278029"/>
                </a:lnTo>
                <a:lnTo>
                  <a:pt x="154990" y="248592"/>
                </a:lnTo>
                <a:lnTo>
                  <a:pt x="130935" y="218740"/>
                </a:lnTo>
                <a:lnTo>
                  <a:pt x="108186" y="188493"/>
                </a:lnTo>
                <a:lnTo>
                  <a:pt x="86761" y="157875"/>
                </a:lnTo>
                <a:lnTo>
                  <a:pt x="66675" y="126907"/>
                </a:lnTo>
                <a:lnTo>
                  <a:pt x="47942" y="95613"/>
                </a:lnTo>
                <a:lnTo>
                  <a:pt x="30577" y="64015"/>
                </a:lnTo>
                <a:lnTo>
                  <a:pt x="14593" y="32136"/>
                </a:lnTo>
                <a:lnTo>
                  <a:pt x="0" y="0"/>
                </a:lnTo>
              </a:path>
            </a:pathLst>
          </a:custGeom>
          <a:noFill xmlns:a="http://schemas.openxmlformats.org/drawingml/2006/main"/>
          <a:ln xmlns:a="http://schemas.openxmlformats.org/drawingml/2006/main" w="42863">
            <a:solidFill>
              <a:srgbClr val="4C8835"/>
            </a:solidFill>
            <a:prstDash val="solid"/>
          </a:ln>
        </p:spPr>
        <p:txBody>
          <a:bodyPr xmlns:a="http://schemas.openxmlformats.org/drawingml/2006/main"/>
          <a:lstStyle xmlns:a="http://schemas.openxmlformats.org/drawingml/2006/main"/>
          <a:p xmlns:a="http://schemas.openxmlformats.org/drawingml/2006/main">
            <a:endParaRPr/>
          </a:p>
        </p:txBody>
      </p:sp>
      <p:sp>
        <p:nvSpPr>
          <p:cNvPr id="1006" name="Arrowhead 2">
            <a:extLst xmlns:a="http://schemas.openxmlformats.org/drawingml/2006/main">
              <a:ext uri="{FF2B5EF4-FFF2-40B4-BE49-F238E27FC236}">
                <a16:creationId xmlns:a16="http://schemas.microsoft.com/office/drawing/2014/main" id="{E59885CC-9D25-4A5D-AAEA-25877311236E}"/>
              </a:ext>
            </a:extLst>
          </p:cNvPr>
          <p:cNvSpPr>
            <a:spLocks xmlns:a="http://schemas.openxmlformats.org/drawingml/2006/main" noGrp="1"/>
          </p:cNvSpPr>
          <p:nvPr/>
        </p:nvSpPr>
        <p:spPr>
          <a:xfrm xmlns:a="http://schemas.openxmlformats.org/drawingml/2006/main">
            <a:off x="4170772" y="3977097"/>
            <a:ext cx="167963" cy="204135"/>
          </a:xfrm>
          <a:custGeom xmlns:a="http://schemas.openxmlformats.org/drawingml/2006/main">
            <a:rect l="0" t="0" r="0" b="0"/>
            <a:pathLst>
              <a:path w="167963" h="204135">
                <a:moveTo>
                  <a:pt x="11639" y="0"/>
                </a:moveTo>
                <a:lnTo>
                  <a:pt x="167963" y="131792"/>
                </a:lnTo>
                <a:lnTo>
                  <a:pt x="0" y="204135"/>
                </a:lnTo>
                <a:close/>
              </a:path>
            </a:pathLst>
          </a:custGeom>
          <a:solidFill xmlns:a="http://schemas.openxmlformats.org/drawingml/2006/main">
            <a:srgbClr val="4C883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7" name="Clockwise arc 3">
            <a:extLst xmlns:a="http://schemas.openxmlformats.org/drawingml/2006/main">
              <a:ext uri="{FF2B5EF4-FFF2-40B4-BE49-F238E27FC236}">
                <a16:creationId xmlns:a16="http://schemas.microsoft.com/office/drawing/2014/main" id="{80DC1099-9294-428A-94A7-60F716D79955}"/>
              </a:ext>
            </a:extLst>
          </p:cNvPr>
          <p:cNvSpPr>
            <a:spLocks xmlns:a="http://schemas.openxmlformats.org/drawingml/2006/main" noGrp="1"/>
          </p:cNvSpPr>
          <p:nvPr/>
        </p:nvSpPr>
        <p:spPr>
          <a:xfrm xmlns:a="http://schemas.openxmlformats.org/drawingml/2006/main">
            <a:off x="4165656" y="2465223"/>
            <a:ext cx="1419831" cy="914689"/>
          </a:xfrm>
          <a:custGeom xmlns:a="http://schemas.openxmlformats.org/drawingml/2006/main">
            <a:rect l="0" t="0" r="0" b="0"/>
            <a:pathLst>
              <a:path w="1419831" h="914689">
                <a:moveTo>
                  <a:pt x="0" y="914689"/>
                </a:moveTo>
                <a:lnTo>
                  <a:pt x="12781" y="882256"/>
                </a:lnTo>
                <a:lnTo>
                  <a:pt x="26968" y="850049"/>
                </a:lnTo>
                <a:lnTo>
                  <a:pt x="42549" y="818093"/>
                </a:lnTo>
                <a:lnTo>
                  <a:pt x="59515" y="786411"/>
                </a:lnTo>
                <a:lnTo>
                  <a:pt x="77852" y="755026"/>
                </a:lnTo>
                <a:lnTo>
                  <a:pt x="97546" y="723962"/>
                </a:lnTo>
                <a:lnTo>
                  <a:pt x="118584" y="693240"/>
                </a:lnTo>
                <a:lnTo>
                  <a:pt x="140951" y="662883"/>
                </a:lnTo>
                <a:lnTo>
                  <a:pt x="164628" y="632913"/>
                </a:lnTo>
                <a:lnTo>
                  <a:pt x="189601" y="603354"/>
                </a:lnTo>
                <a:lnTo>
                  <a:pt x="215849" y="574225"/>
                </a:lnTo>
                <a:lnTo>
                  <a:pt x="243354" y="545548"/>
                </a:lnTo>
                <a:lnTo>
                  <a:pt x="272096" y="517345"/>
                </a:lnTo>
                <a:lnTo>
                  <a:pt x="302054" y="489636"/>
                </a:lnTo>
                <a:lnTo>
                  <a:pt x="333206" y="462441"/>
                </a:lnTo>
                <a:lnTo>
                  <a:pt x="365528" y="435780"/>
                </a:lnTo>
                <a:lnTo>
                  <a:pt x="398998" y="409673"/>
                </a:lnTo>
                <a:lnTo>
                  <a:pt x="433591" y="384139"/>
                </a:lnTo>
                <a:lnTo>
                  <a:pt x="469281" y="359196"/>
                </a:lnTo>
                <a:lnTo>
                  <a:pt x="506043" y="334863"/>
                </a:lnTo>
                <a:lnTo>
                  <a:pt x="543850" y="311158"/>
                </a:lnTo>
                <a:lnTo>
                  <a:pt x="582673" y="288097"/>
                </a:lnTo>
                <a:lnTo>
                  <a:pt x="622484" y="265698"/>
                </a:lnTo>
                <a:lnTo>
                  <a:pt x="663255" y="243978"/>
                </a:lnTo>
                <a:lnTo>
                  <a:pt x="704956" y="222951"/>
                </a:lnTo>
                <a:lnTo>
                  <a:pt x="747555" y="202634"/>
                </a:lnTo>
                <a:lnTo>
                  <a:pt x="791023" y="183041"/>
                </a:lnTo>
                <a:lnTo>
                  <a:pt x="835326" y="164186"/>
                </a:lnTo>
                <a:lnTo>
                  <a:pt x="880433" y="146084"/>
                </a:lnTo>
                <a:lnTo>
                  <a:pt x="926310" y="128748"/>
                </a:lnTo>
                <a:lnTo>
                  <a:pt x="972924" y="112190"/>
                </a:lnTo>
                <a:lnTo>
                  <a:pt x="1020241" y="96423"/>
                </a:lnTo>
                <a:lnTo>
                  <a:pt x="1068227" y="81457"/>
                </a:lnTo>
                <a:lnTo>
                  <a:pt x="1116845" y="67305"/>
                </a:lnTo>
                <a:lnTo>
                  <a:pt x="1166061" y="53976"/>
                </a:lnTo>
                <a:lnTo>
                  <a:pt x="1215839" y="41480"/>
                </a:lnTo>
                <a:lnTo>
                  <a:pt x="1266142" y="29826"/>
                </a:lnTo>
                <a:lnTo>
                  <a:pt x="1316933" y="19023"/>
                </a:lnTo>
                <a:lnTo>
                  <a:pt x="1368175" y="9078"/>
                </a:lnTo>
                <a:lnTo>
                  <a:pt x="1419831" y="0"/>
                </a:lnTo>
              </a:path>
            </a:pathLst>
          </a:custGeom>
          <a:noFill xmlns:a="http://schemas.openxmlformats.org/drawingml/2006/main"/>
          <a:ln xmlns:a="http://schemas.openxmlformats.org/drawingml/2006/main" w="42863">
            <a:solidFill>
              <a:srgbClr val="0086B6"/>
            </a:solidFill>
            <a:prstDash val="solid"/>
          </a:ln>
        </p:spPr>
        <p:txBody>
          <a:bodyPr xmlns:a="http://schemas.openxmlformats.org/drawingml/2006/main"/>
          <a:lstStyle xmlns:a="http://schemas.openxmlformats.org/drawingml/2006/main"/>
          <a:p xmlns:a="http://schemas.openxmlformats.org/drawingml/2006/main">
            <a:endParaRPr/>
          </a:p>
        </p:txBody>
      </p:sp>
      <p:sp>
        <p:nvSpPr>
          <p:cNvPr id="1008" name="Arrowhead 3">
            <a:extLst xmlns:a="http://schemas.openxmlformats.org/drawingml/2006/main">
              <a:ext uri="{FF2B5EF4-FFF2-40B4-BE49-F238E27FC236}">
                <a16:creationId xmlns:a16="http://schemas.microsoft.com/office/drawing/2014/main" id="{E96851CB-B251-424A-8472-86A545B1B521}"/>
              </a:ext>
            </a:extLst>
          </p:cNvPr>
          <p:cNvSpPr>
            <a:spLocks xmlns:a="http://schemas.openxmlformats.org/drawingml/2006/main" noGrp="1"/>
          </p:cNvSpPr>
          <p:nvPr/>
        </p:nvSpPr>
        <p:spPr>
          <a:xfrm xmlns:a="http://schemas.openxmlformats.org/drawingml/2006/main">
            <a:off x="5390061" y="2405098"/>
            <a:ext cx="195426" cy="180391"/>
          </a:xfrm>
          <a:custGeom xmlns:a="http://schemas.openxmlformats.org/drawingml/2006/main">
            <a:rect l="0" t="0" r="0" b="0"/>
            <a:pathLst>
              <a:path w="195426" h="180391">
                <a:moveTo>
                  <a:pt x="195426" y="60125"/>
                </a:moveTo>
                <a:lnTo>
                  <a:pt x="30071" y="180391"/>
                </a:lnTo>
                <a:lnTo>
                  <a:pt x="0" y="0"/>
                </a:lnTo>
                <a:close/>
              </a:path>
            </a:pathLst>
          </a:cu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9" name="Study anchor">
            <a:extLst xmlns:a="http://schemas.openxmlformats.org/drawingml/2006/main">
              <a:ext uri="{FF2B5EF4-FFF2-40B4-BE49-F238E27FC236}">
                <a16:creationId xmlns:a16="http://schemas.microsoft.com/office/drawing/2014/main" id="{72A15DE2-FA82-4963-96C6-A9B4D7123718}"/>
              </a:ext>
            </a:extLst>
          </p:cNvPr>
          <p:cNvSpPr>
            <a:spLocks xmlns:a="http://schemas.openxmlformats.org/drawingml/2006/main" noGrp="1"/>
          </p:cNvSpPr>
          <p:nvPr/>
        </p:nvSpPr>
        <p:spPr>
          <a:xfrm xmlns:a="http://schemas.openxmlformats.org/drawingml/2006/main">
            <a:off x="4800600" y="2688336"/>
            <a:ext cx="2596896" cy="1938528"/>
          </a:xfrm>
          <a:prstGeom xmlns:a="http://schemas.openxmlformats.org/drawingml/2006/main" prst="ellipse">
            <a:avLst/>
          </a:prstGeom>
          <a:solidFill xmlns:a="http://schemas.openxmlformats.org/drawingml/2006/main">
            <a:srgbClr val="F5F8F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0" name="Case count">
            <a:extLst xmlns:a="http://schemas.openxmlformats.org/drawingml/2006/main">
              <a:ext uri="{FF2B5EF4-FFF2-40B4-BE49-F238E27FC236}">
                <a16:creationId xmlns:a16="http://schemas.microsoft.com/office/drawing/2014/main" id="{B24D1DAA-E631-46DD-BD68-C41DD32055F1}"/>
              </a:ext>
            </a:extLst>
          </p:cNvPr>
          <p:cNvSpPr>
            <a:spLocks xmlns:a="http://schemas.openxmlformats.org/drawingml/2006/main" noGrp="1"/>
          </p:cNvSpPr>
          <p:nvPr/>
        </p:nvSpPr>
        <p:spPr>
          <a:xfrm xmlns:a="http://schemas.openxmlformats.org/drawingml/2006/main">
            <a:off x="4919472" y="2761488"/>
            <a:ext cx="2359152" cy="98755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6800" b="1">
                <a:solidFill>
                  <a:srgbClr val="4C8835"/>
                </a:solidFill>
              </a:defRPr>
            </a:defPPr>
            <a:lvl1pPr algn="ctr">
              <a:buNone/>
              <a:defRPr sz="6800" b="1">
                <a:solidFill>
                  <a:srgbClr val="4C8835"/>
                </a:solidFill>
              </a:defRPr>
            </a:lvl1pPr>
            <a:lvl2pPr algn="ctr">
              <a:buNone/>
              <a:defRPr sz="6800" b="1">
                <a:solidFill>
                  <a:srgbClr val="4C8835"/>
                </a:solidFill>
              </a:defRPr>
            </a:lvl2pPr>
            <a:lvl3pPr algn="ctr">
              <a:buNone/>
              <a:defRPr sz="6800" b="1">
                <a:solidFill>
                  <a:srgbClr val="4C8835"/>
                </a:solidFill>
              </a:defRPr>
            </a:lvl3pPr>
            <a:lvl4pPr algn="ctr">
              <a:buNone/>
              <a:defRPr sz="6800" b="1">
                <a:solidFill>
                  <a:srgbClr val="4C8835"/>
                </a:solidFill>
              </a:defRPr>
            </a:lvl4pPr>
            <a:lvl5pPr algn="ctr">
              <a:buNone/>
              <a:defRPr sz="6800" b="1">
                <a:solidFill>
                  <a:srgbClr val="4C8835"/>
                </a:solidFill>
              </a:defRPr>
            </a:lvl5pPr>
            <a:lvl6pPr algn="ctr">
              <a:buNone/>
              <a:defRPr sz="6800" b="1">
                <a:solidFill>
                  <a:srgbClr val="4C8835"/>
                </a:solidFill>
              </a:defRPr>
            </a:lvl6pPr>
            <a:lvl7pPr algn="ctr">
              <a:buNone/>
              <a:defRPr sz="6800" b="1">
                <a:solidFill>
                  <a:srgbClr val="4C8835"/>
                </a:solidFill>
              </a:defRPr>
            </a:lvl7pPr>
            <a:lvl8pPr algn="ctr">
              <a:buNone/>
              <a:defRPr sz="6800" b="1">
                <a:solidFill>
                  <a:srgbClr val="4C8835"/>
                </a:solidFill>
              </a:defRPr>
            </a:lvl8pPr>
            <a:lvl9pPr algn="ctr">
              <a:buNone/>
              <a:defRPr sz="6800" b="1">
                <a:solidFill>
                  <a:srgbClr val="4C8835"/>
                </a:solidFill>
              </a:defRPr>
            </a:lvl9pPr>
          </a:lstStyle>
          <a:p xmlns:a="http://schemas.openxmlformats.org/drawingml/2006/main">
            <a:pPr algn="ctr">
              <a:buNone/>
              <a:defRPr sz="6800" b="1">
                <a:solidFill>
                  <a:srgbClr val="4C8835"/>
                </a:solidFill>
              </a:defRPr>
            </a:pPr>
            <a:r>
              <a:rPr sz="6800" b="1">
                <a:solidFill>
                  <a:srgbClr val="4C8835"/>
                </a:solidFill>
                <a:latin typeface="Arial"/>
                <a:ea typeface="Arial"/>
                <a:cs typeface="Arial"/>
              </a:rPr>
              <a:t>24</a:t>
            </a:r>
          </a:p>
        </p:txBody>
      </p:sp>
      <p:sp>
        <p:nvSpPr>
          <p:cNvPr id="1011" name="Case label">
            <a:extLst xmlns:a="http://schemas.openxmlformats.org/drawingml/2006/main">
              <a:ext uri="{FF2B5EF4-FFF2-40B4-BE49-F238E27FC236}">
                <a16:creationId xmlns:a16="http://schemas.microsoft.com/office/drawing/2014/main" id="{55A6BAF4-7619-49FA-978D-E47D6251CFE0}"/>
              </a:ext>
            </a:extLst>
          </p:cNvPr>
          <p:cNvSpPr>
            <a:spLocks xmlns:a="http://schemas.openxmlformats.org/drawingml/2006/main" noGrp="1"/>
          </p:cNvSpPr>
          <p:nvPr/>
        </p:nvSpPr>
        <p:spPr>
          <a:xfrm xmlns:a="http://schemas.openxmlformats.org/drawingml/2006/main">
            <a:off x="4731272" y="3743631"/>
            <a:ext cx="3017520"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00" b="0">
                <a:solidFill>
                  <a:srgbClr val="33333A"/>
                </a:solidFill>
              </a:defRPr>
            </a:defPPr>
            <a:lvl1pPr algn="ctr">
              <a:buNone/>
              <a:defRPr sz="1600" b="0">
                <a:solidFill>
                  <a:srgbClr val="33333A"/>
                </a:solidFill>
              </a:defRPr>
            </a:lvl1pPr>
            <a:lvl2pPr algn="ctr">
              <a:buNone/>
              <a:defRPr sz="1600" b="0">
                <a:solidFill>
                  <a:srgbClr val="33333A"/>
                </a:solidFill>
              </a:defRPr>
            </a:lvl2pPr>
            <a:lvl3pPr algn="ctr">
              <a:buNone/>
              <a:defRPr sz="1600" b="0">
                <a:solidFill>
                  <a:srgbClr val="33333A"/>
                </a:solidFill>
              </a:defRPr>
            </a:lvl3pPr>
            <a:lvl4pPr algn="ctr">
              <a:buNone/>
              <a:defRPr sz="1600" b="0">
                <a:solidFill>
                  <a:srgbClr val="33333A"/>
                </a:solidFill>
              </a:defRPr>
            </a:lvl4pPr>
            <a:lvl5pPr algn="ctr">
              <a:buNone/>
              <a:defRPr sz="1600" b="0">
                <a:solidFill>
                  <a:srgbClr val="33333A"/>
                </a:solidFill>
              </a:defRPr>
            </a:lvl5pPr>
            <a:lvl6pPr algn="ctr">
              <a:buNone/>
              <a:defRPr sz="1600" b="0">
                <a:solidFill>
                  <a:srgbClr val="33333A"/>
                </a:solidFill>
              </a:defRPr>
            </a:lvl6pPr>
            <a:lvl7pPr algn="ctr">
              <a:buNone/>
              <a:defRPr sz="1600" b="0">
                <a:solidFill>
                  <a:srgbClr val="33333A"/>
                </a:solidFill>
              </a:defRPr>
            </a:lvl7pPr>
            <a:lvl8pPr algn="ctr">
              <a:buNone/>
              <a:defRPr sz="1600" b="0">
                <a:solidFill>
                  <a:srgbClr val="33333A"/>
                </a:solidFill>
              </a:defRPr>
            </a:lvl8pPr>
            <a:lvl9pPr algn="ctr">
              <a:buNone/>
              <a:defRPr sz="1600" b="0">
                <a:solidFill>
                  <a:srgbClr val="33333A"/>
                </a:solidFill>
              </a:defRPr>
            </a:lvl9pPr>
          </a:lstStyle>
          <a:p xmlns:a="http://schemas.openxmlformats.org/drawingml/2006/main">
            <a:pPr algn="ctr">
              <a:buNone/>
              <a:defRPr sz="1600" b="0">
                <a:solidFill>
                  <a:srgbClr val="33333A"/>
                </a:solidFill>
              </a:defRPr>
            </a:pPr>
            <a:r>
              <a:rPr sz="1600" b="0">
                <a:solidFill>
                  <a:srgbClr val="33333A"/>
                </a:solidFill>
                <a:latin typeface="Arial"/>
                <a:ea typeface="Arial"/>
                <a:cs typeface="Arial"/>
              </a:rPr>
              <a:t>24 historical vulnerabilities, </a:t>
            </a:r>
          </a:p>
          <a:p xmlns:a="http://schemas.openxmlformats.org/drawingml/2006/main">
            <a:pPr algn="ctr">
              <a:buNone/>
              <a:defRPr sz="1600" b="0">
                <a:solidFill>
                  <a:srgbClr val="33333A"/>
                </a:solidFill>
              </a:defRPr>
            </a:pPr>
            <a:r>
              <a:rPr sz="1600" b="0">
                <a:solidFill>
                  <a:srgbClr val="33333A"/>
                </a:solidFill>
                <a:latin typeface="Arial"/>
                <a:ea typeface="Arial"/>
                <a:cs typeface="Arial"/>
              </a:rPr>
              <a:t>each linked to a published CVE.</a:t>
            </a:r>
            <a:endParaRPr sz="1600" b="0">
              <a:solidFill>
                <a:srgbClr val="33333A"/>
              </a:solidFill>
              <a:latin typeface="Arial"/>
              <a:ea typeface="Arial"/>
              <a:cs typeface="Arial"/>
            </a:endParaRPr>
          </a:p>
        </p:txBody>
      </p:sp>
      <p:sp>
        <p:nvSpPr>
          <p:cNvPr id="1013" name="Stage number disc 0">
            <a:extLst xmlns:a="http://schemas.openxmlformats.org/drawingml/2006/main">
              <a:ext uri="{FF2B5EF4-FFF2-40B4-BE49-F238E27FC236}">
                <a16:creationId xmlns:a16="http://schemas.microsoft.com/office/drawing/2014/main" id="{19806F36-1068-4411-8ED9-DAF733C37428}"/>
              </a:ext>
            </a:extLst>
          </p:cNvPr>
          <p:cNvSpPr>
            <a:spLocks xmlns:a="http://schemas.openxmlformats.org/drawingml/2006/main" noGrp="1"/>
          </p:cNvSpPr>
          <p:nvPr/>
        </p:nvSpPr>
        <p:spPr>
          <a:xfrm xmlns:a="http://schemas.openxmlformats.org/drawingml/2006/main">
            <a:off x="5888736" y="2212848"/>
            <a:ext cx="420624" cy="420624"/>
          </a:xfrm>
          <a:prstGeom xmlns:a="http://schemas.openxmlformats.org/drawingml/2006/main" prst="ellipse">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4" name="Stage number 0">
            <a:extLst xmlns:a="http://schemas.openxmlformats.org/drawingml/2006/main">
              <a:ext uri="{FF2B5EF4-FFF2-40B4-BE49-F238E27FC236}">
                <a16:creationId xmlns:a16="http://schemas.microsoft.com/office/drawing/2014/main" id="{8B94A894-AE6A-4396-B65B-AAABACC358D3}"/>
              </a:ext>
            </a:extLst>
          </p:cNvPr>
          <p:cNvSpPr>
            <a:spLocks xmlns:a="http://schemas.openxmlformats.org/drawingml/2006/main" noGrp="1"/>
          </p:cNvSpPr>
          <p:nvPr/>
        </p:nvSpPr>
        <p:spPr>
          <a:xfrm xmlns:a="http://schemas.openxmlformats.org/drawingml/2006/main">
            <a:off x="5916168" y="2265883"/>
            <a:ext cx="365760" cy="30175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FFFFFF"/>
                </a:solidFill>
              </a:defRPr>
            </a:defPPr>
            <a:lvl1pPr algn="ctr">
              <a:buNone/>
              <a:defRPr sz="1800" b="1">
                <a:solidFill>
                  <a:srgbClr val="FFFFFF"/>
                </a:solidFill>
              </a:defRPr>
            </a:lvl1pPr>
            <a:lvl2pPr algn="ctr">
              <a:buNone/>
              <a:defRPr sz="1800" b="1">
                <a:solidFill>
                  <a:srgbClr val="FFFFFF"/>
                </a:solidFill>
              </a:defRPr>
            </a:lvl2pPr>
            <a:lvl3pPr algn="ctr">
              <a:buNone/>
              <a:defRPr sz="1800" b="1">
                <a:solidFill>
                  <a:srgbClr val="FFFFFF"/>
                </a:solidFill>
              </a:defRPr>
            </a:lvl3pPr>
            <a:lvl4pPr algn="ctr">
              <a:buNone/>
              <a:defRPr sz="1800" b="1">
                <a:solidFill>
                  <a:srgbClr val="FFFFFF"/>
                </a:solidFill>
              </a:defRPr>
            </a:lvl4pPr>
            <a:lvl5pPr algn="ctr">
              <a:buNone/>
              <a:defRPr sz="1800" b="1">
                <a:solidFill>
                  <a:srgbClr val="FFFFFF"/>
                </a:solidFill>
              </a:defRPr>
            </a:lvl5pPr>
            <a:lvl6pPr algn="ctr">
              <a:buNone/>
              <a:defRPr sz="1800" b="1">
                <a:solidFill>
                  <a:srgbClr val="FFFFFF"/>
                </a:solidFill>
              </a:defRPr>
            </a:lvl6pPr>
            <a:lvl7pPr algn="ctr">
              <a:buNone/>
              <a:defRPr sz="1800" b="1">
                <a:solidFill>
                  <a:srgbClr val="FFFFFF"/>
                </a:solidFill>
              </a:defRPr>
            </a:lvl7pPr>
            <a:lvl8pPr algn="ctr">
              <a:buNone/>
              <a:defRPr sz="1800" b="1">
                <a:solidFill>
                  <a:srgbClr val="FFFFFF"/>
                </a:solidFill>
              </a:defRPr>
            </a:lvl8pPr>
            <a:lvl9pPr algn="ctr">
              <a:buNone/>
              <a:defRPr sz="1800" b="1">
                <a:solidFill>
                  <a:srgbClr val="FFFFFF"/>
                </a:solidFill>
              </a:defRPr>
            </a:lvl9pPr>
          </a:lstStyle>
          <a:p xmlns:a="http://schemas.openxmlformats.org/drawingml/2006/main">
            <a:pPr algn="ctr">
              <a:buNone/>
              <a:defRPr sz="1800" b="1">
                <a:solidFill>
                  <a:srgbClr val="FFFFFF"/>
                </a:solidFill>
              </a:defRPr>
            </a:pPr>
            <a:r>
              <a:rPr sz="1800" b="1">
                <a:solidFill>
                  <a:srgbClr val="FFFFFF"/>
                </a:solidFill>
                <a:latin typeface="Arial"/>
                <a:ea typeface="Arial"/>
                <a:cs typeface="Arial"/>
              </a:rPr>
              <a:t>1</a:t>
            </a:r>
          </a:p>
        </p:txBody>
      </p:sp>
      <p:sp>
        <p:nvSpPr>
          <p:cNvPr id="1015" name="Stage number disc 1">
            <a:extLst xmlns:a="http://schemas.openxmlformats.org/drawingml/2006/main">
              <a:ext uri="{FF2B5EF4-FFF2-40B4-BE49-F238E27FC236}">
                <a16:creationId xmlns:a16="http://schemas.microsoft.com/office/drawing/2014/main" id="{8E54CEF1-DB07-432C-B1FA-B9BB1F5558B1}"/>
              </a:ext>
            </a:extLst>
          </p:cNvPr>
          <p:cNvSpPr>
            <a:spLocks xmlns:a="http://schemas.openxmlformats.org/drawingml/2006/main" noGrp="1"/>
          </p:cNvSpPr>
          <p:nvPr/>
        </p:nvSpPr>
        <p:spPr>
          <a:xfrm xmlns:a="http://schemas.openxmlformats.org/drawingml/2006/main">
            <a:off x="7872984" y="3447288"/>
            <a:ext cx="420624" cy="420624"/>
          </a:xfrm>
          <a:prstGeom xmlns:a="http://schemas.openxmlformats.org/drawingml/2006/main" prst="ellipse">
            <a:avLst/>
          </a:prstGeom>
          <a:solidFill xmlns:a="http://schemas.openxmlformats.org/drawingml/2006/main">
            <a:srgbClr val="5665A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6" name="Stage number 1">
            <a:extLst xmlns:a="http://schemas.openxmlformats.org/drawingml/2006/main">
              <a:ext uri="{FF2B5EF4-FFF2-40B4-BE49-F238E27FC236}">
                <a16:creationId xmlns:a16="http://schemas.microsoft.com/office/drawing/2014/main" id="{0DEBD612-62CA-4A23-8435-869F5A15DB52}"/>
              </a:ext>
            </a:extLst>
          </p:cNvPr>
          <p:cNvSpPr>
            <a:spLocks xmlns:a="http://schemas.openxmlformats.org/drawingml/2006/main" noGrp="1"/>
          </p:cNvSpPr>
          <p:nvPr/>
        </p:nvSpPr>
        <p:spPr>
          <a:xfrm xmlns:a="http://schemas.openxmlformats.org/drawingml/2006/main">
            <a:off x="7900416" y="3500323"/>
            <a:ext cx="365760" cy="30175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FFFFFF"/>
                </a:solidFill>
              </a:defRPr>
            </a:defPPr>
            <a:lvl1pPr algn="ctr">
              <a:buNone/>
              <a:defRPr sz="1800" b="1">
                <a:solidFill>
                  <a:srgbClr val="FFFFFF"/>
                </a:solidFill>
              </a:defRPr>
            </a:lvl1pPr>
            <a:lvl2pPr algn="ctr">
              <a:buNone/>
              <a:defRPr sz="1800" b="1">
                <a:solidFill>
                  <a:srgbClr val="FFFFFF"/>
                </a:solidFill>
              </a:defRPr>
            </a:lvl2pPr>
            <a:lvl3pPr algn="ctr">
              <a:buNone/>
              <a:defRPr sz="1800" b="1">
                <a:solidFill>
                  <a:srgbClr val="FFFFFF"/>
                </a:solidFill>
              </a:defRPr>
            </a:lvl3pPr>
            <a:lvl4pPr algn="ctr">
              <a:buNone/>
              <a:defRPr sz="1800" b="1">
                <a:solidFill>
                  <a:srgbClr val="FFFFFF"/>
                </a:solidFill>
              </a:defRPr>
            </a:lvl4pPr>
            <a:lvl5pPr algn="ctr">
              <a:buNone/>
              <a:defRPr sz="1800" b="1">
                <a:solidFill>
                  <a:srgbClr val="FFFFFF"/>
                </a:solidFill>
              </a:defRPr>
            </a:lvl5pPr>
            <a:lvl6pPr algn="ctr">
              <a:buNone/>
              <a:defRPr sz="1800" b="1">
                <a:solidFill>
                  <a:srgbClr val="FFFFFF"/>
                </a:solidFill>
              </a:defRPr>
            </a:lvl6pPr>
            <a:lvl7pPr algn="ctr">
              <a:buNone/>
              <a:defRPr sz="1800" b="1">
                <a:solidFill>
                  <a:srgbClr val="FFFFFF"/>
                </a:solidFill>
              </a:defRPr>
            </a:lvl7pPr>
            <a:lvl8pPr algn="ctr">
              <a:buNone/>
              <a:defRPr sz="1800" b="1">
                <a:solidFill>
                  <a:srgbClr val="FFFFFF"/>
                </a:solidFill>
              </a:defRPr>
            </a:lvl8pPr>
            <a:lvl9pPr algn="ctr">
              <a:buNone/>
              <a:defRPr sz="1800" b="1">
                <a:solidFill>
                  <a:srgbClr val="FFFFFF"/>
                </a:solidFill>
              </a:defRPr>
            </a:lvl9pPr>
          </a:lstStyle>
          <a:p xmlns:a="http://schemas.openxmlformats.org/drawingml/2006/main">
            <a:pPr algn="ctr">
              <a:buNone/>
              <a:defRPr sz="1800" b="1">
                <a:solidFill>
                  <a:srgbClr val="FFFFFF"/>
                </a:solidFill>
              </a:defRPr>
            </a:pPr>
            <a:r>
              <a:rPr sz="1800" b="1">
                <a:solidFill>
                  <a:srgbClr val="FFFFFF"/>
                </a:solidFill>
                <a:latin typeface="Arial"/>
                <a:ea typeface="Arial"/>
                <a:cs typeface="Arial"/>
              </a:rPr>
              <a:t>2</a:t>
            </a:r>
          </a:p>
        </p:txBody>
      </p:sp>
      <p:sp>
        <p:nvSpPr>
          <p:cNvPr id="1017" name="Stage number disc 2">
            <a:extLst xmlns:a="http://schemas.openxmlformats.org/drawingml/2006/main">
              <a:ext uri="{FF2B5EF4-FFF2-40B4-BE49-F238E27FC236}">
                <a16:creationId xmlns:a16="http://schemas.microsoft.com/office/drawing/2014/main" id="{92D6F6D5-1622-490A-A8E6-353A77695722}"/>
              </a:ext>
            </a:extLst>
          </p:cNvPr>
          <p:cNvSpPr>
            <a:spLocks xmlns:a="http://schemas.openxmlformats.org/drawingml/2006/main" noGrp="1"/>
          </p:cNvSpPr>
          <p:nvPr/>
        </p:nvSpPr>
        <p:spPr>
          <a:xfrm xmlns:a="http://schemas.openxmlformats.org/drawingml/2006/main">
            <a:off x="5888736" y="4681728"/>
            <a:ext cx="420624" cy="420624"/>
          </a:xfrm>
          <a:prstGeom xmlns:a="http://schemas.openxmlformats.org/drawingml/2006/main" prst="ellipse">
            <a:avLst/>
          </a:prstGeom>
          <a:solidFill xmlns:a="http://schemas.openxmlformats.org/drawingml/2006/main">
            <a:srgbClr val="4C883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8" name="Stage number 2">
            <a:extLst xmlns:a="http://schemas.openxmlformats.org/drawingml/2006/main">
              <a:ext uri="{FF2B5EF4-FFF2-40B4-BE49-F238E27FC236}">
                <a16:creationId xmlns:a16="http://schemas.microsoft.com/office/drawing/2014/main" id="{0AAD2339-8F53-4802-AEF7-2AE52633ECAD}"/>
              </a:ext>
            </a:extLst>
          </p:cNvPr>
          <p:cNvSpPr>
            <a:spLocks xmlns:a="http://schemas.openxmlformats.org/drawingml/2006/main" noGrp="1"/>
          </p:cNvSpPr>
          <p:nvPr/>
        </p:nvSpPr>
        <p:spPr>
          <a:xfrm xmlns:a="http://schemas.openxmlformats.org/drawingml/2006/main">
            <a:off x="5916168" y="4734763"/>
            <a:ext cx="365760" cy="30175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FFFFFF"/>
                </a:solidFill>
              </a:defRPr>
            </a:defPPr>
            <a:lvl1pPr algn="ctr">
              <a:buNone/>
              <a:defRPr sz="1800" b="1">
                <a:solidFill>
                  <a:srgbClr val="FFFFFF"/>
                </a:solidFill>
              </a:defRPr>
            </a:lvl1pPr>
            <a:lvl2pPr algn="ctr">
              <a:buNone/>
              <a:defRPr sz="1800" b="1">
                <a:solidFill>
                  <a:srgbClr val="FFFFFF"/>
                </a:solidFill>
              </a:defRPr>
            </a:lvl2pPr>
            <a:lvl3pPr algn="ctr">
              <a:buNone/>
              <a:defRPr sz="1800" b="1">
                <a:solidFill>
                  <a:srgbClr val="FFFFFF"/>
                </a:solidFill>
              </a:defRPr>
            </a:lvl3pPr>
            <a:lvl4pPr algn="ctr">
              <a:buNone/>
              <a:defRPr sz="1800" b="1">
                <a:solidFill>
                  <a:srgbClr val="FFFFFF"/>
                </a:solidFill>
              </a:defRPr>
            </a:lvl4pPr>
            <a:lvl5pPr algn="ctr">
              <a:buNone/>
              <a:defRPr sz="1800" b="1">
                <a:solidFill>
                  <a:srgbClr val="FFFFFF"/>
                </a:solidFill>
              </a:defRPr>
            </a:lvl5pPr>
            <a:lvl6pPr algn="ctr">
              <a:buNone/>
              <a:defRPr sz="1800" b="1">
                <a:solidFill>
                  <a:srgbClr val="FFFFFF"/>
                </a:solidFill>
              </a:defRPr>
            </a:lvl6pPr>
            <a:lvl7pPr algn="ctr">
              <a:buNone/>
              <a:defRPr sz="1800" b="1">
                <a:solidFill>
                  <a:srgbClr val="FFFFFF"/>
                </a:solidFill>
              </a:defRPr>
            </a:lvl7pPr>
            <a:lvl8pPr algn="ctr">
              <a:buNone/>
              <a:defRPr sz="1800" b="1">
                <a:solidFill>
                  <a:srgbClr val="FFFFFF"/>
                </a:solidFill>
              </a:defRPr>
            </a:lvl8pPr>
            <a:lvl9pPr algn="ctr">
              <a:buNone/>
              <a:defRPr sz="1800" b="1">
                <a:solidFill>
                  <a:srgbClr val="FFFFFF"/>
                </a:solidFill>
              </a:defRPr>
            </a:lvl9pPr>
          </a:lstStyle>
          <a:p xmlns:a="http://schemas.openxmlformats.org/drawingml/2006/main">
            <a:pPr algn="ctr">
              <a:buNone/>
              <a:defRPr sz="1800" b="1">
                <a:solidFill>
                  <a:srgbClr val="FFFFFF"/>
                </a:solidFill>
              </a:defRPr>
            </a:pPr>
            <a:r>
              <a:rPr sz="1800" b="1">
                <a:solidFill>
                  <a:srgbClr val="FFFFFF"/>
                </a:solidFill>
                <a:latin typeface="Arial"/>
                <a:ea typeface="Arial"/>
                <a:cs typeface="Arial"/>
              </a:rPr>
              <a:t>3</a:t>
            </a:r>
          </a:p>
        </p:txBody>
      </p:sp>
      <p:sp>
        <p:nvSpPr>
          <p:cNvPr id="1019" name="Stage number disc 3">
            <a:extLst xmlns:a="http://schemas.openxmlformats.org/drawingml/2006/main">
              <a:ext uri="{FF2B5EF4-FFF2-40B4-BE49-F238E27FC236}">
                <a16:creationId xmlns:a16="http://schemas.microsoft.com/office/drawing/2014/main" id="{C4A02A69-E028-4304-86CC-EBE060D2FAFC}"/>
              </a:ext>
            </a:extLst>
          </p:cNvPr>
          <p:cNvSpPr>
            <a:spLocks xmlns:a="http://schemas.openxmlformats.org/drawingml/2006/main" noGrp="1"/>
          </p:cNvSpPr>
          <p:nvPr/>
        </p:nvSpPr>
        <p:spPr>
          <a:xfrm xmlns:a="http://schemas.openxmlformats.org/drawingml/2006/main">
            <a:off x="3904488" y="3447288"/>
            <a:ext cx="420624" cy="420624"/>
          </a:xfrm>
          <a:prstGeom xmlns:a="http://schemas.openxmlformats.org/drawingml/2006/main" prst="ellipse">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20" name="Stage number 3">
            <a:extLst xmlns:a="http://schemas.openxmlformats.org/drawingml/2006/main">
              <a:ext uri="{FF2B5EF4-FFF2-40B4-BE49-F238E27FC236}">
                <a16:creationId xmlns:a16="http://schemas.microsoft.com/office/drawing/2014/main" id="{E80387BA-8A6C-42B4-B8B5-9AA014E1256C}"/>
              </a:ext>
            </a:extLst>
          </p:cNvPr>
          <p:cNvSpPr>
            <a:spLocks xmlns:a="http://schemas.openxmlformats.org/drawingml/2006/main" noGrp="1"/>
          </p:cNvSpPr>
          <p:nvPr/>
        </p:nvSpPr>
        <p:spPr>
          <a:xfrm xmlns:a="http://schemas.openxmlformats.org/drawingml/2006/main">
            <a:off x="3931920" y="3500323"/>
            <a:ext cx="365760" cy="30175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800" b="1">
                <a:solidFill>
                  <a:srgbClr val="FFFFFF"/>
                </a:solidFill>
              </a:defRPr>
            </a:defPPr>
            <a:lvl1pPr algn="ctr">
              <a:buNone/>
              <a:defRPr sz="1800" b="1">
                <a:solidFill>
                  <a:srgbClr val="FFFFFF"/>
                </a:solidFill>
              </a:defRPr>
            </a:lvl1pPr>
            <a:lvl2pPr algn="ctr">
              <a:buNone/>
              <a:defRPr sz="1800" b="1">
                <a:solidFill>
                  <a:srgbClr val="FFFFFF"/>
                </a:solidFill>
              </a:defRPr>
            </a:lvl2pPr>
            <a:lvl3pPr algn="ctr">
              <a:buNone/>
              <a:defRPr sz="1800" b="1">
                <a:solidFill>
                  <a:srgbClr val="FFFFFF"/>
                </a:solidFill>
              </a:defRPr>
            </a:lvl3pPr>
            <a:lvl4pPr algn="ctr">
              <a:buNone/>
              <a:defRPr sz="1800" b="1">
                <a:solidFill>
                  <a:srgbClr val="FFFFFF"/>
                </a:solidFill>
              </a:defRPr>
            </a:lvl4pPr>
            <a:lvl5pPr algn="ctr">
              <a:buNone/>
              <a:defRPr sz="1800" b="1">
                <a:solidFill>
                  <a:srgbClr val="FFFFFF"/>
                </a:solidFill>
              </a:defRPr>
            </a:lvl5pPr>
            <a:lvl6pPr algn="ctr">
              <a:buNone/>
              <a:defRPr sz="1800" b="1">
                <a:solidFill>
                  <a:srgbClr val="FFFFFF"/>
                </a:solidFill>
              </a:defRPr>
            </a:lvl6pPr>
            <a:lvl7pPr algn="ctr">
              <a:buNone/>
              <a:defRPr sz="1800" b="1">
                <a:solidFill>
                  <a:srgbClr val="FFFFFF"/>
                </a:solidFill>
              </a:defRPr>
            </a:lvl7pPr>
            <a:lvl8pPr algn="ctr">
              <a:buNone/>
              <a:defRPr sz="1800" b="1">
                <a:solidFill>
                  <a:srgbClr val="FFFFFF"/>
                </a:solidFill>
              </a:defRPr>
            </a:lvl8pPr>
            <a:lvl9pPr algn="ctr">
              <a:buNone/>
              <a:defRPr sz="1800" b="1">
                <a:solidFill>
                  <a:srgbClr val="FFFFFF"/>
                </a:solidFill>
              </a:defRPr>
            </a:lvl9pPr>
          </a:lstStyle>
          <a:p xmlns:a="http://schemas.openxmlformats.org/drawingml/2006/main">
            <a:pPr algn="ctr">
              <a:buNone/>
              <a:defRPr sz="1800" b="1">
                <a:solidFill>
                  <a:srgbClr val="FFFFFF"/>
                </a:solidFill>
              </a:defRPr>
            </a:pPr>
            <a:r>
              <a:rPr sz="1800" b="1">
                <a:solidFill>
                  <a:srgbClr val="FFFFFF"/>
                </a:solidFill>
                <a:latin typeface="Arial"/>
                <a:ea typeface="Arial"/>
                <a:cs typeface="Arial"/>
              </a:rPr>
              <a:t>4</a:t>
            </a:r>
          </a:p>
        </p:txBody>
      </p:sp>
      <p:sp>
        <p:nvSpPr>
          <p:cNvPr id="1021" name="Baseline label">
            <a:extLst xmlns:a="http://schemas.openxmlformats.org/drawingml/2006/main">
              <a:ext uri="{FF2B5EF4-FFF2-40B4-BE49-F238E27FC236}">
                <a16:creationId xmlns:a16="http://schemas.microsoft.com/office/drawing/2014/main" id="{D872F163-1E9B-41D4-B995-DC1944D88A18}"/>
              </a:ext>
            </a:extLst>
          </p:cNvPr>
          <p:cNvSpPr>
            <a:spLocks xmlns:a="http://schemas.openxmlformats.org/drawingml/2006/main" noGrp="1"/>
          </p:cNvSpPr>
          <p:nvPr/>
        </p:nvSpPr>
        <p:spPr>
          <a:xfrm xmlns:a="http://schemas.openxmlformats.org/drawingml/2006/main">
            <a:off x="4315968" y="1490472"/>
            <a:ext cx="3566160" cy="3931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00" b="1">
                <a:solidFill>
                  <a:srgbClr val="0086B6"/>
                </a:solidFill>
              </a:defRPr>
            </a:defPPr>
            <a:lvl1pPr algn="ctr">
              <a:buNone/>
              <a:defRPr sz="2400" b="1">
                <a:solidFill>
                  <a:srgbClr val="0086B6"/>
                </a:solidFill>
              </a:defRPr>
            </a:lvl1pPr>
            <a:lvl2pPr algn="ctr">
              <a:buNone/>
              <a:defRPr sz="2400" b="1">
                <a:solidFill>
                  <a:srgbClr val="0086B6"/>
                </a:solidFill>
              </a:defRPr>
            </a:lvl2pPr>
            <a:lvl3pPr algn="ctr">
              <a:buNone/>
              <a:defRPr sz="2400" b="1">
                <a:solidFill>
                  <a:srgbClr val="0086B6"/>
                </a:solidFill>
              </a:defRPr>
            </a:lvl3pPr>
            <a:lvl4pPr algn="ctr">
              <a:buNone/>
              <a:defRPr sz="2400" b="1">
                <a:solidFill>
                  <a:srgbClr val="0086B6"/>
                </a:solidFill>
              </a:defRPr>
            </a:lvl4pPr>
            <a:lvl5pPr algn="ctr">
              <a:buNone/>
              <a:defRPr sz="2400" b="1">
                <a:solidFill>
                  <a:srgbClr val="0086B6"/>
                </a:solidFill>
              </a:defRPr>
            </a:lvl5pPr>
            <a:lvl6pPr algn="ctr">
              <a:buNone/>
              <a:defRPr sz="2400" b="1">
                <a:solidFill>
                  <a:srgbClr val="0086B6"/>
                </a:solidFill>
              </a:defRPr>
            </a:lvl6pPr>
            <a:lvl7pPr algn="ctr">
              <a:buNone/>
              <a:defRPr sz="2400" b="1">
                <a:solidFill>
                  <a:srgbClr val="0086B6"/>
                </a:solidFill>
              </a:defRPr>
            </a:lvl7pPr>
            <a:lvl8pPr algn="ctr">
              <a:buNone/>
              <a:defRPr sz="2400" b="1">
                <a:solidFill>
                  <a:srgbClr val="0086B6"/>
                </a:solidFill>
              </a:defRPr>
            </a:lvl8pPr>
            <a:lvl9pPr algn="ctr">
              <a:buNone/>
              <a:defRPr sz="2400" b="1">
                <a:solidFill>
                  <a:srgbClr val="0086B6"/>
                </a:solidFill>
              </a:defRPr>
            </a:lvl9pPr>
          </a:lstStyle>
          <a:p xmlns:a="http://schemas.openxmlformats.org/drawingml/2006/main">
            <a:pPr algn="ctr">
              <a:buNone/>
              <a:defRPr sz="2400" b="1">
                <a:solidFill>
                  <a:srgbClr val="0086B6"/>
                </a:solidFill>
              </a:defRPr>
            </a:pPr>
            <a:r>
              <a:rPr sz="2400" b="1">
                <a:solidFill>
                  <a:srgbClr val="0086B6"/>
                </a:solidFill>
                <a:latin typeface="Arial"/>
                <a:ea typeface="Arial"/>
                <a:cs typeface="Arial"/>
              </a:rPr>
              <a:t>Establish a baseline</a:t>
            </a:r>
          </a:p>
        </p:txBody>
      </p:sp>
      <p:sp>
        <p:nvSpPr>
          <p:cNvPr id="1022" name="Baseline detail">
            <a:extLst xmlns:a="http://schemas.openxmlformats.org/drawingml/2006/main">
              <a:ext uri="{FF2B5EF4-FFF2-40B4-BE49-F238E27FC236}">
                <a16:creationId xmlns:a16="http://schemas.microsoft.com/office/drawing/2014/main" id="{34610211-4B8B-4EC3-8205-77646F32293C}"/>
              </a:ext>
            </a:extLst>
          </p:cNvPr>
          <p:cNvSpPr>
            <a:spLocks xmlns:a="http://schemas.openxmlformats.org/drawingml/2006/main" noGrp="1"/>
          </p:cNvSpPr>
          <p:nvPr/>
        </p:nvSpPr>
        <p:spPr>
          <a:xfrm xmlns:a="http://schemas.openxmlformats.org/drawingml/2006/main">
            <a:off x="4315968" y="1883664"/>
            <a:ext cx="3566160" cy="274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00" b="0">
                <a:solidFill>
                  <a:srgbClr val="6B6B73"/>
                </a:solidFill>
              </a:defRPr>
            </a:defPPr>
            <a:lvl1pPr algn="ctr">
              <a:buNone/>
              <a:defRPr sz="1600" b="0">
                <a:solidFill>
                  <a:srgbClr val="6B6B73"/>
                </a:solidFill>
              </a:defRPr>
            </a:lvl1pPr>
            <a:lvl2pPr algn="ctr">
              <a:buNone/>
              <a:defRPr sz="1600" b="0">
                <a:solidFill>
                  <a:srgbClr val="6B6B73"/>
                </a:solidFill>
              </a:defRPr>
            </a:lvl2pPr>
            <a:lvl3pPr algn="ctr">
              <a:buNone/>
              <a:defRPr sz="1600" b="0">
                <a:solidFill>
                  <a:srgbClr val="6B6B73"/>
                </a:solidFill>
              </a:defRPr>
            </a:lvl3pPr>
            <a:lvl4pPr algn="ctr">
              <a:buNone/>
              <a:defRPr sz="1600" b="0">
                <a:solidFill>
                  <a:srgbClr val="6B6B73"/>
                </a:solidFill>
              </a:defRPr>
            </a:lvl4pPr>
            <a:lvl5pPr algn="ctr">
              <a:buNone/>
              <a:defRPr sz="1600" b="0">
                <a:solidFill>
                  <a:srgbClr val="6B6B73"/>
                </a:solidFill>
              </a:defRPr>
            </a:lvl5pPr>
            <a:lvl6pPr algn="ctr">
              <a:buNone/>
              <a:defRPr sz="1600" b="0">
                <a:solidFill>
                  <a:srgbClr val="6B6B73"/>
                </a:solidFill>
              </a:defRPr>
            </a:lvl6pPr>
            <a:lvl7pPr algn="ctr">
              <a:buNone/>
              <a:defRPr sz="1600" b="0">
                <a:solidFill>
                  <a:srgbClr val="6B6B73"/>
                </a:solidFill>
              </a:defRPr>
            </a:lvl7pPr>
            <a:lvl8pPr algn="ctr">
              <a:buNone/>
              <a:defRPr sz="1600" b="0">
                <a:solidFill>
                  <a:srgbClr val="6B6B73"/>
                </a:solidFill>
              </a:defRPr>
            </a:lvl8pPr>
            <a:lvl9pPr algn="ctr">
              <a:buNone/>
              <a:defRPr sz="1600" b="0">
                <a:solidFill>
                  <a:srgbClr val="6B6B73"/>
                </a:solidFill>
              </a:defRPr>
            </a:lvl9pPr>
          </a:lstStyle>
          <a:p xmlns:a="http://schemas.openxmlformats.org/drawingml/2006/main">
            <a:pPr algn="ctr">
              <a:buNone/>
              <a:defRPr sz="1600" b="0">
                <a:solidFill>
                  <a:srgbClr val="6B6B73"/>
                </a:solidFill>
              </a:defRPr>
            </a:pPr>
            <a:r>
              <a:rPr sz="1600" b="0">
                <a:solidFill>
                  <a:srgbClr val="6B6B73"/>
                </a:solidFill>
                <a:latin typeface="Arial"/>
                <a:ea typeface="Arial"/>
                <a:cs typeface="Arial"/>
              </a:rPr>
              <a:t>Generic review instructions</a:t>
            </a:r>
          </a:p>
        </p:txBody>
      </p:sp>
      <p:sp>
        <p:nvSpPr>
          <p:cNvPr id="1023" name="Gaps label">
            <a:extLst xmlns:a="http://schemas.openxmlformats.org/drawingml/2006/main">
              <a:ext uri="{FF2B5EF4-FFF2-40B4-BE49-F238E27FC236}">
                <a16:creationId xmlns:a16="http://schemas.microsoft.com/office/drawing/2014/main" id="{4AD19479-1ABE-49E7-8C21-4ACFB28F673E}"/>
              </a:ext>
            </a:extLst>
          </p:cNvPr>
          <p:cNvSpPr>
            <a:spLocks xmlns:a="http://schemas.openxmlformats.org/drawingml/2006/main" noGrp="1"/>
          </p:cNvSpPr>
          <p:nvPr/>
        </p:nvSpPr>
        <p:spPr>
          <a:xfrm xmlns:a="http://schemas.openxmlformats.org/drawingml/2006/main">
            <a:off x="8595360" y="3072384"/>
            <a:ext cx="2788920" cy="4206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5665AE"/>
                </a:solidFill>
              </a:defRPr>
            </a:defPPr>
            <a:lvl1pPr algn="l">
              <a:buNone/>
              <a:defRPr sz="2400" b="1">
                <a:solidFill>
                  <a:srgbClr val="5665AE"/>
                </a:solidFill>
              </a:defRPr>
            </a:lvl1pPr>
            <a:lvl2pPr algn="l">
              <a:buNone/>
              <a:defRPr sz="2400" b="1">
                <a:solidFill>
                  <a:srgbClr val="5665AE"/>
                </a:solidFill>
              </a:defRPr>
            </a:lvl2pPr>
            <a:lvl3pPr algn="l">
              <a:buNone/>
              <a:defRPr sz="2400" b="1">
                <a:solidFill>
                  <a:srgbClr val="5665AE"/>
                </a:solidFill>
              </a:defRPr>
            </a:lvl3pPr>
            <a:lvl4pPr algn="l">
              <a:buNone/>
              <a:defRPr sz="2400" b="1">
                <a:solidFill>
                  <a:srgbClr val="5665AE"/>
                </a:solidFill>
              </a:defRPr>
            </a:lvl4pPr>
            <a:lvl5pPr algn="l">
              <a:buNone/>
              <a:defRPr sz="2400" b="1">
                <a:solidFill>
                  <a:srgbClr val="5665AE"/>
                </a:solidFill>
              </a:defRPr>
            </a:lvl5pPr>
            <a:lvl6pPr algn="l">
              <a:buNone/>
              <a:defRPr sz="2400" b="1">
                <a:solidFill>
                  <a:srgbClr val="5665AE"/>
                </a:solidFill>
              </a:defRPr>
            </a:lvl6pPr>
            <a:lvl7pPr algn="l">
              <a:buNone/>
              <a:defRPr sz="2400" b="1">
                <a:solidFill>
                  <a:srgbClr val="5665AE"/>
                </a:solidFill>
              </a:defRPr>
            </a:lvl7pPr>
            <a:lvl8pPr algn="l">
              <a:buNone/>
              <a:defRPr sz="2400" b="1">
                <a:solidFill>
                  <a:srgbClr val="5665AE"/>
                </a:solidFill>
              </a:defRPr>
            </a:lvl8pPr>
            <a:lvl9pPr algn="l">
              <a:buNone/>
              <a:defRPr sz="2400" b="1">
                <a:solidFill>
                  <a:srgbClr val="5665AE"/>
                </a:solidFill>
              </a:defRPr>
            </a:lvl9pPr>
          </a:lstStyle>
          <a:p xmlns:a="http://schemas.openxmlformats.org/drawingml/2006/main">
            <a:pPr algn="l">
              <a:buNone/>
              <a:defRPr sz="2400" b="1">
                <a:solidFill>
                  <a:srgbClr val="5665AE"/>
                </a:solidFill>
              </a:defRPr>
            </a:pPr>
            <a:r>
              <a:rPr sz="2400" b="1">
                <a:solidFill>
                  <a:srgbClr val="5665AE"/>
                </a:solidFill>
                <a:latin typeface="Arial"/>
                <a:ea typeface="Arial"/>
                <a:cs typeface="Arial"/>
              </a:rPr>
              <a:t>Inspect the gaps</a:t>
            </a:r>
          </a:p>
        </p:txBody>
      </p:sp>
      <p:sp>
        <p:nvSpPr>
          <p:cNvPr id="1024" name="Gaps detail">
            <a:extLst xmlns:a="http://schemas.openxmlformats.org/drawingml/2006/main">
              <a:ext uri="{FF2B5EF4-FFF2-40B4-BE49-F238E27FC236}">
                <a16:creationId xmlns:a16="http://schemas.microsoft.com/office/drawing/2014/main" id="{2B7CD747-DC1A-4C01-B7E4-F04E47086C57}"/>
              </a:ext>
            </a:extLst>
          </p:cNvPr>
          <p:cNvSpPr>
            <a:spLocks xmlns:a="http://schemas.openxmlformats.org/drawingml/2006/main" noGrp="1"/>
          </p:cNvSpPr>
          <p:nvPr/>
        </p:nvSpPr>
        <p:spPr>
          <a:xfrm xmlns:a="http://schemas.openxmlformats.org/drawingml/2006/main">
            <a:off x="8595360" y="3639312"/>
            <a:ext cx="2788920" cy="6949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B6B73"/>
                </a:solidFill>
              </a:defRPr>
            </a:defPPr>
            <a:lvl1pPr algn="l">
              <a:buNone/>
              <a:defRPr sz="1800" b="0">
                <a:solidFill>
                  <a:srgbClr val="6B6B73"/>
                </a:solidFill>
              </a:defRPr>
            </a:lvl1pPr>
            <a:lvl2pPr algn="l">
              <a:buNone/>
              <a:defRPr sz="1800" b="0">
                <a:solidFill>
                  <a:srgbClr val="6B6B73"/>
                </a:solidFill>
              </a:defRPr>
            </a:lvl2pPr>
            <a:lvl3pPr algn="l">
              <a:buNone/>
              <a:defRPr sz="1800" b="0">
                <a:solidFill>
                  <a:srgbClr val="6B6B73"/>
                </a:solidFill>
              </a:defRPr>
            </a:lvl3pPr>
            <a:lvl4pPr algn="l">
              <a:buNone/>
              <a:defRPr sz="1800" b="0">
                <a:solidFill>
                  <a:srgbClr val="6B6B73"/>
                </a:solidFill>
              </a:defRPr>
            </a:lvl4pPr>
            <a:lvl5pPr algn="l">
              <a:buNone/>
              <a:defRPr sz="1800" b="0">
                <a:solidFill>
                  <a:srgbClr val="6B6B73"/>
                </a:solidFill>
              </a:defRPr>
            </a:lvl5pPr>
            <a:lvl6pPr algn="l">
              <a:buNone/>
              <a:defRPr sz="1800" b="0">
                <a:solidFill>
                  <a:srgbClr val="6B6B73"/>
                </a:solidFill>
              </a:defRPr>
            </a:lvl6pPr>
            <a:lvl7pPr algn="l">
              <a:buNone/>
              <a:defRPr sz="1800" b="0">
                <a:solidFill>
                  <a:srgbClr val="6B6B73"/>
                </a:solidFill>
              </a:defRPr>
            </a:lvl7pPr>
            <a:lvl8pPr algn="l">
              <a:buNone/>
              <a:defRPr sz="1800" b="0">
                <a:solidFill>
                  <a:srgbClr val="6B6B73"/>
                </a:solidFill>
              </a:defRPr>
            </a:lvl8pPr>
            <a:lvl9pPr algn="l">
              <a:buNone/>
              <a:defRPr sz="1800" b="0">
                <a:solidFill>
                  <a:srgbClr val="6B6B73"/>
                </a:solidFill>
              </a:defRPr>
            </a:lvl9pPr>
          </a:lstStyle>
          <a:p xmlns:a="http://schemas.openxmlformats.org/drawingml/2006/main">
            <a:pPr algn="l">
              <a:buNone/>
              <a:defRPr sz="1800" b="0">
                <a:solidFill>
                  <a:srgbClr val="6B6B73"/>
                </a:solidFill>
              </a:defRPr>
            </a:pPr>
            <a:r>
              <a:rPr sz="1800" b="0">
                <a:solidFill>
                  <a:srgbClr val="6B6B73"/>
                </a:solidFill>
                <a:latin typeface="Arial"/>
                <a:ea typeface="Arial"/>
                <a:cs typeface="Arial"/>
              </a:rPr>
              <a:t>Caught, Partial</a:t>
            </a:r>
            <a:br>
              <a:rPr sz="1800" b="0">
                <a:solidFill>
                  <a:srgbClr val="6B6B73"/>
                </a:solidFill>
                <a:latin typeface="Arial"/>
                <a:ea typeface="Arial"/>
                <a:cs typeface="Arial"/>
              </a:rPr>
            </a:br>
            <a:r>
              <a:rPr sz="1800" b="0">
                <a:solidFill>
                  <a:srgbClr val="6B6B73"/>
                </a:solidFill>
                <a:latin typeface="Arial"/>
                <a:ea typeface="Arial"/>
                <a:cs typeface="Arial"/>
              </a:rPr>
              <a:t>or Missed</a:t>
            </a:r>
          </a:p>
        </p:txBody>
      </p:sp>
      <p:sp>
        <p:nvSpPr>
          <p:cNvPr id="1025" name="Change label">
            <a:extLst xmlns:a="http://schemas.openxmlformats.org/drawingml/2006/main">
              <a:ext uri="{FF2B5EF4-FFF2-40B4-BE49-F238E27FC236}">
                <a16:creationId xmlns:a16="http://schemas.microsoft.com/office/drawing/2014/main" id="{34F7E7A4-3974-43CA-8A9B-D7CE4F7B1D52}"/>
              </a:ext>
            </a:extLst>
          </p:cNvPr>
          <p:cNvSpPr>
            <a:spLocks xmlns:a="http://schemas.openxmlformats.org/drawingml/2006/main" noGrp="1"/>
          </p:cNvSpPr>
          <p:nvPr/>
        </p:nvSpPr>
        <p:spPr>
          <a:xfrm xmlns:a="http://schemas.openxmlformats.org/drawingml/2006/main">
            <a:off x="4224528" y="5303520"/>
            <a:ext cx="3749040" cy="3931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2400" b="1">
                <a:solidFill>
                  <a:srgbClr val="4C8835"/>
                </a:solidFill>
              </a:defRPr>
            </a:defPPr>
            <a:lvl1pPr algn="ctr">
              <a:buNone/>
              <a:defRPr sz="2400" b="1">
                <a:solidFill>
                  <a:srgbClr val="4C8835"/>
                </a:solidFill>
              </a:defRPr>
            </a:lvl1pPr>
            <a:lvl2pPr algn="ctr">
              <a:buNone/>
              <a:defRPr sz="2400" b="1">
                <a:solidFill>
                  <a:srgbClr val="4C8835"/>
                </a:solidFill>
              </a:defRPr>
            </a:lvl2pPr>
            <a:lvl3pPr algn="ctr">
              <a:buNone/>
              <a:defRPr sz="2400" b="1">
                <a:solidFill>
                  <a:srgbClr val="4C8835"/>
                </a:solidFill>
              </a:defRPr>
            </a:lvl3pPr>
            <a:lvl4pPr algn="ctr">
              <a:buNone/>
              <a:defRPr sz="2400" b="1">
                <a:solidFill>
                  <a:srgbClr val="4C8835"/>
                </a:solidFill>
              </a:defRPr>
            </a:lvl4pPr>
            <a:lvl5pPr algn="ctr">
              <a:buNone/>
              <a:defRPr sz="2400" b="1">
                <a:solidFill>
                  <a:srgbClr val="4C8835"/>
                </a:solidFill>
              </a:defRPr>
            </a:lvl5pPr>
            <a:lvl6pPr algn="ctr">
              <a:buNone/>
              <a:defRPr sz="2400" b="1">
                <a:solidFill>
                  <a:srgbClr val="4C8835"/>
                </a:solidFill>
              </a:defRPr>
            </a:lvl6pPr>
            <a:lvl7pPr algn="ctr">
              <a:buNone/>
              <a:defRPr sz="2400" b="1">
                <a:solidFill>
                  <a:srgbClr val="4C8835"/>
                </a:solidFill>
              </a:defRPr>
            </a:lvl7pPr>
            <a:lvl8pPr algn="ctr">
              <a:buNone/>
              <a:defRPr sz="2400" b="1">
                <a:solidFill>
                  <a:srgbClr val="4C8835"/>
                </a:solidFill>
              </a:defRPr>
            </a:lvl8pPr>
            <a:lvl9pPr algn="ctr">
              <a:buNone/>
              <a:defRPr sz="2400" b="1">
                <a:solidFill>
                  <a:srgbClr val="4C8835"/>
                </a:solidFill>
              </a:defRPr>
            </a:lvl9pPr>
          </a:lstStyle>
          <a:p xmlns:a="http://schemas.openxmlformats.org/drawingml/2006/main">
            <a:pPr algn="ctr">
              <a:buNone/>
              <a:defRPr sz="2400" b="1">
                <a:solidFill>
                  <a:srgbClr val="4C8835"/>
                </a:solidFill>
              </a:defRPr>
            </a:pPr>
            <a:r>
              <a:rPr sz="2400" b="1">
                <a:solidFill>
                  <a:srgbClr val="4C8835"/>
                </a:solidFill>
                <a:latin typeface="Arial"/>
                <a:ea typeface="Arial"/>
                <a:cs typeface="Arial"/>
              </a:rPr>
              <a:t>Choose a change</a:t>
            </a:r>
          </a:p>
        </p:txBody>
      </p:sp>
      <p:sp>
        <p:nvSpPr>
          <p:cNvPr id="1026" name="Change detail">
            <a:extLst xmlns:a="http://schemas.openxmlformats.org/drawingml/2006/main">
              <a:ext uri="{FF2B5EF4-FFF2-40B4-BE49-F238E27FC236}">
                <a16:creationId xmlns:a16="http://schemas.microsoft.com/office/drawing/2014/main" id="{1CCC9C12-80B3-488C-882D-9963FCF775DF}"/>
              </a:ext>
            </a:extLst>
          </p:cNvPr>
          <p:cNvSpPr>
            <a:spLocks xmlns:a="http://schemas.openxmlformats.org/drawingml/2006/main" noGrp="1"/>
          </p:cNvSpPr>
          <p:nvPr/>
        </p:nvSpPr>
        <p:spPr>
          <a:xfrm xmlns:a="http://schemas.openxmlformats.org/drawingml/2006/main">
            <a:off x="4224528" y="5715000"/>
            <a:ext cx="3749040" cy="274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600" b="0">
                <a:solidFill>
                  <a:srgbClr val="6B6B73"/>
                </a:solidFill>
              </a:defRPr>
            </a:defPPr>
            <a:lvl1pPr algn="ctr">
              <a:buNone/>
              <a:defRPr sz="1600" b="0">
                <a:solidFill>
                  <a:srgbClr val="6B6B73"/>
                </a:solidFill>
              </a:defRPr>
            </a:lvl1pPr>
            <a:lvl2pPr algn="ctr">
              <a:buNone/>
              <a:defRPr sz="1600" b="0">
                <a:solidFill>
                  <a:srgbClr val="6B6B73"/>
                </a:solidFill>
              </a:defRPr>
            </a:lvl2pPr>
            <a:lvl3pPr algn="ctr">
              <a:buNone/>
              <a:defRPr sz="1600" b="0">
                <a:solidFill>
                  <a:srgbClr val="6B6B73"/>
                </a:solidFill>
              </a:defRPr>
            </a:lvl3pPr>
            <a:lvl4pPr algn="ctr">
              <a:buNone/>
              <a:defRPr sz="1600" b="0">
                <a:solidFill>
                  <a:srgbClr val="6B6B73"/>
                </a:solidFill>
              </a:defRPr>
            </a:lvl4pPr>
            <a:lvl5pPr algn="ctr">
              <a:buNone/>
              <a:defRPr sz="1600" b="0">
                <a:solidFill>
                  <a:srgbClr val="6B6B73"/>
                </a:solidFill>
              </a:defRPr>
            </a:lvl5pPr>
            <a:lvl6pPr algn="ctr">
              <a:buNone/>
              <a:defRPr sz="1600" b="0">
                <a:solidFill>
                  <a:srgbClr val="6B6B73"/>
                </a:solidFill>
              </a:defRPr>
            </a:lvl6pPr>
            <a:lvl7pPr algn="ctr">
              <a:buNone/>
              <a:defRPr sz="1600" b="0">
                <a:solidFill>
                  <a:srgbClr val="6B6B73"/>
                </a:solidFill>
              </a:defRPr>
            </a:lvl7pPr>
            <a:lvl8pPr algn="ctr">
              <a:buNone/>
              <a:defRPr sz="1600" b="0">
                <a:solidFill>
                  <a:srgbClr val="6B6B73"/>
                </a:solidFill>
              </a:defRPr>
            </a:lvl8pPr>
            <a:lvl9pPr algn="ctr">
              <a:buNone/>
              <a:defRPr sz="1600" b="0">
                <a:solidFill>
                  <a:srgbClr val="6B6B73"/>
                </a:solidFill>
              </a:defRPr>
            </a:lvl9pPr>
          </a:lstStyle>
          <a:p xmlns:a="http://schemas.openxmlformats.org/drawingml/2006/main">
            <a:pPr algn="ctr">
              <a:buNone/>
              <a:defRPr sz="1600" b="0">
                <a:solidFill>
                  <a:srgbClr val="6B6B73"/>
                </a:solidFill>
              </a:defRPr>
            </a:pPr>
            <a:r>
              <a:rPr sz="1600" b="0">
                <a:solidFill>
                  <a:srgbClr val="6B6B73"/>
                </a:solidFill>
                <a:latin typeface="Arial"/>
                <a:ea typeface="Arial"/>
                <a:cs typeface="Arial"/>
              </a:rPr>
              <a:t>Model, context or prompt</a:t>
            </a:r>
          </a:p>
        </p:txBody>
      </p:sp>
      <p:sp>
        <p:nvSpPr>
          <p:cNvPr id="1027" name="Compare label">
            <a:extLst xmlns:a="http://schemas.openxmlformats.org/drawingml/2006/main">
              <a:ext uri="{FF2B5EF4-FFF2-40B4-BE49-F238E27FC236}">
                <a16:creationId xmlns:a16="http://schemas.microsoft.com/office/drawing/2014/main" id="{4E4BF5D6-B993-413A-8983-A9F930DF7C51}"/>
              </a:ext>
            </a:extLst>
          </p:cNvPr>
          <p:cNvSpPr>
            <a:spLocks xmlns:a="http://schemas.openxmlformats.org/drawingml/2006/main" noGrp="1"/>
          </p:cNvSpPr>
          <p:nvPr/>
        </p:nvSpPr>
        <p:spPr>
          <a:xfrm xmlns:a="http://schemas.openxmlformats.org/drawingml/2006/main">
            <a:off x="812902" y="3072384"/>
            <a:ext cx="2788920" cy="4206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2400" b="1">
                <a:solidFill>
                  <a:srgbClr val="0086B6"/>
                </a:solidFill>
              </a:defRPr>
            </a:defPPr>
            <a:lvl1pPr algn="l">
              <a:buNone/>
              <a:defRPr sz="2400" b="1">
                <a:solidFill>
                  <a:srgbClr val="0086B6"/>
                </a:solidFill>
              </a:defRPr>
            </a:lvl1pPr>
            <a:lvl2pPr algn="l">
              <a:buNone/>
              <a:defRPr sz="2400" b="1">
                <a:solidFill>
                  <a:srgbClr val="0086B6"/>
                </a:solidFill>
              </a:defRPr>
            </a:lvl2pPr>
            <a:lvl3pPr algn="l">
              <a:buNone/>
              <a:defRPr sz="2400" b="1">
                <a:solidFill>
                  <a:srgbClr val="0086B6"/>
                </a:solidFill>
              </a:defRPr>
            </a:lvl3pPr>
            <a:lvl4pPr algn="l">
              <a:buNone/>
              <a:defRPr sz="2400" b="1">
                <a:solidFill>
                  <a:srgbClr val="0086B6"/>
                </a:solidFill>
              </a:defRPr>
            </a:lvl4pPr>
            <a:lvl5pPr algn="l">
              <a:buNone/>
              <a:defRPr sz="2400" b="1">
                <a:solidFill>
                  <a:srgbClr val="0086B6"/>
                </a:solidFill>
              </a:defRPr>
            </a:lvl5pPr>
            <a:lvl6pPr algn="l">
              <a:buNone/>
              <a:defRPr sz="2400" b="1">
                <a:solidFill>
                  <a:srgbClr val="0086B6"/>
                </a:solidFill>
              </a:defRPr>
            </a:lvl6pPr>
            <a:lvl7pPr algn="l">
              <a:buNone/>
              <a:defRPr sz="2400" b="1">
                <a:solidFill>
                  <a:srgbClr val="0086B6"/>
                </a:solidFill>
              </a:defRPr>
            </a:lvl7pPr>
            <a:lvl8pPr algn="l">
              <a:buNone/>
              <a:defRPr sz="2400" b="1">
                <a:solidFill>
                  <a:srgbClr val="0086B6"/>
                </a:solidFill>
              </a:defRPr>
            </a:lvl8pPr>
            <a:lvl9pPr algn="l">
              <a:buNone/>
              <a:defRPr sz="2400" b="1">
                <a:solidFill>
                  <a:srgbClr val="0086B6"/>
                </a:solidFill>
              </a:defRPr>
            </a:lvl9pPr>
          </a:lstStyle>
          <a:p xmlns:a="http://schemas.openxmlformats.org/drawingml/2006/main">
            <a:pPr algn="l">
              <a:buNone/>
              <a:defRPr sz="2400" b="1">
                <a:solidFill>
                  <a:srgbClr val="0086B6"/>
                </a:solidFill>
              </a:defRPr>
            </a:pPr>
            <a:r>
              <a:rPr sz="2400" b="1">
                <a:solidFill>
                  <a:srgbClr val="0086B6"/>
                </a:solidFill>
                <a:latin typeface="Arial"/>
                <a:ea typeface="Arial"/>
                <a:cs typeface="Arial"/>
              </a:rPr>
              <a:t>Compare results</a:t>
            </a:r>
          </a:p>
        </p:txBody>
      </p:sp>
      <p:sp>
        <p:nvSpPr>
          <p:cNvPr id="1028" name="Compare detail">
            <a:extLst xmlns:a="http://schemas.openxmlformats.org/drawingml/2006/main">
              <a:ext uri="{FF2B5EF4-FFF2-40B4-BE49-F238E27FC236}">
                <a16:creationId xmlns:a16="http://schemas.microsoft.com/office/drawing/2014/main" id="{43279A03-9C93-4F95-9F2C-C69998738999}"/>
              </a:ext>
            </a:extLst>
          </p:cNvPr>
          <p:cNvSpPr>
            <a:spLocks xmlns:a="http://schemas.openxmlformats.org/drawingml/2006/main" noGrp="1"/>
          </p:cNvSpPr>
          <p:nvPr/>
        </p:nvSpPr>
        <p:spPr>
          <a:xfrm xmlns:a="http://schemas.openxmlformats.org/drawingml/2006/main">
            <a:off x="812902" y="3639312"/>
            <a:ext cx="2788920" cy="6949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0">
                <a:solidFill>
                  <a:srgbClr val="6B6B73"/>
                </a:solidFill>
              </a:defRPr>
            </a:defPPr>
            <a:lvl1pPr algn="l">
              <a:buNone/>
              <a:defRPr sz="1800" b="0">
                <a:solidFill>
                  <a:srgbClr val="6B6B73"/>
                </a:solidFill>
              </a:defRPr>
            </a:lvl1pPr>
            <a:lvl2pPr algn="l">
              <a:buNone/>
              <a:defRPr sz="1800" b="0">
                <a:solidFill>
                  <a:srgbClr val="6B6B73"/>
                </a:solidFill>
              </a:defRPr>
            </a:lvl2pPr>
            <a:lvl3pPr algn="l">
              <a:buNone/>
              <a:defRPr sz="1800" b="0">
                <a:solidFill>
                  <a:srgbClr val="6B6B73"/>
                </a:solidFill>
              </a:defRPr>
            </a:lvl3pPr>
            <a:lvl4pPr algn="l">
              <a:buNone/>
              <a:defRPr sz="1800" b="0">
                <a:solidFill>
                  <a:srgbClr val="6B6B73"/>
                </a:solidFill>
              </a:defRPr>
            </a:lvl4pPr>
            <a:lvl5pPr algn="l">
              <a:buNone/>
              <a:defRPr sz="1800" b="0">
                <a:solidFill>
                  <a:srgbClr val="6B6B73"/>
                </a:solidFill>
              </a:defRPr>
            </a:lvl5pPr>
            <a:lvl6pPr algn="l">
              <a:buNone/>
              <a:defRPr sz="1800" b="0">
                <a:solidFill>
                  <a:srgbClr val="6B6B73"/>
                </a:solidFill>
              </a:defRPr>
            </a:lvl6pPr>
            <a:lvl7pPr algn="l">
              <a:buNone/>
              <a:defRPr sz="1800" b="0">
                <a:solidFill>
                  <a:srgbClr val="6B6B73"/>
                </a:solidFill>
              </a:defRPr>
            </a:lvl7pPr>
            <a:lvl8pPr algn="l">
              <a:buNone/>
              <a:defRPr sz="1800" b="0">
                <a:solidFill>
                  <a:srgbClr val="6B6B73"/>
                </a:solidFill>
              </a:defRPr>
            </a:lvl8pPr>
            <a:lvl9pPr algn="l">
              <a:buNone/>
              <a:defRPr sz="1800" b="0">
                <a:solidFill>
                  <a:srgbClr val="6B6B73"/>
                </a:solidFill>
              </a:defRPr>
            </a:lvl9pPr>
          </a:lstStyle>
          <a:p xmlns:a="http://schemas.openxmlformats.org/drawingml/2006/main">
            <a:pPr algn="l">
              <a:buNone/>
              <a:defRPr sz="1800" b="0">
                <a:solidFill>
                  <a:srgbClr val="6B6B73"/>
                </a:solidFill>
              </a:defRPr>
            </a:pPr>
            <a:r>
              <a:rPr sz="1800" b="0">
                <a:solidFill>
                  <a:srgbClr val="6B6B73"/>
                </a:solidFill>
                <a:latin typeface="Arial"/>
                <a:ea typeface="Arial"/>
                <a:cs typeface="Arial"/>
              </a:rPr>
              <a:t>Retest selected gaps</a:t>
            </a:r>
            <a:br>
              <a:rPr sz="1800" b="0">
                <a:solidFill>
                  <a:srgbClr val="6B6B73"/>
                </a:solidFill>
                <a:latin typeface="Arial"/>
                <a:ea typeface="Arial"/>
                <a:cs typeface="Arial"/>
              </a:rPr>
            </a:br>
            <a:r>
              <a:rPr sz="1800" b="0">
                <a:solidFill>
                  <a:srgbClr val="6B6B73"/>
                </a:solidFill>
                <a:latin typeface="Arial"/>
                <a:ea typeface="Arial"/>
                <a:cs typeface="Arial"/>
              </a:rPr>
              <a:t>Check false alarms</a:t>
            </a:r>
          </a:p>
        </p:txBody>
      </p:sp>
      <p:sp>
        <p:nvSpPr>
          <p:cNvPr id="1029" name="Experiment boundary">
            <a:extLst xmlns:a="http://schemas.openxmlformats.org/drawingml/2006/main">
              <a:ext uri="{FF2B5EF4-FFF2-40B4-BE49-F238E27FC236}">
                <a16:creationId xmlns:a16="http://schemas.microsoft.com/office/drawing/2014/main" id="{AE264E75-4745-4B54-B4F6-B5D68F2A6018}"/>
              </a:ext>
            </a:extLst>
          </p:cNvPr>
          <p:cNvSpPr>
            <a:spLocks xmlns:a="http://schemas.openxmlformats.org/drawingml/2006/main" noGrp="1"/>
          </p:cNvSpPr>
          <p:nvPr/>
        </p:nvSpPr>
        <p:spPr>
          <a:xfrm xmlns:a="http://schemas.openxmlformats.org/drawingml/2006/main">
            <a:off x="812902" y="6062472"/>
            <a:ext cx="9738360" cy="1645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000" b="0">
                <a:solidFill>
                  <a:srgbClr val="6B6B73"/>
                </a:solidFill>
              </a:defRPr>
            </a:defPPr>
            <a:lvl1pPr algn="l">
              <a:buNone/>
              <a:defRPr sz="1000" b="0">
                <a:solidFill>
                  <a:srgbClr val="6B6B73"/>
                </a:solidFill>
              </a:defRPr>
            </a:lvl1pPr>
            <a:lvl2pPr algn="l">
              <a:buNone/>
              <a:defRPr sz="1000" b="0">
                <a:solidFill>
                  <a:srgbClr val="6B6B73"/>
                </a:solidFill>
              </a:defRPr>
            </a:lvl2pPr>
            <a:lvl3pPr algn="l">
              <a:buNone/>
              <a:defRPr sz="1000" b="0">
                <a:solidFill>
                  <a:srgbClr val="6B6B73"/>
                </a:solidFill>
              </a:defRPr>
            </a:lvl3pPr>
            <a:lvl4pPr algn="l">
              <a:buNone/>
              <a:defRPr sz="1000" b="0">
                <a:solidFill>
                  <a:srgbClr val="6B6B73"/>
                </a:solidFill>
              </a:defRPr>
            </a:lvl4pPr>
            <a:lvl5pPr algn="l">
              <a:buNone/>
              <a:defRPr sz="1000" b="0">
                <a:solidFill>
                  <a:srgbClr val="6B6B73"/>
                </a:solidFill>
              </a:defRPr>
            </a:lvl5pPr>
            <a:lvl6pPr algn="l">
              <a:buNone/>
              <a:defRPr sz="1000" b="0">
                <a:solidFill>
                  <a:srgbClr val="6B6B73"/>
                </a:solidFill>
              </a:defRPr>
            </a:lvl6pPr>
            <a:lvl7pPr algn="l">
              <a:buNone/>
              <a:defRPr sz="1000" b="0">
                <a:solidFill>
                  <a:srgbClr val="6B6B73"/>
                </a:solidFill>
              </a:defRPr>
            </a:lvl7pPr>
            <a:lvl8pPr algn="l">
              <a:buNone/>
              <a:defRPr sz="1000" b="0">
                <a:solidFill>
                  <a:srgbClr val="6B6B73"/>
                </a:solidFill>
              </a:defRPr>
            </a:lvl8pPr>
            <a:lvl9pPr algn="l">
              <a:buNone/>
              <a:defRPr sz="1000" b="0">
                <a:solidFill>
                  <a:srgbClr val="6B6B73"/>
                </a:solidFill>
              </a:defRPr>
            </a:lvl9pPr>
          </a:lstStyle>
          <a:p xmlns:a="http://schemas.openxmlformats.org/drawingml/2006/main">
            <a:pPr algn="l">
              <a:buNone/>
              <a:defRPr sz="1000" b="0">
                <a:solidFill>
                  <a:srgbClr val="6B6B73"/>
                </a:solidFill>
              </a:defRPr>
            </a:pPr>
            <a:r>
              <a:rPr sz="1000" b="0">
                <a:solidFill>
                  <a:srgbClr val="6B6B73"/>
                </a:solidFill>
                <a:latin typeface="Arial"/>
                <a:ea typeface="Arial"/>
                <a:cs typeface="Arial"/>
              </a:rPr>
              <a:t>Follow-ups retest selected cases. Separate benign controls now measure false alarms; human check pending.</a:t>
            </a:r>
          </a:p>
        </p:txBody>
      </p:sp>
    </p:spTree>
    <p:extLst>
      <p:ext uri="{BB962C8B-B14F-4D97-AF65-F5344CB8AC3E}">
        <p14:creationId xmlns:p14="http://schemas.microsoft.com/office/powerpoint/2010/main" val="2021841968"/>
      </p:ext>
    </p:extLst>
  </p:cSld>
</p:sld>
</file>

<file path=ppt/slides/slide5.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C87C9A8-2D6F-4D2A-8295-84399BC3A87D}"/>
              </a:ext>
            </a:extLst>
          </p:cNvPr>
          <p:cNvPicPr>
            <a:picLocks xmlns:a="http://schemas.openxmlformats.org/drawingml/2006/main" noChangeAspect="1"/>
          </p:cNvPicPr>
          <p:nvPr/>
        </p:nvPicPr>
        <p:blipFill>
          <a:blip xmlns:r="http://schemas.openxmlformats.org/officeDocument/2006/relationships" xmlns:a="http://schemas.openxmlformats.org/drawingml/2006/main" r:embed="Ra7202ddeb8d04b0c"/>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67B3C436-6F09-4B7A-9C86-A4A7F13D37AB}"/>
              </a:ext>
            </a:extLst>
          </p:cNvPr>
          <p:cNvPicPr>
            <a:picLocks xmlns:a="http://schemas.openxmlformats.org/drawingml/2006/main" noChangeAspect="1"/>
          </p:cNvPicPr>
          <p:nvPr/>
        </p:nvPicPr>
        <p:blipFill>
          <a:blip xmlns:r="http://schemas.openxmlformats.org/officeDocument/2006/relationships" xmlns:a="http://schemas.openxmlformats.org/drawingml/2006/main" r:embed="Ra8feff4afd514754"/>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7" name="title">
            <a:extLst xmlns:a="http://schemas.openxmlformats.org/drawingml/2006/main">
              <a:ext uri="{FF2B5EF4-FFF2-40B4-BE49-F238E27FC236}">
                <a16:creationId xmlns:a16="http://schemas.microsoft.com/office/drawing/2014/main" id="{2320AF71-E46B-4DC6-9DAA-7FD5053F6F46}"/>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Scanner baseline: Snyk finds 6 of 24</a:t>
            </a:r>
          </a:p>
        </p:txBody>
      </p:sp>
      <p:sp>
        <p:nvSpPr>
          <p:cNvPr id="2002" name="subtitle">
            <a:extLst xmlns:a="http://schemas.openxmlformats.org/drawingml/2006/main">
              <a:ext uri="{FF2B5EF4-FFF2-40B4-BE49-F238E27FC236}">
                <a16:creationId xmlns:a16="http://schemas.microsoft.com/office/drawing/2014/main" id="{573616B5-FA05-487A-B5C7-55519D7DE4AE}"/>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Same 24 CVE-linked cases, scanned at their historical revisions.</a:t>
            </a:r>
          </a:p>
        </p:txBody>
      </p:sp>
      <p:sp>
        <p:nvSpPr>
          <p:cNvPr id="2003" name="status">
            <a:extLst xmlns:a="http://schemas.openxmlformats.org/drawingml/2006/main">
              <a:ext uri="{FF2B5EF4-FFF2-40B4-BE49-F238E27FC236}">
                <a16:creationId xmlns:a16="http://schemas.microsoft.com/office/drawing/2014/main" id="{7373F062-6A54-4DD6-89D1-79540B1AC973}"/>
              </a:ext>
            </a:extLst>
          </p:cNvPr>
          <p:cNvSpPr>
            <a:spLocks xmlns:a="http://schemas.openxmlformats.org/drawingml/2006/main" noGrp="1"/>
          </p:cNvSpPr>
          <p:nvPr/>
        </p:nvSpPr>
        <p:spPr>
          <a:xfrm xmlns:a="http://schemas.openxmlformats.org/drawingml/2006/main">
            <a:off x="812864" y="1809750"/>
            <a:ext cx="1000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1">
                <a:solidFill>
                  <a:srgbClr val="666666"/>
                </a:solidFill>
              </a:defRPr>
            </a:defPPr>
            <a:lvl1pPr>
              <a:buNone/>
              <a:defRPr sz="1425" b="1">
                <a:solidFill>
                  <a:srgbClr val="666666"/>
                </a:solidFill>
              </a:defRPr>
            </a:lvl1pPr>
            <a:lvl2pPr>
              <a:buNone/>
              <a:defRPr sz="1425" b="1">
                <a:solidFill>
                  <a:srgbClr val="666666"/>
                </a:solidFill>
              </a:defRPr>
            </a:lvl2pPr>
            <a:lvl3pPr>
              <a:buNone/>
              <a:defRPr sz="1425" b="1">
                <a:solidFill>
                  <a:srgbClr val="666666"/>
                </a:solidFill>
              </a:defRPr>
            </a:lvl3pPr>
            <a:lvl4pPr>
              <a:buNone/>
              <a:defRPr sz="1425" b="1">
                <a:solidFill>
                  <a:srgbClr val="666666"/>
                </a:solidFill>
              </a:defRPr>
            </a:lvl4pPr>
            <a:lvl5pPr>
              <a:buNone/>
              <a:defRPr sz="1425" b="1">
                <a:solidFill>
                  <a:srgbClr val="666666"/>
                </a:solidFill>
              </a:defRPr>
            </a:lvl5pPr>
            <a:lvl6pPr>
              <a:buNone/>
              <a:defRPr sz="1425" b="1">
                <a:solidFill>
                  <a:srgbClr val="666666"/>
                </a:solidFill>
              </a:defRPr>
            </a:lvl6pPr>
            <a:lvl7pPr>
              <a:buNone/>
              <a:defRPr sz="1425" b="1">
                <a:solidFill>
                  <a:srgbClr val="666666"/>
                </a:solidFill>
              </a:defRPr>
            </a:lvl7pPr>
            <a:lvl8pPr>
              <a:buNone/>
              <a:defRPr sz="1425" b="1">
                <a:solidFill>
                  <a:srgbClr val="666666"/>
                </a:solidFill>
              </a:defRPr>
            </a:lvl8pPr>
            <a:lvl9pPr>
              <a:buNone/>
              <a:defRPr sz="1425" b="1">
                <a:solidFill>
                  <a:srgbClr val="666666"/>
                </a:solidFill>
              </a:defRPr>
            </a:lvl9pPr>
          </a:lstStyle>
          <a:p xmlns:a="http://schemas.openxmlformats.org/drawingml/2006/main">
            <a:pPr>
              <a:buNone/>
              <a:defRPr sz="1425" b="1">
                <a:solidFill>
                  <a:srgbClr val="666666"/>
                </a:solidFill>
              </a:defRPr>
            </a:pPr>
            <a:r>
              <a:rPr sz="1425" b="1">
                <a:solidFill>
                  <a:srgbClr val="666666"/>
                </a:solidFill>
              </a:rPr>
              <a:t>One borderline result excluded. </a:t>
            </a:r>
          </a:p>
        </p:txBody>
      </p:sp>
      <p:graphicFrame>
        <p:nvGraphicFramePr>
          <p:cNvPr id="2004" name="Table 2003">
            <a:extLst xmlns:a="http://schemas.openxmlformats.org/drawingml/2006/main">
              <a:ext uri="{FF2B5EF4-FFF2-40B4-BE49-F238E27FC236}">
                <a16:creationId xmlns:a16="http://schemas.microsoft.com/office/drawing/2014/main" id="{086A9A66-A33E-4546-8AB2-0628BF9412EE}"/>
              </a:ext>
            </a:extLst>
          </p:cNvPr>
          <p:cNvGraphicFramePr/>
          <p:nvPr/>
        </p:nvGraphicFramePr>
        <p:xfrm>
          <a:off xmlns:a="http://schemas.openxmlformats.org/drawingml/2006/main" x="812864" y="2143125"/>
          <a:ext xmlns:a="http://schemas.openxmlformats.org/drawingml/2006/main" cx="10001250" cy="3230880"/>
        </p:xfrm>
        <a:graphic xmlns:a="http://schemas.openxmlformats.org/drawingml/2006/main">
          <a:graphicData uri="http://schemas.openxmlformats.org/drawingml/2006/table">
            <a:tbl>
              <a:tblPr/>
              <a:tblGrid>
                <a:gridCol w="5905500"/>
                <a:gridCol w="1238250"/>
                <a:gridCol w="2857500"/>
              </a:tblGrid>
              <a:tr h="542925">
                <a:tc>
                  <a:txBody>
                    <a:bodyPr/>
                    <a:lstStyle/>
                    <a:p>
                      <a:pPr algn="l">
                        <a:buNone/>
                      </a:pPr>
                      <a:r>
                        <a:rPr sz="1500" b="1">
                          <a:solidFill>
                            <a:srgbClr val="FFFFFF"/>
                          </a:solidFill>
                        </a:rPr>
                        <a:t>OWASP Top 10 (2021) category</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500" b="1">
                          <a:solidFill>
                            <a:srgbClr val="FFFFFF"/>
                          </a:solidFill>
                        </a:rPr>
                        <a:t>Cases</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500" b="1">
                          <a:solidFill>
                            <a:srgbClr val="FFFFFF"/>
                          </a:solidFill>
                        </a:rPr>
                        <a:t>Snyk Code</a:t>
                      </a:r>
                    </a:p>
                    <a:p>
                      <a:pPr algn="ctr">
                        <a:buNone/>
                      </a:pPr>
                      <a:r>
                        <a:rPr sz="1500" b="1">
                          <a:solidFill>
                            <a:srgbClr val="FFFFFF"/>
                          </a:solidFill>
                        </a:rPr>
                        <a:t>Clear matches</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4F8734"/>
                    </a:solidFill>
                  </a:tcPr>
                </a:tc>
              </a:tr>
              <a:tr h="426720">
                <a:tc>
                  <a:txBody>
                    <a:bodyPr/>
                    <a:lstStyle/>
                    <a:p>
                      <a:pPr algn="l">
                        <a:buNone/>
                      </a:pPr>
                      <a:r>
                        <a:rPr sz="1500" b="0">
                          <a:solidFill>
                            <a:srgbClr val="303238"/>
                          </a:solidFill>
                        </a:rPr>
                        <a:t>A01  Broken Access Control</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3 of 8</a:t>
                      </a:r>
                      <a:endParaRPr sz="1650" b="0">
                        <a:solidFill>
                          <a:srgbClr val="586250"/>
                        </a:solidFill>
                      </a:endParaRP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1F6ED"/>
                    </a:solidFill>
                  </a:tcPr>
                </a:tc>
              </a:tr>
              <a:tr h="426720">
                <a:tc>
                  <a:txBody>
                    <a:bodyPr/>
                    <a:lstStyle/>
                    <a:p>
                      <a:pPr algn="l">
                        <a:buNone/>
                      </a:pPr>
                      <a:r>
                        <a:rPr sz="1500" b="0">
                          <a:solidFill>
                            <a:srgbClr val="303238"/>
                          </a:solidFill>
                        </a:rPr>
                        <a:t>A03  Injection</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11</a:t>
                      </a:r>
                      <a:endParaRPr sz="1650" b="0">
                        <a:solidFill>
                          <a:srgbClr val="586250"/>
                        </a:solidFill>
                      </a:endParaRP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1F6ED"/>
                    </a:solidFill>
                  </a:tcPr>
                </a:tc>
              </a:tr>
              <a:tr h="426720">
                <a:tc>
                  <a:txBody>
                    <a:bodyPr/>
                    <a:lstStyle/>
                    <a:p>
                      <a:pPr algn="l">
                        <a:buNone/>
                      </a:pPr>
                      <a:r>
                        <a:rPr sz="1500" b="0">
                          <a:solidFill>
                            <a:srgbClr val="303238"/>
                          </a:solidFill>
                        </a:rPr>
                        <a:t>A05  Security Misconfiguration</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endParaRPr sz="1650" b="0">
                        <a:solidFill>
                          <a:srgbClr val="586250"/>
                        </a:solidFill>
                      </a:endParaRP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1F6ED"/>
                    </a:solidFill>
                  </a:tcPr>
                </a:tc>
              </a:tr>
              <a:tr h="542925">
                <a:tc>
                  <a:txBody>
                    <a:bodyPr/>
                    <a:lstStyle/>
                    <a:p>
                      <a:pPr algn="l">
                        <a:buNone/>
                      </a:pPr>
                      <a:r>
                        <a:rPr sz="1500" b="0">
                          <a:solidFill>
                            <a:srgbClr val="303238"/>
                          </a:solidFill>
                        </a:rPr>
                        <a:t>A07  Identification &amp;</a:t>
                      </a:r>
                    </a:p>
                    <a:p>
                      <a:pPr algn="l">
                        <a:buNone/>
                      </a:pPr>
                      <a:r>
                        <a:rPr sz="1500" b="0">
                          <a:solidFill>
                            <a:srgbClr val="303238"/>
                          </a:solidFill>
                        </a:rPr>
                        <a:t>Authentication Failures</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0 of 3</a:t>
                      </a:r>
                      <a:endParaRPr sz="1650" b="0">
                        <a:solidFill>
                          <a:srgbClr val="586250"/>
                        </a:solidFill>
                      </a:endParaRP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1F6ED"/>
                    </a:solidFill>
                  </a:tcPr>
                </a:tc>
              </a:tr>
              <a:tr h="426720">
                <a:tc>
                  <a:txBody>
                    <a:bodyPr/>
                    <a:lstStyle/>
                    <a:p>
                      <a:pPr algn="l">
                        <a:buNone/>
                      </a:pPr>
                      <a:r>
                        <a:rPr sz="1500" b="0">
                          <a:solidFill>
                            <a:srgbClr val="303238"/>
                          </a:solidFill>
                        </a:rPr>
                        <a:t>A10  SSRF</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endParaRPr sz="1650" b="0">
                        <a:solidFill>
                          <a:srgbClr val="586250"/>
                        </a:solidFill>
                      </a:endParaRP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1F6ED"/>
                    </a:solidFill>
                  </a:tcPr>
                </a:tc>
              </a:tr>
              <a:tr h="426720">
                <a:tc>
                  <a:txBody>
                    <a:bodyPr/>
                    <a:lstStyle/>
                    <a:p>
                      <a:pPr algn="l">
                        <a:buNone/>
                      </a:pPr>
                      <a:r>
                        <a:rPr sz="1500" b="1">
                          <a:solidFill>
                            <a:srgbClr val="303238"/>
                          </a:solidFill>
                        </a:rPr>
                        <a:t>Target cases matched</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9F1E3"/>
                    </a:solidFill>
                  </a:tcPr>
                </a:tc>
                <a:tc>
                  <a:txBody>
                    <a:bodyPr/>
                    <a:lstStyle/>
                    <a:p>
                      <a:pPr algn="ctr">
                        <a:buNone/>
                      </a:pPr>
                      <a:r>
                        <a:rPr sz="1650" b="1">
                          <a:solidFill>
                            <a:srgbClr val="303238"/>
                          </a:solidFill>
                        </a:rPr>
                        <a:t>24</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9F1E3"/>
                    </a:solidFill>
                  </a:tcPr>
                </a:tc>
                <a:tc>
                  <a:txBody>
                    <a:bodyPr/>
                    <a:lstStyle/>
                    <a:p>
                      <a:pPr algn="ctr">
                        <a:buNone/>
                      </a:pPr>
                      <a:r>
                        <a:rPr sz="1650" b="1">
                          <a:solidFill>
                            <a:srgbClr val="303238"/>
                          </a:solidFill>
                        </a:rPr>
                        <a:t>6 of 24</a:t>
                      </a:r>
                      <a:endParaRPr sz="1650" b="1">
                        <a:solidFill>
                          <a:srgbClr val="586250"/>
                        </a:solidFill>
                      </a:endParaRP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9F1E3"/>
                    </a:solidFill>
                  </a:tcPr>
                </a:tc>
              </a:tr>
            </a:tbl>
          </a:graphicData>
        </a:graphic>
      </p:graphicFrame>
      <p:sp>
        <p:nvSpPr>
          <p:cNvPr id="2005" name="comparison caveat">
            <a:extLst xmlns:a="http://schemas.openxmlformats.org/drawingml/2006/main">
              <a:ext uri="{FF2B5EF4-FFF2-40B4-BE49-F238E27FC236}">
                <a16:creationId xmlns:a16="http://schemas.microsoft.com/office/drawing/2014/main" id="{B3D8AD4B-DBC5-4EC1-B121-37CC5EDD8EB6}"/>
              </a:ext>
            </a:extLst>
          </p:cNvPr>
          <p:cNvSpPr>
            <a:spLocks xmlns:a="http://schemas.openxmlformats.org/drawingml/2006/main" noGrp="1"/>
          </p:cNvSpPr>
          <p:nvPr/>
        </p:nvSpPr>
        <p:spPr>
          <a:xfrm xmlns:a="http://schemas.openxmlformats.org/drawingml/2006/main">
            <a:off x="812864" y="561975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03238"/>
                </a:solidFill>
              </a:defRPr>
            </a:defPPr>
            <a:lvl1pPr>
              <a:buNone/>
              <a:defRPr sz="1725" b="1">
                <a:solidFill>
                  <a:srgbClr val="303238"/>
                </a:solidFill>
              </a:defRPr>
            </a:lvl1pPr>
            <a:lvl2pPr>
              <a:buNone/>
              <a:defRPr sz="1725" b="1">
                <a:solidFill>
                  <a:srgbClr val="303238"/>
                </a:solidFill>
              </a:defRPr>
            </a:lvl2pPr>
            <a:lvl3pPr>
              <a:buNone/>
              <a:defRPr sz="1725" b="1">
                <a:solidFill>
                  <a:srgbClr val="303238"/>
                </a:solidFill>
              </a:defRPr>
            </a:lvl3pPr>
            <a:lvl4pPr>
              <a:buNone/>
              <a:defRPr sz="1725" b="1">
                <a:solidFill>
                  <a:srgbClr val="303238"/>
                </a:solidFill>
              </a:defRPr>
            </a:lvl4pPr>
            <a:lvl5pPr>
              <a:buNone/>
              <a:defRPr sz="1725" b="1">
                <a:solidFill>
                  <a:srgbClr val="303238"/>
                </a:solidFill>
              </a:defRPr>
            </a:lvl5pPr>
            <a:lvl6pPr>
              <a:buNone/>
              <a:defRPr sz="1725" b="1">
                <a:solidFill>
                  <a:srgbClr val="303238"/>
                </a:solidFill>
              </a:defRPr>
            </a:lvl6pPr>
            <a:lvl7pPr>
              <a:buNone/>
              <a:defRPr sz="1725" b="1">
                <a:solidFill>
                  <a:srgbClr val="303238"/>
                </a:solidFill>
              </a:defRPr>
            </a:lvl7pPr>
            <a:lvl8pPr>
              <a:buNone/>
              <a:defRPr sz="1725" b="1">
                <a:solidFill>
                  <a:srgbClr val="303238"/>
                </a:solidFill>
              </a:defRPr>
            </a:lvl8pPr>
            <a:lvl9pPr>
              <a:buNone/>
              <a:defRPr sz="1725" b="1">
                <a:solidFill>
                  <a:srgbClr val="303238"/>
                </a:solidFill>
              </a:defRPr>
            </a:lvl9pPr>
          </a:lstStyle>
          <a:p xmlns:a="http://schemas.openxmlformats.org/drawingml/2006/main">
            <a:pPr>
              <a:buNone/>
              <a:defRPr sz="1725" b="1">
                <a:solidFill>
                  <a:srgbClr val="303238"/>
                </a:solidFill>
              </a:defRPr>
            </a:pPr>
            <a:r>
              <a:rPr sz="1725" b="1">
                <a:solidFill>
                  <a:srgbClr val="303238"/>
                </a:solidFill>
              </a:rPr>
              <a:t>Current Snyk engine, run after the CVEs were public.</a:t>
            </a:r>
          </a:p>
        </p:txBody>
      </p:sp>
      <p:sp>
        <p:nvSpPr>
          <p:cNvPr id="2006" name="comparison scope">
            <a:extLst xmlns:a="http://schemas.openxmlformats.org/drawingml/2006/main">
              <a:ext uri="{FF2B5EF4-FFF2-40B4-BE49-F238E27FC236}">
                <a16:creationId xmlns:a16="http://schemas.microsoft.com/office/drawing/2014/main" id="{5CB701D8-7A67-472D-AF52-0DFA114CDC32}"/>
              </a:ext>
            </a:extLst>
          </p:cNvPr>
          <p:cNvSpPr>
            <a:spLocks xmlns:a="http://schemas.openxmlformats.org/drawingml/2006/main" noGrp="1"/>
          </p:cNvSpPr>
          <p:nvPr/>
        </p:nvSpPr>
        <p:spPr>
          <a:xfrm xmlns:a="http://schemas.openxmlformats.org/drawingml/2006/main">
            <a:off x="812864" y="5991225"/>
            <a:ext cx="981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303238"/>
                </a:solidFill>
              </a:defRPr>
            </a:defPPr>
            <a:lvl1pPr>
              <a:buNone/>
              <a:defRPr sz="1650" b="0">
                <a:solidFill>
                  <a:srgbClr val="303238"/>
                </a:solidFill>
              </a:defRPr>
            </a:lvl1pPr>
            <a:lvl2pPr>
              <a:buNone/>
              <a:defRPr sz="1650" b="0">
                <a:solidFill>
                  <a:srgbClr val="303238"/>
                </a:solidFill>
              </a:defRPr>
            </a:lvl2pPr>
            <a:lvl3pPr>
              <a:buNone/>
              <a:defRPr sz="1650" b="0">
                <a:solidFill>
                  <a:srgbClr val="303238"/>
                </a:solidFill>
              </a:defRPr>
            </a:lvl3pPr>
            <a:lvl4pPr>
              <a:buNone/>
              <a:defRPr sz="1650" b="0">
                <a:solidFill>
                  <a:srgbClr val="303238"/>
                </a:solidFill>
              </a:defRPr>
            </a:lvl4pPr>
            <a:lvl5pPr>
              <a:buNone/>
              <a:defRPr sz="1650" b="0">
                <a:solidFill>
                  <a:srgbClr val="303238"/>
                </a:solidFill>
              </a:defRPr>
            </a:lvl5pPr>
            <a:lvl6pPr>
              <a:buNone/>
              <a:defRPr sz="1650" b="0">
                <a:solidFill>
                  <a:srgbClr val="303238"/>
                </a:solidFill>
              </a:defRPr>
            </a:lvl6pPr>
            <a:lvl7pPr>
              <a:buNone/>
              <a:defRPr sz="1650" b="0">
                <a:solidFill>
                  <a:srgbClr val="303238"/>
                </a:solidFill>
              </a:defRPr>
            </a:lvl7pPr>
            <a:lvl8pPr>
              <a:buNone/>
              <a:defRPr sz="1650" b="0">
                <a:solidFill>
                  <a:srgbClr val="303238"/>
                </a:solidFill>
              </a:defRPr>
            </a:lvl8pPr>
            <a:lvl9pPr>
              <a:buNone/>
              <a:defRPr sz="1650" b="0">
                <a:solidFill>
                  <a:srgbClr val="303238"/>
                </a:solidFill>
              </a:defRPr>
            </a:lvl9pPr>
          </a:lstStyle>
          <a:p xmlns:a="http://schemas.openxmlformats.org/drawingml/2006/main">
            <a:pPr>
              <a:buNone/>
              <a:defRPr sz="1650" b="0">
                <a:solidFill>
                  <a:srgbClr val="303238"/>
                </a:solidFill>
              </a:defRPr>
            </a:pPr>
            <a:r>
              <a:rPr sz="1650" b="0">
                <a:solidFill>
                  <a:srgbClr val="303238"/>
                </a:solidFill>
              </a:rPr>
              <a:t>Full repository, not time-matched to model cutoffs. This can favor Snyk.</a:t>
            </a:r>
          </a:p>
        </p:txBody>
      </p:sp>
    </p:spTree>
    <p:extLst>
      <p:ext uri="{BB962C8B-B14F-4D97-AF65-F5344CB8AC3E}">
        <p14:creationId xmlns:p14="http://schemas.microsoft.com/office/powerpoint/2010/main" val="557571550"/>
      </p:ext>
    </p:extLst>
  </p:cSld>
</p:sld>
</file>

<file path=ppt/slides/slide6.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EBEF810C-8C0C-48A9-AB33-8C6E26D70221}"/>
              </a:ext>
            </a:extLst>
          </p:cNvPr>
          <p:cNvPicPr>
            <a:picLocks xmlns:a="http://schemas.openxmlformats.org/drawingml/2006/main" noChangeAspect="1"/>
          </p:cNvPicPr>
          <p:nvPr/>
        </p:nvPicPr>
        <p:blipFill>
          <a:blip xmlns:r="http://schemas.openxmlformats.org/officeDocument/2006/relationships" xmlns:a="http://schemas.openxmlformats.org/drawingml/2006/main" r:embed="R768f9966561a4867"/>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6B667569-8E51-463C-956C-46AE799D3FDC}"/>
              </a:ext>
            </a:extLst>
          </p:cNvPr>
          <p:cNvPicPr>
            <a:picLocks xmlns:a="http://schemas.openxmlformats.org/drawingml/2006/main" noChangeAspect="1"/>
          </p:cNvPicPr>
          <p:nvPr/>
        </p:nvPicPr>
        <p:blipFill>
          <a:blip xmlns:r="http://schemas.openxmlformats.org/officeDocument/2006/relationships" xmlns:a="http://schemas.openxmlformats.org/drawingml/2006/main" r:embed="Re43ffc9262484f61"/>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2F62A821-080C-4CAD-AAD3-D99A4BAB5751}"/>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AI review starts with a generic prompt</a:t>
            </a:r>
            <a:endParaRPr sz="3200"/>
          </a:p>
        </p:txBody>
      </p:sp>
      <p:sp>
        <p:nvSpPr>
          <p:cNvPr id="36" name="Text 25">
            <a:extLst xmlns:a="http://schemas.openxmlformats.org/drawingml/2006/main">
              <a:ext uri="{FF2B5EF4-FFF2-40B4-BE49-F238E27FC236}">
                <a16:creationId xmlns:a16="http://schemas.microsoft.com/office/drawing/2014/main" id="{5D9678D3-B41B-4640-9E63-0D4CA92C86C4}"/>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Shared method">
            <a:extLst xmlns:a="http://schemas.openxmlformats.org/drawingml/2006/main">
              <a:ext uri="{FF2B5EF4-FFF2-40B4-BE49-F238E27FC236}">
                <a16:creationId xmlns:a16="http://schemas.microsoft.com/office/drawing/2014/main" id="{0A837953-8979-408D-80DF-D8A10DA7EEAB}"/>
              </a:ext>
            </a:extLst>
          </p:cNvPr>
          <p:cNvSpPr>
            <a:spLocks xmlns:a="http://schemas.openxmlformats.org/drawingml/2006/main" noGrp="1"/>
          </p:cNvSpPr>
          <p:nvPr/>
        </p:nvSpPr>
        <p:spPr>
          <a:xfrm xmlns:a="http://schemas.openxmlformats.org/drawingml/2006/main">
            <a:off x="812902" y="1399032"/>
            <a:ext cx="10561320"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Same code changes and generic instructions. Three reviews per case, for each model.</a:t>
            </a:r>
          </a:p>
        </p:txBody>
      </p:sp>
      <p:sp>
        <p:nvSpPr>
          <p:cNvPr id="1001" name="Step line 0">
            <a:extLst xmlns:a="http://schemas.openxmlformats.org/drawingml/2006/main">
              <a:ext uri="{FF2B5EF4-FFF2-40B4-BE49-F238E27FC236}">
                <a16:creationId xmlns:a16="http://schemas.microsoft.com/office/drawing/2014/main" id="{1AC079D3-7F5D-4AE2-82FD-B981A1BD54B6}"/>
              </a:ext>
            </a:extLst>
          </p:cNvPr>
          <p:cNvSpPr>
            <a:spLocks xmlns:a="http://schemas.openxmlformats.org/drawingml/2006/main" noGrp="1"/>
          </p:cNvSpPr>
          <p:nvPr/>
        </p:nvSpPr>
        <p:spPr>
          <a:xfrm xmlns:a="http://schemas.openxmlformats.org/drawingml/2006/main">
            <a:off x="812902" y="2240280"/>
            <a:ext cx="2157984" cy="50292"/>
          </a:xfrm>
          <a:prstGeom xmlns:a="http://schemas.openxmlformats.org/drawingml/2006/main" prst="rect">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2" name="Step title 0">
            <a:extLst xmlns:a="http://schemas.openxmlformats.org/drawingml/2006/main">
              <a:ext uri="{FF2B5EF4-FFF2-40B4-BE49-F238E27FC236}">
                <a16:creationId xmlns:a16="http://schemas.microsoft.com/office/drawing/2014/main" id="{7C2ABBAA-E658-4C61-81FF-BA3780E68E43}"/>
              </a:ext>
            </a:extLst>
          </p:cNvPr>
          <p:cNvSpPr>
            <a:spLocks xmlns:a="http://schemas.openxmlformats.org/drawingml/2006/main" noGrp="1"/>
          </p:cNvSpPr>
          <p:nvPr/>
        </p:nvSpPr>
        <p:spPr>
          <a:xfrm xmlns:a="http://schemas.openxmlformats.org/drawingml/2006/main">
            <a:off x="812902" y="2523744"/>
            <a:ext cx="2157984" cy="6035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1">
                <a:solidFill>
                  <a:srgbClr val="0086B6"/>
                </a:solidFill>
              </a:defRPr>
            </a:defPPr>
            <a:lvl1pPr>
              <a:buNone/>
              <a:defRPr sz="2000" b="1">
                <a:solidFill>
                  <a:srgbClr val="0086B6"/>
                </a:solidFill>
              </a:defRPr>
            </a:lvl1pPr>
            <a:lvl2pPr>
              <a:buNone/>
              <a:defRPr sz="2000" b="1">
                <a:solidFill>
                  <a:srgbClr val="0086B6"/>
                </a:solidFill>
              </a:defRPr>
            </a:lvl2pPr>
            <a:lvl3pPr>
              <a:buNone/>
              <a:defRPr sz="2000" b="1">
                <a:solidFill>
                  <a:srgbClr val="0086B6"/>
                </a:solidFill>
              </a:defRPr>
            </a:lvl3pPr>
            <a:lvl4pPr>
              <a:buNone/>
              <a:defRPr sz="2000" b="1">
                <a:solidFill>
                  <a:srgbClr val="0086B6"/>
                </a:solidFill>
              </a:defRPr>
            </a:lvl4pPr>
            <a:lvl5pPr>
              <a:buNone/>
              <a:defRPr sz="2000" b="1">
                <a:solidFill>
                  <a:srgbClr val="0086B6"/>
                </a:solidFill>
              </a:defRPr>
            </a:lvl5pPr>
            <a:lvl6pPr>
              <a:buNone/>
              <a:defRPr sz="2000" b="1">
                <a:solidFill>
                  <a:srgbClr val="0086B6"/>
                </a:solidFill>
              </a:defRPr>
            </a:lvl6pPr>
            <a:lvl7pPr>
              <a:buNone/>
              <a:defRPr sz="2000" b="1">
                <a:solidFill>
                  <a:srgbClr val="0086B6"/>
                </a:solidFill>
              </a:defRPr>
            </a:lvl7pPr>
            <a:lvl8pPr>
              <a:buNone/>
              <a:defRPr sz="2000" b="1">
                <a:solidFill>
                  <a:srgbClr val="0086B6"/>
                </a:solidFill>
              </a:defRPr>
            </a:lvl8pPr>
            <a:lvl9pPr>
              <a:buNone/>
              <a:defRPr sz="2000" b="1">
                <a:solidFill>
                  <a:srgbClr val="0086B6"/>
                </a:solidFill>
              </a:defRPr>
            </a:lvl9pPr>
          </a:lstStyle>
          <a:p xmlns:a="http://schemas.openxmlformats.org/drawingml/2006/main">
            <a:pPr>
              <a:buNone/>
              <a:defRPr sz="2000" b="1">
                <a:solidFill>
                  <a:srgbClr val="0086B6"/>
                </a:solidFill>
              </a:defRPr>
            </a:pPr>
            <a:r>
              <a:rPr sz="2000" b="1">
                <a:solidFill>
                  <a:srgbClr val="0086B6"/>
                </a:solidFill>
                <a:latin typeface="Arial"/>
                <a:ea typeface="Arial"/>
                <a:cs typeface="Arial"/>
              </a:rPr>
              <a:t>Selected file diff</a:t>
            </a:r>
          </a:p>
        </p:txBody>
      </p:sp>
      <p:sp>
        <p:nvSpPr>
          <p:cNvPr id="1003" name="Step body 0">
            <a:extLst xmlns:a="http://schemas.openxmlformats.org/drawingml/2006/main">
              <a:ext uri="{FF2B5EF4-FFF2-40B4-BE49-F238E27FC236}">
                <a16:creationId xmlns:a16="http://schemas.microsoft.com/office/drawing/2014/main" id="{E4D223C6-0D57-4427-BC41-7F777F6F6049}"/>
              </a:ext>
            </a:extLst>
          </p:cNvPr>
          <p:cNvSpPr>
            <a:spLocks xmlns:a="http://schemas.openxmlformats.org/drawingml/2006/main" noGrp="1"/>
          </p:cNvSpPr>
          <p:nvPr/>
        </p:nvSpPr>
        <p:spPr>
          <a:xfrm xmlns:a="http://schemas.openxmlformats.org/drawingml/2006/main">
            <a:off x="812902" y="3282696"/>
            <a:ext cx="2157984"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Code changes from a</a:t>
            </a:r>
            <a:br/>
            <a:r>
              <a:rPr sz="1700" b="0">
                <a:solidFill>
                  <a:srgbClr val="33333A"/>
                </a:solidFill>
                <a:latin typeface="Arial"/>
                <a:ea typeface="Arial"/>
                <a:cs typeface="Arial"/>
              </a:rPr>
              <a:t>known vulnerable file</a:t>
            </a:r>
          </a:p>
        </p:txBody>
      </p:sp>
      <p:sp>
        <p:nvSpPr>
          <p:cNvPr id="1004" name="Step arrow 0">
            <a:extLst xmlns:a="http://schemas.openxmlformats.org/drawingml/2006/main">
              <a:ext uri="{FF2B5EF4-FFF2-40B4-BE49-F238E27FC236}">
                <a16:creationId xmlns:a16="http://schemas.microsoft.com/office/drawing/2014/main" id="{1EA45FC1-CD1C-4609-950F-0182BB0C38A6}"/>
              </a:ext>
            </a:extLst>
          </p:cNvPr>
          <p:cNvSpPr>
            <a:spLocks xmlns:a="http://schemas.openxmlformats.org/drawingml/2006/main" noGrp="1"/>
          </p:cNvSpPr>
          <p:nvPr/>
        </p:nvSpPr>
        <p:spPr>
          <a:xfrm xmlns:a="http://schemas.openxmlformats.org/drawingml/2006/main">
            <a:off x="3020072" y="2597214"/>
            <a:ext cx="265176" cy="210312"/>
          </a:xfrm>
          <a:prstGeom xmlns:a="http://schemas.openxmlformats.org/drawingml/2006/main" prst="rightArrow">
            <a:avLst/>
          </a:prstGeom>
          <a:solidFill xmlns:a="http://schemas.openxmlformats.org/drawingml/2006/main">
            <a:srgbClr val="9ABE3C"/>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5" name="Step line 1">
            <a:extLst xmlns:a="http://schemas.openxmlformats.org/drawingml/2006/main">
              <a:ext uri="{FF2B5EF4-FFF2-40B4-BE49-F238E27FC236}">
                <a16:creationId xmlns:a16="http://schemas.microsoft.com/office/drawing/2014/main" id="{3E7DA8BE-C59B-4A3B-B1A7-0B0B43C7F610}"/>
              </a:ext>
            </a:extLst>
          </p:cNvPr>
          <p:cNvSpPr>
            <a:spLocks xmlns:a="http://schemas.openxmlformats.org/drawingml/2006/main" noGrp="1"/>
          </p:cNvSpPr>
          <p:nvPr/>
        </p:nvSpPr>
        <p:spPr>
          <a:xfrm xmlns:a="http://schemas.openxmlformats.org/drawingml/2006/main">
            <a:off x="3456432" y="2240280"/>
            <a:ext cx="2157984" cy="50292"/>
          </a:xfrm>
          <a:prstGeom xmlns:a="http://schemas.openxmlformats.org/drawingml/2006/main" prst="rect">
            <a:avLst/>
          </a:prstGeom>
          <a:solidFill xmlns:a="http://schemas.openxmlformats.org/drawingml/2006/main">
            <a:srgbClr val="4C883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6" name="Step title 1">
            <a:extLst xmlns:a="http://schemas.openxmlformats.org/drawingml/2006/main">
              <a:ext uri="{FF2B5EF4-FFF2-40B4-BE49-F238E27FC236}">
                <a16:creationId xmlns:a16="http://schemas.microsoft.com/office/drawing/2014/main" id="{7A8BBA1C-5A06-4A70-BE93-09AF3E11601C}"/>
              </a:ext>
            </a:extLst>
          </p:cNvPr>
          <p:cNvSpPr>
            <a:spLocks xmlns:a="http://schemas.openxmlformats.org/drawingml/2006/main" noGrp="1"/>
          </p:cNvSpPr>
          <p:nvPr/>
        </p:nvSpPr>
        <p:spPr>
          <a:xfrm xmlns:a="http://schemas.openxmlformats.org/drawingml/2006/main">
            <a:off x="3456432" y="2523744"/>
            <a:ext cx="2157984" cy="6035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1">
                <a:solidFill>
                  <a:srgbClr val="4C8835"/>
                </a:solidFill>
              </a:defRPr>
            </a:defPPr>
            <a:lvl1pPr>
              <a:buNone/>
              <a:defRPr sz="2000" b="1">
                <a:solidFill>
                  <a:srgbClr val="4C8835"/>
                </a:solidFill>
              </a:defRPr>
            </a:lvl1pPr>
            <a:lvl2pPr>
              <a:buNone/>
              <a:defRPr sz="2000" b="1">
                <a:solidFill>
                  <a:srgbClr val="4C8835"/>
                </a:solidFill>
              </a:defRPr>
            </a:lvl2pPr>
            <a:lvl3pPr>
              <a:buNone/>
              <a:defRPr sz="2000" b="1">
                <a:solidFill>
                  <a:srgbClr val="4C8835"/>
                </a:solidFill>
              </a:defRPr>
            </a:lvl3pPr>
            <a:lvl4pPr>
              <a:buNone/>
              <a:defRPr sz="2000" b="1">
                <a:solidFill>
                  <a:srgbClr val="4C8835"/>
                </a:solidFill>
              </a:defRPr>
            </a:lvl4pPr>
            <a:lvl5pPr>
              <a:buNone/>
              <a:defRPr sz="2000" b="1">
                <a:solidFill>
                  <a:srgbClr val="4C8835"/>
                </a:solidFill>
              </a:defRPr>
            </a:lvl5pPr>
            <a:lvl6pPr>
              <a:buNone/>
              <a:defRPr sz="2000" b="1">
                <a:solidFill>
                  <a:srgbClr val="4C8835"/>
                </a:solidFill>
              </a:defRPr>
            </a:lvl6pPr>
            <a:lvl7pPr>
              <a:buNone/>
              <a:defRPr sz="2000" b="1">
                <a:solidFill>
                  <a:srgbClr val="4C8835"/>
                </a:solidFill>
              </a:defRPr>
            </a:lvl7pPr>
            <a:lvl8pPr>
              <a:buNone/>
              <a:defRPr sz="2000" b="1">
                <a:solidFill>
                  <a:srgbClr val="4C8835"/>
                </a:solidFill>
              </a:defRPr>
            </a:lvl8pPr>
            <a:lvl9pPr>
              <a:buNone/>
              <a:defRPr sz="2000" b="1">
                <a:solidFill>
                  <a:srgbClr val="4C8835"/>
                </a:solidFill>
              </a:defRPr>
            </a:lvl9pPr>
          </a:lstStyle>
          <a:p xmlns:a="http://schemas.openxmlformats.org/drawingml/2006/main">
            <a:pPr>
              <a:buNone/>
              <a:defRPr sz="2000" b="1">
                <a:solidFill>
                  <a:srgbClr val="4C8835"/>
                </a:solidFill>
              </a:defRPr>
            </a:pPr>
            <a:r>
              <a:rPr sz="2000" b="1">
                <a:solidFill>
                  <a:srgbClr val="4C8835"/>
                </a:solidFill>
                <a:latin typeface="Arial"/>
                <a:ea typeface="Arial"/>
                <a:cs typeface="Arial"/>
              </a:rPr>
              <a:t>General prompt</a:t>
            </a:r>
          </a:p>
        </p:txBody>
      </p:sp>
      <p:sp>
        <p:nvSpPr>
          <p:cNvPr id="1007" name="Step body 1">
            <a:extLst xmlns:a="http://schemas.openxmlformats.org/drawingml/2006/main">
              <a:ext uri="{FF2B5EF4-FFF2-40B4-BE49-F238E27FC236}">
                <a16:creationId xmlns:a16="http://schemas.microsoft.com/office/drawing/2014/main" id="{F1231A2D-30A6-428B-A760-7D5D2F56ACAA}"/>
              </a:ext>
            </a:extLst>
          </p:cNvPr>
          <p:cNvSpPr>
            <a:spLocks xmlns:a="http://schemas.openxmlformats.org/drawingml/2006/main" noGrp="1"/>
          </p:cNvSpPr>
          <p:nvPr/>
        </p:nvSpPr>
        <p:spPr>
          <a:xfrm xmlns:a="http://schemas.openxmlformats.org/drawingml/2006/main">
            <a:off x="3456432" y="3282696"/>
            <a:ext cx="2157984"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Correctness, security,</a:t>
            </a:r>
            <a:br>
              <a:rPr sz="1700" b="0">
                <a:solidFill>
                  <a:srgbClr val="33333A"/>
                </a:solidFill>
                <a:latin typeface="Arial"/>
                <a:ea typeface="Arial"/>
                <a:cs typeface="Arial"/>
              </a:rPr>
            </a:br>
            <a:r>
              <a:rPr sz="1700" b="0">
                <a:solidFill>
                  <a:srgbClr val="33333A"/>
                </a:solidFill>
                <a:latin typeface="Arial"/>
                <a:ea typeface="Arial"/>
                <a:cs typeface="Arial"/>
              </a:rPr>
              <a:t>reliability, maintainability</a:t>
            </a:r>
          </a:p>
        </p:txBody>
      </p:sp>
      <p:sp>
        <p:nvSpPr>
          <p:cNvPr id="1008" name="Step arrow 1">
            <a:extLst xmlns:a="http://schemas.openxmlformats.org/drawingml/2006/main">
              <a:ext uri="{FF2B5EF4-FFF2-40B4-BE49-F238E27FC236}">
                <a16:creationId xmlns:a16="http://schemas.microsoft.com/office/drawing/2014/main" id="{3F9A49AC-BFEB-43FA-A8C9-93B16BE2107E}"/>
              </a:ext>
            </a:extLst>
          </p:cNvPr>
          <p:cNvSpPr>
            <a:spLocks xmlns:a="http://schemas.openxmlformats.org/drawingml/2006/main" noGrp="1"/>
          </p:cNvSpPr>
          <p:nvPr/>
        </p:nvSpPr>
        <p:spPr>
          <a:xfrm xmlns:a="http://schemas.openxmlformats.org/drawingml/2006/main">
            <a:off x="5663602" y="2597214"/>
            <a:ext cx="265176" cy="210312"/>
          </a:xfrm>
          <a:prstGeom xmlns:a="http://schemas.openxmlformats.org/drawingml/2006/main" prst="rightArrow">
            <a:avLst/>
          </a:prstGeom>
          <a:solidFill xmlns:a="http://schemas.openxmlformats.org/drawingml/2006/main">
            <a:srgbClr val="9ABE3C"/>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9" name="Step line 2">
            <a:extLst xmlns:a="http://schemas.openxmlformats.org/drawingml/2006/main">
              <a:ext uri="{FF2B5EF4-FFF2-40B4-BE49-F238E27FC236}">
                <a16:creationId xmlns:a16="http://schemas.microsoft.com/office/drawing/2014/main" id="{957601EF-6E30-48F0-AF39-8B12B035FC25}"/>
              </a:ext>
            </a:extLst>
          </p:cNvPr>
          <p:cNvSpPr>
            <a:spLocks xmlns:a="http://schemas.openxmlformats.org/drawingml/2006/main" noGrp="1"/>
          </p:cNvSpPr>
          <p:nvPr/>
        </p:nvSpPr>
        <p:spPr>
          <a:xfrm xmlns:a="http://schemas.openxmlformats.org/drawingml/2006/main">
            <a:off x="6099048" y="2240280"/>
            <a:ext cx="2157984" cy="50292"/>
          </a:xfrm>
          <a:prstGeom xmlns:a="http://schemas.openxmlformats.org/drawingml/2006/main" prst="rect">
            <a:avLst/>
          </a:prstGeom>
          <a:solidFill xmlns:a="http://schemas.openxmlformats.org/drawingml/2006/main">
            <a:srgbClr val="5665A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0" name="Step title 2">
            <a:extLst xmlns:a="http://schemas.openxmlformats.org/drawingml/2006/main">
              <a:ext uri="{FF2B5EF4-FFF2-40B4-BE49-F238E27FC236}">
                <a16:creationId xmlns:a16="http://schemas.microsoft.com/office/drawing/2014/main" id="{E34FC092-937A-444D-988C-D767617D4FF4}"/>
              </a:ext>
            </a:extLst>
          </p:cNvPr>
          <p:cNvSpPr>
            <a:spLocks xmlns:a="http://schemas.openxmlformats.org/drawingml/2006/main" noGrp="1"/>
          </p:cNvSpPr>
          <p:nvPr/>
        </p:nvSpPr>
        <p:spPr>
          <a:xfrm xmlns:a="http://schemas.openxmlformats.org/drawingml/2006/main">
            <a:off x="6099048" y="2523744"/>
            <a:ext cx="2157984" cy="6035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1">
                <a:solidFill>
                  <a:srgbClr val="5665AE"/>
                </a:solidFill>
              </a:defRPr>
            </a:defPPr>
            <a:lvl1pPr>
              <a:buNone/>
              <a:defRPr sz="2000" b="1">
                <a:solidFill>
                  <a:srgbClr val="5665AE"/>
                </a:solidFill>
              </a:defRPr>
            </a:lvl1pPr>
            <a:lvl2pPr>
              <a:buNone/>
              <a:defRPr sz="2000" b="1">
                <a:solidFill>
                  <a:srgbClr val="5665AE"/>
                </a:solidFill>
              </a:defRPr>
            </a:lvl2pPr>
            <a:lvl3pPr>
              <a:buNone/>
              <a:defRPr sz="2000" b="1">
                <a:solidFill>
                  <a:srgbClr val="5665AE"/>
                </a:solidFill>
              </a:defRPr>
            </a:lvl3pPr>
            <a:lvl4pPr>
              <a:buNone/>
              <a:defRPr sz="2000" b="1">
                <a:solidFill>
                  <a:srgbClr val="5665AE"/>
                </a:solidFill>
              </a:defRPr>
            </a:lvl4pPr>
            <a:lvl5pPr>
              <a:buNone/>
              <a:defRPr sz="2000" b="1">
                <a:solidFill>
                  <a:srgbClr val="5665AE"/>
                </a:solidFill>
              </a:defRPr>
            </a:lvl5pPr>
            <a:lvl6pPr>
              <a:buNone/>
              <a:defRPr sz="2000" b="1">
                <a:solidFill>
                  <a:srgbClr val="5665AE"/>
                </a:solidFill>
              </a:defRPr>
            </a:lvl6pPr>
            <a:lvl7pPr>
              <a:buNone/>
              <a:defRPr sz="2000" b="1">
                <a:solidFill>
                  <a:srgbClr val="5665AE"/>
                </a:solidFill>
              </a:defRPr>
            </a:lvl7pPr>
            <a:lvl8pPr>
              <a:buNone/>
              <a:defRPr sz="2000" b="1">
                <a:solidFill>
                  <a:srgbClr val="5665AE"/>
                </a:solidFill>
              </a:defRPr>
            </a:lvl8pPr>
            <a:lvl9pPr>
              <a:buNone/>
              <a:defRPr sz="2000" b="1">
                <a:solidFill>
                  <a:srgbClr val="5665AE"/>
                </a:solidFill>
              </a:defRPr>
            </a:lvl9pPr>
          </a:lstStyle>
          <a:p xmlns:a="http://schemas.openxmlformats.org/drawingml/2006/main">
            <a:pPr>
              <a:buNone/>
              <a:defRPr sz="2000" b="1">
                <a:solidFill>
                  <a:srgbClr val="5665AE"/>
                </a:solidFill>
              </a:defRPr>
            </a:pPr>
            <a:r>
              <a:rPr sz="2000" b="1">
                <a:solidFill>
                  <a:srgbClr val="5665AE"/>
                </a:solidFill>
                <a:latin typeface="Arial"/>
                <a:ea typeface="Arial"/>
                <a:cs typeface="Arial"/>
              </a:rPr>
              <a:t>Model response</a:t>
            </a:r>
          </a:p>
        </p:txBody>
      </p:sp>
      <p:sp>
        <p:nvSpPr>
          <p:cNvPr id="1011" name="Step body 2">
            <a:extLst xmlns:a="http://schemas.openxmlformats.org/drawingml/2006/main">
              <a:ext uri="{FF2B5EF4-FFF2-40B4-BE49-F238E27FC236}">
                <a16:creationId xmlns:a16="http://schemas.microsoft.com/office/drawing/2014/main" id="{03EE52D5-49F9-4B2C-A506-1FE20CE8D638}"/>
              </a:ext>
            </a:extLst>
          </p:cNvPr>
          <p:cNvSpPr>
            <a:spLocks xmlns:a="http://schemas.openxmlformats.org/drawingml/2006/main" noGrp="1"/>
          </p:cNvSpPr>
          <p:nvPr/>
        </p:nvSpPr>
        <p:spPr>
          <a:xfrm xmlns:a="http://schemas.openxmlformats.org/drawingml/2006/main">
            <a:off x="6099048" y="3282696"/>
            <a:ext cx="2157984"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Haiku 4.5 or</a:t>
            </a:r>
            <a:br>
              <a:rPr sz="1700" b="0">
                <a:solidFill>
                  <a:srgbClr val="33333A"/>
                </a:solidFill>
                <a:latin typeface="Arial"/>
                <a:ea typeface="Arial"/>
                <a:cs typeface="Arial"/>
              </a:rPr>
            </a:br>
            <a:r>
              <a:rPr sz="1700" b="0">
                <a:solidFill>
                  <a:srgbClr val="33333A"/>
                </a:solidFill>
                <a:latin typeface="Arial"/>
                <a:ea typeface="Arial"/>
                <a:cs typeface="Arial"/>
              </a:rPr>
              <a:t>Sonnet 5</a:t>
            </a:r>
          </a:p>
        </p:txBody>
      </p:sp>
      <p:sp>
        <p:nvSpPr>
          <p:cNvPr id="1012" name="Step arrow 2">
            <a:extLst xmlns:a="http://schemas.openxmlformats.org/drawingml/2006/main">
              <a:ext uri="{FF2B5EF4-FFF2-40B4-BE49-F238E27FC236}">
                <a16:creationId xmlns:a16="http://schemas.microsoft.com/office/drawing/2014/main" id="{8F2BA200-C43D-41DA-85FD-C08A8DBCFEF9}"/>
              </a:ext>
            </a:extLst>
          </p:cNvPr>
          <p:cNvSpPr>
            <a:spLocks xmlns:a="http://schemas.openxmlformats.org/drawingml/2006/main" noGrp="1"/>
          </p:cNvSpPr>
          <p:nvPr/>
        </p:nvSpPr>
        <p:spPr>
          <a:xfrm xmlns:a="http://schemas.openxmlformats.org/drawingml/2006/main">
            <a:off x="8306218" y="2597214"/>
            <a:ext cx="265176" cy="210312"/>
          </a:xfrm>
          <a:prstGeom xmlns:a="http://schemas.openxmlformats.org/drawingml/2006/main" prst="rightArrow">
            <a:avLst/>
          </a:prstGeom>
          <a:solidFill xmlns:a="http://schemas.openxmlformats.org/drawingml/2006/main">
            <a:srgbClr val="9ABE3C"/>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3" name="Step line 3">
            <a:extLst xmlns:a="http://schemas.openxmlformats.org/drawingml/2006/main">
              <a:ext uri="{FF2B5EF4-FFF2-40B4-BE49-F238E27FC236}">
                <a16:creationId xmlns:a16="http://schemas.microsoft.com/office/drawing/2014/main" id="{DA30ACF1-3FD3-492C-AC90-A133078E89E3}"/>
              </a:ext>
            </a:extLst>
          </p:cNvPr>
          <p:cNvSpPr>
            <a:spLocks xmlns:a="http://schemas.openxmlformats.org/drawingml/2006/main" noGrp="1"/>
          </p:cNvSpPr>
          <p:nvPr/>
        </p:nvSpPr>
        <p:spPr>
          <a:xfrm xmlns:a="http://schemas.openxmlformats.org/drawingml/2006/main">
            <a:off x="8741664" y="2240280"/>
            <a:ext cx="2633472" cy="50292"/>
          </a:xfrm>
          <a:prstGeom xmlns:a="http://schemas.openxmlformats.org/drawingml/2006/main" prst="rect">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4" name="Step title 3">
            <a:extLst xmlns:a="http://schemas.openxmlformats.org/drawingml/2006/main">
              <a:ext uri="{FF2B5EF4-FFF2-40B4-BE49-F238E27FC236}">
                <a16:creationId xmlns:a16="http://schemas.microsoft.com/office/drawing/2014/main" id="{C7D1200A-ED91-4FF2-97EB-1EF207B3A9A5}"/>
              </a:ext>
            </a:extLst>
          </p:cNvPr>
          <p:cNvSpPr>
            <a:spLocks xmlns:a="http://schemas.openxmlformats.org/drawingml/2006/main" noGrp="1"/>
          </p:cNvSpPr>
          <p:nvPr/>
        </p:nvSpPr>
        <p:spPr>
          <a:xfrm xmlns:a="http://schemas.openxmlformats.org/drawingml/2006/main">
            <a:off x="8741664" y="2523744"/>
            <a:ext cx="2633472" cy="6035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1">
                <a:solidFill>
                  <a:srgbClr val="0086B6"/>
                </a:solidFill>
              </a:defRPr>
            </a:defPPr>
            <a:lvl1pPr>
              <a:buNone/>
              <a:defRPr sz="2000" b="1">
                <a:solidFill>
                  <a:srgbClr val="0086B6"/>
                </a:solidFill>
              </a:defRPr>
            </a:lvl1pPr>
            <a:lvl2pPr>
              <a:buNone/>
              <a:defRPr sz="2000" b="1">
                <a:solidFill>
                  <a:srgbClr val="0086B6"/>
                </a:solidFill>
              </a:defRPr>
            </a:lvl2pPr>
            <a:lvl3pPr>
              <a:buNone/>
              <a:defRPr sz="2000" b="1">
                <a:solidFill>
                  <a:srgbClr val="0086B6"/>
                </a:solidFill>
              </a:defRPr>
            </a:lvl3pPr>
            <a:lvl4pPr>
              <a:buNone/>
              <a:defRPr sz="2000" b="1">
                <a:solidFill>
                  <a:srgbClr val="0086B6"/>
                </a:solidFill>
              </a:defRPr>
            </a:lvl4pPr>
            <a:lvl5pPr>
              <a:buNone/>
              <a:defRPr sz="2000" b="1">
                <a:solidFill>
                  <a:srgbClr val="0086B6"/>
                </a:solidFill>
              </a:defRPr>
            </a:lvl5pPr>
            <a:lvl6pPr>
              <a:buNone/>
              <a:defRPr sz="2000" b="1">
                <a:solidFill>
                  <a:srgbClr val="0086B6"/>
                </a:solidFill>
              </a:defRPr>
            </a:lvl6pPr>
            <a:lvl7pPr>
              <a:buNone/>
              <a:defRPr sz="2000" b="1">
                <a:solidFill>
                  <a:srgbClr val="0086B6"/>
                </a:solidFill>
              </a:defRPr>
            </a:lvl7pPr>
            <a:lvl8pPr>
              <a:buNone/>
              <a:defRPr sz="2000" b="1">
                <a:solidFill>
                  <a:srgbClr val="0086B6"/>
                </a:solidFill>
              </a:defRPr>
            </a:lvl8pPr>
            <a:lvl9pPr>
              <a:buNone/>
              <a:defRPr sz="2000" b="1">
                <a:solidFill>
                  <a:srgbClr val="0086B6"/>
                </a:solidFill>
              </a:defRPr>
            </a:lvl9pPr>
          </a:lstStyle>
          <a:p xmlns:a="http://schemas.openxmlformats.org/drawingml/2006/main">
            <a:pPr>
              <a:buNone/>
              <a:defRPr sz="2000" b="1">
                <a:solidFill>
                  <a:srgbClr val="0086B6"/>
                </a:solidFill>
              </a:defRPr>
            </a:pPr>
            <a:r>
              <a:rPr sz="2000" b="1">
                <a:solidFill>
                  <a:srgbClr val="0086B6"/>
                </a:solidFill>
                <a:latin typeface="Arial"/>
                <a:ea typeface="Arial"/>
                <a:cs typeface="Arial"/>
              </a:rPr>
              <a:t>Score the finding</a:t>
            </a:r>
          </a:p>
        </p:txBody>
      </p:sp>
      <p:sp>
        <p:nvSpPr>
          <p:cNvPr id="1015" name="Step body 3">
            <a:extLst xmlns:a="http://schemas.openxmlformats.org/drawingml/2006/main">
              <a:ext uri="{FF2B5EF4-FFF2-40B4-BE49-F238E27FC236}">
                <a16:creationId xmlns:a16="http://schemas.microsoft.com/office/drawing/2014/main" id="{BC8EDAEB-E581-4188-8329-29D842ACFD24}"/>
              </a:ext>
            </a:extLst>
          </p:cNvPr>
          <p:cNvSpPr>
            <a:spLocks xmlns:a="http://schemas.openxmlformats.org/drawingml/2006/main" noGrp="1"/>
          </p:cNvSpPr>
          <p:nvPr/>
        </p:nvSpPr>
        <p:spPr>
          <a:xfrm xmlns:a="http://schemas.openxmlformats.org/drawingml/2006/main">
            <a:off x="8741664" y="3282696"/>
            <a:ext cx="2633472"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Compare the response</a:t>
            </a:r>
            <a:br>
              <a:rPr sz="1700" b="0">
                <a:solidFill>
                  <a:srgbClr val="33333A"/>
                </a:solidFill>
                <a:latin typeface="Arial"/>
                <a:ea typeface="Arial"/>
                <a:cs typeface="Arial"/>
              </a:rPr>
            </a:br>
            <a:r>
              <a:rPr sz="1700" b="0">
                <a:solidFill>
                  <a:srgbClr val="33333A"/>
                </a:solidFill>
                <a:latin typeface="Arial"/>
                <a:ea typeface="Arial"/>
                <a:cs typeface="Arial"/>
              </a:rPr>
              <a:t>with the known flaw</a:t>
            </a:r>
          </a:p>
        </p:txBody>
      </p:sp>
      <p:sp>
        <p:nvSpPr>
          <p:cNvPr id="1016" name="Review brief">
            <a:extLst xmlns:a="http://schemas.openxmlformats.org/drawingml/2006/main">
              <a:ext uri="{FF2B5EF4-FFF2-40B4-BE49-F238E27FC236}">
                <a16:creationId xmlns:a16="http://schemas.microsoft.com/office/drawing/2014/main" id="{9DF17875-4F61-4ED4-AA5B-0BBAE8D6C13B}"/>
              </a:ext>
            </a:extLst>
          </p:cNvPr>
          <p:cNvSpPr>
            <a:spLocks xmlns:a="http://schemas.openxmlformats.org/drawingml/2006/main" noGrp="1"/>
          </p:cNvSpPr>
          <p:nvPr/>
        </p:nvSpPr>
        <p:spPr>
          <a:xfrm xmlns:a="http://schemas.openxmlformats.org/drawingml/2006/main">
            <a:off x="812902" y="4562856"/>
            <a:ext cx="10561320" cy="941832"/>
          </a:xfrm>
          <a:prstGeom xmlns:a="http://schemas.openxmlformats.org/drawingml/2006/main" prst="rect">
            <a:avLst/>
          </a:prstGeom>
          <a:solidFill xmlns:a="http://schemas.openxmlformats.org/drawingml/2006/main">
            <a:srgbClr val="F3F6F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7" name="Brief label">
            <a:extLst xmlns:a="http://schemas.openxmlformats.org/drawingml/2006/main">
              <a:ext uri="{FF2B5EF4-FFF2-40B4-BE49-F238E27FC236}">
                <a16:creationId xmlns:a16="http://schemas.microsoft.com/office/drawing/2014/main" id="{97589D0F-429E-4717-9A4A-7F83C6CE7018}"/>
              </a:ext>
            </a:extLst>
          </p:cNvPr>
          <p:cNvSpPr>
            <a:spLocks xmlns:a="http://schemas.openxmlformats.org/drawingml/2006/main" noGrp="1"/>
          </p:cNvSpPr>
          <p:nvPr/>
        </p:nvSpPr>
        <p:spPr>
          <a:xfrm xmlns:a="http://schemas.openxmlformats.org/drawingml/2006/main">
            <a:off x="1005840" y="4700016"/>
            <a:ext cx="9966960" cy="246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4C8835"/>
                </a:solidFill>
              </a:defRPr>
            </a:defPPr>
            <a:lvl1pPr>
              <a:buNone/>
              <a:defRPr sz="1200" b="1">
                <a:solidFill>
                  <a:srgbClr val="4C8835"/>
                </a:solidFill>
              </a:defRPr>
            </a:lvl1pPr>
            <a:lvl2pPr>
              <a:buNone/>
              <a:defRPr sz="1200" b="1">
                <a:solidFill>
                  <a:srgbClr val="4C8835"/>
                </a:solidFill>
              </a:defRPr>
            </a:lvl2pPr>
            <a:lvl3pPr>
              <a:buNone/>
              <a:defRPr sz="1200" b="1">
                <a:solidFill>
                  <a:srgbClr val="4C8835"/>
                </a:solidFill>
              </a:defRPr>
            </a:lvl3pPr>
            <a:lvl4pPr>
              <a:buNone/>
              <a:defRPr sz="1200" b="1">
                <a:solidFill>
                  <a:srgbClr val="4C8835"/>
                </a:solidFill>
              </a:defRPr>
            </a:lvl4pPr>
            <a:lvl5pPr>
              <a:buNone/>
              <a:defRPr sz="1200" b="1">
                <a:solidFill>
                  <a:srgbClr val="4C8835"/>
                </a:solidFill>
              </a:defRPr>
            </a:lvl5pPr>
            <a:lvl6pPr>
              <a:buNone/>
              <a:defRPr sz="1200" b="1">
                <a:solidFill>
                  <a:srgbClr val="4C8835"/>
                </a:solidFill>
              </a:defRPr>
            </a:lvl6pPr>
            <a:lvl7pPr>
              <a:buNone/>
              <a:defRPr sz="1200" b="1">
                <a:solidFill>
                  <a:srgbClr val="4C8835"/>
                </a:solidFill>
              </a:defRPr>
            </a:lvl7pPr>
            <a:lvl8pPr>
              <a:buNone/>
              <a:defRPr sz="1200" b="1">
                <a:solidFill>
                  <a:srgbClr val="4C8835"/>
                </a:solidFill>
              </a:defRPr>
            </a:lvl8pPr>
            <a:lvl9pPr>
              <a:buNone/>
              <a:defRPr sz="1200" b="1">
                <a:solidFill>
                  <a:srgbClr val="4C8835"/>
                </a:solidFill>
              </a:defRPr>
            </a:lvl9pPr>
          </a:lstStyle>
          <a:p xmlns:a="http://schemas.openxmlformats.org/drawingml/2006/main">
            <a:pPr>
              <a:buNone/>
              <a:defRPr sz="1200" b="1">
                <a:solidFill>
                  <a:srgbClr val="4C8835"/>
                </a:solidFill>
              </a:defRPr>
            </a:pPr>
            <a:r>
              <a:rPr sz="1200" b="1">
                <a:solidFill>
                  <a:srgbClr val="4C8835"/>
                </a:solidFill>
                <a:latin typeface="Arial"/>
                <a:ea typeface="Arial"/>
                <a:cs typeface="Arial"/>
              </a:rPr>
              <a:t>GENERAL REVIEW BRIEF, SUMMARIZED</a:t>
            </a:r>
          </a:p>
        </p:txBody>
      </p:sp>
      <p:sp>
        <p:nvSpPr>
          <p:cNvPr id="1018" name="Brief text">
            <a:extLst xmlns:a="http://schemas.openxmlformats.org/drawingml/2006/main">
              <a:ext uri="{FF2B5EF4-FFF2-40B4-BE49-F238E27FC236}">
                <a16:creationId xmlns:a16="http://schemas.microsoft.com/office/drawing/2014/main" id="{FDF9E5EB-FF2F-4CF1-8BC1-6A9E5BF03F19}"/>
              </a:ext>
            </a:extLst>
          </p:cNvPr>
          <p:cNvSpPr>
            <a:spLocks xmlns:a="http://schemas.openxmlformats.org/drawingml/2006/main" noGrp="1"/>
          </p:cNvSpPr>
          <p:nvPr/>
        </p:nvSpPr>
        <p:spPr>
          <a:xfrm xmlns:a="http://schemas.openxmlformats.org/drawingml/2006/main">
            <a:off x="1005840" y="5056632"/>
            <a:ext cx="9966960" cy="32918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33333A"/>
                </a:solidFill>
              </a:defRPr>
            </a:defPPr>
            <a:lvl1pPr>
              <a:buNone/>
              <a:defRPr sz="2000" b="0">
                <a:solidFill>
                  <a:srgbClr val="33333A"/>
                </a:solidFill>
              </a:defRPr>
            </a:lvl1pPr>
            <a:lvl2pPr>
              <a:buNone/>
              <a:defRPr sz="2000" b="0">
                <a:solidFill>
                  <a:srgbClr val="33333A"/>
                </a:solidFill>
              </a:defRPr>
            </a:lvl2pPr>
            <a:lvl3pPr>
              <a:buNone/>
              <a:defRPr sz="2000" b="0">
                <a:solidFill>
                  <a:srgbClr val="33333A"/>
                </a:solidFill>
              </a:defRPr>
            </a:lvl3pPr>
            <a:lvl4pPr>
              <a:buNone/>
              <a:defRPr sz="2000" b="0">
                <a:solidFill>
                  <a:srgbClr val="33333A"/>
                </a:solidFill>
              </a:defRPr>
            </a:lvl4pPr>
            <a:lvl5pPr>
              <a:buNone/>
              <a:defRPr sz="2000" b="0">
                <a:solidFill>
                  <a:srgbClr val="33333A"/>
                </a:solidFill>
              </a:defRPr>
            </a:lvl5pPr>
            <a:lvl6pPr>
              <a:buNone/>
              <a:defRPr sz="2000" b="0">
                <a:solidFill>
                  <a:srgbClr val="33333A"/>
                </a:solidFill>
              </a:defRPr>
            </a:lvl6pPr>
            <a:lvl7pPr>
              <a:buNone/>
              <a:defRPr sz="2000" b="0">
                <a:solidFill>
                  <a:srgbClr val="33333A"/>
                </a:solidFill>
              </a:defRPr>
            </a:lvl7pPr>
            <a:lvl8pPr>
              <a:buNone/>
              <a:defRPr sz="2000" b="0">
                <a:solidFill>
                  <a:srgbClr val="33333A"/>
                </a:solidFill>
              </a:defRPr>
            </a:lvl8pPr>
            <a:lvl9pPr>
              <a:buNone/>
              <a:defRPr sz="2000" b="0">
                <a:solidFill>
                  <a:srgbClr val="33333A"/>
                </a:solidFill>
              </a:defRPr>
            </a:lvl9pPr>
          </a:lstStyle>
          <a:p xmlns:a="http://schemas.openxmlformats.org/drawingml/2006/main">
            <a:pPr>
              <a:buNone/>
              <a:defRPr sz="2000" b="0">
                <a:solidFill>
                  <a:srgbClr val="33333A"/>
                </a:solidFill>
              </a:defRPr>
            </a:pPr>
            <a:r>
              <a:rPr sz="2000" b="0">
                <a:solidFill>
                  <a:srgbClr val="33333A"/>
                </a:solidFill>
                <a:latin typeface="Arial"/>
                <a:ea typeface="Arial"/>
                <a:cs typeface="Arial"/>
              </a:rPr>
              <a:t>Report issues before merge. Give the location, problem and severity.</a:t>
            </a:r>
          </a:p>
        </p:txBody>
      </p:sp>
    </p:spTree>
    <p:extLst>
      <p:ext uri="{BB962C8B-B14F-4D97-AF65-F5344CB8AC3E}">
        <p14:creationId xmlns:p14="http://schemas.microsoft.com/office/powerpoint/2010/main" val="29390159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977D38BA-8B1C-29EE-18F5-EB8745B546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i="1"/>
              <a:t>Which bug class do you trust AI review least to catch?</a:t>
            </a:r>
            <a:endParaRPr/>
          </a:p>
        </p:txBody>
      </p:sp>
      <p:sp>
        <p:nvSpPr>
          <p:cNvPr id="9" name="Text Placeholder 8">
            <a:extLst xmlns:a="http://schemas.openxmlformats.org/drawingml/2006/main">
              <a:ext uri="{FF2B5EF4-FFF2-40B4-BE49-F238E27FC236}">
                <a16:creationId xmlns:a16="http://schemas.microsoft.com/office/drawing/2014/main" id="{6F89AE2F-0AC5-364E-9460-D2A2B0F05E26}"/>
              </a:ext>
            </a:extLst>
          </p:cNvPr>
          <p:cNvSpPr>
            <a:spLocks xmlns:a="http://schemas.openxmlformats.org/drawingml/2006/main" noGrp="1"/>
          </p:cNvSpPr>
          <p:nvPr>
            <p:ph type="body" idx="10"/>
          </p:nvPr>
        </p:nvSpPr>
        <p:spPr/>
        <p:txBody>
          <a:bodyPr xmlns:a="http://schemas.openxmlformats.org/drawingml/2006/main"/>
          <a:lstStyle xmlns:a="http://schemas.openxmlformats.org/drawingml/2006/main"/>
          <a:p xmlns:a="http://schemas.openxmlformats.org/drawingml/2006/main">
            <a:r>
              <a:t>Broken access control </a:t>
            </a:r>
          </a:p>
          <a:p xmlns:a="http://schemas.openxmlformats.org/drawingml/2006/main">
            <a:r>
              <a:t>Injection (SQL, XSS) </a:t>
            </a:r>
          </a:p>
          <a:p xmlns:a="http://schemas.openxmlformats.org/drawingml/2006/main">
            <a:r>
              <a:t>Misconfiguration and exposed secrets</a:t>
            </a:r>
          </a:p>
          <a:p xmlns:a="http://schemas.openxmlformats.org/drawingml/2006/main">
            <a:r>
              <a:t>Authentication failures</a:t>
            </a:r>
          </a:p>
          <a:p xmlns:a="http://schemas.openxmlformats.org/drawingml/2006/main">
            <a:r>
              <a:t>Server-side request forgery (SSRF) </a:t>
            </a:r>
          </a:p>
          <a:p xmlns:a="http://schemas.openxmlformats.org/drawingml/2006/main">
            <a:r>
              <a:t>I don’t know</a:t>
            </a:r>
          </a:p>
          <a:p xmlns:a="http://schemas.openxmlformats.org/drawingml/2006/main">
            <a:endParaRPr/>
          </a:p>
        </p:txBody>
      </p:sp>
    </p:spTree>
    <p:extLst>
      <p:ext uri="{BB962C8B-B14F-4D97-AF65-F5344CB8AC3E}">
        <p14:creationId xmlns:p14="http://schemas.microsoft.com/office/powerpoint/2010/main" val="1175108096"/>
      </p:ext>
    </p:extLst>
  </p:cSld>
</p:sld>
</file>

<file path=ppt/slides/slide8.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80E018CE-7B31-4806-A059-30062B3D5AD8}"/>
              </a:ext>
            </a:extLst>
          </p:cNvPr>
          <p:cNvPicPr>
            <a:picLocks xmlns:a="http://schemas.openxmlformats.org/drawingml/2006/main" noChangeAspect="1"/>
          </p:cNvPicPr>
          <p:nvPr/>
        </p:nvPicPr>
        <p:blipFill>
          <a:blip xmlns:r="http://schemas.openxmlformats.org/officeDocument/2006/relationships" xmlns:a="http://schemas.openxmlformats.org/drawingml/2006/main" r:embed="R1c556699b8014a7d"/>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B91D14CE-5FAF-4CEC-B81D-360C5DF72032}"/>
              </a:ext>
            </a:extLst>
          </p:cNvPr>
          <p:cNvPicPr>
            <a:picLocks xmlns:a="http://schemas.openxmlformats.org/drawingml/2006/main" noChangeAspect="1"/>
          </p:cNvPicPr>
          <p:nvPr/>
        </p:nvPicPr>
        <p:blipFill>
          <a:blip xmlns:r="http://schemas.openxmlformats.org/officeDocument/2006/relationships" xmlns:a="http://schemas.openxmlformats.org/drawingml/2006/main" r:embed="R4a41f0c73ecb4c51"/>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9" name="title">
            <a:extLst xmlns:a="http://schemas.openxmlformats.org/drawingml/2006/main">
              <a:ext uri="{FF2B5EF4-FFF2-40B4-BE49-F238E27FC236}">
                <a16:creationId xmlns:a16="http://schemas.microsoft.com/office/drawing/2014/main" id="{98AABC80-F55A-4580-BA6B-782940BD9FF0}"/>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Round 1: Haiku catches 8 of 24</a:t>
            </a:r>
          </a:p>
        </p:txBody>
      </p:sp>
      <p:sp>
        <p:nvSpPr>
          <p:cNvPr id="2002" name="subtitle">
            <a:extLst xmlns:a="http://schemas.openxmlformats.org/drawingml/2006/main">
              <a:ext uri="{FF2B5EF4-FFF2-40B4-BE49-F238E27FC236}">
                <a16:creationId xmlns:a16="http://schemas.microsoft.com/office/drawing/2014/main" id="{5B9B5B0F-720A-4550-8898-BB88F09BFB64}"/>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Fully caught cases by OWASP Top 10 category</a:t>
            </a:r>
          </a:p>
        </p:txBody>
      </p:sp>
      <p:sp>
        <p:nvSpPr>
          <p:cNvPr id="2003" name="original group">
            <a:extLst xmlns:a="http://schemas.openxmlformats.org/drawingml/2006/main">
              <a:ext uri="{FF2B5EF4-FFF2-40B4-BE49-F238E27FC236}">
                <a16:creationId xmlns:a16="http://schemas.microsoft.com/office/drawing/2014/main" id="{02996521-286A-4E62-824F-68414059E832}"/>
              </a:ext>
            </a:extLst>
          </p:cNvPr>
          <p:cNvSpPr>
            <a:spLocks xmlns:a="http://schemas.openxmlformats.org/drawingml/2006/main" noGrp="1"/>
          </p:cNvSpPr>
          <p:nvPr/>
        </p:nvSpPr>
        <p:spPr>
          <a:xfrm xmlns:a="http://schemas.openxmlformats.org/drawingml/2006/main">
            <a:off x="4289489" y="1809750"/>
            <a:ext cx="141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0086AC"/>
                </a:solidFill>
              </a:defRPr>
            </a:defPPr>
            <a:lvl1pPr>
              <a:buNone/>
              <a:defRPr sz="1200" b="1">
                <a:solidFill>
                  <a:srgbClr val="0086AC"/>
                </a:solidFill>
              </a:defRPr>
            </a:lvl1pPr>
            <a:lvl2pPr>
              <a:buNone/>
              <a:defRPr sz="1200" b="1">
                <a:solidFill>
                  <a:srgbClr val="0086AC"/>
                </a:solidFill>
              </a:defRPr>
            </a:lvl2pPr>
            <a:lvl3pPr>
              <a:buNone/>
              <a:defRPr sz="1200" b="1">
                <a:solidFill>
                  <a:srgbClr val="0086AC"/>
                </a:solidFill>
              </a:defRPr>
            </a:lvl3pPr>
            <a:lvl4pPr>
              <a:buNone/>
              <a:defRPr sz="1200" b="1">
                <a:solidFill>
                  <a:srgbClr val="0086AC"/>
                </a:solidFill>
              </a:defRPr>
            </a:lvl4pPr>
            <a:lvl5pPr>
              <a:buNone/>
              <a:defRPr sz="1200" b="1">
                <a:solidFill>
                  <a:srgbClr val="0086AC"/>
                </a:solidFill>
              </a:defRPr>
            </a:lvl5pPr>
            <a:lvl6pPr>
              <a:buNone/>
              <a:defRPr sz="1200" b="1">
                <a:solidFill>
                  <a:srgbClr val="0086AC"/>
                </a:solidFill>
              </a:defRPr>
            </a:lvl6pPr>
            <a:lvl7pPr>
              <a:buNone/>
              <a:defRPr sz="1200" b="1">
                <a:solidFill>
                  <a:srgbClr val="0086AC"/>
                </a:solidFill>
              </a:defRPr>
            </a:lvl7pPr>
            <a:lvl8pPr>
              <a:buNone/>
              <a:defRPr sz="1200" b="1">
                <a:solidFill>
                  <a:srgbClr val="0086AC"/>
                </a:solidFill>
              </a:defRPr>
            </a:lvl8pPr>
            <a:lvl9pPr>
              <a:buNone/>
              <a:defRPr sz="1200" b="1">
                <a:solidFill>
                  <a:srgbClr val="0086AC"/>
                </a:solidFill>
              </a:defRPr>
            </a:lvl9pPr>
          </a:lstStyle>
          <a:p xmlns:a="http://schemas.openxmlformats.org/drawingml/2006/main">
            <a:pPr>
              <a:buNone/>
              <a:defRPr sz="1200" b="1">
                <a:solidFill>
                  <a:srgbClr val="0086AC"/>
                </a:solidFill>
              </a:defRPr>
            </a:pPr>
            <a:r>
              <a:rPr sz="1200" b="1">
                <a:solidFill>
                  <a:srgbClr val="0086AC"/>
                </a:solidFill>
              </a:rPr>
              <a:t>Original study</a:t>
            </a:r>
          </a:p>
        </p:txBody>
      </p:sp>
      <p:graphicFrame>
        <p:nvGraphicFramePr>
          <p:cNvPr id="2004" name="Table 2003">
            <a:extLst xmlns:a="http://schemas.openxmlformats.org/drawingml/2006/main">
              <a:ext uri="{FF2B5EF4-FFF2-40B4-BE49-F238E27FC236}">
                <a16:creationId xmlns:a16="http://schemas.microsoft.com/office/drawing/2014/main" id="{F43D710F-CE84-4C19-8687-8B4EC33BA287}"/>
              </a:ext>
            </a:extLst>
          </p:cNvPr>
          <p:cNvGraphicFramePr/>
          <p:nvPr/>
        </p:nvGraphicFramePr>
        <p:xfrm>
          <a:off xmlns:a="http://schemas.openxmlformats.org/drawingml/2006/main" x="812864" y="2105025"/>
          <a:ext xmlns:a="http://schemas.openxmlformats.org/drawingml/2006/main" cx="4895850" cy="3410712"/>
        </p:xfrm>
        <a:graphic xmlns:a="http://schemas.openxmlformats.org/drawingml/2006/main">
          <a:graphicData uri="http://schemas.openxmlformats.org/drawingml/2006/table">
            <a:tbl>
              <a:tblPr/>
              <a:tblGrid>
                <a:gridCol w="2762250"/>
                <a:gridCol w="714375"/>
                <a:gridCol w="1419225"/>
              </a:tblGrid>
              <a:tr h="512064">
                <a:tc>
                  <a:txBody>
                    <a:bodyPr/>
                    <a:lstStyle/>
                    <a:p>
                      <a:pPr algn="l">
                        <a:buNone/>
                      </a:pPr>
                      <a:r>
                        <a:rPr sz="1275" b="1">
                          <a:solidFill>
                            <a:srgbClr val="FFFFFF"/>
                          </a:solidFill>
                        </a:rPr>
                        <a:t>OWASP category</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Cases</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Haiku 4.5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4F8734"/>
                    </a:solidFill>
                  </a:tcPr>
                </a:tc>
              </a:tr>
              <a:tr h="402336">
                <a:tc>
                  <a:txBody>
                    <a:bodyPr/>
                    <a:lstStyle/>
                    <a:p>
                      <a:pPr algn="l">
                        <a:buNone/>
                      </a:pPr>
                      <a:r>
                        <a:rPr sz="1425" b="0">
                          <a:solidFill>
                            <a:srgbClr val="303238"/>
                          </a:solidFill>
                        </a:rPr>
                        <a:t>A01  Broken Access Control</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1">
                          <a:solidFill>
                            <a:srgbClr val="3D7327"/>
                          </a:solidFill>
                        </a:rPr>
                        <a:t>3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A03  Injection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1">
                          <a:solidFill>
                            <a:srgbClr val="3D7327"/>
                          </a:solidFill>
                        </a:rPr>
                        <a:t>5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A05  Security Misconfiguration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502920">
                <a:tc>
                  <a:txBody>
                    <a:bodyPr/>
                    <a:lstStyle/>
                    <a:p>
                      <a:pPr algn="l">
                        <a:buNone/>
                      </a:pPr>
                      <a:r>
                        <a:rPr sz="1425" b="0">
                          <a:solidFill>
                            <a:srgbClr val="303238"/>
                          </a:solidFill>
                        </a:rPr>
                        <a:t>A07  Identification &amp;</a:t>
                      </a:r>
                    </a:p>
                    <a:p>
                      <a:pPr algn="l">
                        <a:buNone/>
                      </a:pPr>
                      <a:r>
                        <a:rPr sz="1425" b="0">
                          <a:solidFill>
                            <a:srgbClr val="303238"/>
                          </a:solidFill>
                        </a:rPr>
                        <a:t>Authentication Failures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0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A10  SSRF</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575" b="1">
                          <a:solidFill>
                            <a:srgbClr val="303238"/>
                          </a:solidFill>
                        </a:rPr>
                        <a:t>Total caught</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8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r>
              <a:tr h="384048">
                <a:tc>
                  <a:txBody>
                    <a:bodyPr/>
                    <a:lstStyle/>
                    <a:p>
                      <a:pPr algn="l">
                        <a:buNone/>
                      </a:pPr>
                      <a:r>
                        <a:rPr sz="1400" b="1">
                          <a:solidFill>
                            <a:srgbClr val="303238"/>
                          </a:solidFill>
                        </a:rPr>
                        <a:t>False-alarm reviews*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303238"/>
                          </a:solidFill>
                        </a:rPr>
                        <a:t>n/a</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A95B1F"/>
                          </a:solidFill>
                        </a:rPr>
                        <a:t>1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r>
            </a:tbl>
          </a:graphicData>
        </a:graphic>
      </p:graphicFrame>
      <p:sp>
        <p:nvSpPr>
          <p:cNvPr id="2005" name="audience question">
            <a:extLst xmlns:a="http://schemas.openxmlformats.org/drawingml/2006/main">
              <a:ext uri="{FF2B5EF4-FFF2-40B4-BE49-F238E27FC236}">
                <a16:creationId xmlns:a16="http://schemas.microsoft.com/office/drawing/2014/main" id="{BE72A66B-1786-4CF4-AF17-743788DA8658}"/>
              </a:ext>
            </a:extLst>
          </p:cNvPr>
          <p:cNvSpPr>
            <a:spLocks xmlns:a="http://schemas.openxmlformats.org/drawingml/2006/main" noGrp="1"/>
          </p:cNvSpPr>
          <p:nvPr/>
        </p:nvSpPr>
        <p:spPr>
          <a:xfrm xmlns:a="http://schemas.openxmlformats.org/drawingml/2006/main">
            <a:off x="6286500" y="2857500"/>
            <a:ext cx="452437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4F8734"/>
                </a:solidFill>
              </a:defRPr>
            </a:defPPr>
            <a:lvl1pPr>
              <a:buNone/>
              <a:defRPr sz="2100" b="1">
                <a:solidFill>
                  <a:srgbClr val="4F8734"/>
                </a:solidFill>
              </a:defRPr>
            </a:lvl1pPr>
            <a:lvl2pPr>
              <a:buNone/>
              <a:defRPr sz="2100" b="1">
                <a:solidFill>
                  <a:srgbClr val="4F8734"/>
                </a:solidFill>
              </a:defRPr>
            </a:lvl2pPr>
            <a:lvl3pPr>
              <a:buNone/>
              <a:defRPr sz="2100" b="1">
                <a:solidFill>
                  <a:srgbClr val="4F8734"/>
                </a:solidFill>
              </a:defRPr>
            </a:lvl3pPr>
            <a:lvl4pPr>
              <a:buNone/>
              <a:defRPr sz="2100" b="1">
                <a:solidFill>
                  <a:srgbClr val="4F8734"/>
                </a:solidFill>
              </a:defRPr>
            </a:lvl4pPr>
            <a:lvl5pPr>
              <a:buNone/>
              <a:defRPr sz="2100" b="1">
                <a:solidFill>
                  <a:srgbClr val="4F8734"/>
                </a:solidFill>
              </a:defRPr>
            </a:lvl5pPr>
            <a:lvl6pPr>
              <a:buNone/>
              <a:defRPr sz="2100" b="1">
                <a:solidFill>
                  <a:srgbClr val="4F8734"/>
                </a:solidFill>
              </a:defRPr>
            </a:lvl6pPr>
            <a:lvl7pPr>
              <a:buNone/>
              <a:defRPr sz="2100" b="1">
                <a:solidFill>
                  <a:srgbClr val="4F8734"/>
                </a:solidFill>
              </a:defRPr>
            </a:lvl7pPr>
            <a:lvl8pPr>
              <a:buNone/>
              <a:defRPr sz="2100" b="1">
                <a:solidFill>
                  <a:srgbClr val="4F8734"/>
                </a:solidFill>
              </a:defRPr>
            </a:lvl8pPr>
            <a:lvl9pPr>
              <a:buNone/>
              <a:defRPr sz="2100" b="1">
                <a:solidFill>
                  <a:srgbClr val="4F8734"/>
                </a:solidFill>
              </a:defRPr>
            </a:lvl9pPr>
          </a:lstStyle>
          <a:p xmlns:a="http://schemas.openxmlformats.org/drawingml/2006/main">
            <a:pPr>
              <a:buNone/>
              <a:defRPr sz="2100" b="1">
                <a:solidFill>
                  <a:srgbClr val="4F8734"/>
                </a:solidFill>
              </a:defRPr>
            </a:pPr>
            <a:r>
              <a:rPr sz="2100" b="1">
                <a:solidFill>
                  <a:srgbClr val="4F8734"/>
                </a:solidFill>
              </a:rPr>
              <a:t>What would you change next?</a:t>
            </a:r>
          </a:p>
          <a:p xmlns:a="http://schemas.openxmlformats.org/drawingml/2006/main">
            <a:endParaRPr sz="2100" b="1">
              <a:solidFill>
                <a:srgbClr val="4F8734"/>
              </a:solidFill>
            </a:endParaRPr>
          </a:p>
          <a:p xmlns:a="http://schemas.openxmlformats.org/drawingml/2006/main">
            <a:pPr>
              <a:buNone/>
              <a:defRPr sz="2100" b="1">
                <a:solidFill>
                  <a:srgbClr val="4F8734"/>
                </a:solidFill>
              </a:defRPr>
            </a:pPr>
            <a:r>
              <a:rPr sz="2100" b="1">
                <a:solidFill>
                  <a:srgbClr val="4F8734"/>
                </a:solidFill>
              </a:rPr>
              <a:t>The model?</a:t>
            </a:r>
          </a:p>
          <a:p xmlns:a="http://schemas.openxmlformats.org/drawingml/2006/main">
            <a:pPr>
              <a:buNone/>
              <a:defRPr sz="2100" b="1">
                <a:solidFill>
                  <a:srgbClr val="4F8734"/>
                </a:solidFill>
              </a:defRPr>
            </a:pPr>
            <a:r>
              <a:rPr sz="2100" b="1">
                <a:solidFill>
                  <a:srgbClr val="4F8734"/>
                </a:solidFill>
              </a:rPr>
              <a:t>The prompt?</a:t>
            </a:r>
          </a:p>
        </p:txBody>
      </p:sp>
      <p:sp>
        <p:nvSpPr>
          <p:cNvPr id="2006" name="takeaway">
            <a:extLst xmlns:a="http://schemas.openxmlformats.org/drawingml/2006/main">
              <a:ext uri="{FF2B5EF4-FFF2-40B4-BE49-F238E27FC236}">
                <a16:creationId xmlns:a16="http://schemas.microsoft.com/office/drawing/2014/main" id="{7FE0B21A-E9E7-4DD5-AF99-D702A4710B61}"/>
              </a:ext>
            </a:extLst>
          </p:cNvPr>
          <p:cNvSpPr>
            <a:spLocks xmlns:a="http://schemas.openxmlformats.org/drawingml/2006/main" noGrp="1"/>
          </p:cNvSpPr>
          <p:nvPr/>
        </p:nvSpPr>
        <p:spPr>
          <a:xfrm xmlns:a="http://schemas.openxmlformats.org/drawingml/2006/main">
            <a:off x="812864" y="562356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303238"/>
                </a:solidFill>
              </a:defRPr>
            </a:defPPr>
            <a:lvl1pPr>
              <a:buNone/>
              <a:defRPr sz="1575" b="1">
                <a:solidFill>
                  <a:srgbClr val="303238"/>
                </a:solidFill>
              </a:defRPr>
            </a:lvl1pPr>
            <a:lvl2pPr>
              <a:buNone/>
              <a:defRPr sz="1575" b="1">
                <a:solidFill>
                  <a:srgbClr val="303238"/>
                </a:solidFill>
              </a:defRPr>
            </a:lvl2pPr>
            <a:lvl3pPr>
              <a:buNone/>
              <a:defRPr sz="1575" b="1">
                <a:solidFill>
                  <a:srgbClr val="303238"/>
                </a:solidFill>
              </a:defRPr>
            </a:lvl3pPr>
            <a:lvl4pPr>
              <a:buNone/>
              <a:defRPr sz="1575" b="1">
                <a:solidFill>
                  <a:srgbClr val="303238"/>
                </a:solidFill>
              </a:defRPr>
            </a:lvl4pPr>
            <a:lvl5pPr>
              <a:buNone/>
              <a:defRPr sz="1575" b="1">
                <a:solidFill>
                  <a:srgbClr val="303238"/>
                </a:solidFill>
              </a:defRPr>
            </a:lvl5pPr>
            <a:lvl6pPr>
              <a:buNone/>
              <a:defRPr sz="1575" b="1">
                <a:solidFill>
                  <a:srgbClr val="303238"/>
                </a:solidFill>
              </a:defRPr>
            </a:lvl6pPr>
            <a:lvl7pPr>
              <a:buNone/>
              <a:defRPr sz="1575" b="1">
                <a:solidFill>
                  <a:srgbClr val="303238"/>
                </a:solidFill>
              </a:defRPr>
            </a:lvl7pPr>
            <a:lvl8pPr>
              <a:buNone/>
              <a:defRPr sz="1575" b="1">
                <a:solidFill>
                  <a:srgbClr val="303238"/>
                </a:solidFill>
              </a:defRPr>
            </a:lvl8pPr>
            <a:lvl9pPr>
              <a:buNone/>
              <a:defRPr sz="1575" b="1">
                <a:solidFill>
                  <a:srgbClr val="303238"/>
                </a:solidFill>
              </a:defRPr>
            </a:lvl9pPr>
          </a:lstStyle>
          <a:p xmlns:a="http://schemas.openxmlformats.org/drawingml/2006/main">
            <a:pPr>
              <a:buNone/>
              <a:defRPr sz="1575" b="1">
                <a:solidFill>
                  <a:srgbClr val="303238"/>
                </a:solidFill>
              </a:defRPr>
            </a:pPr>
            <a:r>
              <a:rPr sz="1575" b="1">
                <a:solidFill>
                  <a:srgbClr val="303238"/>
                </a:solidFill>
              </a:rPr>
              <a:t>Caught: access control and injection cases.</a:t>
            </a:r>
          </a:p>
        </p:txBody>
      </p:sp>
      <p:sp>
        <p:nvSpPr>
          <p:cNvPr id="2007" name="detail">
            <a:extLst xmlns:a="http://schemas.openxmlformats.org/drawingml/2006/main">
              <a:ext uri="{FF2B5EF4-FFF2-40B4-BE49-F238E27FC236}">
                <a16:creationId xmlns:a16="http://schemas.microsoft.com/office/drawing/2014/main" id="{A54C42F4-7F99-4DBE-A90C-30398BA46655}"/>
              </a:ext>
            </a:extLst>
          </p:cNvPr>
          <p:cNvSpPr>
            <a:spLocks xmlns:a="http://schemas.openxmlformats.org/drawingml/2006/main" noGrp="1"/>
          </p:cNvSpPr>
          <p:nvPr/>
        </p:nvSpPr>
        <p:spPr>
          <a:xfrm xmlns:a="http://schemas.openxmlformats.org/drawingml/2006/main">
            <a:off x="812864" y="5925312"/>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505050"/>
                </a:solidFill>
              </a:defRPr>
            </a:defPPr>
            <a:lvl1pPr>
              <a:buNone/>
              <a:defRPr sz="1500" b="0">
                <a:solidFill>
                  <a:srgbClr val="505050"/>
                </a:solidFill>
              </a:defRPr>
            </a:lvl1pPr>
            <a:lvl2pPr>
              <a:buNone/>
              <a:defRPr sz="1500" b="0">
                <a:solidFill>
                  <a:srgbClr val="505050"/>
                </a:solidFill>
              </a:defRPr>
            </a:lvl2pPr>
            <a:lvl3pPr>
              <a:buNone/>
              <a:defRPr sz="1500" b="0">
                <a:solidFill>
                  <a:srgbClr val="505050"/>
                </a:solidFill>
              </a:defRPr>
            </a:lvl3pPr>
            <a:lvl4pPr>
              <a:buNone/>
              <a:defRPr sz="1500" b="0">
                <a:solidFill>
                  <a:srgbClr val="505050"/>
                </a:solidFill>
              </a:defRPr>
            </a:lvl4pPr>
            <a:lvl5pPr>
              <a:buNone/>
              <a:defRPr sz="1500" b="0">
                <a:solidFill>
                  <a:srgbClr val="505050"/>
                </a:solidFill>
              </a:defRPr>
            </a:lvl5pPr>
            <a:lvl6pPr>
              <a:buNone/>
              <a:defRPr sz="1500" b="0">
                <a:solidFill>
                  <a:srgbClr val="505050"/>
                </a:solidFill>
              </a:defRPr>
            </a:lvl6pPr>
            <a:lvl7pPr>
              <a:buNone/>
              <a:defRPr sz="1500" b="0">
                <a:solidFill>
                  <a:srgbClr val="505050"/>
                </a:solidFill>
              </a:defRPr>
            </a:lvl7pPr>
            <a:lvl8pPr>
              <a:buNone/>
              <a:defRPr sz="1500" b="0">
                <a:solidFill>
                  <a:srgbClr val="505050"/>
                </a:solidFill>
              </a:defRPr>
            </a:lvl8pPr>
            <a:lvl9pPr>
              <a:buNone/>
              <a:defRPr sz="1500" b="0">
                <a:solidFill>
                  <a:srgbClr val="505050"/>
                </a:solidFill>
              </a:defRPr>
            </a:lvl9pPr>
          </a:lstStyle>
          <a:p xmlns:a="http://schemas.openxmlformats.org/drawingml/2006/main">
            <a:pPr>
              <a:buNone/>
              <a:defRPr sz="1500" b="0">
                <a:solidFill>
                  <a:srgbClr val="505050"/>
                </a:solidFill>
              </a:defRPr>
            </a:pPr>
            <a:r>
              <a:rPr sz="1500" b="0">
                <a:solidFill>
                  <a:srgbClr val="505050"/>
                </a:solidFill>
              </a:rPr>
              <a:t>8 Caught, 7 Partial, 9 Missed. Partial findings are excluded from the total.</a:t>
            </a:r>
          </a:p>
        </p:txBody>
      </p:sp>
      <p:sp>
        <p:nvSpPr>
          <p:cNvPr id="5" name="TextBox 4">
            <a:extLst xmlns:a="http://schemas.openxmlformats.org/drawingml/2006/main">
              <a:ext uri="{FF2B5EF4-FFF2-40B4-BE49-F238E27FC236}">
                <a16:creationId xmlns:a16="http://schemas.microsoft.com/office/drawing/2014/main" id="{56BE160B-6661-2464-AC10-D91E4F54E5A1}"/>
              </a:ext>
            </a:extLst>
          </p:cNvPr>
          <p:cNvSpPr>
            <a:spLocks xmlns:a="http://schemas.openxmlformats.org/drawingml/2006/main" noGrp="1"/>
          </p:cNvSpPr>
          <p:nvPr/>
        </p:nvSpPr>
        <p:spPr>
          <a:xfrm xmlns:a="http://schemas.openxmlformats.org/drawingml/2006/main">
            <a:off x="6096000" y="2038350"/>
            <a:ext cx="5283136" cy="646331"/>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r>
              <a:t>The 16 recent CVEs were disclosed after both recorded training cutoffs; 8 older CVEs may have been seen.</a:t>
            </a:r>
          </a:p>
        </p:txBody>
      </p:sp>
      <p:sp>
        <p:nvSpPr>
          <p:cNvPr id="2010" name="False alarm denominator note"/>
          <p:cNvSpPr>
            <a:spLocks xmlns:a="http://schemas.openxmlformats.org/drawingml/2006/main" noGrp="1"/>
          </p:cNvSpPr>
          <p:nvPr/>
        </p:nvSpPr>
        <p:spPr>
          <a:xfrm xmlns:a="http://schemas.openxmlformats.org/drawingml/2006/main">
            <a:off x="812864" y="6345936"/>
            <a:ext cx="987552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000" b="0">
                <a:solidFill>
                  <a:srgbClr val="666666"/>
                </a:solidFill>
              </a:defRPr>
            </a:defPPr>
            <a:lvl1pPr>
              <a:buNone/>
              <a:defRPr sz="1000" b="0">
                <a:solidFill>
                  <a:srgbClr val="666666"/>
                </a:solidFill>
              </a:defRPr>
            </a:lvl1pPr>
            <a:lvl2pPr>
              <a:buNone/>
              <a:defRPr sz="1000" b="0">
                <a:solidFill>
                  <a:srgbClr val="666666"/>
                </a:solidFill>
              </a:defRPr>
            </a:lvl2pPr>
            <a:lvl3pPr>
              <a:buNone/>
              <a:defRPr sz="1000" b="0">
                <a:solidFill>
                  <a:srgbClr val="666666"/>
                </a:solidFill>
              </a:defRPr>
            </a:lvl3pPr>
            <a:lvl4pPr>
              <a:buNone/>
              <a:defRPr sz="1000" b="0">
                <a:solidFill>
                  <a:srgbClr val="666666"/>
                </a:solidFill>
              </a:defRPr>
            </a:lvl4pPr>
            <a:lvl5pPr>
              <a:buNone/>
              <a:defRPr sz="1000" b="0">
                <a:solidFill>
                  <a:srgbClr val="666666"/>
                </a:solidFill>
              </a:defRPr>
            </a:lvl5pPr>
            <a:lvl6pPr>
              <a:buNone/>
              <a:defRPr sz="1000" b="0">
                <a:solidFill>
                  <a:srgbClr val="666666"/>
                </a:solidFill>
              </a:defRPr>
            </a:lvl6pPr>
            <a:lvl7pPr>
              <a:buNone/>
              <a:defRPr sz="1000" b="0">
                <a:solidFill>
                  <a:srgbClr val="666666"/>
                </a:solidFill>
              </a:defRPr>
            </a:lvl7pPr>
            <a:lvl8pPr>
              <a:buNone/>
              <a:defRPr sz="1000" b="0">
                <a:solidFill>
                  <a:srgbClr val="666666"/>
                </a:solidFill>
              </a:defRPr>
            </a:lvl8pPr>
            <a:lvl9pPr>
              <a:buNone/>
              <a:defRPr sz="1000" b="0">
                <a:solidFill>
                  <a:srgbClr val="666666"/>
                </a:solidFill>
              </a:defRPr>
            </a:lvl9pPr>
          </a:lstStyle>
          <a:p xmlns:a="http://schemas.openxmlformats.org/drawingml/2006/main">
            <a:pPr>
              <a:buNone/>
              <a:defRPr sz="1000" b="0">
                <a:solidFill>
                  <a:srgbClr val="666666"/>
                </a:solidFill>
              </a:defRPr>
            </a:pPr>
            <a:r>
              <a:rPr sz="1000" b="0">
                <a:solidFill>
                  <a:srgbClr val="666666"/>
                </a:solidFill>
              </a:rPr>
              <a:t>* Separate benign changes, not CVEs: 10 reviews per original model.</a:t>
            </a:r>
          </a:p>
        </p:txBody>
      </p:sp>
    </p:spTree>
    <p:extLst>
      <p:ext uri="{BB962C8B-B14F-4D97-AF65-F5344CB8AC3E}">
        <p14:creationId xmlns:p14="http://schemas.microsoft.com/office/powerpoint/2010/main" val="1082103795"/>
      </p:ext>
    </p:extLst>
  </p:cSld>
</p:sld>
</file>

<file path=ppt/slides/slide9.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52972E58-4F7C-4AD3-9355-9C3777021ADD}"/>
              </a:ext>
            </a:extLst>
          </p:cNvPr>
          <p:cNvPicPr>
            <a:picLocks xmlns:a="http://schemas.openxmlformats.org/drawingml/2006/main" noChangeAspect="1"/>
          </p:cNvPicPr>
          <p:nvPr/>
        </p:nvPicPr>
        <p:blipFill>
          <a:blip xmlns:r="http://schemas.openxmlformats.org/officeDocument/2006/relationships" xmlns:a="http://schemas.openxmlformats.org/drawingml/2006/main" r:embed="Rff7c09fc0347412b"/>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224DCF54-218E-4145-AE44-53F05F5012F0}"/>
              </a:ext>
            </a:extLst>
          </p:cNvPr>
          <p:cNvPicPr>
            <a:picLocks xmlns:a="http://schemas.openxmlformats.org/drawingml/2006/main" noChangeAspect="1"/>
          </p:cNvPicPr>
          <p:nvPr/>
        </p:nvPicPr>
        <p:blipFill>
          <a:blip xmlns:r="http://schemas.openxmlformats.org/officeDocument/2006/relationships" xmlns:a="http://schemas.openxmlformats.org/drawingml/2006/main" r:embed="Reb3a35bd6b714eaa"/>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9" name="title">
            <a:extLst xmlns:a="http://schemas.openxmlformats.org/drawingml/2006/main">
              <a:ext uri="{FF2B5EF4-FFF2-40B4-BE49-F238E27FC236}">
                <a16:creationId xmlns:a16="http://schemas.microsoft.com/office/drawing/2014/main" id="{80CC19DD-C99C-42D2-A699-147CE4E0265A}"/>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Round 2: Sonnet catches 20 of 24</a:t>
            </a:r>
          </a:p>
        </p:txBody>
      </p:sp>
      <p:sp>
        <p:nvSpPr>
          <p:cNvPr id="2002" name="subtitle">
            <a:extLst xmlns:a="http://schemas.openxmlformats.org/drawingml/2006/main">
              <a:ext uri="{FF2B5EF4-FFF2-40B4-BE49-F238E27FC236}">
                <a16:creationId xmlns:a16="http://schemas.microsoft.com/office/drawing/2014/main" id="{1C667795-9FBD-4503-9106-8A00BE750EDA}"/>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Fully caught cases by OWASP Top 10 category</a:t>
            </a:r>
          </a:p>
        </p:txBody>
      </p:sp>
      <p:sp>
        <p:nvSpPr>
          <p:cNvPr id="2003" name="original group">
            <a:extLst xmlns:a="http://schemas.openxmlformats.org/drawingml/2006/main">
              <a:ext uri="{FF2B5EF4-FFF2-40B4-BE49-F238E27FC236}">
                <a16:creationId xmlns:a16="http://schemas.microsoft.com/office/drawing/2014/main" id="{3F7EC75B-F634-4B0F-8751-40E2F59AB641}"/>
              </a:ext>
            </a:extLst>
          </p:cNvPr>
          <p:cNvSpPr>
            <a:spLocks xmlns:a="http://schemas.openxmlformats.org/drawingml/2006/main" noGrp="1"/>
          </p:cNvSpPr>
          <p:nvPr/>
        </p:nvSpPr>
        <p:spPr>
          <a:xfrm xmlns:a="http://schemas.openxmlformats.org/drawingml/2006/main">
            <a:off x="4289489" y="1809750"/>
            <a:ext cx="283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0086AC"/>
                </a:solidFill>
              </a:defRPr>
            </a:defPPr>
            <a:lvl1pPr>
              <a:buNone/>
              <a:defRPr sz="1200" b="1">
                <a:solidFill>
                  <a:srgbClr val="0086AC"/>
                </a:solidFill>
              </a:defRPr>
            </a:lvl1pPr>
            <a:lvl2pPr>
              <a:buNone/>
              <a:defRPr sz="1200" b="1">
                <a:solidFill>
                  <a:srgbClr val="0086AC"/>
                </a:solidFill>
              </a:defRPr>
            </a:lvl2pPr>
            <a:lvl3pPr>
              <a:buNone/>
              <a:defRPr sz="1200" b="1">
                <a:solidFill>
                  <a:srgbClr val="0086AC"/>
                </a:solidFill>
              </a:defRPr>
            </a:lvl3pPr>
            <a:lvl4pPr>
              <a:buNone/>
              <a:defRPr sz="1200" b="1">
                <a:solidFill>
                  <a:srgbClr val="0086AC"/>
                </a:solidFill>
              </a:defRPr>
            </a:lvl4pPr>
            <a:lvl5pPr>
              <a:buNone/>
              <a:defRPr sz="1200" b="1">
                <a:solidFill>
                  <a:srgbClr val="0086AC"/>
                </a:solidFill>
              </a:defRPr>
            </a:lvl5pPr>
            <a:lvl6pPr>
              <a:buNone/>
              <a:defRPr sz="1200" b="1">
                <a:solidFill>
                  <a:srgbClr val="0086AC"/>
                </a:solidFill>
              </a:defRPr>
            </a:lvl6pPr>
            <a:lvl7pPr>
              <a:buNone/>
              <a:defRPr sz="1200" b="1">
                <a:solidFill>
                  <a:srgbClr val="0086AC"/>
                </a:solidFill>
              </a:defRPr>
            </a:lvl7pPr>
            <a:lvl8pPr>
              <a:buNone/>
              <a:defRPr sz="1200" b="1">
                <a:solidFill>
                  <a:srgbClr val="0086AC"/>
                </a:solidFill>
              </a:defRPr>
            </a:lvl8pPr>
            <a:lvl9pPr>
              <a:buNone/>
              <a:defRPr sz="1200" b="1">
                <a:solidFill>
                  <a:srgbClr val="0086AC"/>
                </a:solidFill>
              </a:defRPr>
            </a:lvl9pPr>
          </a:lstStyle>
          <a:p xmlns:a="http://schemas.openxmlformats.org/drawingml/2006/main">
            <a:pPr>
              <a:buNone/>
              <a:defRPr sz="1200" b="1">
                <a:solidFill>
                  <a:srgbClr val="0086AC"/>
                </a:solidFill>
              </a:defRPr>
            </a:pPr>
            <a:r>
              <a:rPr sz="1200" b="1">
                <a:solidFill>
                  <a:srgbClr val="0086AC"/>
                </a:solidFill>
              </a:rPr>
              <a:t>Original study: all 24 cases</a:t>
            </a:r>
          </a:p>
        </p:txBody>
      </p:sp>
      <p:graphicFrame>
        <p:nvGraphicFramePr>
          <p:cNvPr id="2004" name="Table 2003">
            <a:extLst xmlns:a="http://schemas.openxmlformats.org/drawingml/2006/main">
              <a:ext uri="{FF2B5EF4-FFF2-40B4-BE49-F238E27FC236}">
                <a16:creationId xmlns:a16="http://schemas.microsoft.com/office/drawing/2014/main" id="{D49B95B4-0822-46B9-A39B-0D92F69EF527}"/>
              </a:ext>
            </a:extLst>
          </p:cNvPr>
          <p:cNvGraphicFramePr/>
          <p:nvPr/>
        </p:nvGraphicFramePr>
        <p:xfrm>
          <a:off xmlns:a="http://schemas.openxmlformats.org/drawingml/2006/main" x="812864" y="2105025"/>
          <a:ext xmlns:a="http://schemas.openxmlformats.org/drawingml/2006/main" cx="6315075" cy="3410712"/>
        </p:xfrm>
        <a:graphic xmlns:a="http://schemas.openxmlformats.org/drawingml/2006/main">
          <a:graphicData uri="http://schemas.openxmlformats.org/drawingml/2006/table">
            <a:tbl>
              <a:tblPr/>
              <a:tblGrid>
                <a:gridCol w="2762250"/>
                <a:gridCol w="714375"/>
                <a:gridCol w="1419225"/>
                <a:gridCol w="1419225"/>
              </a:tblGrid>
              <a:tr h="512064">
                <a:tc>
                  <a:txBody>
                    <a:bodyPr/>
                    <a:lstStyle/>
                    <a:p>
                      <a:pPr algn="l">
                        <a:buNone/>
                      </a:pPr>
                      <a:r>
                        <a:rPr sz="1275" b="1">
                          <a:solidFill>
                            <a:srgbClr val="FFFFFF"/>
                          </a:solidFill>
                        </a:rPr>
                        <a:t>OWASP category</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Cases</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Haiku 4.5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4F8734"/>
                    </a:solidFill>
                  </a:tcPr>
                </a:tc>
              </a:tr>
              <a:tr h="402336">
                <a:tc>
                  <a:txBody>
                    <a:bodyPr/>
                    <a:lstStyle/>
                    <a:p>
                      <a:pPr algn="l">
                        <a:buNone/>
                      </a:pPr>
                      <a:r>
                        <a:rPr sz="1425" b="0">
                          <a:solidFill>
                            <a:srgbClr val="303238"/>
                          </a:solidFill>
                        </a:rPr>
                        <a:t>A01  Broken Access Control</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3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1">
                          <a:solidFill>
                            <a:srgbClr val="3D7327"/>
                          </a:solidFill>
                        </a:rPr>
                        <a:t>7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A03  Injection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5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1">
                          <a:solidFill>
                            <a:srgbClr val="3D7327"/>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A05  Security Misconfiguration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502920">
                <a:tc>
                  <a:txBody>
                    <a:bodyPr/>
                    <a:lstStyle/>
                    <a:p>
                      <a:pPr algn="l">
                        <a:buNone/>
                      </a:pPr>
                      <a:r>
                        <a:rPr sz="1425" b="0">
                          <a:solidFill>
                            <a:srgbClr val="303238"/>
                          </a:solidFill>
                        </a:rPr>
                        <a:t>A07  Identification &amp;</a:t>
                      </a:r>
                    </a:p>
                    <a:p>
                      <a:pPr algn="l">
                        <a:buNone/>
                      </a:pPr>
                      <a:r>
                        <a:rPr sz="1425" b="0">
                          <a:solidFill>
                            <a:srgbClr val="303238"/>
                          </a:solidFill>
                        </a:rPr>
                        <a:t>Authentication Failures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0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1">
                          <a:solidFill>
                            <a:srgbClr val="3D7327"/>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A10  SSRF</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575" b="1">
                          <a:solidFill>
                            <a:srgbClr val="303238"/>
                          </a:solidFill>
                        </a:rPr>
                        <a:t>Total caught</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8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20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r>
              <a:tr h="384048">
                <a:tc>
                  <a:txBody>
                    <a:bodyPr/>
                    <a:lstStyle/>
                    <a:p>
                      <a:pPr algn="l">
                        <a:buNone/>
                      </a:pPr>
                      <a:r>
                        <a:rPr sz="1400" b="1">
                          <a:solidFill>
                            <a:srgbClr val="303238"/>
                          </a:solidFill>
                        </a:rPr>
                        <a:t>False-alarm reviews*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303238"/>
                          </a:solidFill>
                        </a:rPr>
                        <a:t>n/a</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A95B1F"/>
                          </a:solidFill>
                        </a:rPr>
                        <a:t>1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0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r>
            </a:tbl>
          </a:graphicData>
        </a:graphic>
      </p:graphicFrame>
      <p:sp>
        <p:nvSpPr>
          <p:cNvPr id="2005" name="audience question">
            <a:extLst xmlns:a="http://schemas.openxmlformats.org/drawingml/2006/main">
              <a:ext uri="{FF2B5EF4-FFF2-40B4-BE49-F238E27FC236}">
                <a16:creationId xmlns:a16="http://schemas.microsoft.com/office/drawing/2014/main" id="{878BA920-15A8-47BC-AD1B-08E3453D76FB}"/>
              </a:ext>
            </a:extLst>
          </p:cNvPr>
          <p:cNvSpPr>
            <a:spLocks xmlns:a="http://schemas.openxmlformats.org/drawingml/2006/main" noGrp="1"/>
          </p:cNvSpPr>
          <p:nvPr/>
        </p:nvSpPr>
        <p:spPr>
          <a:xfrm xmlns:a="http://schemas.openxmlformats.org/drawingml/2006/main">
            <a:off x="7905750" y="2857500"/>
            <a:ext cx="3286125"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950" b="1">
                <a:solidFill>
                  <a:srgbClr val="4F8734"/>
                </a:solidFill>
              </a:defRPr>
            </a:defPPr>
            <a:lvl1pPr>
              <a:buNone/>
              <a:defRPr sz="1950" b="1">
                <a:solidFill>
                  <a:srgbClr val="4F8734"/>
                </a:solidFill>
              </a:defRPr>
            </a:lvl1pPr>
            <a:lvl2pPr>
              <a:buNone/>
              <a:defRPr sz="1950" b="1">
                <a:solidFill>
                  <a:srgbClr val="4F8734"/>
                </a:solidFill>
              </a:defRPr>
            </a:lvl2pPr>
            <a:lvl3pPr>
              <a:buNone/>
              <a:defRPr sz="1950" b="1">
                <a:solidFill>
                  <a:srgbClr val="4F8734"/>
                </a:solidFill>
              </a:defRPr>
            </a:lvl3pPr>
            <a:lvl4pPr>
              <a:buNone/>
              <a:defRPr sz="1950" b="1">
                <a:solidFill>
                  <a:srgbClr val="4F8734"/>
                </a:solidFill>
              </a:defRPr>
            </a:lvl4pPr>
            <a:lvl5pPr>
              <a:buNone/>
              <a:defRPr sz="1950" b="1">
                <a:solidFill>
                  <a:srgbClr val="4F8734"/>
                </a:solidFill>
              </a:defRPr>
            </a:lvl5pPr>
            <a:lvl6pPr>
              <a:buNone/>
              <a:defRPr sz="1950" b="1">
                <a:solidFill>
                  <a:srgbClr val="4F8734"/>
                </a:solidFill>
              </a:defRPr>
            </a:lvl6pPr>
            <a:lvl7pPr>
              <a:buNone/>
              <a:defRPr sz="1950" b="1">
                <a:solidFill>
                  <a:srgbClr val="4F8734"/>
                </a:solidFill>
              </a:defRPr>
            </a:lvl7pPr>
            <a:lvl8pPr>
              <a:buNone/>
              <a:defRPr sz="1950" b="1">
                <a:solidFill>
                  <a:srgbClr val="4F8734"/>
                </a:solidFill>
              </a:defRPr>
            </a:lvl8pPr>
            <a:lvl9pPr>
              <a:buNone/>
              <a:defRPr sz="1950" b="1">
                <a:solidFill>
                  <a:srgbClr val="4F8734"/>
                </a:solidFill>
              </a:defRPr>
            </a:lvl9pPr>
          </a:lstStyle>
          <a:p xmlns:a="http://schemas.openxmlformats.org/drawingml/2006/main">
            <a:pPr>
              <a:buNone/>
              <a:defRPr sz="1950" b="1">
                <a:solidFill>
                  <a:srgbClr val="4F8734"/>
                </a:solidFill>
              </a:defRPr>
            </a:pPr>
            <a:r>
              <a:rPr sz="1950" b="1">
                <a:solidFill>
                  <a:srgbClr val="4F8734"/>
                </a:solidFill>
              </a:rPr>
              <a:t>What could explain the four incomplete cases?</a:t>
            </a:r>
          </a:p>
        </p:txBody>
      </p:sp>
      <p:sp>
        <p:nvSpPr>
          <p:cNvPr id="2006" name="takeaway">
            <a:extLst xmlns:a="http://schemas.openxmlformats.org/drawingml/2006/main">
              <a:ext uri="{FF2B5EF4-FFF2-40B4-BE49-F238E27FC236}">
                <a16:creationId xmlns:a16="http://schemas.microsoft.com/office/drawing/2014/main" id="{D489560D-AF0E-4F7D-9E41-2B7F4A14F620}"/>
              </a:ext>
            </a:extLst>
          </p:cNvPr>
          <p:cNvSpPr>
            <a:spLocks xmlns:a="http://schemas.openxmlformats.org/drawingml/2006/main" noGrp="1"/>
          </p:cNvSpPr>
          <p:nvPr/>
        </p:nvSpPr>
        <p:spPr>
          <a:xfrm xmlns:a="http://schemas.openxmlformats.org/drawingml/2006/main">
            <a:off x="812864" y="562356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303238"/>
                </a:solidFill>
              </a:defRPr>
            </a:defPPr>
            <a:lvl1pPr>
              <a:buNone/>
              <a:defRPr sz="1575" b="1">
                <a:solidFill>
                  <a:srgbClr val="303238"/>
                </a:solidFill>
              </a:defRPr>
            </a:lvl1pPr>
            <a:lvl2pPr>
              <a:buNone/>
              <a:defRPr sz="1575" b="1">
                <a:solidFill>
                  <a:srgbClr val="303238"/>
                </a:solidFill>
              </a:defRPr>
            </a:lvl2pPr>
            <a:lvl3pPr>
              <a:buNone/>
              <a:defRPr sz="1575" b="1">
                <a:solidFill>
                  <a:srgbClr val="303238"/>
                </a:solidFill>
              </a:defRPr>
            </a:lvl3pPr>
            <a:lvl4pPr>
              <a:buNone/>
              <a:defRPr sz="1575" b="1">
                <a:solidFill>
                  <a:srgbClr val="303238"/>
                </a:solidFill>
              </a:defRPr>
            </a:lvl4pPr>
            <a:lvl5pPr>
              <a:buNone/>
              <a:defRPr sz="1575" b="1">
                <a:solidFill>
                  <a:srgbClr val="303238"/>
                </a:solidFill>
              </a:defRPr>
            </a:lvl5pPr>
            <a:lvl6pPr>
              <a:buNone/>
              <a:defRPr sz="1575" b="1">
                <a:solidFill>
                  <a:srgbClr val="303238"/>
                </a:solidFill>
              </a:defRPr>
            </a:lvl6pPr>
            <a:lvl7pPr>
              <a:buNone/>
              <a:defRPr sz="1575" b="1">
                <a:solidFill>
                  <a:srgbClr val="303238"/>
                </a:solidFill>
              </a:defRPr>
            </a:lvl7pPr>
            <a:lvl8pPr>
              <a:buNone/>
              <a:defRPr sz="1575" b="1">
                <a:solidFill>
                  <a:srgbClr val="303238"/>
                </a:solidFill>
              </a:defRPr>
            </a:lvl8pPr>
            <a:lvl9pPr>
              <a:buNone/>
              <a:defRPr sz="1575" b="1">
                <a:solidFill>
                  <a:srgbClr val="303238"/>
                </a:solidFill>
              </a:defRPr>
            </a:lvl9pPr>
          </a:lstStyle>
          <a:p xmlns:a="http://schemas.openxmlformats.org/drawingml/2006/main">
            <a:pPr>
              <a:buNone/>
              <a:defRPr sz="1575" b="1">
                <a:solidFill>
                  <a:srgbClr val="303238"/>
                </a:solidFill>
              </a:defRPr>
            </a:pPr>
            <a:r>
              <a:rPr sz="1575" b="1">
                <a:solidFill>
                  <a:srgbClr val="303238"/>
                </a:solidFill>
              </a:rPr>
              <a:t>Sonnet adds catches in access control, injection and authentication.</a:t>
            </a:r>
          </a:p>
        </p:txBody>
      </p:sp>
      <p:sp>
        <p:nvSpPr>
          <p:cNvPr id="2007" name="detail">
            <a:extLst xmlns:a="http://schemas.openxmlformats.org/drawingml/2006/main">
              <a:ext uri="{FF2B5EF4-FFF2-40B4-BE49-F238E27FC236}">
                <a16:creationId xmlns:a16="http://schemas.microsoft.com/office/drawing/2014/main" id="{E17C5F62-EECC-4FE0-AF56-B51B35579171}"/>
              </a:ext>
            </a:extLst>
          </p:cNvPr>
          <p:cNvSpPr>
            <a:spLocks xmlns:a="http://schemas.openxmlformats.org/drawingml/2006/main" noGrp="1"/>
          </p:cNvSpPr>
          <p:nvPr/>
        </p:nvSpPr>
        <p:spPr>
          <a:xfrm xmlns:a="http://schemas.openxmlformats.org/drawingml/2006/main">
            <a:off x="812864" y="5925312"/>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505050"/>
                </a:solidFill>
              </a:defRPr>
            </a:defPPr>
            <a:lvl1pPr>
              <a:buNone/>
              <a:defRPr sz="1500" b="0">
                <a:solidFill>
                  <a:srgbClr val="505050"/>
                </a:solidFill>
              </a:defRPr>
            </a:lvl1pPr>
            <a:lvl2pPr>
              <a:buNone/>
              <a:defRPr sz="1500" b="0">
                <a:solidFill>
                  <a:srgbClr val="505050"/>
                </a:solidFill>
              </a:defRPr>
            </a:lvl2pPr>
            <a:lvl3pPr>
              <a:buNone/>
              <a:defRPr sz="1500" b="0">
                <a:solidFill>
                  <a:srgbClr val="505050"/>
                </a:solidFill>
              </a:defRPr>
            </a:lvl3pPr>
            <a:lvl4pPr>
              <a:buNone/>
              <a:defRPr sz="1500" b="0">
                <a:solidFill>
                  <a:srgbClr val="505050"/>
                </a:solidFill>
              </a:defRPr>
            </a:lvl4pPr>
            <a:lvl5pPr>
              <a:buNone/>
              <a:defRPr sz="1500" b="0">
                <a:solidFill>
                  <a:srgbClr val="505050"/>
                </a:solidFill>
              </a:defRPr>
            </a:lvl5pPr>
            <a:lvl6pPr>
              <a:buNone/>
              <a:defRPr sz="1500" b="0">
                <a:solidFill>
                  <a:srgbClr val="505050"/>
                </a:solidFill>
              </a:defRPr>
            </a:lvl6pPr>
            <a:lvl7pPr>
              <a:buNone/>
              <a:defRPr sz="1500" b="0">
                <a:solidFill>
                  <a:srgbClr val="505050"/>
                </a:solidFill>
              </a:defRPr>
            </a:lvl7pPr>
            <a:lvl8pPr>
              <a:buNone/>
              <a:defRPr sz="1500" b="0">
                <a:solidFill>
                  <a:srgbClr val="505050"/>
                </a:solidFill>
              </a:defRPr>
            </a:lvl8pPr>
            <a:lvl9pPr>
              <a:buNone/>
              <a:defRPr sz="1500" b="0">
                <a:solidFill>
                  <a:srgbClr val="505050"/>
                </a:solidFill>
              </a:defRPr>
            </a:lvl9pPr>
          </a:lstStyle>
          <a:p xmlns:a="http://schemas.openxmlformats.org/drawingml/2006/main">
            <a:pPr>
              <a:buNone/>
              <a:defRPr sz="1500" b="0">
                <a:solidFill>
                  <a:srgbClr val="505050"/>
                </a:solidFill>
              </a:defRPr>
            </a:pPr>
            <a:r>
              <a:rPr sz="1500" b="0">
                <a:solidFill>
                  <a:srgbClr val="505050"/>
                </a:solidFill>
              </a:rPr>
              <a:t>Four cases remain incomplete: 3 Partial and 1 Missed.</a:t>
            </a:r>
          </a:p>
        </p:txBody>
      </p:sp>
      <p:sp>
        <p:nvSpPr>
          <p:cNvPr id="2010" name="False alarm denominator note"/>
          <p:cNvSpPr>
            <a:spLocks xmlns:a="http://schemas.openxmlformats.org/drawingml/2006/main" noGrp="1"/>
          </p:cNvSpPr>
          <p:nvPr/>
        </p:nvSpPr>
        <p:spPr>
          <a:xfrm xmlns:a="http://schemas.openxmlformats.org/drawingml/2006/main">
            <a:off x="812864" y="6345936"/>
            <a:ext cx="987552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000" b="0">
                <a:solidFill>
                  <a:srgbClr val="666666"/>
                </a:solidFill>
              </a:defRPr>
            </a:defPPr>
            <a:lvl1pPr>
              <a:buNone/>
              <a:defRPr sz="1000" b="0">
                <a:solidFill>
                  <a:srgbClr val="666666"/>
                </a:solidFill>
              </a:defRPr>
            </a:lvl1pPr>
            <a:lvl2pPr>
              <a:buNone/>
              <a:defRPr sz="1000" b="0">
                <a:solidFill>
                  <a:srgbClr val="666666"/>
                </a:solidFill>
              </a:defRPr>
            </a:lvl2pPr>
            <a:lvl3pPr>
              <a:buNone/>
              <a:defRPr sz="1000" b="0">
                <a:solidFill>
                  <a:srgbClr val="666666"/>
                </a:solidFill>
              </a:defRPr>
            </a:lvl3pPr>
            <a:lvl4pPr>
              <a:buNone/>
              <a:defRPr sz="1000" b="0">
                <a:solidFill>
                  <a:srgbClr val="666666"/>
                </a:solidFill>
              </a:defRPr>
            </a:lvl4pPr>
            <a:lvl5pPr>
              <a:buNone/>
              <a:defRPr sz="1000" b="0">
                <a:solidFill>
                  <a:srgbClr val="666666"/>
                </a:solidFill>
              </a:defRPr>
            </a:lvl5pPr>
            <a:lvl6pPr>
              <a:buNone/>
              <a:defRPr sz="1000" b="0">
                <a:solidFill>
                  <a:srgbClr val="666666"/>
                </a:solidFill>
              </a:defRPr>
            </a:lvl6pPr>
            <a:lvl7pPr>
              <a:buNone/>
              <a:defRPr sz="1000" b="0">
                <a:solidFill>
                  <a:srgbClr val="666666"/>
                </a:solidFill>
              </a:defRPr>
            </a:lvl7pPr>
            <a:lvl8pPr>
              <a:buNone/>
              <a:defRPr sz="1000" b="0">
                <a:solidFill>
                  <a:srgbClr val="666666"/>
                </a:solidFill>
              </a:defRPr>
            </a:lvl8pPr>
            <a:lvl9pPr>
              <a:buNone/>
              <a:defRPr sz="1000" b="0">
                <a:solidFill>
                  <a:srgbClr val="666666"/>
                </a:solidFill>
              </a:defRPr>
            </a:lvl9pPr>
          </a:lstStyle>
          <a:p xmlns:a="http://schemas.openxmlformats.org/drawingml/2006/main">
            <a:pPr>
              <a:buNone/>
              <a:defRPr sz="1000" b="0">
                <a:solidFill>
                  <a:srgbClr val="666666"/>
                </a:solidFill>
              </a:defRPr>
            </a:pPr>
            <a:r>
              <a:rPr sz="1000" b="0">
                <a:solidFill>
                  <a:srgbClr val="666666"/>
                </a:solidFill>
              </a:rPr>
              <a:t>* Separate benign changes, not CVEs: 10 reviews per original model.</a:t>
            </a:r>
          </a:p>
        </p:txBody>
      </p:sp>
    </p:spTree>
    <p:extLst>
      <p:ext uri="{BB962C8B-B14F-4D97-AF65-F5344CB8AC3E}">
        <p14:creationId xmlns:p14="http://schemas.microsoft.com/office/powerpoint/2010/main" val="204974125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729CB264-116B-9E0B-9425-EC1BB40A40D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i="1"/>
              <a:t>What does your AI reviewer receive today?</a:t>
            </a:r>
            <a:endParaRPr/>
          </a:p>
        </p:txBody>
      </p:sp>
      <p:sp>
        <p:nvSpPr>
          <p:cNvPr id="9" name="Text Placeholder 8">
            <a:extLst xmlns:a="http://schemas.openxmlformats.org/drawingml/2006/main">
              <a:ext uri="{FF2B5EF4-FFF2-40B4-BE49-F238E27FC236}">
                <a16:creationId xmlns:a16="http://schemas.microsoft.com/office/drawing/2014/main" id="{6236E4F4-3941-B062-C5E9-6FC494FC8061}"/>
              </a:ext>
            </a:extLst>
          </p:cNvPr>
          <p:cNvSpPr>
            <a:spLocks xmlns:a="http://schemas.openxmlformats.org/drawingml/2006/main" noGrp="1"/>
          </p:cNvSpPr>
          <p:nvPr>
            <p:ph type="body" idx="10"/>
          </p:nvPr>
        </p:nvSpPr>
        <p:spPr/>
        <p:txBody>
          <a:bodyPr xmlns:a="http://schemas.openxmlformats.org/drawingml/2006/main"/>
          <a:lstStyle xmlns:a="http://schemas.openxmlformats.org/drawingml/2006/main"/>
          <a:p xmlns:a="http://schemas.openxmlformats.org/drawingml/2006/main">
            <a:r>
              <a:t>The PR diff only</a:t>
            </a:r>
          </a:p>
          <a:p xmlns:a="http://schemas.openxmlformats.org/drawingml/2006/main">
            <a:r>
              <a:t>The diff and related code</a:t>
            </a:r>
          </a:p>
          <a:p xmlns:a="http://schemas.openxmlformats.org/drawingml/2006/main">
            <a:r>
              <a:t>Code plus design documents or a threat model</a:t>
            </a:r>
          </a:p>
          <a:p xmlns:a="http://schemas.openxmlformats.org/drawingml/2006/main">
            <a:r>
              <a:t>I don’t know</a:t>
            </a:r>
          </a:p>
          <a:p xmlns:a="http://schemas.openxmlformats.org/drawingml/2006/main">
            <a:r>
              <a:t>We don’t use AI review</a:t>
            </a:r>
          </a:p>
          <a:p xmlns:a="http://schemas.openxmlformats.org/drawingml/2006/main">
            <a:endParaRPr/>
          </a:p>
        </p:txBody>
      </p:sp>
    </p:spTree>
    <p:extLst>
      <p:ext uri="{BB962C8B-B14F-4D97-AF65-F5344CB8AC3E}">
        <p14:creationId xmlns:p14="http://schemas.microsoft.com/office/powerpoint/2010/main" val="544060154"/>
      </p:ext>
    </p:extLst>
  </p:cSld>
</p:sld>
</file>

<file path=ppt/slides/slide11.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580D7DC-2936-4A86-9D5B-9751E9996DDE}"/>
              </a:ext>
            </a:extLst>
          </p:cNvPr>
          <p:cNvPicPr>
            <a:picLocks xmlns:a="http://schemas.openxmlformats.org/drawingml/2006/main" noChangeAspect="1"/>
          </p:cNvPicPr>
          <p:nvPr/>
        </p:nvPicPr>
        <p:blipFill>
          <a:blip xmlns:r="http://schemas.openxmlformats.org/officeDocument/2006/relationships" xmlns:a="http://schemas.openxmlformats.org/drawingml/2006/main" r:embed="Ref6b5f59135f4c99"/>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F10D35FC-5021-4A27-8837-3D48871CA36B}"/>
              </a:ext>
            </a:extLst>
          </p:cNvPr>
          <p:cNvPicPr>
            <a:picLocks xmlns:a="http://schemas.openxmlformats.org/drawingml/2006/main" noChangeAspect="1"/>
          </p:cNvPicPr>
          <p:nvPr/>
        </p:nvPicPr>
        <p:blipFill>
          <a:blip xmlns:r="http://schemas.openxmlformats.org/officeDocument/2006/relationships" xmlns:a="http://schemas.openxmlformats.org/drawingml/2006/main" r:embed="R106998104e2545ba"/>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A3CACF52-125C-461E-AFE2-93A55BF68A29}"/>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Give the agent the context it needs</a:t>
            </a:r>
            <a:endParaRPr sz="3200"/>
          </a:p>
        </p:txBody>
      </p:sp>
      <p:sp>
        <p:nvSpPr>
          <p:cNvPr id="36" name="Text 25">
            <a:extLst xmlns:a="http://schemas.openxmlformats.org/drawingml/2006/main">
              <a:ext uri="{FF2B5EF4-FFF2-40B4-BE49-F238E27FC236}">
                <a16:creationId xmlns:a16="http://schemas.microsoft.com/office/drawing/2014/main" id="{8DA29E46-7801-4373-A3F2-748275B84A3D}"/>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Context principle">
            <a:extLst xmlns:a="http://schemas.openxmlformats.org/drawingml/2006/main">
              <a:ext uri="{FF2B5EF4-FFF2-40B4-BE49-F238E27FC236}">
                <a16:creationId xmlns:a16="http://schemas.microsoft.com/office/drawing/2014/main" id="{35F360F7-B2A6-4751-8D89-0BEAB49925A3}"/>
              </a:ext>
            </a:extLst>
          </p:cNvPr>
          <p:cNvSpPr>
            <a:spLocks xmlns:a="http://schemas.openxmlformats.org/drawingml/2006/main" noGrp="1"/>
          </p:cNvSpPr>
          <p:nvPr/>
        </p:nvSpPr>
        <p:spPr>
          <a:xfrm xmlns:a="http://schemas.openxmlformats.org/drawingml/2006/main">
            <a:off x="812902" y="1399032"/>
            <a:ext cx="10561320" cy="41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Select the information that explains this change, then retain its source.</a:t>
            </a:r>
          </a:p>
        </p:txBody>
      </p:sp>
      <p:sp>
        <p:nvSpPr>
          <p:cNvPr id="1001" name="Context merge bus">
            <a:extLst xmlns:a="http://schemas.openxmlformats.org/drawingml/2006/main">
              <a:ext uri="{FF2B5EF4-FFF2-40B4-BE49-F238E27FC236}">
                <a16:creationId xmlns:a16="http://schemas.microsoft.com/office/drawing/2014/main" id="{31CAC5CD-5F71-4441-AA8C-7C818FAE4934}"/>
              </a:ext>
            </a:extLst>
          </p:cNvPr>
          <p:cNvSpPr>
            <a:spLocks xmlns:a="http://schemas.openxmlformats.org/drawingml/2006/main" noGrp="1"/>
          </p:cNvSpPr>
          <p:nvPr/>
        </p:nvSpPr>
        <p:spPr>
          <a:xfrm xmlns:a="http://schemas.openxmlformats.org/drawingml/2006/main">
            <a:off x="5715000" y="2331720"/>
            <a:ext cx="22860" cy="2688336"/>
          </a:xfrm>
          <a:prstGeom xmlns:a="http://schemas.openxmlformats.org/drawingml/2006/main" prst="rect">
            <a:avLst/>
          </a:prstGeom>
          <a:solidFill xmlns:a="http://schemas.openxmlformats.org/drawingml/2006/main">
            <a:srgbClr val="BEC6C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2" name="Context source 0">
            <a:extLst xmlns:a="http://schemas.openxmlformats.org/drawingml/2006/main">
              <a:ext uri="{FF2B5EF4-FFF2-40B4-BE49-F238E27FC236}">
                <a16:creationId xmlns:a16="http://schemas.microsoft.com/office/drawing/2014/main" id="{DB787D46-2836-4ECA-97B0-B47248711859}"/>
              </a:ext>
            </a:extLst>
          </p:cNvPr>
          <p:cNvSpPr>
            <a:spLocks xmlns:a="http://schemas.openxmlformats.org/drawingml/2006/main" noGrp="1"/>
          </p:cNvSpPr>
          <p:nvPr/>
        </p:nvSpPr>
        <p:spPr>
          <a:xfrm xmlns:a="http://schemas.openxmlformats.org/drawingml/2006/main">
            <a:off x="812902" y="2039112"/>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00" b="1">
                <a:solidFill>
                  <a:srgbClr val="0086B6"/>
                </a:solidFill>
              </a:defRPr>
            </a:defPPr>
            <a:lvl1pPr>
              <a:buNone/>
              <a:defRPr sz="2200" b="1">
                <a:solidFill>
                  <a:srgbClr val="0086B6"/>
                </a:solidFill>
              </a:defRPr>
            </a:lvl1pPr>
            <a:lvl2pPr>
              <a:buNone/>
              <a:defRPr sz="2200" b="1">
                <a:solidFill>
                  <a:srgbClr val="0086B6"/>
                </a:solidFill>
              </a:defRPr>
            </a:lvl2pPr>
            <a:lvl3pPr>
              <a:buNone/>
              <a:defRPr sz="2200" b="1">
                <a:solidFill>
                  <a:srgbClr val="0086B6"/>
                </a:solidFill>
              </a:defRPr>
            </a:lvl3pPr>
            <a:lvl4pPr>
              <a:buNone/>
              <a:defRPr sz="2200" b="1">
                <a:solidFill>
                  <a:srgbClr val="0086B6"/>
                </a:solidFill>
              </a:defRPr>
            </a:lvl4pPr>
            <a:lvl5pPr>
              <a:buNone/>
              <a:defRPr sz="2200" b="1">
                <a:solidFill>
                  <a:srgbClr val="0086B6"/>
                </a:solidFill>
              </a:defRPr>
            </a:lvl5pPr>
            <a:lvl6pPr>
              <a:buNone/>
              <a:defRPr sz="2200" b="1">
                <a:solidFill>
                  <a:srgbClr val="0086B6"/>
                </a:solidFill>
              </a:defRPr>
            </a:lvl6pPr>
            <a:lvl7pPr>
              <a:buNone/>
              <a:defRPr sz="2200" b="1">
                <a:solidFill>
                  <a:srgbClr val="0086B6"/>
                </a:solidFill>
              </a:defRPr>
            </a:lvl7pPr>
            <a:lvl8pPr>
              <a:buNone/>
              <a:defRPr sz="2200" b="1">
                <a:solidFill>
                  <a:srgbClr val="0086B6"/>
                </a:solidFill>
              </a:defRPr>
            </a:lvl8pPr>
            <a:lvl9pPr>
              <a:buNone/>
              <a:defRPr sz="2200" b="1">
                <a:solidFill>
                  <a:srgbClr val="0086B6"/>
                </a:solidFill>
              </a:defRPr>
            </a:lvl9pPr>
          </a:lstStyle>
          <a:p xmlns:a="http://schemas.openxmlformats.org/drawingml/2006/main">
            <a:pPr>
              <a:buNone/>
              <a:defRPr sz="2200" b="1">
                <a:solidFill>
                  <a:srgbClr val="0086B6"/>
                </a:solidFill>
              </a:defRPr>
            </a:pPr>
            <a:r>
              <a:rPr sz="2200" b="1">
                <a:solidFill>
                  <a:srgbClr val="0086B6"/>
                </a:solidFill>
                <a:latin typeface="Arial"/>
                <a:ea typeface="Arial"/>
                <a:cs typeface="Arial"/>
              </a:rPr>
              <a:t>Project map</a:t>
            </a:r>
          </a:p>
        </p:txBody>
      </p:sp>
      <p:sp>
        <p:nvSpPr>
          <p:cNvPr id="1003" name="Context example 0">
            <a:extLst xmlns:a="http://schemas.openxmlformats.org/drawingml/2006/main">
              <a:ext uri="{FF2B5EF4-FFF2-40B4-BE49-F238E27FC236}">
                <a16:creationId xmlns:a16="http://schemas.microsoft.com/office/drawing/2014/main" id="{F37A5DC4-C58B-4844-BBAE-910D37589050}"/>
              </a:ext>
            </a:extLst>
          </p:cNvPr>
          <p:cNvSpPr>
            <a:spLocks xmlns:a="http://schemas.openxmlformats.org/drawingml/2006/main" noGrp="1"/>
          </p:cNvSpPr>
          <p:nvPr/>
        </p:nvSpPr>
        <p:spPr>
          <a:xfrm xmlns:a="http://schemas.openxmlformats.org/drawingml/2006/main">
            <a:off x="812902" y="2459736"/>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6B6B73"/>
                </a:solidFill>
              </a:defRPr>
            </a:defPPr>
            <a:lvl1pPr>
              <a:buNone/>
              <a:defRPr sz="1500" b="0">
                <a:solidFill>
                  <a:srgbClr val="6B6B73"/>
                </a:solidFill>
              </a:defRPr>
            </a:lvl1pPr>
            <a:lvl2pPr>
              <a:buNone/>
              <a:defRPr sz="1500" b="0">
                <a:solidFill>
                  <a:srgbClr val="6B6B73"/>
                </a:solidFill>
              </a:defRPr>
            </a:lvl2pPr>
            <a:lvl3pPr>
              <a:buNone/>
              <a:defRPr sz="1500" b="0">
                <a:solidFill>
                  <a:srgbClr val="6B6B73"/>
                </a:solidFill>
              </a:defRPr>
            </a:lvl3pPr>
            <a:lvl4pPr>
              <a:buNone/>
              <a:defRPr sz="1500" b="0">
                <a:solidFill>
                  <a:srgbClr val="6B6B73"/>
                </a:solidFill>
              </a:defRPr>
            </a:lvl4pPr>
            <a:lvl5pPr>
              <a:buNone/>
              <a:defRPr sz="1500" b="0">
                <a:solidFill>
                  <a:srgbClr val="6B6B73"/>
                </a:solidFill>
              </a:defRPr>
            </a:lvl5pPr>
            <a:lvl6pPr>
              <a:buNone/>
              <a:defRPr sz="1500" b="0">
                <a:solidFill>
                  <a:srgbClr val="6B6B73"/>
                </a:solidFill>
              </a:defRPr>
            </a:lvl6pPr>
            <a:lvl7pPr>
              <a:buNone/>
              <a:defRPr sz="1500" b="0">
                <a:solidFill>
                  <a:srgbClr val="6B6B73"/>
                </a:solidFill>
              </a:defRPr>
            </a:lvl7pPr>
            <a:lvl8pPr>
              <a:buNone/>
              <a:defRPr sz="1500" b="0">
                <a:solidFill>
                  <a:srgbClr val="6B6B73"/>
                </a:solidFill>
              </a:defRPr>
            </a:lvl8pPr>
            <a:lvl9pPr>
              <a:buNone/>
              <a:defRPr sz="1500" b="0">
                <a:solidFill>
                  <a:srgbClr val="6B6B73"/>
                </a:solidFill>
              </a:defRPr>
            </a:lvl9pPr>
          </a:lstStyle>
          <a:p xmlns:a="http://schemas.openxmlformats.org/drawingml/2006/main">
            <a:pPr>
              <a:buNone/>
              <a:defRPr sz="1500" b="0">
                <a:solidFill>
                  <a:srgbClr val="6B6B73"/>
                </a:solidFill>
              </a:defRPr>
            </a:pPr>
            <a:r>
              <a:rPr sz="1500" b="0">
                <a:solidFill>
                  <a:srgbClr val="6B6B73"/>
                </a:solidFill>
                <a:latin typeface="Arial"/>
                <a:ea typeface="Arial"/>
                <a:cs typeface="Arial"/>
              </a:rPr>
              <a:t>Architecture, data flows and trust boundaries</a:t>
            </a:r>
          </a:p>
        </p:txBody>
      </p:sp>
      <p:sp>
        <p:nvSpPr>
          <p:cNvPr id="1004" name="Source connection 0">
            <a:extLst xmlns:a="http://schemas.openxmlformats.org/drawingml/2006/main">
              <a:ext uri="{FF2B5EF4-FFF2-40B4-BE49-F238E27FC236}">
                <a16:creationId xmlns:a16="http://schemas.microsoft.com/office/drawing/2014/main" id="{8E5C689D-ABCB-4092-944C-821FA7CDCFD1}"/>
              </a:ext>
            </a:extLst>
          </p:cNvPr>
          <p:cNvSpPr>
            <a:spLocks xmlns:a="http://schemas.openxmlformats.org/drawingml/2006/main" noGrp="1"/>
          </p:cNvSpPr>
          <p:nvPr/>
        </p:nvSpPr>
        <p:spPr>
          <a:xfrm xmlns:a="http://schemas.openxmlformats.org/drawingml/2006/main">
            <a:off x="5212080" y="2331720"/>
            <a:ext cx="525780" cy="22860"/>
          </a:xfrm>
          <a:prstGeom xmlns:a="http://schemas.openxmlformats.org/drawingml/2006/main" prst="rect">
            <a:avLst/>
          </a:prstGeom>
          <a:solidFill xmlns:a="http://schemas.openxmlformats.org/drawingml/2006/main">
            <a:srgbClr val="BEC6C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5" name="Context source 1">
            <a:extLst xmlns:a="http://schemas.openxmlformats.org/drawingml/2006/main">
              <a:ext uri="{FF2B5EF4-FFF2-40B4-BE49-F238E27FC236}">
                <a16:creationId xmlns:a16="http://schemas.microsoft.com/office/drawing/2014/main" id="{B4DF0E52-FADE-4011-88C5-67CEC084DF5B}"/>
              </a:ext>
            </a:extLst>
          </p:cNvPr>
          <p:cNvSpPr>
            <a:spLocks xmlns:a="http://schemas.openxmlformats.org/drawingml/2006/main" noGrp="1"/>
          </p:cNvSpPr>
          <p:nvPr/>
        </p:nvSpPr>
        <p:spPr>
          <a:xfrm xmlns:a="http://schemas.openxmlformats.org/drawingml/2006/main">
            <a:off x="812902" y="2935224"/>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00" b="1">
                <a:solidFill>
                  <a:srgbClr val="4C8835"/>
                </a:solidFill>
              </a:defRPr>
            </a:defPPr>
            <a:lvl1pPr>
              <a:buNone/>
              <a:defRPr sz="2200" b="1">
                <a:solidFill>
                  <a:srgbClr val="4C8835"/>
                </a:solidFill>
              </a:defRPr>
            </a:lvl1pPr>
            <a:lvl2pPr>
              <a:buNone/>
              <a:defRPr sz="2200" b="1">
                <a:solidFill>
                  <a:srgbClr val="4C8835"/>
                </a:solidFill>
              </a:defRPr>
            </a:lvl2pPr>
            <a:lvl3pPr>
              <a:buNone/>
              <a:defRPr sz="2200" b="1">
                <a:solidFill>
                  <a:srgbClr val="4C8835"/>
                </a:solidFill>
              </a:defRPr>
            </a:lvl3pPr>
            <a:lvl4pPr>
              <a:buNone/>
              <a:defRPr sz="2200" b="1">
                <a:solidFill>
                  <a:srgbClr val="4C8835"/>
                </a:solidFill>
              </a:defRPr>
            </a:lvl4pPr>
            <a:lvl5pPr>
              <a:buNone/>
              <a:defRPr sz="2200" b="1">
                <a:solidFill>
                  <a:srgbClr val="4C8835"/>
                </a:solidFill>
              </a:defRPr>
            </a:lvl5pPr>
            <a:lvl6pPr>
              <a:buNone/>
              <a:defRPr sz="2200" b="1">
                <a:solidFill>
                  <a:srgbClr val="4C8835"/>
                </a:solidFill>
              </a:defRPr>
            </a:lvl6pPr>
            <a:lvl7pPr>
              <a:buNone/>
              <a:defRPr sz="2200" b="1">
                <a:solidFill>
                  <a:srgbClr val="4C8835"/>
                </a:solidFill>
              </a:defRPr>
            </a:lvl7pPr>
            <a:lvl8pPr>
              <a:buNone/>
              <a:defRPr sz="2200" b="1">
                <a:solidFill>
                  <a:srgbClr val="4C8835"/>
                </a:solidFill>
              </a:defRPr>
            </a:lvl8pPr>
            <a:lvl9pPr>
              <a:buNone/>
              <a:defRPr sz="2200" b="1">
                <a:solidFill>
                  <a:srgbClr val="4C8835"/>
                </a:solidFill>
              </a:defRPr>
            </a:lvl9pPr>
          </a:lstStyle>
          <a:p xmlns:a="http://schemas.openxmlformats.org/drawingml/2006/main">
            <a:pPr>
              <a:buNone/>
              <a:defRPr sz="2200" b="1">
                <a:solidFill>
                  <a:srgbClr val="4C8835"/>
                </a:solidFill>
              </a:defRPr>
            </a:pPr>
            <a:r>
              <a:rPr sz="2200" b="1">
                <a:solidFill>
                  <a:srgbClr val="4C8835"/>
                </a:solidFill>
                <a:latin typeface="Arial"/>
                <a:ea typeface="Arial"/>
                <a:cs typeface="Arial"/>
              </a:rPr>
              <a:t>Local guidance</a:t>
            </a:r>
          </a:p>
        </p:txBody>
      </p:sp>
      <p:sp>
        <p:nvSpPr>
          <p:cNvPr id="1006" name="Context example 1">
            <a:extLst xmlns:a="http://schemas.openxmlformats.org/drawingml/2006/main">
              <a:ext uri="{FF2B5EF4-FFF2-40B4-BE49-F238E27FC236}">
                <a16:creationId xmlns:a16="http://schemas.microsoft.com/office/drawing/2014/main" id="{2906DC37-20AA-434F-85D1-4683C8DE5175}"/>
              </a:ext>
            </a:extLst>
          </p:cNvPr>
          <p:cNvSpPr>
            <a:spLocks xmlns:a="http://schemas.openxmlformats.org/drawingml/2006/main" noGrp="1"/>
          </p:cNvSpPr>
          <p:nvPr/>
        </p:nvSpPr>
        <p:spPr>
          <a:xfrm xmlns:a="http://schemas.openxmlformats.org/drawingml/2006/main">
            <a:off x="812902" y="3355848"/>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6B6B73"/>
                </a:solidFill>
              </a:defRPr>
            </a:defPPr>
            <a:lvl1pPr>
              <a:buNone/>
              <a:defRPr sz="1500" b="0">
                <a:solidFill>
                  <a:srgbClr val="6B6B73"/>
                </a:solidFill>
              </a:defRPr>
            </a:lvl1pPr>
            <a:lvl2pPr>
              <a:buNone/>
              <a:defRPr sz="1500" b="0">
                <a:solidFill>
                  <a:srgbClr val="6B6B73"/>
                </a:solidFill>
              </a:defRPr>
            </a:lvl2pPr>
            <a:lvl3pPr>
              <a:buNone/>
              <a:defRPr sz="1500" b="0">
                <a:solidFill>
                  <a:srgbClr val="6B6B73"/>
                </a:solidFill>
              </a:defRPr>
            </a:lvl3pPr>
            <a:lvl4pPr>
              <a:buNone/>
              <a:defRPr sz="1500" b="0">
                <a:solidFill>
                  <a:srgbClr val="6B6B73"/>
                </a:solidFill>
              </a:defRPr>
            </a:lvl4pPr>
            <a:lvl5pPr>
              <a:buNone/>
              <a:defRPr sz="1500" b="0">
                <a:solidFill>
                  <a:srgbClr val="6B6B73"/>
                </a:solidFill>
              </a:defRPr>
            </a:lvl5pPr>
            <a:lvl6pPr>
              <a:buNone/>
              <a:defRPr sz="1500" b="0">
                <a:solidFill>
                  <a:srgbClr val="6B6B73"/>
                </a:solidFill>
              </a:defRPr>
            </a:lvl6pPr>
            <a:lvl7pPr>
              <a:buNone/>
              <a:defRPr sz="1500" b="0">
                <a:solidFill>
                  <a:srgbClr val="6B6B73"/>
                </a:solidFill>
              </a:defRPr>
            </a:lvl7pPr>
            <a:lvl8pPr>
              <a:buNone/>
              <a:defRPr sz="1500" b="0">
                <a:solidFill>
                  <a:srgbClr val="6B6B73"/>
                </a:solidFill>
              </a:defRPr>
            </a:lvl8pPr>
            <a:lvl9pPr>
              <a:buNone/>
              <a:defRPr sz="1500" b="0">
                <a:solidFill>
                  <a:srgbClr val="6B6B73"/>
                </a:solidFill>
              </a:defRPr>
            </a:lvl9pPr>
          </a:lstStyle>
          <a:p xmlns:a="http://schemas.openxmlformats.org/drawingml/2006/main">
            <a:pPr>
              <a:buNone/>
              <a:defRPr sz="1500" b="0">
                <a:solidFill>
                  <a:srgbClr val="6B6B73"/>
                </a:solidFill>
              </a:defRPr>
            </a:pPr>
            <a:r>
              <a:rPr sz="1500" b="0">
                <a:solidFill>
                  <a:srgbClr val="6B6B73"/>
                </a:solidFill>
                <a:latin typeface="Arial"/>
                <a:ea typeface="Arial"/>
                <a:cs typeface="Arial"/>
              </a:rPr>
              <a:t>Requirements, risk controls and review procedures</a:t>
            </a:r>
          </a:p>
        </p:txBody>
      </p:sp>
      <p:sp>
        <p:nvSpPr>
          <p:cNvPr id="1007" name="Source connection 1">
            <a:extLst xmlns:a="http://schemas.openxmlformats.org/drawingml/2006/main">
              <a:ext uri="{FF2B5EF4-FFF2-40B4-BE49-F238E27FC236}">
                <a16:creationId xmlns:a16="http://schemas.microsoft.com/office/drawing/2014/main" id="{EE7E41F9-A017-444D-8AAD-AE1AC23DC758}"/>
              </a:ext>
            </a:extLst>
          </p:cNvPr>
          <p:cNvSpPr>
            <a:spLocks xmlns:a="http://schemas.openxmlformats.org/drawingml/2006/main" noGrp="1"/>
          </p:cNvSpPr>
          <p:nvPr/>
        </p:nvSpPr>
        <p:spPr>
          <a:xfrm xmlns:a="http://schemas.openxmlformats.org/drawingml/2006/main">
            <a:off x="5212080" y="3227832"/>
            <a:ext cx="525780" cy="22860"/>
          </a:xfrm>
          <a:prstGeom xmlns:a="http://schemas.openxmlformats.org/drawingml/2006/main" prst="rect">
            <a:avLst/>
          </a:prstGeom>
          <a:solidFill xmlns:a="http://schemas.openxmlformats.org/drawingml/2006/main">
            <a:srgbClr val="BEC6C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8" name="Context source 2">
            <a:extLst xmlns:a="http://schemas.openxmlformats.org/drawingml/2006/main">
              <a:ext uri="{FF2B5EF4-FFF2-40B4-BE49-F238E27FC236}">
                <a16:creationId xmlns:a16="http://schemas.microsoft.com/office/drawing/2014/main" id="{6ADE06E3-7B3B-47FD-A2DD-3C35161DE577}"/>
              </a:ext>
            </a:extLst>
          </p:cNvPr>
          <p:cNvSpPr>
            <a:spLocks xmlns:a="http://schemas.openxmlformats.org/drawingml/2006/main" noGrp="1"/>
          </p:cNvSpPr>
          <p:nvPr/>
        </p:nvSpPr>
        <p:spPr>
          <a:xfrm xmlns:a="http://schemas.openxmlformats.org/drawingml/2006/main">
            <a:off x="812902" y="3831336"/>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00" b="1">
                <a:solidFill>
                  <a:srgbClr val="5665AE"/>
                </a:solidFill>
              </a:defRPr>
            </a:defPPr>
            <a:lvl1pPr>
              <a:buNone/>
              <a:defRPr sz="2200" b="1">
                <a:solidFill>
                  <a:srgbClr val="5665AE"/>
                </a:solidFill>
              </a:defRPr>
            </a:lvl1pPr>
            <a:lvl2pPr>
              <a:buNone/>
              <a:defRPr sz="2200" b="1">
                <a:solidFill>
                  <a:srgbClr val="5665AE"/>
                </a:solidFill>
              </a:defRPr>
            </a:lvl2pPr>
            <a:lvl3pPr>
              <a:buNone/>
              <a:defRPr sz="2200" b="1">
                <a:solidFill>
                  <a:srgbClr val="5665AE"/>
                </a:solidFill>
              </a:defRPr>
            </a:lvl3pPr>
            <a:lvl4pPr>
              <a:buNone/>
              <a:defRPr sz="2200" b="1">
                <a:solidFill>
                  <a:srgbClr val="5665AE"/>
                </a:solidFill>
              </a:defRPr>
            </a:lvl4pPr>
            <a:lvl5pPr>
              <a:buNone/>
              <a:defRPr sz="2200" b="1">
                <a:solidFill>
                  <a:srgbClr val="5665AE"/>
                </a:solidFill>
              </a:defRPr>
            </a:lvl5pPr>
            <a:lvl6pPr>
              <a:buNone/>
              <a:defRPr sz="2200" b="1">
                <a:solidFill>
                  <a:srgbClr val="5665AE"/>
                </a:solidFill>
              </a:defRPr>
            </a:lvl6pPr>
            <a:lvl7pPr>
              <a:buNone/>
              <a:defRPr sz="2200" b="1">
                <a:solidFill>
                  <a:srgbClr val="5665AE"/>
                </a:solidFill>
              </a:defRPr>
            </a:lvl7pPr>
            <a:lvl8pPr>
              <a:buNone/>
              <a:defRPr sz="2200" b="1">
                <a:solidFill>
                  <a:srgbClr val="5665AE"/>
                </a:solidFill>
              </a:defRPr>
            </a:lvl8pPr>
            <a:lvl9pPr>
              <a:buNone/>
              <a:defRPr sz="2200" b="1">
                <a:solidFill>
                  <a:srgbClr val="5665AE"/>
                </a:solidFill>
              </a:defRPr>
            </a:lvl9pPr>
          </a:lstStyle>
          <a:p xmlns:a="http://schemas.openxmlformats.org/drawingml/2006/main">
            <a:pPr>
              <a:buNone/>
              <a:defRPr sz="2200" b="1">
                <a:solidFill>
                  <a:srgbClr val="5665AE"/>
                </a:solidFill>
              </a:defRPr>
            </a:pPr>
            <a:r>
              <a:rPr sz="2200" b="1">
                <a:solidFill>
                  <a:srgbClr val="5665AE"/>
                </a:solidFill>
                <a:latin typeface="Arial"/>
                <a:ea typeface="Arial"/>
                <a:cs typeface="Arial"/>
              </a:rPr>
              <a:t>Code relationships</a:t>
            </a:r>
          </a:p>
        </p:txBody>
      </p:sp>
      <p:sp>
        <p:nvSpPr>
          <p:cNvPr id="1009" name="Context example 2">
            <a:extLst xmlns:a="http://schemas.openxmlformats.org/drawingml/2006/main">
              <a:ext uri="{FF2B5EF4-FFF2-40B4-BE49-F238E27FC236}">
                <a16:creationId xmlns:a16="http://schemas.microsoft.com/office/drawing/2014/main" id="{734C378F-B8EE-491E-94C4-F2E1152CF40F}"/>
              </a:ext>
            </a:extLst>
          </p:cNvPr>
          <p:cNvSpPr>
            <a:spLocks xmlns:a="http://schemas.openxmlformats.org/drawingml/2006/main" noGrp="1"/>
          </p:cNvSpPr>
          <p:nvPr/>
        </p:nvSpPr>
        <p:spPr>
          <a:xfrm xmlns:a="http://schemas.openxmlformats.org/drawingml/2006/main">
            <a:off x="812902" y="4251960"/>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6B6B73"/>
                </a:solidFill>
              </a:defRPr>
            </a:defPPr>
            <a:lvl1pPr>
              <a:buNone/>
              <a:defRPr sz="1500" b="0">
                <a:solidFill>
                  <a:srgbClr val="6B6B73"/>
                </a:solidFill>
              </a:defRPr>
            </a:lvl1pPr>
            <a:lvl2pPr>
              <a:buNone/>
              <a:defRPr sz="1500" b="0">
                <a:solidFill>
                  <a:srgbClr val="6B6B73"/>
                </a:solidFill>
              </a:defRPr>
            </a:lvl2pPr>
            <a:lvl3pPr>
              <a:buNone/>
              <a:defRPr sz="1500" b="0">
                <a:solidFill>
                  <a:srgbClr val="6B6B73"/>
                </a:solidFill>
              </a:defRPr>
            </a:lvl3pPr>
            <a:lvl4pPr>
              <a:buNone/>
              <a:defRPr sz="1500" b="0">
                <a:solidFill>
                  <a:srgbClr val="6B6B73"/>
                </a:solidFill>
              </a:defRPr>
            </a:lvl4pPr>
            <a:lvl5pPr>
              <a:buNone/>
              <a:defRPr sz="1500" b="0">
                <a:solidFill>
                  <a:srgbClr val="6B6B73"/>
                </a:solidFill>
              </a:defRPr>
            </a:lvl5pPr>
            <a:lvl6pPr>
              <a:buNone/>
              <a:defRPr sz="1500" b="0">
                <a:solidFill>
                  <a:srgbClr val="6B6B73"/>
                </a:solidFill>
              </a:defRPr>
            </a:lvl6pPr>
            <a:lvl7pPr>
              <a:buNone/>
              <a:defRPr sz="1500" b="0">
                <a:solidFill>
                  <a:srgbClr val="6B6B73"/>
                </a:solidFill>
              </a:defRPr>
            </a:lvl7pPr>
            <a:lvl8pPr>
              <a:buNone/>
              <a:defRPr sz="1500" b="0">
                <a:solidFill>
                  <a:srgbClr val="6B6B73"/>
                </a:solidFill>
              </a:defRPr>
            </a:lvl8pPr>
            <a:lvl9pPr>
              <a:buNone/>
              <a:defRPr sz="1500" b="0">
                <a:solidFill>
                  <a:srgbClr val="6B6B73"/>
                </a:solidFill>
              </a:defRPr>
            </a:lvl9pPr>
          </a:lstStyle>
          <a:p xmlns:a="http://schemas.openxmlformats.org/drawingml/2006/main">
            <a:pPr>
              <a:buNone/>
              <a:defRPr sz="1500" b="0">
                <a:solidFill>
                  <a:srgbClr val="6B6B73"/>
                </a:solidFill>
              </a:defRPr>
            </a:pPr>
            <a:r>
              <a:rPr sz="1500" b="0">
                <a:solidFill>
                  <a:srgbClr val="6B6B73"/>
                </a:solidFill>
                <a:latin typeface="Arial"/>
                <a:ea typeface="Arial"/>
                <a:cs typeface="Arial"/>
              </a:rPr>
              <a:t>Callers, configuration, APIs and dependencies</a:t>
            </a:r>
          </a:p>
        </p:txBody>
      </p:sp>
      <p:sp>
        <p:nvSpPr>
          <p:cNvPr id="1010" name="Source connection 2">
            <a:extLst xmlns:a="http://schemas.openxmlformats.org/drawingml/2006/main">
              <a:ext uri="{FF2B5EF4-FFF2-40B4-BE49-F238E27FC236}">
                <a16:creationId xmlns:a16="http://schemas.microsoft.com/office/drawing/2014/main" id="{4AF87668-1A18-47A5-B338-AE66CB4BA166}"/>
              </a:ext>
            </a:extLst>
          </p:cNvPr>
          <p:cNvSpPr>
            <a:spLocks xmlns:a="http://schemas.openxmlformats.org/drawingml/2006/main" noGrp="1"/>
          </p:cNvSpPr>
          <p:nvPr/>
        </p:nvSpPr>
        <p:spPr>
          <a:xfrm xmlns:a="http://schemas.openxmlformats.org/drawingml/2006/main">
            <a:off x="5212080" y="4123944"/>
            <a:ext cx="525780" cy="22860"/>
          </a:xfrm>
          <a:prstGeom xmlns:a="http://schemas.openxmlformats.org/drawingml/2006/main" prst="rect">
            <a:avLst/>
          </a:prstGeom>
          <a:solidFill xmlns:a="http://schemas.openxmlformats.org/drawingml/2006/main">
            <a:srgbClr val="BEC6C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1" name="Context source 3">
            <a:extLst xmlns:a="http://schemas.openxmlformats.org/drawingml/2006/main">
              <a:ext uri="{FF2B5EF4-FFF2-40B4-BE49-F238E27FC236}">
                <a16:creationId xmlns:a16="http://schemas.microsoft.com/office/drawing/2014/main" id="{FB591BB3-2A80-4642-82EB-4CD3E7402599}"/>
              </a:ext>
            </a:extLst>
          </p:cNvPr>
          <p:cNvSpPr>
            <a:spLocks xmlns:a="http://schemas.openxmlformats.org/drawingml/2006/main" noGrp="1"/>
          </p:cNvSpPr>
          <p:nvPr/>
        </p:nvSpPr>
        <p:spPr>
          <a:xfrm xmlns:a="http://schemas.openxmlformats.org/drawingml/2006/main">
            <a:off x="812902" y="4727448"/>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00" b="1">
                <a:solidFill>
                  <a:srgbClr val="0086B6"/>
                </a:solidFill>
              </a:defRPr>
            </a:defPPr>
            <a:lvl1pPr>
              <a:buNone/>
              <a:defRPr sz="2200" b="1">
                <a:solidFill>
                  <a:srgbClr val="0086B6"/>
                </a:solidFill>
              </a:defRPr>
            </a:lvl1pPr>
            <a:lvl2pPr>
              <a:buNone/>
              <a:defRPr sz="2200" b="1">
                <a:solidFill>
                  <a:srgbClr val="0086B6"/>
                </a:solidFill>
              </a:defRPr>
            </a:lvl2pPr>
            <a:lvl3pPr>
              <a:buNone/>
              <a:defRPr sz="2200" b="1">
                <a:solidFill>
                  <a:srgbClr val="0086B6"/>
                </a:solidFill>
              </a:defRPr>
            </a:lvl3pPr>
            <a:lvl4pPr>
              <a:buNone/>
              <a:defRPr sz="2200" b="1">
                <a:solidFill>
                  <a:srgbClr val="0086B6"/>
                </a:solidFill>
              </a:defRPr>
            </a:lvl4pPr>
            <a:lvl5pPr>
              <a:buNone/>
              <a:defRPr sz="2200" b="1">
                <a:solidFill>
                  <a:srgbClr val="0086B6"/>
                </a:solidFill>
              </a:defRPr>
            </a:lvl5pPr>
            <a:lvl6pPr>
              <a:buNone/>
              <a:defRPr sz="2200" b="1">
                <a:solidFill>
                  <a:srgbClr val="0086B6"/>
                </a:solidFill>
              </a:defRPr>
            </a:lvl6pPr>
            <a:lvl7pPr>
              <a:buNone/>
              <a:defRPr sz="2200" b="1">
                <a:solidFill>
                  <a:srgbClr val="0086B6"/>
                </a:solidFill>
              </a:defRPr>
            </a:lvl7pPr>
            <a:lvl8pPr>
              <a:buNone/>
              <a:defRPr sz="2200" b="1">
                <a:solidFill>
                  <a:srgbClr val="0086B6"/>
                </a:solidFill>
              </a:defRPr>
            </a:lvl8pPr>
            <a:lvl9pPr>
              <a:buNone/>
              <a:defRPr sz="2200" b="1">
                <a:solidFill>
                  <a:srgbClr val="0086B6"/>
                </a:solidFill>
              </a:defRPr>
            </a:lvl9pPr>
          </a:lstStyle>
          <a:p xmlns:a="http://schemas.openxmlformats.org/drawingml/2006/main">
            <a:pPr>
              <a:buNone/>
              <a:defRPr sz="2200" b="1">
                <a:solidFill>
                  <a:srgbClr val="0086B6"/>
                </a:solidFill>
              </a:defRPr>
            </a:pPr>
            <a:r>
              <a:rPr sz="2200" b="1">
                <a:solidFill>
                  <a:srgbClr val="0086B6"/>
                </a:solidFill>
                <a:latin typeface="Arial"/>
                <a:ea typeface="Arial"/>
                <a:cs typeface="Arial"/>
              </a:rPr>
              <a:t>Observed evidence</a:t>
            </a:r>
          </a:p>
        </p:txBody>
      </p:sp>
      <p:sp>
        <p:nvSpPr>
          <p:cNvPr id="1012" name="Context example 3">
            <a:extLst xmlns:a="http://schemas.openxmlformats.org/drawingml/2006/main">
              <a:ext uri="{FF2B5EF4-FFF2-40B4-BE49-F238E27FC236}">
                <a16:creationId xmlns:a16="http://schemas.microsoft.com/office/drawing/2014/main" id="{C20B0F4D-8CFA-4CE3-BD63-6738374243D4}"/>
              </a:ext>
            </a:extLst>
          </p:cNvPr>
          <p:cNvSpPr>
            <a:spLocks xmlns:a="http://schemas.openxmlformats.org/drawingml/2006/main" noGrp="1"/>
          </p:cNvSpPr>
          <p:nvPr/>
        </p:nvSpPr>
        <p:spPr>
          <a:xfrm xmlns:a="http://schemas.openxmlformats.org/drawingml/2006/main">
            <a:off x="812902" y="5148072"/>
            <a:ext cx="466344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6B6B73"/>
                </a:solidFill>
              </a:defRPr>
            </a:defPPr>
            <a:lvl1pPr>
              <a:buNone/>
              <a:defRPr sz="1500" b="0">
                <a:solidFill>
                  <a:srgbClr val="6B6B73"/>
                </a:solidFill>
              </a:defRPr>
            </a:lvl1pPr>
            <a:lvl2pPr>
              <a:buNone/>
              <a:defRPr sz="1500" b="0">
                <a:solidFill>
                  <a:srgbClr val="6B6B73"/>
                </a:solidFill>
              </a:defRPr>
            </a:lvl2pPr>
            <a:lvl3pPr>
              <a:buNone/>
              <a:defRPr sz="1500" b="0">
                <a:solidFill>
                  <a:srgbClr val="6B6B73"/>
                </a:solidFill>
              </a:defRPr>
            </a:lvl3pPr>
            <a:lvl4pPr>
              <a:buNone/>
              <a:defRPr sz="1500" b="0">
                <a:solidFill>
                  <a:srgbClr val="6B6B73"/>
                </a:solidFill>
              </a:defRPr>
            </a:lvl4pPr>
            <a:lvl5pPr>
              <a:buNone/>
              <a:defRPr sz="1500" b="0">
                <a:solidFill>
                  <a:srgbClr val="6B6B73"/>
                </a:solidFill>
              </a:defRPr>
            </a:lvl5pPr>
            <a:lvl6pPr>
              <a:buNone/>
              <a:defRPr sz="1500" b="0">
                <a:solidFill>
                  <a:srgbClr val="6B6B73"/>
                </a:solidFill>
              </a:defRPr>
            </a:lvl6pPr>
            <a:lvl7pPr>
              <a:buNone/>
              <a:defRPr sz="1500" b="0">
                <a:solidFill>
                  <a:srgbClr val="6B6B73"/>
                </a:solidFill>
              </a:defRPr>
            </a:lvl7pPr>
            <a:lvl8pPr>
              <a:buNone/>
              <a:defRPr sz="1500" b="0">
                <a:solidFill>
                  <a:srgbClr val="6B6B73"/>
                </a:solidFill>
              </a:defRPr>
            </a:lvl8pPr>
            <a:lvl9pPr>
              <a:buNone/>
              <a:defRPr sz="1500" b="0">
                <a:solidFill>
                  <a:srgbClr val="6B6B73"/>
                </a:solidFill>
              </a:defRPr>
            </a:lvl9pPr>
          </a:lstStyle>
          <a:p xmlns:a="http://schemas.openxmlformats.org/drawingml/2006/main">
            <a:pPr>
              <a:buNone/>
              <a:defRPr sz="1500" b="0">
                <a:solidFill>
                  <a:srgbClr val="6B6B73"/>
                </a:solidFill>
              </a:defRPr>
            </a:pPr>
            <a:r>
              <a:rPr sz="1500" b="0">
                <a:solidFill>
                  <a:srgbClr val="6B6B73"/>
                </a:solidFill>
                <a:latin typeface="Arial"/>
                <a:ea typeface="Arial"/>
                <a:cs typeface="Arial"/>
              </a:rPr>
              <a:t>Tests, security findings, relevant traces and logs</a:t>
            </a:r>
          </a:p>
        </p:txBody>
      </p:sp>
      <p:sp>
        <p:nvSpPr>
          <p:cNvPr id="1013" name="Source connection 3">
            <a:extLst xmlns:a="http://schemas.openxmlformats.org/drawingml/2006/main">
              <a:ext uri="{FF2B5EF4-FFF2-40B4-BE49-F238E27FC236}">
                <a16:creationId xmlns:a16="http://schemas.microsoft.com/office/drawing/2014/main" id="{ED61941A-25A2-4BF6-ADA7-A17F40DF18C5}"/>
              </a:ext>
            </a:extLst>
          </p:cNvPr>
          <p:cNvSpPr>
            <a:spLocks xmlns:a="http://schemas.openxmlformats.org/drawingml/2006/main" noGrp="1"/>
          </p:cNvSpPr>
          <p:nvPr/>
        </p:nvSpPr>
        <p:spPr>
          <a:xfrm xmlns:a="http://schemas.openxmlformats.org/drawingml/2006/main">
            <a:off x="5212080" y="5020056"/>
            <a:ext cx="525780" cy="22860"/>
          </a:xfrm>
          <a:prstGeom xmlns:a="http://schemas.openxmlformats.org/drawingml/2006/main" prst="rect">
            <a:avLst/>
          </a:prstGeom>
          <a:solidFill xmlns:a="http://schemas.openxmlformats.org/drawingml/2006/main">
            <a:srgbClr val="BEC6CA"/>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4" name="Selection input">
            <a:extLst xmlns:a="http://schemas.openxmlformats.org/drawingml/2006/main">
              <a:ext uri="{FF2B5EF4-FFF2-40B4-BE49-F238E27FC236}">
                <a16:creationId xmlns:a16="http://schemas.microsoft.com/office/drawing/2014/main" id="{91F67389-371D-4760-8CAE-A53127C41850}"/>
              </a:ext>
            </a:extLst>
          </p:cNvPr>
          <p:cNvSpPr>
            <a:spLocks xmlns:a="http://schemas.openxmlformats.org/drawingml/2006/main" noGrp="1"/>
          </p:cNvSpPr>
          <p:nvPr/>
        </p:nvSpPr>
        <p:spPr>
          <a:xfrm xmlns:a="http://schemas.openxmlformats.org/drawingml/2006/main">
            <a:off x="5733288" y="3584448"/>
            <a:ext cx="411480" cy="173736"/>
          </a:xfrm>
          <a:prstGeom xmlns:a="http://schemas.openxmlformats.org/drawingml/2006/main" prst="rightArrow">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5" name="Selection process">
            <a:extLst xmlns:a="http://schemas.openxmlformats.org/drawingml/2006/main">
              <a:ext uri="{FF2B5EF4-FFF2-40B4-BE49-F238E27FC236}">
                <a16:creationId xmlns:a16="http://schemas.microsoft.com/office/drawing/2014/main" id="{C7EA3265-A081-4B74-89F5-F167433D7BB2}"/>
              </a:ext>
            </a:extLst>
          </p:cNvPr>
          <p:cNvSpPr>
            <a:spLocks xmlns:a="http://schemas.openxmlformats.org/drawingml/2006/main" noGrp="1"/>
          </p:cNvSpPr>
          <p:nvPr/>
        </p:nvSpPr>
        <p:spPr>
          <a:xfrm xmlns:a="http://schemas.openxmlformats.org/drawingml/2006/main">
            <a:off x="6263640" y="2962656"/>
            <a:ext cx="2359152" cy="1426464"/>
          </a:xfrm>
          <a:prstGeom xmlns:a="http://schemas.openxmlformats.org/drawingml/2006/main" prst="rect">
            <a:avLst/>
          </a:prstGeom>
          <a:solidFill xmlns:a="http://schemas.openxmlformats.org/drawingml/2006/main">
            <a:srgbClr val="EDF4F7"/>
          </a:solidFill>
          <a:ln xmlns:a="http://schemas.openxmlformats.org/drawingml/2006/main" w="9525">
            <a:solidFill>
              <a:srgbClr val="0086B6"/>
            </a:solidFill>
            <a:prstDash val="solid"/>
          </a:ln>
        </p:spPr>
        <p:txBody>
          <a:bodyPr xmlns:a="http://schemas.openxmlformats.org/drawingml/2006/main"/>
          <a:lstStyle xmlns:a="http://schemas.openxmlformats.org/drawingml/2006/main"/>
          <a:p xmlns:a="http://schemas.openxmlformats.org/drawingml/2006/main">
            <a:endParaRPr/>
          </a:p>
        </p:txBody>
      </p:sp>
      <p:sp>
        <p:nvSpPr>
          <p:cNvPr id="1016" name="Selection title">
            <a:extLst xmlns:a="http://schemas.openxmlformats.org/drawingml/2006/main">
              <a:ext uri="{FF2B5EF4-FFF2-40B4-BE49-F238E27FC236}">
                <a16:creationId xmlns:a16="http://schemas.microsoft.com/office/drawing/2014/main" id="{539FD466-E449-4104-8970-82F019BDEF5D}"/>
              </a:ext>
            </a:extLst>
          </p:cNvPr>
          <p:cNvSpPr>
            <a:spLocks xmlns:a="http://schemas.openxmlformats.org/drawingml/2006/main" noGrp="1"/>
          </p:cNvSpPr>
          <p:nvPr/>
        </p:nvSpPr>
        <p:spPr>
          <a:xfrm xmlns:a="http://schemas.openxmlformats.org/drawingml/2006/main">
            <a:off x="6473952" y="3246120"/>
            <a:ext cx="1965960" cy="7772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200" b="1">
                <a:solidFill>
                  <a:srgbClr val="0086B6"/>
                </a:solidFill>
              </a:defRPr>
            </a:defPPr>
            <a:lvl1pPr>
              <a:buNone/>
              <a:defRPr sz="2200" b="1">
                <a:solidFill>
                  <a:srgbClr val="0086B6"/>
                </a:solidFill>
              </a:defRPr>
            </a:lvl1pPr>
            <a:lvl2pPr>
              <a:buNone/>
              <a:defRPr sz="2200" b="1">
                <a:solidFill>
                  <a:srgbClr val="0086B6"/>
                </a:solidFill>
              </a:defRPr>
            </a:lvl2pPr>
            <a:lvl3pPr>
              <a:buNone/>
              <a:defRPr sz="2200" b="1">
                <a:solidFill>
                  <a:srgbClr val="0086B6"/>
                </a:solidFill>
              </a:defRPr>
            </a:lvl3pPr>
            <a:lvl4pPr>
              <a:buNone/>
              <a:defRPr sz="2200" b="1">
                <a:solidFill>
                  <a:srgbClr val="0086B6"/>
                </a:solidFill>
              </a:defRPr>
            </a:lvl4pPr>
            <a:lvl5pPr>
              <a:buNone/>
              <a:defRPr sz="2200" b="1">
                <a:solidFill>
                  <a:srgbClr val="0086B6"/>
                </a:solidFill>
              </a:defRPr>
            </a:lvl5pPr>
            <a:lvl6pPr>
              <a:buNone/>
              <a:defRPr sz="2200" b="1">
                <a:solidFill>
                  <a:srgbClr val="0086B6"/>
                </a:solidFill>
              </a:defRPr>
            </a:lvl6pPr>
            <a:lvl7pPr>
              <a:buNone/>
              <a:defRPr sz="2200" b="1">
                <a:solidFill>
                  <a:srgbClr val="0086B6"/>
                </a:solidFill>
              </a:defRPr>
            </a:lvl7pPr>
            <a:lvl8pPr>
              <a:buNone/>
              <a:defRPr sz="2200" b="1">
                <a:solidFill>
                  <a:srgbClr val="0086B6"/>
                </a:solidFill>
              </a:defRPr>
            </a:lvl8pPr>
            <a:lvl9pPr>
              <a:buNone/>
              <a:defRPr sz="2200" b="1">
                <a:solidFill>
                  <a:srgbClr val="0086B6"/>
                </a:solidFill>
              </a:defRPr>
            </a:lvl9pPr>
          </a:lstStyle>
          <a:p xmlns:a="http://schemas.openxmlformats.org/drawingml/2006/main">
            <a:pPr>
              <a:buNone/>
              <a:defRPr sz="2200" b="1">
                <a:solidFill>
                  <a:srgbClr val="0086B6"/>
                </a:solidFill>
              </a:defRPr>
            </a:pPr>
            <a:r>
              <a:rPr sz="2200" b="1">
                <a:solidFill>
                  <a:srgbClr val="0086B6"/>
                </a:solidFill>
                <a:latin typeface="Arial"/>
                <a:ea typeface="Arial"/>
                <a:cs typeface="Arial"/>
              </a:rPr>
              <a:t>Retrieve what</a:t>
            </a:r>
            <a:br>
              <a:rPr sz="2200" b="1">
                <a:solidFill>
                  <a:srgbClr val="0086B6"/>
                </a:solidFill>
                <a:latin typeface="Arial"/>
                <a:ea typeface="Arial"/>
                <a:cs typeface="Arial"/>
              </a:rPr>
            </a:br>
            <a:r>
              <a:rPr sz="2200" b="1">
                <a:solidFill>
                  <a:srgbClr val="0086B6"/>
                </a:solidFill>
                <a:latin typeface="Arial"/>
                <a:ea typeface="Arial"/>
                <a:cs typeface="Arial"/>
              </a:rPr>
              <a:t>this PR needs</a:t>
            </a:r>
          </a:p>
        </p:txBody>
      </p:sp>
      <p:sp>
        <p:nvSpPr>
          <p:cNvPr id="1017" name="Selected evidence">
            <a:extLst xmlns:a="http://schemas.openxmlformats.org/drawingml/2006/main">
              <a:ext uri="{FF2B5EF4-FFF2-40B4-BE49-F238E27FC236}">
                <a16:creationId xmlns:a16="http://schemas.microsoft.com/office/drawing/2014/main" id="{8A86D86C-2731-4900-AEE7-81480BB2098D}"/>
              </a:ext>
            </a:extLst>
          </p:cNvPr>
          <p:cNvSpPr>
            <a:spLocks xmlns:a="http://schemas.openxmlformats.org/drawingml/2006/main" noGrp="1"/>
          </p:cNvSpPr>
          <p:nvPr/>
        </p:nvSpPr>
        <p:spPr>
          <a:xfrm xmlns:a="http://schemas.openxmlformats.org/drawingml/2006/main">
            <a:off x="8796528" y="3584448"/>
            <a:ext cx="411480" cy="173736"/>
          </a:xfrm>
          <a:prstGeom xmlns:a="http://schemas.openxmlformats.org/drawingml/2006/main" prst="rightArrow">
            <a:avLst/>
          </a:prstGeom>
          <a:solidFill xmlns:a="http://schemas.openxmlformats.org/drawingml/2006/main">
            <a:srgbClr val="4C883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8" name="Review destination">
            <a:extLst xmlns:a="http://schemas.openxmlformats.org/drawingml/2006/main">
              <a:ext uri="{FF2B5EF4-FFF2-40B4-BE49-F238E27FC236}">
                <a16:creationId xmlns:a16="http://schemas.microsoft.com/office/drawing/2014/main" id="{541D8ED4-31D5-4D3D-986F-33338C6ACFF6}"/>
              </a:ext>
            </a:extLst>
          </p:cNvPr>
          <p:cNvSpPr>
            <a:spLocks xmlns:a="http://schemas.openxmlformats.org/drawingml/2006/main" noGrp="1"/>
          </p:cNvSpPr>
          <p:nvPr/>
        </p:nvSpPr>
        <p:spPr>
          <a:xfrm xmlns:a="http://schemas.openxmlformats.org/drawingml/2006/main">
            <a:off x="9427464" y="3310128"/>
            <a:ext cx="1920240" cy="8686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500" b="1">
                <a:solidFill>
                  <a:srgbClr val="4C8835"/>
                </a:solidFill>
              </a:defRPr>
            </a:defPPr>
            <a:lvl1pPr>
              <a:buNone/>
              <a:defRPr sz="2500" b="1">
                <a:solidFill>
                  <a:srgbClr val="4C8835"/>
                </a:solidFill>
              </a:defRPr>
            </a:lvl1pPr>
            <a:lvl2pPr>
              <a:buNone/>
              <a:defRPr sz="2500" b="1">
                <a:solidFill>
                  <a:srgbClr val="4C8835"/>
                </a:solidFill>
              </a:defRPr>
            </a:lvl2pPr>
            <a:lvl3pPr>
              <a:buNone/>
              <a:defRPr sz="2500" b="1">
                <a:solidFill>
                  <a:srgbClr val="4C8835"/>
                </a:solidFill>
              </a:defRPr>
            </a:lvl3pPr>
            <a:lvl4pPr>
              <a:buNone/>
              <a:defRPr sz="2500" b="1">
                <a:solidFill>
                  <a:srgbClr val="4C8835"/>
                </a:solidFill>
              </a:defRPr>
            </a:lvl4pPr>
            <a:lvl5pPr>
              <a:buNone/>
              <a:defRPr sz="2500" b="1">
                <a:solidFill>
                  <a:srgbClr val="4C8835"/>
                </a:solidFill>
              </a:defRPr>
            </a:lvl5pPr>
            <a:lvl6pPr>
              <a:buNone/>
              <a:defRPr sz="2500" b="1">
                <a:solidFill>
                  <a:srgbClr val="4C8835"/>
                </a:solidFill>
              </a:defRPr>
            </a:lvl6pPr>
            <a:lvl7pPr>
              <a:buNone/>
              <a:defRPr sz="2500" b="1">
                <a:solidFill>
                  <a:srgbClr val="4C8835"/>
                </a:solidFill>
              </a:defRPr>
            </a:lvl7pPr>
            <a:lvl8pPr>
              <a:buNone/>
              <a:defRPr sz="2500" b="1">
                <a:solidFill>
                  <a:srgbClr val="4C8835"/>
                </a:solidFill>
              </a:defRPr>
            </a:lvl8pPr>
            <a:lvl9pPr>
              <a:buNone/>
              <a:defRPr sz="2500" b="1">
                <a:solidFill>
                  <a:srgbClr val="4C8835"/>
                </a:solidFill>
              </a:defRPr>
            </a:lvl9pPr>
          </a:lstStyle>
          <a:p xmlns:a="http://schemas.openxmlformats.org/drawingml/2006/main">
            <a:pPr>
              <a:buNone/>
              <a:defRPr sz="2500" b="1">
                <a:solidFill>
                  <a:srgbClr val="4C8835"/>
                </a:solidFill>
              </a:defRPr>
            </a:pPr>
            <a:r>
              <a:rPr sz="2500" b="1">
                <a:solidFill>
                  <a:srgbClr val="4C8835"/>
                </a:solidFill>
                <a:latin typeface="Arial"/>
                <a:ea typeface="Arial"/>
                <a:cs typeface="Arial"/>
              </a:rPr>
              <a:t>Focused</a:t>
            </a:r>
            <a:br>
              <a:rPr sz="2500" b="1">
                <a:solidFill>
                  <a:srgbClr val="4C8835"/>
                </a:solidFill>
                <a:latin typeface="Arial"/>
                <a:ea typeface="Arial"/>
                <a:cs typeface="Arial"/>
              </a:rPr>
            </a:br>
            <a:r>
              <a:rPr sz="2500" b="1">
                <a:solidFill>
                  <a:srgbClr val="4C8835"/>
                </a:solidFill>
                <a:latin typeface="Arial"/>
                <a:ea typeface="Arial"/>
                <a:cs typeface="Arial"/>
              </a:rPr>
              <a:t>AI review</a:t>
            </a:r>
          </a:p>
        </p:txBody>
      </p:sp>
      <p:sp>
        <p:nvSpPr>
          <p:cNvPr id="1019" name="Selection constraints">
            <a:extLst xmlns:a="http://schemas.openxmlformats.org/drawingml/2006/main">
              <a:ext uri="{FF2B5EF4-FFF2-40B4-BE49-F238E27FC236}">
                <a16:creationId xmlns:a16="http://schemas.microsoft.com/office/drawing/2014/main" id="{50363BF9-7020-4B0F-AE9C-6CBD0BB88AAF}"/>
              </a:ext>
            </a:extLst>
          </p:cNvPr>
          <p:cNvSpPr>
            <a:spLocks xmlns:a="http://schemas.openxmlformats.org/drawingml/2006/main" noGrp="1"/>
          </p:cNvSpPr>
          <p:nvPr/>
        </p:nvSpPr>
        <p:spPr>
          <a:xfrm xmlns:a="http://schemas.openxmlformats.org/drawingml/2006/main">
            <a:off x="6263640" y="4672584"/>
            <a:ext cx="5111496"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6B6B73"/>
                </a:solidFill>
              </a:defRPr>
            </a:defPPr>
            <a:lvl1pPr>
              <a:buNone/>
              <a:defRPr sz="1700" b="0">
                <a:solidFill>
                  <a:srgbClr val="6B6B73"/>
                </a:solidFill>
              </a:defRPr>
            </a:lvl1pPr>
            <a:lvl2pPr>
              <a:buNone/>
              <a:defRPr sz="1700" b="0">
                <a:solidFill>
                  <a:srgbClr val="6B6B73"/>
                </a:solidFill>
              </a:defRPr>
            </a:lvl2pPr>
            <a:lvl3pPr>
              <a:buNone/>
              <a:defRPr sz="1700" b="0">
                <a:solidFill>
                  <a:srgbClr val="6B6B73"/>
                </a:solidFill>
              </a:defRPr>
            </a:lvl3pPr>
            <a:lvl4pPr>
              <a:buNone/>
              <a:defRPr sz="1700" b="0">
                <a:solidFill>
                  <a:srgbClr val="6B6B73"/>
                </a:solidFill>
              </a:defRPr>
            </a:lvl4pPr>
            <a:lvl5pPr>
              <a:buNone/>
              <a:defRPr sz="1700" b="0">
                <a:solidFill>
                  <a:srgbClr val="6B6B73"/>
                </a:solidFill>
              </a:defRPr>
            </a:lvl5pPr>
            <a:lvl6pPr>
              <a:buNone/>
              <a:defRPr sz="1700" b="0">
                <a:solidFill>
                  <a:srgbClr val="6B6B73"/>
                </a:solidFill>
              </a:defRPr>
            </a:lvl6pPr>
            <a:lvl7pPr>
              <a:buNone/>
              <a:defRPr sz="1700" b="0">
                <a:solidFill>
                  <a:srgbClr val="6B6B73"/>
                </a:solidFill>
              </a:defRPr>
            </a:lvl7pPr>
            <a:lvl8pPr>
              <a:buNone/>
              <a:defRPr sz="1700" b="0">
                <a:solidFill>
                  <a:srgbClr val="6B6B73"/>
                </a:solidFill>
              </a:defRPr>
            </a:lvl8pPr>
            <a:lvl9pPr>
              <a:buNone/>
              <a:defRPr sz="1700" b="0">
                <a:solidFill>
                  <a:srgbClr val="6B6B73"/>
                </a:solidFill>
              </a:defRPr>
            </a:lvl9pPr>
          </a:lstStyle>
          <a:p xmlns:a="http://schemas.openxmlformats.org/drawingml/2006/main">
            <a:pPr>
              <a:buNone/>
              <a:defRPr sz="1700" b="0">
                <a:solidFill>
                  <a:srgbClr val="6B6B73"/>
                </a:solidFill>
              </a:defRPr>
            </a:pPr>
            <a:r>
              <a:rPr sz="1700" b="0">
                <a:solidFill>
                  <a:srgbClr val="6B6B73"/>
                </a:solidFill>
                <a:latin typeface="Arial"/>
                <a:ea typeface="Arial"/>
                <a:cs typeface="Arial"/>
              </a:rPr>
              <a:t>Relevant • permitted • current</a:t>
            </a:r>
          </a:p>
        </p:txBody>
      </p:sp>
      <p:sp>
        <p:nvSpPr>
          <p:cNvPr id="1020" name="Context accountability">
            <a:extLst xmlns:a="http://schemas.openxmlformats.org/drawingml/2006/main">
              <a:ext uri="{FF2B5EF4-FFF2-40B4-BE49-F238E27FC236}">
                <a16:creationId xmlns:a16="http://schemas.microsoft.com/office/drawing/2014/main" id="{5FDFECE2-A79C-4920-BD26-59914053DC97}"/>
              </a:ext>
            </a:extLst>
          </p:cNvPr>
          <p:cNvSpPr>
            <a:spLocks xmlns:a="http://schemas.openxmlformats.org/drawingml/2006/main" noGrp="1"/>
          </p:cNvSpPr>
          <p:nvPr/>
        </p:nvSpPr>
        <p:spPr>
          <a:xfrm xmlns:a="http://schemas.openxmlformats.org/drawingml/2006/main">
            <a:off x="812902" y="5678424"/>
            <a:ext cx="10561320" cy="31089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1">
                <a:solidFill>
                  <a:srgbClr val="33333A"/>
                </a:solidFill>
              </a:defRPr>
            </a:defPPr>
            <a:lvl1pPr>
              <a:buNone/>
              <a:defRPr sz="1800" b="1">
                <a:solidFill>
                  <a:srgbClr val="33333A"/>
                </a:solidFill>
              </a:defRPr>
            </a:lvl1pPr>
            <a:lvl2pPr>
              <a:buNone/>
              <a:defRPr sz="1800" b="1">
                <a:solidFill>
                  <a:srgbClr val="33333A"/>
                </a:solidFill>
              </a:defRPr>
            </a:lvl2pPr>
            <a:lvl3pPr>
              <a:buNone/>
              <a:defRPr sz="1800" b="1">
                <a:solidFill>
                  <a:srgbClr val="33333A"/>
                </a:solidFill>
              </a:defRPr>
            </a:lvl3pPr>
            <a:lvl4pPr>
              <a:buNone/>
              <a:defRPr sz="1800" b="1">
                <a:solidFill>
                  <a:srgbClr val="33333A"/>
                </a:solidFill>
              </a:defRPr>
            </a:lvl4pPr>
            <a:lvl5pPr>
              <a:buNone/>
              <a:defRPr sz="1800" b="1">
                <a:solidFill>
                  <a:srgbClr val="33333A"/>
                </a:solidFill>
              </a:defRPr>
            </a:lvl5pPr>
            <a:lvl6pPr>
              <a:buNone/>
              <a:defRPr sz="1800" b="1">
                <a:solidFill>
                  <a:srgbClr val="33333A"/>
                </a:solidFill>
              </a:defRPr>
            </a:lvl6pPr>
            <a:lvl7pPr>
              <a:buNone/>
              <a:defRPr sz="1800" b="1">
                <a:solidFill>
                  <a:srgbClr val="33333A"/>
                </a:solidFill>
              </a:defRPr>
            </a:lvl7pPr>
            <a:lvl8pPr>
              <a:buNone/>
              <a:defRPr sz="1800" b="1">
                <a:solidFill>
                  <a:srgbClr val="33333A"/>
                </a:solidFill>
              </a:defRPr>
            </a:lvl8pPr>
            <a:lvl9pPr>
              <a:buNone/>
              <a:defRPr sz="1800" b="1">
                <a:solidFill>
                  <a:srgbClr val="33333A"/>
                </a:solidFill>
              </a:defRPr>
            </a:lvl9pPr>
          </a:lstStyle>
          <a:p xmlns:a="http://schemas.openxmlformats.org/drawingml/2006/main">
            <a:pPr>
              <a:buNone/>
              <a:defRPr sz="1800" b="1">
                <a:solidFill>
                  <a:srgbClr val="33333A"/>
                </a:solidFill>
              </a:defRPr>
            </a:pPr>
            <a:r>
              <a:rPr sz="1800" b="1">
                <a:solidFill>
                  <a:srgbClr val="33333A"/>
                </a:solidFill>
                <a:latin typeface="Arial"/>
                <a:ea typeface="Arial"/>
                <a:cs typeface="Arial"/>
              </a:rPr>
              <a:t>Record context supplied and retrieved, with its source, revision and time.</a:t>
            </a:r>
          </a:p>
        </p:txBody>
      </p:sp>
    </p:spTree>
    <p:extLst>
      <p:ext uri="{BB962C8B-B14F-4D97-AF65-F5344CB8AC3E}">
        <p14:creationId xmlns:p14="http://schemas.microsoft.com/office/powerpoint/2010/main" val="870249574"/>
      </p:ext>
    </p:extLst>
  </p:cSld>
</p:sld>
</file>

<file path=ppt/slides/slide12.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09F1D343-3F87-4515-B520-440FF3E9DC3D}"/>
              </a:ext>
            </a:extLst>
          </p:cNvPr>
          <p:cNvPicPr>
            <a:picLocks xmlns:a="http://schemas.openxmlformats.org/drawingml/2006/main" noChangeAspect="1"/>
          </p:cNvPicPr>
          <p:nvPr/>
        </p:nvPicPr>
        <p:blipFill>
          <a:blip xmlns:r="http://schemas.openxmlformats.org/officeDocument/2006/relationships" xmlns:a="http://schemas.openxmlformats.org/drawingml/2006/main" r:embed="Rbaab86ba09594505"/>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B20123E4-FE90-49A9-AF79-4557EC0F8F52}"/>
              </a:ext>
            </a:extLst>
          </p:cNvPr>
          <p:cNvPicPr>
            <a:picLocks xmlns:a="http://schemas.openxmlformats.org/drawingml/2006/main" noChangeAspect="1"/>
          </p:cNvPicPr>
          <p:nvPr/>
        </p:nvPicPr>
        <p:blipFill>
          <a:blip xmlns:r="http://schemas.openxmlformats.org/officeDocument/2006/relationships" xmlns:a="http://schemas.openxmlformats.org/drawingml/2006/main" r:embed="Rbd7ac314bf6f42e6"/>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4C2FC9CD-AF04-4886-A490-04F3BCA11A4C}"/>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Why the payment finding changed</a:t>
            </a:r>
            <a:endParaRPr sz="3200"/>
          </a:p>
        </p:txBody>
      </p:sp>
      <p:sp>
        <p:nvSpPr>
          <p:cNvPr id="36" name="Text 25">
            <a:extLst xmlns:a="http://schemas.openxmlformats.org/drawingml/2006/main">
              <a:ext uri="{FF2B5EF4-FFF2-40B4-BE49-F238E27FC236}">
                <a16:creationId xmlns:a16="http://schemas.microsoft.com/office/drawing/2014/main" id="{49BE6840-F881-4189-835A-9362E6AB7C1F}"/>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Matched pair">
            <a:extLst xmlns:a="http://schemas.openxmlformats.org/drawingml/2006/main">
              <a:ext uri="{FF2B5EF4-FFF2-40B4-BE49-F238E27FC236}">
                <a16:creationId xmlns:a16="http://schemas.microsoft.com/office/drawing/2014/main" id="{474D3AB6-987C-4B48-A516-C1BA76E350C4}"/>
              </a:ext>
            </a:extLst>
          </p:cNvPr>
          <p:cNvSpPr>
            <a:spLocks xmlns:a="http://schemas.openxmlformats.org/drawingml/2006/main" noGrp="1"/>
          </p:cNvSpPr>
          <p:nvPr/>
        </p:nvSpPr>
        <p:spPr>
          <a:xfrm xmlns:a="http://schemas.openxmlformats.org/drawingml/2006/main">
            <a:off x="812902" y="1399032"/>
            <a:ext cx="10561320"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Same Sonnet 5, same generic prompt. Add the credential configuration.</a:t>
            </a:r>
          </a:p>
        </p:txBody>
      </p:sp>
      <p:sp>
        <p:nvSpPr>
          <p:cNvPr id="1001" name="Diff label">
            <a:extLst xmlns:a="http://schemas.openxmlformats.org/drawingml/2006/main">
              <a:ext uri="{FF2B5EF4-FFF2-40B4-BE49-F238E27FC236}">
                <a16:creationId xmlns:a16="http://schemas.microsoft.com/office/drawing/2014/main" id="{96061E30-6311-4EA5-B016-BFE786D6F4E8}"/>
              </a:ext>
            </a:extLst>
          </p:cNvPr>
          <p:cNvSpPr>
            <a:spLocks xmlns:a="http://schemas.openxmlformats.org/drawingml/2006/main" noGrp="1"/>
          </p:cNvSpPr>
          <p:nvPr/>
        </p:nvSpPr>
        <p:spPr>
          <a:xfrm xmlns:a="http://schemas.openxmlformats.org/drawingml/2006/main">
            <a:off x="812902" y="1993392"/>
            <a:ext cx="10561320" cy="274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86B6"/>
                </a:solidFill>
              </a:defRPr>
            </a:defPPr>
            <a:lvl1pPr>
              <a:buNone/>
              <a:defRPr sz="1200" b="1">
                <a:solidFill>
                  <a:srgbClr val="0086B6"/>
                </a:solidFill>
              </a:defRPr>
            </a:lvl1pPr>
            <a:lvl2pPr>
              <a:buNone/>
              <a:defRPr sz="1200" b="1">
                <a:solidFill>
                  <a:srgbClr val="0086B6"/>
                </a:solidFill>
              </a:defRPr>
            </a:lvl2pPr>
            <a:lvl3pPr>
              <a:buNone/>
              <a:defRPr sz="1200" b="1">
                <a:solidFill>
                  <a:srgbClr val="0086B6"/>
                </a:solidFill>
              </a:defRPr>
            </a:lvl3pPr>
            <a:lvl4pPr>
              <a:buNone/>
              <a:defRPr sz="1200" b="1">
                <a:solidFill>
                  <a:srgbClr val="0086B6"/>
                </a:solidFill>
              </a:defRPr>
            </a:lvl4pPr>
            <a:lvl5pPr>
              <a:buNone/>
              <a:defRPr sz="1200" b="1">
                <a:solidFill>
                  <a:srgbClr val="0086B6"/>
                </a:solidFill>
              </a:defRPr>
            </a:lvl5pPr>
            <a:lvl6pPr>
              <a:buNone/>
              <a:defRPr sz="1200" b="1">
                <a:solidFill>
                  <a:srgbClr val="0086B6"/>
                </a:solidFill>
              </a:defRPr>
            </a:lvl6pPr>
            <a:lvl7pPr>
              <a:buNone/>
              <a:defRPr sz="1200" b="1">
                <a:solidFill>
                  <a:srgbClr val="0086B6"/>
                </a:solidFill>
              </a:defRPr>
            </a:lvl7pPr>
            <a:lvl8pPr>
              <a:buNone/>
              <a:defRPr sz="1200" b="1">
                <a:solidFill>
                  <a:srgbClr val="0086B6"/>
                </a:solidFill>
              </a:defRPr>
            </a:lvl8pPr>
            <a:lvl9pPr>
              <a:buNone/>
              <a:defRPr sz="1200" b="1">
                <a:solidFill>
                  <a:srgbClr val="0086B6"/>
                </a:solidFill>
              </a:defRPr>
            </a:lvl9pPr>
          </a:lstStyle>
          <a:p xmlns:a="http://schemas.openxmlformats.org/drawingml/2006/main">
            <a:pPr>
              <a:buNone/>
              <a:defRPr sz="1200" b="1">
                <a:solidFill>
                  <a:srgbClr val="0086B6"/>
                </a:solidFill>
              </a:defRPr>
            </a:pPr>
            <a:r>
              <a:rPr sz="1200" b="1">
                <a:solidFill>
                  <a:srgbClr val="0086B6"/>
                </a:solidFill>
                <a:latin typeface="Arial"/>
                <a:ea typeface="Arial"/>
                <a:cs typeface="Arial"/>
              </a:rPr>
              <a:t>THE CODE CHANGE</a:t>
            </a:r>
          </a:p>
        </p:txBody>
      </p:sp>
      <p:sp>
        <p:nvSpPr>
          <p:cNvPr id="1002" name="Exact diff">
            <a:extLst xmlns:a="http://schemas.openxmlformats.org/drawingml/2006/main">
              <a:ext uri="{FF2B5EF4-FFF2-40B4-BE49-F238E27FC236}">
                <a16:creationId xmlns:a16="http://schemas.microsoft.com/office/drawing/2014/main" id="{8973DB07-BB63-4427-844B-BCD4264F1C93}"/>
              </a:ext>
            </a:extLst>
          </p:cNvPr>
          <p:cNvSpPr>
            <a:spLocks xmlns:a="http://schemas.openxmlformats.org/drawingml/2006/main" noGrp="1"/>
          </p:cNvSpPr>
          <p:nvPr/>
        </p:nvSpPr>
        <p:spPr>
          <a:xfrm xmlns:a="http://schemas.openxmlformats.org/drawingml/2006/main">
            <a:off x="812902" y="2359152"/>
            <a:ext cx="10561320" cy="402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1">
                <a:solidFill>
                  <a:srgbClr val="33333A"/>
                </a:solidFill>
              </a:defRPr>
            </a:defPPr>
            <a:lvl1pPr>
              <a:buNone/>
              <a:defRPr sz="1700" b="1">
                <a:solidFill>
                  <a:srgbClr val="33333A"/>
                </a:solidFill>
              </a:defRPr>
            </a:lvl1pPr>
            <a:lvl2pPr>
              <a:buNone/>
              <a:defRPr sz="1700" b="1">
                <a:solidFill>
                  <a:srgbClr val="33333A"/>
                </a:solidFill>
              </a:defRPr>
            </a:lvl2pPr>
            <a:lvl3pPr>
              <a:buNone/>
              <a:defRPr sz="1700" b="1">
                <a:solidFill>
                  <a:srgbClr val="33333A"/>
                </a:solidFill>
              </a:defRPr>
            </a:lvl3pPr>
            <a:lvl4pPr>
              <a:buNone/>
              <a:defRPr sz="1700" b="1">
                <a:solidFill>
                  <a:srgbClr val="33333A"/>
                </a:solidFill>
              </a:defRPr>
            </a:lvl4pPr>
            <a:lvl5pPr>
              <a:buNone/>
              <a:defRPr sz="1700" b="1">
                <a:solidFill>
                  <a:srgbClr val="33333A"/>
                </a:solidFill>
              </a:defRPr>
            </a:lvl5pPr>
            <a:lvl6pPr>
              <a:buNone/>
              <a:defRPr sz="1700" b="1">
                <a:solidFill>
                  <a:srgbClr val="33333A"/>
                </a:solidFill>
              </a:defRPr>
            </a:lvl6pPr>
            <a:lvl7pPr>
              <a:buNone/>
              <a:defRPr sz="1700" b="1">
                <a:solidFill>
                  <a:srgbClr val="33333A"/>
                </a:solidFill>
              </a:defRPr>
            </a:lvl7pPr>
            <a:lvl8pPr>
              <a:buNone/>
              <a:defRPr sz="1700" b="1">
                <a:solidFill>
                  <a:srgbClr val="33333A"/>
                </a:solidFill>
              </a:defRPr>
            </a:lvl8pPr>
            <a:lvl9pPr>
              <a:buNone/>
              <a:defRPr sz="1700" b="1">
                <a:solidFill>
                  <a:srgbClr val="33333A"/>
                </a:solidFill>
              </a:defRPr>
            </a:lvl9pPr>
          </a:lstStyle>
          <a:p xmlns:a="http://schemas.openxmlformats.org/drawingml/2006/main">
            <a:pPr>
              <a:buNone/>
              <a:defRPr sz="1700" b="1">
                <a:solidFill>
                  <a:srgbClr val="33333A"/>
                </a:solidFill>
              </a:defRPr>
            </a:pPr>
            <a:r>
              <a:rPr sz="1700" b="1">
                <a:solidFill>
                  <a:srgbClr val="33333A"/>
                </a:solidFill>
                <a:latin typeface="Arial"/>
                <a:ea typeface="Arial"/>
                <a:cs typeface="Arial"/>
              </a:rPr>
              <a:t>+ var apiKey = &lt;?php echo json_encode($GLOBALS['gateway_api_key']); ?&gt;;</a:t>
            </a:r>
          </a:p>
        </p:txBody>
      </p:sp>
      <p:sp>
        <p:nvSpPr>
          <p:cNvPr id="1003" name="Context label">
            <a:extLst xmlns:a="http://schemas.openxmlformats.org/drawingml/2006/main">
              <a:ext uri="{FF2B5EF4-FFF2-40B4-BE49-F238E27FC236}">
                <a16:creationId xmlns:a16="http://schemas.microsoft.com/office/drawing/2014/main" id="{0BC5FF4F-2F9F-44EB-9C0B-9A94547670AA}"/>
              </a:ext>
            </a:extLst>
          </p:cNvPr>
          <p:cNvSpPr>
            <a:spLocks xmlns:a="http://schemas.openxmlformats.org/drawingml/2006/main" noGrp="1"/>
          </p:cNvSpPr>
          <p:nvPr/>
        </p:nvSpPr>
        <p:spPr>
          <a:xfrm xmlns:a="http://schemas.openxmlformats.org/drawingml/2006/main">
            <a:off x="812902" y="2944368"/>
            <a:ext cx="10561320" cy="274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0086B6"/>
                </a:solidFill>
              </a:defRPr>
            </a:defPPr>
            <a:lvl1pPr>
              <a:buNone/>
              <a:defRPr sz="1200" b="1">
                <a:solidFill>
                  <a:srgbClr val="0086B6"/>
                </a:solidFill>
              </a:defRPr>
            </a:lvl1pPr>
            <a:lvl2pPr>
              <a:buNone/>
              <a:defRPr sz="1200" b="1">
                <a:solidFill>
                  <a:srgbClr val="0086B6"/>
                </a:solidFill>
              </a:defRPr>
            </a:lvl2pPr>
            <a:lvl3pPr>
              <a:buNone/>
              <a:defRPr sz="1200" b="1">
                <a:solidFill>
                  <a:srgbClr val="0086B6"/>
                </a:solidFill>
              </a:defRPr>
            </a:lvl3pPr>
            <a:lvl4pPr>
              <a:buNone/>
              <a:defRPr sz="1200" b="1">
                <a:solidFill>
                  <a:srgbClr val="0086B6"/>
                </a:solidFill>
              </a:defRPr>
            </a:lvl4pPr>
            <a:lvl5pPr>
              <a:buNone/>
              <a:defRPr sz="1200" b="1">
                <a:solidFill>
                  <a:srgbClr val="0086B6"/>
                </a:solidFill>
              </a:defRPr>
            </a:lvl5pPr>
            <a:lvl6pPr>
              <a:buNone/>
              <a:defRPr sz="1200" b="1">
                <a:solidFill>
                  <a:srgbClr val="0086B6"/>
                </a:solidFill>
              </a:defRPr>
            </a:lvl6pPr>
            <a:lvl7pPr>
              <a:buNone/>
              <a:defRPr sz="1200" b="1">
                <a:solidFill>
                  <a:srgbClr val="0086B6"/>
                </a:solidFill>
              </a:defRPr>
            </a:lvl7pPr>
            <a:lvl8pPr>
              <a:buNone/>
              <a:defRPr sz="1200" b="1">
                <a:solidFill>
                  <a:srgbClr val="0086B6"/>
                </a:solidFill>
              </a:defRPr>
            </a:lvl8pPr>
            <a:lvl9pPr>
              <a:buNone/>
              <a:defRPr sz="1200" b="1">
                <a:solidFill>
                  <a:srgbClr val="0086B6"/>
                </a:solidFill>
              </a:defRPr>
            </a:lvl9pPr>
          </a:lstStyle>
          <a:p xmlns:a="http://schemas.openxmlformats.org/drawingml/2006/main">
            <a:pPr>
              <a:buNone/>
              <a:defRPr sz="1200" b="1">
                <a:solidFill>
                  <a:srgbClr val="0086B6"/>
                </a:solidFill>
              </a:defRPr>
            </a:pPr>
            <a:r>
              <a:rPr sz="1200" b="1">
                <a:solidFill>
                  <a:srgbClr val="0086B6"/>
                </a:solidFill>
                <a:latin typeface="Arial"/>
                <a:ea typeface="Arial"/>
                <a:cs typeface="Arial"/>
              </a:rPr>
              <a:t>THE RELATED FILE</a:t>
            </a:r>
          </a:p>
        </p:txBody>
      </p:sp>
      <p:sp>
        <p:nvSpPr>
          <p:cNvPr id="1004" name="Configuration excerpt">
            <a:extLst xmlns:a="http://schemas.openxmlformats.org/drawingml/2006/main">
              <a:ext uri="{FF2B5EF4-FFF2-40B4-BE49-F238E27FC236}">
                <a16:creationId xmlns:a16="http://schemas.microsoft.com/office/drawing/2014/main" id="{FBC9999B-34E3-4747-A064-A5B700F3C4EE}"/>
              </a:ext>
            </a:extLst>
          </p:cNvPr>
          <p:cNvSpPr>
            <a:spLocks xmlns:a="http://schemas.openxmlformats.org/drawingml/2006/main" noGrp="1"/>
          </p:cNvSpPr>
          <p:nvPr/>
        </p:nvSpPr>
        <p:spPr>
          <a:xfrm xmlns:a="http://schemas.openxmlformats.org/drawingml/2006/main">
            <a:off x="812902" y="3310128"/>
            <a:ext cx="10561320" cy="41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33333A"/>
                </a:solidFill>
              </a:defRPr>
            </a:defPPr>
            <a:lvl1pPr>
              <a:buNone/>
              <a:defRPr sz="2000" b="0">
                <a:solidFill>
                  <a:srgbClr val="33333A"/>
                </a:solidFill>
              </a:defRPr>
            </a:lvl1pPr>
            <a:lvl2pPr>
              <a:buNone/>
              <a:defRPr sz="2000" b="0">
                <a:solidFill>
                  <a:srgbClr val="33333A"/>
                </a:solidFill>
              </a:defRPr>
            </a:lvl2pPr>
            <a:lvl3pPr>
              <a:buNone/>
              <a:defRPr sz="2000" b="0">
                <a:solidFill>
                  <a:srgbClr val="33333A"/>
                </a:solidFill>
              </a:defRPr>
            </a:lvl3pPr>
            <a:lvl4pPr>
              <a:buNone/>
              <a:defRPr sz="2000" b="0">
                <a:solidFill>
                  <a:srgbClr val="33333A"/>
                </a:solidFill>
              </a:defRPr>
            </a:lvl4pPr>
            <a:lvl5pPr>
              <a:buNone/>
              <a:defRPr sz="2000" b="0">
                <a:solidFill>
                  <a:srgbClr val="33333A"/>
                </a:solidFill>
              </a:defRPr>
            </a:lvl5pPr>
            <a:lvl6pPr>
              <a:buNone/>
              <a:defRPr sz="2000" b="0">
                <a:solidFill>
                  <a:srgbClr val="33333A"/>
                </a:solidFill>
              </a:defRPr>
            </a:lvl6pPr>
            <a:lvl7pPr>
              <a:buNone/>
              <a:defRPr sz="2000" b="0">
                <a:solidFill>
                  <a:srgbClr val="33333A"/>
                </a:solidFill>
              </a:defRPr>
            </a:lvl7pPr>
            <a:lvl8pPr>
              <a:buNone/>
              <a:defRPr sz="2000" b="0">
                <a:solidFill>
                  <a:srgbClr val="33333A"/>
                </a:solidFill>
              </a:defRPr>
            </a:lvl8pPr>
            <a:lvl9pPr>
              <a:buNone/>
              <a:defRPr sz="2000" b="0">
                <a:solidFill>
                  <a:srgbClr val="33333A"/>
                </a:solidFill>
              </a:defRPr>
            </a:lvl9pPr>
          </a:lstStyle>
          <a:p xmlns:a="http://schemas.openxmlformats.org/drawingml/2006/main">
            <a:pPr>
              <a:buNone/>
              <a:defRPr sz="2000" b="0">
                <a:solidFill>
                  <a:srgbClr val="33333A"/>
                </a:solidFill>
              </a:defRPr>
            </a:pPr>
            <a:r>
              <a:rPr sz="2000" b="0">
                <a:solidFill>
                  <a:srgbClr val="33333A"/>
                </a:solidFill>
                <a:latin typeface="Arial"/>
                <a:ea typeface="Arial"/>
                <a:cs typeface="Arial"/>
              </a:rPr>
              <a:t>The configuration describes this value as “API Secret for Stripe”.</a:t>
            </a:r>
          </a:p>
        </p:txBody>
      </p:sp>
      <p:sp>
        <p:nvSpPr>
          <p:cNvPr id="1005" name="Before label">
            <a:extLst xmlns:a="http://schemas.openxmlformats.org/drawingml/2006/main">
              <a:ext uri="{FF2B5EF4-FFF2-40B4-BE49-F238E27FC236}">
                <a16:creationId xmlns:a16="http://schemas.microsoft.com/office/drawing/2014/main" id="{293A3BF2-FD79-4A22-8E26-22413601C06A}"/>
              </a:ext>
            </a:extLst>
          </p:cNvPr>
          <p:cNvSpPr>
            <a:spLocks xmlns:a="http://schemas.openxmlformats.org/drawingml/2006/main" noGrp="1"/>
          </p:cNvSpPr>
          <p:nvPr/>
        </p:nvSpPr>
        <p:spPr>
          <a:xfrm xmlns:a="http://schemas.openxmlformats.org/drawingml/2006/main">
            <a:off x="812902" y="4041648"/>
            <a:ext cx="4937760"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B76521"/>
                </a:solidFill>
              </a:defRPr>
            </a:defPPr>
            <a:lvl1pPr>
              <a:buNone/>
              <a:defRPr sz="1500" b="1">
                <a:solidFill>
                  <a:srgbClr val="B76521"/>
                </a:solidFill>
              </a:defRPr>
            </a:lvl1pPr>
            <a:lvl2pPr>
              <a:buNone/>
              <a:defRPr sz="1500" b="1">
                <a:solidFill>
                  <a:srgbClr val="B76521"/>
                </a:solidFill>
              </a:defRPr>
            </a:lvl2pPr>
            <a:lvl3pPr>
              <a:buNone/>
              <a:defRPr sz="1500" b="1">
                <a:solidFill>
                  <a:srgbClr val="B76521"/>
                </a:solidFill>
              </a:defRPr>
            </a:lvl3pPr>
            <a:lvl4pPr>
              <a:buNone/>
              <a:defRPr sz="1500" b="1">
                <a:solidFill>
                  <a:srgbClr val="B76521"/>
                </a:solidFill>
              </a:defRPr>
            </a:lvl4pPr>
            <a:lvl5pPr>
              <a:buNone/>
              <a:defRPr sz="1500" b="1">
                <a:solidFill>
                  <a:srgbClr val="B76521"/>
                </a:solidFill>
              </a:defRPr>
            </a:lvl5pPr>
            <a:lvl6pPr>
              <a:buNone/>
              <a:defRPr sz="1500" b="1">
                <a:solidFill>
                  <a:srgbClr val="B76521"/>
                </a:solidFill>
              </a:defRPr>
            </a:lvl6pPr>
            <a:lvl7pPr>
              <a:buNone/>
              <a:defRPr sz="1500" b="1">
                <a:solidFill>
                  <a:srgbClr val="B76521"/>
                </a:solidFill>
              </a:defRPr>
            </a:lvl7pPr>
            <a:lvl8pPr>
              <a:buNone/>
              <a:defRPr sz="1500" b="1">
                <a:solidFill>
                  <a:srgbClr val="B76521"/>
                </a:solidFill>
              </a:defRPr>
            </a:lvl8pPr>
            <a:lvl9pPr>
              <a:buNone/>
              <a:defRPr sz="1500" b="1">
                <a:solidFill>
                  <a:srgbClr val="B76521"/>
                </a:solidFill>
              </a:defRPr>
            </a:lvl9pPr>
          </a:lstStyle>
          <a:p xmlns:a="http://schemas.openxmlformats.org/drawingml/2006/main">
            <a:pPr>
              <a:buNone/>
              <a:defRPr sz="1500" b="1">
                <a:solidFill>
                  <a:srgbClr val="B76521"/>
                </a:solidFill>
              </a:defRPr>
            </a:pPr>
            <a:r>
              <a:rPr sz="1500" b="1">
                <a:solidFill>
                  <a:srgbClr val="B76521"/>
                </a:solidFill>
                <a:latin typeface="Arial"/>
                <a:ea typeface="Arial"/>
                <a:cs typeface="Arial"/>
              </a:rPr>
              <a:t>DIFF ONLY: PARTIAL</a:t>
            </a:r>
          </a:p>
        </p:txBody>
      </p:sp>
      <p:sp>
        <p:nvSpPr>
          <p:cNvPr id="1006" name="Before quotation">
            <a:extLst xmlns:a="http://schemas.openxmlformats.org/drawingml/2006/main">
              <a:ext uri="{FF2B5EF4-FFF2-40B4-BE49-F238E27FC236}">
                <a16:creationId xmlns:a16="http://schemas.microsoft.com/office/drawing/2014/main" id="{25E5D65B-3766-4BD9-95CB-372B5F6548A3}"/>
              </a:ext>
            </a:extLst>
          </p:cNvPr>
          <p:cNvSpPr>
            <a:spLocks xmlns:a="http://schemas.openxmlformats.org/drawingml/2006/main" noGrp="1"/>
          </p:cNvSpPr>
          <p:nvPr/>
        </p:nvSpPr>
        <p:spPr>
          <a:xfrm xmlns:a="http://schemas.openxmlformats.org/drawingml/2006/main">
            <a:off x="812902" y="4526280"/>
            <a:ext cx="489204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“Need to confirm `gateway_api_key` is the safe-to-expose client/public identifier…”</a:t>
            </a:r>
          </a:p>
        </p:txBody>
      </p:sp>
      <p:sp>
        <p:nvSpPr>
          <p:cNvPr id="1007" name="After label">
            <a:extLst xmlns:a="http://schemas.openxmlformats.org/drawingml/2006/main">
              <a:ext uri="{FF2B5EF4-FFF2-40B4-BE49-F238E27FC236}">
                <a16:creationId xmlns:a16="http://schemas.microsoft.com/office/drawing/2014/main" id="{6D662FE7-57BF-45E1-95EE-4F00B0548EED}"/>
              </a:ext>
            </a:extLst>
          </p:cNvPr>
          <p:cNvSpPr>
            <a:spLocks xmlns:a="http://schemas.openxmlformats.org/drawingml/2006/main" noGrp="1"/>
          </p:cNvSpPr>
          <p:nvPr/>
        </p:nvSpPr>
        <p:spPr>
          <a:xfrm xmlns:a="http://schemas.openxmlformats.org/drawingml/2006/main">
            <a:off x="6263640" y="4041648"/>
            <a:ext cx="5111496"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4C8835"/>
                </a:solidFill>
              </a:defRPr>
            </a:defPPr>
            <a:lvl1pPr>
              <a:buNone/>
              <a:defRPr sz="1500" b="1">
                <a:solidFill>
                  <a:srgbClr val="4C8835"/>
                </a:solidFill>
              </a:defRPr>
            </a:lvl1pPr>
            <a:lvl2pPr>
              <a:buNone/>
              <a:defRPr sz="1500" b="1">
                <a:solidFill>
                  <a:srgbClr val="4C8835"/>
                </a:solidFill>
              </a:defRPr>
            </a:lvl2pPr>
            <a:lvl3pPr>
              <a:buNone/>
              <a:defRPr sz="1500" b="1">
                <a:solidFill>
                  <a:srgbClr val="4C8835"/>
                </a:solidFill>
              </a:defRPr>
            </a:lvl3pPr>
            <a:lvl4pPr>
              <a:buNone/>
              <a:defRPr sz="1500" b="1">
                <a:solidFill>
                  <a:srgbClr val="4C8835"/>
                </a:solidFill>
              </a:defRPr>
            </a:lvl4pPr>
            <a:lvl5pPr>
              <a:buNone/>
              <a:defRPr sz="1500" b="1">
                <a:solidFill>
                  <a:srgbClr val="4C8835"/>
                </a:solidFill>
              </a:defRPr>
            </a:lvl5pPr>
            <a:lvl6pPr>
              <a:buNone/>
              <a:defRPr sz="1500" b="1">
                <a:solidFill>
                  <a:srgbClr val="4C8835"/>
                </a:solidFill>
              </a:defRPr>
            </a:lvl6pPr>
            <a:lvl7pPr>
              <a:buNone/>
              <a:defRPr sz="1500" b="1">
                <a:solidFill>
                  <a:srgbClr val="4C8835"/>
                </a:solidFill>
              </a:defRPr>
            </a:lvl7pPr>
            <a:lvl8pPr>
              <a:buNone/>
              <a:defRPr sz="1500" b="1">
                <a:solidFill>
                  <a:srgbClr val="4C8835"/>
                </a:solidFill>
              </a:defRPr>
            </a:lvl8pPr>
            <a:lvl9pPr>
              <a:buNone/>
              <a:defRPr sz="1500" b="1">
                <a:solidFill>
                  <a:srgbClr val="4C8835"/>
                </a:solidFill>
              </a:defRPr>
            </a:lvl9pPr>
          </a:lstStyle>
          <a:p xmlns:a="http://schemas.openxmlformats.org/drawingml/2006/main">
            <a:pPr>
              <a:buNone/>
              <a:defRPr sz="1500" b="1">
                <a:solidFill>
                  <a:srgbClr val="4C8835"/>
                </a:solidFill>
              </a:defRPr>
            </a:pPr>
            <a:r>
              <a:rPr sz="1500" b="1">
                <a:solidFill>
                  <a:srgbClr val="4C8835"/>
                </a:solidFill>
                <a:latin typeface="Arial"/>
                <a:ea typeface="Arial"/>
                <a:cs typeface="Arial"/>
              </a:rPr>
              <a:t>WITH RELATED FILE: CAUGHT</a:t>
            </a:r>
          </a:p>
        </p:txBody>
      </p:sp>
      <p:sp>
        <p:nvSpPr>
          <p:cNvPr id="1008" name="After quotation">
            <a:extLst xmlns:a="http://schemas.openxmlformats.org/drawingml/2006/main">
              <a:ext uri="{FF2B5EF4-FFF2-40B4-BE49-F238E27FC236}">
                <a16:creationId xmlns:a16="http://schemas.microsoft.com/office/drawing/2014/main" id="{29C4A42A-1BC9-41BE-845F-1AC205555F57}"/>
              </a:ext>
            </a:extLst>
          </p:cNvPr>
          <p:cNvSpPr>
            <a:spLocks xmlns:a="http://schemas.openxmlformats.org/drawingml/2006/main" noGrp="1"/>
          </p:cNvSpPr>
          <p:nvPr/>
        </p:nvSpPr>
        <p:spPr>
          <a:xfrm xmlns:a="http://schemas.openxmlformats.org/drawingml/2006/main">
            <a:off x="6263640" y="4526280"/>
            <a:ext cx="5111496" cy="11887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“Gateway secret key sent to the browser”</a:t>
            </a:r>
            <a:br>
              <a:rPr sz="1800" b="0">
                <a:solidFill>
                  <a:srgbClr val="33333A"/>
                </a:solidFill>
                <a:latin typeface="Arial"/>
                <a:ea typeface="Arial"/>
                <a:cs typeface="Arial"/>
              </a:rPr>
            </a:br>
            <a:r>
              <a:rPr sz="1800" b="0">
                <a:solidFill>
                  <a:srgbClr val="33333A"/>
                </a:solidFill>
                <a:latin typeface="Arial"/>
                <a:ea typeface="Arial"/>
                <a:cs typeface="Arial"/>
              </a:rPr>
              <a:t>“This risks leaking a merchant secret key to every page view.”</a:t>
            </a:r>
          </a:p>
        </p:txBody>
      </p:sp>
      <p:sp>
        <p:nvSpPr>
          <p:cNvPr id="1009" name="Source boundary">
            <a:extLst xmlns:a="http://schemas.openxmlformats.org/drawingml/2006/main">
              <a:ext uri="{FF2B5EF4-FFF2-40B4-BE49-F238E27FC236}">
                <a16:creationId xmlns:a16="http://schemas.microsoft.com/office/drawing/2014/main" id="{F9473065-AD0E-4D6E-8494-18A0CEF2B9DF}"/>
              </a:ext>
            </a:extLst>
          </p:cNvPr>
          <p:cNvSpPr>
            <a:spLocks xmlns:a="http://schemas.openxmlformats.org/drawingml/2006/main" noGrp="1"/>
          </p:cNvSpPr>
          <p:nvPr/>
        </p:nvSpPr>
        <p:spPr>
          <a:xfrm xmlns:a="http://schemas.openxmlformats.org/drawingml/2006/main">
            <a:off x="812902" y="5925312"/>
            <a:ext cx="9875520"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100" b="0">
                <a:solidFill>
                  <a:srgbClr val="6B6B73"/>
                </a:solidFill>
              </a:defRPr>
            </a:defPPr>
            <a:lvl1pPr>
              <a:buNone/>
              <a:defRPr sz="1100" b="0">
                <a:solidFill>
                  <a:srgbClr val="6B6B73"/>
                </a:solidFill>
              </a:defRPr>
            </a:lvl1pPr>
            <a:lvl2pPr>
              <a:buNone/>
              <a:defRPr sz="1100" b="0">
                <a:solidFill>
                  <a:srgbClr val="6B6B73"/>
                </a:solidFill>
              </a:defRPr>
            </a:lvl2pPr>
            <a:lvl3pPr>
              <a:buNone/>
              <a:defRPr sz="1100" b="0">
                <a:solidFill>
                  <a:srgbClr val="6B6B73"/>
                </a:solidFill>
              </a:defRPr>
            </a:lvl3pPr>
            <a:lvl4pPr>
              <a:buNone/>
              <a:defRPr sz="1100" b="0">
                <a:solidFill>
                  <a:srgbClr val="6B6B73"/>
                </a:solidFill>
              </a:defRPr>
            </a:lvl4pPr>
            <a:lvl5pPr>
              <a:buNone/>
              <a:defRPr sz="1100" b="0">
                <a:solidFill>
                  <a:srgbClr val="6B6B73"/>
                </a:solidFill>
              </a:defRPr>
            </a:lvl5pPr>
            <a:lvl6pPr>
              <a:buNone/>
              <a:defRPr sz="1100" b="0">
                <a:solidFill>
                  <a:srgbClr val="6B6B73"/>
                </a:solidFill>
              </a:defRPr>
            </a:lvl6pPr>
            <a:lvl7pPr>
              <a:buNone/>
              <a:defRPr sz="1100" b="0">
                <a:solidFill>
                  <a:srgbClr val="6B6B73"/>
                </a:solidFill>
              </a:defRPr>
            </a:lvl7pPr>
            <a:lvl8pPr>
              <a:buNone/>
              <a:defRPr sz="1100" b="0">
                <a:solidFill>
                  <a:srgbClr val="6B6B73"/>
                </a:solidFill>
              </a:defRPr>
            </a:lvl8pPr>
            <a:lvl9pPr>
              <a:buNone/>
              <a:defRPr sz="1100" b="0">
                <a:solidFill>
                  <a:srgbClr val="6B6B73"/>
                </a:solidFill>
              </a:defRPr>
            </a:lvl9pPr>
          </a:lstStyle>
          <a:p xmlns:a="http://schemas.openxmlformats.org/drawingml/2006/main">
            <a:pPr>
              <a:buNone/>
              <a:defRPr sz="1100" b="0">
                <a:solidFill>
                  <a:srgbClr val="6B6B73"/>
                </a:solidFill>
              </a:defRPr>
            </a:pPr>
            <a:r>
              <a:rPr sz="1100" b="0">
                <a:solidFill>
                  <a:srgbClr val="6B6B73"/>
                </a:solidFill>
                <a:latin typeface="Arial"/>
                <a:ea typeface="Arial"/>
                <a:cs typeface="Arial"/>
              </a:rPr>
              <a:t>C3, matched follow-up run 1. Researcher selected the file. Model-judged score; independent human verification pending.</a:t>
            </a:r>
          </a:p>
        </p:txBody>
      </p:sp>
    </p:spTree>
    <p:extLst>
      <p:ext uri="{BB962C8B-B14F-4D97-AF65-F5344CB8AC3E}">
        <p14:creationId xmlns:p14="http://schemas.microsoft.com/office/powerpoint/2010/main" val="481332671"/>
      </p:ext>
    </p:extLst>
  </p:cSld>
</p:sld>
</file>

<file path=ppt/slides/slide13.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A1EF59A3-787B-42DC-88C5-908F629C584B}"/>
              </a:ext>
            </a:extLst>
          </p:cNvPr>
          <p:cNvPicPr>
            <a:picLocks xmlns:a="http://schemas.openxmlformats.org/drawingml/2006/main" noChangeAspect="1"/>
          </p:cNvPicPr>
          <p:nvPr/>
        </p:nvPicPr>
        <p:blipFill>
          <a:blip xmlns:r="http://schemas.openxmlformats.org/officeDocument/2006/relationships" xmlns:a="http://schemas.openxmlformats.org/drawingml/2006/main" r:embed="R8e716adc27f24ce4"/>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E3DDDEA1-CBEC-43E2-BA61-5A7959F00750}"/>
              </a:ext>
            </a:extLst>
          </p:cNvPr>
          <p:cNvPicPr>
            <a:picLocks xmlns:a="http://schemas.openxmlformats.org/drawingml/2006/main" noChangeAspect="1"/>
          </p:cNvPicPr>
          <p:nvPr/>
        </p:nvPicPr>
        <p:blipFill>
          <a:blip xmlns:r="http://schemas.openxmlformats.org/officeDocument/2006/relationships" xmlns:a="http://schemas.openxmlformats.org/drawingml/2006/main" r:embed="Rde39361a0d48483a"/>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9" name="title">
            <a:extLst xmlns:a="http://schemas.openxmlformats.org/drawingml/2006/main">
              <a:ext uri="{FF2B5EF4-FFF2-40B4-BE49-F238E27FC236}">
                <a16:creationId xmlns:a16="http://schemas.microsoft.com/office/drawing/2014/main" id="{FCC98285-5217-4DAA-9A8F-D770211A5ACA}"/>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Round 3: context brings coverage to 22 of 24</a:t>
            </a:r>
          </a:p>
        </p:txBody>
      </p:sp>
      <p:sp>
        <p:nvSpPr>
          <p:cNvPr id="2002" name="subtitle">
            <a:extLst xmlns:a="http://schemas.openxmlformats.org/drawingml/2006/main">
              <a:ext uri="{FF2B5EF4-FFF2-40B4-BE49-F238E27FC236}">
                <a16:creationId xmlns:a16="http://schemas.microsoft.com/office/drawing/2014/main" id="{A66D4F76-8831-4CD3-8FE2-4103BA15326C}"/>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Fully caught cases by OWASP Top 10 category</a:t>
            </a:r>
          </a:p>
        </p:txBody>
      </p:sp>
      <p:sp>
        <p:nvSpPr>
          <p:cNvPr id="2003" name="original group">
            <a:extLst xmlns:a="http://schemas.openxmlformats.org/drawingml/2006/main">
              <a:ext uri="{FF2B5EF4-FFF2-40B4-BE49-F238E27FC236}">
                <a16:creationId xmlns:a16="http://schemas.microsoft.com/office/drawing/2014/main" id="{11A7C31B-3077-46EF-A1F9-B8C0D580F661}"/>
              </a:ext>
            </a:extLst>
          </p:cNvPr>
          <p:cNvSpPr>
            <a:spLocks xmlns:a="http://schemas.openxmlformats.org/drawingml/2006/main" noGrp="1"/>
          </p:cNvSpPr>
          <p:nvPr/>
        </p:nvSpPr>
        <p:spPr>
          <a:xfrm xmlns:a="http://schemas.openxmlformats.org/drawingml/2006/main">
            <a:off x="4289489" y="1809750"/>
            <a:ext cx="283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0086AC"/>
                </a:solidFill>
              </a:defRPr>
            </a:defPPr>
            <a:lvl1pPr>
              <a:buNone/>
              <a:defRPr sz="1200" b="1">
                <a:solidFill>
                  <a:srgbClr val="0086AC"/>
                </a:solidFill>
              </a:defRPr>
            </a:lvl1pPr>
            <a:lvl2pPr>
              <a:buNone/>
              <a:defRPr sz="1200" b="1">
                <a:solidFill>
                  <a:srgbClr val="0086AC"/>
                </a:solidFill>
              </a:defRPr>
            </a:lvl2pPr>
            <a:lvl3pPr>
              <a:buNone/>
              <a:defRPr sz="1200" b="1">
                <a:solidFill>
                  <a:srgbClr val="0086AC"/>
                </a:solidFill>
              </a:defRPr>
            </a:lvl3pPr>
            <a:lvl4pPr>
              <a:buNone/>
              <a:defRPr sz="1200" b="1">
                <a:solidFill>
                  <a:srgbClr val="0086AC"/>
                </a:solidFill>
              </a:defRPr>
            </a:lvl4pPr>
            <a:lvl5pPr>
              <a:buNone/>
              <a:defRPr sz="1200" b="1">
                <a:solidFill>
                  <a:srgbClr val="0086AC"/>
                </a:solidFill>
              </a:defRPr>
            </a:lvl5pPr>
            <a:lvl6pPr>
              <a:buNone/>
              <a:defRPr sz="1200" b="1">
                <a:solidFill>
                  <a:srgbClr val="0086AC"/>
                </a:solidFill>
              </a:defRPr>
            </a:lvl6pPr>
            <a:lvl7pPr>
              <a:buNone/>
              <a:defRPr sz="1200" b="1">
                <a:solidFill>
                  <a:srgbClr val="0086AC"/>
                </a:solidFill>
              </a:defRPr>
            </a:lvl7pPr>
            <a:lvl8pPr>
              <a:buNone/>
              <a:defRPr sz="1200" b="1">
                <a:solidFill>
                  <a:srgbClr val="0086AC"/>
                </a:solidFill>
              </a:defRPr>
            </a:lvl8pPr>
            <a:lvl9pPr>
              <a:buNone/>
              <a:defRPr sz="1200" b="1">
                <a:solidFill>
                  <a:srgbClr val="0086AC"/>
                </a:solidFill>
              </a:defRPr>
            </a:lvl9pPr>
          </a:lstStyle>
          <a:p xmlns:a="http://schemas.openxmlformats.org/drawingml/2006/main">
            <a:pPr>
              <a:buNone/>
              <a:defRPr sz="1200" b="1">
                <a:solidFill>
                  <a:srgbClr val="0086AC"/>
                </a:solidFill>
              </a:defRPr>
            </a:pPr>
            <a:r>
              <a:rPr sz="1200" b="1">
                <a:solidFill>
                  <a:srgbClr val="0086AC"/>
                </a:solidFill>
              </a:rPr>
              <a:t>Original study: all 24 cases</a:t>
            </a:r>
          </a:p>
        </p:txBody>
      </p:sp>
      <p:sp>
        <p:nvSpPr>
          <p:cNvPr id="2004" name="followup group">
            <a:extLst xmlns:a="http://schemas.openxmlformats.org/drawingml/2006/main">
              <a:ext uri="{FF2B5EF4-FFF2-40B4-BE49-F238E27FC236}">
                <a16:creationId xmlns:a16="http://schemas.microsoft.com/office/drawing/2014/main" id="{E9722ACE-35B2-433F-9DB3-1B11A59264D7}"/>
              </a:ext>
            </a:extLst>
          </p:cNvPr>
          <p:cNvSpPr>
            <a:spLocks xmlns:a="http://schemas.openxmlformats.org/drawingml/2006/main" noGrp="1"/>
          </p:cNvSpPr>
          <p:nvPr/>
        </p:nvSpPr>
        <p:spPr>
          <a:xfrm xmlns:a="http://schemas.openxmlformats.org/drawingml/2006/main">
            <a:off x="7127939" y="1809750"/>
            <a:ext cx="14192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4F8734"/>
                </a:solidFill>
              </a:defRPr>
            </a:defPPr>
            <a:lvl1pPr>
              <a:buNone/>
              <a:defRPr sz="1200" b="1">
                <a:solidFill>
                  <a:srgbClr val="4F8734"/>
                </a:solidFill>
              </a:defRPr>
            </a:lvl1pPr>
            <a:lvl2pPr>
              <a:buNone/>
              <a:defRPr sz="1200" b="1">
                <a:solidFill>
                  <a:srgbClr val="4F8734"/>
                </a:solidFill>
              </a:defRPr>
            </a:lvl2pPr>
            <a:lvl3pPr>
              <a:buNone/>
              <a:defRPr sz="1200" b="1">
                <a:solidFill>
                  <a:srgbClr val="4F8734"/>
                </a:solidFill>
              </a:defRPr>
            </a:lvl3pPr>
            <a:lvl4pPr>
              <a:buNone/>
              <a:defRPr sz="1200" b="1">
                <a:solidFill>
                  <a:srgbClr val="4F8734"/>
                </a:solidFill>
              </a:defRPr>
            </a:lvl4pPr>
            <a:lvl5pPr>
              <a:buNone/>
              <a:defRPr sz="1200" b="1">
                <a:solidFill>
                  <a:srgbClr val="4F8734"/>
                </a:solidFill>
              </a:defRPr>
            </a:lvl5pPr>
            <a:lvl6pPr>
              <a:buNone/>
              <a:defRPr sz="1200" b="1">
                <a:solidFill>
                  <a:srgbClr val="4F8734"/>
                </a:solidFill>
              </a:defRPr>
            </a:lvl6pPr>
            <a:lvl7pPr>
              <a:buNone/>
              <a:defRPr sz="1200" b="1">
                <a:solidFill>
                  <a:srgbClr val="4F8734"/>
                </a:solidFill>
              </a:defRPr>
            </a:lvl7pPr>
            <a:lvl8pPr>
              <a:buNone/>
              <a:defRPr sz="1200" b="1">
                <a:solidFill>
                  <a:srgbClr val="4F8734"/>
                </a:solidFill>
              </a:defRPr>
            </a:lvl8pPr>
            <a:lvl9pPr>
              <a:buNone/>
              <a:defRPr sz="1200" b="1">
                <a:solidFill>
                  <a:srgbClr val="4F8734"/>
                </a:solidFill>
              </a:defRPr>
            </a:lvl9pPr>
          </a:lstStyle>
          <a:p xmlns:a="http://schemas.openxmlformats.org/drawingml/2006/main">
            <a:pPr>
              <a:buNone/>
              <a:defRPr sz="1200" b="1">
                <a:solidFill>
                  <a:srgbClr val="4F8734"/>
                </a:solidFill>
              </a:defRPr>
            </a:pPr>
            <a:r>
              <a:rPr sz="1200" b="1">
                <a:solidFill>
                  <a:srgbClr val="4F8734"/>
                </a:solidFill>
              </a:rPr>
              <a:t>Four-gap retests</a:t>
            </a:r>
          </a:p>
        </p:txBody>
      </p:sp>
      <p:graphicFrame>
        <p:nvGraphicFramePr>
          <p:cNvPr id="2005" name="Table 2004">
            <a:extLst xmlns:a="http://schemas.openxmlformats.org/drawingml/2006/main">
              <a:ext uri="{FF2B5EF4-FFF2-40B4-BE49-F238E27FC236}">
                <a16:creationId xmlns:a16="http://schemas.microsoft.com/office/drawing/2014/main" id="{BE1E35C8-E37F-421D-BF5A-BE0402F1FE00}"/>
              </a:ext>
            </a:extLst>
          </p:cNvPr>
          <p:cNvGraphicFramePr/>
          <p:nvPr/>
        </p:nvGraphicFramePr>
        <p:xfrm>
          <a:off xmlns:a="http://schemas.openxmlformats.org/drawingml/2006/main" x="812864" y="2105025"/>
          <a:ext xmlns:a="http://schemas.openxmlformats.org/drawingml/2006/main" cx="7734300" cy="3410712"/>
        </p:xfrm>
        <a:graphic xmlns:a="http://schemas.openxmlformats.org/drawingml/2006/main">
          <a:graphicData uri="http://schemas.openxmlformats.org/drawingml/2006/table">
            <a:tbl>
              <a:tblPr/>
              <a:tblGrid>
                <a:gridCol w="2762250"/>
                <a:gridCol w="714375"/>
                <a:gridCol w="1419225"/>
                <a:gridCol w="1419225"/>
                <a:gridCol w="1419225"/>
              </a:tblGrid>
              <a:tr h="512064">
                <a:tc>
                  <a:txBody>
                    <a:bodyPr/>
                    <a:lstStyle/>
                    <a:p>
                      <a:pPr algn="l">
                        <a:buNone/>
                      </a:pPr>
                      <a:r>
                        <a:rPr sz="1275" b="1">
                          <a:solidFill>
                            <a:srgbClr val="FFFFFF"/>
                          </a:solidFill>
                        </a:rPr>
                        <a:t>OWASP category</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Cases</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Haiku 4.5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 related file</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4F8734"/>
                    </a:solidFill>
                  </a:tcPr>
                </a:tc>
              </a:tr>
              <a:tr h="402336">
                <a:tc>
                  <a:txBody>
                    <a:bodyPr/>
                    <a:lstStyle/>
                    <a:p>
                      <a:pPr algn="l">
                        <a:buNone/>
                      </a:pPr>
                      <a:r>
                        <a:rPr sz="1425" b="0">
                          <a:solidFill>
                            <a:srgbClr val="303238"/>
                          </a:solidFill>
                        </a:rPr>
                        <a:t>A01  Broken Access Control</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3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7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1">
                          <a:solidFill>
                            <a:srgbClr val="3D7327"/>
                          </a:solidFill>
                        </a:rPr>
                        <a:t>8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A03  Injection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5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A05  Security Misconfiguration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1">
                          <a:solidFill>
                            <a:srgbClr val="3D7327"/>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502920">
                <a:tc>
                  <a:txBody>
                    <a:bodyPr/>
                    <a:lstStyle/>
                    <a:p>
                      <a:pPr algn="l">
                        <a:buNone/>
                      </a:pPr>
                      <a:r>
                        <a:rPr sz="1425" b="0">
                          <a:solidFill>
                            <a:srgbClr val="303238"/>
                          </a:solidFill>
                        </a:rPr>
                        <a:t>A07  Identification &amp;</a:t>
                      </a:r>
                    </a:p>
                    <a:p>
                      <a:pPr algn="l">
                        <a:buNone/>
                      </a:pPr>
                      <a:r>
                        <a:rPr sz="1425" b="0">
                          <a:solidFill>
                            <a:srgbClr val="303238"/>
                          </a:solidFill>
                        </a:rPr>
                        <a:t>Authentication Failures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0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A10  SSRF</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575" b="1">
                          <a:solidFill>
                            <a:srgbClr val="303238"/>
                          </a:solidFill>
                        </a:rPr>
                        <a:t>Total caught</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8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20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22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r>
              <a:tr h="384048">
                <a:tc>
                  <a:txBody>
                    <a:bodyPr/>
                    <a:lstStyle/>
                    <a:p>
                      <a:pPr algn="l">
                        <a:buNone/>
                      </a:pPr>
                      <a:r>
                        <a:rPr sz="1400" b="1">
                          <a:solidFill>
                            <a:srgbClr val="303238"/>
                          </a:solidFill>
                        </a:rPr>
                        <a:t>False-alarm reviews*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303238"/>
                          </a:solidFill>
                        </a:rPr>
                        <a:t>n/a</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A95B1F"/>
                          </a:solidFill>
                        </a:rPr>
                        <a:t>1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0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1 of 30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r>
            </a:tbl>
          </a:graphicData>
        </a:graphic>
      </p:graphicFrame>
      <p:sp>
        <p:nvSpPr>
          <p:cNvPr id="2006" name="takeaway">
            <a:extLst xmlns:a="http://schemas.openxmlformats.org/drawingml/2006/main">
              <a:ext uri="{FF2B5EF4-FFF2-40B4-BE49-F238E27FC236}">
                <a16:creationId xmlns:a16="http://schemas.microsoft.com/office/drawing/2014/main" id="{0F87615D-D4BE-44E7-B09F-9ED0055B579F}"/>
              </a:ext>
            </a:extLst>
          </p:cNvPr>
          <p:cNvSpPr>
            <a:spLocks xmlns:a="http://schemas.openxmlformats.org/drawingml/2006/main" noGrp="1"/>
          </p:cNvSpPr>
          <p:nvPr/>
        </p:nvSpPr>
        <p:spPr>
          <a:xfrm xmlns:a="http://schemas.openxmlformats.org/drawingml/2006/main">
            <a:off x="812864" y="562356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303238"/>
                </a:solidFill>
              </a:defRPr>
            </a:defPPr>
            <a:lvl1pPr>
              <a:buNone/>
              <a:defRPr sz="1575" b="1">
                <a:solidFill>
                  <a:srgbClr val="303238"/>
                </a:solidFill>
              </a:defRPr>
            </a:lvl1pPr>
            <a:lvl2pPr>
              <a:buNone/>
              <a:defRPr sz="1575" b="1">
                <a:solidFill>
                  <a:srgbClr val="303238"/>
                </a:solidFill>
              </a:defRPr>
            </a:lvl2pPr>
            <a:lvl3pPr>
              <a:buNone/>
              <a:defRPr sz="1575" b="1">
                <a:solidFill>
                  <a:srgbClr val="303238"/>
                </a:solidFill>
              </a:defRPr>
            </a:lvl3pPr>
            <a:lvl4pPr>
              <a:buNone/>
              <a:defRPr sz="1575" b="1">
                <a:solidFill>
                  <a:srgbClr val="303238"/>
                </a:solidFill>
              </a:defRPr>
            </a:lvl4pPr>
            <a:lvl5pPr>
              <a:buNone/>
              <a:defRPr sz="1575" b="1">
                <a:solidFill>
                  <a:srgbClr val="303238"/>
                </a:solidFill>
              </a:defRPr>
            </a:lvl5pPr>
            <a:lvl6pPr>
              <a:buNone/>
              <a:defRPr sz="1575" b="1">
                <a:solidFill>
                  <a:srgbClr val="303238"/>
                </a:solidFill>
              </a:defRPr>
            </a:lvl6pPr>
            <a:lvl7pPr>
              <a:buNone/>
              <a:defRPr sz="1575" b="1">
                <a:solidFill>
                  <a:srgbClr val="303238"/>
                </a:solidFill>
              </a:defRPr>
            </a:lvl7pPr>
            <a:lvl8pPr>
              <a:buNone/>
              <a:defRPr sz="1575" b="1">
                <a:solidFill>
                  <a:srgbClr val="303238"/>
                </a:solidFill>
              </a:defRPr>
            </a:lvl8pPr>
            <a:lvl9pPr>
              <a:buNone/>
              <a:defRPr sz="1575" b="1">
                <a:solidFill>
                  <a:srgbClr val="303238"/>
                </a:solidFill>
              </a:defRPr>
            </a:lvl9pPr>
          </a:lstStyle>
          <a:p xmlns:a="http://schemas.openxmlformats.org/drawingml/2006/main">
            <a:pPr>
              <a:buNone/>
              <a:defRPr sz="1575" b="1">
                <a:solidFill>
                  <a:srgbClr val="303238"/>
                </a:solidFill>
              </a:defRPr>
            </a:pPr>
            <a:r>
              <a:rPr sz="1575" b="1">
                <a:solidFill>
                  <a:srgbClr val="303238"/>
                </a:solidFill>
              </a:rPr>
              <a:t>Context recovers patient access and payment-secret exposure.</a:t>
            </a:r>
          </a:p>
        </p:txBody>
      </p:sp>
      <p:sp>
        <p:nvSpPr>
          <p:cNvPr id="2007" name="detail">
            <a:extLst xmlns:a="http://schemas.openxmlformats.org/drawingml/2006/main">
              <a:ext uri="{FF2B5EF4-FFF2-40B4-BE49-F238E27FC236}">
                <a16:creationId xmlns:a16="http://schemas.microsoft.com/office/drawing/2014/main" id="{C165F8BD-E826-4B89-AC71-A5DC35BF2525}"/>
              </a:ext>
            </a:extLst>
          </p:cNvPr>
          <p:cNvSpPr>
            <a:spLocks xmlns:a="http://schemas.openxmlformats.org/drawingml/2006/main" noGrp="1"/>
          </p:cNvSpPr>
          <p:nvPr/>
        </p:nvSpPr>
        <p:spPr>
          <a:xfrm xmlns:a="http://schemas.openxmlformats.org/drawingml/2006/main">
            <a:off x="812864" y="5925312"/>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505050"/>
                </a:solidFill>
              </a:defRPr>
            </a:defPPr>
            <a:lvl1pPr>
              <a:buNone/>
              <a:defRPr sz="1500" b="0">
                <a:solidFill>
                  <a:srgbClr val="505050"/>
                </a:solidFill>
              </a:defRPr>
            </a:lvl1pPr>
            <a:lvl2pPr>
              <a:buNone/>
              <a:defRPr sz="1500" b="0">
                <a:solidFill>
                  <a:srgbClr val="505050"/>
                </a:solidFill>
              </a:defRPr>
            </a:lvl2pPr>
            <a:lvl3pPr>
              <a:buNone/>
              <a:defRPr sz="1500" b="0">
                <a:solidFill>
                  <a:srgbClr val="505050"/>
                </a:solidFill>
              </a:defRPr>
            </a:lvl3pPr>
            <a:lvl4pPr>
              <a:buNone/>
              <a:defRPr sz="1500" b="0">
                <a:solidFill>
                  <a:srgbClr val="505050"/>
                </a:solidFill>
              </a:defRPr>
            </a:lvl4pPr>
            <a:lvl5pPr>
              <a:buNone/>
              <a:defRPr sz="1500" b="0">
                <a:solidFill>
                  <a:srgbClr val="505050"/>
                </a:solidFill>
              </a:defRPr>
            </a:lvl5pPr>
            <a:lvl6pPr>
              <a:buNone/>
              <a:defRPr sz="1500" b="0">
                <a:solidFill>
                  <a:srgbClr val="505050"/>
                </a:solidFill>
              </a:defRPr>
            </a:lvl6pPr>
            <a:lvl7pPr>
              <a:buNone/>
              <a:defRPr sz="1500" b="0">
                <a:solidFill>
                  <a:srgbClr val="505050"/>
                </a:solidFill>
              </a:defRPr>
            </a:lvl7pPr>
            <a:lvl8pPr>
              <a:buNone/>
              <a:defRPr sz="1500" b="0">
                <a:solidFill>
                  <a:srgbClr val="505050"/>
                </a:solidFill>
              </a:defRPr>
            </a:lvl8pPr>
            <a:lvl9pPr>
              <a:buNone/>
              <a:defRPr sz="1500" b="0">
                <a:solidFill>
                  <a:srgbClr val="505050"/>
                </a:solidFill>
              </a:defRPr>
            </a:lvl9pPr>
          </a:lstStyle>
          <a:p xmlns:a="http://schemas.openxmlformats.org/drawingml/2006/main">
            <a:pPr>
              <a:buNone/>
              <a:defRPr sz="1500" b="0">
                <a:solidFill>
                  <a:srgbClr val="505050"/>
                </a:solidFill>
              </a:defRPr>
            </a:pPr>
            <a:r>
              <a:rPr sz="1500" b="0">
                <a:solidFill>
                  <a:srgbClr val="505050"/>
                </a:solidFill>
              </a:rPr>
              <a:t>Still partial: stored XSS and PDF-rendering SSRF.</a:t>
            </a:r>
          </a:p>
        </p:txBody>
      </p:sp>
      <p:sp>
        <p:nvSpPr>
          <p:cNvPr id="2010" name="False alarm denominator note"/>
          <p:cNvSpPr>
            <a:spLocks xmlns:a="http://schemas.openxmlformats.org/drawingml/2006/main" noGrp="1"/>
          </p:cNvSpPr>
          <p:nvPr/>
        </p:nvSpPr>
        <p:spPr>
          <a:xfrm xmlns:a="http://schemas.openxmlformats.org/drawingml/2006/main">
            <a:off x="812864" y="6345936"/>
            <a:ext cx="987552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000" b="0">
                <a:solidFill>
                  <a:srgbClr val="666666"/>
                </a:solidFill>
              </a:defRPr>
            </a:defPPr>
            <a:lvl1pPr>
              <a:buNone/>
              <a:defRPr sz="1000" b="0">
                <a:solidFill>
                  <a:srgbClr val="666666"/>
                </a:solidFill>
              </a:defRPr>
            </a:lvl1pPr>
            <a:lvl2pPr>
              <a:buNone/>
              <a:defRPr sz="1000" b="0">
                <a:solidFill>
                  <a:srgbClr val="666666"/>
                </a:solidFill>
              </a:defRPr>
            </a:lvl2pPr>
            <a:lvl3pPr>
              <a:buNone/>
              <a:defRPr sz="1000" b="0">
                <a:solidFill>
                  <a:srgbClr val="666666"/>
                </a:solidFill>
              </a:defRPr>
            </a:lvl3pPr>
            <a:lvl4pPr>
              <a:buNone/>
              <a:defRPr sz="1000" b="0">
                <a:solidFill>
                  <a:srgbClr val="666666"/>
                </a:solidFill>
              </a:defRPr>
            </a:lvl4pPr>
            <a:lvl5pPr>
              <a:buNone/>
              <a:defRPr sz="1000" b="0">
                <a:solidFill>
                  <a:srgbClr val="666666"/>
                </a:solidFill>
              </a:defRPr>
            </a:lvl5pPr>
            <a:lvl6pPr>
              <a:buNone/>
              <a:defRPr sz="1000" b="0">
                <a:solidFill>
                  <a:srgbClr val="666666"/>
                </a:solidFill>
              </a:defRPr>
            </a:lvl6pPr>
            <a:lvl7pPr>
              <a:buNone/>
              <a:defRPr sz="1000" b="0">
                <a:solidFill>
                  <a:srgbClr val="666666"/>
                </a:solidFill>
              </a:defRPr>
            </a:lvl7pPr>
            <a:lvl8pPr>
              <a:buNone/>
              <a:defRPr sz="1000" b="0">
                <a:solidFill>
                  <a:srgbClr val="666666"/>
                </a:solidFill>
              </a:defRPr>
            </a:lvl8pPr>
            <a:lvl9pPr>
              <a:buNone/>
              <a:defRPr sz="1000" b="0">
                <a:solidFill>
                  <a:srgbClr val="666666"/>
                </a:solidFill>
              </a:defRPr>
            </a:lvl9pPr>
          </a:lstStyle>
          <a:p xmlns:a="http://schemas.openxmlformats.org/drawingml/2006/main">
            <a:pPr>
              <a:buNone/>
              <a:defRPr sz="1000" b="0">
                <a:solidFill>
                  <a:srgbClr val="666666"/>
                </a:solidFill>
              </a:defRPr>
            </a:pPr>
            <a:r>
              <a:rPr sz="1000" b="0">
                <a:solidFill>
                  <a:srgbClr val="666666"/>
                </a:solidFill>
              </a:rPr>
              <a:t>* Separate benign changes, not CVEs. Original columns: 10 reviews each; +file: 30 later reviews. Human check pending.</a:t>
            </a:r>
          </a:p>
        </p:txBody>
      </p:sp>
    </p:spTree>
    <p:extLst>
      <p:ext uri="{BB962C8B-B14F-4D97-AF65-F5344CB8AC3E}">
        <p14:creationId xmlns:p14="http://schemas.microsoft.com/office/powerpoint/2010/main" val="1013718694"/>
      </p:ext>
    </p:extLst>
  </p:cSld>
</p:sld>
</file>

<file path=ppt/slides/slide14.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EF9AD88-10E0-457F-AB87-2DA5FC77B42A}"/>
              </a:ext>
            </a:extLst>
          </p:cNvPr>
          <p:cNvPicPr>
            <a:picLocks xmlns:a="http://schemas.openxmlformats.org/drawingml/2006/main" noChangeAspect="1"/>
          </p:cNvPicPr>
          <p:nvPr/>
        </p:nvPicPr>
        <p:blipFill>
          <a:blip xmlns:r="http://schemas.openxmlformats.org/officeDocument/2006/relationships" xmlns:a="http://schemas.openxmlformats.org/drawingml/2006/main" r:embed="R9f5ad55da153401c"/>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05A976F8-6922-47B8-8615-AE81034F82F2}"/>
              </a:ext>
            </a:extLst>
          </p:cNvPr>
          <p:cNvPicPr>
            <a:picLocks xmlns:a="http://schemas.openxmlformats.org/drawingml/2006/main" noChangeAspect="1"/>
          </p:cNvPicPr>
          <p:nvPr/>
        </p:nvPicPr>
        <p:blipFill>
          <a:blip xmlns:r="http://schemas.openxmlformats.org/officeDocument/2006/relationships" xmlns:a="http://schemas.openxmlformats.org/drawingml/2006/main" r:embed="R81a1e635a2ca465e"/>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185F0929-719B-4FCA-BB9D-2572789D2D33}"/>
              </a:ext>
            </a:extLst>
          </p:cNvPr>
          <p:cNvSpPr>
            <a:spLocks xmlns:a="http://schemas.openxmlformats.org/drawingml/2006/main" noGrp="1"/>
          </p:cNvSpPr>
          <p:nvPr>
            <p:ph type="title" idx="0"/>
          </p:nvPr>
        </p:nvSpPr>
        <p:spPr>
          <a:xfrm xmlns:a="http://schemas.openxmlformats.org/drawingml/2006/main">
            <a:off x="812902" y="812902"/>
            <a:ext cx="1057275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600"/>
              </a:lnSpc>
              <a:spcBef>
                <a:spcPts val="0"/>
              </a:spcBef>
              <a:buNone/>
            </a:pPr>
            <a:r>
              <a:rPr sz="3000" b="1">
                <a:solidFill>
                  <a:srgbClr val="4C8835"/>
                </a:solidFill>
                <a:latin typeface="Arial"/>
                <a:ea typeface="Arial"/>
                <a:cs typeface="Arial"/>
              </a:rPr>
              <a:t>Decision support for pull-request review</a:t>
            </a:r>
            <a:endParaRPr sz="3000"/>
          </a:p>
        </p:txBody>
      </p:sp>
      <p:sp>
        <p:nvSpPr>
          <p:cNvPr id="36" name="Text 25">
            <a:extLst xmlns:a="http://schemas.openxmlformats.org/drawingml/2006/main">
              <a:ext uri="{FF2B5EF4-FFF2-40B4-BE49-F238E27FC236}">
                <a16:creationId xmlns:a16="http://schemas.microsoft.com/office/drawing/2014/main" id="{44385A09-A1DD-4739-9C9E-2B1F4B9BF790}"/>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Jev definition">
            <a:extLst xmlns:a="http://schemas.openxmlformats.org/drawingml/2006/main">
              <a:ext uri="{FF2B5EF4-FFF2-40B4-BE49-F238E27FC236}">
                <a16:creationId xmlns:a16="http://schemas.microsoft.com/office/drawing/2014/main" id="{4E5629DA-449C-4613-9D0F-A34E27BFB98E}"/>
              </a:ext>
            </a:extLst>
          </p:cNvPr>
          <p:cNvSpPr>
            <a:spLocks xmlns:a="http://schemas.openxmlformats.org/drawingml/2006/main" noGrp="1"/>
          </p:cNvSpPr>
          <p:nvPr/>
        </p:nvSpPr>
        <p:spPr>
          <a:xfrm xmlns:a="http://schemas.openxmlformats.org/drawingml/2006/main">
            <a:off x="812902" y="1399032"/>
            <a:ext cx="10561320" cy="34747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6B6B73"/>
                </a:solidFill>
              </a:defRPr>
            </a:defPPr>
            <a:lvl1pPr>
              <a:buNone/>
              <a:defRPr sz="1700" b="0">
                <a:solidFill>
                  <a:srgbClr val="6B6B73"/>
                </a:solidFill>
              </a:defRPr>
            </a:lvl1pPr>
            <a:lvl2pPr>
              <a:buNone/>
              <a:defRPr sz="1700" b="0">
                <a:solidFill>
                  <a:srgbClr val="6B6B73"/>
                </a:solidFill>
              </a:defRPr>
            </a:lvl2pPr>
            <a:lvl3pPr>
              <a:buNone/>
              <a:defRPr sz="1700" b="0">
                <a:solidFill>
                  <a:srgbClr val="6B6B73"/>
                </a:solidFill>
              </a:defRPr>
            </a:lvl3pPr>
            <a:lvl4pPr>
              <a:buNone/>
              <a:defRPr sz="1700" b="0">
                <a:solidFill>
                  <a:srgbClr val="6B6B73"/>
                </a:solidFill>
              </a:defRPr>
            </a:lvl4pPr>
            <a:lvl5pPr>
              <a:buNone/>
              <a:defRPr sz="1700" b="0">
                <a:solidFill>
                  <a:srgbClr val="6B6B73"/>
                </a:solidFill>
              </a:defRPr>
            </a:lvl5pPr>
            <a:lvl6pPr>
              <a:buNone/>
              <a:defRPr sz="1700" b="0">
                <a:solidFill>
                  <a:srgbClr val="6B6B73"/>
                </a:solidFill>
              </a:defRPr>
            </a:lvl6pPr>
            <a:lvl7pPr>
              <a:buNone/>
              <a:defRPr sz="1700" b="0">
                <a:solidFill>
                  <a:srgbClr val="6B6B73"/>
                </a:solidFill>
              </a:defRPr>
            </a:lvl7pPr>
            <a:lvl8pPr>
              <a:buNone/>
              <a:defRPr sz="1700" b="0">
                <a:solidFill>
                  <a:srgbClr val="6B6B73"/>
                </a:solidFill>
              </a:defRPr>
            </a:lvl8pPr>
            <a:lvl9pPr>
              <a:buNone/>
              <a:defRPr sz="1700" b="0">
                <a:solidFill>
                  <a:srgbClr val="6B6B73"/>
                </a:solidFill>
              </a:defRPr>
            </a:lvl9pPr>
          </a:lstStyle>
          <a:p xmlns:a="http://schemas.openxmlformats.org/drawingml/2006/main">
            <a:pPr>
              <a:buNone/>
              <a:defRPr sz="1700" b="0">
                <a:solidFill>
                  <a:srgbClr val="6B6B73"/>
                </a:solidFill>
              </a:defRPr>
            </a:pPr>
            <a:r>
              <a:rPr sz="1700" b="0">
                <a:solidFill>
                  <a:srgbClr val="6B6B73"/>
                </a:solidFill>
                <a:latin typeface="Arial"/>
                <a:ea typeface="Arial"/>
                <a:cs typeface="Arial"/>
              </a:rPr>
              <a:t>A solution like </a:t>
            </a:r>
            <a:r>
              <a:rPr sz="1700" b="0">
                <a:solidFill>
                  <a:srgbClr val="6B6B73"/>
                </a:solidFill>
                <a:latin typeface="Arial"/>
                <a:ea typeface="Arial"/>
                <a:cs typeface="Arial"/>
              </a:rPr>
              <a:t>Jev</a:t>
            </a:r>
            <a:r>
              <a:rPr sz="1700" b="0">
                <a:solidFill>
                  <a:srgbClr val="6B6B73"/>
                </a:solidFill>
                <a:latin typeface="Arial"/>
                <a:ea typeface="Arial"/>
                <a:cs typeface="Arial"/>
              </a:rPr>
              <a:t> turns focused questions about supplied context into structured answers.</a:t>
            </a:r>
          </a:p>
        </p:txBody>
      </p:sp>
      <p:pic>
        <p:nvPicPr>
          <p:cNvPr id="7" name="Picture 6">
            <a:extLst xmlns:a="http://schemas.openxmlformats.org/drawingml/2006/main">
              <a:ext uri="{FF2B5EF4-FFF2-40B4-BE49-F238E27FC236}">
                <a16:creationId xmlns:a16="http://schemas.microsoft.com/office/drawing/2014/main" id="{EC89DBCF-246C-4960-9D35-6BC489237745}"/>
              </a:ext>
            </a:extLst>
          </p:cNvPr>
          <p:cNvPicPr>
            <a:picLocks xmlns:a="http://schemas.openxmlformats.org/drawingml/2006/main" noChangeAspect="1"/>
          </p:cNvPicPr>
          <p:nvPr/>
        </p:nvPicPr>
        <p:blipFill>
          <a:blip xmlns:r="http://schemas.openxmlformats.org/officeDocument/2006/relationships" xmlns:a="http://schemas.openxmlformats.org/drawingml/2006/main" r:embed="Rc9921724d427415a"/>
          <a:stretch xmlns:a="http://schemas.openxmlformats.org/drawingml/2006/main">
            <a:fillRect l="0" t="0" r="0" b="0"/>
          </a:stretch>
        </p:blipFill>
        <p:spPr>
          <a:xfrm xmlns:a="http://schemas.openxmlformats.org/drawingml/2006/main">
            <a:off x="619125" y="2190750"/>
            <a:ext cx="10953750" cy="3141686"/>
          </a:xfrm>
          <a:prstGeom xmlns:a="http://schemas.openxmlformats.org/drawingml/2006/main" prst="rect">
            <a:avLst/>
          </a:prstGeom>
        </p:spPr>
      </p:pic>
    </p:spTree>
    <p:extLst>
      <p:ext uri="{BB962C8B-B14F-4D97-AF65-F5344CB8AC3E}">
        <p14:creationId xmlns:p14="http://schemas.microsoft.com/office/powerpoint/2010/main" val="1067171681"/>
      </p:ext>
    </p:extLst>
  </p:cSld>
</p:sld>
</file>

<file path=ppt/slides/slide15.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200B0376-9517-4098-A0A4-5E30BF6BBD1A}"/>
              </a:ext>
            </a:extLst>
          </p:cNvPr>
          <p:cNvPicPr>
            <a:picLocks xmlns:a="http://schemas.openxmlformats.org/drawingml/2006/main" noChangeAspect="1"/>
          </p:cNvPicPr>
          <p:nvPr/>
        </p:nvPicPr>
        <p:blipFill>
          <a:blip xmlns:r="http://schemas.openxmlformats.org/officeDocument/2006/relationships" xmlns:a="http://schemas.openxmlformats.org/drawingml/2006/main" r:embed="R5135902601ac4b45"/>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32ADD7B4-8CD2-4A33-9F7F-6E5438D45D91}"/>
              </a:ext>
            </a:extLst>
          </p:cNvPr>
          <p:cNvPicPr>
            <a:picLocks xmlns:a="http://schemas.openxmlformats.org/drawingml/2006/main" noChangeAspect="1"/>
          </p:cNvPicPr>
          <p:nvPr/>
        </p:nvPicPr>
        <p:blipFill>
          <a:blip xmlns:r="http://schemas.openxmlformats.org/officeDocument/2006/relationships" xmlns:a="http://schemas.openxmlformats.org/drawingml/2006/main" r:embed="Rd434291ef69248cf"/>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D187768E-5DAA-4D33-BC65-8E36740AF9D8}"/>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A specialized security prompt</a:t>
            </a:r>
            <a:endParaRPr sz="3200"/>
          </a:p>
        </p:txBody>
      </p:sp>
      <p:sp>
        <p:nvSpPr>
          <p:cNvPr id="36" name="Text 25">
            <a:extLst xmlns:a="http://schemas.openxmlformats.org/drawingml/2006/main">
              <a:ext uri="{FF2B5EF4-FFF2-40B4-BE49-F238E27FC236}">
                <a16:creationId xmlns:a16="http://schemas.microsoft.com/office/drawing/2014/main" id="{CBEFBA07-BAA1-45A5-8F7C-20DD9CB4800E}"/>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Fixed inputs">
            <a:extLst xmlns:a="http://schemas.openxmlformats.org/drawingml/2006/main">
              <a:ext uri="{FF2B5EF4-FFF2-40B4-BE49-F238E27FC236}">
                <a16:creationId xmlns:a16="http://schemas.microsoft.com/office/drawing/2014/main" id="{CDD97382-6954-4810-8E44-B231E1ACD8B2}"/>
              </a:ext>
            </a:extLst>
          </p:cNvPr>
          <p:cNvSpPr>
            <a:spLocks xmlns:a="http://schemas.openxmlformats.org/drawingml/2006/main" noGrp="1"/>
          </p:cNvSpPr>
          <p:nvPr/>
        </p:nvSpPr>
        <p:spPr>
          <a:xfrm xmlns:a="http://schemas.openxmlformats.org/drawingml/2006/main">
            <a:off x="812902" y="1399032"/>
            <a:ext cx="10561320"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Keep Sonnet 5, the code change and the related file fixed. Change the review instructions.</a:t>
            </a:r>
          </a:p>
        </p:txBody>
      </p:sp>
      <p:sp>
        <p:nvSpPr>
          <p:cNvPr id="1001" name="Prompt rule 0">
            <a:extLst xmlns:a="http://schemas.openxmlformats.org/drawingml/2006/main">
              <a:ext uri="{FF2B5EF4-FFF2-40B4-BE49-F238E27FC236}">
                <a16:creationId xmlns:a16="http://schemas.microsoft.com/office/drawing/2014/main" id="{C59AA5C6-03AD-4558-944C-11917A27E844}"/>
              </a:ext>
            </a:extLst>
          </p:cNvPr>
          <p:cNvSpPr>
            <a:spLocks xmlns:a="http://schemas.openxmlformats.org/drawingml/2006/main" noGrp="1"/>
          </p:cNvSpPr>
          <p:nvPr/>
        </p:nvSpPr>
        <p:spPr>
          <a:xfrm xmlns:a="http://schemas.openxmlformats.org/drawingml/2006/main">
            <a:off x="812902" y="2295144"/>
            <a:ext cx="2971800" cy="50292"/>
          </a:xfrm>
          <a:prstGeom xmlns:a="http://schemas.openxmlformats.org/drawingml/2006/main" prst="rect">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2" name="Prompt title 0">
            <a:extLst xmlns:a="http://schemas.openxmlformats.org/drawingml/2006/main">
              <a:ext uri="{FF2B5EF4-FFF2-40B4-BE49-F238E27FC236}">
                <a16:creationId xmlns:a16="http://schemas.microsoft.com/office/drawing/2014/main" id="{78AAF97C-3441-4866-8C27-616749EBE851}"/>
              </a:ext>
            </a:extLst>
          </p:cNvPr>
          <p:cNvSpPr>
            <a:spLocks xmlns:a="http://schemas.openxmlformats.org/drawingml/2006/main" noGrp="1"/>
          </p:cNvSpPr>
          <p:nvPr/>
        </p:nvSpPr>
        <p:spPr>
          <a:xfrm xmlns:a="http://schemas.openxmlformats.org/drawingml/2006/main">
            <a:off x="812902" y="2578608"/>
            <a:ext cx="2971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0086B6"/>
                </a:solidFill>
              </a:defRPr>
            </a:defPPr>
            <a:lvl1pPr>
              <a:buNone/>
              <a:defRPr sz="2100" b="1">
                <a:solidFill>
                  <a:srgbClr val="0086B6"/>
                </a:solidFill>
              </a:defRPr>
            </a:lvl1pPr>
            <a:lvl2pPr>
              <a:buNone/>
              <a:defRPr sz="2100" b="1">
                <a:solidFill>
                  <a:srgbClr val="0086B6"/>
                </a:solidFill>
              </a:defRPr>
            </a:lvl2pPr>
            <a:lvl3pPr>
              <a:buNone/>
              <a:defRPr sz="2100" b="1">
                <a:solidFill>
                  <a:srgbClr val="0086B6"/>
                </a:solidFill>
              </a:defRPr>
            </a:lvl3pPr>
            <a:lvl4pPr>
              <a:buNone/>
              <a:defRPr sz="2100" b="1">
                <a:solidFill>
                  <a:srgbClr val="0086B6"/>
                </a:solidFill>
              </a:defRPr>
            </a:lvl4pPr>
            <a:lvl5pPr>
              <a:buNone/>
              <a:defRPr sz="2100" b="1">
                <a:solidFill>
                  <a:srgbClr val="0086B6"/>
                </a:solidFill>
              </a:defRPr>
            </a:lvl5pPr>
            <a:lvl6pPr>
              <a:buNone/>
              <a:defRPr sz="2100" b="1">
                <a:solidFill>
                  <a:srgbClr val="0086B6"/>
                </a:solidFill>
              </a:defRPr>
            </a:lvl6pPr>
            <a:lvl7pPr>
              <a:buNone/>
              <a:defRPr sz="2100" b="1">
                <a:solidFill>
                  <a:srgbClr val="0086B6"/>
                </a:solidFill>
              </a:defRPr>
            </a:lvl7pPr>
            <a:lvl8pPr>
              <a:buNone/>
              <a:defRPr sz="2100" b="1">
                <a:solidFill>
                  <a:srgbClr val="0086B6"/>
                </a:solidFill>
              </a:defRPr>
            </a:lvl8pPr>
            <a:lvl9pPr>
              <a:buNone/>
              <a:defRPr sz="2100" b="1">
                <a:solidFill>
                  <a:srgbClr val="0086B6"/>
                </a:solidFill>
              </a:defRPr>
            </a:lvl9pPr>
          </a:lstStyle>
          <a:p xmlns:a="http://schemas.openxmlformats.org/drawingml/2006/main">
            <a:pPr>
              <a:buNone/>
              <a:defRPr sz="2100" b="1">
                <a:solidFill>
                  <a:srgbClr val="0086B6"/>
                </a:solidFill>
              </a:defRPr>
            </a:pPr>
            <a:r>
              <a:rPr sz="2100" b="1">
                <a:solidFill>
                  <a:srgbClr val="0086B6"/>
                </a:solidFill>
                <a:latin typeface="Arial"/>
                <a:ea typeface="Arial"/>
                <a:cs typeface="Arial"/>
              </a:rPr>
              <a:t>Security role</a:t>
            </a:r>
          </a:p>
        </p:txBody>
      </p:sp>
      <p:sp>
        <p:nvSpPr>
          <p:cNvPr id="1003" name="Prompt detail 0">
            <a:extLst xmlns:a="http://schemas.openxmlformats.org/drawingml/2006/main">
              <a:ext uri="{FF2B5EF4-FFF2-40B4-BE49-F238E27FC236}">
                <a16:creationId xmlns:a16="http://schemas.microsoft.com/office/drawing/2014/main" id="{E502C171-17A0-437F-8B21-E0D3126763E0}"/>
              </a:ext>
            </a:extLst>
          </p:cNvPr>
          <p:cNvSpPr>
            <a:spLocks xmlns:a="http://schemas.openxmlformats.org/drawingml/2006/main" noGrp="1"/>
          </p:cNvSpPr>
          <p:nvPr/>
        </p:nvSpPr>
        <p:spPr>
          <a:xfrm xmlns:a="http://schemas.openxmlformats.org/drawingml/2006/main">
            <a:off x="812902" y="3191256"/>
            <a:ext cx="29718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Ask a security engineer</a:t>
            </a:r>
            <a:br>
              <a:rPr sz="1800" b="0">
                <a:solidFill>
                  <a:srgbClr val="33333A"/>
                </a:solidFill>
                <a:latin typeface="Arial"/>
                <a:ea typeface="Arial"/>
                <a:cs typeface="Arial"/>
              </a:rPr>
            </a:br>
            <a:r>
              <a:rPr sz="1800" b="0">
                <a:solidFill>
                  <a:srgbClr val="33333A"/>
                </a:solidFill>
                <a:latin typeface="Arial"/>
                <a:ea typeface="Arial"/>
                <a:cs typeface="Arial"/>
              </a:rPr>
              <a:t>to review the change.</a:t>
            </a:r>
          </a:p>
        </p:txBody>
      </p:sp>
      <p:sp>
        <p:nvSpPr>
          <p:cNvPr id="1004" name="Prompt rule 1">
            <a:extLst xmlns:a="http://schemas.openxmlformats.org/drawingml/2006/main">
              <a:ext uri="{FF2B5EF4-FFF2-40B4-BE49-F238E27FC236}">
                <a16:creationId xmlns:a16="http://schemas.microsoft.com/office/drawing/2014/main" id="{E6BB72A4-423B-4C81-85C9-B946A10330B4}"/>
              </a:ext>
            </a:extLst>
          </p:cNvPr>
          <p:cNvSpPr>
            <a:spLocks xmlns:a="http://schemas.openxmlformats.org/drawingml/2006/main" noGrp="1"/>
          </p:cNvSpPr>
          <p:nvPr/>
        </p:nvSpPr>
        <p:spPr>
          <a:xfrm xmlns:a="http://schemas.openxmlformats.org/drawingml/2006/main">
            <a:off x="4370832" y="2295144"/>
            <a:ext cx="2971800" cy="50292"/>
          </a:xfrm>
          <a:prstGeom xmlns:a="http://schemas.openxmlformats.org/drawingml/2006/main" prst="rect">
            <a:avLst/>
          </a:prstGeom>
          <a:solidFill xmlns:a="http://schemas.openxmlformats.org/drawingml/2006/main">
            <a:srgbClr val="4C883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5" name="Prompt title 1">
            <a:extLst xmlns:a="http://schemas.openxmlformats.org/drawingml/2006/main">
              <a:ext uri="{FF2B5EF4-FFF2-40B4-BE49-F238E27FC236}">
                <a16:creationId xmlns:a16="http://schemas.microsoft.com/office/drawing/2014/main" id="{637A8D82-0C4E-458C-93C9-8288D7ECCD1C}"/>
              </a:ext>
            </a:extLst>
          </p:cNvPr>
          <p:cNvSpPr>
            <a:spLocks xmlns:a="http://schemas.openxmlformats.org/drawingml/2006/main" noGrp="1"/>
          </p:cNvSpPr>
          <p:nvPr/>
        </p:nvSpPr>
        <p:spPr>
          <a:xfrm xmlns:a="http://schemas.openxmlformats.org/drawingml/2006/main">
            <a:off x="4370832" y="2578608"/>
            <a:ext cx="2971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4C8835"/>
                </a:solidFill>
              </a:defRPr>
            </a:defPPr>
            <a:lvl1pPr>
              <a:buNone/>
              <a:defRPr sz="2100" b="1">
                <a:solidFill>
                  <a:srgbClr val="4C8835"/>
                </a:solidFill>
              </a:defRPr>
            </a:lvl1pPr>
            <a:lvl2pPr>
              <a:buNone/>
              <a:defRPr sz="2100" b="1">
                <a:solidFill>
                  <a:srgbClr val="4C8835"/>
                </a:solidFill>
              </a:defRPr>
            </a:lvl2pPr>
            <a:lvl3pPr>
              <a:buNone/>
              <a:defRPr sz="2100" b="1">
                <a:solidFill>
                  <a:srgbClr val="4C8835"/>
                </a:solidFill>
              </a:defRPr>
            </a:lvl3pPr>
            <a:lvl4pPr>
              <a:buNone/>
              <a:defRPr sz="2100" b="1">
                <a:solidFill>
                  <a:srgbClr val="4C8835"/>
                </a:solidFill>
              </a:defRPr>
            </a:lvl4pPr>
            <a:lvl5pPr>
              <a:buNone/>
              <a:defRPr sz="2100" b="1">
                <a:solidFill>
                  <a:srgbClr val="4C8835"/>
                </a:solidFill>
              </a:defRPr>
            </a:lvl5pPr>
            <a:lvl6pPr>
              <a:buNone/>
              <a:defRPr sz="2100" b="1">
                <a:solidFill>
                  <a:srgbClr val="4C8835"/>
                </a:solidFill>
              </a:defRPr>
            </a:lvl6pPr>
            <a:lvl7pPr>
              <a:buNone/>
              <a:defRPr sz="2100" b="1">
                <a:solidFill>
                  <a:srgbClr val="4C8835"/>
                </a:solidFill>
              </a:defRPr>
            </a:lvl7pPr>
            <a:lvl8pPr>
              <a:buNone/>
              <a:defRPr sz="2100" b="1">
                <a:solidFill>
                  <a:srgbClr val="4C8835"/>
                </a:solidFill>
              </a:defRPr>
            </a:lvl8pPr>
            <a:lvl9pPr>
              <a:buNone/>
              <a:defRPr sz="2100" b="1">
                <a:solidFill>
                  <a:srgbClr val="4C8835"/>
                </a:solidFill>
              </a:defRPr>
            </a:lvl9pPr>
          </a:lstStyle>
          <a:p xmlns:a="http://schemas.openxmlformats.org/drawingml/2006/main">
            <a:pPr>
              <a:buNone/>
              <a:defRPr sz="2100" b="1">
                <a:solidFill>
                  <a:srgbClr val="4C8835"/>
                </a:solidFill>
              </a:defRPr>
            </a:pPr>
            <a:r>
              <a:rPr sz="2100" b="1">
                <a:solidFill>
                  <a:srgbClr val="4C8835"/>
                </a:solidFill>
                <a:latin typeface="Arial"/>
                <a:ea typeface="Arial"/>
                <a:cs typeface="Arial"/>
              </a:rPr>
              <a:t>Security checklist</a:t>
            </a:r>
          </a:p>
        </p:txBody>
      </p:sp>
      <p:sp>
        <p:nvSpPr>
          <p:cNvPr id="1006" name="Prompt detail 1">
            <a:extLst xmlns:a="http://schemas.openxmlformats.org/drawingml/2006/main">
              <a:ext uri="{FF2B5EF4-FFF2-40B4-BE49-F238E27FC236}">
                <a16:creationId xmlns:a16="http://schemas.microsoft.com/office/drawing/2014/main" id="{BBB35338-FE0D-4AC8-BCAA-FA7C8108A005}"/>
              </a:ext>
            </a:extLst>
          </p:cNvPr>
          <p:cNvSpPr>
            <a:spLocks xmlns:a="http://schemas.openxmlformats.org/drawingml/2006/main" noGrp="1"/>
          </p:cNvSpPr>
          <p:nvPr/>
        </p:nvSpPr>
        <p:spPr>
          <a:xfrm xmlns:a="http://schemas.openxmlformats.org/drawingml/2006/main">
            <a:off x="4370832" y="3191256"/>
            <a:ext cx="29718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Use OWASP Top 10</a:t>
            </a:r>
            <a:br>
              <a:rPr sz="1800" b="0">
                <a:solidFill>
                  <a:srgbClr val="33333A"/>
                </a:solidFill>
                <a:latin typeface="Arial"/>
                <a:ea typeface="Arial"/>
                <a:cs typeface="Arial"/>
              </a:rPr>
            </a:br>
            <a:r>
              <a:rPr sz="1800" b="0">
                <a:solidFill>
                  <a:srgbClr val="33333A"/>
                </a:solidFill>
                <a:latin typeface="Arial"/>
                <a:ea typeface="Arial"/>
                <a:cs typeface="Arial"/>
              </a:rPr>
              <a:t>web-security categories.</a:t>
            </a:r>
          </a:p>
        </p:txBody>
      </p:sp>
      <p:sp>
        <p:nvSpPr>
          <p:cNvPr id="1007" name="Prompt rule 2">
            <a:extLst xmlns:a="http://schemas.openxmlformats.org/drawingml/2006/main">
              <a:ext uri="{FF2B5EF4-FFF2-40B4-BE49-F238E27FC236}">
                <a16:creationId xmlns:a16="http://schemas.microsoft.com/office/drawing/2014/main" id="{6540FE06-AE5D-4295-90DE-5A254DF2331A}"/>
              </a:ext>
            </a:extLst>
          </p:cNvPr>
          <p:cNvSpPr>
            <a:spLocks xmlns:a="http://schemas.openxmlformats.org/drawingml/2006/main" noGrp="1"/>
          </p:cNvSpPr>
          <p:nvPr/>
        </p:nvSpPr>
        <p:spPr>
          <a:xfrm xmlns:a="http://schemas.openxmlformats.org/drawingml/2006/main">
            <a:off x="7927848" y="2295144"/>
            <a:ext cx="3447288" cy="50292"/>
          </a:xfrm>
          <a:prstGeom xmlns:a="http://schemas.openxmlformats.org/drawingml/2006/main" prst="rect">
            <a:avLst/>
          </a:prstGeom>
          <a:solidFill xmlns:a="http://schemas.openxmlformats.org/drawingml/2006/main">
            <a:srgbClr val="5665AE"/>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8" name="Prompt title 2">
            <a:extLst xmlns:a="http://schemas.openxmlformats.org/drawingml/2006/main">
              <a:ext uri="{FF2B5EF4-FFF2-40B4-BE49-F238E27FC236}">
                <a16:creationId xmlns:a16="http://schemas.microsoft.com/office/drawing/2014/main" id="{F46AD09A-2CBB-4C9F-9443-4B01BFB24056}"/>
              </a:ext>
            </a:extLst>
          </p:cNvPr>
          <p:cNvSpPr>
            <a:spLocks xmlns:a="http://schemas.openxmlformats.org/drawingml/2006/main" noGrp="1"/>
          </p:cNvSpPr>
          <p:nvPr/>
        </p:nvSpPr>
        <p:spPr>
          <a:xfrm xmlns:a="http://schemas.openxmlformats.org/drawingml/2006/main">
            <a:off x="7927848" y="2578608"/>
            <a:ext cx="3447288"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100" b="1">
                <a:solidFill>
                  <a:srgbClr val="5665AE"/>
                </a:solidFill>
              </a:defRPr>
            </a:defPPr>
            <a:lvl1pPr>
              <a:buNone/>
              <a:defRPr sz="2100" b="1">
                <a:solidFill>
                  <a:srgbClr val="5665AE"/>
                </a:solidFill>
              </a:defRPr>
            </a:lvl1pPr>
            <a:lvl2pPr>
              <a:buNone/>
              <a:defRPr sz="2100" b="1">
                <a:solidFill>
                  <a:srgbClr val="5665AE"/>
                </a:solidFill>
              </a:defRPr>
            </a:lvl2pPr>
            <a:lvl3pPr>
              <a:buNone/>
              <a:defRPr sz="2100" b="1">
                <a:solidFill>
                  <a:srgbClr val="5665AE"/>
                </a:solidFill>
              </a:defRPr>
            </a:lvl3pPr>
            <a:lvl4pPr>
              <a:buNone/>
              <a:defRPr sz="2100" b="1">
                <a:solidFill>
                  <a:srgbClr val="5665AE"/>
                </a:solidFill>
              </a:defRPr>
            </a:lvl4pPr>
            <a:lvl5pPr>
              <a:buNone/>
              <a:defRPr sz="2100" b="1">
                <a:solidFill>
                  <a:srgbClr val="5665AE"/>
                </a:solidFill>
              </a:defRPr>
            </a:lvl5pPr>
            <a:lvl6pPr>
              <a:buNone/>
              <a:defRPr sz="2100" b="1">
                <a:solidFill>
                  <a:srgbClr val="5665AE"/>
                </a:solidFill>
              </a:defRPr>
            </a:lvl6pPr>
            <a:lvl7pPr>
              <a:buNone/>
              <a:defRPr sz="2100" b="1">
                <a:solidFill>
                  <a:srgbClr val="5665AE"/>
                </a:solidFill>
              </a:defRPr>
            </a:lvl7pPr>
            <a:lvl8pPr>
              <a:buNone/>
              <a:defRPr sz="2100" b="1">
                <a:solidFill>
                  <a:srgbClr val="5665AE"/>
                </a:solidFill>
              </a:defRPr>
            </a:lvl8pPr>
            <a:lvl9pPr>
              <a:buNone/>
              <a:defRPr sz="2100" b="1">
                <a:solidFill>
                  <a:srgbClr val="5665AE"/>
                </a:solidFill>
              </a:defRPr>
            </a:lvl9pPr>
          </a:lstStyle>
          <a:p xmlns:a="http://schemas.openxmlformats.org/drawingml/2006/main">
            <a:pPr>
              <a:buNone/>
              <a:defRPr sz="2100" b="1">
                <a:solidFill>
                  <a:srgbClr val="5665AE"/>
                </a:solidFill>
              </a:defRPr>
            </a:pPr>
            <a:r>
              <a:rPr sz="2100" b="1">
                <a:solidFill>
                  <a:srgbClr val="5665AE"/>
                </a:solidFill>
                <a:latin typeface="Arial"/>
                <a:ea typeface="Arial"/>
                <a:cs typeface="Arial"/>
              </a:rPr>
              <a:t>Explicit scope</a:t>
            </a:r>
          </a:p>
        </p:txBody>
      </p:sp>
      <p:sp>
        <p:nvSpPr>
          <p:cNvPr id="1009" name="Prompt detail 2">
            <a:extLst xmlns:a="http://schemas.openxmlformats.org/drawingml/2006/main">
              <a:ext uri="{FF2B5EF4-FFF2-40B4-BE49-F238E27FC236}">
                <a16:creationId xmlns:a16="http://schemas.microsoft.com/office/drawing/2014/main" id="{B233A4A6-450A-416A-9AE5-DB1E69F86152}"/>
              </a:ext>
            </a:extLst>
          </p:cNvPr>
          <p:cNvSpPr>
            <a:spLocks xmlns:a="http://schemas.openxmlformats.org/drawingml/2006/main" noGrp="1"/>
          </p:cNvSpPr>
          <p:nvPr/>
        </p:nvSpPr>
        <p:spPr>
          <a:xfrm xmlns:a="http://schemas.openxmlformats.org/drawingml/2006/main">
            <a:off x="7927848" y="3191256"/>
            <a:ext cx="3447288"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Include existing flaws in</a:t>
            </a:r>
            <a:br>
              <a:rPr sz="1800" b="0">
                <a:solidFill>
                  <a:srgbClr val="33333A"/>
                </a:solidFill>
                <a:latin typeface="Arial"/>
                <a:ea typeface="Arial"/>
                <a:cs typeface="Arial"/>
              </a:rPr>
            </a:br>
            <a:r>
              <a:rPr sz="1800" b="0">
                <a:solidFill>
                  <a:srgbClr val="33333A"/>
                </a:solidFill>
                <a:latin typeface="Arial"/>
                <a:ea typeface="Arial"/>
                <a:cs typeface="Arial"/>
              </a:rPr>
              <a:t>touched or relied-on code.</a:t>
            </a:r>
          </a:p>
        </p:txBody>
      </p:sp>
      <p:sp>
        <p:nvSpPr>
          <p:cNvPr id="1010" name="Scope quote background">
            <a:extLst xmlns:a="http://schemas.openxmlformats.org/drawingml/2006/main">
              <a:ext uri="{FF2B5EF4-FFF2-40B4-BE49-F238E27FC236}">
                <a16:creationId xmlns:a16="http://schemas.microsoft.com/office/drawing/2014/main" id="{6E19CB34-6AE4-4F94-87F8-5F319612314A}"/>
              </a:ext>
            </a:extLst>
          </p:cNvPr>
          <p:cNvSpPr>
            <a:spLocks xmlns:a="http://schemas.openxmlformats.org/drawingml/2006/main" noGrp="1"/>
          </p:cNvSpPr>
          <p:nvPr/>
        </p:nvSpPr>
        <p:spPr>
          <a:xfrm xmlns:a="http://schemas.openxmlformats.org/drawingml/2006/main">
            <a:off x="812902" y="4361688"/>
            <a:ext cx="10561320" cy="1197864"/>
          </a:xfrm>
          <a:prstGeom xmlns:a="http://schemas.openxmlformats.org/drawingml/2006/main" prst="rect">
            <a:avLst/>
          </a:prstGeom>
          <a:solidFill xmlns:a="http://schemas.openxmlformats.org/drawingml/2006/main">
            <a:srgbClr val="F3F6F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11" name="Scope quote label">
            <a:extLst xmlns:a="http://schemas.openxmlformats.org/drawingml/2006/main">
              <a:ext uri="{FF2B5EF4-FFF2-40B4-BE49-F238E27FC236}">
                <a16:creationId xmlns:a16="http://schemas.microsoft.com/office/drawing/2014/main" id="{8693D0C4-0394-4454-AA9B-A0C8E51B4B6F}"/>
              </a:ext>
            </a:extLst>
          </p:cNvPr>
          <p:cNvSpPr>
            <a:spLocks xmlns:a="http://schemas.openxmlformats.org/drawingml/2006/main" noGrp="1"/>
          </p:cNvSpPr>
          <p:nvPr/>
        </p:nvSpPr>
        <p:spPr>
          <a:xfrm xmlns:a="http://schemas.openxmlformats.org/drawingml/2006/main">
            <a:off x="1005840" y="4535424"/>
            <a:ext cx="9966960" cy="25603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200" b="1">
                <a:solidFill>
                  <a:srgbClr val="4C8835"/>
                </a:solidFill>
              </a:defRPr>
            </a:defPPr>
            <a:lvl1pPr>
              <a:buNone/>
              <a:defRPr sz="1200" b="1">
                <a:solidFill>
                  <a:srgbClr val="4C8835"/>
                </a:solidFill>
              </a:defRPr>
            </a:lvl1pPr>
            <a:lvl2pPr>
              <a:buNone/>
              <a:defRPr sz="1200" b="1">
                <a:solidFill>
                  <a:srgbClr val="4C8835"/>
                </a:solidFill>
              </a:defRPr>
            </a:lvl2pPr>
            <a:lvl3pPr>
              <a:buNone/>
              <a:defRPr sz="1200" b="1">
                <a:solidFill>
                  <a:srgbClr val="4C8835"/>
                </a:solidFill>
              </a:defRPr>
            </a:lvl3pPr>
            <a:lvl4pPr>
              <a:buNone/>
              <a:defRPr sz="1200" b="1">
                <a:solidFill>
                  <a:srgbClr val="4C8835"/>
                </a:solidFill>
              </a:defRPr>
            </a:lvl4pPr>
            <a:lvl5pPr>
              <a:buNone/>
              <a:defRPr sz="1200" b="1">
                <a:solidFill>
                  <a:srgbClr val="4C8835"/>
                </a:solidFill>
              </a:defRPr>
            </a:lvl5pPr>
            <a:lvl6pPr>
              <a:buNone/>
              <a:defRPr sz="1200" b="1">
                <a:solidFill>
                  <a:srgbClr val="4C8835"/>
                </a:solidFill>
              </a:defRPr>
            </a:lvl6pPr>
            <a:lvl7pPr>
              <a:buNone/>
              <a:defRPr sz="1200" b="1">
                <a:solidFill>
                  <a:srgbClr val="4C8835"/>
                </a:solidFill>
              </a:defRPr>
            </a:lvl7pPr>
            <a:lvl8pPr>
              <a:buNone/>
              <a:defRPr sz="1200" b="1">
                <a:solidFill>
                  <a:srgbClr val="4C8835"/>
                </a:solidFill>
              </a:defRPr>
            </a:lvl8pPr>
            <a:lvl9pPr>
              <a:buNone/>
              <a:defRPr sz="1200" b="1">
                <a:solidFill>
                  <a:srgbClr val="4C8835"/>
                </a:solidFill>
              </a:defRPr>
            </a:lvl9pPr>
          </a:lstStyle>
          <a:p xmlns:a="http://schemas.openxmlformats.org/drawingml/2006/main">
            <a:pPr>
              <a:buNone/>
              <a:defRPr sz="1200" b="1">
                <a:solidFill>
                  <a:srgbClr val="4C8835"/>
                </a:solidFill>
              </a:defRPr>
            </a:pPr>
            <a:r>
              <a:rPr sz="1200" b="1">
                <a:solidFill>
                  <a:srgbClr val="4C8835"/>
                </a:solidFill>
                <a:latin typeface="Arial"/>
                <a:ea typeface="Arial"/>
                <a:cs typeface="Arial"/>
              </a:rPr>
              <a:t>EXCERPT FROM THE STRONGER PROMPT</a:t>
            </a:r>
          </a:p>
        </p:txBody>
      </p:sp>
      <p:sp>
        <p:nvSpPr>
          <p:cNvPr id="1012" name="Scope quote">
            <a:extLst xmlns:a="http://schemas.openxmlformats.org/drawingml/2006/main">
              <a:ext uri="{FF2B5EF4-FFF2-40B4-BE49-F238E27FC236}">
                <a16:creationId xmlns:a16="http://schemas.microsoft.com/office/drawing/2014/main" id="{68983141-CF7A-4215-99D6-9816674351A8}"/>
              </a:ext>
            </a:extLst>
          </p:cNvPr>
          <p:cNvSpPr>
            <a:spLocks xmlns:a="http://schemas.openxmlformats.org/drawingml/2006/main" noGrp="1"/>
          </p:cNvSpPr>
          <p:nvPr/>
        </p:nvSpPr>
        <p:spPr>
          <a:xfrm xmlns:a="http://schemas.openxmlformats.org/drawingml/2006/main">
            <a:off x="1005840" y="4882896"/>
            <a:ext cx="9966960" cy="5486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00" b="0">
                <a:solidFill>
                  <a:srgbClr val="33333A"/>
                </a:solidFill>
              </a:defRPr>
            </a:defPPr>
            <a:lvl1pPr>
              <a:buNone/>
              <a:defRPr sz="2000" b="0">
                <a:solidFill>
                  <a:srgbClr val="33333A"/>
                </a:solidFill>
              </a:defRPr>
            </a:lvl1pPr>
            <a:lvl2pPr>
              <a:buNone/>
              <a:defRPr sz="2000" b="0">
                <a:solidFill>
                  <a:srgbClr val="33333A"/>
                </a:solidFill>
              </a:defRPr>
            </a:lvl2pPr>
            <a:lvl3pPr>
              <a:buNone/>
              <a:defRPr sz="2000" b="0">
                <a:solidFill>
                  <a:srgbClr val="33333A"/>
                </a:solidFill>
              </a:defRPr>
            </a:lvl3pPr>
            <a:lvl4pPr>
              <a:buNone/>
              <a:defRPr sz="2000" b="0">
                <a:solidFill>
                  <a:srgbClr val="33333A"/>
                </a:solidFill>
              </a:defRPr>
            </a:lvl4pPr>
            <a:lvl5pPr>
              <a:buNone/>
              <a:defRPr sz="2000" b="0">
                <a:solidFill>
                  <a:srgbClr val="33333A"/>
                </a:solidFill>
              </a:defRPr>
            </a:lvl5pPr>
            <a:lvl6pPr>
              <a:buNone/>
              <a:defRPr sz="2000" b="0">
                <a:solidFill>
                  <a:srgbClr val="33333A"/>
                </a:solidFill>
              </a:defRPr>
            </a:lvl6pPr>
            <a:lvl7pPr>
              <a:buNone/>
              <a:defRPr sz="2000" b="0">
                <a:solidFill>
                  <a:srgbClr val="33333A"/>
                </a:solidFill>
              </a:defRPr>
            </a:lvl7pPr>
            <a:lvl8pPr>
              <a:buNone/>
              <a:defRPr sz="2000" b="0">
                <a:solidFill>
                  <a:srgbClr val="33333A"/>
                </a:solidFill>
              </a:defRPr>
            </a:lvl8pPr>
            <a:lvl9pPr>
              <a:buNone/>
              <a:defRPr sz="2000" b="0">
                <a:solidFill>
                  <a:srgbClr val="33333A"/>
                </a:solidFill>
              </a:defRPr>
            </a:lvl9pPr>
          </a:lstStyle>
          <a:p xmlns:a="http://schemas.openxmlformats.org/drawingml/2006/main">
            <a:pPr>
              <a:buNone/>
              <a:defRPr sz="2000" b="0">
                <a:solidFill>
                  <a:srgbClr val="33333A"/>
                </a:solidFill>
              </a:defRPr>
            </a:pPr>
            <a:r>
              <a:rPr sz="2000" b="0">
                <a:solidFill>
                  <a:srgbClr val="33333A"/>
                </a:solidFill>
                <a:latin typeface="Arial"/>
                <a:ea typeface="Arial"/>
                <a:cs typeface="Arial"/>
              </a:rPr>
              <a:t>“Also report security flaws in code that this change touches or relies on, even if they existed before this change.”</a:t>
            </a:r>
          </a:p>
        </p:txBody>
      </p:sp>
    </p:spTree>
    <p:extLst>
      <p:ext uri="{BB962C8B-B14F-4D97-AF65-F5344CB8AC3E}">
        <p14:creationId xmlns:p14="http://schemas.microsoft.com/office/powerpoint/2010/main" val="795087073"/>
      </p:ext>
    </p:extLst>
  </p:cSld>
</p:sld>
</file>

<file path=ppt/slides/slide16.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9E79C21A-2684-43BA-83A6-950A857C04D5}"/>
              </a:ext>
            </a:extLst>
          </p:cNvPr>
          <p:cNvPicPr>
            <a:picLocks xmlns:a="http://schemas.openxmlformats.org/drawingml/2006/main" noChangeAspect="1"/>
          </p:cNvPicPr>
          <p:nvPr/>
        </p:nvPicPr>
        <p:blipFill>
          <a:blip xmlns:r="http://schemas.openxmlformats.org/officeDocument/2006/relationships" xmlns:a="http://schemas.openxmlformats.org/drawingml/2006/main" r:embed="Rfb1199be1feb490a"/>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BE1E805C-1E76-453A-86B7-484DF0EC6F17}"/>
              </a:ext>
            </a:extLst>
          </p:cNvPr>
          <p:cNvPicPr>
            <a:picLocks xmlns:a="http://schemas.openxmlformats.org/drawingml/2006/main" noChangeAspect="1"/>
          </p:cNvPicPr>
          <p:nvPr/>
        </p:nvPicPr>
        <p:blipFill>
          <a:blip xmlns:r="http://schemas.openxmlformats.org/officeDocument/2006/relationships" xmlns:a="http://schemas.openxmlformats.org/drawingml/2006/main" r:embed="R0b1efae635754cc4"/>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9" name="title">
            <a:extLst xmlns:a="http://schemas.openxmlformats.org/drawingml/2006/main">
              <a:ext uri="{FF2B5EF4-FFF2-40B4-BE49-F238E27FC236}">
                <a16:creationId xmlns:a16="http://schemas.microsoft.com/office/drawing/2014/main" id="{F088CF9B-6397-4109-B75D-520E211E9958}"/>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Round 4: specialized prompt reaches 23 of 24</a:t>
            </a:r>
          </a:p>
        </p:txBody>
      </p:sp>
      <p:sp>
        <p:nvSpPr>
          <p:cNvPr id="2002" name="subtitle">
            <a:extLst xmlns:a="http://schemas.openxmlformats.org/drawingml/2006/main">
              <a:ext uri="{FF2B5EF4-FFF2-40B4-BE49-F238E27FC236}">
                <a16:creationId xmlns:a16="http://schemas.microsoft.com/office/drawing/2014/main" id="{97C82B0F-0883-45FD-963F-0E571A1F4BD4}"/>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Fully caught cases by OWASP Top 10 category</a:t>
            </a:r>
          </a:p>
        </p:txBody>
      </p:sp>
      <p:sp>
        <p:nvSpPr>
          <p:cNvPr id="2003" name="original group">
            <a:extLst xmlns:a="http://schemas.openxmlformats.org/drawingml/2006/main">
              <a:ext uri="{FF2B5EF4-FFF2-40B4-BE49-F238E27FC236}">
                <a16:creationId xmlns:a16="http://schemas.microsoft.com/office/drawing/2014/main" id="{D2EFCC7F-309E-42B9-8008-843E23762BB7}"/>
              </a:ext>
            </a:extLst>
          </p:cNvPr>
          <p:cNvSpPr>
            <a:spLocks xmlns:a="http://schemas.openxmlformats.org/drawingml/2006/main" noGrp="1"/>
          </p:cNvSpPr>
          <p:nvPr/>
        </p:nvSpPr>
        <p:spPr>
          <a:xfrm xmlns:a="http://schemas.openxmlformats.org/drawingml/2006/main">
            <a:off x="4289489" y="1809750"/>
            <a:ext cx="283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0086AC"/>
                </a:solidFill>
              </a:defRPr>
            </a:defPPr>
            <a:lvl1pPr>
              <a:buNone/>
              <a:defRPr sz="1200" b="1">
                <a:solidFill>
                  <a:srgbClr val="0086AC"/>
                </a:solidFill>
              </a:defRPr>
            </a:lvl1pPr>
            <a:lvl2pPr>
              <a:buNone/>
              <a:defRPr sz="1200" b="1">
                <a:solidFill>
                  <a:srgbClr val="0086AC"/>
                </a:solidFill>
              </a:defRPr>
            </a:lvl2pPr>
            <a:lvl3pPr>
              <a:buNone/>
              <a:defRPr sz="1200" b="1">
                <a:solidFill>
                  <a:srgbClr val="0086AC"/>
                </a:solidFill>
              </a:defRPr>
            </a:lvl3pPr>
            <a:lvl4pPr>
              <a:buNone/>
              <a:defRPr sz="1200" b="1">
                <a:solidFill>
                  <a:srgbClr val="0086AC"/>
                </a:solidFill>
              </a:defRPr>
            </a:lvl4pPr>
            <a:lvl5pPr>
              <a:buNone/>
              <a:defRPr sz="1200" b="1">
                <a:solidFill>
                  <a:srgbClr val="0086AC"/>
                </a:solidFill>
              </a:defRPr>
            </a:lvl5pPr>
            <a:lvl6pPr>
              <a:buNone/>
              <a:defRPr sz="1200" b="1">
                <a:solidFill>
                  <a:srgbClr val="0086AC"/>
                </a:solidFill>
              </a:defRPr>
            </a:lvl6pPr>
            <a:lvl7pPr>
              <a:buNone/>
              <a:defRPr sz="1200" b="1">
                <a:solidFill>
                  <a:srgbClr val="0086AC"/>
                </a:solidFill>
              </a:defRPr>
            </a:lvl7pPr>
            <a:lvl8pPr>
              <a:buNone/>
              <a:defRPr sz="1200" b="1">
                <a:solidFill>
                  <a:srgbClr val="0086AC"/>
                </a:solidFill>
              </a:defRPr>
            </a:lvl8pPr>
            <a:lvl9pPr>
              <a:buNone/>
              <a:defRPr sz="1200" b="1">
                <a:solidFill>
                  <a:srgbClr val="0086AC"/>
                </a:solidFill>
              </a:defRPr>
            </a:lvl9pPr>
          </a:lstStyle>
          <a:p xmlns:a="http://schemas.openxmlformats.org/drawingml/2006/main">
            <a:pPr>
              <a:buNone/>
              <a:defRPr sz="1200" b="1">
                <a:solidFill>
                  <a:srgbClr val="0086AC"/>
                </a:solidFill>
              </a:defRPr>
            </a:pPr>
            <a:r>
              <a:rPr sz="1200" b="1">
                <a:solidFill>
                  <a:srgbClr val="0086AC"/>
                </a:solidFill>
              </a:rPr>
              <a:t>Original study: all 24 cases</a:t>
            </a:r>
          </a:p>
        </p:txBody>
      </p:sp>
      <p:sp>
        <p:nvSpPr>
          <p:cNvPr id="2004" name="followup group">
            <a:extLst xmlns:a="http://schemas.openxmlformats.org/drawingml/2006/main">
              <a:ext uri="{FF2B5EF4-FFF2-40B4-BE49-F238E27FC236}">
                <a16:creationId xmlns:a16="http://schemas.microsoft.com/office/drawing/2014/main" id="{E64BAD80-B86C-4D7D-94D7-7EF33B20F9C4}"/>
              </a:ext>
            </a:extLst>
          </p:cNvPr>
          <p:cNvSpPr>
            <a:spLocks xmlns:a="http://schemas.openxmlformats.org/drawingml/2006/main" noGrp="1"/>
          </p:cNvSpPr>
          <p:nvPr/>
        </p:nvSpPr>
        <p:spPr>
          <a:xfrm xmlns:a="http://schemas.openxmlformats.org/drawingml/2006/main">
            <a:off x="7127939" y="1809750"/>
            <a:ext cx="283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4F8734"/>
                </a:solidFill>
              </a:defRPr>
            </a:defPPr>
            <a:lvl1pPr>
              <a:buNone/>
              <a:defRPr sz="1200" b="1">
                <a:solidFill>
                  <a:srgbClr val="4F8734"/>
                </a:solidFill>
              </a:defRPr>
            </a:lvl1pPr>
            <a:lvl2pPr>
              <a:buNone/>
              <a:defRPr sz="1200" b="1">
                <a:solidFill>
                  <a:srgbClr val="4F8734"/>
                </a:solidFill>
              </a:defRPr>
            </a:lvl2pPr>
            <a:lvl3pPr>
              <a:buNone/>
              <a:defRPr sz="1200" b="1">
                <a:solidFill>
                  <a:srgbClr val="4F8734"/>
                </a:solidFill>
              </a:defRPr>
            </a:lvl3pPr>
            <a:lvl4pPr>
              <a:buNone/>
              <a:defRPr sz="1200" b="1">
                <a:solidFill>
                  <a:srgbClr val="4F8734"/>
                </a:solidFill>
              </a:defRPr>
            </a:lvl4pPr>
            <a:lvl5pPr>
              <a:buNone/>
              <a:defRPr sz="1200" b="1">
                <a:solidFill>
                  <a:srgbClr val="4F8734"/>
                </a:solidFill>
              </a:defRPr>
            </a:lvl5pPr>
            <a:lvl6pPr>
              <a:buNone/>
              <a:defRPr sz="1200" b="1">
                <a:solidFill>
                  <a:srgbClr val="4F8734"/>
                </a:solidFill>
              </a:defRPr>
            </a:lvl6pPr>
            <a:lvl7pPr>
              <a:buNone/>
              <a:defRPr sz="1200" b="1">
                <a:solidFill>
                  <a:srgbClr val="4F8734"/>
                </a:solidFill>
              </a:defRPr>
            </a:lvl7pPr>
            <a:lvl8pPr>
              <a:buNone/>
              <a:defRPr sz="1200" b="1">
                <a:solidFill>
                  <a:srgbClr val="4F8734"/>
                </a:solidFill>
              </a:defRPr>
            </a:lvl8pPr>
            <a:lvl9pPr>
              <a:buNone/>
              <a:defRPr sz="1200" b="1">
                <a:solidFill>
                  <a:srgbClr val="4F8734"/>
                </a:solidFill>
              </a:defRPr>
            </a:lvl9pPr>
          </a:lstStyle>
          <a:p xmlns:a="http://schemas.openxmlformats.org/drawingml/2006/main">
            <a:pPr>
              <a:buNone/>
              <a:defRPr sz="1200" b="1">
                <a:solidFill>
                  <a:srgbClr val="4F8734"/>
                </a:solidFill>
              </a:defRPr>
            </a:pPr>
            <a:r>
              <a:rPr sz="1200" b="1">
                <a:solidFill>
                  <a:srgbClr val="4F8734"/>
                </a:solidFill>
              </a:rPr>
              <a:t>Coverage after four-gap retests</a:t>
            </a:r>
          </a:p>
        </p:txBody>
      </p:sp>
      <p:graphicFrame>
        <p:nvGraphicFramePr>
          <p:cNvPr id="2005" name="Table 2004">
            <a:extLst xmlns:a="http://schemas.openxmlformats.org/drawingml/2006/main">
              <a:ext uri="{FF2B5EF4-FFF2-40B4-BE49-F238E27FC236}">
                <a16:creationId xmlns:a16="http://schemas.microsoft.com/office/drawing/2014/main" id="{35955DAD-8736-4947-A588-E11BD29CD73C}"/>
              </a:ext>
            </a:extLst>
          </p:cNvPr>
          <p:cNvGraphicFramePr/>
          <p:nvPr/>
        </p:nvGraphicFramePr>
        <p:xfrm>
          <a:off xmlns:a="http://schemas.openxmlformats.org/drawingml/2006/main" x="812864" y="2105025"/>
          <a:ext xmlns:a="http://schemas.openxmlformats.org/drawingml/2006/main" cx="9153525" cy="3410712"/>
        </p:xfrm>
        <a:graphic xmlns:a="http://schemas.openxmlformats.org/drawingml/2006/main">
          <a:graphicData uri="http://schemas.openxmlformats.org/drawingml/2006/table">
            <a:tbl>
              <a:tblPr/>
              <a:tblGrid>
                <a:gridCol w="2762250"/>
                <a:gridCol w="714375"/>
                <a:gridCol w="1419225"/>
                <a:gridCol w="1419225"/>
                <a:gridCol w="1419225"/>
                <a:gridCol w="1419225"/>
              </a:tblGrid>
              <a:tr h="512064">
                <a:tc>
                  <a:txBody>
                    <a:bodyPr/>
                    <a:lstStyle/>
                    <a:p>
                      <a:pPr algn="l">
                        <a:buNone/>
                      </a:pPr>
                      <a:r>
                        <a:rPr sz="1275" b="1">
                          <a:solidFill>
                            <a:srgbClr val="FFFFFF"/>
                          </a:solidFill>
                        </a:rPr>
                        <a:t>OWASP category</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Cases</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Haiku 4.5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 related file</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4F8734"/>
                    </a:solidFill>
                  </a:tcPr>
                </a:tc>
              </a:tr>
              <a:tr h="402336">
                <a:tc>
                  <a:txBody>
                    <a:bodyPr/>
                    <a:lstStyle/>
                    <a:p>
                      <a:pPr algn="l">
                        <a:buNone/>
                      </a:pPr>
                      <a:r>
                        <a:rPr sz="1425" b="0">
                          <a:solidFill>
                            <a:srgbClr val="303238"/>
                          </a:solidFill>
                        </a:rPr>
                        <a:t>A01  Broken Access Control</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3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7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A03  Injection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5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1">
                          <a:solidFill>
                            <a:srgbClr val="3D7327"/>
                          </a:solidFill>
                        </a:rPr>
                        <a:t>11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425" b="0">
                          <a:solidFill>
                            <a:srgbClr val="303238"/>
                          </a:solidFill>
                        </a:rPr>
                        <a:t>A05  Security Misconfiguration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502920">
                <a:tc>
                  <a:txBody>
                    <a:bodyPr/>
                    <a:lstStyle/>
                    <a:p>
                      <a:pPr algn="l">
                        <a:buNone/>
                      </a:pPr>
                      <a:r>
                        <a:rPr sz="1425" b="0">
                          <a:solidFill>
                            <a:srgbClr val="303238"/>
                          </a:solidFill>
                        </a:rPr>
                        <a:t>A07  Identification &amp;</a:t>
                      </a:r>
                    </a:p>
                    <a:p>
                      <a:pPr algn="l">
                        <a:buNone/>
                      </a:pPr>
                      <a:r>
                        <a:rPr sz="1425" b="0">
                          <a:solidFill>
                            <a:srgbClr val="303238"/>
                          </a:solidFill>
                        </a:rPr>
                        <a:t>Authentication Failures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0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A10  SSRF</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575" b="1">
                          <a:solidFill>
                            <a:srgbClr val="303238"/>
                          </a:solidFill>
                        </a:rPr>
                        <a:t>Total caught</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8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20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22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23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r>
              <a:tr h="384048">
                <a:tc>
                  <a:txBody>
                    <a:bodyPr/>
                    <a:lstStyle/>
                    <a:p>
                      <a:pPr algn="l">
                        <a:buNone/>
                      </a:pPr>
                      <a:r>
                        <a:rPr sz="1400" b="1">
                          <a:solidFill>
                            <a:srgbClr val="303238"/>
                          </a:solidFill>
                        </a:rPr>
                        <a:t>False-alarm reviews*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303238"/>
                          </a:solidFill>
                        </a:rPr>
                        <a:t>n/a</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A95B1F"/>
                          </a:solidFill>
                        </a:rPr>
                        <a:t>1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0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1 of 30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20 of 30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r>
            </a:tbl>
          </a:graphicData>
        </a:graphic>
      </p:graphicFrame>
      <p:sp>
        <p:nvSpPr>
          <p:cNvPr id="2006" name="takeaway">
            <a:extLst xmlns:a="http://schemas.openxmlformats.org/drawingml/2006/main">
              <a:ext uri="{FF2B5EF4-FFF2-40B4-BE49-F238E27FC236}">
                <a16:creationId xmlns:a16="http://schemas.microsoft.com/office/drawing/2014/main" id="{6EAA5CD2-B527-4403-B884-3C57C2E50D17}"/>
              </a:ext>
            </a:extLst>
          </p:cNvPr>
          <p:cNvSpPr>
            <a:spLocks xmlns:a="http://schemas.openxmlformats.org/drawingml/2006/main" noGrp="1"/>
          </p:cNvSpPr>
          <p:nvPr/>
        </p:nvSpPr>
        <p:spPr>
          <a:xfrm xmlns:a="http://schemas.openxmlformats.org/drawingml/2006/main">
            <a:off x="812864" y="562356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303238"/>
                </a:solidFill>
              </a:defRPr>
            </a:defPPr>
            <a:lvl1pPr>
              <a:buNone/>
              <a:defRPr sz="1575" b="1">
                <a:solidFill>
                  <a:srgbClr val="303238"/>
                </a:solidFill>
              </a:defRPr>
            </a:lvl1pPr>
            <a:lvl2pPr>
              <a:buNone/>
              <a:defRPr sz="1575" b="1">
                <a:solidFill>
                  <a:srgbClr val="303238"/>
                </a:solidFill>
              </a:defRPr>
            </a:lvl2pPr>
            <a:lvl3pPr>
              <a:buNone/>
              <a:defRPr sz="1575" b="1">
                <a:solidFill>
                  <a:srgbClr val="303238"/>
                </a:solidFill>
              </a:defRPr>
            </a:lvl3pPr>
            <a:lvl4pPr>
              <a:buNone/>
              <a:defRPr sz="1575" b="1">
                <a:solidFill>
                  <a:srgbClr val="303238"/>
                </a:solidFill>
              </a:defRPr>
            </a:lvl4pPr>
            <a:lvl5pPr>
              <a:buNone/>
              <a:defRPr sz="1575" b="1">
                <a:solidFill>
                  <a:srgbClr val="303238"/>
                </a:solidFill>
              </a:defRPr>
            </a:lvl5pPr>
            <a:lvl6pPr>
              <a:buNone/>
              <a:defRPr sz="1575" b="1">
                <a:solidFill>
                  <a:srgbClr val="303238"/>
                </a:solidFill>
              </a:defRPr>
            </a:lvl6pPr>
            <a:lvl7pPr>
              <a:buNone/>
              <a:defRPr sz="1575" b="1">
                <a:solidFill>
                  <a:srgbClr val="303238"/>
                </a:solidFill>
              </a:defRPr>
            </a:lvl7pPr>
            <a:lvl8pPr>
              <a:buNone/>
              <a:defRPr sz="1575" b="1">
                <a:solidFill>
                  <a:srgbClr val="303238"/>
                </a:solidFill>
              </a:defRPr>
            </a:lvl8pPr>
            <a:lvl9pPr>
              <a:buNone/>
              <a:defRPr sz="1575" b="1">
                <a:solidFill>
                  <a:srgbClr val="303238"/>
                </a:solidFill>
              </a:defRPr>
            </a:lvl9pPr>
          </a:lstStyle>
          <a:p xmlns:a="http://schemas.openxmlformats.org/drawingml/2006/main">
            <a:pPr>
              <a:buNone/>
              <a:defRPr sz="1575" b="1">
                <a:solidFill>
                  <a:srgbClr val="303238"/>
                </a:solidFill>
              </a:defRPr>
            </a:pPr>
            <a:r>
              <a:rPr sz="1575" b="1">
                <a:solidFill>
                  <a:srgbClr val="303238"/>
                </a:solidFill>
              </a:rPr>
              <a:t>The specialized prompt adds stored XSS with the same related files.</a:t>
            </a:r>
          </a:p>
        </p:txBody>
      </p:sp>
      <p:sp>
        <p:nvSpPr>
          <p:cNvPr id="2007" name="detail">
            <a:extLst xmlns:a="http://schemas.openxmlformats.org/drawingml/2006/main">
              <a:ext uri="{FF2B5EF4-FFF2-40B4-BE49-F238E27FC236}">
                <a16:creationId xmlns:a16="http://schemas.microsoft.com/office/drawing/2014/main" id="{313793CC-0642-467A-B836-5D138EC69D09}"/>
              </a:ext>
            </a:extLst>
          </p:cNvPr>
          <p:cNvSpPr>
            <a:spLocks xmlns:a="http://schemas.openxmlformats.org/drawingml/2006/main" noGrp="1"/>
          </p:cNvSpPr>
          <p:nvPr/>
        </p:nvSpPr>
        <p:spPr>
          <a:xfrm xmlns:a="http://schemas.openxmlformats.org/drawingml/2006/main">
            <a:off x="812864" y="5925312"/>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0">
                <a:solidFill>
                  <a:srgbClr val="505050"/>
                </a:solidFill>
              </a:defRPr>
            </a:defPPr>
            <a:lvl1pPr>
              <a:buNone/>
              <a:defRPr sz="1500" b="0">
                <a:solidFill>
                  <a:srgbClr val="505050"/>
                </a:solidFill>
              </a:defRPr>
            </a:lvl1pPr>
            <a:lvl2pPr>
              <a:buNone/>
              <a:defRPr sz="1500" b="0">
                <a:solidFill>
                  <a:srgbClr val="505050"/>
                </a:solidFill>
              </a:defRPr>
            </a:lvl2pPr>
            <a:lvl3pPr>
              <a:buNone/>
              <a:defRPr sz="1500" b="0">
                <a:solidFill>
                  <a:srgbClr val="505050"/>
                </a:solidFill>
              </a:defRPr>
            </a:lvl3pPr>
            <a:lvl4pPr>
              <a:buNone/>
              <a:defRPr sz="1500" b="0">
                <a:solidFill>
                  <a:srgbClr val="505050"/>
                </a:solidFill>
              </a:defRPr>
            </a:lvl4pPr>
            <a:lvl5pPr>
              <a:buNone/>
              <a:defRPr sz="1500" b="0">
                <a:solidFill>
                  <a:srgbClr val="505050"/>
                </a:solidFill>
              </a:defRPr>
            </a:lvl5pPr>
            <a:lvl6pPr>
              <a:buNone/>
              <a:defRPr sz="1500" b="0">
                <a:solidFill>
                  <a:srgbClr val="505050"/>
                </a:solidFill>
              </a:defRPr>
            </a:lvl6pPr>
            <a:lvl7pPr>
              <a:buNone/>
              <a:defRPr sz="1500" b="0">
                <a:solidFill>
                  <a:srgbClr val="505050"/>
                </a:solidFill>
              </a:defRPr>
            </a:lvl7pPr>
            <a:lvl8pPr>
              <a:buNone/>
              <a:defRPr sz="1500" b="0">
                <a:solidFill>
                  <a:srgbClr val="505050"/>
                </a:solidFill>
              </a:defRPr>
            </a:lvl8pPr>
            <a:lvl9pPr>
              <a:buNone/>
              <a:defRPr sz="1500" b="0">
                <a:solidFill>
                  <a:srgbClr val="505050"/>
                </a:solidFill>
              </a:defRPr>
            </a:lvl9pPr>
          </a:lstStyle>
          <a:p xmlns:a="http://schemas.openxmlformats.org/drawingml/2006/main">
            <a:pPr>
              <a:buNone/>
              <a:defRPr sz="1500" b="0">
                <a:solidFill>
                  <a:srgbClr val="505050"/>
                </a:solidFill>
              </a:defRPr>
            </a:pPr>
            <a:r>
              <a:rPr sz="1500" b="0">
                <a:solidFill>
                  <a:srgbClr val="505050"/>
                </a:solidFill>
              </a:rPr>
              <a:t>One case remains: PDF-rendering SSRF. What behavior must the PDF preserve?</a:t>
            </a:r>
          </a:p>
        </p:txBody>
      </p:sp>
      <p:sp>
        <p:nvSpPr>
          <p:cNvPr id="2010" name="False alarm denominator note"/>
          <p:cNvSpPr>
            <a:spLocks xmlns:a="http://schemas.openxmlformats.org/drawingml/2006/main" noGrp="1"/>
          </p:cNvSpPr>
          <p:nvPr/>
        </p:nvSpPr>
        <p:spPr>
          <a:xfrm xmlns:a="http://schemas.openxmlformats.org/drawingml/2006/main">
            <a:off x="812864" y="6345936"/>
            <a:ext cx="987552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000" b="0">
                <a:solidFill>
                  <a:srgbClr val="666666"/>
                </a:solidFill>
              </a:defRPr>
            </a:defPPr>
            <a:lvl1pPr>
              <a:buNone/>
              <a:defRPr sz="1000" b="0">
                <a:solidFill>
                  <a:srgbClr val="666666"/>
                </a:solidFill>
              </a:defRPr>
            </a:lvl1pPr>
            <a:lvl2pPr>
              <a:buNone/>
              <a:defRPr sz="1000" b="0">
                <a:solidFill>
                  <a:srgbClr val="666666"/>
                </a:solidFill>
              </a:defRPr>
            </a:lvl2pPr>
            <a:lvl3pPr>
              <a:buNone/>
              <a:defRPr sz="1000" b="0">
                <a:solidFill>
                  <a:srgbClr val="666666"/>
                </a:solidFill>
              </a:defRPr>
            </a:lvl3pPr>
            <a:lvl4pPr>
              <a:buNone/>
              <a:defRPr sz="1000" b="0">
                <a:solidFill>
                  <a:srgbClr val="666666"/>
                </a:solidFill>
              </a:defRPr>
            </a:lvl4pPr>
            <a:lvl5pPr>
              <a:buNone/>
              <a:defRPr sz="1000" b="0">
                <a:solidFill>
                  <a:srgbClr val="666666"/>
                </a:solidFill>
              </a:defRPr>
            </a:lvl5pPr>
            <a:lvl6pPr>
              <a:buNone/>
              <a:defRPr sz="1000" b="0">
                <a:solidFill>
                  <a:srgbClr val="666666"/>
                </a:solidFill>
              </a:defRPr>
            </a:lvl6pPr>
            <a:lvl7pPr>
              <a:buNone/>
              <a:defRPr sz="1000" b="0">
                <a:solidFill>
                  <a:srgbClr val="666666"/>
                </a:solidFill>
              </a:defRPr>
            </a:lvl7pPr>
            <a:lvl8pPr>
              <a:buNone/>
              <a:defRPr sz="1000" b="0">
                <a:solidFill>
                  <a:srgbClr val="666666"/>
                </a:solidFill>
              </a:defRPr>
            </a:lvl8pPr>
            <a:lvl9pPr>
              <a:buNone/>
              <a:defRPr sz="1000" b="0">
                <a:solidFill>
                  <a:srgbClr val="666666"/>
                </a:solidFill>
              </a:defRPr>
            </a:lvl9pPr>
          </a:lstStyle>
          <a:p xmlns:a="http://schemas.openxmlformats.org/drawingml/2006/main">
            <a:pPr>
              <a:buNone/>
              <a:defRPr sz="1000" b="0">
                <a:solidFill>
                  <a:srgbClr val="666666"/>
                </a:solidFill>
              </a:defRPr>
            </a:pPr>
            <a:r>
              <a:rPr sz="1000" b="0">
                <a:solidFill>
                  <a:srgbClr val="666666"/>
                </a:solidFill>
              </a:rPr>
              <a:t>* Separate benign changes, not CVEs. Original columns: 10 reviews each; +file/+prompt: 30 later reviews each. Human check pending.</a:t>
            </a:r>
          </a:p>
        </p:txBody>
      </p:sp>
    </p:spTree>
    <p:extLst>
      <p:ext uri="{BB962C8B-B14F-4D97-AF65-F5344CB8AC3E}">
        <p14:creationId xmlns:p14="http://schemas.microsoft.com/office/powerpoint/2010/main" val="1563988061"/>
      </p:ext>
    </p:extLst>
  </p:cSld>
</p:sld>
</file>

<file path=ppt/slides/slide17.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C7422829-C975-451D-BE7C-FFFEB0D017FD}"/>
              </a:ext>
            </a:extLst>
          </p:cNvPr>
          <p:cNvPicPr>
            <a:picLocks xmlns:a="http://schemas.openxmlformats.org/drawingml/2006/main" noChangeAspect="1"/>
          </p:cNvPicPr>
          <p:nvPr/>
        </p:nvPicPr>
        <p:blipFill>
          <a:blip xmlns:r="http://schemas.openxmlformats.org/officeDocument/2006/relationships" xmlns:a="http://schemas.openxmlformats.org/drawingml/2006/main" r:embed="Rb52462f77610413f"/>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8E068CA4-8867-41E9-A344-DD368F7B2338}"/>
              </a:ext>
            </a:extLst>
          </p:cNvPr>
          <p:cNvPicPr>
            <a:picLocks xmlns:a="http://schemas.openxmlformats.org/drawingml/2006/main" noChangeAspect="1"/>
          </p:cNvPicPr>
          <p:nvPr/>
        </p:nvPicPr>
        <p:blipFill>
          <a:blip xmlns:r="http://schemas.openxmlformats.org/officeDocument/2006/relationships" xmlns:a="http://schemas.openxmlformats.org/drawingml/2006/main" r:embed="Rd53001a51a2b431f"/>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cxnSp>
        <p:nvCxnSpPr>
          <p:cNvPr id="2017" name="Straight Arrow Connector 2016">
            <a:extLst xmlns:a="http://schemas.openxmlformats.org/drawingml/2006/main">
              <a:ext uri="{FF2B5EF4-FFF2-40B4-BE49-F238E27FC236}">
                <a16:creationId xmlns:a16="http://schemas.microsoft.com/office/drawing/2014/main" id="{FA606AD4-5F5F-4E59-81DA-952A549DF80E}"/>
              </a:ext>
            </a:extLst>
          </p:cNvPr>
          <p:cNvCxnSpPr>
            <a:stCxn xmlns:a="http://schemas.openxmlformats.org/drawingml/2006/main" id="2009" idx="3"/>
            <a:endCxn xmlns:a="http://schemas.openxmlformats.org/drawingml/2006/main" id="2012" idx="1"/>
          </p:cNvCxnSpPr>
          <p:nvPr/>
        </p:nvCxnSpPr>
        <p:spPr>
          <a:xfrm xmlns:a="http://schemas.openxmlformats.org/drawingml/2006/main">
            <a:off x="8623364" y="3381375"/>
            <a:ext cx="333375" cy="0"/>
          </a:xfrm>
          <a:prstGeom xmlns:a="http://schemas.openxmlformats.org/drawingml/2006/main" prst="straightConnector1">
            <a:avLst/>
          </a:prstGeom>
          <a:ln xmlns:a="http://schemas.openxmlformats.org/drawingml/2006/main" w="23813">
            <a:solidFill>
              <a:srgbClr val="4F8734"/>
            </a:solidFill>
            <a:tailEnd type="triangle" w="med" len="med"/>
          </a:ln>
        </p:spPr>
      </p:cxnSp>
      <p:cxnSp>
        <p:nvCxnSpPr>
          <p:cNvPr id="2016" name="Straight Arrow Connector 2015">
            <a:extLst xmlns:a="http://schemas.openxmlformats.org/drawingml/2006/main">
              <a:ext uri="{FF2B5EF4-FFF2-40B4-BE49-F238E27FC236}">
                <a16:creationId xmlns:a16="http://schemas.microsoft.com/office/drawing/2014/main" id="{8B0D05A4-9299-4E7D-9EF1-432D8EDD3765}"/>
              </a:ext>
            </a:extLst>
          </p:cNvPr>
          <p:cNvCxnSpPr>
            <a:stCxn xmlns:a="http://schemas.openxmlformats.org/drawingml/2006/main" id="2006" idx="3"/>
            <a:endCxn xmlns:a="http://schemas.openxmlformats.org/drawingml/2006/main" id="2009" idx="1"/>
          </p:cNvCxnSpPr>
          <p:nvPr/>
        </p:nvCxnSpPr>
        <p:spPr>
          <a:xfrm xmlns:a="http://schemas.openxmlformats.org/drawingml/2006/main">
            <a:off x="5908739" y="3381375"/>
            <a:ext cx="333375" cy="0"/>
          </a:xfrm>
          <a:prstGeom xmlns:a="http://schemas.openxmlformats.org/drawingml/2006/main" prst="straightConnector1">
            <a:avLst/>
          </a:prstGeom>
          <a:ln xmlns:a="http://schemas.openxmlformats.org/drawingml/2006/main" w="23813">
            <a:solidFill>
              <a:srgbClr val="4F8734"/>
            </a:solidFill>
            <a:tailEnd type="triangle" w="med" len="med"/>
          </a:ln>
        </p:spPr>
      </p:cxnSp>
      <p:cxnSp>
        <p:nvCxnSpPr>
          <p:cNvPr id="2015" name="Straight Arrow Connector 2014">
            <a:extLst xmlns:a="http://schemas.openxmlformats.org/drawingml/2006/main">
              <a:ext uri="{FF2B5EF4-FFF2-40B4-BE49-F238E27FC236}">
                <a16:creationId xmlns:a16="http://schemas.microsoft.com/office/drawing/2014/main" id="{04C3EC88-D7EC-4BE4-8A3B-8CB06ED312EC}"/>
              </a:ext>
            </a:extLst>
          </p:cNvPr>
          <p:cNvCxnSpPr>
            <a:stCxn xmlns:a="http://schemas.openxmlformats.org/drawingml/2006/main" id="2003" idx="3"/>
            <a:endCxn xmlns:a="http://schemas.openxmlformats.org/drawingml/2006/main" id="2006" idx="1"/>
          </p:cNvCxnSpPr>
          <p:nvPr/>
        </p:nvCxnSpPr>
        <p:spPr>
          <a:xfrm xmlns:a="http://schemas.openxmlformats.org/drawingml/2006/main">
            <a:off x="3194114" y="3381375"/>
            <a:ext cx="333375" cy="0"/>
          </a:xfrm>
          <a:prstGeom xmlns:a="http://schemas.openxmlformats.org/drawingml/2006/main" prst="straightConnector1">
            <a:avLst/>
          </a:prstGeom>
          <a:ln xmlns:a="http://schemas.openxmlformats.org/drawingml/2006/main" w="23813">
            <a:solidFill>
              <a:srgbClr val="4F8734"/>
            </a:solidFill>
            <a:tailEnd type="triangle" w="med" len="med"/>
          </a:ln>
        </p:spPr>
      </p:cxnSp>
      <p:sp>
        <p:nvSpPr>
          <p:cNvPr id="2021" name="title">
            <a:extLst xmlns:a="http://schemas.openxmlformats.org/drawingml/2006/main">
              <a:ext uri="{FF2B5EF4-FFF2-40B4-BE49-F238E27FC236}">
                <a16:creationId xmlns:a16="http://schemas.microsoft.com/office/drawing/2014/main" id="{1519CE75-3EF7-4DA3-BE96-A8B4AC6FB5E1}"/>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Trace</a:t>
            </a:r>
            <a:r>
              <a:rPr sz="3000" b="1">
                <a:solidFill>
                  <a:srgbClr val="4F8734"/>
                </a:solidFill>
              </a:rPr>
              <a:t> engine (OSTF format)</a:t>
            </a:r>
            <a:r>
              <a:rPr sz="3000" b="1">
                <a:solidFill>
                  <a:srgbClr val="4F8734"/>
                </a:solidFill>
              </a:rPr>
              <a:t> links code to requirements</a:t>
            </a:r>
          </a:p>
        </p:txBody>
      </p:sp>
      <p:sp>
        <p:nvSpPr>
          <p:cNvPr id="2002" name="subtitle">
            <a:extLst xmlns:a="http://schemas.openxmlformats.org/drawingml/2006/main">
              <a:ext uri="{FF2B5EF4-FFF2-40B4-BE49-F238E27FC236}">
                <a16:creationId xmlns:a16="http://schemas.microsoft.com/office/drawing/2014/main" id="{A4C2432E-E083-4EF3-8B36-138B65F42F65}"/>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One case remains. What is PDF export required to prevent?</a:t>
            </a:r>
          </a:p>
        </p:txBody>
      </p:sp>
      <p:sp>
        <p:nvSpPr>
          <p:cNvPr id="2003" name="trace step 0">
            <a:extLst xmlns:a="http://schemas.openxmlformats.org/drawingml/2006/main">
              <a:ext uri="{FF2B5EF4-FFF2-40B4-BE49-F238E27FC236}">
                <a16:creationId xmlns:a16="http://schemas.microsoft.com/office/drawing/2014/main" id="{5A80C0A2-53EC-474A-B5A2-35507F8BE88D}"/>
              </a:ext>
            </a:extLst>
          </p:cNvPr>
          <p:cNvSpPr>
            <a:spLocks xmlns:a="http://schemas.openxmlformats.org/drawingml/2006/main" noGrp="1"/>
          </p:cNvSpPr>
          <p:nvPr/>
        </p:nvSpPr>
        <p:spPr>
          <a:xfrm xmlns:a="http://schemas.openxmlformats.org/drawingml/2006/main">
            <a:off x="812864" y="2543175"/>
            <a:ext cx="2381250" cy="1676400"/>
          </a:xfrm>
          <a:prstGeom xmlns:a="http://schemas.openxmlformats.org/drawingml/2006/main" prst="roundRect">
            <a:avLst>
              <a:gd name="adj" fmla="val 4545"/>
            </a:avLst>
          </a:prstGeom>
          <a:solidFill xmlns:a="http://schemas.openxmlformats.org/drawingml/2006/main">
            <a:srgbClr val="F1F5F5"/>
          </a:solidFill>
          <a:ln xmlns:a="http://schemas.openxmlformats.org/drawingml/2006/main" w="9525">
            <a:solidFill>
              <a:srgbClr val="CDD9DB"/>
            </a:solidFill>
          </a:ln>
        </p:spPr>
        <p:txBody>
          <a:bodyPr xmlns:a="http://schemas.openxmlformats.org/drawingml/2006/main"/>
          <a:lstStyle xmlns:a="http://schemas.openxmlformats.org/drawingml/2006/main"/>
          <a:p xmlns:a="http://schemas.openxmlformats.org/drawingml/2006/main">
            <a:endParaRPr/>
          </a:p>
        </p:txBody>
      </p:sp>
      <p:sp>
        <p:nvSpPr>
          <p:cNvPr id="2004" name="step heading 0">
            <a:extLst xmlns:a="http://schemas.openxmlformats.org/drawingml/2006/main">
              <a:ext uri="{FF2B5EF4-FFF2-40B4-BE49-F238E27FC236}">
                <a16:creationId xmlns:a16="http://schemas.microsoft.com/office/drawing/2014/main" id="{4334065A-4213-4D01-9784-96BFCF0765D5}"/>
              </a:ext>
            </a:extLst>
          </p:cNvPr>
          <p:cNvSpPr>
            <a:spLocks xmlns:a="http://schemas.openxmlformats.org/drawingml/2006/main" noGrp="1"/>
          </p:cNvSpPr>
          <p:nvPr/>
        </p:nvSpPr>
        <p:spPr>
          <a:xfrm xmlns:a="http://schemas.openxmlformats.org/drawingml/2006/main">
            <a:off x="984314" y="2733675"/>
            <a:ext cx="20383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086AC"/>
                </a:solidFill>
              </a:defRPr>
            </a:defPPr>
            <a:lvl1pPr>
              <a:buNone/>
              <a:defRPr sz="2025" b="1">
                <a:solidFill>
                  <a:srgbClr val="0086AC"/>
                </a:solidFill>
              </a:defRPr>
            </a:lvl1pPr>
            <a:lvl2pPr>
              <a:buNone/>
              <a:defRPr sz="2025" b="1">
                <a:solidFill>
                  <a:srgbClr val="0086AC"/>
                </a:solidFill>
              </a:defRPr>
            </a:lvl2pPr>
            <a:lvl3pPr>
              <a:buNone/>
              <a:defRPr sz="2025" b="1">
                <a:solidFill>
                  <a:srgbClr val="0086AC"/>
                </a:solidFill>
              </a:defRPr>
            </a:lvl3pPr>
            <a:lvl4pPr>
              <a:buNone/>
              <a:defRPr sz="2025" b="1">
                <a:solidFill>
                  <a:srgbClr val="0086AC"/>
                </a:solidFill>
              </a:defRPr>
            </a:lvl4pPr>
            <a:lvl5pPr>
              <a:buNone/>
              <a:defRPr sz="2025" b="1">
                <a:solidFill>
                  <a:srgbClr val="0086AC"/>
                </a:solidFill>
              </a:defRPr>
            </a:lvl5pPr>
            <a:lvl6pPr>
              <a:buNone/>
              <a:defRPr sz="2025" b="1">
                <a:solidFill>
                  <a:srgbClr val="0086AC"/>
                </a:solidFill>
              </a:defRPr>
            </a:lvl6pPr>
            <a:lvl7pPr>
              <a:buNone/>
              <a:defRPr sz="2025" b="1">
                <a:solidFill>
                  <a:srgbClr val="0086AC"/>
                </a:solidFill>
              </a:defRPr>
            </a:lvl7pPr>
            <a:lvl8pPr>
              <a:buNone/>
              <a:defRPr sz="2025" b="1">
                <a:solidFill>
                  <a:srgbClr val="0086AC"/>
                </a:solidFill>
              </a:defRPr>
            </a:lvl8pPr>
            <a:lvl9pPr>
              <a:buNone/>
              <a:defRPr sz="2025" b="1">
                <a:solidFill>
                  <a:srgbClr val="0086AC"/>
                </a:solidFill>
              </a:defRPr>
            </a:lvl9pPr>
          </a:lstStyle>
          <a:p xmlns:a="http://schemas.openxmlformats.org/drawingml/2006/main">
            <a:pPr>
              <a:buNone/>
              <a:defRPr sz="2025" b="1">
                <a:solidFill>
                  <a:srgbClr val="0086AC"/>
                </a:solidFill>
              </a:defRPr>
            </a:pPr>
            <a:r>
              <a:rPr sz="2025" b="1">
                <a:solidFill>
                  <a:srgbClr val="0086AC"/>
                </a:solidFill>
              </a:rPr>
              <a:t>Changed code</a:t>
            </a:r>
          </a:p>
        </p:txBody>
      </p:sp>
      <p:sp>
        <p:nvSpPr>
          <p:cNvPr id="2005" name="step body 0">
            <a:extLst xmlns:a="http://schemas.openxmlformats.org/drawingml/2006/main">
              <a:ext uri="{FF2B5EF4-FFF2-40B4-BE49-F238E27FC236}">
                <a16:creationId xmlns:a16="http://schemas.microsoft.com/office/drawing/2014/main" id="{0CEC600D-3D51-4B68-8B76-8E634C784CE4}"/>
              </a:ext>
            </a:extLst>
          </p:cNvPr>
          <p:cNvSpPr>
            <a:spLocks xmlns:a="http://schemas.openxmlformats.org/drawingml/2006/main" noGrp="1"/>
          </p:cNvSpPr>
          <p:nvPr/>
        </p:nvSpPr>
        <p:spPr>
          <a:xfrm xmlns:a="http://schemas.openxmlformats.org/drawingml/2006/main">
            <a:off x="984314" y="3219450"/>
            <a:ext cx="2038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Eye Exam</a:t>
            </a:r>
          </a:p>
          <a:p xmlns:a="http://schemas.openxmlformats.org/drawingml/2006/main">
            <a:pPr>
              <a:buNone/>
              <a:defRPr sz="1725" b="0">
                <a:solidFill>
                  <a:srgbClr val="303238"/>
                </a:solidFill>
              </a:defRPr>
            </a:pPr>
            <a:r>
              <a:rPr sz="1725" b="0">
                <a:solidFill>
                  <a:srgbClr val="303238"/>
                </a:solidFill>
              </a:rPr>
              <a:t>PDF export</a:t>
            </a:r>
          </a:p>
        </p:txBody>
      </p:sp>
      <p:sp>
        <p:nvSpPr>
          <p:cNvPr id="2006" name="trace step 1">
            <a:extLst xmlns:a="http://schemas.openxmlformats.org/drawingml/2006/main">
              <a:ext uri="{FF2B5EF4-FFF2-40B4-BE49-F238E27FC236}">
                <a16:creationId xmlns:a16="http://schemas.microsoft.com/office/drawing/2014/main" id="{2343B006-36FA-4DB6-9F48-C8D35B6A1F1A}"/>
              </a:ext>
            </a:extLst>
          </p:cNvPr>
          <p:cNvSpPr>
            <a:spLocks xmlns:a="http://schemas.openxmlformats.org/drawingml/2006/main" noGrp="1"/>
          </p:cNvSpPr>
          <p:nvPr/>
        </p:nvSpPr>
        <p:spPr>
          <a:xfrm xmlns:a="http://schemas.openxmlformats.org/drawingml/2006/main">
            <a:off x="3527489" y="2543175"/>
            <a:ext cx="2381250" cy="1676400"/>
          </a:xfrm>
          <a:prstGeom xmlns:a="http://schemas.openxmlformats.org/drawingml/2006/main" prst="roundRect">
            <a:avLst>
              <a:gd name="adj" fmla="val 4545"/>
            </a:avLst>
          </a:prstGeom>
          <a:solidFill xmlns:a="http://schemas.openxmlformats.org/drawingml/2006/main">
            <a:srgbClr val="E8F1E1"/>
          </a:solidFill>
          <a:ln xmlns:a="http://schemas.openxmlformats.org/drawingml/2006/main" w="9525">
            <a:solidFill>
              <a:srgbClr val="4F8734"/>
            </a:solidFill>
          </a:ln>
        </p:spPr>
        <p:txBody>
          <a:bodyPr xmlns:a="http://schemas.openxmlformats.org/drawingml/2006/main"/>
          <a:lstStyle xmlns:a="http://schemas.openxmlformats.org/drawingml/2006/main"/>
          <a:p xmlns:a="http://schemas.openxmlformats.org/drawingml/2006/main">
            <a:endParaRPr/>
          </a:p>
        </p:txBody>
      </p:sp>
      <p:sp>
        <p:nvSpPr>
          <p:cNvPr id="2007" name="step heading 1">
            <a:extLst xmlns:a="http://schemas.openxmlformats.org/drawingml/2006/main">
              <a:ext uri="{FF2B5EF4-FFF2-40B4-BE49-F238E27FC236}">
                <a16:creationId xmlns:a16="http://schemas.microsoft.com/office/drawing/2014/main" id="{F72F1C97-26A0-453F-A967-7EADEC2D2266}"/>
              </a:ext>
            </a:extLst>
          </p:cNvPr>
          <p:cNvSpPr>
            <a:spLocks xmlns:a="http://schemas.openxmlformats.org/drawingml/2006/main" noGrp="1"/>
          </p:cNvSpPr>
          <p:nvPr/>
        </p:nvSpPr>
        <p:spPr>
          <a:xfrm xmlns:a="http://schemas.openxmlformats.org/drawingml/2006/main">
            <a:off x="3698939" y="2733675"/>
            <a:ext cx="20383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4F8734"/>
                </a:solidFill>
              </a:defRPr>
            </a:defPPr>
            <a:lvl1pPr>
              <a:buNone/>
              <a:defRPr sz="2025" b="1">
                <a:solidFill>
                  <a:srgbClr val="4F8734"/>
                </a:solidFill>
              </a:defRPr>
            </a:lvl1pPr>
            <a:lvl2pPr>
              <a:buNone/>
              <a:defRPr sz="2025" b="1">
                <a:solidFill>
                  <a:srgbClr val="4F8734"/>
                </a:solidFill>
              </a:defRPr>
            </a:lvl2pPr>
            <a:lvl3pPr>
              <a:buNone/>
              <a:defRPr sz="2025" b="1">
                <a:solidFill>
                  <a:srgbClr val="4F8734"/>
                </a:solidFill>
              </a:defRPr>
            </a:lvl3pPr>
            <a:lvl4pPr>
              <a:buNone/>
              <a:defRPr sz="2025" b="1">
                <a:solidFill>
                  <a:srgbClr val="4F8734"/>
                </a:solidFill>
              </a:defRPr>
            </a:lvl4pPr>
            <a:lvl5pPr>
              <a:buNone/>
              <a:defRPr sz="2025" b="1">
                <a:solidFill>
                  <a:srgbClr val="4F8734"/>
                </a:solidFill>
              </a:defRPr>
            </a:lvl5pPr>
            <a:lvl6pPr>
              <a:buNone/>
              <a:defRPr sz="2025" b="1">
                <a:solidFill>
                  <a:srgbClr val="4F8734"/>
                </a:solidFill>
              </a:defRPr>
            </a:lvl6pPr>
            <a:lvl7pPr>
              <a:buNone/>
              <a:defRPr sz="2025" b="1">
                <a:solidFill>
                  <a:srgbClr val="4F8734"/>
                </a:solidFill>
              </a:defRPr>
            </a:lvl7pPr>
            <a:lvl8pPr>
              <a:buNone/>
              <a:defRPr sz="2025" b="1">
                <a:solidFill>
                  <a:srgbClr val="4F8734"/>
                </a:solidFill>
              </a:defRPr>
            </a:lvl8pPr>
            <a:lvl9pPr>
              <a:buNone/>
              <a:defRPr sz="2025" b="1">
                <a:solidFill>
                  <a:srgbClr val="4F8734"/>
                </a:solidFill>
              </a:defRPr>
            </a:lvl9pPr>
          </a:lstStyle>
          <a:p xmlns:a="http://schemas.openxmlformats.org/drawingml/2006/main">
            <a:pPr>
              <a:buNone/>
              <a:defRPr sz="2025" b="1">
                <a:solidFill>
                  <a:srgbClr val="4F8734"/>
                </a:solidFill>
              </a:defRPr>
            </a:pPr>
            <a:r>
              <a:rPr sz="2025" b="1">
                <a:solidFill>
                  <a:srgbClr val="4F8734"/>
                </a:solidFill>
              </a:rPr>
              <a:t>Trace Engine</a:t>
            </a:r>
            <a:endParaRPr sz="2025" b="1">
              <a:solidFill>
                <a:srgbClr val="4F8734"/>
              </a:solidFill>
            </a:endParaRPr>
          </a:p>
        </p:txBody>
      </p:sp>
      <p:sp>
        <p:nvSpPr>
          <p:cNvPr id="2008" name="step body 1">
            <a:extLst xmlns:a="http://schemas.openxmlformats.org/drawingml/2006/main">
              <a:ext uri="{FF2B5EF4-FFF2-40B4-BE49-F238E27FC236}">
                <a16:creationId xmlns:a16="http://schemas.microsoft.com/office/drawing/2014/main" id="{1FF2BE1E-0209-4263-BCBF-28092A272E05}"/>
              </a:ext>
            </a:extLst>
          </p:cNvPr>
          <p:cNvSpPr>
            <a:spLocks xmlns:a="http://schemas.openxmlformats.org/drawingml/2006/main" noGrp="1"/>
          </p:cNvSpPr>
          <p:nvPr/>
        </p:nvSpPr>
        <p:spPr>
          <a:xfrm xmlns:a="http://schemas.openxmlformats.org/drawingml/2006/main">
            <a:off x="3698939" y="3219450"/>
            <a:ext cx="2038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Links code to</a:t>
            </a:r>
          </a:p>
          <a:p xmlns:a="http://schemas.openxmlformats.org/drawingml/2006/main">
            <a:pPr>
              <a:buNone/>
              <a:defRPr sz="1725" b="0">
                <a:solidFill>
                  <a:srgbClr val="303238"/>
                </a:solidFill>
              </a:defRPr>
            </a:pPr>
            <a:r>
              <a:rPr sz="1725" b="0">
                <a:solidFill>
                  <a:srgbClr val="303238"/>
                </a:solidFill>
              </a:rPr>
              <a:t>relevant requirements</a:t>
            </a:r>
          </a:p>
        </p:txBody>
      </p:sp>
      <p:sp>
        <p:nvSpPr>
          <p:cNvPr id="2009" name="trace step 2">
            <a:extLst xmlns:a="http://schemas.openxmlformats.org/drawingml/2006/main">
              <a:ext uri="{FF2B5EF4-FFF2-40B4-BE49-F238E27FC236}">
                <a16:creationId xmlns:a16="http://schemas.microsoft.com/office/drawing/2014/main" id="{9547C099-E1A1-4619-BF61-C5EB7FA12246}"/>
              </a:ext>
            </a:extLst>
          </p:cNvPr>
          <p:cNvSpPr>
            <a:spLocks xmlns:a="http://schemas.openxmlformats.org/drawingml/2006/main" noGrp="1"/>
          </p:cNvSpPr>
          <p:nvPr/>
        </p:nvSpPr>
        <p:spPr>
          <a:xfrm xmlns:a="http://schemas.openxmlformats.org/drawingml/2006/main">
            <a:off x="6242114" y="2543175"/>
            <a:ext cx="2381250" cy="1676400"/>
          </a:xfrm>
          <a:prstGeom xmlns:a="http://schemas.openxmlformats.org/drawingml/2006/main" prst="roundRect">
            <a:avLst>
              <a:gd name="adj" fmla="val 4545"/>
            </a:avLst>
          </a:prstGeom>
          <a:solidFill xmlns:a="http://schemas.openxmlformats.org/drawingml/2006/main">
            <a:srgbClr val="F1F5F5"/>
          </a:solidFill>
          <a:ln xmlns:a="http://schemas.openxmlformats.org/drawingml/2006/main" w="9525">
            <a:solidFill>
              <a:srgbClr val="CDD9DB"/>
            </a:solidFill>
          </a:ln>
        </p:spPr>
        <p:txBody>
          <a:bodyPr xmlns:a="http://schemas.openxmlformats.org/drawingml/2006/main"/>
          <a:lstStyle xmlns:a="http://schemas.openxmlformats.org/drawingml/2006/main"/>
          <a:p xmlns:a="http://schemas.openxmlformats.org/drawingml/2006/main">
            <a:endParaRPr/>
          </a:p>
        </p:txBody>
      </p:sp>
      <p:sp>
        <p:nvSpPr>
          <p:cNvPr id="2010" name="step heading 2">
            <a:extLst xmlns:a="http://schemas.openxmlformats.org/drawingml/2006/main">
              <a:ext uri="{FF2B5EF4-FFF2-40B4-BE49-F238E27FC236}">
                <a16:creationId xmlns:a16="http://schemas.microsoft.com/office/drawing/2014/main" id="{F8E562B6-C420-469C-BFE0-5F81CBE6BC50}"/>
              </a:ext>
            </a:extLst>
          </p:cNvPr>
          <p:cNvSpPr>
            <a:spLocks xmlns:a="http://schemas.openxmlformats.org/drawingml/2006/main" noGrp="1"/>
          </p:cNvSpPr>
          <p:nvPr/>
        </p:nvSpPr>
        <p:spPr>
          <a:xfrm xmlns:a="http://schemas.openxmlformats.org/drawingml/2006/main">
            <a:off x="6413564" y="2733675"/>
            <a:ext cx="20383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086AC"/>
                </a:solidFill>
              </a:defRPr>
            </a:defPPr>
            <a:lvl1pPr>
              <a:buNone/>
              <a:defRPr sz="2025" b="1">
                <a:solidFill>
                  <a:srgbClr val="0086AC"/>
                </a:solidFill>
              </a:defRPr>
            </a:lvl1pPr>
            <a:lvl2pPr>
              <a:buNone/>
              <a:defRPr sz="2025" b="1">
                <a:solidFill>
                  <a:srgbClr val="0086AC"/>
                </a:solidFill>
              </a:defRPr>
            </a:lvl2pPr>
            <a:lvl3pPr>
              <a:buNone/>
              <a:defRPr sz="2025" b="1">
                <a:solidFill>
                  <a:srgbClr val="0086AC"/>
                </a:solidFill>
              </a:defRPr>
            </a:lvl3pPr>
            <a:lvl4pPr>
              <a:buNone/>
              <a:defRPr sz="2025" b="1">
                <a:solidFill>
                  <a:srgbClr val="0086AC"/>
                </a:solidFill>
              </a:defRPr>
            </a:lvl4pPr>
            <a:lvl5pPr>
              <a:buNone/>
              <a:defRPr sz="2025" b="1">
                <a:solidFill>
                  <a:srgbClr val="0086AC"/>
                </a:solidFill>
              </a:defRPr>
            </a:lvl5pPr>
            <a:lvl6pPr>
              <a:buNone/>
              <a:defRPr sz="2025" b="1">
                <a:solidFill>
                  <a:srgbClr val="0086AC"/>
                </a:solidFill>
              </a:defRPr>
            </a:lvl6pPr>
            <a:lvl7pPr>
              <a:buNone/>
              <a:defRPr sz="2025" b="1">
                <a:solidFill>
                  <a:srgbClr val="0086AC"/>
                </a:solidFill>
              </a:defRPr>
            </a:lvl7pPr>
            <a:lvl8pPr>
              <a:buNone/>
              <a:defRPr sz="2025" b="1">
                <a:solidFill>
                  <a:srgbClr val="0086AC"/>
                </a:solidFill>
              </a:defRPr>
            </a:lvl8pPr>
            <a:lvl9pPr>
              <a:buNone/>
              <a:defRPr sz="2025" b="1">
                <a:solidFill>
                  <a:srgbClr val="0086AC"/>
                </a:solidFill>
              </a:defRPr>
            </a:lvl9pPr>
          </a:lstStyle>
          <a:p xmlns:a="http://schemas.openxmlformats.org/drawingml/2006/main">
            <a:pPr>
              <a:buNone/>
              <a:defRPr sz="2025" b="1">
                <a:solidFill>
                  <a:srgbClr val="0086AC"/>
                </a:solidFill>
              </a:defRPr>
            </a:pPr>
            <a:r>
              <a:rPr sz="2025" b="1">
                <a:solidFill>
                  <a:srgbClr val="0086AC"/>
                </a:solidFill>
              </a:rPr>
              <a:t>Requirement</a:t>
            </a:r>
          </a:p>
        </p:txBody>
      </p:sp>
      <p:sp>
        <p:nvSpPr>
          <p:cNvPr id="2011" name="step body 2">
            <a:extLst xmlns:a="http://schemas.openxmlformats.org/drawingml/2006/main">
              <a:ext uri="{FF2B5EF4-FFF2-40B4-BE49-F238E27FC236}">
                <a16:creationId xmlns:a16="http://schemas.microsoft.com/office/drawing/2014/main" id="{D00719C1-1F80-4E5C-8532-4D1B93FB1263}"/>
              </a:ext>
            </a:extLst>
          </p:cNvPr>
          <p:cNvSpPr>
            <a:spLocks xmlns:a="http://schemas.openxmlformats.org/drawingml/2006/main" noGrp="1"/>
          </p:cNvSpPr>
          <p:nvPr/>
        </p:nvSpPr>
        <p:spPr>
          <a:xfrm xmlns:a="http://schemas.openxmlformats.org/drawingml/2006/main">
            <a:off x="6413564" y="3219450"/>
            <a:ext cx="2038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The AI reads the</a:t>
            </a:r>
          </a:p>
          <a:p xmlns:a="http://schemas.openxmlformats.org/drawingml/2006/main">
            <a:pPr>
              <a:buNone/>
              <a:defRPr sz="1725" b="0">
                <a:solidFill>
                  <a:srgbClr val="303238"/>
                </a:solidFill>
              </a:defRPr>
            </a:pPr>
            <a:r>
              <a:rPr sz="1725" b="0">
                <a:solidFill>
                  <a:srgbClr val="303238"/>
                </a:solidFill>
              </a:rPr>
              <a:t>required behavior</a:t>
            </a:r>
          </a:p>
        </p:txBody>
      </p:sp>
      <p:sp>
        <p:nvSpPr>
          <p:cNvPr id="2012" name="trace step 3">
            <a:extLst xmlns:a="http://schemas.openxmlformats.org/drawingml/2006/main">
              <a:ext uri="{FF2B5EF4-FFF2-40B4-BE49-F238E27FC236}">
                <a16:creationId xmlns:a16="http://schemas.microsoft.com/office/drawing/2014/main" id="{EFE78504-CCF4-468A-BA82-570C88A237A3}"/>
              </a:ext>
            </a:extLst>
          </p:cNvPr>
          <p:cNvSpPr>
            <a:spLocks xmlns:a="http://schemas.openxmlformats.org/drawingml/2006/main" noGrp="1"/>
          </p:cNvSpPr>
          <p:nvPr/>
        </p:nvSpPr>
        <p:spPr>
          <a:xfrm xmlns:a="http://schemas.openxmlformats.org/drawingml/2006/main">
            <a:off x="8956739" y="2543175"/>
            <a:ext cx="2381250" cy="1676400"/>
          </a:xfrm>
          <a:prstGeom xmlns:a="http://schemas.openxmlformats.org/drawingml/2006/main" prst="roundRect">
            <a:avLst>
              <a:gd name="adj" fmla="val 4545"/>
            </a:avLst>
          </a:prstGeom>
          <a:solidFill xmlns:a="http://schemas.openxmlformats.org/drawingml/2006/main">
            <a:srgbClr val="F1F5F5"/>
          </a:solidFill>
          <a:ln xmlns:a="http://schemas.openxmlformats.org/drawingml/2006/main" w="9525">
            <a:solidFill>
              <a:srgbClr val="CDD9DB"/>
            </a:solidFill>
          </a:ln>
        </p:spPr>
        <p:txBody>
          <a:bodyPr xmlns:a="http://schemas.openxmlformats.org/drawingml/2006/main"/>
          <a:lstStyle xmlns:a="http://schemas.openxmlformats.org/drawingml/2006/main"/>
          <a:p xmlns:a="http://schemas.openxmlformats.org/drawingml/2006/main">
            <a:endParaRPr/>
          </a:p>
        </p:txBody>
      </p:sp>
      <p:sp>
        <p:nvSpPr>
          <p:cNvPr id="2013" name="step heading 3">
            <a:extLst xmlns:a="http://schemas.openxmlformats.org/drawingml/2006/main">
              <a:ext uri="{FF2B5EF4-FFF2-40B4-BE49-F238E27FC236}">
                <a16:creationId xmlns:a16="http://schemas.microsoft.com/office/drawing/2014/main" id="{63C11C1A-5B90-40F6-A421-03CDE0AC280D}"/>
              </a:ext>
            </a:extLst>
          </p:cNvPr>
          <p:cNvSpPr>
            <a:spLocks xmlns:a="http://schemas.openxmlformats.org/drawingml/2006/main" noGrp="1"/>
          </p:cNvSpPr>
          <p:nvPr/>
        </p:nvSpPr>
        <p:spPr>
          <a:xfrm xmlns:a="http://schemas.openxmlformats.org/drawingml/2006/main">
            <a:off x="9128189" y="2733675"/>
            <a:ext cx="20383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0086AC"/>
                </a:solidFill>
              </a:defRPr>
            </a:defPPr>
            <a:lvl1pPr>
              <a:buNone/>
              <a:defRPr sz="2025" b="1">
                <a:solidFill>
                  <a:srgbClr val="0086AC"/>
                </a:solidFill>
              </a:defRPr>
            </a:lvl1pPr>
            <a:lvl2pPr>
              <a:buNone/>
              <a:defRPr sz="2025" b="1">
                <a:solidFill>
                  <a:srgbClr val="0086AC"/>
                </a:solidFill>
              </a:defRPr>
            </a:lvl2pPr>
            <a:lvl3pPr>
              <a:buNone/>
              <a:defRPr sz="2025" b="1">
                <a:solidFill>
                  <a:srgbClr val="0086AC"/>
                </a:solidFill>
              </a:defRPr>
            </a:lvl3pPr>
            <a:lvl4pPr>
              <a:buNone/>
              <a:defRPr sz="2025" b="1">
                <a:solidFill>
                  <a:srgbClr val="0086AC"/>
                </a:solidFill>
              </a:defRPr>
            </a:lvl4pPr>
            <a:lvl5pPr>
              <a:buNone/>
              <a:defRPr sz="2025" b="1">
                <a:solidFill>
                  <a:srgbClr val="0086AC"/>
                </a:solidFill>
              </a:defRPr>
            </a:lvl5pPr>
            <a:lvl6pPr>
              <a:buNone/>
              <a:defRPr sz="2025" b="1">
                <a:solidFill>
                  <a:srgbClr val="0086AC"/>
                </a:solidFill>
              </a:defRPr>
            </a:lvl6pPr>
            <a:lvl7pPr>
              <a:buNone/>
              <a:defRPr sz="2025" b="1">
                <a:solidFill>
                  <a:srgbClr val="0086AC"/>
                </a:solidFill>
              </a:defRPr>
            </a:lvl7pPr>
            <a:lvl8pPr>
              <a:buNone/>
              <a:defRPr sz="2025" b="1">
                <a:solidFill>
                  <a:srgbClr val="0086AC"/>
                </a:solidFill>
              </a:defRPr>
            </a:lvl8pPr>
            <a:lvl9pPr>
              <a:buNone/>
              <a:defRPr sz="2025" b="1">
                <a:solidFill>
                  <a:srgbClr val="0086AC"/>
                </a:solidFill>
              </a:defRPr>
            </a:lvl9pPr>
          </a:lstStyle>
          <a:p xmlns:a="http://schemas.openxmlformats.org/drawingml/2006/main">
            <a:pPr>
              <a:buNone/>
              <a:defRPr sz="2025" b="1">
                <a:solidFill>
                  <a:srgbClr val="0086AC"/>
                </a:solidFill>
              </a:defRPr>
            </a:pPr>
            <a:r>
              <a:rPr sz="2025" b="1">
                <a:solidFill>
                  <a:srgbClr val="0086AC"/>
                </a:solidFill>
              </a:rPr>
              <a:t>AI review</a:t>
            </a:r>
          </a:p>
        </p:txBody>
      </p:sp>
      <p:sp>
        <p:nvSpPr>
          <p:cNvPr id="2014" name="step body 3">
            <a:extLst xmlns:a="http://schemas.openxmlformats.org/drawingml/2006/main">
              <a:ext uri="{FF2B5EF4-FFF2-40B4-BE49-F238E27FC236}">
                <a16:creationId xmlns:a16="http://schemas.microsoft.com/office/drawing/2014/main" id="{B988D8CD-2C45-4A6C-B754-789909A5936C}"/>
              </a:ext>
            </a:extLst>
          </p:cNvPr>
          <p:cNvSpPr>
            <a:spLocks xmlns:a="http://schemas.openxmlformats.org/drawingml/2006/main" noGrp="1"/>
          </p:cNvSpPr>
          <p:nvPr/>
        </p:nvSpPr>
        <p:spPr>
          <a:xfrm xmlns:a="http://schemas.openxmlformats.org/drawingml/2006/main">
            <a:off x="9128189" y="3219450"/>
            <a:ext cx="20383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Checks the code</a:t>
            </a:r>
          </a:p>
          <a:p xmlns:a="http://schemas.openxmlformats.org/drawingml/2006/main">
            <a:pPr>
              <a:buNone/>
              <a:defRPr sz="1725" b="0">
                <a:solidFill>
                  <a:srgbClr val="303238"/>
                </a:solidFill>
              </a:defRPr>
            </a:pPr>
            <a:r>
              <a:rPr sz="1725" b="0">
                <a:solidFill>
                  <a:srgbClr val="303238"/>
                </a:solidFill>
              </a:rPr>
              <a:t>against that behavior</a:t>
            </a:r>
          </a:p>
        </p:txBody>
      </p:sp>
      <p:sp>
        <p:nvSpPr>
          <p:cNvPr id="2018" name="key point">
            <a:extLst xmlns:a="http://schemas.openxmlformats.org/drawingml/2006/main">
              <a:ext uri="{FF2B5EF4-FFF2-40B4-BE49-F238E27FC236}">
                <a16:creationId xmlns:a16="http://schemas.microsoft.com/office/drawing/2014/main" id="{C94511AB-8778-4CC8-AD27-E2C5CC2A664F}"/>
              </a:ext>
            </a:extLst>
          </p:cNvPr>
          <p:cNvSpPr>
            <a:spLocks xmlns:a="http://schemas.openxmlformats.org/drawingml/2006/main" noGrp="1"/>
          </p:cNvSpPr>
          <p:nvPr/>
        </p:nvSpPr>
        <p:spPr>
          <a:xfrm xmlns:a="http://schemas.openxmlformats.org/drawingml/2006/main">
            <a:off x="812864" y="45910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1">
                <a:solidFill>
                  <a:srgbClr val="303238"/>
                </a:solidFill>
              </a:defRPr>
            </a:defPPr>
            <a:lvl1pPr>
              <a:buNone/>
              <a:defRPr sz="2025" b="1">
                <a:solidFill>
                  <a:srgbClr val="303238"/>
                </a:solidFill>
              </a:defRPr>
            </a:lvl1pPr>
            <a:lvl2pPr>
              <a:buNone/>
              <a:defRPr sz="2025" b="1">
                <a:solidFill>
                  <a:srgbClr val="303238"/>
                </a:solidFill>
              </a:defRPr>
            </a:lvl2pPr>
            <a:lvl3pPr>
              <a:buNone/>
              <a:defRPr sz="2025" b="1">
                <a:solidFill>
                  <a:srgbClr val="303238"/>
                </a:solidFill>
              </a:defRPr>
            </a:lvl3pPr>
            <a:lvl4pPr>
              <a:buNone/>
              <a:defRPr sz="2025" b="1">
                <a:solidFill>
                  <a:srgbClr val="303238"/>
                </a:solidFill>
              </a:defRPr>
            </a:lvl4pPr>
            <a:lvl5pPr>
              <a:buNone/>
              <a:defRPr sz="2025" b="1">
                <a:solidFill>
                  <a:srgbClr val="303238"/>
                </a:solidFill>
              </a:defRPr>
            </a:lvl5pPr>
            <a:lvl6pPr>
              <a:buNone/>
              <a:defRPr sz="2025" b="1">
                <a:solidFill>
                  <a:srgbClr val="303238"/>
                </a:solidFill>
              </a:defRPr>
            </a:lvl6pPr>
            <a:lvl7pPr>
              <a:buNone/>
              <a:defRPr sz="2025" b="1">
                <a:solidFill>
                  <a:srgbClr val="303238"/>
                </a:solidFill>
              </a:defRPr>
            </a:lvl7pPr>
            <a:lvl8pPr>
              <a:buNone/>
              <a:defRPr sz="2025" b="1">
                <a:solidFill>
                  <a:srgbClr val="303238"/>
                </a:solidFill>
              </a:defRPr>
            </a:lvl8pPr>
            <a:lvl9pPr>
              <a:buNone/>
              <a:defRPr sz="2025" b="1">
                <a:solidFill>
                  <a:srgbClr val="303238"/>
                </a:solidFill>
              </a:defRPr>
            </a:lvl9pPr>
          </a:lstStyle>
          <a:p xmlns:a="http://schemas.openxmlformats.org/drawingml/2006/main">
            <a:pPr>
              <a:buNone/>
              <a:defRPr sz="2025" b="1">
                <a:solidFill>
                  <a:srgbClr val="303238"/>
                </a:solidFill>
              </a:defRPr>
            </a:pPr>
            <a:r>
              <a:rPr sz="2025" b="1">
                <a:solidFill>
                  <a:srgbClr val="303238"/>
                </a:solidFill>
              </a:rPr>
              <a:t>Traceability makes the requirement available at the reviewed revision.</a:t>
            </a:r>
          </a:p>
        </p:txBody>
      </p:sp>
      <p:sp>
        <p:nvSpPr>
          <p:cNvPr id="2019" name="ostf">
            <a:extLst xmlns:a="http://schemas.openxmlformats.org/drawingml/2006/main">
              <a:ext uri="{FF2B5EF4-FFF2-40B4-BE49-F238E27FC236}">
                <a16:creationId xmlns:a16="http://schemas.microsoft.com/office/drawing/2014/main" id="{7EAE247E-6542-454F-94C5-A6E6CC6969A2}"/>
              </a:ext>
            </a:extLst>
          </p:cNvPr>
          <p:cNvSpPr>
            <a:spLocks xmlns:a="http://schemas.openxmlformats.org/drawingml/2006/main" noGrp="1"/>
          </p:cNvSpPr>
          <p:nvPr/>
        </p:nvSpPr>
        <p:spPr>
          <a:xfrm xmlns:a="http://schemas.openxmlformats.org/drawingml/2006/main">
            <a:off x="812864"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666666"/>
                </a:solidFill>
              </a:defRPr>
            </a:defPPr>
            <a:lvl1pPr>
              <a:buNone/>
              <a:defRPr sz="1650" b="0">
                <a:solidFill>
                  <a:srgbClr val="666666"/>
                </a:solidFill>
              </a:defRPr>
            </a:lvl1pPr>
            <a:lvl2pPr>
              <a:buNone/>
              <a:defRPr sz="1650" b="0">
                <a:solidFill>
                  <a:srgbClr val="666666"/>
                </a:solidFill>
              </a:defRPr>
            </a:lvl2pPr>
            <a:lvl3pPr>
              <a:buNone/>
              <a:defRPr sz="1650" b="0">
                <a:solidFill>
                  <a:srgbClr val="666666"/>
                </a:solidFill>
              </a:defRPr>
            </a:lvl3pPr>
            <a:lvl4pPr>
              <a:buNone/>
              <a:defRPr sz="1650" b="0">
                <a:solidFill>
                  <a:srgbClr val="666666"/>
                </a:solidFill>
              </a:defRPr>
            </a:lvl4pPr>
            <a:lvl5pPr>
              <a:buNone/>
              <a:defRPr sz="1650" b="0">
                <a:solidFill>
                  <a:srgbClr val="666666"/>
                </a:solidFill>
              </a:defRPr>
            </a:lvl5pPr>
            <a:lvl6pPr>
              <a:buNone/>
              <a:defRPr sz="1650" b="0">
                <a:solidFill>
                  <a:srgbClr val="666666"/>
                </a:solidFill>
              </a:defRPr>
            </a:lvl6pPr>
            <a:lvl7pPr>
              <a:buNone/>
              <a:defRPr sz="1650" b="0">
                <a:solidFill>
                  <a:srgbClr val="666666"/>
                </a:solidFill>
              </a:defRPr>
            </a:lvl7pPr>
            <a:lvl8pPr>
              <a:buNone/>
              <a:defRPr sz="1650" b="0">
                <a:solidFill>
                  <a:srgbClr val="666666"/>
                </a:solidFill>
              </a:defRPr>
            </a:lvl8pPr>
            <a:lvl9pPr>
              <a:buNone/>
              <a:defRPr sz="1650" b="0">
                <a:solidFill>
                  <a:srgbClr val="666666"/>
                </a:solidFill>
              </a:defRPr>
            </a:lvl9pPr>
          </a:lstStyle>
          <a:p xmlns:a="http://schemas.openxmlformats.org/drawingml/2006/main">
            <a:pPr>
              <a:buNone/>
              <a:defRPr sz="1650" b="0">
                <a:solidFill>
                  <a:srgbClr val="666666"/>
                </a:solidFill>
              </a:defRPr>
            </a:pPr>
            <a:r>
              <a:rPr sz="1650" b="0">
                <a:solidFill>
                  <a:srgbClr val="666666"/>
                </a:solidFill>
              </a:rPr>
              <a:t>OSTF: Open Software Traceability Format, a working format for these links.</a:t>
            </a:r>
          </a:p>
        </p:txBody>
      </p:sp>
    </p:spTree>
    <p:extLst>
      <p:ext uri="{BB962C8B-B14F-4D97-AF65-F5344CB8AC3E}">
        <p14:creationId xmlns:p14="http://schemas.microsoft.com/office/powerpoint/2010/main" val="2124647462"/>
      </p:ext>
    </p:extLst>
  </p:cSld>
</p:sld>
</file>

<file path=ppt/slides/slide18.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E31094BD-253A-4EF7-B291-0175FD86DE2A}"/>
              </a:ext>
            </a:extLst>
          </p:cNvPr>
          <p:cNvPicPr>
            <a:picLocks xmlns:a="http://schemas.openxmlformats.org/drawingml/2006/main" noChangeAspect="1"/>
          </p:cNvPicPr>
          <p:nvPr/>
        </p:nvPicPr>
        <p:blipFill>
          <a:blip xmlns:r="http://schemas.openxmlformats.org/officeDocument/2006/relationships" xmlns:a="http://schemas.openxmlformats.org/drawingml/2006/main" r:embed="R1167cdaef0bb4465"/>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53421A96-AB2A-4421-BA9E-8E73213A7918}"/>
              </a:ext>
            </a:extLst>
          </p:cNvPr>
          <p:cNvPicPr>
            <a:picLocks xmlns:a="http://schemas.openxmlformats.org/drawingml/2006/main" noChangeAspect="1"/>
          </p:cNvPicPr>
          <p:nvPr/>
        </p:nvPicPr>
        <p:blipFill>
          <a:blip xmlns:r="http://schemas.openxmlformats.org/officeDocument/2006/relationships" xmlns:a="http://schemas.openxmlformats.org/drawingml/2006/main" r:embed="R20948790b2734083"/>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13" name="title">
            <a:extLst xmlns:a="http://schemas.openxmlformats.org/drawingml/2006/main">
              <a:ext uri="{FF2B5EF4-FFF2-40B4-BE49-F238E27FC236}">
                <a16:creationId xmlns:a16="http://schemas.microsoft.com/office/drawing/2014/main" id="{D76D3578-A6F4-4150-BB0B-1A517AA70165}"/>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rPr sz="3000" b="1">
                <a:solidFill>
                  <a:srgbClr val="4F8734"/>
                </a:solidFill>
              </a:rPr>
              <a:t>The PDF requirement changes the finding</a:t>
            </a:r>
          </a:p>
        </p:txBody>
      </p:sp>
      <p:sp>
        <p:nvSpPr>
          <p:cNvPr id="2002" name="subtitle">
            <a:extLst xmlns:a="http://schemas.openxmlformats.org/drawingml/2006/main">
              <a:ext uri="{FF2B5EF4-FFF2-40B4-BE49-F238E27FC236}">
                <a16:creationId xmlns:a16="http://schemas.microsoft.com/office/drawing/2014/main" id="{729E404A-3C4A-4EB2-9AF2-B751DEDC767C}"/>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Same historical diff, security prompt and Sonnet 5. Only the requirement card changes.</a:t>
            </a:r>
          </a:p>
        </p:txBody>
      </p:sp>
      <p:sp>
        <p:nvSpPr>
          <p:cNvPr id="2003" name="functional heading">
            <a:extLst xmlns:a="http://schemas.openxmlformats.org/drawingml/2006/main">
              <a:ext uri="{FF2B5EF4-FFF2-40B4-BE49-F238E27FC236}">
                <a16:creationId xmlns:a16="http://schemas.microsoft.com/office/drawing/2014/main" id="{CA1D1CB2-1F70-4CEF-A421-815ABBA4FF6D}"/>
              </a:ext>
            </a:extLst>
          </p:cNvPr>
          <p:cNvSpPr>
            <a:spLocks xmlns:a="http://schemas.openxmlformats.org/drawingml/2006/main" noGrp="1"/>
          </p:cNvSpPr>
          <p:nvPr/>
        </p:nvSpPr>
        <p:spPr>
          <a:xfrm xmlns:a="http://schemas.openxmlformats.org/drawingml/2006/main">
            <a:off x="812864" y="2143125"/>
            <a:ext cx="4572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0086AC"/>
                </a:solidFill>
              </a:defRPr>
            </a:defPPr>
            <a:lvl1pPr>
              <a:buNone/>
              <a:defRPr sz="2100" b="1">
                <a:solidFill>
                  <a:srgbClr val="0086AC"/>
                </a:solidFill>
              </a:defRPr>
            </a:lvl1pPr>
            <a:lvl2pPr>
              <a:buNone/>
              <a:defRPr sz="2100" b="1">
                <a:solidFill>
                  <a:srgbClr val="0086AC"/>
                </a:solidFill>
              </a:defRPr>
            </a:lvl2pPr>
            <a:lvl3pPr>
              <a:buNone/>
              <a:defRPr sz="2100" b="1">
                <a:solidFill>
                  <a:srgbClr val="0086AC"/>
                </a:solidFill>
              </a:defRPr>
            </a:lvl3pPr>
            <a:lvl4pPr>
              <a:buNone/>
              <a:defRPr sz="2100" b="1">
                <a:solidFill>
                  <a:srgbClr val="0086AC"/>
                </a:solidFill>
              </a:defRPr>
            </a:lvl4pPr>
            <a:lvl5pPr>
              <a:buNone/>
              <a:defRPr sz="2100" b="1">
                <a:solidFill>
                  <a:srgbClr val="0086AC"/>
                </a:solidFill>
              </a:defRPr>
            </a:lvl5pPr>
            <a:lvl6pPr>
              <a:buNone/>
              <a:defRPr sz="2100" b="1">
                <a:solidFill>
                  <a:srgbClr val="0086AC"/>
                </a:solidFill>
              </a:defRPr>
            </a:lvl6pPr>
            <a:lvl7pPr>
              <a:buNone/>
              <a:defRPr sz="2100" b="1">
                <a:solidFill>
                  <a:srgbClr val="0086AC"/>
                </a:solidFill>
              </a:defRPr>
            </a:lvl7pPr>
            <a:lvl8pPr>
              <a:buNone/>
              <a:defRPr sz="2100" b="1">
                <a:solidFill>
                  <a:srgbClr val="0086AC"/>
                </a:solidFill>
              </a:defRPr>
            </a:lvl8pPr>
            <a:lvl9pPr>
              <a:buNone/>
              <a:defRPr sz="2100" b="1">
                <a:solidFill>
                  <a:srgbClr val="0086AC"/>
                </a:solidFill>
              </a:defRPr>
            </a:lvl9pPr>
          </a:lstStyle>
          <a:p xmlns:a="http://schemas.openxmlformats.org/drawingml/2006/main">
            <a:pPr>
              <a:buNone/>
              <a:defRPr sz="2100" b="1">
                <a:solidFill>
                  <a:srgbClr val="0086AC"/>
                </a:solidFill>
              </a:defRPr>
            </a:pPr>
            <a:r>
              <a:rPr sz="2100" b="1">
                <a:solidFill>
                  <a:srgbClr val="0086AC"/>
                </a:solidFill>
              </a:rPr>
              <a:t>Functional requirement</a:t>
            </a:r>
          </a:p>
        </p:txBody>
      </p:sp>
      <p:sp>
        <p:nvSpPr>
          <p:cNvPr id="2004" name="functional text">
            <a:extLst xmlns:a="http://schemas.openxmlformats.org/drawingml/2006/main">
              <a:ext uri="{FF2B5EF4-FFF2-40B4-BE49-F238E27FC236}">
                <a16:creationId xmlns:a16="http://schemas.microsoft.com/office/drawing/2014/main" id="{407A317C-6A71-46D0-A37B-AC7767F0A2F7}"/>
              </a:ext>
            </a:extLst>
          </p:cNvPr>
          <p:cNvSpPr>
            <a:spLocks xmlns:a="http://schemas.openxmlformats.org/drawingml/2006/main" noGrp="1"/>
          </p:cNvSpPr>
          <p:nvPr/>
        </p:nvSpPr>
        <p:spPr>
          <a:xfrm xmlns:a="http://schemas.openxmlformats.org/drawingml/2006/main">
            <a:off x="812864" y="2686050"/>
            <a:ext cx="4572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75" b="0">
                <a:solidFill>
                  <a:srgbClr val="303238"/>
                </a:solidFill>
              </a:defRPr>
            </a:defPPr>
            <a:lvl1pPr>
              <a:buNone/>
              <a:defRPr sz="1875" b="0">
                <a:solidFill>
                  <a:srgbClr val="303238"/>
                </a:solidFill>
              </a:defRPr>
            </a:lvl1pPr>
            <a:lvl2pPr>
              <a:buNone/>
              <a:defRPr sz="1875" b="0">
                <a:solidFill>
                  <a:srgbClr val="303238"/>
                </a:solidFill>
              </a:defRPr>
            </a:lvl2pPr>
            <a:lvl3pPr>
              <a:buNone/>
              <a:defRPr sz="1875" b="0">
                <a:solidFill>
                  <a:srgbClr val="303238"/>
                </a:solidFill>
              </a:defRPr>
            </a:lvl3pPr>
            <a:lvl4pPr>
              <a:buNone/>
              <a:defRPr sz="1875" b="0">
                <a:solidFill>
                  <a:srgbClr val="303238"/>
                </a:solidFill>
              </a:defRPr>
            </a:lvl4pPr>
            <a:lvl5pPr>
              <a:buNone/>
              <a:defRPr sz="1875" b="0">
                <a:solidFill>
                  <a:srgbClr val="303238"/>
                </a:solidFill>
              </a:defRPr>
            </a:lvl5pPr>
            <a:lvl6pPr>
              <a:buNone/>
              <a:defRPr sz="1875" b="0">
                <a:solidFill>
                  <a:srgbClr val="303238"/>
                </a:solidFill>
              </a:defRPr>
            </a:lvl6pPr>
            <a:lvl7pPr>
              <a:buNone/>
              <a:defRPr sz="1875" b="0">
                <a:solidFill>
                  <a:srgbClr val="303238"/>
                </a:solidFill>
              </a:defRPr>
            </a:lvl7pPr>
            <a:lvl8pPr>
              <a:buNone/>
              <a:defRPr sz="1875" b="0">
                <a:solidFill>
                  <a:srgbClr val="303238"/>
                </a:solidFill>
              </a:defRPr>
            </a:lvl8pPr>
            <a:lvl9pPr>
              <a:buNone/>
              <a:defRPr sz="1875" b="0">
                <a:solidFill>
                  <a:srgbClr val="303238"/>
                </a:solidFill>
              </a:defRPr>
            </a:lvl9pPr>
          </a:lstStyle>
          <a:p xmlns:a="http://schemas.openxmlformats.org/drawingml/2006/main">
            <a:pPr>
              <a:buNone/>
              <a:defRPr sz="1875" b="0">
                <a:solidFill>
                  <a:srgbClr val="303238"/>
                </a:solidFill>
              </a:defRPr>
            </a:pPr>
            <a:r>
              <a:rPr sz="1875" b="0">
                <a:solidFill>
                  <a:srgbClr val="303238"/>
                </a:solidFill>
              </a:rPr>
              <a:t>Include saved clinical narrative</a:t>
            </a:r>
          </a:p>
          <a:p xmlns:a="http://schemas.openxmlformats.org/drawingml/2006/main">
            <a:pPr>
              <a:buNone/>
              <a:defRPr sz="1875" b="0">
                <a:solidFill>
                  <a:srgbClr val="303238"/>
                </a:solidFill>
              </a:defRPr>
            </a:pPr>
            <a:r>
              <a:rPr sz="1875" b="0">
                <a:solidFill>
                  <a:srgbClr val="303238"/>
                </a:solidFill>
              </a:rPr>
              <a:t>and relevant report images.</a:t>
            </a:r>
          </a:p>
        </p:txBody>
      </p:sp>
      <p:sp>
        <p:nvSpPr>
          <p:cNvPr id="2005" name="functional result">
            <a:extLst xmlns:a="http://schemas.openxmlformats.org/drawingml/2006/main">
              <a:ext uri="{FF2B5EF4-FFF2-40B4-BE49-F238E27FC236}">
                <a16:creationId xmlns:a16="http://schemas.microsoft.com/office/drawing/2014/main" id="{82C015BC-C9AA-4EF8-BD8B-04227BC31E8C}"/>
              </a:ext>
            </a:extLst>
          </p:cNvPr>
          <p:cNvSpPr>
            <a:spLocks xmlns:a="http://schemas.openxmlformats.org/drawingml/2006/main" noGrp="1"/>
          </p:cNvSpPr>
          <p:nvPr/>
        </p:nvSpPr>
        <p:spPr>
          <a:xfrm xmlns:a="http://schemas.openxmlformats.org/drawingml/2006/main">
            <a:off x="812864" y="4057650"/>
            <a:ext cx="4476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4800" b="1">
                <a:solidFill>
                  <a:srgbClr val="0086AC"/>
                </a:solidFill>
              </a:defRPr>
            </a:defPPr>
            <a:lvl1pPr>
              <a:buNone/>
              <a:defRPr sz="4800" b="1">
                <a:solidFill>
                  <a:srgbClr val="0086AC"/>
                </a:solidFill>
              </a:defRPr>
            </a:lvl1pPr>
            <a:lvl2pPr>
              <a:buNone/>
              <a:defRPr sz="4800" b="1">
                <a:solidFill>
                  <a:srgbClr val="0086AC"/>
                </a:solidFill>
              </a:defRPr>
            </a:lvl2pPr>
            <a:lvl3pPr>
              <a:buNone/>
              <a:defRPr sz="4800" b="1">
                <a:solidFill>
                  <a:srgbClr val="0086AC"/>
                </a:solidFill>
              </a:defRPr>
            </a:lvl3pPr>
            <a:lvl4pPr>
              <a:buNone/>
              <a:defRPr sz="4800" b="1">
                <a:solidFill>
                  <a:srgbClr val="0086AC"/>
                </a:solidFill>
              </a:defRPr>
            </a:lvl4pPr>
            <a:lvl5pPr>
              <a:buNone/>
              <a:defRPr sz="4800" b="1">
                <a:solidFill>
                  <a:srgbClr val="0086AC"/>
                </a:solidFill>
              </a:defRPr>
            </a:lvl5pPr>
            <a:lvl6pPr>
              <a:buNone/>
              <a:defRPr sz="4800" b="1">
                <a:solidFill>
                  <a:srgbClr val="0086AC"/>
                </a:solidFill>
              </a:defRPr>
            </a:lvl6pPr>
            <a:lvl7pPr>
              <a:buNone/>
              <a:defRPr sz="4800" b="1">
                <a:solidFill>
                  <a:srgbClr val="0086AC"/>
                </a:solidFill>
              </a:defRPr>
            </a:lvl7pPr>
            <a:lvl8pPr>
              <a:buNone/>
              <a:defRPr sz="4800" b="1">
                <a:solidFill>
                  <a:srgbClr val="0086AC"/>
                </a:solidFill>
              </a:defRPr>
            </a:lvl8pPr>
            <a:lvl9pPr>
              <a:buNone/>
              <a:defRPr sz="4800" b="1">
                <a:solidFill>
                  <a:srgbClr val="0086AC"/>
                </a:solidFill>
              </a:defRPr>
            </a:lvl9pPr>
          </a:lstStyle>
          <a:p xmlns:a="http://schemas.openxmlformats.org/drawingml/2006/main">
            <a:pPr>
              <a:buNone/>
              <a:defRPr sz="4800" b="1">
                <a:solidFill>
                  <a:srgbClr val="0086AC"/>
                </a:solidFill>
              </a:defRPr>
            </a:pPr>
            <a:r>
              <a:rPr sz="4800" b="1">
                <a:solidFill>
                  <a:srgbClr val="0086AC"/>
                </a:solidFill>
              </a:rPr>
              <a:t>0 of 3</a:t>
            </a:r>
          </a:p>
        </p:txBody>
      </p:sp>
      <p:sp>
        <p:nvSpPr>
          <p:cNvPr id="2006" name="functional metric">
            <a:extLst xmlns:a="http://schemas.openxmlformats.org/drawingml/2006/main">
              <a:ext uri="{FF2B5EF4-FFF2-40B4-BE49-F238E27FC236}">
                <a16:creationId xmlns:a16="http://schemas.microsoft.com/office/drawing/2014/main" id="{B8A12C75-C73D-40FA-AC8A-B905B3FD02F2}"/>
              </a:ext>
            </a:extLst>
          </p:cNvPr>
          <p:cNvSpPr>
            <a:spLocks xmlns:a="http://schemas.openxmlformats.org/drawingml/2006/main" noGrp="1"/>
          </p:cNvSpPr>
          <p:nvPr/>
        </p:nvSpPr>
        <p:spPr>
          <a:xfrm xmlns:a="http://schemas.openxmlformats.org/drawingml/2006/main">
            <a:off x="812864" y="4848225"/>
            <a:ext cx="4572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303238"/>
                </a:solidFill>
              </a:defRPr>
            </a:defPPr>
            <a:lvl1pPr>
              <a:buNone/>
              <a:defRPr sz="1650" b="0">
                <a:solidFill>
                  <a:srgbClr val="303238"/>
                </a:solidFill>
              </a:defRPr>
            </a:lvl1pPr>
            <a:lvl2pPr>
              <a:buNone/>
              <a:defRPr sz="1650" b="0">
                <a:solidFill>
                  <a:srgbClr val="303238"/>
                </a:solidFill>
              </a:defRPr>
            </a:lvl2pPr>
            <a:lvl3pPr>
              <a:buNone/>
              <a:defRPr sz="1650" b="0">
                <a:solidFill>
                  <a:srgbClr val="303238"/>
                </a:solidFill>
              </a:defRPr>
            </a:lvl3pPr>
            <a:lvl4pPr>
              <a:buNone/>
              <a:defRPr sz="1650" b="0">
                <a:solidFill>
                  <a:srgbClr val="303238"/>
                </a:solidFill>
              </a:defRPr>
            </a:lvl4pPr>
            <a:lvl5pPr>
              <a:buNone/>
              <a:defRPr sz="1650" b="0">
                <a:solidFill>
                  <a:srgbClr val="303238"/>
                </a:solidFill>
              </a:defRPr>
            </a:lvl5pPr>
            <a:lvl6pPr>
              <a:buNone/>
              <a:defRPr sz="1650" b="0">
                <a:solidFill>
                  <a:srgbClr val="303238"/>
                </a:solidFill>
              </a:defRPr>
            </a:lvl6pPr>
            <a:lvl7pPr>
              <a:buNone/>
              <a:defRPr sz="1650" b="0">
                <a:solidFill>
                  <a:srgbClr val="303238"/>
                </a:solidFill>
              </a:defRPr>
            </a:lvl7pPr>
            <a:lvl8pPr>
              <a:buNone/>
              <a:defRPr sz="1650" b="0">
                <a:solidFill>
                  <a:srgbClr val="303238"/>
                </a:solidFill>
              </a:defRPr>
            </a:lvl8pPr>
            <a:lvl9pPr>
              <a:buNone/>
              <a:defRPr sz="1650" b="0">
                <a:solidFill>
                  <a:srgbClr val="303238"/>
                </a:solidFill>
              </a:defRPr>
            </a:lvl9pPr>
          </a:lstStyle>
          <a:p xmlns:a="http://schemas.openxmlformats.org/drawingml/2006/main">
            <a:pPr>
              <a:buNone/>
              <a:defRPr sz="1650" b="0">
                <a:solidFill>
                  <a:srgbClr val="303238"/>
                </a:solidFill>
              </a:defRPr>
            </a:pPr>
            <a:r>
              <a:rPr sz="1650" b="0">
                <a:solidFill>
                  <a:srgbClr val="303238"/>
                </a:solidFill>
              </a:rPr>
              <a:t>reviews identified PDF-related SSRF</a:t>
            </a:r>
          </a:p>
        </p:txBody>
      </p:sp>
      <p:sp>
        <p:nvSpPr>
          <p:cNvPr id="2007" name="security heading">
            <a:extLst xmlns:a="http://schemas.openxmlformats.org/drawingml/2006/main">
              <a:ext uri="{FF2B5EF4-FFF2-40B4-BE49-F238E27FC236}">
                <a16:creationId xmlns:a16="http://schemas.microsoft.com/office/drawing/2014/main" id="{3511BE87-BA6C-4C84-9227-8002D2EF9789}"/>
              </a:ext>
            </a:extLst>
          </p:cNvPr>
          <p:cNvSpPr>
            <a:spLocks xmlns:a="http://schemas.openxmlformats.org/drawingml/2006/main" noGrp="1"/>
          </p:cNvSpPr>
          <p:nvPr/>
        </p:nvSpPr>
        <p:spPr>
          <a:xfrm xmlns:a="http://schemas.openxmlformats.org/drawingml/2006/main">
            <a:off x="6191250" y="2143125"/>
            <a:ext cx="5191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100" b="1">
                <a:solidFill>
                  <a:srgbClr val="4F8734"/>
                </a:solidFill>
              </a:defRPr>
            </a:defPPr>
            <a:lvl1pPr>
              <a:buNone/>
              <a:defRPr sz="2100" b="1">
                <a:solidFill>
                  <a:srgbClr val="4F8734"/>
                </a:solidFill>
              </a:defRPr>
            </a:lvl1pPr>
            <a:lvl2pPr>
              <a:buNone/>
              <a:defRPr sz="2100" b="1">
                <a:solidFill>
                  <a:srgbClr val="4F8734"/>
                </a:solidFill>
              </a:defRPr>
            </a:lvl2pPr>
            <a:lvl3pPr>
              <a:buNone/>
              <a:defRPr sz="2100" b="1">
                <a:solidFill>
                  <a:srgbClr val="4F8734"/>
                </a:solidFill>
              </a:defRPr>
            </a:lvl3pPr>
            <a:lvl4pPr>
              <a:buNone/>
              <a:defRPr sz="2100" b="1">
                <a:solidFill>
                  <a:srgbClr val="4F8734"/>
                </a:solidFill>
              </a:defRPr>
            </a:lvl4pPr>
            <a:lvl5pPr>
              <a:buNone/>
              <a:defRPr sz="2100" b="1">
                <a:solidFill>
                  <a:srgbClr val="4F8734"/>
                </a:solidFill>
              </a:defRPr>
            </a:lvl5pPr>
            <a:lvl6pPr>
              <a:buNone/>
              <a:defRPr sz="2100" b="1">
                <a:solidFill>
                  <a:srgbClr val="4F8734"/>
                </a:solidFill>
              </a:defRPr>
            </a:lvl6pPr>
            <a:lvl7pPr>
              <a:buNone/>
              <a:defRPr sz="2100" b="1">
                <a:solidFill>
                  <a:srgbClr val="4F8734"/>
                </a:solidFill>
              </a:defRPr>
            </a:lvl7pPr>
            <a:lvl8pPr>
              <a:buNone/>
              <a:defRPr sz="2100" b="1">
                <a:solidFill>
                  <a:srgbClr val="4F8734"/>
                </a:solidFill>
              </a:defRPr>
            </a:lvl8pPr>
            <a:lvl9pPr>
              <a:buNone/>
              <a:defRPr sz="2100" b="1">
                <a:solidFill>
                  <a:srgbClr val="4F8734"/>
                </a:solidFill>
              </a:defRPr>
            </a:lvl9pPr>
          </a:lstStyle>
          <a:p xmlns:a="http://schemas.openxmlformats.org/drawingml/2006/main">
            <a:pPr>
              <a:buNone/>
              <a:defRPr sz="2100" b="1">
                <a:solidFill>
                  <a:srgbClr val="4F8734"/>
                </a:solidFill>
              </a:defRPr>
            </a:pPr>
            <a:r>
              <a:rPr sz="2100" b="1">
                <a:solidFill>
                  <a:srgbClr val="4F8734"/>
                </a:solidFill>
              </a:rPr>
              <a:t>Proposed security requirement</a:t>
            </a:r>
          </a:p>
        </p:txBody>
      </p:sp>
      <p:sp>
        <p:nvSpPr>
          <p:cNvPr id="2008" name="security text">
            <a:extLst xmlns:a="http://schemas.openxmlformats.org/drawingml/2006/main">
              <a:ext uri="{FF2B5EF4-FFF2-40B4-BE49-F238E27FC236}">
                <a16:creationId xmlns:a16="http://schemas.microsoft.com/office/drawing/2014/main" id="{A63C7861-34FF-42BB-A5B5-15DDC6D87C24}"/>
              </a:ext>
            </a:extLst>
          </p:cNvPr>
          <p:cNvSpPr>
            <a:spLocks xmlns:a="http://schemas.openxmlformats.org/drawingml/2006/main" noGrp="1"/>
          </p:cNvSpPr>
          <p:nvPr/>
        </p:nvSpPr>
        <p:spPr>
          <a:xfrm xmlns:a="http://schemas.openxmlformats.org/drawingml/2006/main">
            <a:off x="6191250" y="2667000"/>
            <a:ext cx="5191125"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0">
                <a:solidFill>
                  <a:srgbClr val="303238"/>
                </a:solidFill>
              </a:defRPr>
            </a:defPPr>
            <a:lvl1pPr>
              <a:buNone/>
              <a:defRPr sz="1800" b="0">
                <a:solidFill>
                  <a:srgbClr val="303238"/>
                </a:solidFill>
              </a:defRPr>
            </a:lvl1pPr>
            <a:lvl2pPr>
              <a:buNone/>
              <a:defRPr sz="1800" b="0">
                <a:solidFill>
                  <a:srgbClr val="303238"/>
                </a:solidFill>
              </a:defRPr>
            </a:lvl2pPr>
            <a:lvl3pPr>
              <a:buNone/>
              <a:defRPr sz="1800" b="0">
                <a:solidFill>
                  <a:srgbClr val="303238"/>
                </a:solidFill>
              </a:defRPr>
            </a:lvl3pPr>
            <a:lvl4pPr>
              <a:buNone/>
              <a:defRPr sz="1800" b="0">
                <a:solidFill>
                  <a:srgbClr val="303238"/>
                </a:solidFill>
              </a:defRPr>
            </a:lvl4pPr>
            <a:lvl5pPr>
              <a:buNone/>
              <a:defRPr sz="1800" b="0">
                <a:solidFill>
                  <a:srgbClr val="303238"/>
                </a:solidFill>
              </a:defRPr>
            </a:lvl5pPr>
            <a:lvl6pPr>
              <a:buNone/>
              <a:defRPr sz="1800" b="0">
                <a:solidFill>
                  <a:srgbClr val="303238"/>
                </a:solidFill>
              </a:defRPr>
            </a:lvl6pPr>
            <a:lvl7pPr>
              <a:buNone/>
              <a:defRPr sz="1800" b="0">
                <a:solidFill>
                  <a:srgbClr val="303238"/>
                </a:solidFill>
              </a:defRPr>
            </a:lvl7pPr>
            <a:lvl8pPr>
              <a:buNone/>
              <a:defRPr sz="1800" b="0">
                <a:solidFill>
                  <a:srgbClr val="303238"/>
                </a:solidFill>
              </a:defRPr>
            </a:lvl8pPr>
            <a:lvl9pPr>
              <a:buNone/>
              <a:defRPr sz="1800" b="0">
                <a:solidFill>
                  <a:srgbClr val="303238"/>
                </a:solidFill>
              </a:defRPr>
            </a:lvl9pPr>
          </a:lstStyle>
          <a:p xmlns:a="http://schemas.openxmlformats.org/drawingml/2006/main">
            <a:pPr>
              <a:buNone/>
              <a:defRPr sz="1800" b="0">
                <a:solidFill>
                  <a:srgbClr val="303238"/>
                </a:solidFill>
              </a:defRPr>
            </a:pPr>
            <a:r>
              <a:rPr sz="1800" b="0">
                <a:solidFill>
                  <a:srgbClr val="303238"/>
                </a:solidFill>
              </a:rPr>
              <a:t>Render narrative as content.</a:t>
            </a:r>
          </a:p>
          <a:p xmlns:a="http://schemas.openxmlformats.org/drawingml/2006/main">
            <a:pPr>
              <a:buNone/>
              <a:defRPr sz="1800" b="0">
                <a:solidFill>
                  <a:srgbClr val="303238"/>
                </a:solidFill>
              </a:defRPr>
            </a:pPr>
            <a:r>
              <a:rPr sz="1800" b="0">
                <a:solidFill>
                  <a:srgbClr val="303238"/>
                </a:solidFill>
              </a:rPr>
              <a:t>Narrative cannot direct resource loading.</a:t>
            </a:r>
          </a:p>
          <a:p xmlns:a="http://schemas.openxmlformats.org/drawingml/2006/main">
            <a:pPr>
              <a:buNone/>
              <a:defRPr sz="1800" b="0">
                <a:solidFill>
                  <a:srgbClr val="303238"/>
                </a:solidFill>
              </a:defRPr>
            </a:pPr>
            <a:r>
              <a:rPr sz="1800" b="0">
                <a:solidFill>
                  <a:srgbClr val="303238"/>
                </a:solidFill>
              </a:rPr>
              <a:t>Allow application-controlled references</a:t>
            </a:r>
          </a:p>
          <a:p xmlns:a="http://schemas.openxmlformats.org/drawingml/2006/main">
            <a:pPr>
              <a:buNone/>
              <a:defRPr sz="1800" b="0">
                <a:solidFill>
                  <a:srgbClr val="303238"/>
                </a:solidFill>
              </a:defRPr>
            </a:pPr>
            <a:r>
              <a:rPr sz="1800" b="0">
                <a:solidFill>
                  <a:srgbClr val="303238"/>
                </a:solidFill>
              </a:rPr>
              <a:t>to authorized media and approved assets.</a:t>
            </a:r>
          </a:p>
        </p:txBody>
      </p:sp>
      <p:sp>
        <p:nvSpPr>
          <p:cNvPr id="2009" name="security result">
            <a:extLst xmlns:a="http://schemas.openxmlformats.org/drawingml/2006/main">
              <a:ext uri="{FF2B5EF4-FFF2-40B4-BE49-F238E27FC236}">
                <a16:creationId xmlns:a16="http://schemas.microsoft.com/office/drawing/2014/main" id="{DAB8A885-93F6-4249-A11D-42DA818EA8AC}"/>
              </a:ext>
            </a:extLst>
          </p:cNvPr>
          <p:cNvSpPr>
            <a:spLocks xmlns:a="http://schemas.openxmlformats.org/drawingml/2006/main" noGrp="1"/>
          </p:cNvSpPr>
          <p:nvPr/>
        </p:nvSpPr>
        <p:spPr>
          <a:xfrm xmlns:a="http://schemas.openxmlformats.org/drawingml/2006/main">
            <a:off x="6191250" y="4057650"/>
            <a:ext cx="5191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4800" b="1">
                <a:solidFill>
                  <a:srgbClr val="4F8734"/>
                </a:solidFill>
              </a:defRPr>
            </a:defPPr>
            <a:lvl1pPr>
              <a:buNone/>
              <a:defRPr sz="4800" b="1">
                <a:solidFill>
                  <a:srgbClr val="4F8734"/>
                </a:solidFill>
              </a:defRPr>
            </a:lvl1pPr>
            <a:lvl2pPr>
              <a:buNone/>
              <a:defRPr sz="4800" b="1">
                <a:solidFill>
                  <a:srgbClr val="4F8734"/>
                </a:solidFill>
              </a:defRPr>
            </a:lvl2pPr>
            <a:lvl3pPr>
              <a:buNone/>
              <a:defRPr sz="4800" b="1">
                <a:solidFill>
                  <a:srgbClr val="4F8734"/>
                </a:solidFill>
              </a:defRPr>
            </a:lvl3pPr>
            <a:lvl4pPr>
              <a:buNone/>
              <a:defRPr sz="4800" b="1">
                <a:solidFill>
                  <a:srgbClr val="4F8734"/>
                </a:solidFill>
              </a:defRPr>
            </a:lvl4pPr>
            <a:lvl5pPr>
              <a:buNone/>
              <a:defRPr sz="4800" b="1">
                <a:solidFill>
                  <a:srgbClr val="4F8734"/>
                </a:solidFill>
              </a:defRPr>
            </a:lvl5pPr>
            <a:lvl6pPr>
              <a:buNone/>
              <a:defRPr sz="4800" b="1">
                <a:solidFill>
                  <a:srgbClr val="4F8734"/>
                </a:solidFill>
              </a:defRPr>
            </a:lvl6pPr>
            <a:lvl7pPr>
              <a:buNone/>
              <a:defRPr sz="4800" b="1">
                <a:solidFill>
                  <a:srgbClr val="4F8734"/>
                </a:solidFill>
              </a:defRPr>
            </a:lvl7pPr>
            <a:lvl8pPr>
              <a:buNone/>
              <a:defRPr sz="4800" b="1">
                <a:solidFill>
                  <a:srgbClr val="4F8734"/>
                </a:solidFill>
              </a:defRPr>
            </a:lvl8pPr>
            <a:lvl9pPr>
              <a:buNone/>
              <a:defRPr sz="4800" b="1">
                <a:solidFill>
                  <a:srgbClr val="4F8734"/>
                </a:solidFill>
              </a:defRPr>
            </a:lvl9pPr>
          </a:lstStyle>
          <a:p xmlns:a="http://schemas.openxmlformats.org/drawingml/2006/main">
            <a:pPr>
              <a:buNone/>
              <a:defRPr sz="4800" b="1">
                <a:solidFill>
                  <a:srgbClr val="4F8734"/>
                </a:solidFill>
              </a:defRPr>
            </a:pPr>
            <a:r>
              <a:rPr sz="4800" b="1">
                <a:solidFill>
                  <a:srgbClr val="4F8734"/>
                </a:solidFill>
              </a:rPr>
              <a:t>3 of 3</a:t>
            </a:r>
          </a:p>
        </p:txBody>
      </p:sp>
      <p:sp>
        <p:nvSpPr>
          <p:cNvPr id="2010" name="security metric">
            <a:extLst xmlns:a="http://schemas.openxmlformats.org/drawingml/2006/main">
              <a:ext uri="{FF2B5EF4-FFF2-40B4-BE49-F238E27FC236}">
                <a16:creationId xmlns:a16="http://schemas.microsoft.com/office/drawing/2014/main" id="{3DE27C52-D55D-47A9-AC2C-CD3D3BD1FFF6}"/>
              </a:ext>
            </a:extLst>
          </p:cNvPr>
          <p:cNvSpPr>
            <a:spLocks xmlns:a="http://schemas.openxmlformats.org/drawingml/2006/main" noGrp="1"/>
          </p:cNvSpPr>
          <p:nvPr/>
        </p:nvSpPr>
        <p:spPr>
          <a:xfrm xmlns:a="http://schemas.openxmlformats.org/drawingml/2006/main">
            <a:off x="6191250" y="48482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650" b="0">
                <a:solidFill>
                  <a:srgbClr val="303238"/>
                </a:solidFill>
              </a:defRPr>
            </a:defPPr>
            <a:lvl1pPr>
              <a:buNone/>
              <a:defRPr sz="1650" b="0">
                <a:solidFill>
                  <a:srgbClr val="303238"/>
                </a:solidFill>
              </a:defRPr>
            </a:lvl1pPr>
            <a:lvl2pPr>
              <a:buNone/>
              <a:defRPr sz="1650" b="0">
                <a:solidFill>
                  <a:srgbClr val="303238"/>
                </a:solidFill>
              </a:defRPr>
            </a:lvl2pPr>
            <a:lvl3pPr>
              <a:buNone/>
              <a:defRPr sz="1650" b="0">
                <a:solidFill>
                  <a:srgbClr val="303238"/>
                </a:solidFill>
              </a:defRPr>
            </a:lvl3pPr>
            <a:lvl4pPr>
              <a:buNone/>
              <a:defRPr sz="1650" b="0">
                <a:solidFill>
                  <a:srgbClr val="303238"/>
                </a:solidFill>
              </a:defRPr>
            </a:lvl4pPr>
            <a:lvl5pPr>
              <a:buNone/>
              <a:defRPr sz="1650" b="0">
                <a:solidFill>
                  <a:srgbClr val="303238"/>
                </a:solidFill>
              </a:defRPr>
            </a:lvl5pPr>
            <a:lvl6pPr>
              <a:buNone/>
              <a:defRPr sz="1650" b="0">
                <a:solidFill>
                  <a:srgbClr val="303238"/>
                </a:solidFill>
              </a:defRPr>
            </a:lvl6pPr>
            <a:lvl7pPr>
              <a:buNone/>
              <a:defRPr sz="1650" b="0">
                <a:solidFill>
                  <a:srgbClr val="303238"/>
                </a:solidFill>
              </a:defRPr>
            </a:lvl7pPr>
            <a:lvl8pPr>
              <a:buNone/>
              <a:defRPr sz="1650" b="0">
                <a:solidFill>
                  <a:srgbClr val="303238"/>
                </a:solidFill>
              </a:defRPr>
            </a:lvl8pPr>
            <a:lvl9pPr>
              <a:buNone/>
              <a:defRPr sz="1650" b="0">
                <a:solidFill>
                  <a:srgbClr val="303238"/>
                </a:solidFill>
              </a:defRPr>
            </a:lvl9pPr>
          </a:lstStyle>
          <a:p xmlns:a="http://schemas.openxmlformats.org/drawingml/2006/main">
            <a:pPr>
              <a:buNone/>
              <a:defRPr sz="1650" b="0">
                <a:solidFill>
                  <a:srgbClr val="303238"/>
                </a:solidFill>
              </a:defRPr>
            </a:pPr>
            <a:r>
              <a:rPr sz="1650" b="0">
                <a:solidFill>
                  <a:srgbClr val="303238"/>
                </a:solidFill>
              </a:rPr>
              <a:t>reviews identified PDF-related SSRF</a:t>
            </a:r>
          </a:p>
        </p:txBody>
      </p:sp>
      <p:sp>
        <p:nvSpPr>
          <p:cNvPr id="2011" name="function preserved">
            <a:extLst xmlns:a="http://schemas.openxmlformats.org/drawingml/2006/main">
              <a:ext uri="{FF2B5EF4-FFF2-40B4-BE49-F238E27FC236}">
                <a16:creationId xmlns:a16="http://schemas.microsoft.com/office/drawing/2014/main" id="{CC2AB0AD-1BF1-4122-AD16-54D03717E668}"/>
              </a:ext>
            </a:extLst>
          </p:cNvPr>
          <p:cNvSpPr>
            <a:spLocks xmlns:a="http://schemas.openxmlformats.org/drawingml/2006/main" noGrp="1"/>
          </p:cNvSpPr>
          <p:nvPr/>
        </p:nvSpPr>
        <p:spPr>
          <a:xfrm xmlns:a="http://schemas.openxmlformats.org/drawingml/2006/main">
            <a:off x="812864" y="5524500"/>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800" b="1">
                <a:solidFill>
                  <a:srgbClr val="303238"/>
                </a:solidFill>
              </a:defRPr>
            </a:defPPr>
            <a:lvl1pPr>
              <a:buNone/>
              <a:defRPr sz="1800" b="1">
                <a:solidFill>
                  <a:srgbClr val="303238"/>
                </a:solidFill>
              </a:defRPr>
            </a:lvl1pPr>
            <a:lvl2pPr>
              <a:buNone/>
              <a:defRPr sz="1800" b="1">
                <a:solidFill>
                  <a:srgbClr val="303238"/>
                </a:solidFill>
              </a:defRPr>
            </a:lvl2pPr>
            <a:lvl3pPr>
              <a:buNone/>
              <a:defRPr sz="1800" b="1">
                <a:solidFill>
                  <a:srgbClr val="303238"/>
                </a:solidFill>
              </a:defRPr>
            </a:lvl3pPr>
            <a:lvl4pPr>
              <a:buNone/>
              <a:defRPr sz="1800" b="1">
                <a:solidFill>
                  <a:srgbClr val="303238"/>
                </a:solidFill>
              </a:defRPr>
            </a:lvl4pPr>
            <a:lvl5pPr>
              <a:buNone/>
              <a:defRPr sz="1800" b="1">
                <a:solidFill>
                  <a:srgbClr val="303238"/>
                </a:solidFill>
              </a:defRPr>
            </a:lvl5pPr>
            <a:lvl6pPr>
              <a:buNone/>
              <a:defRPr sz="1800" b="1">
                <a:solidFill>
                  <a:srgbClr val="303238"/>
                </a:solidFill>
              </a:defRPr>
            </a:lvl6pPr>
            <a:lvl7pPr>
              <a:buNone/>
              <a:defRPr sz="1800" b="1">
                <a:solidFill>
                  <a:srgbClr val="303238"/>
                </a:solidFill>
              </a:defRPr>
            </a:lvl7pPr>
            <a:lvl8pPr>
              <a:buNone/>
              <a:defRPr sz="1800" b="1">
                <a:solidFill>
                  <a:srgbClr val="303238"/>
                </a:solidFill>
              </a:defRPr>
            </a:lvl8pPr>
            <a:lvl9pPr>
              <a:buNone/>
              <a:defRPr sz="1800" b="1">
                <a:solidFill>
                  <a:srgbClr val="303238"/>
                </a:solidFill>
              </a:defRPr>
            </a:lvl9pPr>
          </a:lstStyle>
          <a:p xmlns:a="http://schemas.openxmlformats.org/drawingml/2006/main">
            <a:pPr>
              <a:buNone/>
              <a:defRPr sz="1800" b="1">
                <a:solidFill>
                  <a:srgbClr val="303238"/>
                </a:solidFill>
              </a:defRPr>
            </a:pPr>
            <a:r>
              <a:rPr sz="1800" b="1">
                <a:solidFill>
                  <a:srgbClr val="303238"/>
                </a:solidFill>
              </a:rPr>
              <a:t>Preserve authorized clinical images. Prevent narrative-driven resource access.</a:t>
            </a:r>
          </a:p>
        </p:txBody>
      </p:sp>
      <p:sp>
        <p:nvSpPr>
          <p:cNvPr id="2012" name="comparison limits">
            <a:extLst xmlns:a="http://schemas.openxmlformats.org/drawingml/2006/main">
              <a:ext uri="{FF2B5EF4-FFF2-40B4-BE49-F238E27FC236}">
                <a16:creationId xmlns:a16="http://schemas.microsoft.com/office/drawing/2014/main" id="{45A28673-F7D1-4915-9579-233AE426F7D9}"/>
              </a:ext>
            </a:extLst>
          </p:cNvPr>
          <p:cNvSpPr>
            <a:spLocks xmlns:a="http://schemas.openxmlformats.org/drawingml/2006/main" noGrp="1"/>
          </p:cNvSpPr>
          <p:nvPr/>
        </p:nvSpPr>
        <p:spPr>
          <a:xfrm xmlns:a="http://schemas.openxmlformats.org/drawingml/2006/main">
            <a:off x="812864" y="6067425"/>
            <a:ext cx="971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0">
                <a:solidFill>
                  <a:srgbClr val="666666"/>
                </a:solidFill>
              </a:defRPr>
            </a:defPPr>
            <a:lvl1pPr>
              <a:buNone/>
              <a:defRPr sz="1200" b="0">
                <a:solidFill>
                  <a:srgbClr val="666666"/>
                </a:solidFill>
              </a:defRPr>
            </a:lvl1pPr>
            <a:lvl2pPr>
              <a:buNone/>
              <a:defRPr sz="1200" b="0">
                <a:solidFill>
                  <a:srgbClr val="666666"/>
                </a:solidFill>
              </a:defRPr>
            </a:lvl2pPr>
            <a:lvl3pPr>
              <a:buNone/>
              <a:defRPr sz="1200" b="0">
                <a:solidFill>
                  <a:srgbClr val="666666"/>
                </a:solidFill>
              </a:defRPr>
            </a:lvl3pPr>
            <a:lvl4pPr>
              <a:buNone/>
              <a:defRPr sz="1200" b="0">
                <a:solidFill>
                  <a:srgbClr val="666666"/>
                </a:solidFill>
              </a:defRPr>
            </a:lvl4pPr>
            <a:lvl5pPr>
              <a:buNone/>
              <a:defRPr sz="1200" b="0">
                <a:solidFill>
                  <a:srgbClr val="666666"/>
                </a:solidFill>
              </a:defRPr>
            </a:lvl5pPr>
            <a:lvl6pPr>
              <a:buNone/>
              <a:defRPr sz="1200" b="0">
                <a:solidFill>
                  <a:srgbClr val="666666"/>
                </a:solidFill>
              </a:defRPr>
            </a:lvl6pPr>
            <a:lvl7pPr>
              <a:buNone/>
              <a:defRPr sz="1200" b="0">
                <a:solidFill>
                  <a:srgbClr val="666666"/>
                </a:solidFill>
              </a:defRPr>
            </a:lvl7pPr>
            <a:lvl8pPr>
              <a:buNone/>
              <a:defRPr sz="1200" b="0">
                <a:solidFill>
                  <a:srgbClr val="666666"/>
                </a:solidFill>
              </a:defRPr>
            </a:lvl8pPr>
            <a:lvl9pPr>
              <a:buNone/>
              <a:defRPr sz="1200" b="0">
                <a:solidFill>
                  <a:srgbClr val="666666"/>
                </a:solidFill>
              </a:defRPr>
            </a:lvl9pPr>
          </a:lstStyle>
          <a:p xmlns:a="http://schemas.openxmlformats.org/drawingml/2006/main">
            <a:pPr>
              <a:buNone/>
              <a:defRPr sz="1200" b="0">
                <a:solidFill>
                  <a:srgbClr val="666666"/>
                </a:solidFill>
              </a:defRPr>
            </a:pPr>
            <a:r>
              <a:rPr sz="1200" b="0">
                <a:solidFill>
                  <a:srgbClr val="666666"/>
                </a:solidFill>
              </a:rPr>
              <a:t>One original case, three completed reviews per card. Requirement drafted with hindsight; owner approval and independent verification pending.</a:t>
            </a:r>
          </a:p>
        </p:txBody>
      </p:sp>
    </p:spTree>
    <p:extLst>
      <p:ext uri="{BB962C8B-B14F-4D97-AF65-F5344CB8AC3E}">
        <p14:creationId xmlns:p14="http://schemas.microsoft.com/office/powerpoint/2010/main" val="1891958165"/>
      </p:ext>
    </p:extLst>
  </p:cSld>
</p:sld>
</file>

<file path=ppt/slides/slide19.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1B59DC93-7897-47B3-B59D-8C17AE3B617A}"/>
              </a:ext>
            </a:extLst>
          </p:cNvPr>
          <p:cNvPicPr>
            <a:picLocks xmlns:a="http://schemas.openxmlformats.org/drawingml/2006/main" noChangeAspect="1"/>
          </p:cNvPicPr>
          <p:nvPr/>
        </p:nvPicPr>
        <p:blipFill>
          <a:blip xmlns:r="http://schemas.openxmlformats.org/officeDocument/2006/relationships" xmlns:a="http://schemas.openxmlformats.org/drawingml/2006/main" r:embed="R9025b279819b4ea2"/>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190CA005-D323-4FD9-881C-C92DBACD61D0}"/>
              </a:ext>
            </a:extLst>
          </p:cNvPr>
          <p:cNvPicPr>
            <a:picLocks xmlns:a="http://schemas.openxmlformats.org/drawingml/2006/main" noChangeAspect="1"/>
          </p:cNvPicPr>
          <p:nvPr/>
        </p:nvPicPr>
        <p:blipFill>
          <a:blip xmlns:r="http://schemas.openxmlformats.org/officeDocument/2006/relationships" xmlns:a="http://schemas.openxmlformats.org/drawingml/2006/main" r:embed="Ra3d122f896144e4a"/>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9" name="title">
            <a:extLst xmlns:a="http://schemas.openxmlformats.org/drawingml/2006/main">
              <a:ext uri="{FF2B5EF4-FFF2-40B4-BE49-F238E27FC236}">
                <a16:creationId xmlns:a16="http://schemas.microsoft.com/office/drawing/2014/main" id="{2ADA135F-BCA7-401E-A61A-98302D3B3515}"/>
              </a:ext>
            </a:extLst>
          </p:cNvPr>
          <p:cNvSpPr>
            <a:spLocks xmlns:a="http://schemas.openxmlformats.org/drawingml/2006/main" noGrp="1"/>
          </p:cNvSpPr>
          <p:nvPr/>
        </p:nvSpPr>
        <p:spPr>
          <a:xfrm xmlns:a="http://schemas.openxmlformats.org/drawingml/2006/main">
            <a:off x="812864" y="819150"/>
            <a:ext cx="11379136"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4F8734"/>
                </a:solidFill>
              </a:defRPr>
            </a:defPPr>
            <a:lvl1pPr>
              <a:buNone/>
              <a:defRPr sz="3000" b="1">
                <a:solidFill>
                  <a:srgbClr val="4F8734"/>
                </a:solidFill>
              </a:defRPr>
            </a:lvl1pPr>
            <a:lvl2pPr>
              <a:buNone/>
              <a:defRPr sz="3000" b="1">
                <a:solidFill>
                  <a:srgbClr val="4F8734"/>
                </a:solidFill>
              </a:defRPr>
            </a:lvl2pPr>
            <a:lvl3pPr>
              <a:buNone/>
              <a:defRPr sz="3000" b="1">
                <a:solidFill>
                  <a:srgbClr val="4F8734"/>
                </a:solidFill>
              </a:defRPr>
            </a:lvl3pPr>
            <a:lvl4pPr>
              <a:buNone/>
              <a:defRPr sz="3000" b="1">
                <a:solidFill>
                  <a:srgbClr val="4F8734"/>
                </a:solidFill>
              </a:defRPr>
            </a:lvl4pPr>
            <a:lvl5pPr>
              <a:buNone/>
              <a:defRPr sz="3000" b="1">
                <a:solidFill>
                  <a:srgbClr val="4F8734"/>
                </a:solidFill>
              </a:defRPr>
            </a:lvl5pPr>
            <a:lvl6pPr>
              <a:buNone/>
              <a:defRPr sz="3000" b="1">
                <a:solidFill>
                  <a:srgbClr val="4F8734"/>
                </a:solidFill>
              </a:defRPr>
            </a:lvl6pPr>
            <a:lvl7pPr>
              <a:buNone/>
              <a:defRPr sz="3000" b="1">
                <a:solidFill>
                  <a:srgbClr val="4F8734"/>
                </a:solidFill>
              </a:defRPr>
            </a:lvl7pPr>
            <a:lvl8pPr>
              <a:buNone/>
              <a:defRPr sz="3000" b="1">
                <a:solidFill>
                  <a:srgbClr val="4F8734"/>
                </a:solidFill>
              </a:defRPr>
            </a:lvl8pPr>
            <a:lvl9pPr>
              <a:buNone/>
              <a:defRPr sz="3000" b="1">
                <a:solidFill>
                  <a:srgbClr val="4F8734"/>
                </a:solidFill>
              </a:defRPr>
            </a:lvl9pPr>
          </a:lstStyle>
          <a:p xmlns:a="http://schemas.openxmlformats.org/drawingml/2006/main">
            <a:pPr>
              <a:buNone/>
              <a:defRPr sz="3000" b="1">
                <a:solidFill>
                  <a:srgbClr val="4F8734"/>
                </a:solidFill>
              </a:defRPr>
            </a:pPr>
            <a:r>
              <a:t>Round 5: a requirement brings findings to 24 of 24</a:t>
            </a:r>
            <a:endParaRPr sz="3000" b="1">
              <a:solidFill>
                <a:srgbClr val="4F8734"/>
              </a:solidFill>
            </a:endParaRPr>
          </a:p>
        </p:txBody>
      </p:sp>
      <p:sp>
        <p:nvSpPr>
          <p:cNvPr id="2002" name="subtitle">
            <a:extLst xmlns:a="http://schemas.openxmlformats.org/drawingml/2006/main">
              <a:ext uri="{FF2B5EF4-FFF2-40B4-BE49-F238E27FC236}">
                <a16:creationId xmlns:a16="http://schemas.microsoft.com/office/drawing/2014/main" id="{007091C8-32F7-4B54-AF9A-D1E808F9B7F2}"/>
              </a:ext>
            </a:extLst>
          </p:cNvPr>
          <p:cNvSpPr>
            <a:spLocks xmlns:a="http://schemas.openxmlformats.org/drawingml/2006/main" noGrp="1"/>
          </p:cNvSpPr>
          <p:nvPr/>
        </p:nvSpPr>
        <p:spPr>
          <a:xfrm xmlns:a="http://schemas.openxmlformats.org/drawingml/2006/main">
            <a:off x="812864" y="1390650"/>
            <a:ext cx="10572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0">
                <a:solidFill>
                  <a:srgbClr val="303238"/>
                </a:solidFill>
              </a:defRPr>
            </a:defPPr>
            <a:lvl1pPr>
              <a:buNone/>
              <a:defRPr sz="1725" b="0">
                <a:solidFill>
                  <a:srgbClr val="303238"/>
                </a:solidFill>
              </a:defRPr>
            </a:lvl1pPr>
            <a:lvl2pPr>
              <a:buNone/>
              <a:defRPr sz="1725" b="0">
                <a:solidFill>
                  <a:srgbClr val="303238"/>
                </a:solidFill>
              </a:defRPr>
            </a:lvl2pPr>
            <a:lvl3pPr>
              <a:buNone/>
              <a:defRPr sz="1725" b="0">
                <a:solidFill>
                  <a:srgbClr val="303238"/>
                </a:solidFill>
              </a:defRPr>
            </a:lvl3pPr>
            <a:lvl4pPr>
              <a:buNone/>
              <a:defRPr sz="1725" b="0">
                <a:solidFill>
                  <a:srgbClr val="303238"/>
                </a:solidFill>
              </a:defRPr>
            </a:lvl4pPr>
            <a:lvl5pPr>
              <a:buNone/>
              <a:defRPr sz="1725" b="0">
                <a:solidFill>
                  <a:srgbClr val="303238"/>
                </a:solidFill>
              </a:defRPr>
            </a:lvl5pPr>
            <a:lvl6pPr>
              <a:buNone/>
              <a:defRPr sz="1725" b="0">
                <a:solidFill>
                  <a:srgbClr val="303238"/>
                </a:solidFill>
              </a:defRPr>
            </a:lvl6pPr>
            <a:lvl7pPr>
              <a:buNone/>
              <a:defRPr sz="1725" b="0">
                <a:solidFill>
                  <a:srgbClr val="303238"/>
                </a:solidFill>
              </a:defRPr>
            </a:lvl7pPr>
            <a:lvl8pPr>
              <a:buNone/>
              <a:defRPr sz="1725" b="0">
                <a:solidFill>
                  <a:srgbClr val="303238"/>
                </a:solidFill>
              </a:defRPr>
            </a:lvl8pPr>
            <a:lvl9pPr>
              <a:buNone/>
              <a:defRPr sz="1725" b="0">
                <a:solidFill>
                  <a:srgbClr val="303238"/>
                </a:solidFill>
              </a:defRPr>
            </a:lvl9pPr>
          </a:lstStyle>
          <a:p xmlns:a="http://schemas.openxmlformats.org/drawingml/2006/main">
            <a:pPr>
              <a:buNone/>
              <a:defRPr sz="1725" b="0">
                <a:solidFill>
                  <a:srgbClr val="303238"/>
                </a:solidFill>
              </a:defRPr>
            </a:pPr>
            <a:r>
              <a:rPr sz="1725" b="0">
                <a:solidFill>
                  <a:srgbClr val="303238"/>
                </a:solidFill>
              </a:rPr>
              <a:t>Case coverage by OWASP Top 10 category</a:t>
            </a:r>
          </a:p>
        </p:txBody>
      </p:sp>
      <p:sp>
        <p:nvSpPr>
          <p:cNvPr id="2003" name="original group">
            <a:extLst xmlns:a="http://schemas.openxmlformats.org/drawingml/2006/main">
              <a:ext uri="{FF2B5EF4-FFF2-40B4-BE49-F238E27FC236}">
                <a16:creationId xmlns:a16="http://schemas.microsoft.com/office/drawing/2014/main" id="{872AECC4-F0C7-4554-9521-129137F08761}"/>
              </a:ext>
            </a:extLst>
          </p:cNvPr>
          <p:cNvSpPr>
            <a:spLocks xmlns:a="http://schemas.openxmlformats.org/drawingml/2006/main" noGrp="1"/>
          </p:cNvSpPr>
          <p:nvPr/>
        </p:nvSpPr>
        <p:spPr>
          <a:xfrm xmlns:a="http://schemas.openxmlformats.org/drawingml/2006/main">
            <a:off x="4289489" y="1809750"/>
            <a:ext cx="2838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0086AC"/>
                </a:solidFill>
              </a:defRPr>
            </a:defPPr>
            <a:lvl1pPr>
              <a:buNone/>
              <a:defRPr sz="1200" b="1">
                <a:solidFill>
                  <a:srgbClr val="0086AC"/>
                </a:solidFill>
              </a:defRPr>
            </a:lvl1pPr>
            <a:lvl2pPr>
              <a:buNone/>
              <a:defRPr sz="1200" b="1">
                <a:solidFill>
                  <a:srgbClr val="0086AC"/>
                </a:solidFill>
              </a:defRPr>
            </a:lvl2pPr>
            <a:lvl3pPr>
              <a:buNone/>
              <a:defRPr sz="1200" b="1">
                <a:solidFill>
                  <a:srgbClr val="0086AC"/>
                </a:solidFill>
              </a:defRPr>
            </a:lvl3pPr>
            <a:lvl4pPr>
              <a:buNone/>
              <a:defRPr sz="1200" b="1">
                <a:solidFill>
                  <a:srgbClr val="0086AC"/>
                </a:solidFill>
              </a:defRPr>
            </a:lvl4pPr>
            <a:lvl5pPr>
              <a:buNone/>
              <a:defRPr sz="1200" b="1">
                <a:solidFill>
                  <a:srgbClr val="0086AC"/>
                </a:solidFill>
              </a:defRPr>
            </a:lvl5pPr>
            <a:lvl6pPr>
              <a:buNone/>
              <a:defRPr sz="1200" b="1">
                <a:solidFill>
                  <a:srgbClr val="0086AC"/>
                </a:solidFill>
              </a:defRPr>
            </a:lvl6pPr>
            <a:lvl7pPr>
              <a:buNone/>
              <a:defRPr sz="1200" b="1">
                <a:solidFill>
                  <a:srgbClr val="0086AC"/>
                </a:solidFill>
              </a:defRPr>
            </a:lvl7pPr>
            <a:lvl8pPr>
              <a:buNone/>
              <a:defRPr sz="1200" b="1">
                <a:solidFill>
                  <a:srgbClr val="0086AC"/>
                </a:solidFill>
              </a:defRPr>
            </a:lvl8pPr>
            <a:lvl9pPr>
              <a:buNone/>
              <a:defRPr sz="1200" b="1">
                <a:solidFill>
                  <a:srgbClr val="0086AC"/>
                </a:solidFill>
              </a:defRPr>
            </a:lvl9pPr>
          </a:lstStyle>
          <a:p xmlns:a="http://schemas.openxmlformats.org/drawingml/2006/main">
            <a:pPr>
              <a:buNone/>
              <a:defRPr sz="1200" b="1">
                <a:solidFill>
                  <a:srgbClr val="0086AC"/>
                </a:solidFill>
              </a:defRPr>
            </a:pPr>
            <a:r>
              <a:rPr sz="1200" b="1">
                <a:solidFill>
                  <a:srgbClr val="0086AC"/>
                </a:solidFill>
              </a:rPr>
              <a:t>Original study: all 24 cases</a:t>
            </a:r>
          </a:p>
        </p:txBody>
      </p:sp>
      <p:sp>
        <p:nvSpPr>
          <p:cNvPr id="2004" name="followup group">
            <a:extLst xmlns:a="http://schemas.openxmlformats.org/drawingml/2006/main">
              <a:ext uri="{FF2B5EF4-FFF2-40B4-BE49-F238E27FC236}">
                <a16:creationId xmlns:a16="http://schemas.microsoft.com/office/drawing/2014/main" id="{E3FF2BD7-E29F-493B-865E-3F917991FA5C}"/>
              </a:ext>
            </a:extLst>
          </p:cNvPr>
          <p:cNvSpPr>
            <a:spLocks xmlns:a="http://schemas.openxmlformats.org/drawingml/2006/main" noGrp="1"/>
          </p:cNvSpPr>
          <p:nvPr/>
        </p:nvSpPr>
        <p:spPr>
          <a:xfrm xmlns:a="http://schemas.openxmlformats.org/drawingml/2006/main">
            <a:off x="7127939" y="1809750"/>
            <a:ext cx="42576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200" b="1">
                <a:solidFill>
                  <a:srgbClr val="4F8734"/>
                </a:solidFill>
              </a:defRPr>
            </a:defPPr>
            <a:lvl1pPr>
              <a:buNone/>
              <a:defRPr sz="1200" b="1">
                <a:solidFill>
                  <a:srgbClr val="4F8734"/>
                </a:solidFill>
              </a:defRPr>
            </a:lvl1pPr>
            <a:lvl2pPr>
              <a:buNone/>
              <a:defRPr sz="1200" b="1">
                <a:solidFill>
                  <a:srgbClr val="4F8734"/>
                </a:solidFill>
              </a:defRPr>
            </a:lvl2pPr>
            <a:lvl3pPr>
              <a:buNone/>
              <a:defRPr sz="1200" b="1">
                <a:solidFill>
                  <a:srgbClr val="4F8734"/>
                </a:solidFill>
              </a:defRPr>
            </a:lvl3pPr>
            <a:lvl4pPr>
              <a:buNone/>
              <a:defRPr sz="1200" b="1">
                <a:solidFill>
                  <a:srgbClr val="4F8734"/>
                </a:solidFill>
              </a:defRPr>
            </a:lvl4pPr>
            <a:lvl5pPr>
              <a:buNone/>
              <a:defRPr sz="1200" b="1">
                <a:solidFill>
                  <a:srgbClr val="4F8734"/>
                </a:solidFill>
              </a:defRPr>
            </a:lvl5pPr>
            <a:lvl6pPr>
              <a:buNone/>
              <a:defRPr sz="1200" b="1">
                <a:solidFill>
                  <a:srgbClr val="4F8734"/>
                </a:solidFill>
              </a:defRPr>
            </a:lvl6pPr>
            <a:lvl7pPr>
              <a:buNone/>
              <a:defRPr sz="1200" b="1">
                <a:solidFill>
                  <a:srgbClr val="4F8734"/>
                </a:solidFill>
              </a:defRPr>
            </a:lvl7pPr>
            <a:lvl8pPr>
              <a:buNone/>
              <a:defRPr sz="1200" b="1">
                <a:solidFill>
                  <a:srgbClr val="4F8734"/>
                </a:solidFill>
              </a:defRPr>
            </a:lvl8pPr>
            <a:lvl9pPr>
              <a:buNone/>
              <a:defRPr sz="1200" b="1">
                <a:solidFill>
                  <a:srgbClr val="4F8734"/>
                </a:solidFill>
              </a:defRPr>
            </a:lvl9pPr>
          </a:lstStyle>
          <a:p xmlns:a="http://schemas.openxmlformats.org/drawingml/2006/main">
            <a:pPr>
              <a:buNone/>
              <a:defRPr sz="1200" b="1">
                <a:solidFill>
                  <a:srgbClr val="4F8734"/>
                </a:solidFill>
              </a:defRPr>
            </a:pPr>
            <a:r>
              <a:rPr sz="1200" b="1">
                <a:solidFill>
                  <a:srgbClr val="4F8734"/>
                </a:solidFill>
              </a:rPr>
              <a:t>Targeted follow-up rounds</a:t>
            </a:r>
          </a:p>
        </p:txBody>
      </p:sp>
      <p:graphicFrame>
        <p:nvGraphicFramePr>
          <p:cNvPr id="2005" name="Table 2004">
            <a:extLst xmlns:a="http://schemas.openxmlformats.org/drawingml/2006/main">
              <a:ext uri="{FF2B5EF4-FFF2-40B4-BE49-F238E27FC236}">
                <a16:creationId xmlns:a16="http://schemas.microsoft.com/office/drawing/2014/main" id="{88A7DD67-5397-4BDD-9B23-50F1FAE653A7}"/>
              </a:ext>
            </a:extLst>
          </p:cNvPr>
          <p:cNvGraphicFramePr/>
          <p:nvPr/>
        </p:nvGraphicFramePr>
        <p:xfrm>
          <a:off xmlns:a="http://schemas.openxmlformats.org/drawingml/2006/main" x="812864" y="2105025"/>
          <a:ext xmlns:a="http://schemas.openxmlformats.org/drawingml/2006/main" cx="10572750" cy="3410712"/>
        </p:xfrm>
        <a:graphic xmlns:a="http://schemas.openxmlformats.org/drawingml/2006/main">
          <a:graphicData uri="http://schemas.openxmlformats.org/drawingml/2006/table">
            <a:tbl>
              <a:tblPr/>
              <a:tblGrid>
                <a:gridCol w="2762250"/>
                <a:gridCol w="714375"/>
                <a:gridCol w="1419225"/>
                <a:gridCol w="1419225"/>
                <a:gridCol w="1419225"/>
                <a:gridCol w="1419225"/>
                <a:gridCol w="1419225"/>
              </a:tblGrid>
              <a:tr h="512064">
                <a:tc>
                  <a:txBody>
                    <a:bodyPr/>
                    <a:lstStyle/>
                    <a:p>
                      <a:pPr algn="l">
                        <a:buNone/>
                      </a:pPr>
                      <a:r>
                        <a:rPr sz="1275" b="1">
                          <a:solidFill>
                            <a:srgbClr val="FFFFFF"/>
                          </a:solidFill>
                        </a:rPr>
                        <a:t>OWASP category</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Cases</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Haiku 4.5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Generic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 related file</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 prompt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0086AC"/>
                    </a:solidFill>
                  </a:tcPr>
                </a:tc>
                <a:tc>
                  <a:txBody>
                    <a:bodyPr/>
                    <a:lstStyle/>
                    <a:p>
                      <a:pPr algn="ctr">
                        <a:buNone/>
                      </a:pPr>
                      <a:r>
                        <a:rPr sz="1275" b="1">
                          <a:solidFill>
                            <a:srgbClr val="FFFFFF"/>
                          </a:solidFill>
                        </a:rPr>
                        <a:t>Sonnet 5</a:t>
                      </a:r>
                    </a:p>
                    <a:p>
                      <a:pPr algn="ctr">
                        <a:buNone/>
                      </a:pPr>
                      <a:r>
                        <a:rPr sz="1275" b="1">
                          <a:solidFill>
                            <a:srgbClr val="FFFFFF"/>
                          </a:solidFill>
                        </a:rPr>
                        <a:t>Requirement</a:t>
                      </a:r>
                    </a:p>
                  </a:txBody>
                  <a:tcPr marL="91440" marR="91440" marT="45720" marB="45720" anchor="ctr">
                    <a:lnL w="4763" cmpd="sng">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4F8734"/>
                    </a:solidFill>
                  </a:tcPr>
                </a:tc>
              </a:tr>
              <a:tr h="402336">
                <a:tc>
                  <a:txBody>
                    <a:bodyPr/>
                    <a:lstStyle/>
                    <a:p>
                      <a:pPr algn="l">
                        <a:buNone/>
                      </a:pPr>
                      <a:r>
                        <a:rPr sz="1425" b="0">
                          <a:solidFill>
                            <a:srgbClr val="303238"/>
                          </a:solidFill>
                        </a:rPr>
                        <a:t>A01  Broken Access Control</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3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7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8 of 8</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A03  Injection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5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10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11 of 11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A05  Security Misconfiguration</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502920">
                <a:tc>
                  <a:txBody>
                    <a:bodyPr/>
                    <a:lstStyle/>
                    <a:p>
                      <a:pPr algn="l">
                        <a:buNone/>
                      </a:pPr>
                      <a:r>
                        <a:rPr sz="1425" b="0">
                          <a:solidFill>
                            <a:srgbClr val="303238"/>
                          </a:solidFill>
                        </a:rPr>
                        <a:t>A07  Identification &amp;</a:t>
                      </a:r>
                    </a:p>
                    <a:p>
                      <a:pPr algn="l">
                        <a:buNone/>
                      </a:pPr>
                      <a:r>
                        <a:rPr sz="1425" b="0">
                          <a:solidFill>
                            <a:srgbClr val="303238"/>
                          </a:solidFill>
                        </a:rPr>
                        <a:t>Authentication Failures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0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6F2"/>
                    </a:solidFill>
                  </a:tcPr>
                </a:tc>
                <a:tc>
                  <a:txBody>
                    <a:bodyPr/>
                    <a:lstStyle/>
                    <a:p>
                      <a:pPr algn="ctr">
                        <a:buNone/>
                      </a:pPr>
                      <a:r>
                        <a:rPr sz="1650" b="0">
                          <a:solidFill>
                            <a:srgbClr val="303238"/>
                          </a:solidFill>
                        </a:rPr>
                        <a:t>3 of 3</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1F6ED"/>
                    </a:solidFill>
                  </a:tcPr>
                </a:tc>
              </a:tr>
              <a:tr h="402336">
                <a:tc>
                  <a:txBody>
                    <a:bodyPr/>
                    <a:lstStyle/>
                    <a:p>
                      <a:pPr algn="l">
                        <a:buNone/>
                      </a:pPr>
                      <a:r>
                        <a:rPr sz="1425" b="0">
                          <a:solidFill>
                            <a:srgbClr val="303238"/>
                          </a:solidFill>
                        </a:rPr>
                        <a:t>A10  SSRF</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0">
                          <a:solidFill>
                            <a:srgbClr val="303238"/>
                          </a:solidFill>
                        </a:rPr>
                        <a:t>0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FFF"/>
                    </a:solidFill>
                  </a:tcPr>
                </a:tc>
                <a:tc>
                  <a:txBody>
                    <a:bodyPr/>
                    <a:lstStyle/>
                    <a:p>
                      <a:pPr algn="ctr">
                        <a:buNone/>
                      </a:pPr>
                      <a:r>
                        <a:rPr sz="1650" b="1">
                          <a:solidFill>
                            <a:srgbClr val="3D7327"/>
                          </a:solidFill>
                        </a:rPr>
                        <a:t>1 of 1</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DCEBD2"/>
                    </a:solidFill>
                  </a:tcPr>
                </a:tc>
              </a:tr>
              <a:tr h="402336">
                <a:tc>
                  <a:txBody>
                    <a:bodyPr/>
                    <a:lstStyle/>
                    <a:p>
                      <a:pPr algn="l">
                        <a:buNone/>
                      </a:pPr>
                      <a:r>
                        <a:rPr sz="1575" b="1">
                          <a:solidFill>
                            <a:srgbClr val="303238"/>
                          </a:solidFill>
                        </a:rPr>
                        <a:t>Cases identified</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8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20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22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23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c>
                  <a:txBody>
                    <a:bodyPr/>
                    <a:lstStyle/>
                    <a:p>
                      <a:pPr algn="ctr">
                        <a:buNone/>
                      </a:pPr>
                      <a:r>
                        <a:rPr sz="1575" b="1">
                          <a:solidFill>
                            <a:srgbClr val="303238"/>
                          </a:solidFill>
                        </a:rPr>
                        <a:t>24 of 24</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E9F1E3"/>
                    </a:solidFill>
                  </a:tcPr>
                </a:tc>
              </a:tr>
              <a:tr h="384048">
                <a:tc>
                  <a:txBody>
                    <a:bodyPr/>
                    <a:lstStyle/>
                    <a:p>
                      <a:pPr algn="l">
                        <a:buNone/>
                      </a:pPr>
                      <a:r>
                        <a:rPr sz="1400" b="1">
                          <a:solidFill>
                            <a:srgbClr val="303238"/>
                          </a:solidFill>
                        </a:rPr>
                        <a:t>False-alarm reviews*</a:t>
                      </a:r>
                    </a:p>
                  </a:txBody>
                  <a:tcPr marL="91440" marR="91440" marT="45720" marB="45720" anchor="ctr">
                    <a:lnL w="4763">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303238"/>
                          </a:solidFill>
                        </a:rPr>
                        <a:t>n/a</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4F0EB"/>
                    </a:solidFill>
                  </a:tcPr>
                </a:tc>
                <a:tc>
                  <a:txBody>
                    <a:bodyPr/>
                    <a:lstStyle/>
                    <a:p>
                      <a:pPr algn="ctr">
                        <a:buNone/>
                      </a:pPr>
                      <a:r>
                        <a:rPr sz="1450" b="1">
                          <a:solidFill>
                            <a:srgbClr val="A95B1F"/>
                          </a:solidFill>
                        </a:rPr>
                        <a:t>1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0 of 10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1 of 30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20 of 30</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c>
                  <a:txBody>
                    <a:bodyPr/>
                    <a:lstStyle/>
                    <a:p>
                      <a:pPr algn="ctr">
                        <a:buNone/>
                      </a:pPr>
                      <a:r>
                        <a:rPr sz="1450" b="1">
                          <a:solidFill>
                            <a:srgbClr val="A95B1F"/>
                          </a:solidFill>
                        </a:rPr>
                        <a:t>7 of 15</a:t>
                      </a:r>
                    </a:p>
                  </a:txBody>
                  <a:tcPr marL="91440" marR="91440" marT="45720" marB="45720" anchor="ctr">
                    <a:lnL w="4763" cmpd="sng">
                      <a:solidFill>
                        <a:srgbClr val="D7DDD4"/>
                      </a:solidFill>
                      <a:prstDash val="solid"/>
                    </a:lnL>
                    <a:lnR w="4763">
                      <a:solidFill>
                        <a:srgbClr val="D7DDD4"/>
                      </a:solidFill>
                      <a:prstDash val="solid"/>
                    </a:lnR>
                    <a:lnT w="4763" cmpd="sng">
                      <a:solidFill>
                        <a:srgbClr val="D7DDD4"/>
                      </a:solidFill>
                      <a:prstDash val="solid"/>
                    </a:lnT>
                    <a:lnB w="4763">
                      <a:solidFill>
                        <a:srgbClr val="D7DDD4"/>
                      </a:solidFill>
                      <a:prstDash val="solid"/>
                    </a:lnB>
                    <a:solidFill>
                      <a:srgbClr val="FFF3E7"/>
                    </a:solidFill>
                  </a:tcPr>
                </a:tc>
              </a:tr>
            </a:tbl>
          </a:graphicData>
        </a:graphic>
      </p:graphicFrame>
      <p:sp>
        <p:nvSpPr>
          <p:cNvPr id="2006" name="takeaway">
            <a:extLst xmlns:a="http://schemas.openxmlformats.org/drawingml/2006/main">
              <a:ext uri="{FF2B5EF4-FFF2-40B4-BE49-F238E27FC236}">
                <a16:creationId xmlns:a16="http://schemas.microsoft.com/office/drawing/2014/main" id="{12FE31C1-A090-424F-BE23-D25363D99850}"/>
              </a:ext>
            </a:extLst>
          </p:cNvPr>
          <p:cNvSpPr>
            <a:spLocks xmlns:a="http://schemas.openxmlformats.org/drawingml/2006/main" noGrp="1"/>
          </p:cNvSpPr>
          <p:nvPr/>
        </p:nvSpPr>
        <p:spPr>
          <a:xfrm xmlns:a="http://schemas.openxmlformats.org/drawingml/2006/main">
            <a:off x="812864" y="562356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1">
                <a:solidFill>
                  <a:srgbClr val="303238"/>
                </a:solidFill>
              </a:defRPr>
            </a:defPPr>
            <a:lvl1pPr>
              <a:buNone/>
              <a:defRPr sz="1575" b="1">
                <a:solidFill>
                  <a:srgbClr val="303238"/>
                </a:solidFill>
              </a:defRPr>
            </a:lvl1pPr>
            <a:lvl2pPr>
              <a:buNone/>
              <a:defRPr sz="1575" b="1">
                <a:solidFill>
                  <a:srgbClr val="303238"/>
                </a:solidFill>
              </a:defRPr>
            </a:lvl2pPr>
            <a:lvl3pPr>
              <a:buNone/>
              <a:defRPr sz="1575" b="1">
                <a:solidFill>
                  <a:srgbClr val="303238"/>
                </a:solidFill>
              </a:defRPr>
            </a:lvl3pPr>
            <a:lvl4pPr>
              <a:buNone/>
              <a:defRPr sz="1575" b="1">
                <a:solidFill>
                  <a:srgbClr val="303238"/>
                </a:solidFill>
              </a:defRPr>
            </a:lvl4pPr>
            <a:lvl5pPr>
              <a:buNone/>
              <a:defRPr sz="1575" b="1">
                <a:solidFill>
                  <a:srgbClr val="303238"/>
                </a:solidFill>
              </a:defRPr>
            </a:lvl5pPr>
            <a:lvl6pPr>
              <a:buNone/>
              <a:defRPr sz="1575" b="1">
                <a:solidFill>
                  <a:srgbClr val="303238"/>
                </a:solidFill>
              </a:defRPr>
            </a:lvl6pPr>
            <a:lvl7pPr>
              <a:buNone/>
              <a:defRPr sz="1575" b="1">
                <a:solidFill>
                  <a:srgbClr val="303238"/>
                </a:solidFill>
              </a:defRPr>
            </a:lvl7pPr>
            <a:lvl8pPr>
              <a:buNone/>
              <a:defRPr sz="1575" b="1">
                <a:solidFill>
                  <a:srgbClr val="303238"/>
                </a:solidFill>
              </a:defRPr>
            </a:lvl8pPr>
            <a:lvl9pPr>
              <a:buNone/>
              <a:defRPr sz="1575" b="1">
                <a:solidFill>
                  <a:srgbClr val="303238"/>
                </a:solidFill>
              </a:defRPr>
            </a:lvl9pPr>
          </a:lstStyle>
          <a:p xmlns:a="http://schemas.openxmlformats.org/drawingml/2006/main">
            <a:pPr>
              <a:buNone/>
              <a:defRPr sz="1575" b="1">
                <a:solidFill>
                  <a:srgbClr val="303238"/>
                </a:solidFill>
              </a:defRPr>
            </a:pPr>
            <a:r>
              <a:rPr sz="1575" b="1">
                <a:solidFill>
                  <a:srgbClr val="303238"/>
                </a:solidFill>
              </a:rPr>
              <a:t>The requirement-assisted review identifies the remaining PDF SSRF case.</a:t>
            </a:r>
          </a:p>
        </p:txBody>
      </p:sp>
      <p:sp>
        <p:nvSpPr>
          <p:cNvPr id="2007" name="detail">
            <a:extLst xmlns:a="http://schemas.openxmlformats.org/drawingml/2006/main">
              <a:ext uri="{FF2B5EF4-FFF2-40B4-BE49-F238E27FC236}">
                <a16:creationId xmlns:a16="http://schemas.microsoft.com/office/drawing/2014/main" id="{D9B3C991-6096-494A-B539-C62FE9EAF023}"/>
              </a:ext>
            </a:extLst>
          </p:cNvPr>
          <p:cNvSpPr>
            <a:spLocks xmlns:a="http://schemas.openxmlformats.org/drawingml/2006/main" noGrp="1"/>
          </p:cNvSpPr>
          <p:nvPr/>
        </p:nvSpPr>
        <p:spPr>
          <a:xfrm xmlns:a="http://schemas.openxmlformats.org/drawingml/2006/main">
            <a:off x="812864" y="5925312"/>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00" b="1">
                <a:solidFill>
                  <a:srgbClr val="4F8734"/>
                </a:solidFill>
              </a:defRPr>
            </a:defPPr>
            <a:lvl1pPr>
              <a:buNone/>
              <a:defRPr sz="1500" b="1">
                <a:solidFill>
                  <a:srgbClr val="4F8734"/>
                </a:solidFill>
              </a:defRPr>
            </a:lvl1pPr>
            <a:lvl2pPr>
              <a:buNone/>
              <a:defRPr sz="1500" b="1">
                <a:solidFill>
                  <a:srgbClr val="4F8734"/>
                </a:solidFill>
              </a:defRPr>
            </a:lvl2pPr>
            <a:lvl3pPr>
              <a:buNone/>
              <a:defRPr sz="1500" b="1">
                <a:solidFill>
                  <a:srgbClr val="4F8734"/>
                </a:solidFill>
              </a:defRPr>
            </a:lvl3pPr>
            <a:lvl4pPr>
              <a:buNone/>
              <a:defRPr sz="1500" b="1">
                <a:solidFill>
                  <a:srgbClr val="4F8734"/>
                </a:solidFill>
              </a:defRPr>
            </a:lvl4pPr>
            <a:lvl5pPr>
              <a:buNone/>
              <a:defRPr sz="1500" b="1">
                <a:solidFill>
                  <a:srgbClr val="4F8734"/>
                </a:solidFill>
              </a:defRPr>
            </a:lvl5pPr>
            <a:lvl6pPr>
              <a:buNone/>
              <a:defRPr sz="1500" b="1">
                <a:solidFill>
                  <a:srgbClr val="4F8734"/>
                </a:solidFill>
              </a:defRPr>
            </a:lvl6pPr>
            <a:lvl7pPr>
              <a:buNone/>
              <a:defRPr sz="1500" b="1">
                <a:solidFill>
                  <a:srgbClr val="4F8734"/>
                </a:solidFill>
              </a:defRPr>
            </a:lvl7pPr>
            <a:lvl8pPr>
              <a:buNone/>
              <a:defRPr sz="1500" b="1">
                <a:solidFill>
                  <a:srgbClr val="4F8734"/>
                </a:solidFill>
              </a:defRPr>
            </a:lvl8pPr>
            <a:lvl9pPr>
              <a:buNone/>
              <a:defRPr sz="1500" b="1">
                <a:solidFill>
                  <a:srgbClr val="4F8734"/>
                </a:solidFill>
              </a:defRPr>
            </a:lvl9pPr>
          </a:lstStyle>
          <a:p xmlns:a="http://schemas.openxmlformats.org/drawingml/2006/main">
            <a:pPr>
              <a:buNone/>
              <a:defRPr sz="1500" b="1">
                <a:solidFill>
                  <a:srgbClr val="4F8734"/>
                </a:solidFill>
              </a:defRPr>
            </a:pPr>
            <a:r>
              <a:rPr sz="1500" b="1">
                <a:solidFill>
                  <a:srgbClr val="4F8734"/>
                </a:solidFill>
              </a:rPr>
              <a:t>Final case: explicit SSRF findings in 3 of 3 completed reviews.</a:t>
            </a:r>
          </a:p>
        </p:txBody>
      </p:sp>
      <p:sp>
        <p:nvSpPr>
          <p:cNvPr id="2010" name="False alarm denominator note"/>
          <p:cNvSpPr>
            <a:spLocks xmlns:a="http://schemas.openxmlformats.org/drawingml/2006/main" noGrp="1"/>
          </p:cNvSpPr>
          <p:nvPr/>
        </p:nvSpPr>
        <p:spPr>
          <a:xfrm xmlns:a="http://schemas.openxmlformats.org/drawingml/2006/main">
            <a:off x="812864" y="6345936"/>
            <a:ext cx="9875520"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000" b="0">
                <a:solidFill>
                  <a:srgbClr val="666666"/>
                </a:solidFill>
              </a:defRPr>
            </a:defPPr>
            <a:lvl1pPr>
              <a:buNone/>
              <a:defRPr sz="1000" b="0">
                <a:solidFill>
                  <a:srgbClr val="666666"/>
                </a:solidFill>
              </a:defRPr>
            </a:lvl1pPr>
            <a:lvl2pPr>
              <a:buNone/>
              <a:defRPr sz="1000" b="0">
                <a:solidFill>
                  <a:srgbClr val="666666"/>
                </a:solidFill>
              </a:defRPr>
            </a:lvl2pPr>
            <a:lvl3pPr>
              <a:buNone/>
              <a:defRPr sz="1000" b="0">
                <a:solidFill>
                  <a:srgbClr val="666666"/>
                </a:solidFill>
              </a:defRPr>
            </a:lvl3pPr>
            <a:lvl4pPr>
              <a:buNone/>
              <a:defRPr sz="1000" b="0">
                <a:solidFill>
                  <a:srgbClr val="666666"/>
                </a:solidFill>
              </a:defRPr>
            </a:lvl4pPr>
            <a:lvl5pPr>
              <a:buNone/>
              <a:defRPr sz="1000" b="0">
                <a:solidFill>
                  <a:srgbClr val="666666"/>
                </a:solidFill>
              </a:defRPr>
            </a:lvl5pPr>
            <a:lvl6pPr>
              <a:buNone/>
              <a:defRPr sz="1000" b="0">
                <a:solidFill>
                  <a:srgbClr val="666666"/>
                </a:solidFill>
              </a:defRPr>
            </a:lvl6pPr>
            <a:lvl7pPr>
              <a:buNone/>
              <a:defRPr sz="1000" b="0">
                <a:solidFill>
                  <a:srgbClr val="666666"/>
                </a:solidFill>
              </a:defRPr>
            </a:lvl7pPr>
            <a:lvl8pPr>
              <a:buNone/>
              <a:defRPr sz="1000" b="0">
                <a:solidFill>
                  <a:srgbClr val="666666"/>
                </a:solidFill>
              </a:defRPr>
            </a:lvl8pPr>
            <a:lvl9pPr>
              <a:buNone/>
              <a:defRPr sz="1000" b="0">
                <a:solidFill>
                  <a:srgbClr val="666666"/>
                </a:solidFill>
              </a:defRPr>
            </a:lvl9pPr>
          </a:lstStyle>
          <a:p xmlns:a="http://schemas.openxmlformats.org/drawingml/2006/main">
            <a:pPr>
              <a:buNone/>
              <a:defRPr sz="1000" b="0">
                <a:solidFill>
                  <a:srgbClr val="666666"/>
                </a:solidFill>
              </a:defRPr>
            </a:pPr>
            <a:r>
              <a:rPr sz="1000" b="0">
                <a:solidFill>
                  <a:srgbClr val="666666"/>
                </a:solidFill>
              </a:rPr>
              <a:t>* Separate benign changes, not CVEs. Reviews: original 10, +file/+prompt 30, requirement 15 on later Eye Exam changes. Human check pending.</a:t>
            </a:r>
          </a:p>
        </p:txBody>
      </p:sp>
    </p:spTree>
    <p:extLst>
      <p:ext uri="{BB962C8B-B14F-4D97-AF65-F5344CB8AC3E}">
        <p14:creationId xmlns:p14="http://schemas.microsoft.com/office/powerpoint/2010/main" val="78098788"/>
      </p:ext>
    </p:extLst>
  </p:cSld>
</p:sld>
</file>

<file path=ppt/slides/slide20.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0B9F8AE2-19DF-4F16-A296-AC1FD5C92CC4}"/>
              </a:ext>
            </a:extLst>
          </p:cNvPr>
          <p:cNvPicPr>
            <a:picLocks xmlns:a="http://schemas.openxmlformats.org/drawingml/2006/main" noChangeAspect="1"/>
          </p:cNvPicPr>
          <p:nvPr/>
        </p:nvPicPr>
        <p:blipFill>
          <a:blip xmlns:r="http://schemas.openxmlformats.org/officeDocument/2006/relationships" xmlns:a="http://schemas.openxmlformats.org/drawingml/2006/main" r:embed="R51daa92d58cd4b1c"/>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9E679AE5-6887-46AC-8597-B3E022A05536}"/>
              </a:ext>
            </a:extLst>
          </p:cNvPr>
          <p:cNvPicPr>
            <a:picLocks xmlns:a="http://schemas.openxmlformats.org/drawingml/2006/main" noChangeAspect="1"/>
          </p:cNvPicPr>
          <p:nvPr/>
        </p:nvPicPr>
        <p:blipFill>
          <a:blip xmlns:r="http://schemas.openxmlformats.org/officeDocument/2006/relationships" xmlns:a="http://schemas.openxmlformats.org/drawingml/2006/main" r:embed="R8692ee30c74140bc"/>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D112DF95-D777-4FB3-8C64-5320E05C3A30}"/>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Better coverage has a review cost</a:t>
            </a:r>
            <a:endParaRPr sz="3200"/>
          </a:p>
        </p:txBody>
      </p:sp>
      <p:sp>
        <p:nvSpPr>
          <p:cNvPr id="36" name="Text 25">
            <a:extLst xmlns:a="http://schemas.openxmlformats.org/drawingml/2006/main">
              <a:ext uri="{FF2B5EF4-FFF2-40B4-BE49-F238E27FC236}">
                <a16:creationId xmlns:a16="http://schemas.microsoft.com/office/drawing/2014/main" id="{D6DDAB9E-66F5-4C8B-861D-1469EA4299D7}"/>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Separate sample">
            <a:extLst xmlns:a="http://schemas.openxmlformats.org/drawingml/2006/main">
              <a:ext uri="{FF2B5EF4-FFF2-40B4-BE49-F238E27FC236}">
                <a16:creationId xmlns:a16="http://schemas.microsoft.com/office/drawing/2014/main" id="{65E08E31-8542-4969-8675-A4AAB9729A4D}"/>
              </a:ext>
            </a:extLst>
          </p:cNvPr>
          <p:cNvSpPr>
            <a:spLocks xmlns:a="http://schemas.openxmlformats.org/drawingml/2006/main" noGrp="1"/>
          </p:cNvSpPr>
          <p:nvPr/>
        </p:nvSpPr>
        <p:spPr>
          <a:xfrm xmlns:a="http://schemas.openxmlformats.org/drawingml/2006/main">
            <a:off x="812902" y="1399032"/>
            <a:ext cx="10561320" cy="3931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Separate Sonnet 5 controls: the same 10 comparison changes, one review per prompt.</a:t>
            </a:r>
          </a:p>
        </p:txBody>
      </p:sp>
      <p:sp>
        <p:nvSpPr>
          <p:cNvPr id="1001" name="Generic label">
            <a:extLst xmlns:a="http://schemas.openxmlformats.org/drawingml/2006/main">
              <a:ext uri="{FF2B5EF4-FFF2-40B4-BE49-F238E27FC236}">
                <a16:creationId xmlns:a16="http://schemas.microsoft.com/office/drawing/2014/main" id="{FFEDF534-7121-47BA-92F5-58ACEFED70BB}"/>
              </a:ext>
            </a:extLst>
          </p:cNvPr>
          <p:cNvSpPr>
            <a:spLocks xmlns:a="http://schemas.openxmlformats.org/drawingml/2006/main" noGrp="1"/>
          </p:cNvSpPr>
          <p:nvPr/>
        </p:nvSpPr>
        <p:spPr>
          <a:xfrm xmlns:a="http://schemas.openxmlformats.org/drawingml/2006/main">
            <a:off x="1005840" y="2157984"/>
            <a:ext cx="4663440"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86B6"/>
                </a:solidFill>
              </a:defRPr>
            </a:defPPr>
            <a:lvl1pPr>
              <a:buNone/>
              <a:defRPr sz="1500" b="1">
                <a:solidFill>
                  <a:srgbClr val="0086B6"/>
                </a:solidFill>
              </a:defRPr>
            </a:lvl1pPr>
            <a:lvl2pPr>
              <a:buNone/>
              <a:defRPr sz="1500" b="1">
                <a:solidFill>
                  <a:srgbClr val="0086B6"/>
                </a:solidFill>
              </a:defRPr>
            </a:lvl2pPr>
            <a:lvl3pPr>
              <a:buNone/>
              <a:defRPr sz="1500" b="1">
                <a:solidFill>
                  <a:srgbClr val="0086B6"/>
                </a:solidFill>
              </a:defRPr>
            </a:lvl3pPr>
            <a:lvl4pPr>
              <a:buNone/>
              <a:defRPr sz="1500" b="1">
                <a:solidFill>
                  <a:srgbClr val="0086B6"/>
                </a:solidFill>
              </a:defRPr>
            </a:lvl4pPr>
            <a:lvl5pPr>
              <a:buNone/>
              <a:defRPr sz="1500" b="1">
                <a:solidFill>
                  <a:srgbClr val="0086B6"/>
                </a:solidFill>
              </a:defRPr>
            </a:lvl5pPr>
            <a:lvl6pPr>
              <a:buNone/>
              <a:defRPr sz="1500" b="1">
                <a:solidFill>
                  <a:srgbClr val="0086B6"/>
                </a:solidFill>
              </a:defRPr>
            </a:lvl6pPr>
            <a:lvl7pPr>
              <a:buNone/>
              <a:defRPr sz="1500" b="1">
                <a:solidFill>
                  <a:srgbClr val="0086B6"/>
                </a:solidFill>
              </a:defRPr>
            </a:lvl7pPr>
            <a:lvl8pPr>
              <a:buNone/>
              <a:defRPr sz="1500" b="1">
                <a:solidFill>
                  <a:srgbClr val="0086B6"/>
                </a:solidFill>
              </a:defRPr>
            </a:lvl8pPr>
            <a:lvl9pPr>
              <a:buNone/>
              <a:defRPr sz="1500" b="1">
                <a:solidFill>
                  <a:srgbClr val="0086B6"/>
                </a:solidFill>
              </a:defRPr>
            </a:lvl9pPr>
          </a:lstStyle>
          <a:p xmlns:a="http://schemas.openxmlformats.org/drawingml/2006/main">
            <a:pPr>
              <a:buNone/>
              <a:defRPr sz="1500" b="1">
                <a:solidFill>
                  <a:srgbClr val="0086B6"/>
                </a:solidFill>
              </a:defRPr>
            </a:pPr>
            <a:r>
              <a:rPr sz="1500" b="1">
                <a:solidFill>
                  <a:srgbClr val="0086B6"/>
                </a:solidFill>
                <a:latin typeface="Arial"/>
                <a:ea typeface="Arial"/>
                <a:cs typeface="Arial"/>
              </a:rPr>
              <a:t>GENERIC PROMPT</a:t>
            </a:r>
          </a:p>
        </p:txBody>
      </p:sp>
      <p:sp>
        <p:nvSpPr>
          <p:cNvPr id="1002" name="Generic count">
            <a:extLst xmlns:a="http://schemas.openxmlformats.org/drawingml/2006/main">
              <a:ext uri="{FF2B5EF4-FFF2-40B4-BE49-F238E27FC236}">
                <a16:creationId xmlns:a16="http://schemas.microsoft.com/office/drawing/2014/main" id="{5FC45201-7900-4BBA-873B-AB22381B3D7E}"/>
              </a:ext>
            </a:extLst>
          </p:cNvPr>
          <p:cNvSpPr>
            <a:spLocks xmlns:a="http://schemas.openxmlformats.org/drawingml/2006/main" noGrp="1"/>
          </p:cNvSpPr>
          <p:nvPr/>
        </p:nvSpPr>
        <p:spPr>
          <a:xfrm xmlns:a="http://schemas.openxmlformats.org/drawingml/2006/main">
            <a:off x="1005840" y="2715768"/>
            <a:ext cx="4663440" cy="8778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6000" b="1">
                <a:solidFill>
                  <a:srgbClr val="4C8835"/>
                </a:solidFill>
              </a:defRPr>
            </a:defPPr>
            <a:lvl1pPr>
              <a:buNone/>
              <a:defRPr sz="6000" b="1">
                <a:solidFill>
                  <a:srgbClr val="4C8835"/>
                </a:solidFill>
              </a:defRPr>
            </a:lvl1pPr>
            <a:lvl2pPr>
              <a:buNone/>
              <a:defRPr sz="6000" b="1">
                <a:solidFill>
                  <a:srgbClr val="4C8835"/>
                </a:solidFill>
              </a:defRPr>
            </a:lvl2pPr>
            <a:lvl3pPr>
              <a:buNone/>
              <a:defRPr sz="6000" b="1">
                <a:solidFill>
                  <a:srgbClr val="4C8835"/>
                </a:solidFill>
              </a:defRPr>
            </a:lvl3pPr>
            <a:lvl4pPr>
              <a:buNone/>
              <a:defRPr sz="6000" b="1">
                <a:solidFill>
                  <a:srgbClr val="4C8835"/>
                </a:solidFill>
              </a:defRPr>
            </a:lvl4pPr>
            <a:lvl5pPr>
              <a:buNone/>
              <a:defRPr sz="6000" b="1">
                <a:solidFill>
                  <a:srgbClr val="4C8835"/>
                </a:solidFill>
              </a:defRPr>
            </a:lvl5pPr>
            <a:lvl6pPr>
              <a:buNone/>
              <a:defRPr sz="6000" b="1">
                <a:solidFill>
                  <a:srgbClr val="4C8835"/>
                </a:solidFill>
              </a:defRPr>
            </a:lvl6pPr>
            <a:lvl7pPr>
              <a:buNone/>
              <a:defRPr sz="6000" b="1">
                <a:solidFill>
                  <a:srgbClr val="4C8835"/>
                </a:solidFill>
              </a:defRPr>
            </a:lvl7pPr>
            <a:lvl8pPr>
              <a:buNone/>
              <a:defRPr sz="6000" b="1">
                <a:solidFill>
                  <a:srgbClr val="4C8835"/>
                </a:solidFill>
              </a:defRPr>
            </a:lvl8pPr>
            <a:lvl9pPr>
              <a:buNone/>
              <a:defRPr sz="6000" b="1">
                <a:solidFill>
                  <a:srgbClr val="4C8835"/>
                </a:solidFill>
              </a:defRPr>
            </a:lvl9pPr>
          </a:lstStyle>
          <a:p xmlns:a="http://schemas.openxmlformats.org/drawingml/2006/main">
            <a:pPr>
              <a:buNone/>
              <a:defRPr sz="6000" b="1">
                <a:solidFill>
                  <a:srgbClr val="4C8835"/>
                </a:solidFill>
              </a:defRPr>
            </a:pPr>
            <a:r>
              <a:rPr sz="6000" b="1">
                <a:solidFill>
                  <a:srgbClr val="4C8835"/>
                </a:solidFill>
                <a:latin typeface="Arial"/>
                <a:ea typeface="Arial"/>
                <a:cs typeface="Arial"/>
              </a:rPr>
              <a:t>0 of 10</a:t>
            </a:r>
          </a:p>
        </p:txBody>
      </p:sp>
      <p:sp>
        <p:nvSpPr>
          <p:cNvPr id="1003" name="Generic unit">
            <a:extLst xmlns:a="http://schemas.openxmlformats.org/drawingml/2006/main">
              <a:ext uri="{FF2B5EF4-FFF2-40B4-BE49-F238E27FC236}">
                <a16:creationId xmlns:a16="http://schemas.microsoft.com/office/drawing/2014/main" id="{2AD8A496-21BA-479F-BC96-CC2461474ADA}"/>
              </a:ext>
            </a:extLst>
          </p:cNvPr>
          <p:cNvSpPr>
            <a:spLocks xmlns:a="http://schemas.openxmlformats.org/drawingml/2006/main" noGrp="1"/>
          </p:cNvSpPr>
          <p:nvPr/>
        </p:nvSpPr>
        <p:spPr>
          <a:xfrm xmlns:a="http://schemas.openxmlformats.org/drawingml/2006/main">
            <a:off x="1005840" y="3767328"/>
            <a:ext cx="466344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00" b="0">
                <a:solidFill>
                  <a:srgbClr val="33333A"/>
                </a:solidFill>
              </a:defRPr>
            </a:defPPr>
            <a:lvl1pPr>
              <a:buNone/>
              <a:defRPr sz="1900" b="0">
                <a:solidFill>
                  <a:srgbClr val="33333A"/>
                </a:solidFill>
              </a:defRPr>
            </a:lvl1pPr>
            <a:lvl2pPr>
              <a:buNone/>
              <a:defRPr sz="1900" b="0">
                <a:solidFill>
                  <a:srgbClr val="33333A"/>
                </a:solidFill>
              </a:defRPr>
            </a:lvl2pPr>
            <a:lvl3pPr>
              <a:buNone/>
              <a:defRPr sz="1900" b="0">
                <a:solidFill>
                  <a:srgbClr val="33333A"/>
                </a:solidFill>
              </a:defRPr>
            </a:lvl3pPr>
            <a:lvl4pPr>
              <a:buNone/>
              <a:defRPr sz="1900" b="0">
                <a:solidFill>
                  <a:srgbClr val="33333A"/>
                </a:solidFill>
              </a:defRPr>
            </a:lvl4pPr>
            <a:lvl5pPr>
              <a:buNone/>
              <a:defRPr sz="1900" b="0">
                <a:solidFill>
                  <a:srgbClr val="33333A"/>
                </a:solidFill>
              </a:defRPr>
            </a:lvl5pPr>
            <a:lvl6pPr>
              <a:buNone/>
              <a:defRPr sz="1900" b="0">
                <a:solidFill>
                  <a:srgbClr val="33333A"/>
                </a:solidFill>
              </a:defRPr>
            </a:lvl6pPr>
            <a:lvl7pPr>
              <a:buNone/>
              <a:defRPr sz="1900" b="0">
                <a:solidFill>
                  <a:srgbClr val="33333A"/>
                </a:solidFill>
              </a:defRPr>
            </a:lvl7pPr>
            <a:lvl8pPr>
              <a:buNone/>
              <a:defRPr sz="1900" b="0">
                <a:solidFill>
                  <a:srgbClr val="33333A"/>
                </a:solidFill>
              </a:defRPr>
            </a:lvl8pPr>
            <a:lvl9pPr>
              <a:buNone/>
              <a:defRPr sz="1900" b="0">
                <a:solidFill>
                  <a:srgbClr val="33333A"/>
                </a:solidFill>
              </a:defRPr>
            </a:lvl9pPr>
          </a:lstStyle>
          <a:p xmlns:a="http://schemas.openxmlformats.org/drawingml/2006/main">
            <a:pPr>
              <a:buNone/>
              <a:defRPr sz="1900" b="0">
                <a:solidFill>
                  <a:srgbClr val="33333A"/>
                </a:solidFill>
              </a:defRPr>
            </a:pPr>
            <a:r>
              <a:rPr sz="1900" b="0">
                <a:solidFill>
                  <a:srgbClr val="33333A"/>
                </a:solidFill>
                <a:latin typeface="Arial"/>
                <a:ea typeface="Arial"/>
                <a:cs typeface="Arial"/>
              </a:rPr>
              <a:t>reviews raised a false security alarm</a:t>
            </a:r>
          </a:p>
        </p:txBody>
      </p:sp>
      <p:sp>
        <p:nvSpPr>
          <p:cNvPr id="1004" name="Security label">
            <a:extLst xmlns:a="http://schemas.openxmlformats.org/drawingml/2006/main">
              <a:ext uri="{FF2B5EF4-FFF2-40B4-BE49-F238E27FC236}">
                <a16:creationId xmlns:a16="http://schemas.microsoft.com/office/drawing/2014/main" id="{9E8A7969-DA24-4F3F-937E-9F1F62F9CB96}"/>
              </a:ext>
            </a:extLst>
          </p:cNvPr>
          <p:cNvSpPr>
            <a:spLocks xmlns:a="http://schemas.openxmlformats.org/drawingml/2006/main" noGrp="1"/>
          </p:cNvSpPr>
          <p:nvPr/>
        </p:nvSpPr>
        <p:spPr>
          <a:xfrm xmlns:a="http://schemas.openxmlformats.org/drawingml/2006/main">
            <a:off x="6400800" y="2157984"/>
            <a:ext cx="4800600"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1">
                <a:solidFill>
                  <a:srgbClr val="0086B6"/>
                </a:solidFill>
              </a:defRPr>
            </a:defPPr>
            <a:lvl1pPr>
              <a:buNone/>
              <a:defRPr sz="1500" b="1">
                <a:solidFill>
                  <a:srgbClr val="0086B6"/>
                </a:solidFill>
              </a:defRPr>
            </a:lvl1pPr>
            <a:lvl2pPr>
              <a:buNone/>
              <a:defRPr sz="1500" b="1">
                <a:solidFill>
                  <a:srgbClr val="0086B6"/>
                </a:solidFill>
              </a:defRPr>
            </a:lvl2pPr>
            <a:lvl3pPr>
              <a:buNone/>
              <a:defRPr sz="1500" b="1">
                <a:solidFill>
                  <a:srgbClr val="0086B6"/>
                </a:solidFill>
              </a:defRPr>
            </a:lvl3pPr>
            <a:lvl4pPr>
              <a:buNone/>
              <a:defRPr sz="1500" b="1">
                <a:solidFill>
                  <a:srgbClr val="0086B6"/>
                </a:solidFill>
              </a:defRPr>
            </a:lvl4pPr>
            <a:lvl5pPr>
              <a:buNone/>
              <a:defRPr sz="1500" b="1">
                <a:solidFill>
                  <a:srgbClr val="0086B6"/>
                </a:solidFill>
              </a:defRPr>
            </a:lvl5pPr>
            <a:lvl6pPr>
              <a:buNone/>
              <a:defRPr sz="1500" b="1">
                <a:solidFill>
                  <a:srgbClr val="0086B6"/>
                </a:solidFill>
              </a:defRPr>
            </a:lvl6pPr>
            <a:lvl7pPr>
              <a:buNone/>
              <a:defRPr sz="1500" b="1">
                <a:solidFill>
                  <a:srgbClr val="0086B6"/>
                </a:solidFill>
              </a:defRPr>
            </a:lvl7pPr>
            <a:lvl8pPr>
              <a:buNone/>
              <a:defRPr sz="1500" b="1">
                <a:solidFill>
                  <a:srgbClr val="0086B6"/>
                </a:solidFill>
              </a:defRPr>
            </a:lvl8pPr>
            <a:lvl9pPr>
              <a:buNone/>
              <a:defRPr sz="1500" b="1">
                <a:solidFill>
                  <a:srgbClr val="0086B6"/>
                </a:solidFill>
              </a:defRPr>
            </a:lvl9pPr>
          </a:lstStyle>
          <a:p xmlns:a="http://schemas.openxmlformats.org/drawingml/2006/main">
            <a:pPr>
              <a:buNone/>
              <a:defRPr sz="1500" b="1">
                <a:solidFill>
                  <a:srgbClr val="0086B6"/>
                </a:solidFill>
              </a:defRPr>
            </a:pPr>
            <a:r>
              <a:rPr sz="1500" b="1">
                <a:solidFill>
                  <a:srgbClr val="0086B6"/>
                </a:solidFill>
                <a:latin typeface="Arial"/>
                <a:ea typeface="Arial"/>
                <a:cs typeface="Arial"/>
              </a:rPr>
              <a:t>SECURITY + EXISTING FLAWS</a:t>
            </a:r>
          </a:p>
        </p:txBody>
      </p:sp>
      <p:sp>
        <p:nvSpPr>
          <p:cNvPr id="1005" name="Security count">
            <a:extLst xmlns:a="http://schemas.openxmlformats.org/drawingml/2006/main">
              <a:ext uri="{FF2B5EF4-FFF2-40B4-BE49-F238E27FC236}">
                <a16:creationId xmlns:a16="http://schemas.microsoft.com/office/drawing/2014/main" id="{F3CB3D3A-5EC7-4008-9562-F6E2F75C5821}"/>
              </a:ext>
            </a:extLst>
          </p:cNvPr>
          <p:cNvSpPr>
            <a:spLocks xmlns:a="http://schemas.openxmlformats.org/drawingml/2006/main" noGrp="1"/>
          </p:cNvSpPr>
          <p:nvPr/>
        </p:nvSpPr>
        <p:spPr>
          <a:xfrm xmlns:a="http://schemas.openxmlformats.org/drawingml/2006/main">
            <a:off x="6400800" y="2715768"/>
            <a:ext cx="4800600" cy="8778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6000" b="1">
                <a:solidFill>
                  <a:srgbClr val="B76521"/>
                </a:solidFill>
              </a:defRPr>
            </a:defPPr>
            <a:lvl1pPr>
              <a:buNone/>
              <a:defRPr sz="6000" b="1">
                <a:solidFill>
                  <a:srgbClr val="B76521"/>
                </a:solidFill>
              </a:defRPr>
            </a:lvl1pPr>
            <a:lvl2pPr>
              <a:buNone/>
              <a:defRPr sz="6000" b="1">
                <a:solidFill>
                  <a:srgbClr val="B76521"/>
                </a:solidFill>
              </a:defRPr>
            </a:lvl2pPr>
            <a:lvl3pPr>
              <a:buNone/>
              <a:defRPr sz="6000" b="1">
                <a:solidFill>
                  <a:srgbClr val="B76521"/>
                </a:solidFill>
              </a:defRPr>
            </a:lvl3pPr>
            <a:lvl4pPr>
              <a:buNone/>
              <a:defRPr sz="6000" b="1">
                <a:solidFill>
                  <a:srgbClr val="B76521"/>
                </a:solidFill>
              </a:defRPr>
            </a:lvl4pPr>
            <a:lvl5pPr>
              <a:buNone/>
              <a:defRPr sz="6000" b="1">
                <a:solidFill>
                  <a:srgbClr val="B76521"/>
                </a:solidFill>
              </a:defRPr>
            </a:lvl5pPr>
            <a:lvl6pPr>
              <a:buNone/>
              <a:defRPr sz="6000" b="1">
                <a:solidFill>
                  <a:srgbClr val="B76521"/>
                </a:solidFill>
              </a:defRPr>
            </a:lvl6pPr>
            <a:lvl7pPr>
              <a:buNone/>
              <a:defRPr sz="6000" b="1">
                <a:solidFill>
                  <a:srgbClr val="B76521"/>
                </a:solidFill>
              </a:defRPr>
            </a:lvl7pPr>
            <a:lvl8pPr>
              <a:buNone/>
              <a:defRPr sz="6000" b="1">
                <a:solidFill>
                  <a:srgbClr val="B76521"/>
                </a:solidFill>
              </a:defRPr>
            </a:lvl8pPr>
            <a:lvl9pPr>
              <a:buNone/>
              <a:defRPr sz="6000" b="1">
                <a:solidFill>
                  <a:srgbClr val="B76521"/>
                </a:solidFill>
              </a:defRPr>
            </a:lvl9pPr>
          </a:lstStyle>
          <a:p xmlns:a="http://schemas.openxmlformats.org/drawingml/2006/main">
            <a:pPr>
              <a:buNone/>
              <a:defRPr sz="6000" b="1">
                <a:solidFill>
                  <a:srgbClr val="B76521"/>
                </a:solidFill>
              </a:defRPr>
            </a:pPr>
            <a:r>
              <a:rPr sz="6000" b="1">
                <a:solidFill>
                  <a:srgbClr val="B76521"/>
                </a:solidFill>
                <a:latin typeface="Arial"/>
                <a:ea typeface="Arial"/>
                <a:cs typeface="Arial"/>
              </a:rPr>
              <a:t>5 of 10</a:t>
            </a:r>
          </a:p>
        </p:txBody>
      </p:sp>
      <p:sp>
        <p:nvSpPr>
          <p:cNvPr id="1006" name="Security unit">
            <a:extLst xmlns:a="http://schemas.openxmlformats.org/drawingml/2006/main">
              <a:ext uri="{FF2B5EF4-FFF2-40B4-BE49-F238E27FC236}">
                <a16:creationId xmlns:a16="http://schemas.microsoft.com/office/drawing/2014/main" id="{1FA61562-9658-4B9B-9B49-EE9FFABABD8F}"/>
              </a:ext>
            </a:extLst>
          </p:cNvPr>
          <p:cNvSpPr>
            <a:spLocks xmlns:a="http://schemas.openxmlformats.org/drawingml/2006/main" noGrp="1"/>
          </p:cNvSpPr>
          <p:nvPr/>
        </p:nvSpPr>
        <p:spPr>
          <a:xfrm xmlns:a="http://schemas.openxmlformats.org/drawingml/2006/main">
            <a:off x="6400800" y="3767328"/>
            <a:ext cx="4800600" cy="73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00" b="0">
                <a:solidFill>
                  <a:srgbClr val="33333A"/>
                </a:solidFill>
              </a:defRPr>
            </a:defPPr>
            <a:lvl1pPr>
              <a:buNone/>
              <a:defRPr sz="1900" b="0">
                <a:solidFill>
                  <a:srgbClr val="33333A"/>
                </a:solidFill>
              </a:defRPr>
            </a:lvl1pPr>
            <a:lvl2pPr>
              <a:buNone/>
              <a:defRPr sz="1900" b="0">
                <a:solidFill>
                  <a:srgbClr val="33333A"/>
                </a:solidFill>
              </a:defRPr>
            </a:lvl2pPr>
            <a:lvl3pPr>
              <a:buNone/>
              <a:defRPr sz="1900" b="0">
                <a:solidFill>
                  <a:srgbClr val="33333A"/>
                </a:solidFill>
              </a:defRPr>
            </a:lvl3pPr>
            <a:lvl4pPr>
              <a:buNone/>
              <a:defRPr sz="1900" b="0">
                <a:solidFill>
                  <a:srgbClr val="33333A"/>
                </a:solidFill>
              </a:defRPr>
            </a:lvl4pPr>
            <a:lvl5pPr>
              <a:buNone/>
              <a:defRPr sz="1900" b="0">
                <a:solidFill>
                  <a:srgbClr val="33333A"/>
                </a:solidFill>
              </a:defRPr>
            </a:lvl5pPr>
            <a:lvl6pPr>
              <a:buNone/>
              <a:defRPr sz="1900" b="0">
                <a:solidFill>
                  <a:srgbClr val="33333A"/>
                </a:solidFill>
              </a:defRPr>
            </a:lvl6pPr>
            <a:lvl7pPr>
              <a:buNone/>
              <a:defRPr sz="1900" b="0">
                <a:solidFill>
                  <a:srgbClr val="33333A"/>
                </a:solidFill>
              </a:defRPr>
            </a:lvl7pPr>
            <a:lvl8pPr>
              <a:buNone/>
              <a:defRPr sz="1900" b="0">
                <a:solidFill>
                  <a:srgbClr val="33333A"/>
                </a:solidFill>
              </a:defRPr>
            </a:lvl8pPr>
            <a:lvl9pPr>
              <a:buNone/>
              <a:defRPr sz="1900" b="0">
                <a:solidFill>
                  <a:srgbClr val="33333A"/>
                </a:solidFill>
              </a:defRPr>
            </a:lvl9pPr>
          </a:lstStyle>
          <a:p xmlns:a="http://schemas.openxmlformats.org/drawingml/2006/main">
            <a:pPr>
              <a:buNone/>
              <a:defRPr sz="1900" b="0">
                <a:solidFill>
                  <a:srgbClr val="33333A"/>
                </a:solidFill>
              </a:defRPr>
            </a:pPr>
            <a:r>
              <a:rPr sz="1900" b="0">
                <a:solidFill>
                  <a:srgbClr val="33333A"/>
                </a:solidFill>
                <a:latin typeface="Arial"/>
                <a:ea typeface="Arial"/>
                <a:cs typeface="Arial"/>
              </a:rPr>
              <a:t>reviews raised a false security alarm</a:t>
            </a:r>
            <a:br>
              <a:rPr sz="1900" b="0">
                <a:solidFill>
                  <a:srgbClr val="33333A"/>
                </a:solidFill>
                <a:latin typeface="Arial"/>
                <a:ea typeface="Arial"/>
                <a:cs typeface="Arial"/>
              </a:rPr>
            </a:br>
            <a:r>
              <a:rPr sz="1900" b="0">
                <a:solidFill>
                  <a:srgbClr val="33333A"/>
                </a:solidFill>
                <a:latin typeface="Arial"/>
                <a:ea typeface="Arial"/>
                <a:cs typeface="Arial"/>
              </a:rPr>
              <a:t>2 of 10 included Medium or higher</a:t>
            </a:r>
          </a:p>
        </p:txBody>
      </p:sp>
      <p:sp>
        <p:nvSpPr>
          <p:cNvPr id="1007" name="Audience discussion">
            <a:extLst xmlns:a="http://schemas.openxmlformats.org/drawingml/2006/main">
              <a:ext uri="{FF2B5EF4-FFF2-40B4-BE49-F238E27FC236}">
                <a16:creationId xmlns:a16="http://schemas.microsoft.com/office/drawing/2014/main" id="{0DF0D688-0771-400D-BC9C-CED28FE71BCA}"/>
              </a:ext>
            </a:extLst>
          </p:cNvPr>
          <p:cNvSpPr>
            <a:spLocks xmlns:a="http://schemas.openxmlformats.org/drawingml/2006/main" noGrp="1"/>
          </p:cNvSpPr>
          <p:nvPr/>
        </p:nvSpPr>
        <p:spPr>
          <a:xfrm xmlns:a="http://schemas.openxmlformats.org/drawingml/2006/main">
            <a:off x="812902" y="5010912"/>
            <a:ext cx="1056132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500" b="1">
                <a:solidFill>
                  <a:srgbClr val="33333A"/>
                </a:solidFill>
              </a:defRPr>
            </a:defPPr>
            <a:lvl1pPr>
              <a:buNone/>
              <a:defRPr sz="2500" b="1">
                <a:solidFill>
                  <a:srgbClr val="33333A"/>
                </a:solidFill>
              </a:defRPr>
            </a:lvl1pPr>
            <a:lvl2pPr>
              <a:buNone/>
              <a:defRPr sz="2500" b="1">
                <a:solidFill>
                  <a:srgbClr val="33333A"/>
                </a:solidFill>
              </a:defRPr>
            </a:lvl2pPr>
            <a:lvl3pPr>
              <a:buNone/>
              <a:defRPr sz="2500" b="1">
                <a:solidFill>
                  <a:srgbClr val="33333A"/>
                </a:solidFill>
              </a:defRPr>
            </a:lvl3pPr>
            <a:lvl4pPr>
              <a:buNone/>
              <a:defRPr sz="2500" b="1">
                <a:solidFill>
                  <a:srgbClr val="33333A"/>
                </a:solidFill>
              </a:defRPr>
            </a:lvl4pPr>
            <a:lvl5pPr>
              <a:buNone/>
              <a:defRPr sz="2500" b="1">
                <a:solidFill>
                  <a:srgbClr val="33333A"/>
                </a:solidFill>
              </a:defRPr>
            </a:lvl5pPr>
            <a:lvl6pPr>
              <a:buNone/>
              <a:defRPr sz="2500" b="1">
                <a:solidFill>
                  <a:srgbClr val="33333A"/>
                </a:solidFill>
              </a:defRPr>
            </a:lvl6pPr>
            <a:lvl7pPr>
              <a:buNone/>
              <a:defRPr sz="2500" b="1">
                <a:solidFill>
                  <a:srgbClr val="33333A"/>
                </a:solidFill>
              </a:defRPr>
            </a:lvl7pPr>
            <a:lvl8pPr>
              <a:buNone/>
              <a:defRPr sz="2500" b="1">
                <a:solidFill>
                  <a:srgbClr val="33333A"/>
                </a:solidFill>
              </a:defRPr>
            </a:lvl8pPr>
            <a:lvl9pPr>
              <a:buNone/>
              <a:defRPr sz="2500" b="1">
                <a:solidFill>
                  <a:srgbClr val="33333A"/>
                </a:solidFill>
              </a:defRPr>
            </a:lvl9pPr>
          </a:lstStyle>
          <a:p xmlns:a="http://schemas.openxmlformats.org/drawingml/2006/main">
            <a:pPr>
              <a:buNone/>
              <a:defRPr sz="2500" b="1">
                <a:solidFill>
                  <a:srgbClr val="33333A"/>
                </a:solidFill>
              </a:defRPr>
            </a:pPr>
            <a:r>
              <a:rPr sz="2500" b="1">
                <a:solidFill>
                  <a:srgbClr val="33333A"/>
                </a:solidFill>
                <a:latin typeface="Arial"/>
                <a:ea typeface="Arial"/>
                <a:cs typeface="Arial"/>
              </a:rPr>
              <a:t>What false-alarm burden would your team accept?</a:t>
            </a:r>
          </a:p>
        </p:txBody>
      </p:sp>
      <p:sp>
        <p:nvSpPr>
          <p:cNvPr id="1008" name="Unmeasured">
            <a:extLst xmlns:a="http://schemas.openxmlformats.org/drawingml/2006/main">
              <a:ext uri="{FF2B5EF4-FFF2-40B4-BE49-F238E27FC236}">
                <a16:creationId xmlns:a16="http://schemas.microsoft.com/office/drawing/2014/main" id="{FE814FA2-1B21-4ECE-A3E4-D678A103B580}"/>
              </a:ext>
            </a:extLst>
          </p:cNvPr>
          <p:cNvSpPr>
            <a:spLocks xmlns:a="http://schemas.openxmlformats.org/drawingml/2006/main" noGrp="1"/>
          </p:cNvSpPr>
          <p:nvPr/>
        </p:nvSpPr>
        <p:spPr>
          <a:xfrm xmlns:a="http://schemas.openxmlformats.org/drawingml/2006/main">
            <a:off x="812902" y="5687568"/>
            <a:ext cx="10561320" cy="502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6B6B73"/>
                </a:solidFill>
              </a:defRPr>
            </a:defPPr>
            <a:lvl1pPr>
              <a:buNone/>
              <a:defRPr sz="1500" b="0">
                <a:solidFill>
                  <a:srgbClr val="6B6B73"/>
                </a:solidFill>
              </a:defRPr>
            </a:lvl1pPr>
            <a:lvl2pPr>
              <a:buNone/>
              <a:defRPr sz="1500" b="0">
                <a:solidFill>
                  <a:srgbClr val="6B6B73"/>
                </a:solidFill>
              </a:defRPr>
            </a:lvl2pPr>
            <a:lvl3pPr>
              <a:buNone/>
              <a:defRPr sz="1500" b="0">
                <a:solidFill>
                  <a:srgbClr val="6B6B73"/>
                </a:solidFill>
              </a:defRPr>
            </a:lvl3pPr>
            <a:lvl4pPr>
              <a:buNone/>
              <a:defRPr sz="1500" b="0">
                <a:solidFill>
                  <a:srgbClr val="6B6B73"/>
                </a:solidFill>
              </a:defRPr>
            </a:lvl4pPr>
            <a:lvl5pPr>
              <a:buNone/>
              <a:defRPr sz="1500" b="0">
                <a:solidFill>
                  <a:srgbClr val="6B6B73"/>
                </a:solidFill>
              </a:defRPr>
            </a:lvl5pPr>
            <a:lvl6pPr>
              <a:buNone/>
              <a:defRPr sz="1500" b="0">
                <a:solidFill>
                  <a:srgbClr val="6B6B73"/>
                </a:solidFill>
              </a:defRPr>
            </a:lvl6pPr>
            <a:lvl7pPr>
              <a:buNone/>
              <a:defRPr sz="1500" b="0">
                <a:solidFill>
                  <a:srgbClr val="6B6B73"/>
                </a:solidFill>
              </a:defRPr>
            </a:lvl7pPr>
            <a:lvl8pPr>
              <a:buNone/>
              <a:defRPr sz="1500" b="0">
                <a:solidFill>
                  <a:srgbClr val="6B6B73"/>
                </a:solidFill>
              </a:defRPr>
            </a:lvl8pPr>
            <a:lvl9pPr>
              <a:buNone/>
              <a:defRPr sz="1500" b="0">
                <a:solidFill>
                  <a:srgbClr val="6B6B73"/>
                </a:solidFill>
              </a:defRPr>
            </a:lvl9pPr>
          </a:lstStyle>
          <a:p xmlns:a="http://schemas.openxmlformats.org/drawingml/2006/main">
            <a:pPr>
              <a:buNone/>
              <a:defRPr sz="1500" b="0">
                <a:solidFill>
                  <a:srgbClr val="6B6B73"/>
                </a:solidFill>
              </a:defRPr>
            </a:pPr>
            <a:r>
              <a:rPr sz="1500" b="0">
                <a:solidFill>
                  <a:srgbClr val="6B6B73"/>
                </a:solidFill>
                <a:latin typeface="Arial"/>
                <a:ea typeface="Arial"/>
                <a:cs typeface="Arial"/>
              </a:rPr>
              <a:t>Later control runs: with context, 1/30 generic vs 20/30 security; PDF security card, 7/15. Human verification pending.</a:t>
            </a:r>
          </a:p>
        </p:txBody>
      </p:sp>
    </p:spTree>
    <p:extLst>
      <p:ext uri="{BB962C8B-B14F-4D97-AF65-F5344CB8AC3E}">
        <p14:creationId xmlns:p14="http://schemas.microsoft.com/office/powerpoint/2010/main" val="1448282160"/>
      </p:ext>
    </p:extLst>
  </p:cSld>
</p:sld>
</file>

<file path=ppt/slides/slide21.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6CB5AA28-02B1-45EB-92F2-2358D33CC711}"/>
              </a:ext>
            </a:extLst>
          </p:cNvPr>
          <p:cNvPicPr>
            <a:picLocks xmlns:a="http://schemas.openxmlformats.org/drawingml/2006/main" noChangeAspect="1"/>
          </p:cNvPicPr>
          <p:nvPr/>
        </p:nvPicPr>
        <p:blipFill>
          <a:blip xmlns:r="http://schemas.openxmlformats.org/officeDocument/2006/relationships" xmlns:a="http://schemas.openxmlformats.org/drawingml/2006/main" r:embed="R6349a335215a47eb"/>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7CADD0AF-6E1B-439B-BB48-45D9FEA4542D}"/>
              </a:ext>
            </a:extLst>
          </p:cNvPr>
          <p:cNvPicPr>
            <a:picLocks xmlns:a="http://schemas.openxmlformats.org/drawingml/2006/main" noChangeAspect="1"/>
          </p:cNvPicPr>
          <p:nvPr/>
        </p:nvPicPr>
        <p:blipFill>
          <a:blip xmlns:r="http://schemas.openxmlformats.org/officeDocument/2006/relationships" xmlns:a="http://schemas.openxmlformats.org/drawingml/2006/main" r:embed="R655a2875116a43e4"/>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A6FC5495-6FC3-41F9-9B2C-F6DAE51D75CE}"/>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pic>
        <p:nvPicPr>
          <p:cNvPr id="5" name="Picture 4">
            <a:extLst xmlns:a="http://schemas.openxmlformats.org/drawingml/2006/main">
              <a:ext uri="{FF2B5EF4-FFF2-40B4-BE49-F238E27FC236}">
                <a16:creationId xmlns:a16="http://schemas.microsoft.com/office/drawing/2014/main" id="{A2A9ED40-D873-4169-9B9A-2C2142C956CC}"/>
              </a:ext>
            </a:extLst>
          </p:cNvPr>
          <p:cNvPicPr>
            <a:picLocks xmlns:a="http://schemas.openxmlformats.org/drawingml/2006/main" noChangeAspect="1"/>
          </p:cNvPicPr>
          <p:nvPr/>
        </p:nvPicPr>
        <p:blipFill>
          <a:blip xmlns:r="http://schemas.openxmlformats.org/officeDocument/2006/relationships" xmlns:a="http://schemas.openxmlformats.org/drawingml/2006/main" r:embed="R860fad66be204abb"/>
          <a:stretch xmlns:a="http://schemas.openxmlformats.org/drawingml/2006/main">
            <a:fillRect l="0" t="0" r="0" b="0"/>
          </a:stretch>
        </p:blipFill>
        <p:spPr>
          <a:xfrm xmlns:a="http://schemas.openxmlformats.org/drawingml/2006/main">
            <a:off x="8905875" y="2114550"/>
            <a:ext cx="2047875" cy="1072186"/>
          </a:xfrm>
          <a:prstGeom xmlns:a="http://schemas.openxmlformats.org/drawingml/2006/main" prst="rect">
            <a:avLst/>
          </a:prstGeom>
        </p:spPr>
      </p:pic>
      <p:sp>
        <p:nvSpPr>
          <p:cNvPr id="2022" name="title">
            <a:extLst xmlns:a="http://schemas.openxmlformats.org/drawingml/2006/main">
              <a:ext uri="{FF2B5EF4-FFF2-40B4-BE49-F238E27FC236}">
                <a16:creationId xmlns:a16="http://schemas.microsoft.com/office/drawing/2014/main" id="{6DC3FB6C-9A22-4E2D-ADA8-B55CCB58D461}"/>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OpenTelemetry: follow the request</a:t>
            </a:r>
          </a:p>
        </p:txBody>
      </p:sp>
      <p:sp>
        <p:nvSpPr>
          <p:cNvPr id="2002" name="subtitle">
            <a:extLst xmlns:a="http://schemas.openxmlformats.org/drawingml/2006/main">
              <a:ext uri="{FF2B5EF4-FFF2-40B4-BE49-F238E27FC236}">
                <a16:creationId xmlns:a16="http://schemas.microsoft.com/office/drawing/2014/main" id="{F58BF4B1-ADB0-4CE7-BB04-B03970624F2C}"/>
              </a:ext>
            </a:extLst>
          </p:cNvPr>
          <p:cNvSpPr>
            <a:spLocks xmlns:a="http://schemas.openxmlformats.org/drawingml/2006/main" noGrp="1"/>
          </p:cNvSpPr>
          <p:nvPr/>
        </p:nvSpPr>
        <p:spPr>
          <a:xfrm xmlns:a="http://schemas.openxmlformats.org/drawingml/2006/main">
            <a:off x="812864" y="14097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A trace connects services. Each timed operation is a span.</a:t>
            </a:r>
          </a:p>
        </p:txBody>
      </p:sp>
      <p:sp>
        <p:nvSpPr>
          <p:cNvPr id="2003" name="trace and spans">
            <a:extLst xmlns:a="http://schemas.openxmlformats.org/drawingml/2006/main">
              <a:ext uri="{FF2B5EF4-FFF2-40B4-BE49-F238E27FC236}">
                <a16:creationId xmlns:a16="http://schemas.microsoft.com/office/drawing/2014/main" id="{B84EF2EA-6CD1-4E7E-AAB5-59D044368833}"/>
              </a:ext>
            </a:extLst>
          </p:cNvPr>
          <p:cNvSpPr>
            <a:spLocks xmlns:a="http://schemas.openxmlformats.org/drawingml/2006/main" noGrp="1"/>
          </p:cNvSpPr>
          <p:nvPr/>
        </p:nvSpPr>
        <p:spPr>
          <a:xfrm xmlns:a="http://schemas.openxmlformats.org/drawingml/2006/main">
            <a:off x="812864" y="2133600"/>
            <a:ext cx="685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1">
                <a:solidFill>
                  <a:srgbClr val="0086AC"/>
                </a:solidFill>
              </a:defRPr>
            </a:defPPr>
            <a:lvl1pPr algn="l">
              <a:buNone/>
              <a:defRPr sz="1875" b="1">
                <a:solidFill>
                  <a:srgbClr val="0086AC"/>
                </a:solidFill>
              </a:defRPr>
            </a:lvl1pPr>
            <a:lvl2pPr algn="l">
              <a:buNone/>
              <a:defRPr sz="1875" b="1">
                <a:solidFill>
                  <a:srgbClr val="0086AC"/>
                </a:solidFill>
              </a:defRPr>
            </a:lvl2pPr>
            <a:lvl3pPr algn="l">
              <a:buNone/>
              <a:defRPr sz="1875" b="1">
                <a:solidFill>
                  <a:srgbClr val="0086AC"/>
                </a:solidFill>
              </a:defRPr>
            </a:lvl3pPr>
            <a:lvl4pPr algn="l">
              <a:buNone/>
              <a:defRPr sz="1875" b="1">
                <a:solidFill>
                  <a:srgbClr val="0086AC"/>
                </a:solidFill>
              </a:defRPr>
            </a:lvl4pPr>
            <a:lvl5pPr algn="l">
              <a:buNone/>
              <a:defRPr sz="1875" b="1">
                <a:solidFill>
                  <a:srgbClr val="0086AC"/>
                </a:solidFill>
              </a:defRPr>
            </a:lvl5pPr>
            <a:lvl6pPr algn="l">
              <a:buNone/>
              <a:defRPr sz="1875" b="1">
                <a:solidFill>
                  <a:srgbClr val="0086AC"/>
                </a:solidFill>
              </a:defRPr>
            </a:lvl6pPr>
            <a:lvl7pPr algn="l">
              <a:buNone/>
              <a:defRPr sz="1875" b="1">
                <a:solidFill>
                  <a:srgbClr val="0086AC"/>
                </a:solidFill>
              </a:defRPr>
            </a:lvl7pPr>
            <a:lvl8pPr algn="l">
              <a:buNone/>
              <a:defRPr sz="1875" b="1">
                <a:solidFill>
                  <a:srgbClr val="0086AC"/>
                </a:solidFill>
              </a:defRPr>
            </a:lvl8pPr>
            <a:lvl9pPr algn="l">
              <a:buNone/>
              <a:defRPr sz="1875" b="1">
                <a:solidFill>
                  <a:srgbClr val="0086AC"/>
                </a:solidFill>
              </a:defRPr>
            </a:lvl9pPr>
          </a:lstStyle>
          <a:p xmlns:a="http://schemas.openxmlformats.org/drawingml/2006/main">
            <a:pPr algn="l">
              <a:buNone/>
              <a:defRPr sz="1875" b="1">
                <a:solidFill>
                  <a:srgbClr val="0086AC"/>
                </a:solidFill>
              </a:defRPr>
            </a:pPr>
            <a:r>
              <a:rPr sz="1875" b="1">
                <a:solidFill>
                  <a:srgbClr val="0086AC"/>
                </a:solidFill>
              </a:rPr>
              <a:t>One trace, three spans</a:t>
            </a:r>
          </a:p>
        </p:txBody>
      </p:sp>
      <p:sp>
        <p:nvSpPr>
          <p:cNvPr id="2004" name="span 0">
            <a:extLst xmlns:a="http://schemas.openxmlformats.org/drawingml/2006/main">
              <a:ext uri="{FF2B5EF4-FFF2-40B4-BE49-F238E27FC236}">
                <a16:creationId xmlns:a16="http://schemas.microsoft.com/office/drawing/2014/main" id="{63EC4C33-5879-40AB-8479-5ACBE8BB8247}"/>
              </a:ext>
            </a:extLst>
          </p:cNvPr>
          <p:cNvSpPr>
            <a:spLocks xmlns:a="http://schemas.openxmlformats.org/drawingml/2006/main" noGrp="1"/>
          </p:cNvSpPr>
          <p:nvPr/>
        </p:nvSpPr>
        <p:spPr>
          <a:xfrm xmlns:a="http://schemas.openxmlformats.org/drawingml/2006/main">
            <a:off x="812864" y="2686050"/>
            <a:ext cx="6858000" cy="514350"/>
          </a:xfrm>
          <a:prstGeom xmlns:a="http://schemas.openxmlformats.org/drawingml/2006/main" prst="rect">
            <a:avLst/>
          </a:prstGeom>
          <a:solidFill xmlns:a="http://schemas.openxmlformats.org/drawingml/2006/main">
            <a:srgbClr val="0086A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05" name="span label 0">
            <a:extLst xmlns:a="http://schemas.openxmlformats.org/drawingml/2006/main">
              <a:ext uri="{FF2B5EF4-FFF2-40B4-BE49-F238E27FC236}">
                <a16:creationId xmlns:a16="http://schemas.microsoft.com/office/drawing/2014/main" id="{FC0EC9FF-B979-416C-8125-0FDF4E8A9322}"/>
              </a:ext>
            </a:extLst>
          </p:cNvPr>
          <p:cNvSpPr>
            <a:spLocks xmlns:a="http://schemas.openxmlformats.org/drawingml/2006/main" noGrp="1"/>
          </p:cNvSpPr>
          <p:nvPr/>
        </p:nvSpPr>
        <p:spPr>
          <a:xfrm xmlns:a="http://schemas.openxmlformats.org/drawingml/2006/main">
            <a:off x="974789" y="2733675"/>
            <a:ext cx="6534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FFFFFF"/>
                </a:solidFill>
              </a:defRPr>
            </a:defPPr>
            <a:lvl1pPr algn="l">
              <a:buNone/>
              <a:defRPr sz="2025" b="1">
                <a:solidFill>
                  <a:srgbClr val="FFFFFF"/>
                </a:solidFill>
              </a:defRPr>
            </a:lvl1pPr>
            <a:lvl2pPr algn="l">
              <a:buNone/>
              <a:defRPr sz="2025" b="1">
                <a:solidFill>
                  <a:srgbClr val="FFFFFF"/>
                </a:solidFill>
              </a:defRPr>
            </a:lvl2pPr>
            <a:lvl3pPr algn="l">
              <a:buNone/>
              <a:defRPr sz="2025" b="1">
                <a:solidFill>
                  <a:srgbClr val="FFFFFF"/>
                </a:solidFill>
              </a:defRPr>
            </a:lvl3pPr>
            <a:lvl4pPr algn="l">
              <a:buNone/>
              <a:defRPr sz="2025" b="1">
                <a:solidFill>
                  <a:srgbClr val="FFFFFF"/>
                </a:solidFill>
              </a:defRPr>
            </a:lvl4pPr>
            <a:lvl5pPr algn="l">
              <a:buNone/>
              <a:defRPr sz="2025" b="1">
                <a:solidFill>
                  <a:srgbClr val="FFFFFF"/>
                </a:solidFill>
              </a:defRPr>
            </a:lvl5pPr>
            <a:lvl6pPr algn="l">
              <a:buNone/>
              <a:defRPr sz="2025" b="1">
                <a:solidFill>
                  <a:srgbClr val="FFFFFF"/>
                </a:solidFill>
              </a:defRPr>
            </a:lvl6pPr>
            <a:lvl7pPr algn="l">
              <a:buNone/>
              <a:defRPr sz="2025" b="1">
                <a:solidFill>
                  <a:srgbClr val="FFFFFF"/>
                </a:solidFill>
              </a:defRPr>
            </a:lvl7pPr>
            <a:lvl8pPr algn="l">
              <a:buNone/>
              <a:defRPr sz="2025" b="1">
                <a:solidFill>
                  <a:srgbClr val="FFFFFF"/>
                </a:solidFill>
              </a:defRPr>
            </a:lvl8pPr>
            <a:lvl9pPr algn="l">
              <a:buNone/>
              <a:defRPr sz="2025" b="1">
                <a:solidFill>
                  <a:srgbClr val="FFFFFF"/>
                </a:solidFill>
              </a:defRPr>
            </a:lvl9pPr>
          </a:lstStyle>
          <a:p xmlns:a="http://schemas.openxmlformats.org/drawingml/2006/main">
            <a:pPr algn="l">
              <a:buNone/>
              <a:defRPr sz="2025" b="1">
                <a:solidFill>
                  <a:srgbClr val="FFFFFF"/>
                </a:solidFill>
              </a:defRPr>
            </a:pPr>
            <a:r>
              <a:rPr sz="2025" b="1">
                <a:solidFill>
                  <a:srgbClr val="FFFFFF"/>
                </a:solidFill>
              </a:rPr>
              <a:t>Portal request</a:t>
            </a:r>
          </a:p>
        </p:txBody>
      </p:sp>
      <p:sp>
        <p:nvSpPr>
          <p:cNvPr id="2006" name="span 1">
            <a:extLst xmlns:a="http://schemas.openxmlformats.org/drawingml/2006/main">
              <a:ext uri="{FF2B5EF4-FFF2-40B4-BE49-F238E27FC236}">
                <a16:creationId xmlns:a16="http://schemas.microsoft.com/office/drawing/2014/main" id="{9CFD31DD-2E3A-4F2A-A4CB-E02683C32739}"/>
              </a:ext>
            </a:extLst>
          </p:cNvPr>
          <p:cNvSpPr>
            <a:spLocks xmlns:a="http://schemas.openxmlformats.org/drawingml/2006/main" noGrp="1"/>
          </p:cNvSpPr>
          <p:nvPr/>
        </p:nvSpPr>
        <p:spPr>
          <a:xfrm xmlns:a="http://schemas.openxmlformats.org/drawingml/2006/main">
            <a:off x="1765364" y="3448050"/>
            <a:ext cx="5238750" cy="514350"/>
          </a:xfrm>
          <a:prstGeom xmlns:a="http://schemas.openxmlformats.org/drawingml/2006/main" prst="rect">
            <a:avLst/>
          </a:prstGeom>
          <a:solidFill xmlns:a="http://schemas.openxmlformats.org/drawingml/2006/main">
            <a:srgbClr val="5965A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07" name="span label 1">
            <a:extLst xmlns:a="http://schemas.openxmlformats.org/drawingml/2006/main">
              <a:ext uri="{FF2B5EF4-FFF2-40B4-BE49-F238E27FC236}">
                <a16:creationId xmlns:a16="http://schemas.microsoft.com/office/drawing/2014/main" id="{DDBEA451-E88D-4C47-BA4D-D5C52F4D1D20}"/>
              </a:ext>
            </a:extLst>
          </p:cNvPr>
          <p:cNvSpPr>
            <a:spLocks xmlns:a="http://schemas.openxmlformats.org/drawingml/2006/main" noGrp="1"/>
          </p:cNvSpPr>
          <p:nvPr/>
        </p:nvSpPr>
        <p:spPr>
          <a:xfrm xmlns:a="http://schemas.openxmlformats.org/drawingml/2006/main">
            <a:off x="1927289" y="3495675"/>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FFFFFF"/>
                </a:solidFill>
              </a:defRPr>
            </a:defPPr>
            <a:lvl1pPr algn="l">
              <a:buNone/>
              <a:defRPr sz="2025" b="1">
                <a:solidFill>
                  <a:srgbClr val="FFFFFF"/>
                </a:solidFill>
              </a:defRPr>
            </a:lvl1pPr>
            <a:lvl2pPr algn="l">
              <a:buNone/>
              <a:defRPr sz="2025" b="1">
                <a:solidFill>
                  <a:srgbClr val="FFFFFF"/>
                </a:solidFill>
              </a:defRPr>
            </a:lvl2pPr>
            <a:lvl3pPr algn="l">
              <a:buNone/>
              <a:defRPr sz="2025" b="1">
                <a:solidFill>
                  <a:srgbClr val="FFFFFF"/>
                </a:solidFill>
              </a:defRPr>
            </a:lvl3pPr>
            <a:lvl4pPr algn="l">
              <a:buNone/>
              <a:defRPr sz="2025" b="1">
                <a:solidFill>
                  <a:srgbClr val="FFFFFF"/>
                </a:solidFill>
              </a:defRPr>
            </a:lvl4pPr>
            <a:lvl5pPr algn="l">
              <a:buNone/>
              <a:defRPr sz="2025" b="1">
                <a:solidFill>
                  <a:srgbClr val="FFFFFF"/>
                </a:solidFill>
              </a:defRPr>
            </a:lvl5pPr>
            <a:lvl6pPr algn="l">
              <a:buNone/>
              <a:defRPr sz="2025" b="1">
                <a:solidFill>
                  <a:srgbClr val="FFFFFF"/>
                </a:solidFill>
              </a:defRPr>
            </a:lvl6pPr>
            <a:lvl7pPr algn="l">
              <a:buNone/>
              <a:defRPr sz="2025" b="1">
                <a:solidFill>
                  <a:srgbClr val="FFFFFF"/>
                </a:solidFill>
              </a:defRPr>
            </a:lvl7pPr>
            <a:lvl8pPr algn="l">
              <a:buNone/>
              <a:defRPr sz="2025" b="1">
                <a:solidFill>
                  <a:srgbClr val="FFFFFF"/>
                </a:solidFill>
              </a:defRPr>
            </a:lvl8pPr>
            <a:lvl9pPr algn="l">
              <a:buNone/>
              <a:defRPr sz="2025" b="1">
                <a:solidFill>
                  <a:srgbClr val="FFFFFF"/>
                </a:solidFill>
              </a:defRPr>
            </a:lvl9pPr>
          </a:lstStyle>
          <a:p xmlns:a="http://schemas.openxmlformats.org/drawingml/2006/main">
            <a:pPr algn="l">
              <a:buNone/>
              <a:defRPr sz="2025" b="1">
                <a:solidFill>
                  <a:srgbClr val="FFFFFF"/>
                </a:solidFill>
              </a:defRPr>
            </a:pPr>
            <a:r>
              <a:rPr sz="2025" b="1">
                <a:solidFill>
                  <a:srgbClr val="FFFFFF"/>
                </a:solidFill>
              </a:rPr>
              <a:t>Payment service</a:t>
            </a:r>
          </a:p>
        </p:txBody>
      </p:sp>
      <p:sp>
        <p:nvSpPr>
          <p:cNvPr id="2008" name="span 2">
            <a:extLst xmlns:a="http://schemas.openxmlformats.org/drawingml/2006/main">
              <a:ext uri="{FF2B5EF4-FFF2-40B4-BE49-F238E27FC236}">
                <a16:creationId xmlns:a16="http://schemas.microsoft.com/office/drawing/2014/main" id="{B174677E-FBE4-455D-9A3F-D51F6B231D77}"/>
              </a:ext>
            </a:extLst>
          </p:cNvPr>
          <p:cNvSpPr>
            <a:spLocks xmlns:a="http://schemas.openxmlformats.org/drawingml/2006/main" noGrp="1"/>
          </p:cNvSpPr>
          <p:nvPr/>
        </p:nvSpPr>
        <p:spPr>
          <a:xfrm xmlns:a="http://schemas.openxmlformats.org/drawingml/2006/main">
            <a:off x="3336988" y="4210050"/>
            <a:ext cx="2762250" cy="514350"/>
          </a:xfrm>
          <a:prstGeom xmlns:a="http://schemas.openxmlformats.org/drawingml/2006/main" prst="rect">
            <a:avLst/>
          </a:prstGeom>
          <a:solidFill xmlns:a="http://schemas.openxmlformats.org/drawingml/2006/main">
            <a:srgbClr val="4F8734"/>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09" name="span label 2">
            <a:extLst xmlns:a="http://schemas.openxmlformats.org/drawingml/2006/main">
              <a:ext uri="{FF2B5EF4-FFF2-40B4-BE49-F238E27FC236}">
                <a16:creationId xmlns:a16="http://schemas.microsoft.com/office/drawing/2014/main" id="{DFC6EA9F-73CF-4440-8CD3-BA93E588712E}"/>
              </a:ext>
            </a:extLst>
          </p:cNvPr>
          <p:cNvSpPr>
            <a:spLocks xmlns:a="http://schemas.openxmlformats.org/drawingml/2006/main" noGrp="1"/>
          </p:cNvSpPr>
          <p:nvPr/>
        </p:nvSpPr>
        <p:spPr>
          <a:xfrm xmlns:a="http://schemas.openxmlformats.org/drawingml/2006/main">
            <a:off x="3498913" y="4257675"/>
            <a:ext cx="2438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FFFFFF"/>
                </a:solidFill>
              </a:defRPr>
            </a:defPPr>
            <a:lvl1pPr algn="l">
              <a:buNone/>
              <a:defRPr sz="2025" b="1">
                <a:solidFill>
                  <a:srgbClr val="FFFFFF"/>
                </a:solidFill>
              </a:defRPr>
            </a:lvl1pPr>
            <a:lvl2pPr algn="l">
              <a:buNone/>
              <a:defRPr sz="2025" b="1">
                <a:solidFill>
                  <a:srgbClr val="FFFFFF"/>
                </a:solidFill>
              </a:defRPr>
            </a:lvl2pPr>
            <a:lvl3pPr algn="l">
              <a:buNone/>
              <a:defRPr sz="2025" b="1">
                <a:solidFill>
                  <a:srgbClr val="FFFFFF"/>
                </a:solidFill>
              </a:defRPr>
            </a:lvl3pPr>
            <a:lvl4pPr algn="l">
              <a:buNone/>
              <a:defRPr sz="2025" b="1">
                <a:solidFill>
                  <a:srgbClr val="FFFFFF"/>
                </a:solidFill>
              </a:defRPr>
            </a:lvl4pPr>
            <a:lvl5pPr algn="l">
              <a:buNone/>
              <a:defRPr sz="2025" b="1">
                <a:solidFill>
                  <a:srgbClr val="FFFFFF"/>
                </a:solidFill>
              </a:defRPr>
            </a:lvl5pPr>
            <a:lvl6pPr algn="l">
              <a:buNone/>
              <a:defRPr sz="2025" b="1">
                <a:solidFill>
                  <a:srgbClr val="FFFFFF"/>
                </a:solidFill>
              </a:defRPr>
            </a:lvl6pPr>
            <a:lvl7pPr algn="l">
              <a:buNone/>
              <a:defRPr sz="2025" b="1">
                <a:solidFill>
                  <a:srgbClr val="FFFFFF"/>
                </a:solidFill>
              </a:defRPr>
            </a:lvl7pPr>
            <a:lvl8pPr algn="l">
              <a:buNone/>
              <a:defRPr sz="2025" b="1">
                <a:solidFill>
                  <a:srgbClr val="FFFFFF"/>
                </a:solidFill>
              </a:defRPr>
            </a:lvl8pPr>
            <a:lvl9pPr algn="l">
              <a:buNone/>
              <a:defRPr sz="2025" b="1">
                <a:solidFill>
                  <a:srgbClr val="FFFFFF"/>
                </a:solidFill>
              </a:defRPr>
            </a:lvl9pPr>
          </a:lstStyle>
          <a:p xmlns:a="http://schemas.openxmlformats.org/drawingml/2006/main">
            <a:pPr algn="l">
              <a:buNone/>
              <a:defRPr sz="2025" b="1">
                <a:solidFill>
                  <a:srgbClr val="FFFFFF"/>
                </a:solidFill>
              </a:defRPr>
            </a:pPr>
            <a:r>
              <a:rPr sz="2025" b="1">
                <a:solidFill>
                  <a:srgbClr val="FFFFFF"/>
                </a:solidFill>
              </a:rPr>
              <a:t>Gateway call</a:t>
            </a:r>
          </a:p>
        </p:txBody>
      </p:sp>
      <p:sp>
        <p:nvSpPr>
          <p:cNvPr id="2010" name="log correlation">
            <a:extLst xmlns:a="http://schemas.openxmlformats.org/drawingml/2006/main">
              <a:ext uri="{FF2B5EF4-FFF2-40B4-BE49-F238E27FC236}">
                <a16:creationId xmlns:a16="http://schemas.microsoft.com/office/drawing/2014/main" id="{C64F4BAB-F887-4F6E-B5A8-5BBE1D83466F}"/>
              </a:ext>
            </a:extLst>
          </p:cNvPr>
          <p:cNvSpPr>
            <a:spLocks xmlns:a="http://schemas.openxmlformats.org/drawingml/2006/main" noGrp="1"/>
          </p:cNvSpPr>
          <p:nvPr/>
        </p:nvSpPr>
        <p:spPr>
          <a:xfrm xmlns:a="http://schemas.openxmlformats.org/drawingml/2006/main">
            <a:off x="6146864" y="4467225"/>
            <a:ext cx="2286000" cy="0"/>
          </a:xfrm>
          <a:prstGeom xmlns:a="http://schemas.openxmlformats.org/drawingml/2006/main" prst="line">
            <a:avLst/>
          </a:prstGeom>
          <a:noFill xmlns:a="http://schemas.openxmlformats.org/drawingml/2006/main"/>
          <a:ln xmlns:a="http://schemas.openxmlformats.org/drawingml/2006/main" w="19050">
            <a:solidFill>
              <a:srgbClr val="5965AC"/>
            </a:solidFill>
          </a:ln>
        </p:spPr>
        <p:txBody>
          <a:bodyPr xmlns:a="http://schemas.openxmlformats.org/drawingml/2006/main"/>
          <a:lstStyle xmlns:a="http://schemas.openxmlformats.org/drawingml/2006/main"/>
          <a:p xmlns:a="http://schemas.openxmlformats.org/drawingml/2006/main">
            <a:endParaRPr/>
          </a:p>
        </p:txBody>
      </p:sp>
      <p:sp>
        <p:nvSpPr>
          <p:cNvPr id="2011" name="log event marker">
            <a:extLst xmlns:a="http://schemas.openxmlformats.org/drawingml/2006/main">
              <a:ext uri="{FF2B5EF4-FFF2-40B4-BE49-F238E27FC236}">
                <a16:creationId xmlns:a16="http://schemas.microsoft.com/office/drawing/2014/main" id="{0F51C2AC-C596-43EB-8FB5-087E0F805FC6}"/>
              </a:ext>
            </a:extLst>
          </p:cNvPr>
          <p:cNvSpPr>
            <a:spLocks xmlns:a="http://schemas.openxmlformats.org/drawingml/2006/main" noGrp="1"/>
          </p:cNvSpPr>
          <p:nvPr/>
        </p:nvSpPr>
        <p:spPr>
          <a:xfrm xmlns:a="http://schemas.openxmlformats.org/drawingml/2006/main">
            <a:off x="6023039" y="4391025"/>
            <a:ext cx="152400" cy="152400"/>
          </a:xfrm>
          <a:prstGeom xmlns:a="http://schemas.openxmlformats.org/drawingml/2006/main" prst="ellipse">
            <a:avLst/>
          </a:prstGeom>
          <a:solidFill xmlns:a="http://schemas.openxmlformats.org/drawingml/2006/main">
            <a:srgbClr val="FFFFFF"/>
          </a:solidFill>
          <a:ln xmlns:a="http://schemas.openxmlformats.org/drawingml/2006/main" w="28575">
            <a:solidFill>
              <a:srgbClr val="5965AC"/>
            </a:solidFill>
          </a:ln>
        </p:spPr>
        <p:txBody>
          <a:bodyPr xmlns:a="http://schemas.openxmlformats.org/drawingml/2006/main"/>
          <a:lstStyle xmlns:a="http://schemas.openxmlformats.org/drawingml/2006/main"/>
          <a:p xmlns:a="http://schemas.openxmlformats.org/drawingml/2006/main">
            <a:endParaRPr/>
          </a:p>
        </p:txBody>
      </p:sp>
      <p:sp>
        <p:nvSpPr>
          <p:cNvPr id="2012" name="correlation arrow">
            <a:extLst xmlns:a="http://schemas.openxmlformats.org/drawingml/2006/main">
              <a:ext uri="{FF2B5EF4-FFF2-40B4-BE49-F238E27FC236}">
                <a16:creationId xmlns:a16="http://schemas.microsoft.com/office/drawing/2014/main" id="{2F06D09D-22F3-4FEC-AC23-C1634495DA5E}"/>
              </a:ext>
            </a:extLst>
          </p:cNvPr>
          <p:cNvSpPr>
            <a:spLocks xmlns:a="http://schemas.openxmlformats.org/drawingml/2006/main" noGrp="1"/>
          </p:cNvSpPr>
          <p:nvPr/>
        </p:nvSpPr>
        <p:spPr>
          <a:xfrm xmlns:a="http://schemas.openxmlformats.org/drawingml/2006/main">
            <a:off x="8309039" y="4400550"/>
            <a:ext cx="171450" cy="133350"/>
          </a:xfrm>
          <a:prstGeom xmlns:a="http://schemas.openxmlformats.org/drawingml/2006/main" prst="rightArrow">
            <a:avLst/>
          </a:prstGeom>
          <a:solidFill xmlns:a="http://schemas.openxmlformats.org/drawingml/2006/main">
            <a:srgbClr val="5965A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13" name="correlated log label">
            <a:extLst xmlns:a="http://schemas.openxmlformats.org/drawingml/2006/main">
              <a:ext uri="{FF2B5EF4-FFF2-40B4-BE49-F238E27FC236}">
                <a16:creationId xmlns:a16="http://schemas.microsoft.com/office/drawing/2014/main" id="{7237324F-F8DD-462D-80B0-2AF4B494C636}"/>
              </a:ext>
            </a:extLst>
          </p:cNvPr>
          <p:cNvSpPr>
            <a:spLocks xmlns:a="http://schemas.openxmlformats.org/drawingml/2006/main" noGrp="1"/>
          </p:cNvSpPr>
          <p:nvPr/>
        </p:nvSpPr>
        <p:spPr>
          <a:xfrm xmlns:a="http://schemas.openxmlformats.org/drawingml/2006/main">
            <a:off x="8715375" y="3714750"/>
            <a:ext cx="2667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0086AC"/>
                </a:solidFill>
              </a:defRPr>
            </a:defPPr>
            <a:lvl1pPr algn="l">
              <a:buNone/>
              <a:defRPr sz="2025" b="1">
                <a:solidFill>
                  <a:srgbClr val="0086AC"/>
                </a:solidFill>
              </a:defRPr>
            </a:lvl1pPr>
            <a:lvl2pPr algn="l">
              <a:buNone/>
              <a:defRPr sz="2025" b="1">
                <a:solidFill>
                  <a:srgbClr val="0086AC"/>
                </a:solidFill>
              </a:defRPr>
            </a:lvl2pPr>
            <a:lvl3pPr algn="l">
              <a:buNone/>
              <a:defRPr sz="2025" b="1">
                <a:solidFill>
                  <a:srgbClr val="0086AC"/>
                </a:solidFill>
              </a:defRPr>
            </a:lvl3pPr>
            <a:lvl4pPr algn="l">
              <a:buNone/>
              <a:defRPr sz="2025" b="1">
                <a:solidFill>
                  <a:srgbClr val="0086AC"/>
                </a:solidFill>
              </a:defRPr>
            </a:lvl4pPr>
            <a:lvl5pPr algn="l">
              <a:buNone/>
              <a:defRPr sz="2025" b="1">
                <a:solidFill>
                  <a:srgbClr val="0086AC"/>
                </a:solidFill>
              </a:defRPr>
            </a:lvl5pPr>
            <a:lvl6pPr algn="l">
              <a:buNone/>
              <a:defRPr sz="2025" b="1">
                <a:solidFill>
                  <a:srgbClr val="0086AC"/>
                </a:solidFill>
              </a:defRPr>
            </a:lvl6pPr>
            <a:lvl7pPr algn="l">
              <a:buNone/>
              <a:defRPr sz="2025" b="1">
                <a:solidFill>
                  <a:srgbClr val="0086AC"/>
                </a:solidFill>
              </a:defRPr>
            </a:lvl7pPr>
            <a:lvl8pPr algn="l">
              <a:buNone/>
              <a:defRPr sz="2025" b="1">
                <a:solidFill>
                  <a:srgbClr val="0086AC"/>
                </a:solidFill>
              </a:defRPr>
            </a:lvl8pPr>
            <a:lvl9pPr algn="l">
              <a:buNone/>
              <a:defRPr sz="2025" b="1">
                <a:solidFill>
                  <a:srgbClr val="0086AC"/>
                </a:solidFill>
              </a:defRPr>
            </a:lvl9pPr>
          </a:lstStyle>
          <a:p xmlns:a="http://schemas.openxmlformats.org/drawingml/2006/main">
            <a:pPr algn="l">
              <a:buNone/>
              <a:defRPr sz="2025" b="1">
                <a:solidFill>
                  <a:srgbClr val="0086AC"/>
                </a:solidFill>
              </a:defRPr>
            </a:pPr>
            <a:r>
              <a:rPr sz="2025" b="1">
                <a:solidFill>
                  <a:srgbClr val="0086AC"/>
                </a:solidFill>
              </a:rPr>
              <a:t>Correlated log</a:t>
            </a:r>
          </a:p>
        </p:txBody>
      </p:sp>
      <p:sp>
        <p:nvSpPr>
          <p:cNvPr id="2014" name="log event">
            <a:extLst xmlns:a="http://schemas.openxmlformats.org/drawingml/2006/main">
              <a:ext uri="{FF2B5EF4-FFF2-40B4-BE49-F238E27FC236}">
                <a16:creationId xmlns:a16="http://schemas.microsoft.com/office/drawing/2014/main" id="{2387639F-A724-4E96-B1FF-0B897C3104A5}"/>
              </a:ext>
            </a:extLst>
          </p:cNvPr>
          <p:cNvSpPr>
            <a:spLocks xmlns:a="http://schemas.openxmlformats.org/drawingml/2006/main" noGrp="1"/>
          </p:cNvSpPr>
          <p:nvPr/>
        </p:nvSpPr>
        <p:spPr>
          <a:xfrm xmlns:a="http://schemas.openxmlformats.org/drawingml/2006/main">
            <a:off x="8715375" y="4133850"/>
            <a:ext cx="266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Gateway response</a:t>
            </a:r>
          </a:p>
          <a:p xmlns:a="http://schemas.openxmlformats.org/drawingml/2006/main">
            <a:pPr algn="l">
              <a:buNone/>
              <a:defRPr sz="1725" b="0">
                <a:solidFill>
                  <a:srgbClr val="303238"/>
                </a:solidFill>
              </a:defRPr>
            </a:pPr>
            <a:r>
              <a:rPr sz="1725" b="0">
                <a:solidFill>
                  <a:srgbClr val="303238"/>
                </a:solidFill>
              </a:rPr>
              <a:t>received</a:t>
            </a:r>
          </a:p>
        </p:txBody>
      </p:sp>
      <p:sp>
        <p:nvSpPr>
          <p:cNvPr id="2015" name="log identity">
            <a:extLst xmlns:a="http://schemas.openxmlformats.org/drawingml/2006/main">
              <a:ext uri="{FF2B5EF4-FFF2-40B4-BE49-F238E27FC236}">
                <a16:creationId xmlns:a16="http://schemas.microsoft.com/office/drawing/2014/main" id="{7FF5F362-A4B7-4886-9CCA-B04800C5812E}"/>
              </a:ext>
            </a:extLst>
          </p:cNvPr>
          <p:cNvSpPr>
            <a:spLocks xmlns:a="http://schemas.openxmlformats.org/drawingml/2006/main" noGrp="1"/>
          </p:cNvSpPr>
          <p:nvPr/>
        </p:nvSpPr>
        <p:spPr>
          <a:xfrm xmlns:a="http://schemas.openxmlformats.org/drawingml/2006/main">
            <a:off x="8715375" y="4800600"/>
            <a:ext cx="2667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62666B"/>
                </a:solidFill>
              </a:defRPr>
            </a:defPPr>
            <a:lvl1pPr algn="l">
              <a:buNone/>
              <a:defRPr sz="1425" b="0">
                <a:solidFill>
                  <a:srgbClr val="62666B"/>
                </a:solidFill>
              </a:defRPr>
            </a:lvl1pPr>
            <a:lvl2pPr algn="l">
              <a:buNone/>
              <a:defRPr sz="1425" b="0">
                <a:solidFill>
                  <a:srgbClr val="62666B"/>
                </a:solidFill>
              </a:defRPr>
            </a:lvl2pPr>
            <a:lvl3pPr algn="l">
              <a:buNone/>
              <a:defRPr sz="1425" b="0">
                <a:solidFill>
                  <a:srgbClr val="62666B"/>
                </a:solidFill>
              </a:defRPr>
            </a:lvl3pPr>
            <a:lvl4pPr algn="l">
              <a:buNone/>
              <a:defRPr sz="1425" b="0">
                <a:solidFill>
                  <a:srgbClr val="62666B"/>
                </a:solidFill>
              </a:defRPr>
            </a:lvl4pPr>
            <a:lvl5pPr algn="l">
              <a:buNone/>
              <a:defRPr sz="1425" b="0">
                <a:solidFill>
                  <a:srgbClr val="62666B"/>
                </a:solidFill>
              </a:defRPr>
            </a:lvl5pPr>
            <a:lvl6pPr algn="l">
              <a:buNone/>
              <a:defRPr sz="1425" b="0">
                <a:solidFill>
                  <a:srgbClr val="62666B"/>
                </a:solidFill>
              </a:defRPr>
            </a:lvl6pPr>
            <a:lvl7pPr algn="l">
              <a:buNone/>
              <a:defRPr sz="1425" b="0">
                <a:solidFill>
                  <a:srgbClr val="62666B"/>
                </a:solidFill>
              </a:defRPr>
            </a:lvl7pPr>
            <a:lvl8pPr algn="l">
              <a:buNone/>
              <a:defRPr sz="1425" b="0">
                <a:solidFill>
                  <a:srgbClr val="62666B"/>
                </a:solidFill>
              </a:defRPr>
            </a:lvl8pPr>
            <a:lvl9pPr algn="l">
              <a:buNone/>
              <a:defRPr sz="1425" b="0">
                <a:solidFill>
                  <a:srgbClr val="62666B"/>
                </a:solidFill>
              </a:defRPr>
            </a:lvl9pPr>
          </a:lstStyle>
          <a:p xmlns:a="http://schemas.openxmlformats.org/drawingml/2006/main">
            <a:pPr algn="l">
              <a:buNone/>
              <a:defRPr sz="1425" b="0">
                <a:solidFill>
                  <a:srgbClr val="62666B"/>
                </a:solidFill>
              </a:defRPr>
            </a:pPr>
            <a:r>
              <a:rPr sz="1425" b="0">
                <a:solidFill>
                  <a:srgbClr val="62666B"/>
                </a:solidFill>
              </a:rPr>
              <a:t>Same trace + span IDs</a:t>
            </a:r>
          </a:p>
        </p:txBody>
      </p:sp>
      <p:sp>
        <p:nvSpPr>
          <p:cNvPr id="2016" name="time axis">
            <a:extLst xmlns:a="http://schemas.openxmlformats.org/drawingml/2006/main">
              <a:ext uri="{FF2B5EF4-FFF2-40B4-BE49-F238E27FC236}">
                <a16:creationId xmlns:a16="http://schemas.microsoft.com/office/drawing/2014/main" id="{C8FDF25D-B1FF-461B-8FE9-633359BF5730}"/>
              </a:ext>
            </a:extLst>
          </p:cNvPr>
          <p:cNvSpPr>
            <a:spLocks xmlns:a="http://schemas.openxmlformats.org/drawingml/2006/main" noGrp="1"/>
          </p:cNvSpPr>
          <p:nvPr/>
        </p:nvSpPr>
        <p:spPr>
          <a:xfrm xmlns:a="http://schemas.openxmlformats.org/drawingml/2006/main">
            <a:off x="812864" y="5114925"/>
            <a:ext cx="6734175" cy="0"/>
          </a:xfrm>
          <a:prstGeom xmlns:a="http://schemas.openxmlformats.org/drawingml/2006/main" prst="line">
            <a:avLst/>
          </a:prstGeom>
          <a:noFill xmlns:a="http://schemas.openxmlformats.org/drawingml/2006/main"/>
          <a:ln xmlns:a="http://schemas.openxmlformats.org/drawingml/2006/main" w="19050">
            <a:solidFill>
              <a:srgbClr val="BCC6CB"/>
            </a:solidFill>
          </a:ln>
        </p:spPr>
        <p:txBody>
          <a:bodyPr xmlns:a="http://schemas.openxmlformats.org/drawingml/2006/main"/>
          <a:lstStyle xmlns:a="http://schemas.openxmlformats.org/drawingml/2006/main"/>
          <a:p xmlns:a="http://schemas.openxmlformats.org/drawingml/2006/main">
            <a:endParaRPr/>
          </a:p>
        </p:txBody>
      </p:sp>
      <p:sp>
        <p:nvSpPr>
          <p:cNvPr id="2017" name="time arrow">
            <a:extLst xmlns:a="http://schemas.openxmlformats.org/drawingml/2006/main">
              <a:ext uri="{FF2B5EF4-FFF2-40B4-BE49-F238E27FC236}">
                <a16:creationId xmlns:a16="http://schemas.microsoft.com/office/drawing/2014/main" id="{BF252898-3F99-4C31-AA80-3A3998F82B19}"/>
              </a:ext>
            </a:extLst>
          </p:cNvPr>
          <p:cNvSpPr>
            <a:spLocks xmlns:a="http://schemas.openxmlformats.org/drawingml/2006/main" noGrp="1"/>
          </p:cNvSpPr>
          <p:nvPr/>
        </p:nvSpPr>
        <p:spPr>
          <a:xfrm xmlns:a="http://schemas.openxmlformats.org/drawingml/2006/main">
            <a:off x="7508939" y="5048250"/>
            <a:ext cx="190500" cy="133350"/>
          </a:xfrm>
          <a:prstGeom xmlns:a="http://schemas.openxmlformats.org/drawingml/2006/main" prst="rightArrow">
            <a:avLst/>
          </a:prstGeom>
          <a:solidFill xmlns:a="http://schemas.openxmlformats.org/drawingml/2006/main">
            <a:srgbClr val="62666B"/>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18" name="time label">
            <a:extLst xmlns:a="http://schemas.openxmlformats.org/drawingml/2006/main">
              <a:ext uri="{FF2B5EF4-FFF2-40B4-BE49-F238E27FC236}">
                <a16:creationId xmlns:a16="http://schemas.microsoft.com/office/drawing/2014/main" id="{DC73F779-14ED-4A23-B6E7-121493759927}"/>
              </a:ext>
            </a:extLst>
          </p:cNvPr>
          <p:cNvSpPr>
            <a:spLocks xmlns:a="http://schemas.openxmlformats.org/drawingml/2006/main" noGrp="1"/>
          </p:cNvSpPr>
          <p:nvPr/>
        </p:nvSpPr>
        <p:spPr>
          <a:xfrm xmlns:a="http://schemas.openxmlformats.org/drawingml/2006/main">
            <a:off x="7134225" y="5200650"/>
            <a:ext cx="571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2666B"/>
                </a:solidFill>
              </a:defRPr>
            </a:defPPr>
            <a:lvl1pPr algn="l">
              <a:buNone/>
              <a:defRPr sz="1350" b="0">
                <a:solidFill>
                  <a:srgbClr val="62666B"/>
                </a:solidFill>
              </a:defRPr>
            </a:lvl1pPr>
            <a:lvl2pPr algn="l">
              <a:buNone/>
              <a:defRPr sz="1350" b="0">
                <a:solidFill>
                  <a:srgbClr val="62666B"/>
                </a:solidFill>
              </a:defRPr>
            </a:lvl2pPr>
            <a:lvl3pPr algn="l">
              <a:buNone/>
              <a:defRPr sz="1350" b="0">
                <a:solidFill>
                  <a:srgbClr val="62666B"/>
                </a:solidFill>
              </a:defRPr>
            </a:lvl3pPr>
            <a:lvl4pPr algn="l">
              <a:buNone/>
              <a:defRPr sz="1350" b="0">
                <a:solidFill>
                  <a:srgbClr val="62666B"/>
                </a:solidFill>
              </a:defRPr>
            </a:lvl4pPr>
            <a:lvl5pPr algn="l">
              <a:buNone/>
              <a:defRPr sz="1350" b="0">
                <a:solidFill>
                  <a:srgbClr val="62666B"/>
                </a:solidFill>
              </a:defRPr>
            </a:lvl5pPr>
            <a:lvl6pPr algn="l">
              <a:buNone/>
              <a:defRPr sz="1350" b="0">
                <a:solidFill>
                  <a:srgbClr val="62666B"/>
                </a:solidFill>
              </a:defRPr>
            </a:lvl6pPr>
            <a:lvl7pPr algn="l">
              <a:buNone/>
              <a:defRPr sz="1350" b="0">
                <a:solidFill>
                  <a:srgbClr val="62666B"/>
                </a:solidFill>
              </a:defRPr>
            </a:lvl7pPr>
            <a:lvl8pPr algn="l">
              <a:buNone/>
              <a:defRPr sz="1350" b="0">
                <a:solidFill>
                  <a:srgbClr val="62666B"/>
                </a:solidFill>
              </a:defRPr>
            </a:lvl8pPr>
            <a:lvl9pPr algn="l">
              <a:buNone/>
              <a:defRPr sz="1350" b="0">
                <a:solidFill>
                  <a:srgbClr val="62666B"/>
                </a:solidFill>
              </a:defRPr>
            </a:lvl9pPr>
          </a:lstStyle>
          <a:p xmlns:a="http://schemas.openxmlformats.org/drawingml/2006/main">
            <a:pPr algn="l">
              <a:buNone/>
              <a:defRPr sz="1350" b="0">
                <a:solidFill>
                  <a:srgbClr val="62666B"/>
                </a:solidFill>
              </a:defRPr>
            </a:pPr>
            <a:r>
              <a:rPr sz="1350" b="0">
                <a:solidFill>
                  <a:srgbClr val="62666B"/>
                </a:solidFill>
              </a:rPr>
              <a:t>Time</a:t>
            </a:r>
          </a:p>
        </p:txBody>
      </p:sp>
      <p:sp>
        <p:nvSpPr>
          <p:cNvPr id="2019" name="metrics">
            <a:extLst xmlns:a="http://schemas.openxmlformats.org/drawingml/2006/main">
              <a:ext uri="{FF2B5EF4-FFF2-40B4-BE49-F238E27FC236}">
                <a16:creationId xmlns:a16="http://schemas.microsoft.com/office/drawing/2014/main" id="{EE1790D4-BED4-4833-B2BD-65ABB891CA33}"/>
              </a:ext>
            </a:extLst>
          </p:cNvPr>
          <p:cNvSpPr>
            <a:spLocks xmlns:a="http://schemas.openxmlformats.org/drawingml/2006/main" noGrp="1"/>
          </p:cNvSpPr>
          <p:nvPr/>
        </p:nvSpPr>
        <p:spPr>
          <a:xfrm xmlns:a="http://schemas.openxmlformats.org/drawingml/2006/main">
            <a:off x="812864" y="5505450"/>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Metrics summarize trends across requests.</a:t>
            </a:r>
          </a:p>
        </p:txBody>
      </p:sp>
      <p:sp>
        <p:nvSpPr>
          <p:cNvPr id="2020" name="otel role">
            <a:extLst xmlns:a="http://schemas.openxmlformats.org/drawingml/2006/main">
              <a:ext uri="{FF2B5EF4-FFF2-40B4-BE49-F238E27FC236}">
                <a16:creationId xmlns:a16="http://schemas.microsoft.com/office/drawing/2014/main" id="{C0A0BA82-3DA9-4CDC-A16C-C6AD7D1ED398}"/>
              </a:ext>
            </a:extLst>
          </p:cNvPr>
          <p:cNvSpPr>
            <a:spLocks xmlns:a="http://schemas.openxmlformats.org/drawingml/2006/main" noGrp="1"/>
          </p:cNvSpPr>
          <p:nvPr/>
        </p:nvSpPr>
        <p:spPr>
          <a:xfrm xmlns:a="http://schemas.openxmlformats.org/drawingml/2006/main">
            <a:off x="812864" y="5915025"/>
            <a:ext cx="10382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1">
                <a:solidFill>
                  <a:srgbClr val="303238"/>
                </a:solidFill>
              </a:defRPr>
            </a:defPPr>
            <a:lvl1pPr algn="l">
              <a:buNone/>
              <a:defRPr sz="1800" b="1">
                <a:solidFill>
                  <a:srgbClr val="303238"/>
                </a:solidFill>
              </a:defRPr>
            </a:lvl1pPr>
            <a:lvl2pPr algn="l">
              <a:buNone/>
              <a:defRPr sz="1800" b="1">
                <a:solidFill>
                  <a:srgbClr val="303238"/>
                </a:solidFill>
              </a:defRPr>
            </a:lvl2pPr>
            <a:lvl3pPr algn="l">
              <a:buNone/>
              <a:defRPr sz="1800" b="1">
                <a:solidFill>
                  <a:srgbClr val="303238"/>
                </a:solidFill>
              </a:defRPr>
            </a:lvl3pPr>
            <a:lvl4pPr algn="l">
              <a:buNone/>
              <a:defRPr sz="1800" b="1">
                <a:solidFill>
                  <a:srgbClr val="303238"/>
                </a:solidFill>
              </a:defRPr>
            </a:lvl4pPr>
            <a:lvl5pPr algn="l">
              <a:buNone/>
              <a:defRPr sz="1800" b="1">
                <a:solidFill>
                  <a:srgbClr val="303238"/>
                </a:solidFill>
              </a:defRPr>
            </a:lvl5pPr>
            <a:lvl6pPr algn="l">
              <a:buNone/>
              <a:defRPr sz="1800" b="1">
                <a:solidFill>
                  <a:srgbClr val="303238"/>
                </a:solidFill>
              </a:defRPr>
            </a:lvl6pPr>
            <a:lvl7pPr algn="l">
              <a:buNone/>
              <a:defRPr sz="1800" b="1">
                <a:solidFill>
                  <a:srgbClr val="303238"/>
                </a:solidFill>
              </a:defRPr>
            </a:lvl7pPr>
            <a:lvl8pPr algn="l">
              <a:buNone/>
              <a:defRPr sz="1800" b="1">
                <a:solidFill>
                  <a:srgbClr val="303238"/>
                </a:solidFill>
              </a:defRPr>
            </a:lvl8pPr>
            <a:lvl9pPr algn="l">
              <a:buNone/>
              <a:defRPr sz="1800" b="1">
                <a:solidFill>
                  <a:srgbClr val="303238"/>
                </a:solidFill>
              </a:defRPr>
            </a:lvl9pPr>
          </a:lstStyle>
          <a:p xmlns:a="http://schemas.openxmlformats.org/drawingml/2006/main">
            <a:pPr algn="l">
              <a:buNone/>
              <a:defRPr sz="1800" b="1">
                <a:solidFill>
                  <a:srgbClr val="303238"/>
                </a:solidFill>
              </a:defRPr>
            </a:pPr>
            <a:r>
              <a:rPr sz="1800" b="1">
                <a:solidFill>
                  <a:srgbClr val="303238"/>
                </a:solidFill>
              </a:rPr>
              <a:t>OpenTelemetry collects and exports traces, logs and metrics.</a:t>
            </a:r>
          </a:p>
        </p:txBody>
      </p:sp>
      <p:sp>
        <p:nvSpPr>
          <p:cNvPr id="2021" name="illustration boundary">
            <a:extLst xmlns:a="http://schemas.openxmlformats.org/drawingml/2006/main">
              <a:ext uri="{FF2B5EF4-FFF2-40B4-BE49-F238E27FC236}">
                <a16:creationId xmlns:a16="http://schemas.microsoft.com/office/drawing/2014/main" id="{65865262-197D-4739-A419-037D83F9D018}"/>
              </a:ext>
            </a:extLst>
          </p:cNvPr>
          <p:cNvSpPr>
            <a:spLocks xmlns:a="http://schemas.openxmlformats.org/drawingml/2006/main" noGrp="1"/>
          </p:cNvSpPr>
          <p:nvPr/>
        </p:nvSpPr>
        <p:spPr>
          <a:xfrm xmlns:a="http://schemas.openxmlformats.org/drawingml/2006/main">
            <a:off x="812864" y="6305550"/>
            <a:ext cx="723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62666B"/>
                </a:solidFill>
              </a:defRPr>
            </a:defPPr>
            <a:lvl1pPr algn="l">
              <a:buNone/>
              <a:defRPr sz="1050" b="0">
                <a:solidFill>
                  <a:srgbClr val="62666B"/>
                </a:solidFill>
              </a:defRPr>
            </a:lvl1pPr>
            <a:lvl2pPr algn="l">
              <a:buNone/>
              <a:defRPr sz="1050" b="0">
                <a:solidFill>
                  <a:srgbClr val="62666B"/>
                </a:solidFill>
              </a:defRPr>
            </a:lvl2pPr>
            <a:lvl3pPr algn="l">
              <a:buNone/>
              <a:defRPr sz="1050" b="0">
                <a:solidFill>
                  <a:srgbClr val="62666B"/>
                </a:solidFill>
              </a:defRPr>
            </a:lvl3pPr>
            <a:lvl4pPr algn="l">
              <a:buNone/>
              <a:defRPr sz="1050" b="0">
                <a:solidFill>
                  <a:srgbClr val="62666B"/>
                </a:solidFill>
              </a:defRPr>
            </a:lvl4pPr>
            <a:lvl5pPr algn="l">
              <a:buNone/>
              <a:defRPr sz="1050" b="0">
                <a:solidFill>
                  <a:srgbClr val="62666B"/>
                </a:solidFill>
              </a:defRPr>
            </a:lvl5pPr>
            <a:lvl6pPr algn="l">
              <a:buNone/>
              <a:defRPr sz="1050" b="0">
                <a:solidFill>
                  <a:srgbClr val="62666B"/>
                </a:solidFill>
              </a:defRPr>
            </a:lvl6pPr>
            <a:lvl7pPr algn="l">
              <a:buNone/>
              <a:defRPr sz="1050" b="0">
                <a:solidFill>
                  <a:srgbClr val="62666B"/>
                </a:solidFill>
              </a:defRPr>
            </a:lvl7pPr>
            <a:lvl8pPr algn="l">
              <a:buNone/>
              <a:defRPr sz="1050" b="0">
                <a:solidFill>
                  <a:srgbClr val="62666B"/>
                </a:solidFill>
              </a:defRPr>
            </a:lvl8pPr>
            <a:lvl9pPr algn="l">
              <a:buNone/>
              <a:defRPr sz="1050" b="0">
                <a:solidFill>
                  <a:srgbClr val="62666B"/>
                </a:solidFill>
              </a:defRPr>
            </a:lvl9pPr>
          </a:lstStyle>
          <a:p xmlns:a="http://schemas.openxmlformats.org/drawingml/2006/main">
            <a:pPr algn="l">
              <a:buNone/>
              <a:defRPr sz="1050" b="0">
                <a:solidFill>
                  <a:srgbClr val="62666B"/>
                </a:solidFill>
              </a:defRPr>
            </a:pPr>
            <a:r>
              <a:rPr sz="1050" b="0">
                <a:solidFill>
                  <a:srgbClr val="62666B"/>
                </a:solidFill>
              </a:rPr>
              <a:t>Illustrative flow. Telemetry was not evaluated in this study.</a:t>
            </a:r>
          </a:p>
        </p:txBody>
      </p:sp>
    </p:spTree>
    <p:extLst>
      <p:ext uri="{BB962C8B-B14F-4D97-AF65-F5344CB8AC3E}">
        <p14:creationId xmlns:p14="http://schemas.microsoft.com/office/powerpoint/2010/main" val="2140528721"/>
      </p:ext>
    </p:extLst>
  </p:cSld>
</p:sld>
</file>

<file path=ppt/slides/slide22.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1A6A69C8-622E-4AA5-943E-BD2534D45E0B}"/>
              </a:ext>
            </a:extLst>
          </p:cNvPr>
          <p:cNvPicPr>
            <a:picLocks xmlns:a="http://schemas.openxmlformats.org/drawingml/2006/main" noChangeAspect="1"/>
          </p:cNvPicPr>
          <p:nvPr/>
        </p:nvPicPr>
        <p:blipFill>
          <a:blip xmlns:r="http://schemas.openxmlformats.org/officeDocument/2006/relationships" xmlns:a="http://schemas.openxmlformats.org/drawingml/2006/main" r:embed="R156dfa79c02b4918"/>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4D797C57-BFDC-4D5A-B60B-B944D5E1C16D}"/>
              </a:ext>
            </a:extLst>
          </p:cNvPr>
          <p:cNvPicPr>
            <a:picLocks xmlns:a="http://schemas.openxmlformats.org/drawingml/2006/main" noChangeAspect="1"/>
          </p:cNvPicPr>
          <p:nvPr/>
        </p:nvPicPr>
        <p:blipFill>
          <a:blip xmlns:r="http://schemas.openxmlformats.org/officeDocument/2006/relationships" xmlns:a="http://schemas.openxmlformats.org/drawingml/2006/main" r:embed="Rf8c13597bcf143ad"/>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C96E48FF-EA04-4016-BF4F-35A7CB2B6FDD}"/>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2026" name="title">
            <a:extLst xmlns:a="http://schemas.openxmlformats.org/drawingml/2006/main">
              <a:ext uri="{FF2B5EF4-FFF2-40B4-BE49-F238E27FC236}">
                <a16:creationId xmlns:a16="http://schemas.microsoft.com/office/drawing/2014/main" id="{6B1F3B3F-C4E4-431E-BD93-C7B891845DD1}"/>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Connect required behavior to observed behavior</a:t>
            </a:r>
          </a:p>
        </p:txBody>
      </p:sp>
      <p:sp>
        <p:nvSpPr>
          <p:cNvPr id="2002" name="subtitle">
            <a:extLst xmlns:a="http://schemas.openxmlformats.org/drawingml/2006/main">
              <a:ext uri="{FF2B5EF4-FFF2-40B4-BE49-F238E27FC236}">
                <a16:creationId xmlns:a16="http://schemas.microsoft.com/office/drawing/2014/main" id="{4625A462-D164-4247-A076-B42A55084756}"/>
              </a:ext>
            </a:extLst>
          </p:cNvPr>
          <p:cNvSpPr>
            <a:spLocks xmlns:a="http://schemas.openxmlformats.org/drawingml/2006/main" noGrp="1"/>
          </p:cNvSpPr>
          <p:nvPr/>
        </p:nvSpPr>
        <p:spPr>
          <a:xfrm xmlns:a="http://schemas.openxmlformats.org/drawingml/2006/main">
            <a:off x="812864" y="14097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Give the reviewer evidence for the exact code revision.</a:t>
            </a:r>
          </a:p>
        </p:txBody>
      </p:sp>
      <p:sp>
        <p:nvSpPr>
          <p:cNvPr id="2003" name="requirement traceability">
            <a:extLst xmlns:a="http://schemas.openxmlformats.org/drawingml/2006/main">
              <a:ext uri="{FF2B5EF4-FFF2-40B4-BE49-F238E27FC236}">
                <a16:creationId xmlns:a16="http://schemas.microsoft.com/office/drawing/2014/main" id="{37742652-C0EE-4C5B-9469-4B1E344A4422}"/>
              </a:ext>
            </a:extLst>
          </p:cNvPr>
          <p:cNvSpPr>
            <a:spLocks xmlns:a="http://schemas.openxmlformats.org/drawingml/2006/main" noGrp="1"/>
          </p:cNvSpPr>
          <p:nvPr/>
        </p:nvSpPr>
        <p:spPr>
          <a:xfrm xmlns:a="http://schemas.openxmlformats.org/drawingml/2006/main">
            <a:off x="812864" y="2124075"/>
            <a:ext cx="1019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4F8734"/>
                </a:solidFill>
              </a:defRPr>
            </a:defPPr>
            <a:lvl1pPr algn="l">
              <a:buNone/>
              <a:defRPr sz="1350" b="1">
                <a:solidFill>
                  <a:srgbClr val="4F8734"/>
                </a:solidFill>
              </a:defRPr>
            </a:lvl1pPr>
            <a:lvl2pPr algn="l">
              <a:buNone/>
              <a:defRPr sz="1350" b="1">
                <a:solidFill>
                  <a:srgbClr val="4F8734"/>
                </a:solidFill>
              </a:defRPr>
            </a:lvl2pPr>
            <a:lvl3pPr algn="l">
              <a:buNone/>
              <a:defRPr sz="1350" b="1">
                <a:solidFill>
                  <a:srgbClr val="4F8734"/>
                </a:solidFill>
              </a:defRPr>
            </a:lvl3pPr>
            <a:lvl4pPr algn="l">
              <a:buNone/>
              <a:defRPr sz="1350" b="1">
                <a:solidFill>
                  <a:srgbClr val="4F8734"/>
                </a:solidFill>
              </a:defRPr>
            </a:lvl4pPr>
            <a:lvl5pPr algn="l">
              <a:buNone/>
              <a:defRPr sz="1350" b="1">
                <a:solidFill>
                  <a:srgbClr val="4F8734"/>
                </a:solidFill>
              </a:defRPr>
            </a:lvl5pPr>
            <a:lvl6pPr algn="l">
              <a:buNone/>
              <a:defRPr sz="1350" b="1">
                <a:solidFill>
                  <a:srgbClr val="4F8734"/>
                </a:solidFill>
              </a:defRPr>
            </a:lvl6pPr>
            <a:lvl7pPr algn="l">
              <a:buNone/>
              <a:defRPr sz="1350" b="1">
                <a:solidFill>
                  <a:srgbClr val="4F8734"/>
                </a:solidFill>
              </a:defRPr>
            </a:lvl7pPr>
            <a:lvl8pPr algn="l">
              <a:buNone/>
              <a:defRPr sz="1350" b="1">
                <a:solidFill>
                  <a:srgbClr val="4F8734"/>
                </a:solidFill>
              </a:defRPr>
            </a:lvl8pPr>
            <a:lvl9pPr algn="l">
              <a:buNone/>
              <a:defRPr sz="1350" b="1">
                <a:solidFill>
                  <a:srgbClr val="4F8734"/>
                </a:solidFill>
              </a:defRPr>
            </a:lvl9pPr>
          </a:lstStyle>
          <a:p xmlns:a="http://schemas.openxmlformats.org/drawingml/2006/main">
            <a:pPr algn="l">
              <a:buNone/>
              <a:defRPr sz="1350" b="1">
                <a:solidFill>
                  <a:srgbClr val="4F8734"/>
                </a:solidFill>
              </a:defRPr>
            </a:pPr>
            <a:r>
              <a:rPr sz="1350" b="1">
                <a:solidFill>
                  <a:srgbClr val="4F8734"/>
                </a:solidFill>
              </a:rPr>
              <a:t>REQUIREMENT TRACEABILITY</a:t>
            </a:r>
          </a:p>
        </p:txBody>
      </p:sp>
      <p:sp>
        <p:nvSpPr>
          <p:cNvPr id="2004" name="intent heading 0">
            <a:extLst xmlns:a="http://schemas.openxmlformats.org/drawingml/2006/main">
              <a:ext uri="{FF2B5EF4-FFF2-40B4-BE49-F238E27FC236}">
                <a16:creationId xmlns:a16="http://schemas.microsoft.com/office/drawing/2014/main" id="{93A0D9F2-8C95-429B-A0AA-02F5E6FCED7F}"/>
              </a:ext>
            </a:extLst>
          </p:cNvPr>
          <p:cNvSpPr>
            <a:spLocks xmlns:a="http://schemas.openxmlformats.org/drawingml/2006/main" noGrp="1"/>
          </p:cNvSpPr>
          <p:nvPr/>
        </p:nvSpPr>
        <p:spPr>
          <a:xfrm xmlns:a="http://schemas.openxmlformats.org/drawingml/2006/main">
            <a:off x="812864" y="24574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4F8734"/>
                </a:solidFill>
              </a:defRPr>
            </a:defPPr>
            <a:lvl1pPr algn="l">
              <a:buNone/>
              <a:defRPr sz="2100" b="1">
                <a:solidFill>
                  <a:srgbClr val="4F8734"/>
                </a:solidFill>
              </a:defRPr>
            </a:lvl1pPr>
            <a:lvl2pPr algn="l">
              <a:buNone/>
              <a:defRPr sz="2100" b="1">
                <a:solidFill>
                  <a:srgbClr val="4F8734"/>
                </a:solidFill>
              </a:defRPr>
            </a:lvl2pPr>
            <a:lvl3pPr algn="l">
              <a:buNone/>
              <a:defRPr sz="2100" b="1">
                <a:solidFill>
                  <a:srgbClr val="4F8734"/>
                </a:solidFill>
              </a:defRPr>
            </a:lvl3pPr>
            <a:lvl4pPr algn="l">
              <a:buNone/>
              <a:defRPr sz="2100" b="1">
                <a:solidFill>
                  <a:srgbClr val="4F8734"/>
                </a:solidFill>
              </a:defRPr>
            </a:lvl4pPr>
            <a:lvl5pPr algn="l">
              <a:buNone/>
              <a:defRPr sz="2100" b="1">
                <a:solidFill>
                  <a:srgbClr val="4F8734"/>
                </a:solidFill>
              </a:defRPr>
            </a:lvl5pPr>
            <a:lvl6pPr algn="l">
              <a:buNone/>
              <a:defRPr sz="2100" b="1">
                <a:solidFill>
                  <a:srgbClr val="4F8734"/>
                </a:solidFill>
              </a:defRPr>
            </a:lvl6pPr>
            <a:lvl7pPr algn="l">
              <a:buNone/>
              <a:defRPr sz="2100" b="1">
                <a:solidFill>
                  <a:srgbClr val="4F8734"/>
                </a:solidFill>
              </a:defRPr>
            </a:lvl7pPr>
            <a:lvl8pPr algn="l">
              <a:buNone/>
              <a:defRPr sz="2100" b="1">
                <a:solidFill>
                  <a:srgbClr val="4F8734"/>
                </a:solidFill>
              </a:defRPr>
            </a:lvl8pPr>
            <a:lvl9pPr algn="l">
              <a:buNone/>
              <a:defRPr sz="2100" b="1">
                <a:solidFill>
                  <a:srgbClr val="4F8734"/>
                </a:solidFill>
              </a:defRPr>
            </a:lvl9pPr>
          </a:lstStyle>
          <a:p xmlns:a="http://schemas.openxmlformats.org/drawingml/2006/main">
            <a:pPr algn="l">
              <a:buNone/>
              <a:defRPr sz="2100" b="1">
                <a:solidFill>
                  <a:srgbClr val="4F8734"/>
                </a:solidFill>
              </a:defRPr>
            </a:pPr>
            <a:r>
              <a:rPr sz="2100" b="1">
                <a:solidFill>
                  <a:srgbClr val="4F8734"/>
                </a:solidFill>
              </a:rPr>
              <a:t>Requirement + control</a:t>
            </a:r>
          </a:p>
        </p:txBody>
      </p:sp>
      <p:sp>
        <p:nvSpPr>
          <p:cNvPr id="2005" name="intent detail 0">
            <a:extLst xmlns:a="http://schemas.openxmlformats.org/drawingml/2006/main">
              <a:ext uri="{FF2B5EF4-FFF2-40B4-BE49-F238E27FC236}">
                <a16:creationId xmlns:a16="http://schemas.microsoft.com/office/drawing/2014/main" id="{907C1308-3D50-483B-8AC6-4CFCBED140F8}"/>
              </a:ext>
            </a:extLst>
          </p:cNvPr>
          <p:cNvSpPr>
            <a:spLocks xmlns:a="http://schemas.openxmlformats.org/drawingml/2006/main" noGrp="1"/>
          </p:cNvSpPr>
          <p:nvPr/>
        </p:nvSpPr>
        <p:spPr>
          <a:xfrm xmlns:a="http://schemas.openxmlformats.org/drawingml/2006/main">
            <a:off x="812864" y="2905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62666B"/>
                </a:solidFill>
              </a:defRPr>
            </a:defPPr>
            <a:lvl1pPr algn="l">
              <a:buNone/>
              <a:defRPr sz="1725" b="0">
                <a:solidFill>
                  <a:srgbClr val="62666B"/>
                </a:solidFill>
              </a:defRPr>
            </a:lvl1pPr>
            <a:lvl2pPr algn="l">
              <a:buNone/>
              <a:defRPr sz="1725" b="0">
                <a:solidFill>
                  <a:srgbClr val="62666B"/>
                </a:solidFill>
              </a:defRPr>
            </a:lvl2pPr>
            <a:lvl3pPr algn="l">
              <a:buNone/>
              <a:defRPr sz="1725" b="0">
                <a:solidFill>
                  <a:srgbClr val="62666B"/>
                </a:solidFill>
              </a:defRPr>
            </a:lvl3pPr>
            <a:lvl4pPr algn="l">
              <a:buNone/>
              <a:defRPr sz="1725" b="0">
                <a:solidFill>
                  <a:srgbClr val="62666B"/>
                </a:solidFill>
              </a:defRPr>
            </a:lvl4pPr>
            <a:lvl5pPr algn="l">
              <a:buNone/>
              <a:defRPr sz="1725" b="0">
                <a:solidFill>
                  <a:srgbClr val="62666B"/>
                </a:solidFill>
              </a:defRPr>
            </a:lvl5pPr>
            <a:lvl6pPr algn="l">
              <a:buNone/>
              <a:defRPr sz="1725" b="0">
                <a:solidFill>
                  <a:srgbClr val="62666B"/>
                </a:solidFill>
              </a:defRPr>
            </a:lvl6pPr>
            <a:lvl7pPr algn="l">
              <a:buNone/>
              <a:defRPr sz="1725" b="0">
                <a:solidFill>
                  <a:srgbClr val="62666B"/>
                </a:solidFill>
              </a:defRPr>
            </a:lvl7pPr>
            <a:lvl8pPr algn="l">
              <a:buNone/>
              <a:defRPr sz="1725" b="0">
                <a:solidFill>
                  <a:srgbClr val="62666B"/>
                </a:solidFill>
              </a:defRPr>
            </a:lvl8pPr>
            <a:lvl9pPr algn="l">
              <a:buNone/>
              <a:defRPr sz="1725" b="0">
                <a:solidFill>
                  <a:srgbClr val="62666B"/>
                </a:solidFill>
              </a:defRPr>
            </a:lvl9pPr>
          </a:lstStyle>
          <a:p xmlns:a="http://schemas.openxmlformats.org/drawingml/2006/main">
            <a:pPr algn="l">
              <a:buNone/>
              <a:defRPr sz="1725" b="0">
                <a:solidFill>
                  <a:srgbClr val="62666B"/>
                </a:solidFill>
              </a:defRPr>
            </a:pPr>
            <a:r>
              <a:rPr sz="1725" b="0">
                <a:solidFill>
                  <a:srgbClr val="62666B"/>
                </a:solidFill>
              </a:rPr>
              <a:t>Keep private keys</a:t>
            </a:r>
          </a:p>
          <a:p xmlns:a="http://schemas.openxmlformats.org/drawingml/2006/main">
            <a:pPr algn="l">
              <a:buNone/>
              <a:defRPr sz="1725" b="0">
                <a:solidFill>
                  <a:srgbClr val="62666B"/>
                </a:solidFill>
              </a:defRPr>
            </a:pPr>
            <a:r>
              <a:rPr sz="1725" b="0">
                <a:solidFill>
                  <a:srgbClr val="62666B"/>
                </a:solidFill>
              </a:rPr>
              <a:t>on the server</a:t>
            </a:r>
          </a:p>
        </p:txBody>
      </p:sp>
      <p:sp>
        <p:nvSpPr>
          <p:cNvPr id="2006" name="runtime heading 0">
            <a:extLst xmlns:a="http://schemas.openxmlformats.org/drawingml/2006/main">
              <a:ext uri="{FF2B5EF4-FFF2-40B4-BE49-F238E27FC236}">
                <a16:creationId xmlns:a16="http://schemas.microsoft.com/office/drawing/2014/main" id="{3CD7C329-5AC6-4A07-8485-EA5A194CBB97}"/>
              </a:ext>
            </a:extLst>
          </p:cNvPr>
          <p:cNvSpPr>
            <a:spLocks xmlns:a="http://schemas.openxmlformats.org/drawingml/2006/main" noGrp="1"/>
          </p:cNvSpPr>
          <p:nvPr/>
        </p:nvSpPr>
        <p:spPr>
          <a:xfrm xmlns:a="http://schemas.openxmlformats.org/drawingml/2006/main">
            <a:off x="812864" y="4410075"/>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0086AC"/>
                </a:solidFill>
              </a:defRPr>
            </a:defPPr>
            <a:lvl1pPr algn="l">
              <a:buNone/>
              <a:defRPr sz="2100" b="1">
                <a:solidFill>
                  <a:srgbClr val="0086AC"/>
                </a:solidFill>
              </a:defRPr>
            </a:lvl1pPr>
            <a:lvl2pPr algn="l">
              <a:buNone/>
              <a:defRPr sz="2100" b="1">
                <a:solidFill>
                  <a:srgbClr val="0086AC"/>
                </a:solidFill>
              </a:defRPr>
            </a:lvl2pPr>
            <a:lvl3pPr algn="l">
              <a:buNone/>
              <a:defRPr sz="2100" b="1">
                <a:solidFill>
                  <a:srgbClr val="0086AC"/>
                </a:solidFill>
              </a:defRPr>
            </a:lvl3pPr>
            <a:lvl4pPr algn="l">
              <a:buNone/>
              <a:defRPr sz="2100" b="1">
                <a:solidFill>
                  <a:srgbClr val="0086AC"/>
                </a:solidFill>
              </a:defRPr>
            </a:lvl4pPr>
            <a:lvl5pPr algn="l">
              <a:buNone/>
              <a:defRPr sz="2100" b="1">
                <a:solidFill>
                  <a:srgbClr val="0086AC"/>
                </a:solidFill>
              </a:defRPr>
            </a:lvl5pPr>
            <a:lvl6pPr algn="l">
              <a:buNone/>
              <a:defRPr sz="2100" b="1">
                <a:solidFill>
                  <a:srgbClr val="0086AC"/>
                </a:solidFill>
              </a:defRPr>
            </a:lvl6pPr>
            <a:lvl7pPr algn="l">
              <a:buNone/>
              <a:defRPr sz="2100" b="1">
                <a:solidFill>
                  <a:srgbClr val="0086AC"/>
                </a:solidFill>
              </a:defRPr>
            </a:lvl7pPr>
            <a:lvl8pPr algn="l">
              <a:buNone/>
              <a:defRPr sz="2100" b="1">
                <a:solidFill>
                  <a:srgbClr val="0086AC"/>
                </a:solidFill>
              </a:defRPr>
            </a:lvl8pPr>
            <a:lvl9pPr algn="l">
              <a:buNone/>
              <a:defRPr sz="2100" b="1">
                <a:solidFill>
                  <a:srgbClr val="0086AC"/>
                </a:solidFill>
              </a:defRPr>
            </a:lvl9pPr>
          </a:lstStyle>
          <a:p xmlns:a="http://schemas.openxmlformats.org/drawingml/2006/main">
            <a:pPr algn="l">
              <a:buNone/>
              <a:defRPr sz="2100" b="1">
                <a:solidFill>
                  <a:srgbClr val="0086AC"/>
                </a:solidFill>
              </a:defRPr>
            </a:pPr>
            <a:r>
              <a:rPr sz="2100" b="1">
                <a:solidFill>
                  <a:srgbClr val="0086AC"/>
                </a:solidFill>
              </a:rPr>
              <a:t>Deployment</a:t>
            </a:r>
          </a:p>
        </p:txBody>
      </p:sp>
      <p:sp>
        <p:nvSpPr>
          <p:cNvPr id="2007" name="runtime detail 0">
            <a:extLst xmlns:a="http://schemas.openxmlformats.org/drawingml/2006/main">
              <a:ext uri="{FF2B5EF4-FFF2-40B4-BE49-F238E27FC236}">
                <a16:creationId xmlns:a16="http://schemas.microsoft.com/office/drawing/2014/main" id="{8440BB4D-0A4C-4C8F-A21B-1CB24C69147A}"/>
              </a:ext>
            </a:extLst>
          </p:cNvPr>
          <p:cNvSpPr>
            <a:spLocks xmlns:a="http://schemas.openxmlformats.org/drawingml/2006/main" noGrp="1"/>
          </p:cNvSpPr>
          <p:nvPr/>
        </p:nvSpPr>
        <p:spPr>
          <a:xfrm xmlns:a="http://schemas.openxmlformats.org/drawingml/2006/main">
            <a:off x="812864" y="4857750"/>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62666B"/>
                </a:solidFill>
              </a:defRPr>
            </a:defPPr>
            <a:lvl1pPr algn="l">
              <a:buNone/>
              <a:defRPr sz="1650" b="0">
                <a:solidFill>
                  <a:srgbClr val="62666B"/>
                </a:solidFill>
              </a:defRPr>
            </a:lvl1pPr>
            <a:lvl2pPr algn="l">
              <a:buNone/>
              <a:defRPr sz="1650" b="0">
                <a:solidFill>
                  <a:srgbClr val="62666B"/>
                </a:solidFill>
              </a:defRPr>
            </a:lvl2pPr>
            <a:lvl3pPr algn="l">
              <a:buNone/>
              <a:defRPr sz="1650" b="0">
                <a:solidFill>
                  <a:srgbClr val="62666B"/>
                </a:solidFill>
              </a:defRPr>
            </a:lvl3pPr>
            <a:lvl4pPr algn="l">
              <a:buNone/>
              <a:defRPr sz="1650" b="0">
                <a:solidFill>
                  <a:srgbClr val="62666B"/>
                </a:solidFill>
              </a:defRPr>
            </a:lvl4pPr>
            <a:lvl5pPr algn="l">
              <a:buNone/>
              <a:defRPr sz="1650" b="0">
                <a:solidFill>
                  <a:srgbClr val="62666B"/>
                </a:solidFill>
              </a:defRPr>
            </a:lvl5pPr>
            <a:lvl6pPr algn="l">
              <a:buNone/>
              <a:defRPr sz="1650" b="0">
                <a:solidFill>
                  <a:srgbClr val="62666B"/>
                </a:solidFill>
              </a:defRPr>
            </a:lvl6pPr>
            <a:lvl7pPr algn="l">
              <a:buNone/>
              <a:defRPr sz="1650" b="0">
                <a:solidFill>
                  <a:srgbClr val="62666B"/>
                </a:solidFill>
              </a:defRPr>
            </a:lvl7pPr>
            <a:lvl8pPr algn="l">
              <a:buNone/>
              <a:defRPr sz="1650" b="0">
                <a:solidFill>
                  <a:srgbClr val="62666B"/>
                </a:solidFill>
              </a:defRPr>
            </a:lvl8pPr>
            <a:lvl9pPr algn="l">
              <a:buNone/>
              <a:defRPr sz="1650" b="0">
                <a:solidFill>
                  <a:srgbClr val="62666B"/>
                </a:solidFill>
              </a:defRPr>
            </a:lvl9pPr>
          </a:lstStyle>
          <a:p xmlns:a="http://schemas.openxmlformats.org/drawingml/2006/main">
            <a:pPr algn="l">
              <a:buNone/>
              <a:defRPr sz="1650" b="0">
                <a:solidFill>
                  <a:srgbClr val="62666B"/>
                </a:solidFill>
              </a:defRPr>
            </a:pPr>
            <a:r>
              <a:rPr sz="1650" b="0">
                <a:solidFill>
                  <a:srgbClr val="62666B"/>
                </a:solidFill>
              </a:rPr>
              <a:t>Identify the running build</a:t>
            </a:r>
          </a:p>
        </p:txBody>
      </p:sp>
      <p:sp>
        <p:nvSpPr>
          <p:cNvPr id="2008" name="intent link 0">
            <a:extLst xmlns:a="http://schemas.openxmlformats.org/drawingml/2006/main">
              <a:ext uri="{FF2B5EF4-FFF2-40B4-BE49-F238E27FC236}">
                <a16:creationId xmlns:a16="http://schemas.microsoft.com/office/drawing/2014/main" id="{AF1BEE3B-0251-4AF8-B442-7FA269F6AD89}"/>
              </a:ext>
            </a:extLst>
          </p:cNvPr>
          <p:cNvSpPr>
            <a:spLocks xmlns:a="http://schemas.openxmlformats.org/drawingml/2006/main" noGrp="1"/>
          </p:cNvSpPr>
          <p:nvPr/>
        </p:nvSpPr>
        <p:spPr>
          <a:xfrm xmlns:a="http://schemas.openxmlformats.org/drawingml/2006/main">
            <a:off x="3879914" y="2600325"/>
            <a:ext cx="295275" cy="180975"/>
          </a:xfrm>
          <a:prstGeom xmlns:a="http://schemas.openxmlformats.org/drawingml/2006/main" prst="rightArrow">
            <a:avLst/>
          </a:prstGeom>
          <a:solidFill xmlns:a="http://schemas.openxmlformats.org/drawingml/2006/main">
            <a:srgbClr val="4F8734"/>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09" name="runtime link 0">
            <a:extLst xmlns:a="http://schemas.openxmlformats.org/drawingml/2006/main">
              <a:ext uri="{FF2B5EF4-FFF2-40B4-BE49-F238E27FC236}">
                <a16:creationId xmlns:a16="http://schemas.microsoft.com/office/drawing/2014/main" id="{8F2F424D-5863-4615-A64B-5798E5201F02}"/>
              </a:ext>
            </a:extLst>
          </p:cNvPr>
          <p:cNvSpPr>
            <a:spLocks xmlns:a="http://schemas.openxmlformats.org/drawingml/2006/main" noGrp="1"/>
          </p:cNvSpPr>
          <p:nvPr/>
        </p:nvSpPr>
        <p:spPr>
          <a:xfrm xmlns:a="http://schemas.openxmlformats.org/drawingml/2006/main">
            <a:off x="3879914" y="4552950"/>
            <a:ext cx="295275" cy="180975"/>
          </a:xfrm>
          <a:prstGeom xmlns:a="http://schemas.openxmlformats.org/drawingml/2006/main" prst="rightArrow">
            <a:avLst/>
          </a:prstGeom>
          <a:solidFill xmlns:a="http://schemas.openxmlformats.org/drawingml/2006/main">
            <a:srgbClr val="0086A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10" name="intent heading 1">
            <a:extLst xmlns:a="http://schemas.openxmlformats.org/drawingml/2006/main">
              <a:ext uri="{FF2B5EF4-FFF2-40B4-BE49-F238E27FC236}">
                <a16:creationId xmlns:a16="http://schemas.microsoft.com/office/drawing/2014/main" id="{C91A325D-779E-46D1-8DF0-DF3B690278DB}"/>
              </a:ext>
            </a:extLst>
          </p:cNvPr>
          <p:cNvSpPr>
            <a:spLocks xmlns:a="http://schemas.openxmlformats.org/drawingml/2006/main" noGrp="1"/>
          </p:cNvSpPr>
          <p:nvPr/>
        </p:nvSpPr>
        <p:spPr>
          <a:xfrm xmlns:a="http://schemas.openxmlformats.org/drawingml/2006/main">
            <a:off x="4476750" y="24574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4F8734"/>
                </a:solidFill>
              </a:defRPr>
            </a:defPPr>
            <a:lvl1pPr algn="l">
              <a:buNone/>
              <a:defRPr sz="2100" b="1">
                <a:solidFill>
                  <a:srgbClr val="4F8734"/>
                </a:solidFill>
              </a:defRPr>
            </a:lvl1pPr>
            <a:lvl2pPr algn="l">
              <a:buNone/>
              <a:defRPr sz="2100" b="1">
                <a:solidFill>
                  <a:srgbClr val="4F8734"/>
                </a:solidFill>
              </a:defRPr>
            </a:lvl2pPr>
            <a:lvl3pPr algn="l">
              <a:buNone/>
              <a:defRPr sz="2100" b="1">
                <a:solidFill>
                  <a:srgbClr val="4F8734"/>
                </a:solidFill>
              </a:defRPr>
            </a:lvl3pPr>
            <a:lvl4pPr algn="l">
              <a:buNone/>
              <a:defRPr sz="2100" b="1">
                <a:solidFill>
                  <a:srgbClr val="4F8734"/>
                </a:solidFill>
              </a:defRPr>
            </a:lvl4pPr>
            <a:lvl5pPr algn="l">
              <a:buNone/>
              <a:defRPr sz="2100" b="1">
                <a:solidFill>
                  <a:srgbClr val="4F8734"/>
                </a:solidFill>
              </a:defRPr>
            </a:lvl5pPr>
            <a:lvl6pPr algn="l">
              <a:buNone/>
              <a:defRPr sz="2100" b="1">
                <a:solidFill>
                  <a:srgbClr val="4F8734"/>
                </a:solidFill>
              </a:defRPr>
            </a:lvl6pPr>
            <a:lvl7pPr algn="l">
              <a:buNone/>
              <a:defRPr sz="2100" b="1">
                <a:solidFill>
                  <a:srgbClr val="4F8734"/>
                </a:solidFill>
              </a:defRPr>
            </a:lvl7pPr>
            <a:lvl8pPr algn="l">
              <a:buNone/>
              <a:defRPr sz="2100" b="1">
                <a:solidFill>
                  <a:srgbClr val="4F8734"/>
                </a:solidFill>
              </a:defRPr>
            </a:lvl8pPr>
            <a:lvl9pPr algn="l">
              <a:buNone/>
              <a:defRPr sz="2100" b="1">
                <a:solidFill>
                  <a:srgbClr val="4F8734"/>
                </a:solidFill>
              </a:defRPr>
            </a:lvl9pPr>
          </a:lstStyle>
          <a:p xmlns:a="http://schemas.openxmlformats.org/drawingml/2006/main">
            <a:pPr algn="l">
              <a:buNone/>
              <a:defRPr sz="2100" b="1">
                <a:solidFill>
                  <a:srgbClr val="4F8734"/>
                </a:solidFill>
              </a:defRPr>
            </a:pPr>
            <a:r>
              <a:rPr sz="2100" b="1">
                <a:solidFill>
                  <a:srgbClr val="4F8734"/>
                </a:solidFill>
              </a:rPr>
              <a:t>Code revision</a:t>
            </a:r>
          </a:p>
        </p:txBody>
      </p:sp>
      <p:sp>
        <p:nvSpPr>
          <p:cNvPr id="2011" name="intent detail 1">
            <a:extLst xmlns:a="http://schemas.openxmlformats.org/drawingml/2006/main">
              <a:ext uri="{FF2B5EF4-FFF2-40B4-BE49-F238E27FC236}">
                <a16:creationId xmlns:a16="http://schemas.microsoft.com/office/drawing/2014/main" id="{4F8D735F-2FE4-4625-8782-28FA7A78B465}"/>
              </a:ext>
            </a:extLst>
          </p:cNvPr>
          <p:cNvSpPr>
            <a:spLocks xmlns:a="http://schemas.openxmlformats.org/drawingml/2006/main" noGrp="1"/>
          </p:cNvSpPr>
          <p:nvPr/>
        </p:nvSpPr>
        <p:spPr>
          <a:xfrm xmlns:a="http://schemas.openxmlformats.org/drawingml/2006/main">
            <a:off x="4476750" y="2905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62666B"/>
                </a:solidFill>
              </a:defRPr>
            </a:defPPr>
            <a:lvl1pPr algn="l">
              <a:buNone/>
              <a:defRPr sz="1725" b="0">
                <a:solidFill>
                  <a:srgbClr val="62666B"/>
                </a:solidFill>
              </a:defRPr>
            </a:lvl1pPr>
            <a:lvl2pPr algn="l">
              <a:buNone/>
              <a:defRPr sz="1725" b="0">
                <a:solidFill>
                  <a:srgbClr val="62666B"/>
                </a:solidFill>
              </a:defRPr>
            </a:lvl2pPr>
            <a:lvl3pPr algn="l">
              <a:buNone/>
              <a:defRPr sz="1725" b="0">
                <a:solidFill>
                  <a:srgbClr val="62666B"/>
                </a:solidFill>
              </a:defRPr>
            </a:lvl3pPr>
            <a:lvl4pPr algn="l">
              <a:buNone/>
              <a:defRPr sz="1725" b="0">
                <a:solidFill>
                  <a:srgbClr val="62666B"/>
                </a:solidFill>
              </a:defRPr>
            </a:lvl4pPr>
            <a:lvl5pPr algn="l">
              <a:buNone/>
              <a:defRPr sz="1725" b="0">
                <a:solidFill>
                  <a:srgbClr val="62666B"/>
                </a:solidFill>
              </a:defRPr>
            </a:lvl5pPr>
            <a:lvl6pPr algn="l">
              <a:buNone/>
              <a:defRPr sz="1725" b="0">
                <a:solidFill>
                  <a:srgbClr val="62666B"/>
                </a:solidFill>
              </a:defRPr>
            </a:lvl6pPr>
            <a:lvl7pPr algn="l">
              <a:buNone/>
              <a:defRPr sz="1725" b="0">
                <a:solidFill>
                  <a:srgbClr val="62666B"/>
                </a:solidFill>
              </a:defRPr>
            </a:lvl7pPr>
            <a:lvl8pPr algn="l">
              <a:buNone/>
              <a:defRPr sz="1725" b="0">
                <a:solidFill>
                  <a:srgbClr val="62666B"/>
                </a:solidFill>
              </a:defRPr>
            </a:lvl8pPr>
            <a:lvl9pPr algn="l">
              <a:buNone/>
              <a:defRPr sz="1725" b="0">
                <a:solidFill>
                  <a:srgbClr val="62666B"/>
                </a:solidFill>
              </a:defRPr>
            </a:lvl9pPr>
          </a:lstStyle>
          <a:p xmlns:a="http://schemas.openxmlformats.org/drawingml/2006/main">
            <a:pPr algn="l">
              <a:buNone/>
              <a:defRPr sz="1725" b="0">
                <a:solidFill>
                  <a:srgbClr val="62666B"/>
                </a:solidFill>
              </a:defRPr>
            </a:pPr>
            <a:r>
              <a:rPr sz="1725" b="0">
                <a:solidFill>
                  <a:srgbClr val="62666B"/>
                </a:solidFill>
              </a:rPr>
              <a:t>Review the</a:t>
            </a:r>
          </a:p>
          <a:p xmlns:a="http://schemas.openxmlformats.org/drawingml/2006/main">
            <a:pPr algn="l">
              <a:buNone/>
              <a:defRPr sz="1725" b="0">
                <a:solidFill>
                  <a:srgbClr val="62666B"/>
                </a:solidFill>
              </a:defRPr>
            </a:pPr>
            <a:r>
              <a:rPr sz="1725" b="0">
                <a:solidFill>
                  <a:srgbClr val="62666B"/>
                </a:solidFill>
              </a:rPr>
              <a:t>changed code</a:t>
            </a:r>
          </a:p>
        </p:txBody>
      </p:sp>
      <p:sp>
        <p:nvSpPr>
          <p:cNvPr id="2012" name="runtime heading 1">
            <a:extLst xmlns:a="http://schemas.openxmlformats.org/drawingml/2006/main">
              <a:ext uri="{FF2B5EF4-FFF2-40B4-BE49-F238E27FC236}">
                <a16:creationId xmlns:a16="http://schemas.microsoft.com/office/drawing/2014/main" id="{750C0B0C-8B00-436B-B230-583168CB77B0}"/>
              </a:ext>
            </a:extLst>
          </p:cNvPr>
          <p:cNvSpPr>
            <a:spLocks xmlns:a="http://schemas.openxmlformats.org/drawingml/2006/main" noGrp="1"/>
          </p:cNvSpPr>
          <p:nvPr/>
        </p:nvSpPr>
        <p:spPr>
          <a:xfrm xmlns:a="http://schemas.openxmlformats.org/drawingml/2006/main">
            <a:off x="4476750" y="4410075"/>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0086AC"/>
                </a:solidFill>
              </a:defRPr>
            </a:defPPr>
            <a:lvl1pPr algn="l">
              <a:buNone/>
              <a:defRPr sz="2100" b="1">
                <a:solidFill>
                  <a:srgbClr val="0086AC"/>
                </a:solidFill>
              </a:defRPr>
            </a:lvl1pPr>
            <a:lvl2pPr algn="l">
              <a:buNone/>
              <a:defRPr sz="2100" b="1">
                <a:solidFill>
                  <a:srgbClr val="0086AC"/>
                </a:solidFill>
              </a:defRPr>
            </a:lvl2pPr>
            <a:lvl3pPr algn="l">
              <a:buNone/>
              <a:defRPr sz="2100" b="1">
                <a:solidFill>
                  <a:srgbClr val="0086AC"/>
                </a:solidFill>
              </a:defRPr>
            </a:lvl3pPr>
            <a:lvl4pPr algn="l">
              <a:buNone/>
              <a:defRPr sz="2100" b="1">
                <a:solidFill>
                  <a:srgbClr val="0086AC"/>
                </a:solidFill>
              </a:defRPr>
            </a:lvl4pPr>
            <a:lvl5pPr algn="l">
              <a:buNone/>
              <a:defRPr sz="2100" b="1">
                <a:solidFill>
                  <a:srgbClr val="0086AC"/>
                </a:solidFill>
              </a:defRPr>
            </a:lvl5pPr>
            <a:lvl6pPr algn="l">
              <a:buNone/>
              <a:defRPr sz="2100" b="1">
                <a:solidFill>
                  <a:srgbClr val="0086AC"/>
                </a:solidFill>
              </a:defRPr>
            </a:lvl6pPr>
            <a:lvl7pPr algn="l">
              <a:buNone/>
              <a:defRPr sz="2100" b="1">
                <a:solidFill>
                  <a:srgbClr val="0086AC"/>
                </a:solidFill>
              </a:defRPr>
            </a:lvl7pPr>
            <a:lvl8pPr algn="l">
              <a:buNone/>
              <a:defRPr sz="2100" b="1">
                <a:solidFill>
                  <a:srgbClr val="0086AC"/>
                </a:solidFill>
              </a:defRPr>
            </a:lvl8pPr>
            <a:lvl9pPr algn="l">
              <a:buNone/>
              <a:defRPr sz="2100" b="1">
                <a:solidFill>
                  <a:srgbClr val="0086AC"/>
                </a:solidFill>
              </a:defRPr>
            </a:lvl9pPr>
          </a:lstStyle>
          <a:p xmlns:a="http://schemas.openxmlformats.org/drawingml/2006/main">
            <a:pPr algn="l">
              <a:buNone/>
              <a:defRPr sz="2100" b="1">
                <a:solidFill>
                  <a:srgbClr val="0086AC"/>
                </a:solidFill>
              </a:defRPr>
            </a:pPr>
            <a:r>
              <a:rPr sz="2100" b="1">
                <a:solidFill>
                  <a:srgbClr val="0086AC"/>
                </a:solidFill>
              </a:rPr>
              <a:t>Request trace</a:t>
            </a:r>
          </a:p>
        </p:txBody>
      </p:sp>
      <p:sp>
        <p:nvSpPr>
          <p:cNvPr id="2013" name="runtime detail 1">
            <a:extLst xmlns:a="http://schemas.openxmlformats.org/drawingml/2006/main">
              <a:ext uri="{FF2B5EF4-FFF2-40B4-BE49-F238E27FC236}">
                <a16:creationId xmlns:a16="http://schemas.microsoft.com/office/drawing/2014/main" id="{6540359C-590A-4007-A665-0A122AE1B1D1}"/>
              </a:ext>
            </a:extLst>
          </p:cNvPr>
          <p:cNvSpPr>
            <a:spLocks xmlns:a="http://schemas.openxmlformats.org/drawingml/2006/main" noGrp="1"/>
          </p:cNvSpPr>
          <p:nvPr/>
        </p:nvSpPr>
        <p:spPr>
          <a:xfrm xmlns:a="http://schemas.openxmlformats.org/drawingml/2006/main">
            <a:off x="4476750" y="4857750"/>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62666B"/>
                </a:solidFill>
              </a:defRPr>
            </a:defPPr>
            <a:lvl1pPr algn="l">
              <a:buNone/>
              <a:defRPr sz="1650" b="0">
                <a:solidFill>
                  <a:srgbClr val="62666B"/>
                </a:solidFill>
              </a:defRPr>
            </a:lvl1pPr>
            <a:lvl2pPr algn="l">
              <a:buNone/>
              <a:defRPr sz="1650" b="0">
                <a:solidFill>
                  <a:srgbClr val="62666B"/>
                </a:solidFill>
              </a:defRPr>
            </a:lvl2pPr>
            <a:lvl3pPr algn="l">
              <a:buNone/>
              <a:defRPr sz="1650" b="0">
                <a:solidFill>
                  <a:srgbClr val="62666B"/>
                </a:solidFill>
              </a:defRPr>
            </a:lvl3pPr>
            <a:lvl4pPr algn="l">
              <a:buNone/>
              <a:defRPr sz="1650" b="0">
                <a:solidFill>
                  <a:srgbClr val="62666B"/>
                </a:solidFill>
              </a:defRPr>
            </a:lvl4pPr>
            <a:lvl5pPr algn="l">
              <a:buNone/>
              <a:defRPr sz="1650" b="0">
                <a:solidFill>
                  <a:srgbClr val="62666B"/>
                </a:solidFill>
              </a:defRPr>
            </a:lvl5pPr>
            <a:lvl6pPr algn="l">
              <a:buNone/>
              <a:defRPr sz="1650" b="0">
                <a:solidFill>
                  <a:srgbClr val="62666B"/>
                </a:solidFill>
              </a:defRPr>
            </a:lvl6pPr>
            <a:lvl7pPr algn="l">
              <a:buNone/>
              <a:defRPr sz="1650" b="0">
                <a:solidFill>
                  <a:srgbClr val="62666B"/>
                </a:solidFill>
              </a:defRPr>
            </a:lvl7pPr>
            <a:lvl8pPr algn="l">
              <a:buNone/>
              <a:defRPr sz="1650" b="0">
                <a:solidFill>
                  <a:srgbClr val="62666B"/>
                </a:solidFill>
              </a:defRPr>
            </a:lvl8pPr>
            <a:lvl9pPr algn="l">
              <a:buNone/>
              <a:defRPr sz="1650" b="0">
                <a:solidFill>
                  <a:srgbClr val="62666B"/>
                </a:solidFill>
              </a:defRPr>
            </a:lvl9pPr>
          </a:lstStyle>
          <a:p xmlns:a="http://schemas.openxmlformats.org/drawingml/2006/main">
            <a:pPr algn="l">
              <a:buNone/>
              <a:defRPr sz="1650" b="0">
                <a:solidFill>
                  <a:srgbClr val="62666B"/>
                </a:solidFill>
              </a:defRPr>
            </a:pPr>
            <a:r>
              <a:rPr sz="1650" b="0">
                <a:solidFill>
                  <a:srgbClr val="62666B"/>
                </a:solidFill>
              </a:rPr>
              <a:t>Follow service operations</a:t>
            </a:r>
          </a:p>
        </p:txBody>
      </p:sp>
      <p:sp>
        <p:nvSpPr>
          <p:cNvPr id="2014" name="intent link 1">
            <a:extLst xmlns:a="http://schemas.openxmlformats.org/drawingml/2006/main">
              <a:ext uri="{FF2B5EF4-FFF2-40B4-BE49-F238E27FC236}">
                <a16:creationId xmlns:a16="http://schemas.microsoft.com/office/drawing/2014/main" id="{DD2E2AC3-DBAC-4F2D-821A-D135970A3972}"/>
              </a:ext>
            </a:extLst>
          </p:cNvPr>
          <p:cNvSpPr>
            <a:spLocks xmlns:a="http://schemas.openxmlformats.org/drawingml/2006/main" noGrp="1"/>
          </p:cNvSpPr>
          <p:nvPr/>
        </p:nvSpPr>
        <p:spPr>
          <a:xfrm xmlns:a="http://schemas.openxmlformats.org/drawingml/2006/main">
            <a:off x="7543800" y="2600325"/>
            <a:ext cx="295275" cy="180975"/>
          </a:xfrm>
          <a:prstGeom xmlns:a="http://schemas.openxmlformats.org/drawingml/2006/main" prst="rightArrow">
            <a:avLst/>
          </a:prstGeom>
          <a:solidFill xmlns:a="http://schemas.openxmlformats.org/drawingml/2006/main">
            <a:srgbClr val="4F8734"/>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15" name="runtime link 1">
            <a:extLst xmlns:a="http://schemas.openxmlformats.org/drawingml/2006/main">
              <a:ext uri="{FF2B5EF4-FFF2-40B4-BE49-F238E27FC236}">
                <a16:creationId xmlns:a16="http://schemas.microsoft.com/office/drawing/2014/main" id="{AC9A430B-40FE-4DBE-A5FB-B212F9F8E785}"/>
              </a:ext>
            </a:extLst>
          </p:cNvPr>
          <p:cNvSpPr>
            <a:spLocks xmlns:a="http://schemas.openxmlformats.org/drawingml/2006/main" noGrp="1"/>
          </p:cNvSpPr>
          <p:nvPr/>
        </p:nvSpPr>
        <p:spPr>
          <a:xfrm xmlns:a="http://schemas.openxmlformats.org/drawingml/2006/main">
            <a:off x="7543800" y="4552950"/>
            <a:ext cx="295275" cy="180975"/>
          </a:xfrm>
          <a:prstGeom xmlns:a="http://schemas.openxmlformats.org/drawingml/2006/main" prst="rightArrow">
            <a:avLst/>
          </a:prstGeom>
          <a:solidFill xmlns:a="http://schemas.openxmlformats.org/drawingml/2006/main">
            <a:srgbClr val="0086AC"/>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16" name="intent heading 2">
            <a:extLst xmlns:a="http://schemas.openxmlformats.org/drawingml/2006/main">
              <a:ext uri="{FF2B5EF4-FFF2-40B4-BE49-F238E27FC236}">
                <a16:creationId xmlns:a16="http://schemas.microsoft.com/office/drawing/2014/main" id="{BE566F68-2212-4BAD-9D0B-D6FD1BF1FF75}"/>
              </a:ext>
            </a:extLst>
          </p:cNvPr>
          <p:cNvSpPr>
            <a:spLocks xmlns:a="http://schemas.openxmlformats.org/drawingml/2006/main" noGrp="1"/>
          </p:cNvSpPr>
          <p:nvPr/>
        </p:nvSpPr>
        <p:spPr>
          <a:xfrm xmlns:a="http://schemas.openxmlformats.org/drawingml/2006/main">
            <a:off x="8143875" y="2457450"/>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4F8734"/>
                </a:solidFill>
              </a:defRPr>
            </a:defPPr>
            <a:lvl1pPr algn="l">
              <a:buNone/>
              <a:defRPr sz="2100" b="1">
                <a:solidFill>
                  <a:srgbClr val="4F8734"/>
                </a:solidFill>
              </a:defRPr>
            </a:lvl1pPr>
            <a:lvl2pPr algn="l">
              <a:buNone/>
              <a:defRPr sz="2100" b="1">
                <a:solidFill>
                  <a:srgbClr val="4F8734"/>
                </a:solidFill>
              </a:defRPr>
            </a:lvl2pPr>
            <a:lvl3pPr algn="l">
              <a:buNone/>
              <a:defRPr sz="2100" b="1">
                <a:solidFill>
                  <a:srgbClr val="4F8734"/>
                </a:solidFill>
              </a:defRPr>
            </a:lvl3pPr>
            <a:lvl4pPr algn="l">
              <a:buNone/>
              <a:defRPr sz="2100" b="1">
                <a:solidFill>
                  <a:srgbClr val="4F8734"/>
                </a:solidFill>
              </a:defRPr>
            </a:lvl4pPr>
            <a:lvl5pPr algn="l">
              <a:buNone/>
              <a:defRPr sz="2100" b="1">
                <a:solidFill>
                  <a:srgbClr val="4F8734"/>
                </a:solidFill>
              </a:defRPr>
            </a:lvl5pPr>
            <a:lvl6pPr algn="l">
              <a:buNone/>
              <a:defRPr sz="2100" b="1">
                <a:solidFill>
                  <a:srgbClr val="4F8734"/>
                </a:solidFill>
              </a:defRPr>
            </a:lvl6pPr>
            <a:lvl7pPr algn="l">
              <a:buNone/>
              <a:defRPr sz="2100" b="1">
                <a:solidFill>
                  <a:srgbClr val="4F8734"/>
                </a:solidFill>
              </a:defRPr>
            </a:lvl7pPr>
            <a:lvl8pPr algn="l">
              <a:buNone/>
              <a:defRPr sz="2100" b="1">
                <a:solidFill>
                  <a:srgbClr val="4F8734"/>
                </a:solidFill>
              </a:defRPr>
            </a:lvl8pPr>
            <a:lvl9pPr algn="l">
              <a:buNone/>
              <a:defRPr sz="2100" b="1">
                <a:solidFill>
                  <a:srgbClr val="4F8734"/>
                </a:solidFill>
              </a:defRPr>
            </a:lvl9pPr>
          </a:lstStyle>
          <a:p xmlns:a="http://schemas.openxmlformats.org/drawingml/2006/main">
            <a:pPr algn="l">
              <a:buNone/>
              <a:defRPr sz="2100" b="1">
                <a:solidFill>
                  <a:srgbClr val="4F8734"/>
                </a:solidFill>
              </a:defRPr>
            </a:pPr>
            <a:r>
              <a:rPr sz="2100" b="1">
                <a:solidFill>
                  <a:srgbClr val="4F8734"/>
                </a:solidFill>
              </a:rPr>
              <a:t>Test + result</a:t>
            </a:r>
          </a:p>
        </p:txBody>
      </p:sp>
      <p:sp>
        <p:nvSpPr>
          <p:cNvPr id="2017" name="intent detail 2">
            <a:extLst xmlns:a="http://schemas.openxmlformats.org/drawingml/2006/main">
              <a:ext uri="{FF2B5EF4-FFF2-40B4-BE49-F238E27FC236}">
                <a16:creationId xmlns:a16="http://schemas.microsoft.com/office/drawing/2014/main" id="{BCE744E6-54F9-4783-8AC3-CB1704D3BA26}"/>
              </a:ext>
            </a:extLst>
          </p:cNvPr>
          <p:cNvSpPr>
            <a:spLocks xmlns:a="http://schemas.openxmlformats.org/drawingml/2006/main" noGrp="1"/>
          </p:cNvSpPr>
          <p:nvPr/>
        </p:nvSpPr>
        <p:spPr>
          <a:xfrm xmlns:a="http://schemas.openxmlformats.org/drawingml/2006/main">
            <a:off x="8143875" y="2905125"/>
            <a:ext cx="285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62666B"/>
                </a:solidFill>
              </a:defRPr>
            </a:defPPr>
            <a:lvl1pPr algn="l">
              <a:buNone/>
              <a:defRPr sz="1725" b="0">
                <a:solidFill>
                  <a:srgbClr val="62666B"/>
                </a:solidFill>
              </a:defRPr>
            </a:lvl1pPr>
            <a:lvl2pPr algn="l">
              <a:buNone/>
              <a:defRPr sz="1725" b="0">
                <a:solidFill>
                  <a:srgbClr val="62666B"/>
                </a:solidFill>
              </a:defRPr>
            </a:lvl2pPr>
            <a:lvl3pPr algn="l">
              <a:buNone/>
              <a:defRPr sz="1725" b="0">
                <a:solidFill>
                  <a:srgbClr val="62666B"/>
                </a:solidFill>
              </a:defRPr>
            </a:lvl3pPr>
            <a:lvl4pPr algn="l">
              <a:buNone/>
              <a:defRPr sz="1725" b="0">
                <a:solidFill>
                  <a:srgbClr val="62666B"/>
                </a:solidFill>
              </a:defRPr>
            </a:lvl4pPr>
            <a:lvl5pPr algn="l">
              <a:buNone/>
              <a:defRPr sz="1725" b="0">
                <a:solidFill>
                  <a:srgbClr val="62666B"/>
                </a:solidFill>
              </a:defRPr>
            </a:lvl5pPr>
            <a:lvl6pPr algn="l">
              <a:buNone/>
              <a:defRPr sz="1725" b="0">
                <a:solidFill>
                  <a:srgbClr val="62666B"/>
                </a:solidFill>
              </a:defRPr>
            </a:lvl6pPr>
            <a:lvl7pPr algn="l">
              <a:buNone/>
              <a:defRPr sz="1725" b="0">
                <a:solidFill>
                  <a:srgbClr val="62666B"/>
                </a:solidFill>
              </a:defRPr>
            </a:lvl7pPr>
            <a:lvl8pPr algn="l">
              <a:buNone/>
              <a:defRPr sz="1725" b="0">
                <a:solidFill>
                  <a:srgbClr val="62666B"/>
                </a:solidFill>
              </a:defRPr>
            </a:lvl8pPr>
            <a:lvl9pPr algn="l">
              <a:buNone/>
              <a:defRPr sz="1725" b="0">
                <a:solidFill>
                  <a:srgbClr val="62666B"/>
                </a:solidFill>
              </a:defRPr>
            </a:lvl9pPr>
          </a:lstStyle>
          <a:p xmlns:a="http://schemas.openxmlformats.org/drawingml/2006/main">
            <a:pPr algn="l">
              <a:buNone/>
              <a:defRPr sz="1725" b="0">
                <a:solidFill>
                  <a:srgbClr val="62666B"/>
                </a:solidFill>
              </a:defRPr>
            </a:pPr>
            <a:r>
              <a:rPr sz="1725" b="0">
                <a:solidFill>
                  <a:srgbClr val="62666B"/>
                </a:solidFill>
              </a:rPr>
              <a:t>Inspect the</a:t>
            </a:r>
          </a:p>
          <a:p xmlns:a="http://schemas.openxmlformats.org/drawingml/2006/main">
            <a:pPr algn="l">
              <a:buNone/>
              <a:defRPr sz="1725" b="0">
                <a:solidFill>
                  <a:srgbClr val="62666B"/>
                </a:solidFill>
              </a:defRPr>
            </a:pPr>
            <a:r>
              <a:rPr sz="1725" b="0">
                <a:solidFill>
                  <a:srgbClr val="62666B"/>
                </a:solidFill>
              </a:rPr>
              <a:t>browser response</a:t>
            </a:r>
          </a:p>
        </p:txBody>
      </p:sp>
      <p:sp>
        <p:nvSpPr>
          <p:cNvPr id="2018" name="runtime heading 2">
            <a:extLst xmlns:a="http://schemas.openxmlformats.org/drawingml/2006/main">
              <a:ext uri="{FF2B5EF4-FFF2-40B4-BE49-F238E27FC236}">
                <a16:creationId xmlns:a16="http://schemas.microsoft.com/office/drawing/2014/main" id="{1B71F349-A84F-4129-A034-107385EC5F60}"/>
              </a:ext>
            </a:extLst>
          </p:cNvPr>
          <p:cNvSpPr>
            <a:spLocks xmlns:a="http://schemas.openxmlformats.org/drawingml/2006/main" noGrp="1"/>
          </p:cNvSpPr>
          <p:nvPr/>
        </p:nvSpPr>
        <p:spPr>
          <a:xfrm xmlns:a="http://schemas.openxmlformats.org/drawingml/2006/main">
            <a:off x="8143875" y="4410075"/>
            <a:ext cx="285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0086AC"/>
                </a:solidFill>
              </a:defRPr>
            </a:defPPr>
            <a:lvl1pPr algn="l">
              <a:buNone/>
              <a:defRPr sz="2100" b="1">
                <a:solidFill>
                  <a:srgbClr val="0086AC"/>
                </a:solidFill>
              </a:defRPr>
            </a:lvl1pPr>
            <a:lvl2pPr algn="l">
              <a:buNone/>
              <a:defRPr sz="2100" b="1">
                <a:solidFill>
                  <a:srgbClr val="0086AC"/>
                </a:solidFill>
              </a:defRPr>
            </a:lvl2pPr>
            <a:lvl3pPr algn="l">
              <a:buNone/>
              <a:defRPr sz="2100" b="1">
                <a:solidFill>
                  <a:srgbClr val="0086AC"/>
                </a:solidFill>
              </a:defRPr>
            </a:lvl3pPr>
            <a:lvl4pPr algn="l">
              <a:buNone/>
              <a:defRPr sz="2100" b="1">
                <a:solidFill>
                  <a:srgbClr val="0086AC"/>
                </a:solidFill>
              </a:defRPr>
            </a:lvl4pPr>
            <a:lvl5pPr algn="l">
              <a:buNone/>
              <a:defRPr sz="2100" b="1">
                <a:solidFill>
                  <a:srgbClr val="0086AC"/>
                </a:solidFill>
              </a:defRPr>
            </a:lvl5pPr>
            <a:lvl6pPr algn="l">
              <a:buNone/>
              <a:defRPr sz="2100" b="1">
                <a:solidFill>
                  <a:srgbClr val="0086AC"/>
                </a:solidFill>
              </a:defRPr>
            </a:lvl6pPr>
            <a:lvl7pPr algn="l">
              <a:buNone/>
              <a:defRPr sz="2100" b="1">
                <a:solidFill>
                  <a:srgbClr val="0086AC"/>
                </a:solidFill>
              </a:defRPr>
            </a:lvl7pPr>
            <a:lvl8pPr algn="l">
              <a:buNone/>
              <a:defRPr sz="2100" b="1">
                <a:solidFill>
                  <a:srgbClr val="0086AC"/>
                </a:solidFill>
              </a:defRPr>
            </a:lvl8pPr>
            <a:lvl9pPr algn="l">
              <a:buNone/>
              <a:defRPr sz="2100" b="1">
                <a:solidFill>
                  <a:srgbClr val="0086AC"/>
                </a:solidFill>
              </a:defRPr>
            </a:lvl9pPr>
          </a:lstStyle>
          <a:p xmlns:a="http://schemas.openxmlformats.org/drawingml/2006/main">
            <a:pPr algn="l">
              <a:buNone/>
              <a:defRPr sz="2100" b="1">
                <a:solidFill>
                  <a:srgbClr val="0086AC"/>
                </a:solidFill>
              </a:defRPr>
            </a:pPr>
            <a:r>
              <a:rPr sz="2100" b="1">
                <a:solidFill>
                  <a:srgbClr val="0086AC"/>
                </a:solidFill>
              </a:rPr>
              <a:t>Logs + metrics</a:t>
            </a:r>
          </a:p>
        </p:txBody>
      </p:sp>
      <p:sp>
        <p:nvSpPr>
          <p:cNvPr id="2019" name="runtime detail 2">
            <a:extLst xmlns:a="http://schemas.openxmlformats.org/drawingml/2006/main">
              <a:ext uri="{FF2B5EF4-FFF2-40B4-BE49-F238E27FC236}">
                <a16:creationId xmlns:a16="http://schemas.microsoft.com/office/drawing/2014/main" id="{DA4A101C-3360-47A5-B4E3-A32722FB50A9}"/>
              </a:ext>
            </a:extLst>
          </p:cNvPr>
          <p:cNvSpPr>
            <a:spLocks xmlns:a="http://schemas.openxmlformats.org/drawingml/2006/main" noGrp="1"/>
          </p:cNvSpPr>
          <p:nvPr/>
        </p:nvSpPr>
        <p:spPr>
          <a:xfrm xmlns:a="http://schemas.openxmlformats.org/drawingml/2006/main">
            <a:off x="8143875" y="4857750"/>
            <a:ext cx="285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62666B"/>
                </a:solidFill>
              </a:defRPr>
            </a:defPPr>
            <a:lvl1pPr algn="l">
              <a:buNone/>
              <a:defRPr sz="1650" b="0">
                <a:solidFill>
                  <a:srgbClr val="62666B"/>
                </a:solidFill>
              </a:defRPr>
            </a:lvl1pPr>
            <a:lvl2pPr algn="l">
              <a:buNone/>
              <a:defRPr sz="1650" b="0">
                <a:solidFill>
                  <a:srgbClr val="62666B"/>
                </a:solidFill>
              </a:defRPr>
            </a:lvl2pPr>
            <a:lvl3pPr algn="l">
              <a:buNone/>
              <a:defRPr sz="1650" b="0">
                <a:solidFill>
                  <a:srgbClr val="62666B"/>
                </a:solidFill>
              </a:defRPr>
            </a:lvl3pPr>
            <a:lvl4pPr algn="l">
              <a:buNone/>
              <a:defRPr sz="1650" b="0">
                <a:solidFill>
                  <a:srgbClr val="62666B"/>
                </a:solidFill>
              </a:defRPr>
            </a:lvl4pPr>
            <a:lvl5pPr algn="l">
              <a:buNone/>
              <a:defRPr sz="1650" b="0">
                <a:solidFill>
                  <a:srgbClr val="62666B"/>
                </a:solidFill>
              </a:defRPr>
            </a:lvl5pPr>
            <a:lvl6pPr algn="l">
              <a:buNone/>
              <a:defRPr sz="1650" b="0">
                <a:solidFill>
                  <a:srgbClr val="62666B"/>
                </a:solidFill>
              </a:defRPr>
            </a:lvl6pPr>
            <a:lvl7pPr algn="l">
              <a:buNone/>
              <a:defRPr sz="1650" b="0">
                <a:solidFill>
                  <a:srgbClr val="62666B"/>
                </a:solidFill>
              </a:defRPr>
            </a:lvl7pPr>
            <a:lvl8pPr algn="l">
              <a:buNone/>
              <a:defRPr sz="1650" b="0">
                <a:solidFill>
                  <a:srgbClr val="62666B"/>
                </a:solidFill>
              </a:defRPr>
            </a:lvl8pPr>
            <a:lvl9pPr algn="l">
              <a:buNone/>
              <a:defRPr sz="1650" b="0">
                <a:solidFill>
                  <a:srgbClr val="62666B"/>
                </a:solidFill>
              </a:defRPr>
            </a:lvl9pPr>
          </a:lstStyle>
          <a:p xmlns:a="http://schemas.openxmlformats.org/drawingml/2006/main">
            <a:pPr algn="l">
              <a:buNone/>
              <a:defRPr sz="1650" b="0">
                <a:solidFill>
                  <a:srgbClr val="62666B"/>
                </a:solidFill>
              </a:defRPr>
            </a:pPr>
            <a:r>
              <a:rPr sz="1650" b="0">
                <a:solidFill>
                  <a:srgbClr val="62666B"/>
                </a:solidFill>
              </a:rPr>
              <a:t>Correlate events and trends</a:t>
            </a:r>
          </a:p>
        </p:txBody>
      </p:sp>
      <p:sp>
        <p:nvSpPr>
          <p:cNvPr id="2020" name="identity link above">
            <a:extLst xmlns:a="http://schemas.openxmlformats.org/drawingml/2006/main">
              <a:ext uri="{FF2B5EF4-FFF2-40B4-BE49-F238E27FC236}">
                <a16:creationId xmlns:a16="http://schemas.microsoft.com/office/drawing/2014/main" id="{CF12AA0C-13CC-49C5-857D-8A5013D96541}"/>
              </a:ext>
            </a:extLst>
          </p:cNvPr>
          <p:cNvSpPr>
            <a:spLocks xmlns:a="http://schemas.openxmlformats.org/drawingml/2006/main" noGrp="1"/>
          </p:cNvSpPr>
          <p:nvPr/>
        </p:nvSpPr>
        <p:spPr>
          <a:xfrm xmlns:a="http://schemas.openxmlformats.org/drawingml/2006/main">
            <a:off x="5905500" y="3467100"/>
            <a:ext cx="0" cy="190500"/>
          </a:xfrm>
          <a:prstGeom xmlns:a="http://schemas.openxmlformats.org/drawingml/2006/main" prst="line">
            <a:avLst/>
          </a:prstGeom>
          <a:noFill xmlns:a="http://schemas.openxmlformats.org/drawingml/2006/main"/>
          <a:ln xmlns:a="http://schemas.openxmlformats.org/drawingml/2006/main" w="19050">
            <a:solidFill>
              <a:srgbClr val="5965AC"/>
            </a:solidFill>
          </a:ln>
        </p:spPr>
        <p:txBody>
          <a:bodyPr xmlns:a="http://schemas.openxmlformats.org/drawingml/2006/main"/>
          <a:lstStyle xmlns:a="http://schemas.openxmlformats.org/drawingml/2006/main"/>
          <a:p xmlns:a="http://schemas.openxmlformats.org/drawingml/2006/main">
            <a:endParaRPr/>
          </a:p>
        </p:txBody>
      </p:sp>
      <p:sp>
        <p:nvSpPr>
          <p:cNvPr id="2021" name="shared identity">
            <a:extLst xmlns:a="http://schemas.openxmlformats.org/drawingml/2006/main">
              <a:ext uri="{FF2B5EF4-FFF2-40B4-BE49-F238E27FC236}">
                <a16:creationId xmlns:a16="http://schemas.microsoft.com/office/drawing/2014/main" id="{9AE20C79-830F-49A3-BA26-EF9623CEC294}"/>
              </a:ext>
            </a:extLst>
          </p:cNvPr>
          <p:cNvSpPr>
            <a:spLocks xmlns:a="http://schemas.openxmlformats.org/drawingml/2006/main" noGrp="1"/>
          </p:cNvSpPr>
          <p:nvPr/>
        </p:nvSpPr>
        <p:spPr>
          <a:xfrm xmlns:a="http://schemas.openxmlformats.org/drawingml/2006/main">
            <a:off x="812864" y="3667125"/>
            <a:ext cx="10191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ctr">
              <a:defRPr sz="2100" b="1">
                <a:solidFill>
                  <a:srgbClr val="5965AC"/>
                </a:solidFill>
              </a:defRPr>
            </a:defPPr>
            <a:lvl1pPr algn="ctr">
              <a:buNone/>
              <a:defRPr sz="2100" b="1">
                <a:solidFill>
                  <a:srgbClr val="5965AC"/>
                </a:solidFill>
              </a:defRPr>
            </a:lvl1pPr>
            <a:lvl2pPr algn="ctr">
              <a:buNone/>
              <a:defRPr sz="2100" b="1">
                <a:solidFill>
                  <a:srgbClr val="5965AC"/>
                </a:solidFill>
              </a:defRPr>
            </a:lvl2pPr>
            <a:lvl3pPr algn="ctr">
              <a:buNone/>
              <a:defRPr sz="2100" b="1">
                <a:solidFill>
                  <a:srgbClr val="5965AC"/>
                </a:solidFill>
              </a:defRPr>
            </a:lvl3pPr>
            <a:lvl4pPr algn="ctr">
              <a:buNone/>
              <a:defRPr sz="2100" b="1">
                <a:solidFill>
                  <a:srgbClr val="5965AC"/>
                </a:solidFill>
              </a:defRPr>
            </a:lvl4pPr>
            <a:lvl5pPr algn="ctr">
              <a:buNone/>
              <a:defRPr sz="2100" b="1">
                <a:solidFill>
                  <a:srgbClr val="5965AC"/>
                </a:solidFill>
              </a:defRPr>
            </a:lvl5pPr>
            <a:lvl6pPr algn="ctr">
              <a:buNone/>
              <a:defRPr sz="2100" b="1">
                <a:solidFill>
                  <a:srgbClr val="5965AC"/>
                </a:solidFill>
              </a:defRPr>
            </a:lvl6pPr>
            <a:lvl7pPr algn="ctr">
              <a:buNone/>
              <a:defRPr sz="2100" b="1">
                <a:solidFill>
                  <a:srgbClr val="5965AC"/>
                </a:solidFill>
              </a:defRPr>
            </a:lvl7pPr>
            <a:lvl8pPr algn="ctr">
              <a:buNone/>
              <a:defRPr sz="2100" b="1">
                <a:solidFill>
                  <a:srgbClr val="5965AC"/>
                </a:solidFill>
              </a:defRPr>
            </a:lvl8pPr>
            <a:lvl9pPr algn="ctr">
              <a:buNone/>
              <a:defRPr sz="2100" b="1">
                <a:solidFill>
                  <a:srgbClr val="5965AC"/>
                </a:solidFill>
              </a:defRPr>
            </a:lvl9pPr>
          </a:lstStyle>
          <a:p xmlns:a="http://schemas.openxmlformats.org/drawingml/2006/main">
            <a:pPr algn="ctr">
              <a:buNone/>
              <a:defRPr sz="2100" b="1">
                <a:solidFill>
                  <a:srgbClr val="5965AC"/>
                </a:solidFill>
              </a:defRPr>
            </a:pPr>
            <a:r>
              <a:rPr sz="2100" b="1">
                <a:solidFill>
                  <a:srgbClr val="5965AC"/>
                </a:solidFill>
              </a:rPr>
              <a:t>Same revision · linked run IDs</a:t>
            </a:r>
          </a:p>
        </p:txBody>
      </p:sp>
      <p:sp>
        <p:nvSpPr>
          <p:cNvPr id="2022" name="identity link below">
            <a:extLst xmlns:a="http://schemas.openxmlformats.org/drawingml/2006/main">
              <a:ext uri="{FF2B5EF4-FFF2-40B4-BE49-F238E27FC236}">
                <a16:creationId xmlns:a16="http://schemas.microsoft.com/office/drawing/2014/main" id="{52A2A150-9F2C-4C5A-B491-99023D52B117}"/>
              </a:ext>
            </a:extLst>
          </p:cNvPr>
          <p:cNvSpPr>
            <a:spLocks xmlns:a="http://schemas.openxmlformats.org/drawingml/2006/main" noGrp="1"/>
          </p:cNvSpPr>
          <p:nvPr/>
        </p:nvSpPr>
        <p:spPr>
          <a:xfrm xmlns:a="http://schemas.openxmlformats.org/drawingml/2006/main">
            <a:off x="5905500" y="4076700"/>
            <a:ext cx="0" cy="171450"/>
          </a:xfrm>
          <a:prstGeom xmlns:a="http://schemas.openxmlformats.org/drawingml/2006/main" prst="line">
            <a:avLst/>
          </a:prstGeom>
          <a:noFill xmlns:a="http://schemas.openxmlformats.org/drawingml/2006/main"/>
          <a:ln xmlns:a="http://schemas.openxmlformats.org/drawingml/2006/main" w="19050">
            <a:solidFill>
              <a:srgbClr val="5965AC"/>
            </a:solidFill>
          </a:ln>
        </p:spPr>
        <p:txBody>
          <a:bodyPr xmlns:a="http://schemas.openxmlformats.org/drawingml/2006/main"/>
          <a:lstStyle xmlns:a="http://schemas.openxmlformats.org/drawingml/2006/main"/>
          <a:p xmlns:a="http://schemas.openxmlformats.org/drawingml/2006/main">
            <a:endParaRPr/>
          </a:p>
        </p:txBody>
      </p:sp>
      <p:sp>
        <p:nvSpPr>
          <p:cNvPr id="2023" name="runtime label">
            <a:extLst xmlns:a="http://schemas.openxmlformats.org/drawingml/2006/main">
              <a:ext uri="{FF2B5EF4-FFF2-40B4-BE49-F238E27FC236}">
                <a16:creationId xmlns:a16="http://schemas.microsoft.com/office/drawing/2014/main" id="{396C9725-D11B-4B63-BC51-AA96F5FCF685}"/>
              </a:ext>
            </a:extLst>
          </p:cNvPr>
          <p:cNvSpPr>
            <a:spLocks xmlns:a="http://schemas.openxmlformats.org/drawingml/2006/main" noGrp="1"/>
          </p:cNvSpPr>
          <p:nvPr/>
        </p:nvSpPr>
        <p:spPr>
          <a:xfrm xmlns:a="http://schemas.openxmlformats.org/drawingml/2006/main">
            <a:off x="812864" y="4162425"/>
            <a:ext cx="10191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0086AC"/>
                </a:solidFill>
              </a:defRPr>
            </a:defPPr>
            <a:lvl1pPr algn="l">
              <a:buNone/>
              <a:defRPr sz="1350" b="1">
                <a:solidFill>
                  <a:srgbClr val="0086AC"/>
                </a:solidFill>
              </a:defRPr>
            </a:lvl1pPr>
            <a:lvl2pPr algn="l">
              <a:buNone/>
              <a:defRPr sz="1350" b="1">
                <a:solidFill>
                  <a:srgbClr val="0086AC"/>
                </a:solidFill>
              </a:defRPr>
            </a:lvl2pPr>
            <a:lvl3pPr algn="l">
              <a:buNone/>
              <a:defRPr sz="1350" b="1">
                <a:solidFill>
                  <a:srgbClr val="0086AC"/>
                </a:solidFill>
              </a:defRPr>
            </a:lvl3pPr>
            <a:lvl4pPr algn="l">
              <a:buNone/>
              <a:defRPr sz="1350" b="1">
                <a:solidFill>
                  <a:srgbClr val="0086AC"/>
                </a:solidFill>
              </a:defRPr>
            </a:lvl4pPr>
            <a:lvl5pPr algn="l">
              <a:buNone/>
              <a:defRPr sz="1350" b="1">
                <a:solidFill>
                  <a:srgbClr val="0086AC"/>
                </a:solidFill>
              </a:defRPr>
            </a:lvl5pPr>
            <a:lvl6pPr algn="l">
              <a:buNone/>
              <a:defRPr sz="1350" b="1">
                <a:solidFill>
                  <a:srgbClr val="0086AC"/>
                </a:solidFill>
              </a:defRPr>
            </a:lvl6pPr>
            <a:lvl7pPr algn="l">
              <a:buNone/>
              <a:defRPr sz="1350" b="1">
                <a:solidFill>
                  <a:srgbClr val="0086AC"/>
                </a:solidFill>
              </a:defRPr>
            </a:lvl7pPr>
            <a:lvl8pPr algn="l">
              <a:buNone/>
              <a:defRPr sz="1350" b="1">
                <a:solidFill>
                  <a:srgbClr val="0086AC"/>
                </a:solidFill>
              </a:defRPr>
            </a:lvl8pPr>
            <a:lvl9pPr algn="l">
              <a:buNone/>
              <a:defRPr sz="1350" b="1">
                <a:solidFill>
                  <a:srgbClr val="0086AC"/>
                </a:solidFill>
              </a:defRPr>
            </a:lvl9pPr>
          </a:lstStyle>
          <a:p xmlns:a="http://schemas.openxmlformats.org/drawingml/2006/main">
            <a:pPr algn="l">
              <a:buNone/>
              <a:defRPr sz="1350" b="1">
                <a:solidFill>
                  <a:srgbClr val="0086AC"/>
                </a:solidFill>
              </a:defRPr>
            </a:pPr>
            <a:r>
              <a:rPr sz="1350" b="1">
                <a:solidFill>
                  <a:srgbClr val="0086AC"/>
                </a:solidFill>
              </a:rPr>
              <a:t>RUNTIME EVIDENCE, WHEN AVAILABLE</a:t>
            </a:r>
          </a:p>
        </p:txBody>
      </p:sp>
      <p:sp>
        <p:nvSpPr>
          <p:cNvPr id="2024" name="review outcome">
            <a:extLst xmlns:a="http://schemas.openxmlformats.org/drawingml/2006/main">
              <a:ext uri="{FF2B5EF4-FFF2-40B4-BE49-F238E27FC236}">
                <a16:creationId xmlns:a16="http://schemas.microsoft.com/office/drawing/2014/main" id="{A18F88BD-0F57-467F-8615-901061A7F66A}"/>
              </a:ext>
            </a:extLst>
          </p:cNvPr>
          <p:cNvSpPr>
            <a:spLocks xmlns:a="http://schemas.openxmlformats.org/drawingml/2006/main" noGrp="1"/>
          </p:cNvSpPr>
          <p:nvPr/>
        </p:nvSpPr>
        <p:spPr>
          <a:xfrm xmlns:a="http://schemas.openxmlformats.org/drawingml/2006/main">
            <a:off x="812864" y="5534025"/>
            <a:ext cx="1019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303238"/>
                </a:solidFill>
              </a:defRPr>
            </a:defPPr>
            <a:lvl1pPr algn="l">
              <a:buNone/>
              <a:defRPr sz="2100" b="1">
                <a:solidFill>
                  <a:srgbClr val="303238"/>
                </a:solidFill>
              </a:defRPr>
            </a:lvl1pPr>
            <a:lvl2pPr algn="l">
              <a:buNone/>
              <a:defRPr sz="2100" b="1">
                <a:solidFill>
                  <a:srgbClr val="303238"/>
                </a:solidFill>
              </a:defRPr>
            </a:lvl2pPr>
            <a:lvl3pPr algn="l">
              <a:buNone/>
              <a:defRPr sz="2100" b="1">
                <a:solidFill>
                  <a:srgbClr val="303238"/>
                </a:solidFill>
              </a:defRPr>
            </a:lvl3pPr>
            <a:lvl4pPr algn="l">
              <a:buNone/>
              <a:defRPr sz="2100" b="1">
                <a:solidFill>
                  <a:srgbClr val="303238"/>
                </a:solidFill>
              </a:defRPr>
            </a:lvl4pPr>
            <a:lvl5pPr algn="l">
              <a:buNone/>
              <a:defRPr sz="2100" b="1">
                <a:solidFill>
                  <a:srgbClr val="303238"/>
                </a:solidFill>
              </a:defRPr>
            </a:lvl5pPr>
            <a:lvl6pPr algn="l">
              <a:buNone/>
              <a:defRPr sz="2100" b="1">
                <a:solidFill>
                  <a:srgbClr val="303238"/>
                </a:solidFill>
              </a:defRPr>
            </a:lvl6pPr>
            <a:lvl7pPr algn="l">
              <a:buNone/>
              <a:defRPr sz="2100" b="1">
                <a:solidFill>
                  <a:srgbClr val="303238"/>
                </a:solidFill>
              </a:defRPr>
            </a:lvl7pPr>
            <a:lvl8pPr algn="l">
              <a:buNone/>
              <a:defRPr sz="2100" b="1">
                <a:solidFill>
                  <a:srgbClr val="303238"/>
                </a:solidFill>
              </a:defRPr>
            </a:lvl8pPr>
            <a:lvl9pPr algn="l">
              <a:buNone/>
              <a:defRPr sz="2100" b="1">
                <a:solidFill>
                  <a:srgbClr val="303238"/>
                </a:solidFill>
              </a:defRPr>
            </a:lvl9pPr>
          </a:lstStyle>
          <a:p xmlns:a="http://schemas.openxmlformats.org/drawingml/2006/main">
            <a:pPr algn="l">
              <a:buNone/>
              <a:defRPr sz="2100" b="1">
                <a:solidFill>
                  <a:srgbClr val="303238"/>
                </a:solidFill>
              </a:defRPr>
            </a:pPr>
            <a:r>
              <a:rPr sz="2100" b="1">
                <a:solidFill>
                  <a:srgbClr val="303238"/>
                </a:solidFill>
              </a:rPr>
              <a:t>Relevant evidence for the AI reviewer</a:t>
            </a:r>
          </a:p>
        </p:txBody>
      </p:sp>
      <p:sp>
        <p:nvSpPr>
          <p:cNvPr id="2025" name="integration scope">
            <a:extLst xmlns:a="http://schemas.openxmlformats.org/drawingml/2006/main">
              <a:ext uri="{FF2B5EF4-FFF2-40B4-BE49-F238E27FC236}">
                <a16:creationId xmlns:a16="http://schemas.microsoft.com/office/drawing/2014/main" id="{8113BF51-880F-4027-9182-528953BEDC19}"/>
              </a:ext>
            </a:extLst>
          </p:cNvPr>
          <p:cNvSpPr>
            <a:spLocks xmlns:a="http://schemas.openxmlformats.org/drawingml/2006/main" noGrp="1"/>
          </p:cNvSpPr>
          <p:nvPr/>
        </p:nvSpPr>
        <p:spPr>
          <a:xfrm xmlns:a="http://schemas.openxmlformats.org/drawingml/2006/main">
            <a:off x="812864" y="5943600"/>
            <a:ext cx="10191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62666B"/>
                </a:solidFill>
              </a:defRPr>
            </a:defPPr>
            <a:lvl1pPr algn="l">
              <a:buNone/>
              <a:defRPr sz="1425" b="0">
                <a:solidFill>
                  <a:srgbClr val="62666B"/>
                </a:solidFill>
              </a:defRPr>
            </a:lvl1pPr>
            <a:lvl2pPr algn="l">
              <a:buNone/>
              <a:defRPr sz="1425" b="0">
                <a:solidFill>
                  <a:srgbClr val="62666B"/>
                </a:solidFill>
              </a:defRPr>
            </a:lvl2pPr>
            <a:lvl3pPr algn="l">
              <a:buNone/>
              <a:defRPr sz="1425" b="0">
                <a:solidFill>
                  <a:srgbClr val="62666B"/>
                </a:solidFill>
              </a:defRPr>
            </a:lvl3pPr>
            <a:lvl4pPr algn="l">
              <a:buNone/>
              <a:defRPr sz="1425" b="0">
                <a:solidFill>
                  <a:srgbClr val="62666B"/>
                </a:solidFill>
              </a:defRPr>
            </a:lvl4pPr>
            <a:lvl5pPr algn="l">
              <a:buNone/>
              <a:defRPr sz="1425" b="0">
                <a:solidFill>
                  <a:srgbClr val="62666B"/>
                </a:solidFill>
              </a:defRPr>
            </a:lvl5pPr>
            <a:lvl6pPr algn="l">
              <a:buNone/>
              <a:defRPr sz="1425" b="0">
                <a:solidFill>
                  <a:srgbClr val="62666B"/>
                </a:solidFill>
              </a:defRPr>
            </a:lvl6pPr>
            <a:lvl7pPr algn="l">
              <a:buNone/>
              <a:defRPr sz="1425" b="0">
                <a:solidFill>
                  <a:srgbClr val="62666B"/>
                </a:solidFill>
              </a:defRPr>
            </a:lvl7pPr>
            <a:lvl8pPr algn="l">
              <a:buNone/>
              <a:defRPr sz="1425" b="0">
                <a:solidFill>
                  <a:srgbClr val="62666B"/>
                </a:solidFill>
              </a:defRPr>
            </a:lvl8pPr>
            <a:lvl9pPr algn="l">
              <a:buNone/>
              <a:defRPr sz="1425" b="0">
                <a:solidFill>
                  <a:srgbClr val="62666B"/>
                </a:solidFill>
              </a:defRPr>
            </a:lvl9pPr>
          </a:lstStyle>
          <a:p xmlns:a="http://schemas.openxmlformats.org/drawingml/2006/main">
            <a:pPr algn="l">
              <a:buNone/>
              <a:defRPr sz="1425" b="0">
                <a:solidFill>
                  <a:srgbClr val="62666B"/>
                </a:solidFill>
              </a:defRPr>
            </a:pPr>
            <a:r>
              <a:rPr sz="1425" b="0">
                <a:solidFill>
                  <a:srgbClr val="62666B"/>
                </a:solidFill>
              </a:rPr>
              <a:t>Proposed integration: OSTF describes traceability data; tools connect evidence.</a:t>
            </a:r>
          </a:p>
        </p:txBody>
      </p:sp>
    </p:spTree>
    <p:extLst>
      <p:ext uri="{BB962C8B-B14F-4D97-AF65-F5344CB8AC3E}">
        <p14:creationId xmlns:p14="http://schemas.microsoft.com/office/powerpoint/2010/main" val="262856412"/>
      </p:ext>
    </p:extLst>
  </p:cSld>
</p:sld>
</file>

<file path=ppt/slides/slide23.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8079E921-E07C-4B63-9EF8-30C653F355DD}"/>
              </a:ext>
            </a:extLst>
          </p:cNvPr>
          <p:cNvPicPr>
            <a:picLocks xmlns:a="http://schemas.openxmlformats.org/drawingml/2006/main" noChangeAspect="1"/>
          </p:cNvPicPr>
          <p:nvPr/>
        </p:nvPicPr>
        <p:blipFill>
          <a:blip xmlns:r="http://schemas.openxmlformats.org/officeDocument/2006/relationships" xmlns:a="http://schemas.openxmlformats.org/drawingml/2006/main" r:embed="Ra005fe6d52cc4769"/>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8B2CF1DA-665A-4D54-96BC-9D2647194588}"/>
              </a:ext>
            </a:extLst>
          </p:cNvPr>
          <p:cNvPicPr>
            <a:picLocks xmlns:a="http://schemas.openxmlformats.org/drawingml/2006/main" noChangeAspect="1"/>
          </p:cNvPicPr>
          <p:nvPr/>
        </p:nvPicPr>
        <p:blipFill>
          <a:blip xmlns:r="http://schemas.openxmlformats.org/officeDocument/2006/relationships" xmlns:a="http://schemas.openxmlformats.org/drawingml/2006/main" r:embed="R8eeb1ede70d74f33"/>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cxnSp>
        <p:nvCxnSpPr>
          <p:cNvPr id="2012" name="Straight Arrow Connector 2011">
            <a:extLst xmlns:a="http://schemas.openxmlformats.org/drawingml/2006/main">
              <a:ext uri="{FF2B5EF4-FFF2-40B4-BE49-F238E27FC236}">
                <a16:creationId xmlns:a16="http://schemas.microsoft.com/office/drawing/2014/main" id="{31FEBE40-1A16-4638-9CBF-D5A63B22119A}"/>
              </a:ext>
            </a:extLst>
          </p:cNvPr>
          <p:cNvCxnSpPr>
            <a:stCxn xmlns:a="http://schemas.openxmlformats.org/drawingml/2006/main" id="2004" idx="3"/>
            <a:endCxn xmlns:a="http://schemas.openxmlformats.org/drawingml/2006/main" id="2005" idx="1"/>
          </p:cNvCxnSpPr>
          <p:nvPr/>
        </p:nvCxnSpPr>
        <p:spPr>
          <a:xfrm xmlns:a="http://schemas.openxmlformats.org/drawingml/2006/main">
            <a:off x="5432489" y="3352800"/>
            <a:ext cx="825436" cy="0"/>
          </a:xfrm>
          <a:prstGeom xmlns:a="http://schemas.openxmlformats.org/drawingml/2006/main" prst="straightConnector1">
            <a:avLst/>
          </a:prstGeom>
          <a:ln xmlns:a="http://schemas.openxmlformats.org/drawingml/2006/main" w="19050">
            <a:solidFill>
              <a:srgbClr val="4F8734"/>
            </a:solidFill>
            <a:tailEnd type="triangle" w="med" len="med"/>
          </a:ln>
        </p:spPr>
      </p:cxnSp>
      <p:sp>
        <p:nvSpPr>
          <p:cNvPr id="2016" name="title">
            <a:extLst xmlns:a="http://schemas.openxmlformats.org/drawingml/2006/main">
              <a:ext uri="{FF2B5EF4-FFF2-40B4-BE49-F238E27FC236}">
                <a16:creationId xmlns:a16="http://schemas.microsoft.com/office/drawing/2014/main" id="{9EEBFAD3-13A2-4344-87C3-05EC89BFC586}"/>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A passing test still needs a decision</a:t>
            </a:r>
          </a:p>
        </p:txBody>
      </p:sp>
      <p:sp>
        <p:nvSpPr>
          <p:cNvPr id="2002" name="subtitle">
            <a:extLst xmlns:a="http://schemas.openxmlformats.org/drawingml/2006/main">
              <a:ext uri="{FF2B5EF4-FFF2-40B4-BE49-F238E27FC236}">
                <a16:creationId xmlns:a16="http://schemas.microsoft.com/office/drawing/2014/main" id="{7847897D-34A5-444B-B2C5-AA7E9E376D24}"/>
              </a:ext>
            </a:extLst>
          </p:cNvPr>
          <p:cNvSpPr>
            <a:spLocks xmlns:a="http://schemas.openxmlformats.org/drawingml/2006/main" noGrp="1"/>
          </p:cNvSpPr>
          <p:nvPr/>
        </p:nvSpPr>
        <p:spPr>
          <a:xfrm xmlns:a="http://schemas.openxmlformats.org/drawingml/2006/main">
            <a:off x="812864" y="1409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Captured payment-component check, using synthetic credentials.</a:t>
            </a:r>
          </a:p>
        </p:txBody>
      </p:sp>
      <p:sp>
        <p:nvSpPr>
          <p:cNvPr id="2003" name="conference footer">
            <a:extLst xmlns:a="http://schemas.openxmlformats.org/drawingml/2006/main">
              <a:ext uri="{FF2B5EF4-FFF2-40B4-BE49-F238E27FC236}">
                <a16:creationId xmlns:a16="http://schemas.microsoft.com/office/drawing/2014/main" id="{349A3817-623C-42D4-AF72-6CF7A764F58D}"/>
              </a:ext>
            </a:extLst>
          </p:cNvPr>
          <p:cNvSpPr>
            <a:spLocks xmlns:a="http://schemas.openxmlformats.org/drawingml/2006/main" noGrp="1"/>
          </p:cNvSpPr>
          <p:nvPr/>
        </p:nvSpPr>
        <p:spPr>
          <a:xfrm xmlns:a="http://schemas.openxmlformats.org/drawingml/2006/main">
            <a:off x="7258050" y="644842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8A8A8A"/>
                </a:solidFill>
              </a:defRPr>
            </a:defPPr>
            <a:lvl1pPr algn="l">
              <a:buNone/>
              <a:defRPr sz="1050" b="0">
                <a:solidFill>
                  <a:srgbClr val="8A8A8A"/>
                </a:solidFill>
              </a:defRPr>
            </a:lvl1pPr>
            <a:lvl2pPr algn="l">
              <a:buNone/>
              <a:defRPr sz="1050" b="0">
                <a:solidFill>
                  <a:srgbClr val="8A8A8A"/>
                </a:solidFill>
              </a:defRPr>
            </a:lvl2pPr>
            <a:lvl3pPr algn="l">
              <a:buNone/>
              <a:defRPr sz="1050" b="0">
                <a:solidFill>
                  <a:srgbClr val="8A8A8A"/>
                </a:solidFill>
              </a:defRPr>
            </a:lvl3pPr>
            <a:lvl4pPr algn="l">
              <a:buNone/>
              <a:defRPr sz="1050" b="0">
                <a:solidFill>
                  <a:srgbClr val="8A8A8A"/>
                </a:solidFill>
              </a:defRPr>
            </a:lvl4pPr>
            <a:lvl5pPr algn="l">
              <a:buNone/>
              <a:defRPr sz="1050" b="0">
                <a:solidFill>
                  <a:srgbClr val="8A8A8A"/>
                </a:solidFill>
              </a:defRPr>
            </a:lvl5pPr>
            <a:lvl6pPr algn="l">
              <a:buNone/>
              <a:defRPr sz="1050" b="0">
                <a:solidFill>
                  <a:srgbClr val="8A8A8A"/>
                </a:solidFill>
              </a:defRPr>
            </a:lvl6pPr>
            <a:lvl7pPr algn="l">
              <a:buNone/>
              <a:defRPr sz="1050" b="0">
                <a:solidFill>
                  <a:srgbClr val="8A8A8A"/>
                </a:solidFill>
              </a:defRPr>
            </a:lvl7pPr>
            <a:lvl8pPr algn="l">
              <a:buNone/>
              <a:defRPr sz="1050" b="0">
                <a:solidFill>
                  <a:srgbClr val="8A8A8A"/>
                </a:solidFill>
              </a:defRPr>
            </a:lvl8pPr>
            <a:lvl9pPr algn="l">
              <a:buNone/>
              <a:defRPr sz="1050" b="0">
                <a:solidFill>
                  <a:srgbClr val="8A8A8A"/>
                </a:solidFill>
              </a:defRPr>
            </a:lvl9pPr>
          </a:lstStyle>
          <a:p xmlns:a="http://schemas.openxmlformats.org/drawingml/2006/main">
            <a:pPr algn="l">
              <a:buNone/>
              <a:defRPr sz="1050" b="0">
                <a:solidFill>
                  <a:srgbClr val="8A8A8A"/>
                </a:solidFill>
              </a:defRPr>
            </a:pPr>
            <a:r>
              <a:rPr sz="1050" b="0">
                <a:solidFill>
                  <a:srgbClr val="8A8A8A"/>
                </a:solidFill>
              </a:rPr>
              <a:t>ISC2.org/Congress | #ISC2Congress</a:t>
            </a:r>
          </a:p>
        </p:txBody>
      </p:sp>
      <p:sp>
        <p:nvSpPr>
          <p:cNvPr id="2004" name="vulnerable component">
            <a:extLst xmlns:a="http://schemas.openxmlformats.org/drawingml/2006/main">
              <a:ext uri="{FF2B5EF4-FFF2-40B4-BE49-F238E27FC236}">
                <a16:creationId xmlns:a16="http://schemas.microsoft.com/office/drawing/2014/main" id="{2257DD26-0938-4BB2-972F-DA76BC51B452}"/>
              </a:ext>
            </a:extLst>
          </p:cNvPr>
          <p:cNvSpPr>
            <a:spLocks xmlns:a="http://schemas.openxmlformats.org/drawingml/2006/main" noGrp="1"/>
          </p:cNvSpPr>
          <p:nvPr/>
        </p:nvSpPr>
        <p:spPr>
          <a:xfrm xmlns:a="http://schemas.openxmlformats.org/drawingml/2006/main">
            <a:off x="812864" y="2286000"/>
            <a:ext cx="4619625" cy="2133600"/>
          </a:xfrm>
          <a:prstGeom xmlns:a="http://schemas.openxmlformats.org/drawingml/2006/main" prst="roundRect">
            <a:avLst>
              <a:gd name="adj" fmla="val 3571"/>
            </a:avLst>
          </a:prstGeom>
          <a:solidFill xmlns:a="http://schemas.openxmlformats.org/drawingml/2006/main">
            <a:srgbClr val="FBF4ED"/>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5" name="corrected component">
            <a:extLst xmlns:a="http://schemas.openxmlformats.org/drawingml/2006/main">
              <a:ext uri="{FF2B5EF4-FFF2-40B4-BE49-F238E27FC236}">
                <a16:creationId xmlns:a16="http://schemas.microsoft.com/office/drawing/2014/main" id="{C734B24F-AA37-4EC1-B299-EB7F94435AA9}"/>
              </a:ext>
            </a:extLst>
          </p:cNvPr>
          <p:cNvSpPr>
            <a:spLocks xmlns:a="http://schemas.openxmlformats.org/drawingml/2006/main" noGrp="1"/>
          </p:cNvSpPr>
          <p:nvPr/>
        </p:nvSpPr>
        <p:spPr>
          <a:xfrm xmlns:a="http://schemas.openxmlformats.org/drawingml/2006/main">
            <a:off x="6257925" y="2286000"/>
            <a:ext cx="4619625" cy="2133600"/>
          </a:xfrm>
          <a:prstGeom xmlns:a="http://schemas.openxmlformats.org/drawingml/2006/main" prst="roundRect">
            <a:avLst>
              <a:gd name="adj" fmla="val 3571"/>
            </a:avLst>
          </a:prstGeom>
          <a:solidFill xmlns:a="http://schemas.openxmlformats.org/drawingml/2006/main">
            <a:srgbClr val="EDF4E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6" name="before heading">
            <a:extLst xmlns:a="http://schemas.openxmlformats.org/drawingml/2006/main">
              <a:ext uri="{FF2B5EF4-FFF2-40B4-BE49-F238E27FC236}">
                <a16:creationId xmlns:a16="http://schemas.microsoft.com/office/drawing/2014/main" id="{A7B657DC-EF99-4716-A469-C96B49E52C80}"/>
              </a:ext>
            </a:extLst>
          </p:cNvPr>
          <p:cNvSpPr>
            <a:spLocks xmlns:a="http://schemas.openxmlformats.org/drawingml/2006/main" noGrp="1"/>
          </p:cNvSpPr>
          <p:nvPr/>
        </p:nvSpPr>
        <p:spPr>
          <a:xfrm xmlns:a="http://schemas.openxmlformats.org/drawingml/2006/main">
            <a:off x="1038225" y="2466975"/>
            <a:ext cx="4162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B56220"/>
                </a:solidFill>
              </a:defRPr>
            </a:defPPr>
            <a:lvl1pPr algn="l">
              <a:buNone/>
              <a:defRPr sz="2025" b="1">
                <a:solidFill>
                  <a:srgbClr val="B56220"/>
                </a:solidFill>
              </a:defRPr>
            </a:lvl1pPr>
            <a:lvl2pPr algn="l">
              <a:buNone/>
              <a:defRPr sz="2025" b="1">
                <a:solidFill>
                  <a:srgbClr val="B56220"/>
                </a:solidFill>
              </a:defRPr>
            </a:lvl2pPr>
            <a:lvl3pPr algn="l">
              <a:buNone/>
              <a:defRPr sz="2025" b="1">
                <a:solidFill>
                  <a:srgbClr val="B56220"/>
                </a:solidFill>
              </a:defRPr>
            </a:lvl3pPr>
            <a:lvl4pPr algn="l">
              <a:buNone/>
              <a:defRPr sz="2025" b="1">
                <a:solidFill>
                  <a:srgbClr val="B56220"/>
                </a:solidFill>
              </a:defRPr>
            </a:lvl4pPr>
            <a:lvl5pPr algn="l">
              <a:buNone/>
              <a:defRPr sz="2025" b="1">
                <a:solidFill>
                  <a:srgbClr val="B56220"/>
                </a:solidFill>
              </a:defRPr>
            </a:lvl5pPr>
            <a:lvl6pPr algn="l">
              <a:buNone/>
              <a:defRPr sz="2025" b="1">
                <a:solidFill>
                  <a:srgbClr val="B56220"/>
                </a:solidFill>
              </a:defRPr>
            </a:lvl6pPr>
            <a:lvl7pPr algn="l">
              <a:buNone/>
              <a:defRPr sz="2025" b="1">
                <a:solidFill>
                  <a:srgbClr val="B56220"/>
                </a:solidFill>
              </a:defRPr>
            </a:lvl7pPr>
            <a:lvl8pPr algn="l">
              <a:buNone/>
              <a:defRPr sz="2025" b="1">
                <a:solidFill>
                  <a:srgbClr val="B56220"/>
                </a:solidFill>
              </a:defRPr>
            </a:lvl8pPr>
            <a:lvl9pPr algn="l">
              <a:buNone/>
              <a:defRPr sz="2025" b="1">
                <a:solidFill>
                  <a:srgbClr val="B56220"/>
                </a:solidFill>
              </a:defRPr>
            </a:lvl9pPr>
          </a:lstStyle>
          <a:p xmlns:a="http://schemas.openxmlformats.org/drawingml/2006/main">
            <a:pPr algn="l">
              <a:buNone/>
              <a:defRPr sz="2025" b="1">
                <a:solidFill>
                  <a:srgbClr val="B56220"/>
                </a:solidFill>
              </a:defRPr>
            </a:pPr>
            <a:r>
              <a:rPr sz="2025" b="1">
                <a:solidFill>
                  <a:srgbClr val="B56220"/>
                </a:solidFill>
              </a:rPr>
              <a:t>Vulnerable component</a:t>
            </a:r>
          </a:p>
        </p:txBody>
      </p:sp>
      <p:sp>
        <p:nvSpPr>
          <p:cNvPr id="2007" name="before condition">
            <a:extLst xmlns:a="http://schemas.openxmlformats.org/drawingml/2006/main">
              <a:ext uri="{FF2B5EF4-FFF2-40B4-BE49-F238E27FC236}">
                <a16:creationId xmlns:a16="http://schemas.microsoft.com/office/drawing/2014/main" id="{38A79DAB-4942-4FEB-9290-FFFADC7442E8}"/>
              </a:ext>
            </a:extLst>
          </p:cNvPr>
          <p:cNvSpPr>
            <a:spLocks xmlns:a="http://schemas.openxmlformats.org/drawingml/2006/main" noGrp="1"/>
          </p:cNvSpPr>
          <p:nvPr/>
        </p:nvSpPr>
        <p:spPr>
          <a:xfrm xmlns:a="http://schemas.openxmlformats.org/drawingml/2006/main">
            <a:off x="1038225" y="3000375"/>
            <a:ext cx="41624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303238"/>
                </a:solidFill>
              </a:defRPr>
            </a:defPPr>
            <a:lvl1pPr algn="l">
              <a:buNone/>
              <a:defRPr sz="2025" b="0">
                <a:solidFill>
                  <a:srgbClr val="303238"/>
                </a:solidFill>
              </a:defRPr>
            </a:lvl1pPr>
            <a:lvl2pPr algn="l">
              <a:buNone/>
              <a:defRPr sz="2025" b="0">
                <a:solidFill>
                  <a:srgbClr val="303238"/>
                </a:solidFill>
              </a:defRPr>
            </a:lvl2pPr>
            <a:lvl3pPr algn="l">
              <a:buNone/>
              <a:defRPr sz="2025" b="0">
                <a:solidFill>
                  <a:srgbClr val="303238"/>
                </a:solidFill>
              </a:defRPr>
            </a:lvl3pPr>
            <a:lvl4pPr algn="l">
              <a:buNone/>
              <a:defRPr sz="2025" b="0">
                <a:solidFill>
                  <a:srgbClr val="303238"/>
                </a:solidFill>
              </a:defRPr>
            </a:lvl4pPr>
            <a:lvl5pPr algn="l">
              <a:buNone/>
              <a:defRPr sz="2025" b="0">
                <a:solidFill>
                  <a:srgbClr val="303238"/>
                </a:solidFill>
              </a:defRPr>
            </a:lvl5pPr>
            <a:lvl6pPr algn="l">
              <a:buNone/>
              <a:defRPr sz="2025" b="0">
                <a:solidFill>
                  <a:srgbClr val="303238"/>
                </a:solidFill>
              </a:defRPr>
            </a:lvl6pPr>
            <a:lvl7pPr algn="l">
              <a:buNone/>
              <a:defRPr sz="2025" b="0">
                <a:solidFill>
                  <a:srgbClr val="303238"/>
                </a:solidFill>
              </a:defRPr>
            </a:lvl7pPr>
            <a:lvl8pPr algn="l">
              <a:buNone/>
              <a:defRPr sz="2025" b="0">
                <a:solidFill>
                  <a:srgbClr val="303238"/>
                </a:solidFill>
              </a:defRPr>
            </a:lvl8pPr>
            <a:lvl9pPr algn="l">
              <a:buNone/>
              <a:defRPr sz="2025" b="0">
                <a:solidFill>
                  <a:srgbClr val="303238"/>
                </a:solidFill>
              </a:defRPr>
            </a:lvl9pPr>
          </a:lstStyle>
          <a:p xmlns:a="http://schemas.openxmlformats.org/drawingml/2006/main">
            <a:pPr algn="l">
              <a:buNone/>
              <a:defRPr sz="2025" b="0">
                <a:solidFill>
                  <a:srgbClr val="303238"/>
                </a:solidFill>
              </a:defRPr>
            </a:pPr>
            <a:r>
              <a:rPr sz="2025" b="0">
                <a:solidFill>
                  <a:srgbClr val="303238"/>
                </a:solidFill>
              </a:rPr>
              <a:t>Private key appears in</a:t>
            </a:r>
          </a:p>
          <a:p xmlns:a="http://schemas.openxmlformats.org/drawingml/2006/main">
            <a:pPr algn="l">
              <a:buNone/>
              <a:defRPr sz="2025" b="0">
                <a:solidFill>
                  <a:srgbClr val="303238"/>
                </a:solidFill>
              </a:defRPr>
            </a:pPr>
            <a:r>
              <a:rPr sz="2025" b="0">
                <a:solidFill>
                  <a:srgbClr val="303238"/>
                </a:solidFill>
              </a:rPr>
              <a:t>the browser response.</a:t>
            </a:r>
          </a:p>
        </p:txBody>
      </p:sp>
      <p:sp>
        <p:nvSpPr>
          <p:cNvPr id="2008" name="before check">
            <a:extLst xmlns:a="http://schemas.openxmlformats.org/drawingml/2006/main">
              <a:ext uri="{FF2B5EF4-FFF2-40B4-BE49-F238E27FC236}">
                <a16:creationId xmlns:a16="http://schemas.microsoft.com/office/drawing/2014/main" id="{57D0C2DB-FBE1-4CAC-A407-59E2DC163A61}"/>
              </a:ext>
            </a:extLst>
          </p:cNvPr>
          <p:cNvSpPr>
            <a:spLocks xmlns:a="http://schemas.openxmlformats.org/drawingml/2006/main" noGrp="1"/>
          </p:cNvSpPr>
          <p:nvPr/>
        </p:nvSpPr>
        <p:spPr>
          <a:xfrm xmlns:a="http://schemas.openxmlformats.org/drawingml/2006/main">
            <a:off x="1038225" y="3876675"/>
            <a:ext cx="4162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1">
                <a:solidFill>
                  <a:srgbClr val="B56220"/>
                </a:solidFill>
              </a:defRPr>
            </a:defPPr>
            <a:lvl1pPr algn="l">
              <a:buNone/>
              <a:defRPr sz="1800" b="1">
                <a:solidFill>
                  <a:srgbClr val="B56220"/>
                </a:solidFill>
              </a:defRPr>
            </a:lvl1pPr>
            <a:lvl2pPr algn="l">
              <a:buNone/>
              <a:defRPr sz="1800" b="1">
                <a:solidFill>
                  <a:srgbClr val="B56220"/>
                </a:solidFill>
              </a:defRPr>
            </a:lvl2pPr>
            <a:lvl3pPr algn="l">
              <a:buNone/>
              <a:defRPr sz="1800" b="1">
                <a:solidFill>
                  <a:srgbClr val="B56220"/>
                </a:solidFill>
              </a:defRPr>
            </a:lvl3pPr>
            <a:lvl4pPr algn="l">
              <a:buNone/>
              <a:defRPr sz="1800" b="1">
                <a:solidFill>
                  <a:srgbClr val="B56220"/>
                </a:solidFill>
              </a:defRPr>
            </a:lvl4pPr>
            <a:lvl5pPr algn="l">
              <a:buNone/>
              <a:defRPr sz="1800" b="1">
                <a:solidFill>
                  <a:srgbClr val="B56220"/>
                </a:solidFill>
              </a:defRPr>
            </a:lvl5pPr>
            <a:lvl6pPr algn="l">
              <a:buNone/>
              <a:defRPr sz="1800" b="1">
                <a:solidFill>
                  <a:srgbClr val="B56220"/>
                </a:solidFill>
              </a:defRPr>
            </a:lvl6pPr>
            <a:lvl7pPr algn="l">
              <a:buNone/>
              <a:defRPr sz="1800" b="1">
                <a:solidFill>
                  <a:srgbClr val="B56220"/>
                </a:solidFill>
              </a:defRPr>
            </a:lvl7pPr>
            <a:lvl8pPr algn="l">
              <a:buNone/>
              <a:defRPr sz="1800" b="1">
                <a:solidFill>
                  <a:srgbClr val="B56220"/>
                </a:solidFill>
              </a:defRPr>
            </a:lvl8pPr>
            <a:lvl9pPr algn="l">
              <a:buNone/>
              <a:defRPr sz="1800" b="1">
                <a:solidFill>
                  <a:srgbClr val="B56220"/>
                </a:solidFill>
              </a:defRPr>
            </a:lvl9pPr>
          </a:lstStyle>
          <a:p xmlns:a="http://schemas.openxmlformats.org/drawingml/2006/main">
            <a:pPr algn="l">
              <a:buNone/>
              <a:defRPr sz="1800" b="1">
                <a:solidFill>
                  <a:srgbClr val="B56220"/>
                </a:solidFill>
              </a:defRPr>
            </a:pPr>
            <a:r>
              <a:rPr sz="1800" b="1">
                <a:solidFill>
                  <a:srgbClr val="B56220"/>
                </a:solidFill>
              </a:rPr>
              <a:t>CHECK FAILED</a:t>
            </a:r>
          </a:p>
        </p:txBody>
      </p:sp>
      <p:sp>
        <p:nvSpPr>
          <p:cNvPr id="2009" name="after heading">
            <a:extLst xmlns:a="http://schemas.openxmlformats.org/drawingml/2006/main">
              <a:ext uri="{FF2B5EF4-FFF2-40B4-BE49-F238E27FC236}">
                <a16:creationId xmlns:a16="http://schemas.microsoft.com/office/drawing/2014/main" id="{3E9A64D5-3AC7-40D9-8AB3-27C199C839B9}"/>
              </a:ext>
            </a:extLst>
          </p:cNvPr>
          <p:cNvSpPr>
            <a:spLocks xmlns:a="http://schemas.openxmlformats.org/drawingml/2006/main" noGrp="1"/>
          </p:cNvSpPr>
          <p:nvPr/>
        </p:nvSpPr>
        <p:spPr>
          <a:xfrm xmlns:a="http://schemas.openxmlformats.org/drawingml/2006/main">
            <a:off x="6486525" y="2466975"/>
            <a:ext cx="4162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4F8734"/>
                </a:solidFill>
              </a:defRPr>
            </a:defPPr>
            <a:lvl1pPr algn="l">
              <a:buNone/>
              <a:defRPr sz="2025" b="1">
                <a:solidFill>
                  <a:srgbClr val="4F8734"/>
                </a:solidFill>
              </a:defRPr>
            </a:lvl1pPr>
            <a:lvl2pPr algn="l">
              <a:buNone/>
              <a:defRPr sz="2025" b="1">
                <a:solidFill>
                  <a:srgbClr val="4F8734"/>
                </a:solidFill>
              </a:defRPr>
            </a:lvl2pPr>
            <a:lvl3pPr algn="l">
              <a:buNone/>
              <a:defRPr sz="2025" b="1">
                <a:solidFill>
                  <a:srgbClr val="4F8734"/>
                </a:solidFill>
              </a:defRPr>
            </a:lvl3pPr>
            <a:lvl4pPr algn="l">
              <a:buNone/>
              <a:defRPr sz="2025" b="1">
                <a:solidFill>
                  <a:srgbClr val="4F8734"/>
                </a:solidFill>
              </a:defRPr>
            </a:lvl4pPr>
            <a:lvl5pPr algn="l">
              <a:buNone/>
              <a:defRPr sz="2025" b="1">
                <a:solidFill>
                  <a:srgbClr val="4F8734"/>
                </a:solidFill>
              </a:defRPr>
            </a:lvl5pPr>
            <a:lvl6pPr algn="l">
              <a:buNone/>
              <a:defRPr sz="2025" b="1">
                <a:solidFill>
                  <a:srgbClr val="4F8734"/>
                </a:solidFill>
              </a:defRPr>
            </a:lvl6pPr>
            <a:lvl7pPr algn="l">
              <a:buNone/>
              <a:defRPr sz="2025" b="1">
                <a:solidFill>
                  <a:srgbClr val="4F8734"/>
                </a:solidFill>
              </a:defRPr>
            </a:lvl7pPr>
            <a:lvl8pPr algn="l">
              <a:buNone/>
              <a:defRPr sz="2025" b="1">
                <a:solidFill>
                  <a:srgbClr val="4F8734"/>
                </a:solidFill>
              </a:defRPr>
            </a:lvl8pPr>
            <a:lvl9pPr algn="l">
              <a:buNone/>
              <a:defRPr sz="2025" b="1">
                <a:solidFill>
                  <a:srgbClr val="4F8734"/>
                </a:solidFill>
              </a:defRPr>
            </a:lvl9pPr>
          </a:lstStyle>
          <a:p xmlns:a="http://schemas.openxmlformats.org/drawingml/2006/main">
            <a:pPr algn="l">
              <a:buNone/>
              <a:defRPr sz="2025" b="1">
                <a:solidFill>
                  <a:srgbClr val="4F8734"/>
                </a:solidFill>
              </a:defRPr>
            </a:pPr>
            <a:r>
              <a:rPr sz="2025" b="1">
                <a:solidFill>
                  <a:srgbClr val="4F8734"/>
                </a:solidFill>
              </a:rPr>
              <a:t>Corrected component</a:t>
            </a:r>
          </a:p>
        </p:txBody>
      </p:sp>
      <p:sp>
        <p:nvSpPr>
          <p:cNvPr id="2010" name="after condition">
            <a:extLst xmlns:a="http://schemas.openxmlformats.org/drawingml/2006/main">
              <a:ext uri="{FF2B5EF4-FFF2-40B4-BE49-F238E27FC236}">
                <a16:creationId xmlns:a16="http://schemas.microsoft.com/office/drawing/2014/main" id="{4551C0BC-2F9C-4C54-9AE6-3828AC57101E}"/>
              </a:ext>
            </a:extLst>
          </p:cNvPr>
          <p:cNvSpPr>
            <a:spLocks xmlns:a="http://schemas.openxmlformats.org/drawingml/2006/main" noGrp="1"/>
          </p:cNvSpPr>
          <p:nvPr/>
        </p:nvSpPr>
        <p:spPr>
          <a:xfrm xmlns:a="http://schemas.openxmlformats.org/drawingml/2006/main">
            <a:off x="6486525" y="3000375"/>
            <a:ext cx="41624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0">
                <a:solidFill>
                  <a:srgbClr val="303238"/>
                </a:solidFill>
              </a:defRPr>
            </a:defPPr>
            <a:lvl1pPr algn="l">
              <a:buNone/>
              <a:defRPr sz="2025" b="0">
                <a:solidFill>
                  <a:srgbClr val="303238"/>
                </a:solidFill>
              </a:defRPr>
            </a:lvl1pPr>
            <a:lvl2pPr algn="l">
              <a:buNone/>
              <a:defRPr sz="2025" b="0">
                <a:solidFill>
                  <a:srgbClr val="303238"/>
                </a:solidFill>
              </a:defRPr>
            </a:lvl2pPr>
            <a:lvl3pPr algn="l">
              <a:buNone/>
              <a:defRPr sz="2025" b="0">
                <a:solidFill>
                  <a:srgbClr val="303238"/>
                </a:solidFill>
              </a:defRPr>
            </a:lvl3pPr>
            <a:lvl4pPr algn="l">
              <a:buNone/>
              <a:defRPr sz="2025" b="0">
                <a:solidFill>
                  <a:srgbClr val="303238"/>
                </a:solidFill>
              </a:defRPr>
            </a:lvl4pPr>
            <a:lvl5pPr algn="l">
              <a:buNone/>
              <a:defRPr sz="2025" b="0">
                <a:solidFill>
                  <a:srgbClr val="303238"/>
                </a:solidFill>
              </a:defRPr>
            </a:lvl5pPr>
            <a:lvl6pPr algn="l">
              <a:buNone/>
              <a:defRPr sz="2025" b="0">
                <a:solidFill>
                  <a:srgbClr val="303238"/>
                </a:solidFill>
              </a:defRPr>
            </a:lvl6pPr>
            <a:lvl7pPr algn="l">
              <a:buNone/>
              <a:defRPr sz="2025" b="0">
                <a:solidFill>
                  <a:srgbClr val="303238"/>
                </a:solidFill>
              </a:defRPr>
            </a:lvl7pPr>
            <a:lvl8pPr algn="l">
              <a:buNone/>
              <a:defRPr sz="2025" b="0">
                <a:solidFill>
                  <a:srgbClr val="303238"/>
                </a:solidFill>
              </a:defRPr>
            </a:lvl8pPr>
            <a:lvl9pPr algn="l">
              <a:buNone/>
              <a:defRPr sz="2025" b="0">
                <a:solidFill>
                  <a:srgbClr val="303238"/>
                </a:solidFill>
              </a:defRPr>
            </a:lvl9pPr>
          </a:lstStyle>
          <a:p xmlns:a="http://schemas.openxmlformats.org/drawingml/2006/main">
            <a:pPr algn="l">
              <a:buNone/>
              <a:defRPr sz="2025" b="0">
                <a:solidFill>
                  <a:srgbClr val="303238"/>
                </a:solidFill>
              </a:defRPr>
            </a:pPr>
            <a:r>
              <a:rPr sz="2025" b="0">
                <a:solidFill>
                  <a:srgbClr val="303238"/>
                </a:solidFill>
              </a:rPr>
              <a:t>Private key is absent from</a:t>
            </a:r>
          </a:p>
          <a:p xmlns:a="http://schemas.openxmlformats.org/drawingml/2006/main">
            <a:pPr algn="l">
              <a:buNone/>
              <a:defRPr sz="2025" b="0">
                <a:solidFill>
                  <a:srgbClr val="303238"/>
                </a:solidFill>
              </a:defRPr>
            </a:pPr>
            <a:r>
              <a:rPr sz="2025" b="0">
                <a:solidFill>
                  <a:srgbClr val="303238"/>
                </a:solidFill>
              </a:rPr>
              <a:t>the browser response.</a:t>
            </a:r>
          </a:p>
        </p:txBody>
      </p:sp>
      <p:sp>
        <p:nvSpPr>
          <p:cNvPr id="2011" name="after check">
            <a:extLst xmlns:a="http://schemas.openxmlformats.org/drawingml/2006/main">
              <a:ext uri="{FF2B5EF4-FFF2-40B4-BE49-F238E27FC236}">
                <a16:creationId xmlns:a16="http://schemas.microsoft.com/office/drawing/2014/main" id="{B81BBBD5-12E6-44DC-8320-096E2F85484D}"/>
              </a:ext>
            </a:extLst>
          </p:cNvPr>
          <p:cNvSpPr>
            <a:spLocks xmlns:a="http://schemas.openxmlformats.org/drawingml/2006/main" noGrp="1"/>
          </p:cNvSpPr>
          <p:nvPr/>
        </p:nvSpPr>
        <p:spPr>
          <a:xfrm xmlns:a="http://schemas.openxmlformats.org/drawingml/2006/main">
            <a:off x="6486525" y="3876675"/>
            <a:ext cx="41624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1">
                <a:solidFill>
                  <a:srgbClr val="4F8734"/>
                </a:solidFill>
              </a:defRPr>
            </a:defPPr>
            <a:lvl1pPr algn="l">
              <a:buNone/>
              <a:defRPr sz="1800" b="1">
                <a:solidFill>
                  <a:srgbClr val="4F8734"/>
                </a:solidFill>
              </a:defRPr>
            </a:lvl1pPr>
            <a:lvl2pPr algn="l">
              <a:buNone/>
              <a:defRPr sz="1800" b="1">
                <a:solidFill>
                  <a:srgbClr val="4F8734"/>
                </a:solidFill>
              </a:defRPr>
            </a:lvl2pPr>
            <a:lvl3pPr algn="l">
              <a:buNone/>
              <a:defRPr sz="1800" b="1">
                <a:solidFill>
                  <a:srgbClr val="4F8734"/>
                </a:solidFill>
              </a:defRPr>
            </a:lvl3pPr>
            <a:lvl4pPr algn="l">
              <a:buNone/>
              <a:defRPr sz="1800" b="1">
                <a:solidFill>
                  <a:srgbClr val="4F8734"/>
                </a:solidFill>
              </a:defRPr>
            </a:lvl4pPr>
            <a:lvl5pPr algn="l">
              <a:buNone/>
              <a:defRPr sz="1800" b="1">
                <a:solidFill>
                  <a:srgbClr val="4F8734"/>
                </a:solidFill>
              </a:defRPr>
            </a:lvl5pPr>
            <a:lvl6pPr algn="l">
              <a:buNone/>
              <a:defRPr sz="1800" b="1">
                <a:solidFill>
                  <a:srgbClr val="4F8734"/>
                </a:solidFill>
              </a:defRPr>
            </a:lvl6pPr>
            <a:lvl7pPr algn="l">
              <a:buNone/>
              <a:defRPr sz="1800" b="1">
                <a:solidFill>
                  <a:srgbClr val="4F8734"/>
                </a:solidFill>
              </a:defRPr>
            </a:lvl7pPr>
            <a:lvl8pPr algn="l">
              <a:buNone/>
              <a:defRPr sz="1800" b="1">
                <a:solidFill>
                  <a:srgbClr val="4F8734"/>
                </a:solidFill>
              </a:defRPr>
            </a:lvl8pPr>
            <a:lvl9pPr algn="l">
              <a:buNone/>
              <a:defRPr sz="1800" b="1">
                <a:solidFill>
                  <a:srgbClr val="4F8734"/>
                </a:solidFill>
              </a:defRPr>
            </a:lvl9pPr>
          </a:lstStyle>
          <a:p xmlns:a="http://schemas.openxmlformats.org/drawingml/2006/main">
            <a:pPr algn="l">
              <a:buNone/>
              <a:defRPr sz="1800" b="1">
                <a:solidFill>
                  <a:srgbClr val="4F8734"/>
                </a:solidFill>
              </a:defRPr>
            </a:pPr>
            <a:r>
              <a:rPr sz="1800" b="1">
                <a:solidFill>
                  <a:srgbClr val="4F8734"/>
                </a:solidFill>
              </a:rPr>
              <a:t>CHECK PASSED</a:t>
            </a:r>
          </a:p>
        </p:txBody>
      </p:sp>
      <p:sp>
        <p:nvSpPr>
          <p:cNvPr id="2013" name="decision">
            <a:extLst xmlns:a="http://schemas.openxmlformats.org/drawingml/2006/main">
              <a:ext uri="{FF2B5EF4-FFF2-40B4-BE49-F238E27FC236}">
                <a16:creationId xmlns:a16="http://schemas.microsoft.com/office/drawing/2014/main" id="{CA88CA5B-22EB-47BA-820C-9198B88F3E72}"/>
              </a:ext>
            </a:extLst>
          </p:cNvPr>
          <p:cNvSpPr>
            <a:spLocks xmlns:a="http://schemas.openxmlformats.org/drawingml/2006/main" noGrp="1"/>
          </p:cNvSpPr>
          <p:nvPr/>
        </p:nvSpPr>
        <p:spPr>
          <a:xfrm xmlns:a="http://schemas.openxmlformats.org/drawingml/2006/main">
            <a:off x="812864" y="4810125"/>
            <a:ext cx="100679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550" b="1">
                <a:solidFill>
                  <a:srgbClr val="303238"/>
                </a:solidFill>
              </a:defRPr>
            </a:defPPr>
            <a:lvl1pPr algn="l">
              <a:buNone/>
              <a:defRPr sz="2550" b="1">
                <a:solidFill>
                  <a:srgbClr val="303238"/>
                </a:solidFill>
              </a:defRPr>
            </a:lvl1pPr>
            <a:lvl2pPr algn="l">
              <a:buNone/>
              <a:defRPr sz="2550" b="1">
                <a:solidFill>
                  <a:srgbClr val="303238"/>
                </a:solidFill>
              </a:defRPr>
            </a:lvl2pPr>
            <a:lvl3pPr algn="l">
              <a:buNone/>
              <a:defRPr sz="2550" b="1">
                <a:solidFill>
                  <a:srgbClr val="303238"/>
                </a:solidFill>
              </a:defRPr>
            </a:lvl3pPr>
            <a:lvl4pPr algn="l">
              <a:buNone/>
              <a:defRPr sz="2550" b="1">
                <a:solidFill>
                  <a:srgbClr val="303238"/>
                </a:solidFill>
              </a:defRPr>
            </a:lvl4pPr>
            <a:lvl5pPr algn="l">
              <a:buNone/>
              <a:defRPr sz="2550" b="1">
                <a:solidFill>
                  <a:srgbClr val="303238"/>
                </a:solidFill>
              </a:defRPr>
            </a:lvl5pPr>
            <a:lvl6pPr algn="l">
              <a:buNone/>
              <a:defRPr sz="2550" b="1">
                <a:solidFill>
                  <a:srgbClr val="303238"/>
                </a:solidFill>
              </a:defRPr>
            </a:lvl6pPr>
            <a:lvl7pPr algn="l">
              <a:buNone/>
              <a:defRPr sz="2550" b="1">
                <a:solidFill>
                  <a:srgbClr val="303238"/>
                </a:solidFill>
              </a:defRPr>
            </a:lvl7pPr>
            <a:lvl8pPr algn="l">
              <a:buNone/>
              <a:defRPr sz="2550" b="1">
                <a:solidFill>
                  <a:srgbClr val="303238"/>
                </a:solidFill>
              </a:defRPr>
            </a:lvl8pPr>
            <a:lvl9pPr algn="l">
              <a:buNone/>
              <a:defRPr sz="2550" b="1">
                <a:solidFill>
                  <a:srgbClr val="303238"/>
                </a:solidFill>
              </a:defRPr>
            </a:lvl9pPr>
          </a:lstStyle>
          <a:p xmlns:a="http://schemas.openxmlformats.org/drawingml/2006/main">
            <a:pPr algn="l">
              <a:buNone/>
              <a:defRPr sz="2550" b="1">
                <a:solidFill>
                  <a:srgbClr val="303238"/>
                </a:solidFill>
              </a:defRPr>
            </a:pPr>
            <a:r>
              <a:rPr sz="2550" b="1">
                <a:solidFill>
                  <a:srgbClr val="303238"/>
                </a:solidFill>
              </a:rPr>
              <a:t>Merge remains blocked</a:t>
            </a:r>
          </a:p>
        </p:txBody>
      </p:sp>
      <p:sp>
        <p:nvSpPr>
          <p:cNvPr id="2014" name="open work">
            <a:extLst xmlns:a="http://schemas.openxmlformats.org/drawingml/2006/main">
              <a:ext uri="{FF2B5EF4-FFF2-40B4-BE49-F238E27FC236}">
                <a16:creationId xmlns:a16="http://schemas.microsoft.com/office/drawing/2014/main" id="{9B7AD701-02A4-45DC-9C2D-D6E2D32840A6}"/>
              </a:ext>
            </a:extLst>
          </p:cNvPr>
          <p:cNvSpPr>
            <a:spLocks xmlns:a="http://schemas.openxmlformats.org/drawingml/2006/main" noGrp="1"/>
          </p:cNvSpPr>
          <p:nvPr/>
        </p:nvSpPr>
        <p:spPr>
          <a:xfrm xmlns:a="http://schemas.openxmlformats.org/drawingml/2006/main">
            <a:off x="812864" y="5334000"/>
            <a:ext cx="981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0">
                <a:solidFill>
                  <a:srgbClr val="303238"/>
                </a:solidFill>
              </a:defRPr>
            </a:defPPr>
            <a:lvl1pPr algn="l">
              <a:buNone/>
              <a:defRPr sz="1875" b="0">
                <a:solidFill>
                  <a:srgbClr val="303238"/>
                </a:solidFill>
              </a:defRPr>
            </a:lvl1pPr>
            <a:lvl2pPr algn="l">
              <a:buNone/>
              <a:defRPr sz="1875" b="0">
                <a:solidFill>
                  <a:srgbClr val="303238"/>
                </a:solidFill>
              </a:defRPr>
            </a:lvl2pPr>
            <a:lvl3pPr algn="l">
              <a:buNone/>
              <a:defRPr sz="1875" b="0">
                <a:solidFill>
                  <a:srgbClr val="303238"/>
                </a:solidFill>
              </a:defRPr>
            </a:lvl3pPr>
            <a:lvl4pPr algn="l">
              <a:buNone/>
              <a:defRPr sz="1875" b="0">
                <a:solidFill>
                  <a:srgbClr val="303238"/>
                </a:solidFill>
              </a:defRPr>
            </a:lvl4pPr>
            <a:lvl5pPr algn="l">
              <a:buNone/>
              <a:defRPr sz="1875" b="0">
                <a:solidFill>
                  <a:srgbClr val="303238"/>
                </a:solidFill>
              </a:defRPr>
            </a:lvl5pPr>
            <a:lvl6pPr algn="l">
              <a:buNone/>
              <a:defRPr sz="1875" b="0">
                <a:solidFill>
                  <a:srgbClr val="303238"/>
                </a:solidFill>
              </a:defRPr>
            </a:lvl6pPr>
            <a:lvl7pPr algn="l">
              <a:buNone/>
              <a:defRPr sz="1875" b="0">
                <a:solidFill>
                  <a:srgbClr val="303238"/>
                </a:solidFill>
              </a:defRPr>
            </a:lvl7pPr>
            <a:lvl8pPr algn="l">
              <a:buNone/>
              <a:defRPr sz="1875" b="0">
                <a:solidFill>
                  <a:srgbClr val="303238"/>
                </a:solidFill>
              </a:defRPr>
            </a:lvl8pPr>
            <a:lvl9pPr algn="l">
              <a:buNone/>
              <a:defRPr sz="1875" b="0">
                <a:solidFill>
                  <a:srgbClr val="303238"/>
                </a:solidFill>
              </a:defRPr>
            </a:lvl9pPr>
          </a:lstStyle>
          <a:p xmlns:a="http://schemas.openxmlformats.org/drawingml/2006/main">
            <a:pPr algn="l">
              <a:buNone/>
              <a:defRPr sz="1875" b="0">
                <a:solidFill>
                  <a:srgbClr val="303238"/>
                </a:solidFill>
              </a:defRPr>
            </a:pPr>
            <a:r>
              <a:rPr sz="1875" b="0">
                <a:solidFill>
                  <a:srgbClr val="303238"/>
                </a:solidFill>
              </a:rPr>
              <a:t>Required triage and human review remain open.</a:t>
            </a:r>
          </a:p>
        </p:txBody>
      </p:sp>
      <p:sp>
        <p:nvSpPr>
          <p:cNvPr id="2015" name="evidence scope">
            <a:extLst xmlns:a="http://schemas.openxmlformats.org/drawingml/2006/main">
              <a:ext uri="{FF2B5EF4-FFF2-40B4-BE49-F238E27FC236}">
                <a16:creationId xmlns:a16="http://schemas.microsoft.com/office/drawing/2014/main" id="{826BD85A-0EA9-427F-9F27-14DE27D31C70}"/>
              </a:ext>
            </a:extLst>
          </p:cNvPr>
          <p:cNvSpPr>
            <a:spLocks xmlns:a="http://schemas.openxmlformats.org/drawingml/2006/main" noGrp="1"/>
          </p:cNvSpPr>
          <p:nvPr/>
        </p:nvSpPr>
        <p:spPr>
          <a:xfrm xmlns:a="http://schemas.openxmlformats.org/drawingml/2006/main">
            <a:off x="812864" y="5915025"/>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0">
                <a:solidFill>
                  <a:srgbClr val="61666B"/>
                </a:solidFill>
              </a:defRPr>
            </a:defPPr>
            <a:lvl1pPr algn="l">
              <a:buNone/>
              <a:defRPr sz="1350" b="0">
                <a:solidFill>
                  <a:srgbClr val="61666B"/>
                </a:solidFill>
              </a:defRPr>
            </a:lvl1pPr>
            <a:lvl2pPr algn="l">
              <a:buNone/>
              <a:defRPr sz="1350" b="0">
                <a:solidFill>
                  <a:srgbClr val="61666B"/>
                </a:solidFill>
              </a:defRPr>
            </a:lvl2pPr>
            <a:lvl3pPr algn="l">
              <a:buNone/>
              <a:defRPr sz="1350" b="0">
                <a:solidFill>
                  <a:srgbClr val="61666B"/>
                </a:solidFill>
              </a:defRPr>
            </a:lvl3pPr>
            <a:lvl4pPr algn="l">
              <a:buNone/>
              <a:defRPr sz="1350" b="0">
                <a:solidFill>
                  <a:srgbClr val="61666B"/>
                </a:solidFill>
              </a:defRPr>
            </a:lvl4pPr>
            <a:lvl5pPr algn="l">
              <a:buNone/>
              <a:defRPr sz="1350" b="0">
                <a:solidFill>
                  <a:srgbClr val="61666B"/>
                </a:solidFill>
              </a:defRPr>
            </a:lvl5pPr>
            <a:lvl6pPr algn="l">
              <a:buNone/>
              <a:defRPr sz="1350" b="0">
                <a:solidFill>
                  <a:srgbClr val="61666B"/>
                </a:solidFill>
              </a:defRPr>
            </a:lvl6pPr>
            <a:lvl7pPr algn="l">
              <a:buNone/>
              <a:defRPr sz="1350" b="0">
                <a:solidFill>
                  <a:srgbClr val="61666B"/>
                </a:solidFill>
              </a:defRPr>
            </a:lvl7pPr>
            <a:lvl8pPr algn="l">
              <a:buNone/>
              <a:defRPr sz="1350" b="0">
                <a:solidFill>
                  <a:srgbClr val="61666B"/>
                </a:solidFill>
              </a:defRPr>
            </a:lvl8pPr>
            <a:lvl9pPr algn="l">
              <a:buNone/>
              <a:defRPr sz="1350" b="0">
                <a:solidFill>
                  <a:srgbClr val="61666B"/>
                </a:solidFill>
              </a:defRPr>
            </a:lvl9pPr>
          </a:lstStyle>
          <a:p xmlns:a="http://schemas.openxmlformats.org/drawingml/2006/main">
            <a:pPr algn="l">
              <a:buNone/>
              <a:defRPr sz="1350" b="0">
                <a:solidFill>
                  <a:srgbClr val="61666B"/>
                </a:solidFill>
              </a:defRPr>
            </a:pPr>
            <a:r>
              <a:rPr sz="1350" b="0">
                <a:solidFill>
                  <a:srgbClr val="61666B"/>
                </a:solidFill>
              </a:rPr>
              <a:t>Captured 21 October 2026. Isolated component evidence.</a:t>
            </a:r>
          </a:p>
        </p:txBody>
      </p:sp>
    </p:spTree>
    <p:extLst>
      <p:ext uri="{BB962C8B-B14F-4D97-AF65-F5344CB8AC3E}">
        <p14:creationId xmlns:p14="http://schemas.microsoft.com/office/powerpoint/2010/main" val="1195198675"/>
      </p:ext>
    </p:extLst>
  </p:cSld>
</p:sld>
</file>

<file path=ppt/slides/slide24.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3EB12897-E4EE-4C32-A79E-75ED52A185B6}"/>
              </a:ext>
            </a:extLst>
          </p:cNvPr>
          <p:cNvPicPr>
            <a:picLocks xmlns:a="http://schemas.openxmlformats.org/drawingml/2006/main" noChangeAspect="1"/>
          </p:cNvPicPr>
          <p:nvPr/>
        </p:nvPicPr>
        <p:blipFill>
          <a:blip xmlns:r="http://schemas.openxmlformats.org/officeDocument/2006/relationships" xmlns:a="http://schemas.openxmlformats.org/drawingml/2006/main" r:embed="Rf0ba7cce190545e4"/>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BD49F4B5-4E11-4DD0-BA24-34683B32A1BA}"/>
              </a:ext>
            </a:extLst>
          </p:cNvPr>
          <p:cNvPicPr>
            <a:picLocks xmlns:a="http://schemas.openxmlformats.org/drawingml/2006/main" noChangeAspect="1"/>
          </p:cNvPicPr>
          <p:nvPr/>
        </p:nvPicPr>
        <p:blipFill>
          <a:blip xmlns:r="http://schemas.openxmlformats.org/officeDocument/2006/relationships" xmlns:a="http://schemas.openxmlformats.org/drawingml/2006/main" r:embed="R51c46d8700b24229"/>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cxnSp>
        <p:nvCxnSpPr>
          <p:cNvPr id="2010" name="Straight Arrow Connector 2009">
            <a:extLst xmlns:a="http://schemas.openxmlformats.org/drawingml/2006/main">
              <a:ext uri="{FF2B5EF4-FFF2-40B4-BE49-F238E27FC236}">
                <a16:creationId xmlns:a16="http://schemas.microsoft.com/office/drawing/2014/main" id="{AD23E298-E522-4726-B347-5B48A2D23277}"/>
              </a:ext>
            </a:extLst>
          </p:cNvPr>
          <p:cNvCxnSpPr>
            <a:stCxn xmlns:a="http://schemas.openxmlformats.org/drawingml/2006/main" id="2004" idx="2"/>
            <a:endCxn xmlns:a="http://schemas.openxmlformats.org/drawingml/2006/main" id="2007" idx="0"/>
          </p:cNvCxnSpPr>
          <p:nvPr/>
        </p:nvCxnSpPr>
        <p:spPr>
          <a:xfrm xmlns:a="http://schemas.openxmlformats.org/drawingml/2006/main">
            <a:off x="2908364" y="3505200"/>
            <a:ext cx="0" cy="523875"/>
          </a:xfrm>
          <a:prstGeom xmlns:a="http://schemas.openxmlformats.org/drawingml/2006/main" prst="straightConnector1">
            <a:avLst/>
          </a:prstGeom>
          <a:ln xmlns:a="http://schemas.openxmlformats.org/drawingml/2006/main" w="19050">
            <a:solidFill>
              <a:srgbClr val="4F8734"/>
            </a:solidFill>
            <a:tailEnd type="triangle" w="med" len="med"/>
          </a:ln>
        </p:spPr>
      </p:cxnSp>
      <p:sp>
        <p:nvSpPr>
          <p:cNvPr id="2018" name="title">
            <a:extLst xmlns:a="http://schemas.openxmlformats.org/drawingml/2006/main">
              <a:ext uri="{FF2B5EF4-FFF2-40B4-BE49-F238E27FC236}">
                <a16:creationId xmlns:a16="http://schemas.microsoft.com/office/drawing/2014/main" id="{DA3541BF-1F78-48FF-A4FF-5748E080FCBA}"/>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A corrected patch, then a clean comment</a:t>
            </a:r>
          </a:p>
        </p:txBody>
      </p:sp>
      <p:sp>
        <p:nvSpPr>
          <p:cNvPr id="2002" name="subtitle">
            <a:extLst xmlns:a="http://schemas.openxmlformats.org/drawingml/2006/main">
              <a:ext uri="{FF2B5EF4-FFF2-40B4-BE49-F238E27FC236}">
                <a16:creationId xmlns:a16="http://schemas.microsoft.com/office/drawing/2014/main" id="{FB345F8A-0D83-4028-8D5F-04152E2E6E6A}"/>
              </a:ext>
            </a:extLst>
          </p:cNvPr>
          <p:cNvSpPr>
            <a:spLocks xmlns:a="http://schemas.openxmlformats.org/drawingml/2006/main" noGrp="1"/>
          </p:cNvSpPr>
          <p:nvPr/>
        </p:nvSpPr>
        <p:spPr>
          <a:xfrm xmlns:a="http://schemas.openxmlformats.org/drawingml/2006/main">
            <a:off x="812864" y="1409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OpenEMR PR #11958: a separate Claude Code-assisted CSRF fix.</a:t>
            </a:r>
          </a:p>
        </p:txBody>
      </p:sp>
      <p:sp>
        <p:nvSpPr>
          <p:cNvPr id="2003" name="conference footer">
            <a:extLst xmlns:a="http://schemas.openxmlformats.org/drawingml/2006/main">
              <a:ext uri="{FF2B5EF4-FFF2-40B4-BE49-F238E27FC236}">
                <a16:creationId xmlns:a16="http://schemas.microsoft.com/office/drawing/2014/main" id="{13198B6F-FB73-42E9-9CDA-588671B18784}"/>
              </a:ext>
            </a:extLst>
          </p:cNvPr>
          <p:cNvSpPr>
            <a:spLocks xmlns:a="http://schemas.openxmlformats.org/drawingml/2006/main" noGrp="1"/>
          </p:cNvSpPr>
          <p:nvPr/>
        </p:nvSpPr>
        <p:spPr>
          <a:xfrm xmlns:a="http://schemas.openxmlformats.org/drawingml/2006/main">
            <a:off x="7258050" y="644842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8A8A8A"/>
                </a:solidFill>
              </a:defRPr>
            </a:defPPr>
            <a:lvl1pPr algn="l">
              <a:buNone/>
              <a:defRPr sz="1050" b="0">
                <a:solidFill>
                  <a:srgbClr val="8A8A8A"/>
                </a:solidFill>
              </a:defRPr>
            </a:lvl1pPr>
            <a:lvl2pPr algn="l">
              <a:buNone/>
              <a:defRPr sz="1050" b="0">
                <a:solidFill>
                  <a:srgbClr val="8A8A8A"/>
                </a:solidFill>
              </a:defRPr>
            </a:lvl2pPr>
            <a:lvl3pPr algn="l">
              <a:buNone/>
              <a:defRPr sz="1050" b="0">
                <a:solidFill>
                  <a:srgbClr val="8A8A8A"/>
                </a:solidFill>
              </a:defRPr>
            </a:lvl3pPr>
            <a:lvl4pPr algn="l">
              <a:buNone/>
              <a:defRPr sz="1050" b="0">
                <a:solidFill>
                  <a:srgbClr val="8A8A8A"/>
                </a:solidFill>
              </a:defRPr>
            </a:lvl4pPr>
            <a:lvl5pPr algn="l">
              <a:buNone/>
              <a:defRPr sz="1050" b="0">
                <a:solidFill>
                  <a:srgbClr val="8A8A8A"/>
                </a:solidFill>
              </a:defRPr>
            </a:lvl5pPr>
            <a:lvl6pPr algn="l">
              <a:buNone/>
              <a:defRPr sz="1050" b="0">
                <a:solidFill>
                  <a:srgbClr val="8A8A8A"/>
                </a:solidFill>
              </a:defRPr>
            </a:lvl6pPr>
            <a:lvl7pPr algn="l">
              <a:buNone/>
              <a:defRPr sz="1050" b="0">
                <a:solidFill>
                  <a:srgbClr val="8A8A8A"/>
                </a:solidFill>
              </a:defRPr>
            </a:lvl7pPr>
            <a:lvl8pPr algn="l">
              <a:buNone/>
              <a:defRPr sz="1050" b="0">
                <a:solidFill>
                  <a:srgbClr val="8A8A8A"/>
                </a:solidFill>
              </a:defRPr>
            </a:lvl8pPr>
            <a:lvl9pPr algn="l">
              <a:buNone/>
              <a:defRPr sz="1050" b="0">
                <a:solidFill>
                  <a:srgbClr val="8A8A8A"/>
                </a:solidFill>
              </a:defRPr>
            </a:lvl9pPr>
          </a:lstStyle>
          <a:p xmlns:a="http://schemas.openxmlformats.org/drawingml/2006/main">
            <a:pPr algn="l">
              <a:buNone/>
              <a:defRPr sz="1050" b="0">
                <a:solidFill>
                  <a:srgbClr val="8A8A8A"/>
                </a:solidFill>
              </a:defRPr>
            </a:pPr>
            <a:r>
              <a:rPr sz="1050" b="0">
                <a:solidFill>
                  <a:srgbClr val="8A8A8A"/>
                </a:solidFill>
              </a:rPr>
              <a:t>ISC2.org/Congress | #ISC2Congress</a:t>
            </a:r>
          </a:p>
        </p:txBody>
      </p:sp>
      <p:sp>
        <p:nvSpPr>
          <p:cNvPr id="2004" name="initial revision">
            <a:extLst xmlns:a="http://schemas.openxmlformats.org/drawingml/2006/main">
              <a:ext uri="{FF2B5EF4-FFF2-40B4-BE49-F238E27FC236}">
                <a16:creationId xmlns:a16="http://schemas.microsoft.com/office/drawing/2014/main" id="{ED551247-B16C-4F6E-A271-792521257B5A}"/>
              </a:ext>
            </a:extLst>
          </p:cNvPr>
          <p:cNvSpPr>
            <a:spLocks xmlns:a="http://schemas.openxmlformats.org/drawingml/2006/main" noGrp="1"/>
          </p:cNvSpPr>
          <p:nvPr/>
        </p:nvSpPr>
        <p:spPr>
          <a:xfrm xmlns:a="http://schemas.openxmlformats.org/drawingml/2006/main">
            <a:off x="812864" y="2257425"/>
            <a:ext cx="4191000" cy="1247775"/>
          </a:xfrm>
          <a:prstGeom xmlns:a="http://schemas.openxmlformats.org/drawingml/2006/main" prst="roundRect">
            <a:avLst>
              <a:gd name="adj" fmla="val 6107"/>
            </a:avLst>
          </a:prstGeom>
          <a:solidFill xmlns:a="http://schemas.openxmlformats.org/drawingml/2006/main">
            <a:srgbClr val="F2F6F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5" name="initial heading">
            <a:extLst xmlns:a="http://schemas.openxmlformats.org/drawingml/2006/main">
              <a:ext uri="{FF2B5EF4-FFF2-40B4-BE49-F238E27FC236}">
                <a16:creationId xmlns:a16="http://schemas.microsoft.com/office/drawing/2014/main" id="{AA2B0E49-21A5-4487-8CC8-4BB74E387D68}"/>
              </a:ext>
            </a:extLst>
          </p:cNvPr>
          <p:cNvSpPr>
            <a:spLocks xmlns:a="http://schemas.openxmlformats.org/drawingml/2006/main" noGrp="1"/>
          </p:cNvSpPr>
          <p:nvPr/>
        </p:nvSpPr>
        <p:spPr>
          <a:xfrm xmlns:a="http://schemas.openxmlformats.org/drawingml/2006/main">
            <a:off x="1038225" y="23907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0086AC"/>
                </a:solidFill>
              </a:defRPr>
            </a:defPPr>
            <a:lvl1pPr algn="l">
              <a:buNone/>
              <a:defRPr sz="2025" b="1">
                <a:solidFill>
                  <a:srgbClr val="0086AC"/>
                </a:solidFill>
              </a:defRPr>
            </a:lvl1pPr>
            <a:lvl2pPr algn="l">
              <a:buNone/>
              <a:defRPr sz="2025" b="1">
                <a:solidFill>
                  <a:srgbClr val="0086AC"/>
                </a:solidFill>
              </a:defRPr>
            </a:lvl2pPr>
            <a:lvl3pPr algn="l">
              <a:buNone/>
              <a:defRPr sz="2025" b="1">
                <a:solidFill>
                  <a:srgbClr val="0086AC"/>
                </a:solidFill>
              </a:defRPr>
            </a:lvl3pPr>
            <a:lvl4pPr algn="l">
              <a:buNone/>
              <a:defRPr sz="2025" b="1">
                <a:solidFill>
                  <a:srgbClr val="0086AC"/>
                </a:solidFill>
              </a:defRPr>
            </a:lvl4pPr>
            <a:lvl5pPr algn="l">
              <a:buNone/>
              <a:defRPr sz="2025" b="1">
                <a:solidFill>
                  <a:srgbClr val="0086AC"/>
                </a:solidFill>
              </a:defRPr>
            </a:lvl5pPr>
            <a:lvl6pPr algn="l">
              <a:buNone/>
              <a:defRPr sz="2025" b="1">
                <a:solidFill>
                  <a:srgbClr val="0086AC"/>
                </a:solidFill>
              </a:defRPr>
            </a:lvl6pPr>
            <a:lvl7pPr algn="l">
              <a:buNone/>
              <a:defRPr sz="2025" b="1">
                <a:solidFill>
                  <a:srgbClr val="0086AC"/>
                </a:solidFill>
              </a:defRPr>
            </a:lvl7pPr>
            <a:lvl8pPr algn="l">
              <a:buNone/>
              <a:defRPr sz="2025" b="1">
                <a:solidFill>
                  <a:srgbClr val="0086AC"/>
                </a:solidFill>
              </a:defRPr>
            </a:lvl8pPr>
            <a:lvl9pPr algn="l">
              <a:buNone/>
              <a:defRPr sz="2025" b="1">
                <a:solidFill>
                  <a:srgbClr val="0086AC"/>
                </a:solidFill>
              </a:defRPr>
            </a:lvl9pPr>
          </a:lstStyle>
          <a:p xmlns:a="http://schemas.openxmlformats.org/drawingml/2006/main">
            <a:pPr algn="l">
              <a:buNone/>
              <a:defRPr sz="2025" b="1">
                <a:solidFill>
                  <a:srgbClr val="0086AC"/>
                </a:solidFill>
              </a:defRPr>
            </a:pPr>
            <a:r>
              <a:rPr sz="2025" b="1">
                <a:solidFill>
                  <a:srgbClr val="0086AC"/>
                </a:solidFill>
              </a:rPr>
              <a:t>Initial patch  23c7239</a:t>
            </a:r>
          </a:p>
        </p:txBody>
      </p:sp>
      <p:sp>
        <p:nvSpPr>
          <p:cNvPr id="2006" name="initial finding">
            <a:extLst xmlns:a="http://schemas.openxmlformats.org/drawingml/2006/main">
              <a:ext uri="{FF2B5EF4-FFF2-40B4-BE49-F238E27FC236}">
                <a16:creationId xmlns:a16="http://schemas.microsoft.com/office/drawing/2014/main" id="{76BA0E0B-74DD-401A-87D8-A45F4A2FE061}"/>
              </a:ext>
            </a:extLst>
          </p:cNvPr>
          <p:cNvSpPr>
            <a:spLocks xmlns:a="http://schemas.openxmlformats.org/drawingml/2006/main" noGrp="1"/>
          </p:cNvSpPr>
          <p:nvPr/>
        </p:nvSpPr>
        <p:spPr>
          <a:xfrm xmlns:a="http://schemas.openxmlformats.org/drawingml/2006/main">
            <a:off x="1038225" y="2828925"/>
            <a:ext cx="3733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0">
                <a:solidFill>
                  <a:srgbClr val="303238"/>
                </a:solidFill>
              </a:defRPr>
            </a:defPPr>
            <a:lvl1pPr algn="l">
              <a:buNone/>
              <a:defRPr sz="1800" b="0">
                <a:solidFill>
                  <a:srgbClr val="303238"/>
                </a:solidFill>
              </a:defRPr>
            </a:lvl1pPr>
            <a:lvl2pPr algn="l">
              <a:buNone/>
              <a:defRPr sz="1800" b="0">
                <a:solidFill>
                  <a:srgbClr val="303238"/>
                </a:solidFill>
              </a:defRPr>
            </a:lvl2pPr>
            <a:lvl3pPr algn="l">
              <a:buNone/>
              <a:defRPr sz="1800" b="0">
                <a:solidFill>
                  <a:srgbClr val="303238"/>
                </a:solidFill>
              </a:defRPr>
            </a:lvl3pPr>
            <a:lvl4pPr algn="l">
              <a:buNone/>
              <a:defRPr sz="1800" b="0">
                <a:solidFill>
                  <a:srgbClr val="303238"/>
                </a:solidFill>
              </a:defRPr>
            </a:lvl4pPr>
            <a:lvl5pPr algn="l">
              <a:buNone/>
              <a:defRPr sz="1800" b="0">
                <a:solidFill>
                  <a:srgbClr val="303238"/>
                </a:solidFill>
              </a:defRPr>
            </a:lvl5pPr>
            <a:lvl6pPr algn="l">
              <a:buNone/>
              <a:defRPr sz="1800" b="0">
                <a:solidFill>
                  <a:srgbClr val="303238"/>
                </a:solidFill>
              </a:defRPr>
            </a:lvl6pPr>
            <a:lvl7pPr algn="l">
              <a:buNone/>
              <a:defRPr sz="1800" b="0">
                <a:solidFill>
                  <a:srgbClr val="303238"/>
                </a:solidFill>
              </a:defRPr>
            </a:lvl7pPr>
            <a:lvl8pPr algn="l">
              <a:buNone/>
              <a:defRPr sz="1800" b="0">
                <a:solidFill>
                  <a:srgbClr val="303238"/>
                </a:solidFill>
              </a:defRPr>
            </a:lvl8pPr>
            <a:lvl9pPr algn="l">
              <a:buNone/>
              <a:defRPr sz="1800" b="0">
                <a:solidFill>
                  <a:srgbClr val="303238"/>
                </a:solidFill>
              </a:defRPr>
            </a:lvl9pPr>
          </a:lstStyle>
          <a:p xmlns:a="http://schemas.openxmlformats.org/drawingml/2006/main">
            <a:pPr algn="l">
              <a:buNone/>
              <a:defRPr sz="1800" b="0">
                <a:solidFill>
                  <a:srgbClr val="303238"/>
                </a:solidFill>
              </a:defRPr>
            </a:pPr>
            <a:r>
              <a:rPr sz="1800" b="0">
                <a:solidFill>
                  <a:srgbClr val="303238"/>
                </a:solidFill>
              </a:rPr>
              <a:t>AISLE finds missing server-side</a:t>
            </a:r>
          </a:p>
          <a:p xmlns:a="http://schemas.openxmlformats.org/drawingml/2006/main">
            <a:pPr algn="l">
              <a:buNone/>
              <a:defRPr sz="1800" b="0">
                <a:solidFill>
                  <a:srgbClr val="303238"/>
                </a:solidFill>
              </a:defRPr>
            </a:pPr>
            <a:r>
              <a:rPr sz="1800" b="0">
                <a:solidFill>
                  <a:srgbClr val="303238"/>
                </a:solidFill>
              </a:rPr>
              <a:t>CSRF validation.</a:t>
            </a:r>
          </a:p>
        </p:txBody>
      </p:sp>
      <p:sp>
        <p:nvSpPr>
          <p:cNvPr id="2007" name="corrected revision">
            <a:extLst xmlns:a="http://schemas.openxmlformats.org/drawingml/2006/main">
              <a:ext uri="{FF2B5EF4-FFF2-40B4-BE49-F238E27FC236}">
                <a16:creationId xmlns:a16="http://schemas.microsoft.com/office/drawing/2014/main" id="{69EA5FF1-5681-43A3-AE5F-FE6974C14478}"/>
              </a:ext>
            </a:extLst>
          </p:cNvPr>
          <p:cNvSpPr>
            <a:spLocks xmlns:a="http://schemas.openxmlformats.org/drawingml/2006/main" noGrp="1"/>
          </p:cNvSpPr>
          <p:nvPr/>
        </p:nvSpPr>
        <p:spPr>
          <a:xfrm xmlns:a="http://schemas.openxmlformats.org/drawingml/2006/main">
            <a:off x="812864" y="4029075"/>
            <a:ext cx="4191000" cy="1247775"/>
          </a:xfrm>
          <a:prstGeom xmlns:a="http://schemas.openxmlformats.org/drawingml/2006/main" prst="roundRect">
            <a:avLst>
              <a:gd name="adj" fmla="val 6107"/>
            </a:avLst>
          </a:prstGeom>
          <a:solidFill xmlns:a="http://schemas.openxmlformats.org/drawingml/2006/main">
            <a:srgbClr val="EDF4E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8" name="corrected heading">
            <a:extLst xmlns:a="http://schemas.openxmlformats.org/drawingml/2006/main">
              <a:ext uri="{FF2B5EF4-FFF2-40B4-BE49-F238E27FC236}">
                <a16:creationId xmlns:a16="http://schemas.microsoft.com/office/drawing/2014/main" id="{8F582607-6AE2-4E01-8683-E31DAF7D8EA6}"/>
              </a:ext>
            </a:extLst>
          </p:cNvPr>
          <p:cNvSpPr>
            <a:spLocks xmlns:a="http://schemas.openxmlformats.org/drawingml/2006/main" noGrp="1"/>
          </p:cNvSpPr>
          <p:nvPr/>
        </p:nvSpPr>
        <p:spPr>
          <a:xfrm xmlns:a="http://schemas.openxmlformats.org/drawingml/2006/main">
            <a:off x="1038225" y="41719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4F8734"/>
                </a:solidFill>
              </a:defRPr>
            </a:defPPr>
            <a:lvl1pPr algn="l">
              <a:buNone/>
              <a:defRPr sz="2025" b="1">
                <a:solidFill>
                  <a:srgbClr val="4F8734"/>
                </a:solidFill>
              </a:defRPr>
            </a:lvl1pPr>
            <a:lvl2pPr algn="l">
              <a:buNone/>
              <a:defRPr sz="2025" b="1">
                <a:solidFill>
                  <a:srgbClr val="4F8734"/>
                </a:solidFill>
              </a:defRPr>
            </a:lvl2pPr>
            <a:lvl3pPr algn="l">
              <a:buNone/>
              <a:defRPr sz="2025" b="1">
                <a:solidFill>
                  <a:srgbClr val="4F8734"/>
                </a:solidFill>
              </a:defRPr>
            </a:lvl3pPr>
            <a:lvl4pPr algn="l">
              <a:buNone/>
              <a:defRPr sz="2025" b="1">
                <a:solidFill>
                  <a:srgbClr val="4F8734"/>
                </a:solidFill>
              </a:defRPr>
            </a:lvl4pPr>
            <a:lvl5pPr algn="l">
              <a:buNone/>
              <a:defRPr sz="2025" b="1">
                <a:solidFill>
                  <a:srgbClr val="4F8734"/>
                </a:solidFill>
              </a:defRPr>
            </a:lvl5pPr>
            <a:lvl6pPr algn="l">
              <a:buNone/>
              <a:defRPr sz="2025" b="1">
                <a:solidFill>
                  <a:srgbClr val="4F8734"/>
                </a:solidFill>
              </a:defRPr>
            </a:lvl6pPr>
            <a:lvl7pPr algn="l">
              <a:buNone/>
              <a:defRPr sz="2025" b="1">
                <a:solidFill>
                  <a:srgbClr val="4F8734"/>
                </a:solidFill>
              </a:defRPr>
            </a:lvl7pPr>
            <a:lvl8pPr algn="l">
              <a:buNone/>
              <a:defRPr sz="2025" b="1">
                <a:solidFill>
                  <a:srgbClr val="4F8734"/>
                </a:solidFill>
              </a:defRPr>
            </a:lvl8pPr>
            <a:lvl9pPr algn="l">
              <a:buNone/>
              <a:defRPr sz="2025" b="1">
                <a:solidFill>
                  <a:srgbClr val="4F8734"/>
                </a:solidFill>
              </a:defRPr>
            </a:lvl9pPr>
          </a:lstStyle>
          <a:p xmlns:a="http://schemas.openxmlformats.org/drawingml/2006/main">
            <a:pPr algn="l">
              <a:buNone/>
              <a:defRPr sz="2025" b="1">
                <a:solidFill>
                  <a:srgbClr val="4F8734"/>
                </a:solidFill>
              </a:defRPr>
            </a:pPr>
            <a:r>
              <a:rPr sz="2025" b="1">
                <a:solidFill>
                  <a:srgbClr val="4F8734"/>
                </a:solidFill>
              </a:rPr>
              <a:t>Correction  cf2edc3</a:t>
            </a:r>
          </a:p>
        </p:txBody>
      </p:sp>
      <p:sp>
        <p:nvSpPr>
          <p:cNvPr id="2009" name="corrected fact">
            <a:extLst xmlns:a="http://schemas.openxmlformats.org/drawingml/2006/main">
              <a:ext uri="{FF2B5EF4-FFF2-40B4-BE49-F238E27FC236}">
                <a16:creationId xmlns:a16="http://schemas.microsoft.com/office/drawing/2014/main" id="{604AC558-8E5D-4303-9D35-9899EEFD6486}"/>
              </a:ext>
            </a:extLst>
          </p:cNvPr>
          <p:cNvSpPr>
            <a:spLocks xmlns:a="http://schemas.openxmlformats.org/drawingml/2006/main" noGrp="1"/>
          </p:cNvSpPr>
          <p:nvPr/>
        </p:nvSpPr>
        <p:spPr>
          <a:xfrm xmlns:a="http://schemas.openxmlformats.org/drawingml/2006/main">
            <a:off x="1038225" y="4638675"/>
            <a:ext cx="3733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0">
                <a:solidFill>
                  <a:srgbClr val="303238"/>
                </a:solidFill>
              </a:defRPr>
            </a:defPPr>
            <a:lvl1pPr algn="l">
              <a:buNone/>
              <a:defRPr sz="1800" b="0">
                <a:solidFill>
                  <a:srgbClr val="303238"/>
                </a:solidFill>
              </a:defRPr>
            </a:lvl1pPr>
            <a:lvl2pPr algn="l">
              <a:buNone/>
              <a:defRPr sz="1800" b="0">
                <a:solidFill>
                  <a:srgbClr val="303238"/>
                </a:solidFill>
              </a:defRPr>
            </a:lvl2pPr>
            <a:lvl3pPr algn="l">
              <a:buNone/>
              <a:defRPr sz="1800" b="0">
                <a:solidFill>
                  <a:srgbClr val="303238"/>
                </a:solidFill>
              </a:defRPr>
            </a:lvl3pPr>
            <a:lvl4pPr algn="l">
              <a:buNone/>
              <a:defRPr sz="1800" b="0">
                <a:solidFill>
                  <a:srgbClr val="303238"/>
                </a:solidFill>
              </a:defRPr>
            </a:lvl4pPr>
            <a:lvl5pPr algn="l">
              <a:buNone/>
              <a:defRPr sz="1800" b="0">
                <a:solidFill>
                  <a:srgbClr val="303238"/>
                </a:solidFill>
              </a:defRPr>
            </a:lvl5pPr>
            <a:lvl6pPr algn="l">
              <a:buNone/>
              <a:defRPr sz="1800" b="0">
                <a:solidFill>
                  <a:srgbClr val="303238"/>
                </a:solidFill>
              </a:defRPr>
            </a:lvl6pPr>
            <a:lvl7pPr algn="l">
              <a:buNone/>
              <a:defRPr sz="1800" b="0">
                <a:solidFill>
                  <a:srgbClr val="303238"/>
                </a:solidFill>
              </a:defRPr>
            </a:lvl7pPr>
            <a:lvl8pPr algn="l">
              <a:buNone/>
              <a:defRPr sz="1800" b="0">
                <a:solidFill>
                  <a:srgbClr val="303238"/>
                </a:solidFill>
              </a:defRPr>
            </a:lvl8pPr>
            <a:lvl9pPr algn="l">
              <a:buNone/>
              <a:defRPr sz="1800" b="0">
                <a:solidFill>
                  <a:srgbClr val="303238"/>
                </a:solidFill>
              </a:defRPr>
            </a:lvl9pPr>
          </a:lstStyle>
          <a:p xmlns:a="http://schemas.openxmlformats.org/drawingml/2006/main">
            <a:pPr algn="l">
              <a:buNone/>
              <a:defRPr sz="1800" b="0">
                <a:solidFill>
                  <a:srgbClr val="303238"/>
                </a:solidFill>
              </a:defRPr>
            </a:pPr>
            <a:r>
              <a:rPr sz="1800" b="0">
                <a:solidFill>
                  <a:srgbClr val="303238"/>
                </a:solidFill>
              </a:rPr>
              <a:t>Developer adds the missing check.</a:t>
            </a:r>
          </a:p>
        </p:txBody>
      </p:sp>
      <p:sp>
        <p:nvSpPr>
          <p:cNvPr id="2011" name="public comment">
            <a:extLst xmlns:a="http://schemas.openxmlformats.org/drawingml/2006/main">
              <a:ext uri="{FF2B5EF4-FFF2-40B4-BE49-F238E27FC236}">
                <a16:creationId xmlns:a16="http://schemas.microsoft.com/office/drawing/2014/main" id="{1A33C4EA-8795-451D-9E11-8FBF0197999B}"/>
              </a:ext>
            </a:extLst>
          </p:cNvPr>
          <p:cNvSpPr>
            <a:spLocks xmlns:a="http://schemas.openxmlformats.org/drawingml/2006/main" noGrp="1"/>
          </p:cNvSpPr>
          <p:nvPr/>
        </p:nvSpPr>
        <p:spPr>
          <a:xfrm xmlns:a="http://schemas.openxmlformats.org/drawingml/2006/main">
            <a:off x="5657850" y="2257425"/>
            <a:ext cx="5219700" cy="3019425"/>
          </a:xfrm>
          <a:prstGeom xmlns:a="http://schemas.openxmlformats.org/drawingml/2006/main" prst="roundRect">
            <a:avLst>
              <a:gd name="adj" fmla="val 2524"/>
            </a:avLst>
          </a:prstGeom>
          <a:solidFill xmlns:a="http://schemas.openxmlformats.org/drawingml/2006/main">
            <a:srgbClr val="F5F6F9"/>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12" name="comment heading">
            <a:extLst xmlns:a="http://schemas.openxmlformats.org/drawingml/2006/main">
              <a:ext uri="{FF2B5EF4-FFF2-40B4-BE49-F238E27FC236}">
                <a16:creationId xmlns:a16="http://schemas.microsoft.com/office/drawing/2014/main" id="{E8BF6E84-F88D-4113-A71D-0CA5F940BA07}"/>
              </a:ext>
            </a:extLst>
          </p:cNvPr>
          <p:cNvSpPr>
            <a:spLocks xmlns:a="http://schemas.openxmlformats.org/drawingml/2006/main" noGrp="1"/>
          </p:cNvSpPr>
          <p:nvPr/>
        </p:nvSpPr>
        <p:spPr>
          <a:xfrm xmlns:a="http://schemas.openxmlformats.org/drawingml/2006/main">
            <a:off x="5905500" y="2447925"/>
            <a:ext cx="4724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75" b="1">
                <a:solidFill>
                  <a:srgbClr val="0086AC"/>
                </a:solidFill>
              </a:defRPr>
            </a:defPPr>
            <a:lvl1pPr algn="l">
              <a:buNone/>
              <a:defRPr sz="1875" b="1">
                <a:solidFill>
                  <a:srgbClr val="0086AC"/>
                </a:solidFill>
              </a:defRPr>
            </a:lvl1pPr>
            <a:lvl2pPr algn="l">
              <a:buNone/>
              <a:defRPr sz="1875" b="1">
                <a:solidFill>
                  <a:srgbClr val="0086AC"/>
                </a:solidFill>
              </a:defRPr>
            </a:lvl2pPr>
            <a:lvl3pPr algn="l">
              <a:buNone/>
              <a:defRPr sz="1875" b="1">
                <a:solidFill>
                  <a:srgbClr val="0086AC"/>
                </a:solidFill>
              </a:defRPr>
            </a:lvl3pPr>
            <a:lvl4pPr algn="l">
              <a:buNone/>
              <a:defRPr sz="1875" b="1">
                <a:solidFill>
                  <a:srgbClr val="0086AC"/>
                </a:solidFill>
              </a:defRPr>
            </a:lvl4pPr>
            <a:lvl5pPr algn="l">
              <a:buNone/>
              <a:defRPr sz="1875" b="1">
                <a:solidFill>
                  <a:srgbClr val="0086AC"/>
                </a:solidFill>
              </a:defRPr>
            </a:lvl5pPr>
            <a:lvl6pPr algn="l">
              <a:buNone/>
              <a:defRPr sz="1875" b="1">
                <a:solidFill>
                  <a:srgbClr val="0086AC"/>
                </a:solidFill>
              </a:defRPr>
            </a:lvl6pPr>
            <a:lvl7pPr algn="l">
              <a:buNone/>
              <a:defRPr sz="1875" b="1">
                <a:solidFill>
                  <a:srgbClr val="0086AC"/>
                </a:solidFill>
              </a:defRPr>
            </a:lvl7pPr>
            <a:lvl8pPr algn="l">
              <a:buNone/>
              <a:defRPr sz="1875" b="1">
                <a:solidFill>
                  <a:srgbClr val="0086AC"/>
                </a:solidFill>
              </a:defRPr>
            </a:lvl8pPr>
            <a:lvl9pPr algn="l">
              <a:buNone/>
              <a:defRPr sz="1875" b="1">
                <a:solidFill>
                  <a:srgbClr val="0086AC"/>
                </a:solidFill>
              </a:defRPr>
            </a:lvl9pPr>
          </a:lstStyle>
          <a:p xmlns:a="http://schemas.openxmlformats.org/drawingml/2006/main">
            <a:pPr algn="l">
              <a:buNone/>
              <a:defRPr sz="1875" b="1">
                <a:solidFill>
                  <a:srgbClr val="0086AC"/>
                </a:solidFill>
              </a:defRPr>
            </a:pPr>
            <a:r>
              <a:rPr sz="1875" b="1">
                <a:solidFill>
                  <a:srgbClr val="0086AC"/>
                </a:solidFill>
              </a:rPr>
              <a:t>AISLE security review</a:t>
            </a:r>
          </a:p>
        </p:txBody>
      </p:sp>
      <p:sp>
        <p:nvSpPr>
          <p:cNvPr id="2013" name="comment quote">
            <a:extLst xmlns:a="http://schemas.openxmlformats.org/drawingml/2006/main">
              <a:ext uri="{FF2B5EF4-FFF2-40B4-BE49-F238E27FC236}">
                <a16:creationId xmlns:a16="http://schemas.microsoft.com/office/drawing/2014/main" id="{41D14400-F752-4945-B588-A1657FD22433}"/>
              </a:ext>
            </a:extLst>
          </p:cNvPr>
          <p:cNvSpPr>
            <a:spLocks xmlns:a="http://schemas.openxmlformats.org/drawingml/2006/main" noGrp="1"/>
          </p:cNvSpPr>
          <p:nvPr/>
        </p:nvSpPr>
        <p:spPr>
          <a:xfrm xmlns:a="http://schemas.openxmlformats.org/drawingml/2006/main">
            <a:off x="5905500" y="2952750"/>
            <a:ext cx="47244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303238"/>
                </a:solidFill>
              </a:defRPr>
            </a:defPPr>
            <a:lvl1pPr algn="l">
              <a:buNone/>
              <a:defRPr sz="2175" b="1">
                <a:solidFill>
                  <a:srgbClr val="303238"/>
                </a:solidFill>
              </a:defRPr>
            </a:lvl1pPr>
            <a:lvl2pPr algn="l">
              <a:buNone/>
              <a:defRPr sz="2175" b="1">
                <a:solidFill>
                  <a:srgbClr val="303238"/>
                </a:solidFill>
              </a:defRPr>
            </a:lvl2pPr>
            <a:lvl3pPr algn="l">
              <a:buNone/>
              <a:defRPr sz="2175" b="1">
                <a:solidFill>
                  <a:srgbClr val="303238"/>
                </a:solidFill>
              </a:defRPr>
            </a:lvl3pPr>
            <a:lvl4pPr algn="l">
              <a:buNone/>
              <a:defRPr sz="2175" b="1">
                <a:solidFill>
                  <a:srgbClr val="303238"/>
                </a:solidFill>
              </a:defRPr>
            </a:lvl4pPr>
            <a:lvl5pPr algn="l">
              <a:buNone/>
              <a:defRPr sz="2175" b="1">
                <a:solidFill>
                  <a:srgbClr val="303238"/>
                </a:solidFill>
              </a:defRPr>
            </a:lvl5pPr>
            <a:lvl6pPr algn="l">
              <a:buNone/>
              <a:defRPr sz="2175" b="1">
                <a:solidFill>
                  <a:srgbClr val="303238"/>
                </a:solidFill>
              </a:defRPr>
            </a:lvl6pPr>
            <a:lvl7pPr algn="l">
              <a:buNone/>
              <a:defRPr sz="2175" b="1">
                <a:solidFill>
                  <a:srgbClr val="303238"/>
                </a:solidFill>
              </a:defRPr>
            </a:lvl7pPr>
            <a:lvl8pPr algn="l">
              <a:buNone/>
              <a:defRPr sz="2175" b="1">
                <a:solidFill>
                  <a:srgbClr val="303238"/>
                </a:solidFill>
              </a:defRPr>
            </a:lvl8pPr>
            <a:lvl9pPr algn="l">
              <a:buNone/>
              <a:defRPr sz="2175" b="1">
                <a:solidFill>
                  <a:srgbClr val="303238"/>
                </a:solidFill>
              </a:defRPr>
            </a:lvl9pPr>
          </a:lstStyle>
          <a:p xmlns:a="http://schemas.openxmlformats.org/drawingml/2006/main">
            <a:pPr algn="l">
              <a:buNone/>
              <a:defRPr sz="2175" b="1">
                <a:solidFill>
                  <a:srgbClr val="303238"/>
                </a:solidFill>
              </a:defRPr>
            </a:pPr>
            <a:r>
              <a:rPr sz="2175" b="1">
                <a:solidFill>
                  <a:srgbClr val="303238"/>
                </a:solidFill>
              </a:rPr>
              <a:t>“We scanned this PR and did not find any security vulnerabilities.”</a:t>
            </a:r>
          </a:p>
        </p:txBody>
      </p:sp>
      <p:sp>
        <p:nvSpPr>
          <p:cNvPr id="2014" name="comment footer">
            <a:extLst xmlns:a="http://schemas.openxmlformats.org/drawingml/2006/main">
              <a:ext uri="{FF2B5EF4-FFF2-40B4-BE49-F238E27FC236}">
                <a16:creationId xmlns:a16="http://schemas.microsoft.com/office/drawing/2014/main" id="{56D9E9AA-0F7A-461A-9FEF-B0F9C32DD942}"/>
              </a:ext>
            </a:extLst>
          </p:cNvPr>
          <p:cNvSpPr>
            <a:spLocks xmlns:a="http://schemas.openxmlformats.org/drawingml/2006/main" noGrp="1"/>
          </p:cNvSpPr>
          <p:nvPr/>
        </p:nvSpPr>
        <p:spPr>
          <a:xfrm xmlns:a="http://schemas.openxmlformats.org/drawingml/2006/main">
            <a:off x="5905500" y="4143375"/>
            <a:ext cx="4724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Analyzed PR: #11958 at commit 23c7239</a:t>
            </a:r>
          </a:p>
        </p:txBody>
      </p:sp>
      <p:sp>
        <p:nvSpPr>
          <p:cNvPr id="2015" name="comment timestamp">
            <a:extLst xmlns:a="http://schemas.openxmlformats.org/drawingml/2006/main">
              <a:ext uri="{FF2B5EF4-FFF2-40B4-BE49-F238E27FC236}">
                <a16:creationId xmlns:a16="http://schemas.microsoft.com/office/drawing/2014/main" id="{D168C566-0E33-4DDB-87A5-3297C87923CC}"/>
              </a:ext>
            </a:extLst>
          </p:cNvPr>
          <p:cNvSpPr>
            <a:spLocks xmlns:a="http://schemas.openxmlformats.org/drawingml/2006/main" noGrp="1"/>
          </p:cNvSpPr>
          <p:nvPr/>
        </p:nvSpPr>
        <p:spPr>
          <a:xfrm xmlns:a="http://schemas.openxmlformats.org/drawingml/2006/main">
            <a:off x="5905500" y="4819650"/>
            <a:ext cx="4724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425" b="0">
                <a:solidFill>
                  <a:srgbClr val="61666B"/>
                </a:solidFill>
              </a:defRPr>
            </a:defPPr>
            <a:lvl1pPr algn="l">
              <a:buNone/>
              <a:defRPr sz="1425" b="0">
                <a:solidFill>
                  <a:srgbClr val="61666B"/>
                </a:solidFill>
              </a:defRPr>
            </a:lvl1pPr>
            <a:lvl2pPr algn="l">
              <a:buNone/>
              <a:defRPr sz="1425" b="0">
                <a:solidFill>
                  <a:srgbClr val="61666B"/>
                </a:solidFill>
              </a:defRPr>
            </a:lvl2pPr>
            <a:lvl3pPr algn="l">
              <a:buNone/>
              <a:defRPr sz="1425" b="0">
                <a:solidFill>
                  <a:srgbClr val="61666B"/>
                </a:solidFill>
              </a:defRPr>
            </a:lvl3pPr>
            <a:lvl4pPr algn="l">
              <a:buNone/>
              <a:defRPr sz="1425" b="0">
                <a:solidFill>
                  <a:srgbClr val="61666B"/>
                </a:solidFill>
              </a:defRPr>
            </a:lvl4pPr>
            <a:lvl5pPr algn="l">
              <a:buNone/>
              <a:defRPr sz="1425" b="0">
                <a:solidFill>
                  <a:srgbClr val="61666B"/>
                </a:solidFill>
              </a:defRPr>
            </a:lvl5pPr>
            <a:lvl6pPr algn="l">
              <a:buNone/>
              <a:defRPr sz="1425" b="0">
                <a:solidFill>
                  <a:srgbClr val="61666B"/>
                </a:solidFill>
              </a:defRPr>
            </a:lvl6pPr>
            <a:lvl7pPr algn="l">
              <a:buNone/>
              <a:defRPr sz="1425" b="0">
                <a:solidFill>
                  <a:srgbClr val="61666B"/>
                </a:solidFill>
              </a:defRPr>
            </a:lvl7pPr>
            <a:lvl8pPr algn="l">
              <a:buNone/>
              <a:defRPr sz="1425" b="0">
                <a:solidFill>
                  <a:srgbClr val="61666B"/>
                </a:solidFill>
              </a:defRPr>
            </a:lvl8pPr>
            <a:lvl9pPr algn="l">
              <a:buNone/>
              <a:defRPr sz="1425" b="0">
                <a:solidFill>
                  <a:srgbClr val="61666B"/>
                </a:solidFill>
              </a:defRPr>
            </a:lvl9pPr>
          </a:lstStyle>
          <a:p xmlns:a="http://schemas.openxmlformats.org/drawingml/2006/main">
            <a:pPr algn="l">
              <a:buNone/>
              <a:defRPr sz="1425" b="0">
                <a:solidFill>
                  <a:srgbClr val="61666B"/>
                </a:solidFill>
              </a:defRPr>
            </a:pPr>
            <a:r>
              <a:rPr sz="1425" b="0">
                <a:solidFill>
                  <a:srgbClr val="61666B"/>
                </a:solidFill>
              </a:rPr>
              <a:t>1 May 2026, 18:26:59 UTC</a:t>
            </a:r>
          </a:p>
        </p:txBody>
      </p:sp>
      <p:sp>
        <p:nvSpPr>
          <p:cNvPr id="2016" name="analyzer intro">
            <a:extLst xmlns:a="http://schemas.openxmlformats.org/drawingml/2006/main">
              <a:ext uri="{FF2B5EF4-FFF2-40B4-BE49-F238E27FC236}">
                <a16:creationId xmlns:a16="http://schemas.microsoft.com/office/drawing/2014/main" id="{3E3D4798-AE39-4F67-A650-6F2056452A8D}"/>
              </a:ext>
            </a:extLst>
          </p:cNvPr>
          <p:cNvSpPr>
            <a:spLocks xmlns:a="http://schemas.openxmlformats.org/drawingml/2006/main" noGrp="1"/>
          </p:cNvSpPr>
          <p:nvPr/>
        </p:nvSpPr>
        <p:spPr>
          <a:xfrm xmlns:a="http://schemas.openxmlformats.org/drawingml/2006/main">
            <a:off x="812864" y="5553075"/>
            <a:ext cx="100679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AISLE is the external AI security analyzer reviewing this PR.</a:t>
            </a:r>
          </a:p>
        </p:txBody>
      </p:sp>
      <p:sp>
        <p:nvSpPr>
          <p:cNvPr id="2017" name="timing fact">
            <a:extLst xmlns:a="http://schemas.openxmlformats.org/drawingml/2006/main">
              <a:ext uri="{FF2B5EF4-FFF2-40B4-BE49-F238E27FC236}">
                <a16:creationId xmlns:a16="http://schemas.microsoft.com/office/drawing/2014/main" id="{B595EE58-468E-4E6F-AF44-4A9C5378CE0E}"/>
              </a:ext>
            </a:extLst>
          </p:cNvPr>
          <p:cNvSpPr>
            <a:spLocks xmlns:a="http://schemas.openxmlformats.org/drawingml/2006/main" noGrp="1"/>
          </p:cNvSpPr>
          <p:nvPr/>
        </p:nvSpPr>
        <p:spPr>
          <a:xfrm xmlns:a="http://schemas.openxmlformats.org/drawingml/2006/main">
            <a:off x="812864" y="5962650"/>
            <a:ext cx="100679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1">
                <a:solidFill>
                  <a:srgbClr val="5965AC"/>
                </a:solidFill>
              </a:defRPr>
            </a:defPPr>
            <a:lvl1pPr algn="l">
              <a:buNone/>
              <a:defRPr sz="1650" b="1">
                <a:solidFill>
                  <a:srgbClr val="5965AC"/>
                </a:solidFill>
              </a:defRPr>
            </a:lvl1pPr>
            <a:lvl2pPr algn="l">
              <a:buNone/>
              <a:defRPr sz="1650" b="1">
                <a:solidFill>
                  <a:srgbClr val="5965AC"/>
                </a:solidFill>
              </a:defRPr>
            </a:lvl2pPr>
            <a:lvl3pPr algn="l">
              <a:buNone/>
              <a:defRPr sz="1650" b="1">
                <a:solidFill>
                  <a:srgbClr val="5965AC"/>
                </a:solidFill>
              </a:defRPr>
            </a:lvl3pPr>
            <a:lvl4pPr algn="l">
              <a:buNone/>
              <a:defRPr sz="1650" b="1">
                <a:solidFill>
                  <a:srgbClr val="5965AC"/>
                </a:solidFill>
              </a:defRPr>
            </a:lvl4pPr>
            <a:lvl5pPr algn="l">
              <a:buNone/>
              <a:defRPr sz="1650" b="1">
                <a:solidFill>
                  <a:srgbClr val="5965AC"/>
                </a:solidFill>
              </a:defRPr>
            </a:lvl5pPr>
            <a:lvl6pPr algn="l">
              <a:buNone/>
              <a:defRPr sz="1650" b="1">
                <a:solidFill>
                  <a:srgbClr val="5965AC"/>
                </a:solidFill>
              </a:defRPr>
            </a:lvl6pPr>
            <a:lvl7pPr algn="l">
              <a:buNone/>
              <a:defRPr sz="1650" b="1">
                <a:solidFill>
                  <a:srgbClr val="5965AC"/>
                </a:solidFill>
              </a:defRPr>
            </a:lvl7pPr>
            <a:lvl8pPr algn="l">
              <a:buNone/>
              <a:defRPr sz="1650" b="1">
                <a:solidFill>
                  <a:srgbClr val="5965AC"/>
                </a:solidFill>
              </a:defRPr>
            </a:lvl8pPr>
            <a:lvl9pPr algn="l">
              <a:buNone/>
              <a:defRPr sz="1650" b="1">
                <a:solidFill>
                  <a:srgbClr val="5965AC"/>
                </a:solidFill>
              </a:defRPr>
            </a:lvl9pPr>
          </a:lstStyle>
          <a:p xmlns:a="http://schemas.openxmlformats.org/drawingml/2006/main">
            <a:pPr algn="l">
              <a:buNone/>
              <a:defRPr sz="1650" b="1">
                <a:solidFill>
                  <a:srgbClr val="5965AC"/>
                </a:solidFill>
              </a:defRPr>
            </a:pPr>
            <a:r>
              <a:rPr sz="1650" b="1">
                <a:solidFill>
                  <a:srgbClr val="5965AC"/>
                </a:solidFill>
              </a:rPr>
              <a:t>The clean comment was posted after correction cf2edc3.</a:t>
            </a:r>
          </a:p>
        </p:txBody>
      </p:sp>
    </p:spTree>
    <p:extLst>
      <p:ext uri="{BB962C8B-B14F-4D97-AF65-F5344CB8AC3E}">
        <p14:creationId xmlns:p14="http://schemas.microsoft.com/office/powerpoint/2010/main" val="123710993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977D38BA-8B1C-29EE-18F5-EB8745B546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What does the clean AISLE comment establish?</a:t>
            </a:r>
          </a:p>
        </p:txBody>
      </p:sp>
      <p:sp>
        <p:nvSpPr>
          <p:cNvPr id="9" name="Text Placeholder 8">
            <a:extLst xmlns:a="http://schemas.openxmlformats.org/drawingml/2006/main">
              <a:ext uri="{FF2B5EF4-FFF2-40B4-BE49-F238E27FC236}">
                <a16:creationId xmlns:a16="http://schemas.microsoft.com/office/drawing/2014/main" id="{6F89AE2F-0AC5-364E-9460-D2A2B0F05E26}"/>
              </a:ext>
            </a:extLst>
          </p:cNvPr>
          <p:cNvSpPr>
            <a:spLocks xmlns:a="http://schemas.openxmlformats.org/drawingml/2006/main" noGrp="1"/>
          </p:cNvSpPr>
          <p:nvPr>
            <p:ph type="body" idx="10"/>
          </p:nvPr>
        </p:nvSpPr>
        <p:spPr/>
        <p:txBody>
          <a:bodyPr xmlns:a="http://schemas.openxmlformats.org/drawingml/2006/main"/>
          <a:lstStyle xmlns:a="http://schemas.openxmlformats.org/drawingml/2006/main"/>
          <a:p xmlns:a="http://schemas.openxmlformats.org/drawingml/2006/main">
            <a:r>
              <a:t>The corrected revision (cf2edc3) is clean</a:t>
            </a:r>
          </a:p>
          <a:p xmlns:a="http://schemas.openxmlformats.org/drawingml/2006/main">
            <a:r>
              <a:t>The earlier revision (23c7239) was rescanned </a:t>
            </a:r>
          </a:p>
          <a:p xmlns:a="http://schemas.openxmlformats.org/drawingml/2006/main">
            <a:r>
              <a:t>No finding was reported, for an unclear revision </a:t>
            </a:r>
          </a:p>
          <a:p xmlns:a="http://schemas.openxmlformats.org/drawingml/2006/main">
            <a:r>
              <a:t>The PR met all merge requirements.</a:t>
            </a:r>
          </a:p>
        </p:txBody>
      </p:sp>
    </p:spTree>
    <p:extLst>
      <p:ext uri="{BB962C8B-B14F-4D97-AF65-F5344CB8AC3E}">
        <p14:creationId xmlns:p14="http://schemas.microsoft.com/office/powerpoint/2010/main" val="7406979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7A505E9F-FE7E-4E9F-A510-8AB565BBD7C0}"/>
              </a:ext>
            </a:extLst>
          </p:cNvPr>
          <p:cNvPicPr>
            <a:picLocks xmlns:a="http://schemas.openxmlformats.org/drawingml/2006/main" noChangeAspect="1"/>
          </p:cNvPicPr>
          <p:nvPr/>
        </p:nvPicPr>
        <p:blipFill>
          <a:blip xmlns:r="http://schemas.openxmlformats.org/officeDocument/2006/relationships" xmlns:a="http://schemas.openxmlformats.org/drawingml/2006/main" r:embed="R74d30f83bce349d4"/>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F7E4EE63-F640-425B-9A3E-E61E02661823}"/>
              </a:ext>
            </a:extLst>
          </p:cNvPr>
          <p:cNvPicPr>
            <a:picLocks xmlns:a="http://schemas.openxmlformats.org/drawingml/2006/main" noChangeAspect="1"/>
          </p:cNvPicPr>
          <p:nvPr/>
        </p:nvPicPr>
        <p:blipFill>
          <a:blip xmlns:r="http://schemas.openxmlformats.org/officeDocument/2006/relationships" xmlns:a="http://schemas.openxmlformats.org/drawingml/2006/main" r:embed="Ra1be4dd9bee24d68"/>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06" name="title">
            <a:extLst xmlns:a="http://schemas.openxmlformats.org/drawingml/2006/main">
              <a:ext uri="{FF2B5EF4-FFF2-40B4-BE49-F238E27FC236}">
                <a16:creationId xmlns:a16="http://schemas.microsoft.com/office/drawing/2014/main" id="{4840DCFF-00EA-4517-9F14-53F9960E6E68}"/>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Keep the review evidence</a:t>
            </a:r>
          </a:p>
        </p:txBody>
      </p:sp>
      <p:sp>
        <p:nvSpPr>
          <p:cNvPr id="2002" name="subtitle">
            <a:extLst xmlns:a="http://schemas.openxmlformats.org/drawingml/2006/main">
              <a:ext uri="{FF2B5EF4-FFF2-40B4-BE49-F238E27FC236}">
                <a16:creationId xmlns:a16="http://schemas.microsoft.com/office/drawing/2014/main" id="{39EDB9B2-8542-4976-A97D-F7BBC5520DA1}"/>
              </a:ext>
            </a:extLst>
          </p:cNvPr>
          <p:cNvSpPr>
            <a:spLocks xmlns:a="http://schemas.openxmlformats.org/drawingml/2006/main" noGrp="1"/>
          </p:cNvSpPr>
          <p:nvPr/>
        </p:nvSpPr>
        <p:spPr>
          <a:xfrm xmlns:a="http://schemas.openxmlformats.org/drawingml/2006/main">
            <a:off x="812864" y="1409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One retained record for every review run, tied to the exact revision.</a:t>
            </a:r>
          </a:p>
        </p:txBody>
      </p:sp>
      <p:sp>
        <p:nvSpPr>
          <p:cNvPr id="2003" name="conference footer">
            <a:extLst xmlns:a="http://schemas.openxmlformats.org/drawingml/2006/main">
              <a:ext uri="{FF2B5EF4-FFF2-40B4-BE49-F238E27FC236}">
                <a16:creationId xmlns:a16="http://schemas.microsoft.com/office/drawing/2014/main" id="{E514E86E-2A60-4467-A83C-1FC8D60914D7}"/>
              </a:ext>
            </a:extLst>
          </p:cNvPr>
          <p:cNvSpPr>
            <a:spLocks xmlns:a="http://schemas.openxmlformats.org/drawingml/2006/main" noGrp="1"/>
          </p:cNvSpPr>
          <p:nvPr/>
        </p:nvSpPr>
        <p:spPr>
          <a:xfrm xmlns:a="http://schemas.openxmlformats.org/drawingml/2006/main">
            <a:off x="7258050" y="644842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8A8A8A"/>
                </a:solidFill>
              </a:defRPr>
            </a:defPPr>
            <a:lvl1pPr algn="l">
              <a:buNone/>
              <a:defRPr sz="1050" b="0">
                <a:solidFill>
                  <a:srgbClr val="8A8A8A"/>
                </a:solidFill>
              </a:defRPr>
            </a:lvl1pPr>
            <a:lvl2pPr algn="l">
              <a:buNone/>
              <a:defRPr sz="1050" b="0">
                <a:solidFill>
                  <a:srgbClr val="8A8A8A"/>
                </a:solidFill>
              </a:defRPr>
            </a:lvl2pPr>
            <a:lvl3pPr algn="l">
              <a:buNone/>
              <a:defRPr sz="1050" b="0">
                <a:solidFill>
                  <a:srgbClr val="8A8A8A"/>
                </a:solidFill>
              </a:defRPr>
            </a:lvl3pPr>
            <a:lvl4pPr algn="l">
              <a:buNone/>
              <a:defRPr sz="1050" b="0">
                <a:solidFill>
                  <a:srgbClr val="8A8A8A"/>
                </a:solidFill>
              </a:defRPr>
            </a:lvl4pPr>
            <a:lvl5pPr algn="l">
              <a:buNone/>
              <a:defRPr sz="1050" b="0">
                <a:solidFill>
                  <a:srgbClr val="8A8A8A"/>
                </a:solidFill>
              </a:defRPr>
            </a:lvl5pPr>
            <a:lvl6pPr algn="l">
              <a:buNone/>
              <a:defRPr sz="1050" b="0">
                <a:solidFill>
                  <a:srgbClr val="8A8A8A"/>
                </a:solidFill>
              </a:defRPr>
            </a:lvl6pPr>
            <a:lvl7pPr algn="l">
              <a:buNone/>
              <a:defRPr sz="1050" b="0">
                <a:solidFill>
                  <a:srgbClr val="8A8A8A"/>
                </a:solidFill>
              </a:defRPr>
            </a:lvl7pPr>
            <a:lvl8pPr algn="l">
              <a:buNone/>
              <a:defRPr sz="1050" b="0">
                <a:solidFill>
                  <a:srgbClr val="8A8A8A"/>
                </a:solidFill>
              </a:defRPr>
            </a:lvl8pPr>
            <a:lvl9pPr algn="l">
              <a:buNone/>
              <a:defRPr sz="1050" b="0">
                <a:solidFill>
                  <a:srgbClr val="8A8A8A"/>
                </a:solidFill>
              </a:defRPr>
            </a:lvl9pPr>
          </a:lstStyle>
          <a:p xmlns:a="http://schemas.openxmlformats.org/drawingml/2006/main">
            <a:pPr algn="l">
              <a:buNone/>
              <a:defRPr sz="1050" b="0">
                <a:solidFill>
                  <a:srgbClr val="8A8A8A"/>
                </a:solidFill>
              </a:defRPr>
            </a:pPr>
            <a:r>
              <a:rPr sz="1050" b="0">
                <a:solidFill>
                  <a:srgbClr val="8A8A8A"/>
                </a:solidFill>
              </a:rPr>
              <a:t>ISC2.org/Congress | #ISC2Congress</a:t>
            </a:r>
          </a:p>
        </p:txBody>
      </p:sp>
      <p:graphicFrame>
        <p:nvGraphicFramePr>
          <p:cNvPr id="2004" name="Table 2003">
            <a:extLst xmlns:a="http://schemas.openxmlformats.org/drawingml/2006/main">
              <a:ext uri="{FF2B5EF4-FFF2-40B4-BE49-F238E27FC236}">
                <a16:creationId xmlns:a16="http://schemas.microsoft.com/office/drawing/2014/main" id="{8B3B922B-5643-4DA0-AB13-749B12FAAAAE}"/>
              </a:ext>
            </a:extLst>
          </p:cNvPr>
          <p:cNvGraphicFramePr/>
          <p:nvPr/>
        </p:nvGraphicFramePr>
        <p:xfrm>
          <a:off xmlns:a="http://schemas.openxmlformats.org/drawingml/2006/main" x="812864" y="2219325"/>
          <a:ext xmlns:a="http://schemas.openxmlformats.org/drawingml/2006/main" cx="10067925" cy="3200400"/>
        </p:xfrm>
        <a:graphic xmlns:a="http://schemas.openxmlformats.org/drawingml/2006/main">
          <a:graphicData uri="http://schemas.openxmlformats.org/drawingml/2006/table">
            <a:tbl>
              <a:tblPr/>
              <a:tblGrid>
                <a:gridCol w="1952625"/>
                <a:gridCol w="8115300"/>
              </a:tblGrid>
              <a:tr h="533400">
                <a:tc>
                  <a:txBody>
                    <a:bodyPr/>
                    <a:lstStyle/>
                    <a:p>
                      <a:r>
                        <a:rPr sz="1800" b="1">
                          <a:solidFill>
                            <a:srgbClr val="4F8734"/>
                          </a:solidFill>
                        </a:rPr>
                        <a:t>Revision</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EF3E9"/>
                    </a:solidFill>
                  </a:tcPr>
                </a:tc>
                <a:tc>
                  <a:txBody>
                    <a:bodyPr/>
                    <a:lstStyle/>
                    <a:p>
                      <a:r>
                        <a:rPr sz="1800" b="0">
                          <a:solidFill>
                            <a:srgbClr val="303238"/>
                          </a:solidFill>
                        </a:rPr>
                        <a:t>Commit SHA, input diff, run ID and time</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r>
              <a:tr h="533400">
                <a:tc>
                  <a:txBody>
                    <a:bodyPr/>
                    <a:lstStyle/>
                    <a:p>
                      <a:r>
                        <a:rPr sz="1800" b="1">
                          <a:solidFill>
                            <a:srgbClr val="4F8734"/>
                          </a:solidFill>
                        </a:rPr>
                        <a:t>Model</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EF3E9"/>
                    </a:solidFill>
                  </a:tcPr>
                </a:tc>
                <a:tc>
                  <a:txBody>
                    <a:bodyPr/>
                    <a:lstStyle/>
                    <a:p>
                      <a:r>
                        <a:rPr sz="1800" b="0">
                          <a:solidFill>
                            <a:srgbClr val="303238"/>
                          </a:solidFill>
                        </a:rPr>
                        <a:t>Provider, model/version and execution settings</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7F8F6"/>
                    </a:solidFill>
                  </a:tcPr>
                </a:tc>
              </a:tr>
              <a:tr h="533400">
                <a:tc>
                  <a:txBody>
                    <a:bodyPr/>
                    <a:lstStyle/>
                    <a:p>
                      <a:r>
                        <a:rPr sz="1800" b="1">
                          <a:solidFill>
                            <a:srgbClr val="4F8734"/>
                          </a:solidFill>
                        </a:rPr>
                        <a:t>Prompt</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EF3E9"/>
                    </a:solidFill>
                  </a:tcPr>
                </a:tc>
                <a:tc>
                  <a:txBody>
                    <a:bodyPr/>
                    <a:lstStyle/>
                    <a:p>
                      <a:r>
                        <a:rPr sz="1800" b="0">
                          <a:solidFill>
                            <a:srgbClr val="303238"/>
                          </a:solidFill>
                        </a:rPr>
                        <a:t>Template version and the exact assembled prompt</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r>
              <a:tr h="533400">
                <a:tc>
                  <a:txBody>
                    <a:bodyPr/>
                    <a:lstStyle/>
                    <a:p>
                      <a:r>
                        <a:rPr sz="1800" b="1">
                          <a:solidFill>
                            <a:srgbClr val="4F8734"/>
                          </a:solidFill>
                        </a:rPr>
                        <a:t>Context</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EF3E9"/>
                    </a:solidFill>
                  </a:tcPr>
                </a:tc>
                <a:tc>
                  <a:txBody>
                    <a:bodyPr/>
                    <a:lstStyle/>
                    <a:p>
                      <a:r>
                        <a:rPr sz="1800" b="0">
                          <a:solidFill>
                            <a:srgbClr val="303238"/>
                          </a:solidFill>
                        </a:rPr>
                        <a:t>Requirement text/versions, files and tool results supplied</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7F8F6"/>
                    </a:solidFill>
                  </a:tcPr>
                </a:tc>
              </a:tr>
              <a:tr h="533400">
                <a:tc>
                  <a:txBody>
                    <a:bodyPr/>
                    <a:lstStyle/>
                    <a:p>
                      <a:r>
                        <a:rPr sz="1800" b="1">
                          <a:solidFill>
                            <a:srgbClr val="4F8734"/>
                          </a:solidFill>
                        </a:rPr>
                        <a:t>Results</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EF3E9"/>
                    </a:solidFill>
                  </a:tcPr>
                </a:tc>
                <a:tc>
                  <a:txBody>
                    <a:bodyPr/>
                    <a:lstStyle/>
                    <a:p>
                      <a:r>
                        <a:rPr sz="1800" b="0">
                          <a:solidFill>
                            <a:srgbClr val="303238"/>
                          </a:solidFill>
                        </a:rPr>
                        <a:t>Original response, findings, errors and test/scan results</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FFFFF"/>
                    </a:solidFill>
                  </a:tcPr>
                </a:tc>
              </a:tr>
              <a:tr h="533400">
                <a:tc>
                  <a:txBody>
                    <a:bodyPr/>
                    <a:lstStyle/>
                    <a:p>
                      <a:r>
                        <a:rPr sz="1800" b="1">
                          <a:solidFill>
                            <a:srgbClr val="4F8734"/>
                          </a:solidFill>
                        </a:rPr>
                        <a:t>Decision</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EEF3E9"/>
                    </a:solidFill>
                  </a:tcPr>
                </a:tc>
                <a:tc>
                  <a:txBody>
                    <a:bodyPr/>
                    <a:lstStyle/>
                    <a:p>
                      <a:r>
                        <a:rPr sz="1800" b="0">
                          <a:solidFill>
                            <a:srgbClr val="303238"/>
                          </a:solidFill>
                        </a:rPr>
                        <a:t>Policy version, decision, rationale and accountable reviewer</a:t>
                      </a:r>
                    </a:p>
                  </a:txBody>
                  <a:tcPr marL="91440" marR="91440" marT="45720" marB="45720" anchor="ctr">
                    <a:lnL w="4763">
                      <a:solidFill>
                        <a:srgbClr val="D7DDD4"/>
                      </a:solidFill>
                      <a:prstDash val="solid"/>
                    </a:lnL>
                    <a:lnR w="4763">
                      <a:solidFill>
                        <a:srgbClr val="D7DDD4"/>
                      </a:solidFill>
                      <a:prstDash val="solid"/>
                    </a:lnR>
                    <a:lnT w="4763">
                      <a:solidFill>
                        <a:srgbClr val="D7DDD4"/>
                      </a:solidFill>
                      <a:prstDash val="solid"/>
                    </a:lnT>
                    <a:lnB w="4763">
                      <a:solidFill>
                        <a:srgbClr val="D7DDD4"/>
                      </a:solidFill>
                      <a:prstDash val="solid"/>
                    </a:lnB>
                    <a:solidFill>
                      <a:srgbClr val="F7F8F6"/>
                    </a:solidFill>
                  </a:tcPr>
                </a:tc>
              </a:tr>
            </a:tbl>
          </a:graphicData>
        </a:graphic>
      </p:graphicFrame>
      <p:sp>
        <p:nvSpPr>
          <p:cNvPr id="2005" name="audit takeaway">
            <a:extLst xmlns:a="http://schemas.openxmlformats.org/drawingml/2006/main">
              <a:ext uri="{FF2B5EF4-FFF2-40B4-BE49-F238E27FC236}">
                <a16:creationId xmlns:a16="http://schemas.microsoft.com/office/drawing/2014/main" id="{141482FB-4A82-498E-8D49-B0036323361A}"/>
              </a:ext>
            </a:extLst>
          </p:cNvPr>
          <p:cNvSpPr>
            <a:spLocks xmlns:a="http://schemas.openxmlformats.org/drawingml/2006/main" noGrp="1"/>
          </p:cNvSpPr>
          <p:nvPr/>
        </p:nvSpPr>
        <p:spPr>
          <a:xfrm xmlns:a="http://schemas.openxmlformats.org/drawingml/2006/main">
            <a:off x="812864" y="5734050"/>
            <a:ext cx="10067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1">
                <a:solidFill>
                  <a:srgbClr val="303238"/>
                </a:solidFill>
              </a:defRPr>
            </a:defPPr>
            <a:lvl1pPr algn="l">
              <a:buNone/>
              <a:defRPr sz="1725" b="1">
                <a:solidFill>
                  <a:srgbClr val="303238"/>
                </a:solidFill>
              </a:defRPr>
            </a:lvl1pPr>
            <a:lvl2pPr algn="l">
              <a:buNone/>
              <a:defRPr sz="1725" b="1">
                <a:solidFill>
                  <a:srgbClr val="303238"/>
                </a:solidFill>
              </a:defRPr>
            </a:lvl2pPr>
            <a:lvl3pPr algn="l">
              <a:buNone/>
              <a:defRPr sz="1725" b="1">
                <a:solidFill>
                  <a:srgbClr val="303238"/>
                </a:solidFill>
              </a:defRPr>
            </a:lvl3pPr>
            <a:lvl4pPr algn="l">
              <a:buNone/>
              <a:defRPr sz="1725" b="1">
                <a:solidFill>
                  <a:srgbClr val="303238"/>
                </a:solidFill>
              </a:defRPr>
            </a:lvl4pPr>
            <a:lvl5pPr algn="l">
              <a:buNone/>
              <a:defRPr sz="1725" b="1">
                <a:solidFill>
                  <a:srgbClr val="303238"/>
                </a:solidFill>
              </a:defRPr>
            </a:lvl5pPr>
            <a:lvl6pPr algn="l">
              <a:buNone/>
              <a:defRPr sz="1725" b="1">
                <a:solidFill>
                  <a:srgbClr val="303238"/>
                </a:solidFill>
              </a:defRPr>
            </a:lvl6pPr>
            <a:lvl7pPr algn="l">
              <a:buNone/>
              <a:defRPr sz="1725" b="1">
                <a:solidFill>
                  <a:srgbClr val="303238"/>
                </a:solidFill>
              </a:defRPr>
            </a:lvl7pPr>
            <a:lvl8pPr algn="l">
              <a:buNone/>
              <a:defRPr sz="1725" b="1">
                <a:solidFill>
                  <a:srgbClr val="303238"/>
                </a:solidFill>
              </a:defRPr>
            </a:lvl8pPr>
            <a:lvl9pPr algn="l">
              <a:buNone/>
              <a:defRPr sz="1725" b="1">
                <a:solidFill>
                  <a:srgbClr val="303238"/>
                </a:solidFill>
              </a:defRPr>
            </a:lvl9pPr>
          </a:lstStyle>
          <a:p xmlns:a="http://schemas.openxmlformats.org/drawingml/2006/main">
            <a:pPr algn="l">
              <a:buNone/>
              <a:defRPr sz="1725" b="1">
                <a:solidFill>
                  <a:srgbClr val="303238"/>
                </a:solidFill>
              </a:defRPr>
            </a:pPr>
            <a:r>
              <a:rPr sz="1725" b="1">
                <a:solidFill>
                  <a:srgbClr val="303238"/>
                </a:solidFill>
              </a:rPr>
              <a:t>Retain the content, with controlled access and a retention policy.</a:t>
            </a:r>
          </a:p>
        </p:txBody>
      </p:sp>
    </p:spTree>
    <p:extLst>
      <p:ext uri="{BB962C8B-B14F-4D97-AF65-F5344CB8AC3E}">
        <p14:creationId xmlns:p14="http://schemas.microsoft.com/office/powerpoint/2010/main" val="1531203079"/>
      </p:ext>
    </p:extLst>
  </p:cSld>
</p:sld>
</file>

<file path=ppt/slides/slide27.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F4E8638B-F69F-449D-AAD9-41786316318E}"/>
              </a:ext>
            </a:extLst>
          </p:cNvPr>
          <p:cNvPicPr>
            <a:picLocks xmlns:a="http://schemas.openxmlformats.org/drawingml/2006/main" noChangeAspect="1"/>
          </p:cNvPicPr>
          <p:nvPr/>
        </p:nvPicPr>
        <p:blipFill>
          <a:blip xmlns:r="http://schemas.openxmlformats.org/officeDocument/2006/relationships" xmlns:a="http://schemas.openxmlformats.org/drawingml/2006/main" r:embed="Rfd00a1fd0aa747a3"/>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D223DE60-9137-45A6-B2C2-5AD0403ECE1E}"/>
              </a:ext>
            </a:extLst>
          </p:cNvPr>
          <p:cNvPicPr>
            <a:picLocks xmlns:a="http://schemas.openxmlformats.org/drawingml/2006/main" noChangeAspect="1"/>
          </p:cNvPicPr>
          <p:nvPr/>
        </p:nvPicPr>
        <p:blipFill>
          <a:blip xmlns:r="http://schemas.openxmlformats.org/officeDocument/2006/relationships" xmlns:a="http://schemas.openxmlformats.org/drawingml/2006/main" r:embed="Re20c4d8fc5524366"/>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2019" name="title">
            <a:extLst xmlns:a="http://schemas.openxmlformats.org/drawingml/2006/main">
              <a:ext uri="{FF2B5EF4-FFF2-40B4-BE49-F238E27FC236}">
                <a16:creationId xmlns:a16="http://schemas.microsoft.com/office/drawing/2014/main" id="{9FEF6F18-9081-412D-ACA7-E1D57C66DA2D}"/>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What makes a revision merge-ready?</a:t>
            </a:r>
          </a:p>
        </p:txBody>
      </p:sp>
      <p:sp>
        <p:nvSpPr>
          <p:cNvPr id="2002" name="subtitle">
            <a:extLst xmlns:a="http://schemas.openxmlformats.org/drawingml/2006/main">
              <a:ext uri="{FF2B5EF4-FFF2-40B4-BE49-F238E27FC236}">
                <a16:creationId xmlns:a16="http://schemas.microsoft.com/office/drawing/2014/main" id="{2647EA18-4299-4C07-B5C1-46B8D5E834AF}"/>
              </a:ext>
            </a:extLst>
          </p:cNvPr>
          <p:cNvSpPr>
            <a:spLocks xmlns:a="http://schemas.openxmlformats.org/drawingml/2006/main" noGrp="1"/>
          </p:cNvSpPr>
          <p:nvPr/>
        </p:nvSpPr>
        <p:spPr>
          <a:xfrm xmlns:a="http://schemas.openxmlformats.org/drawingml/2006/main">
            <a:off x="812864" y="1409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Our proposed policy: agreed behavior, current evidence and accountable approval.</a:t>
            </a:r>
          </a:p>
        </p:txBody>
      </p:sp>
      <p:sp>
        <p:nvSpPr>
          <p:cNvPr id="2003" name="conference footer">
            <a:extLst xmlns:a="http://schemas.openxmlformats.org/drawingml/2006/main">
              <a:ext uri="{FF2B5EF4-FFF2-40B4-BE49-F238E27FC236}">
                <a16:creationId xmlns:a16="http://schemas.microsoft.com/office/drawing/2014/main" id="{CD59028F-1BE2-4660-8756-F85BB033D65B}"/>
              </a:ext>
            </a:extLst>
          </p:cNvPr>
          <p:cNvSpPr>
            <a:spLocks xmlns:a="http://schemas.openxmlformats.org/drawingml/2006/main" noGrp="1"/>
          </p:cNvSpPr>
          <p:nvPr/>
        </p:nvSpPr>
        <p:spPr>
          <a:xfrm xmlns:a="http://schemas.openxmlformats.org/drawingml/2006/main">
            <a:off x="7258050" y="644842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8A8A8A"/>
                </a:solidFill>
              </a:defRPr>
            </a:defPPr>
            <a:lvl1pPr algn="l">
              <a:buNone/>
              <a:defRPr sz="1050" b="0">
                <a:solidFill>
                  <a:srgbClr val="8A8A8A"/>
                </a:solidFill>
              </a:defRPr>
            </a:lvl1pPr>
            <a:lvl2pPr algn="l">
              <a:buNone/>
              <a:defRPr sz="1050" b="0">
                <a:solidFill>
                  <a:srgbClr val="8A8A8A"/>
                </a:solidFill>
              </a:defRPr>
            </a:lvl2pPr>
            <a:lvl3pPr algn="l">
              <a:buNone/>
              <a:defRPr sz="1050" b="0">
                <a:solidFill>
                  <a:srgbClr val="8A8A8A"/>
                </a:solidFill>
              </a:defRPr>
            </a:lvl3pPr>
            <a:lvl4pPr algn="l">
              <a:buNone/>
              <a:defRPr sz="1050" b="0">
                <a:solidFill>
                  <a:srgbClr val="8A8A8A"/>
                </a:solidFill>
              </a:defRPr>
            </a:lvl4pPr>
            <a:lvl5pPr algn="l">
              <a:buNone/>
              <a:defRPr sz="1050" b="0">
                <a:solidFill>
                  <a:srgbClr val="8A8A8A"/>
                </a:solidFill>
              </a:defRPr>
            </a:lvl5pPr>
            <a:lvl6pPr algn="l">
              <a:buNone/>
              <a:defRPr sz="1050" b="0">
                <a:solidFill>
                  <a:srgbClr val="8A8A8A"/>
                </a:solidFill>
              </a:defRPr>
            </a:lvl6pPr>
            <a:lvl7pPr algn="l">
              <a:buNone/>
              <a:defRPr sz="1050" b="0">
                <a:solidFill>
                  <a:srgbClr val="8A8A8A"/>
                </a:solidFill>
              </a:defRPr>
            </a:lvl7pPr>
            <a:lvl8pPr algn="l">
              <a:buNone/>
              <a:defRPr sz="1050" b="0">
                <a:solidFill>
                  <a:srgbClr val="8A8A8A"/>
                </a:solidFill>
              </a:defRPr>
            </a:lvl8pPr>
            <a:lvl9pPr algn="l">
              <a:buNone/>
              <a:defRPr sz="1050" b="0">
                <a:solidFill>
                  <a:srgbClr val="8A8A8A"/>
                </a:solidFill>
              </a:defRPr>
            </a:lvl9pPr>
          </a:lstStyle>
          <a:p xmlns:a="http://schemas.openxmlformats.org/drawingml/2006/main">
            <a:pPr algn="l">
              <a:buNone/>
              <a:defRPr sz="1050" b="0">
                <a:solidFill>
                  <a:srgbClr val="8A8A8A"/>
                </a:solidFill>
              </a:defRPr>
            </a:pPr>
            <a:r>
              <a:rPr sz="1050" b="0">
                <a:solidFill>
                  <a:srgbClr val="8A8A8A"/>
                </a:solidFill>
              </a:rPr>
              <a:t>ISC2.org/Congress | #ISC2Congress</a:t>
            </a:r>
          </a:p>
        </p:txBody>
      </p:sp>
      <p:sp>
        <p:nvSpPr>
          <p:cNvPr id="2004" name="policy condition 0">
            <a:extLst xmlns:a="http://schemas.openxmlformats.org/drawingml/2006/main">
              <a:ext uri="{FF2B5EF4-FFF2-40B4-BE49-F238E27FC236}">
                <a16:creationId xmlns:a16="http://schemas.microsoft.com/office/drawing/2014/main" id="{28806E61-B2EA-46DD-836B-07E3AD712CBF}"/>
              </a:ext>
            </a:extLst>
          </p:cNvPr>
          <p:cNvSpPr>
            <a:spLocks xmlns:a="http://schemas.openxmlformats.org/drawingml/2006/main" noGrp="1"/>
          </p:cNvSpPr>
          <p:nvPr/>
        </p:nvSpPr>
        <p:spPr>
          <a:xfrm xmlns:a="http://schemas.openxmlformats.org/drawingml/2006/main">
            <a:off x="812864" y="2314575"/>
            <a:ext cx="3114675" cy="2085975"/>
          </a:xfrm>
          <a:prstGeom xmlns:a="http://schemas.openxmlformats.org/drawingml/2006/main" prst="roundRect">
            <a:avLst>
              <a:gd name="adj" fmla="val 3653"/>
            </a:avLst>
          </a:prstGeom>
          <a:solidFill xmlns:a="http://schemas.openxmlformats.org/drawingml/2006/main">
            <a:srgbClr val="EDF4E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5" name="condition label 0">
            <a:extLst xmlns:a="http://schemas.openxmlformats.org/drawingml/2006/main">
              <a:ext uri="{FF2B5EF4-FFF2-40B4-BE49-F238E27FC236}">
                <a16:creationId xmlns:a16="http://schemas.microsoft.com/office/drawing/2014/main" id="{AF546341-001A-46A9-8766-B0D0D7B77B50}"/>
              </a:ext>
            </a:extLst>
          </p:cNvPr>
          <p:cNvSpPr>
            <a:spLocks xmlns:a="http://schemas.openxmlformats.org/drawingml/2006/main" noGrp="1"/>
          </p:cNvSpPr>
          <p:nvPr/>
        </p:nvSpPr>
        <p:spPr>
          <a:xfrm xmlns:a="http://schemas.openxmlformats.org/drawingml/2006/main">
            <a:off x="1012889" y="2476500"/>
            <a:ext cx="271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1">
                <a:solidFill>
                  <a:srgbClr val="4F8734"/>
                </a:solidFill>
              </a:defRPr>
            </a:defPPr>
            <a:lvl1pPr algn="l">
              <a:buNone/>
              <a:defRPr sz="1800" b="1">
                <a:solidFill>
                  <a:srgbClr val="4F8734"/>
                </a:solidFill>
              </a:defRPr>
            </a:lvl1pPr>
            <a:lvl2pPr algn="l">
              <a:buNone/>
              <a:defRPr sz="1800" b="1">
                <a:solidFill>
                  <a:srgbClr val="4F8734"/>
                </a:solidFill>
              </a:defRPr>
            </a:lvl2pPr>
            <a:lvl3pPr algn="l">
              <a:buNone/>
              <a:defRPr sz="1800" b="1">
                <a:solidFill>
                  <a:srgbClr val="4F8734"/>
                </a:solidFill>
              </a:defRPr>
            </a:lvl3pPr>
            <a:lvl4pPr algn="l">
              <a:buNone/>
              <a:defRPr sz="1800" b="1">
                <a:solidFill>
                  <a:srgbClr val="4F8734"/>
                </a:solidFill>
              </a:defRPr>
            </a:lvl4pPr>
            <a:lvl5pPr algn="l">
              <a:buNone/>
              <a:defRPr sz="1800" b="1">
                <a:solidFill>
                  <a:srgbClr val="4F8734"/>
                </a:solidFill>
              </a:defRPr>
            </a:lvl5pPr>
            <a:lvl6pPr algn="l">
              <a:buNone/>
              <a:defRPr sz="1800" b="1">
                <a:solidFill>
                  <a:srgbClr val="4F8734"/>
                </a:solidFill>
              </a:defRPr>
            </a:lvl6pPr>
            <a:lvl7pPr algn="l">
              <a:buNone/>
              <a:defRPr sz="1800" b="1">
                <a:solidFill>
                  <a:srgbClr val="4F8734"/>
                </a:solidFill>
              </a:defRPr>
            </a:lvl7pPr>
            <a:lvl8pPr algn="l">
              <a:buNone/>
              <a:defRPr sz="1800" b="1">
                <a:solidFill>
                  <a:srgbClr val="4F8734"/>
                </a:solidFill>
              </a:defRPr>
            </a:lvl8pPr>
            <a:lvl9pPr algn="l">
              <a:buNone/>
              <a:defRPr sz="1800" b="1">
                <a:solidFill>
                  <a:srgbClr val="4F8734"/>
                </a:solidFill>
              </a:defRPr>
            </a:lvl9pPr>
          </a:lstStyle>
          <a:p xmlns:a="http://schemas.openxmlformats.org/drawingml/2006/main">
            <a:pPr algn="l">
              <a:buNone/>
              <a:defRPr sz="1800" b="1">
                <a:solidFill>
                  <a:srgbClr val="4F8734"/>
                </a:solidFill>
              </a:defRPr>
            </a:pPr>
            <a:r>
              <a:rPr sz="1800" b="1">
                <a:solidFill>
                  <a:srgbClr val="4F8734"/>
                </a:solidFill>
              </a:rPr>
              <a:t>Scope</a:t>
            </a:r>
          </a:p>
        </p:txBody>
      </p:sp>
      <p:sp>
        <p:nvSpPr>
          <p:cNvPr id="2006" name="condition headline 0">
            <a:extLst xmlns:a="http://schemas.openxmlformats.org/drawingml/2006/main">
              <a:ext uri="{FF2B5EF4-FFF2-40B4-BE49-F238E27FC236}">
                <a16:creationId xmlns:a16="http://schemas.microsoft.com/office/drawing/2014/main" id="{39605FCD-B33E-4B8D-81BE-FD4862AC63B8}"/>
              </a:ext>
            </a:extLst>
          </p:cNvPr>
          <p:cNvSpPr>
            <a:spLocks xmlns:a="http://schemas.openxmlformats.org/drawingml/2006/main" noGrp="1"/>
          </p:cNvSpPr>
          <p:nvPr/>
        </p:nvSpPr>
        <p:spPr>
          <a:xfrm xmlns:a="http://schemas.openxmlformats.org/drawingml/2006/main">
            <a:off x="1012889" y="2914650"/>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303238"/>
                </a:solidFill>
              </a:defRPr>
            </a:defPPr>
            <a:lvl1pPr algn="l">
              <a:buNone/>
              <a:defRPr sz="2100" b="1">
                <a:solidFill>
                  <a:srgbClr val="303238"/>
                </a:solidFill>
              </a:defRPr>
            </a:lvl1pPr>
            <a:lvl2pPr algn="l">
              <a:buNone/>
              <a:defRPr sz="2100" b="1">
                <a:solidFill>
                  <a:srgbClr val="303238"/>
                </a:solidFill>
              </a:defRPr>
            </a:lvl2pPr>
            <a:lvl3pPr algn="l">
              <a:buNone/>
              <a:defRPr sz="2100" b="1">
                <a:solidFill>
                  <a:srgbClr val="303238"/>
                </a:solidFill>
              </a:defRPr>
            </a:lvl3pPr>
            <a:lvl4pPr algn="l">
              <a:buNone/>
              <a:defRPr sz="2100" b="1">
                <a:solidFill>
                  <a:srgbClr val="303238"/>
                </a:solidFill>
              </a:defRPr>
            </a:lvl4pPr>
            <a:lvl5pPr algn="l">
              <a:buNone/>
              <a:defRPr sz="2100" b="1">
                <a:solidFill>
                  <a:srgbClr val="303238"/>
                </a:solidFill>
              </a:defRPr>
            </a:lvl5pPr>
            <a:lvl6pPr algn="l">
              <a:buNone/>
              <a:defRPr sz="2100" b="1">
                <a:solidFill>
                  <a:srgbClr val="303238"/>
                </a:solidFill>
              </a:defRPr>
            </a:lvl6pPr>
            <a:lvl7pPr algn="l">
              <a:buNone/>
              <a:defRPr sz="2100" b="1">
                <a:solidFill>
                  <a:srgbClr val="303238"/>
                </a:solidFill>
              </a:defRPr>
            </a:lvl7pPr>
            <a:lvl8pPr algn="l">
              <a:buNone/>
              <a:defRPr sz="2100" b="1">
                <a:solidFill>
                  <a:srgbClr val="303238"/>
                </a:solidFill>
              </a:defRPr>
            </a:lvl8pPr>
            <a:lvl9pPr algn="l">
              <a:buNone/>
              <a:defRPr sz="2100" b="1">
                <a:solidFill>
                  <a:srgbClr val="303238"/>
                </a:solidFill>
              </a:defRPr>
            </a:lvl9pPr>
          </a:lstStyle>
          <a:p xmlns:a="http://schemas.openxmlformats.org/drawingml/2006/main">
            <a:pPr algn="l">
              <a:buNone/>
              <a:defRPr sz="2100" b="1">
                <a:solidFill>
                  <a:srgbClr val="303238"/>
                </a:solidFill>
              </a:defRPr>
            </a:pPr>
            <a:r>
              <a:rPr sz="2100" b="1">
                <a:solidFill>
                  <a:srgbClr val="303238"/>
                </a:solidFill>
              </a:rPr>
              <a:t>Required behavior</a:t>
            </a:r>
          </a:p>
          <a:p xmlns:a="http://schemas.openxmlformats.org/drawingml/2006/main">
            <a:pPr algn="l">
              <a:buNone/>
              <a:defRPr sz="2100" b="1">
                <a:solidFill>
                  <a:srgbClr val="303238"/>
                </a:solidFill>
              </a:defRPr>
            </a:pPr>
            <a:r>
              <a:rPr sz="2100" b="1">
                <a:solidFill>
                  <a:srgbClr val="303238"/>
                </a:solidFill>
              </a:rPr>
              <a:t>is agreed</a:t>
            </a:r>
          </a:p>
        </p:txBody>
      </p:sp>
      <p:sp>
        <p:nvSpPr>
          <p:cNvPr id="2007" name="condition description 0">
            <a:extLst xmlns:a="http://schemas.openxmlformats.org/drawingml/2006/main">
              <a:ext uri="{FF2B5EF4-FFF2-40B4-BE49-F238E27FC236}">
                <a16:creationId xmlns:a16="http://schemas.microsoft.com/office/drawing/2014/main" id="{E5BD00D3-BF17-41CF-8581-64FED5E3D2AB}"/>
              </a:ext>
            </a:extLst>
          </p:cNvPr>
          <p:cNvSpPr>
            <a:spLocks xmlns:a="http://schemas.openxmlformats.org/drawingml/2006/main" noGrp="1"/>
          </p:cNvSpPr>
          <p:nvPr/>
        </p:nvSpPr>
        <p:spPr>
          <a:xfrm xmlns:a="http://schemas.openxmlformats.org/drawingml/2006/main">
            <a:off x="1012889" y="3752850"/>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1666B"/>
                </a:solidFill>
              </a:defRPr>
            </a:defPPr>
            <a:lvl1pPr algn="l">
              <a:buNone/>
              <a:defRPr sz="1575" b="0">
                <a:solidFill>
                  <a:srgbClr val="61666B"/>
                </a:solidFill>
              </a:defRPr>
            </a:lvl1pPr>
            <a:lvl2pPr algn="l">
              <a:buNone/>
              <a:defRPr sz="1575" b="0">
                <a:solidFill>
                  <a:srgbClr val="61666B"/>
                </a:solidFill>
              </a:defRPr>
            </a:lvl2pPr>
            <a:lvl3pPr algn="l">
              <a:buNone/>
              <a:defRPr sz="1575" b="0">
                <a:solidFill>
                  <a:srgbClr val="61666B"/>
                </a:solidFill>
              </a:defRPr>
            </a:lvl3pPr>
            <a:lvl4pPr algn="l">
              <a:buNone/>
              <a:defRPr sz="1575" b="0">
                <a:solidFill>
                  <a:srgbClr val="61666B"/>
                </a:solidFill>
              </a:defRPr>
            </a:lvl4pPr>
            <a:lvl5pPr algn="l">
              <a:buNone/>
              <a:defRPr sz="1575" b="0">
                <a:solidFill>
                  <a:srgbClr val="61666B"/>
                </a:solidFill>
              </a:defRPr>
            </a:lvl5pPr>
            <a:lvl6pPr algn="l">
              <a:buNone/>
              <a:defRPr sz="1575" b="0">
                <a:solidFill>
                  <a:srgbClr val="61666B"/>
                </a:solidFill>
              </a:defRPr>
            </a:lvl6pPr>
            <a:lvl7pPr algn="l">
              <a:buNone/>
              <a:defRPr sz="1575" b="0">
                <a:solidFill>
                  <a:srgbClr val="61666B"/>
                </a:solidFill>
              </a:defRPr>
            </a:lvl7pPr>
            <a:lvl8pPr algn="l">
              <a:buNone/>
              <a:defRPr sz="1575" b="0">
                <a:solidFill>
                  <a:srgbClr val="61666B"/>
                </a:solidFill>
              </a:defRPr>
            </a:lvl8pPr>
            <a:lvl9pPr algn="l">
              <a:buNone/>
              <a:defRPr sz="1575" b="0">
                <a:solidFill>
                  <a:srgbClr val="61666B"/>
                </a:solidFill>
              </a:defRPr>
            </a:lvl9pPr>
          </a:lstStyle>
          <a:p xmlns:a="http://schemas.openxmlformats.org/drawingml/2006/main">
            <a:pPr algn="l">
              <a:buNone/>
              <a:defRPr sz="1575" b="0">
                <a:solidFill>
                  <a:srgbClr val="61666B"/>
                </a:solidFill>
              </a:defRPr>
            </a:pPr>
            <a:r>
              <a:rPr sz="1575" b="0">
                <a:solidFill>
                  <a:srgbClr val="61666B"/>
                </a:solidFill>
              </a:rPr>
              <a:t>Requirement and</a:t>
            </a:r>
          </a:p>
          <a:p xmlns:a="http://schemas.openxmlformats.org/drawingml/2006/main">
            <a:pPr algn="l">
              <a:buNone/>
              <a:defRPr sz="1575" b="0">
                <a:solidFill>
                  <a:srgbClr val="61666B"/>
                </a:solidFill>
              </a:defRPr>
            </a:pPr>
            <a:r>
              <a:rPr sz="1575" b="0">
                <a:solidFill>
                  <a:srgbClr val="61666B"/>
                </a:solidFill>
              </a:rPr>
              <a:t>affected tests</a:t>
            </a:r>
          </a:p>
        </p:txBody>
      </p:sp>
      <p:sp>
        <p:nvSpPr>
          <p:cNvPr id="2008" name="policy condition 1">
            <a:extLst xmlns:a="http://schemas.openxmlformats.org/drawingml/2006/main">
              <a:ext uri="{FF2B5EF4-FFF2-40B4-BE49-F238E27FC236}">
                <a16:creationId xmlns:a16="http://schemas.microsoft.com/office/drawing/2014/main" id="{B05078C6-C9FA-4080-95D2-EABB1EB80302}"/>
              </a:ext>
            </a:extLst>
          </p:cNvPr>
          <p:cNvSpPr>
            <a:spLocks xmlns:a="http://schemas.openxmlformats.org/drawingml/2006/main" noGrp="1"/>
          </p:cNvSpPr>
          <p:nvPr/>
        </p:nvSpPr>
        <p:spPr>
          <a:xfrm xmlns:a="http://schemas.openxmlformats.org/drawingml/2006/main">
            <a:off x="4289489" y="2314575"/>
            <a:ext cx="3114675" cy="2085975"/>
          </a:xfrm>
          <a:prstGeom xmlns:a="http://schemas.openxmlformats.org/drawingml/2006/main" prst="roundRect">
            <a:avLst>
              <a:gd name="adj" fmla="val 3653"/>
            </a:avLst>
          </a:prstGeom>
          <a:solidFill xmlns:a="http://schemas.openxmlformats.org/drawingml/2006/main">
            <a:srgbClr val="EDF4F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9" name="condition label 1">
            <a:extLst xmlns:a="http://schemas.openxmlformats.org/drawingml/2006/main">
              <a:ext uri="{FF2B5EF4-FFF2-40B4-BE49-F238E27FC236}">
                <a16:creationId xmlns:a16="http://schemas.microsoft.com/office/drawing/2014/main" id="{6D90F561-35B8-4EAD-A5BA-A6F2B7847AEA}"/>
              </a:ext>
            </a:extLst>
          </p:cNvPr>
          <p:cNvSpPr>
            <a:spLocks xmlns:a="http://schemas.openxmlformats.org/drawingml/2006/main" noGrp="1"/>
          </p:cNvSpPr>
          <p:nvPr/>
        </p:nvSpPr>
        <p:spPr>
          <a:xfrm xmlns:a="http://schemas.openxmlformats.org/drawingml/2006/main">
            <a:off x="4489514" y="2476500"/>
            <a:ext cx="271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1">
                <a:solidFill>
                  <a:srgbClr val="0086AC"/>
                </a:solidFill>
              </a:defRPr>
            </a:defPPr>
            <a:lvl1pPr algn="l">
              <a:buNone/>
              <a:defRPr sz="1800" b="1">
                <a:solidFill>
                  <a:srgbClr val="0086AC"/>
                </a:solidFill>
              </a:defRPr>
            </a:lvl1pPr>
            <a:lvl2pPr algn="l">
              <a:buNone/>
              <a:defRPr sz="1800" b="1">
                <a:solidFill>
                  <a:srgbClr val="0086AC"/>
                </a:solidFill>
              </a:defRPr>
            </a:lvl2pPr>
            <a:lvl3pPr algn="l">
              <a:buNone/>
              <a:defRPr sz="1800" b="1">
                <a:solidFill>
                  <a:srgbClr val="0086AC"/>
                </a:solidFill>
              </a:defRPr>
            </a:lvl3pPr>
            <a:lvl4pPr algn="l">
              <a:buNone/>
              <a:defRPr sz="1800" b="1">
                <a:solidFill>
                  <a:srgbClr val="0086AC"/>
                </a:solidFill>
              </a:defRPr>
            </a:lvl4pPr>
            <a:lvl5pPr algn="l">
              <a:buNone/>
              <a:defRPr sz="1800" b="1">
                <a:solidFill>
                  <a:srgbClr val="0086AC"/>
                </a:solidFill>
              </a:defRPr>
            </a:lvl5pPr>
            <a:lvl6pPr algn="l">
              <a:buNone/>
              <a:defRPr sz="1800" b="1">
                <a:solidFill>
                  <a:srgbClr val="0086AC"/>
                </a:solidFill>
              </a:defRPr>
            </a:lvl6pPr>
            <a:lvl7pPr algn="l">
              <a:buNone/>
              <a:defRPr sz="1800" b="1">
                <a:solidFill>
                  <a:srgbClr val="0086AC"/>
                </a:solidFill>
              </a:defRPr>
            </a:lvl7pPr>
            <a:lvl8pPr algn="l">
              <a:buNone/>
              <a:defRPr sz="1800" b="1">
                <a:solidFill>
                  <a:srgbClr val="0086AC"/>
                </a:solidFill>
              </a:defRPr>
            </a:lvl8pPr>
            <a:lvl9pPr algn="l">
              <a:buNone/>
              <a:defRPr sz="1800" b="1">
                <a:solidFill>
                  <a:srgbClr val="0086AC"/>
                </a:solidFill>
              </a:defRPr>
            </a:lvl9pPr>
          </a:lstStyle>
          <a:p xmlns:a="http://schemas.openxmlformats.org/drawingml/2006/main">
            <a:pPr algn="l">
              <a:buNone/>
              <a:defRPr sz="1800" b="1">
                <a:solidFill>
                  <a:srgbClr val="0086AC"/>
                </a:solidFill>
              </a:defRPr>
            </a:pPr>
            <a:r>
              <a:rPr sz="1800" b="1">
                <a:solidFill>
                  <a:srgbClr val="0086AC"/>
                </a:solidFill>
              </a:rPr>
              <a:t>Evidence</a:t>
            </a:r>
          </a:p>
        </p:txBody>
      </p:sp>
      <p:sp>
        <p:nvSpPr>
          <p:cNvPr id="2010" name="condition headline 1">
            <a:extLst xmlns:a="http://schemas.openxmlformats.org/drawingml/2006/main">
              <a:ext uri="{FF2B5EF4-FFF2-40B4-BE49-F238E27FC236}">
                <a16:creationId xmlns:a16="http://schemas.microsoft.com/office/drawing/2014/main" id="{B36E8C53-23FF-46C6-AB28-464178D7F2D1}"/>
              </a:ext>
            </a:extLst>
          </p:cNvPr>
          <p:cNvSpPr>
            <a:spLocks xmlns:a="http://schemas.openxmlformats.org/drawingml/2006/main" noGrp="1"/>
          </p:cNvSpPr>
          <p:nvPr/>
        </p:nvSpPr>
        <p:spPr>
          <a:xfrm xmlns:a="http://schemas.openxmlformats.org/drawingml/2006/main">
            <a:off x="4489514" y="2914650"/>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303238"/>
                </a:solidFill>
              </a:defRPr>
            </a:defPPr>
            <a:lvl1pPr algn="l">
              <a:buNone/>
              <a:defRPr sz="2100" b="1">
                <a:solidFill>
                  <a:srgbClr val="303238"/>
                </a:solidFill>
              </a:defRPr>
            </a:lvl1pPr>
            <a:lvl2pPr algn="l">
              <a:buNone/>
              <a:defRPr sz="2100" b="1">
                <a:solidFill>
                  <a:srgbClr val="303238"/>
                </a:solidFill>
              </a:defRPr>
            </a:lvl2pPr>
            <a:lvl3pPr algn="l">
              <a:buNone/>
              <a:defRPr sz="2100" b="1">
                <a:solidFill>
                  <a:srgbClr val="303238"/>
                </a:solidFill>
              </a:defRPr>
            </a:lvl3pPr>
            <a:lvl4pPr algn="l">
              <a:buNone/>
              <a:defRPr sz="2100" b="1">
                <a:solidFill>
                  <a:srgbClr val="303238"/>
                </a:solidFill>
              </a:defRPr>
            </a:lvl4pPr>
            <a:lvl5pPr algn="l">
              <a:buNone/>
              <a:defRPr sz="2100" b="1">
                <a:solidFill>
                  <a:srgbClr val="303238"/>
                </a:solidFill>
              </a:defRPr>
            </a:lvl5pPr>
            <a:lvl6pPr algn="l">
              <a:buNone/>
              <a:defRPr sz="2100" b="1">
                <a:solidFill>
                  <a:srgbClr val="303238"/>
                </a:solidFill>
              </a:defRPr>
            </a:lvl6pPr>
            <a:lvl7pPr algn="l">
              <a:buNone/>
              <a:defRPr sz="2100" b="1">
                <a:solidFill>
                  <a:srgbClr val="303238"/>
                </a:solidFill>
              </a:defRPr>
            </a:lvl7pPr>
            <a:lvl8pPr algn="l">
              <a:buNone/>
              <a:defRPr sz="2100" b="1">
                <a:solidFill>
                  <a:srgbClr val="303238"/>
                </a:solidFill>
              </a:defRPr>
            </a:lvl8pPr>
            <a:lvl9pPr algn="l">
              <a:buNone/>
              <a:defRPr sz="2100" b="1">
                <a:solidFill>
                  <a:srgbClr val="303238"/>
                </a:solidFill>
              </a:defRPr>
            </a:lvl9pPr>
          </a:lstStyle>
          <a:p xmlns:a="http://schemas.openxmlformats.org/drawingml/2006/main">
            <a:pPr algn="l">
              <a:buNone/>
              <a:defRPr sz="2100" b="1">
                <a:solidFill>
                  <a:srgbClr val="303238"/>
                </a:solidFill>
              </a:defRPr>
            </a:pPr>
            <a:r>
              <a:rPr sz="2100" b="1">
                <a:solidFill>
                  <a:srgbClr val="303238"/>
                </a:solidFill>
              </a:rPr>
              <a:t>Checks pass for</a:t>
            </a:r>
          </a:p>
          <a:p xmlns:a="http://schemas.openxmlformats.org/drawingml/2006/main">
            <a:pPr algn="l">
              <a:buNone/>
              <a:defRPr sz="2100" b="1">
                <a:solidFill>
                  <a:srgbClr val="303238"/>
                </a:solidFill>
              </a:defRPr>
            </a:pPr>
            <a:r>
              <a:rPr sz="2100" b="1">
                <a:solidFill>
                  <a:srgbClr val="303238"/>
                </a:solidFill>
              </a:rPr>
              <a:t>this revision</a:t>
            </a:r>
          </a:p>
        </p:txBody>
      </p:sp>
      <p:sp>
        <p:nvSpPr>
          <p:cNvPr id="2011" name="condition description 1">
            <a:extLst xmlns:a="http://schemas.openxmlformats.org/drawingml/2006/main">
              <a:ext uri="{FF2B5EF4-FFF2-40B4-BE49-F238E27FC236}">
                <a16:creationId xmlns:a16="http://schemas.microsoft.com/office/drawing/2014/main" id="{09D0D5DC-F70B-4C20-BEA1-3DD40F15C0D2}"/>
              </a:ext>
            </a:extLst>
          </p:cNvPr>
          <p:cNvSpPr>
            <a:spLocks xmlns:a="http://schemas.openxmlformats.org/drawingml/2006/main" noGrp="1"/>
          </p:cNvSpPr>
          <p:nvPr/>
        </p:nvSpPr>
        <p:spPr>
          <a:xfrm xmlns:a="http://schemas.openxmlformats.org/drawingml/2006/main">
            <a:off x="4489514" y="3752850"/>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1666B"/>
                </a:solidFill>
              </a:defRPr>
            </a:defPPr>
            <a:lvl1pPr algn="l">
              <a:buNone/>
              <a:defRPr sz="1575" b="0">
                <a:solidFill>
                  <a:srgbClr val="61666B"/>
                </a:solidFill>
              </a:defRPr>
            </a:lvl1pPr>
            <a:lvl2pPr algn="l">
              <a:buNone/>
              <a:defRPr sz="1575" b="0">
                <a:solidFill>
                  <a:srgbClr val="61666B"/>
                </a:solidFill>
              </a:defRPr>
            </a:lvl2pPr>
            <a:lvl3pPr algn="l">
              <a:buNone/>
              <a:defRPr sz="1575" b="0">
                <a:solidFill>
                  <a:srgbClr val="61666B"/>
                </a:solidFill>
              </a:defRPr>
            </a:lvl3pPr>
            <a:lvl4pPr algn="l">
              <a:buNone/>
              <a:defRPr sz="1575" b="0">
                <a:solidFill>
                  <a:srgbClr val="61666B"/>
                </a:solidFill>
              </a:defRPr>
            </a:lvl4pPr>
            <a:lvl5pPr algn="l">
              <a:buNone/>
              <a:defRPr sz="1575" b="0">
                <a:solidFill>
                  <a:srgbClr val="61666B"/>
                </a:solidFill>
              </a:defRPr>
            </a:lvl5pPr>
            <a:lvl6pPr algn="l">
              <a:buNone/>
              <a:defRPr sz="1575" b="0">
                <a:solidFill>
                  <a:srgbClr val="61666B"/>
                </a:solidFill>
              </a:defRPr>
            </a:lvl6pPr>
            <a:lvl7pPr algn="l">
              <a:buNone/>
              <a:defRPr sz="1575" b="0">
                <a:solidFill>
                  <a:srgbClr val="61666B"/>
                </a:solidFill>
              </a:defRPr>
            </a:lvl7pPr>
            <a:lvl8pPr algn="l">
              <a:buNone/>
              <a:defRPr sz="1575" b="0">
                <a:solidFill>
                  <a:srgbClr val="61666B"/>
                </a:solidFill>
              </a:defRPr>
            </a:lvl8pPr>
            <a:lvl9pPr algn="l">
              <a:buNone/>
              <a:defRPr sz="1575" b="0">
                <a:solidFill>
                  <a:srgbClr val="61666B"/>
                </a:solidFill>
              </a:defRPr>
            </a:lvl9pPr>
          </a:lstStyle>
          <a:p xmlns:a="http://schemas.openxmlformats.org/drawingml/2006/main">
            <a:pPr algn="l">
              <a:buNone/>
              <a:defRPr sz="1575" b="0">
                <a:solidFill>
                  <a:srgbClr val="61666B"/>
                </a:solidFill>
              </a:defRPr>
            </a:pPr>
            <a:r>
              <a:rPr sz="1575" b="0">
                <a:solidFill>
                  <a:srgbClr val="61666B"/>
                </a:solidFill>
              </a:rPr>
              <a:t>Results are retained</a:t>
            </a:r>
          </a:p>
          <a:p xmlns:a="http://schemas.openxmlformats.org/drawingml/2006/main">
            <a:pPr algn="l">
              <a:buNone/>
              <a:defRPr sz="1575" b="0">
                <a:solidFill>
                  <a:srgbClr val="61666B"/>
                </a:solidFill>
              </a:defRPr>
            </a:pPr>
            <a:r>
              <a:rPr sz="1575" b="0">
                <a:solidFill>
                  <a:srgbClr val="61666B"/>
                </a:solidFill>
              </a:rPr>
              <a:t>and findings triaged</a:t>
            </a:r>
          </a:p>
        </p:txBody>
      </p:sp>
      <p:sp>
        <p:nvSpPr>
          <p:cNvPr id="2012" name="policy condition 2">
            <a:extLst xmlns:a="http://schemas.openxmlformats.org/drawingml/2006/main">
              <a:ext uri="{FF2B5EF4-FFF2-40B4-BE49-F238E27FC236}">
                <a16:creationId xmlns:a16="http://schemas.microsoft.com/office/drawing/2014/main" id="{3B4FCEEC-F07B-4869-B8F8-0095844117AF}"/>
              </a:ext>
            </a:extLst>
          </p:cNvPr>
          <p:cNvSpPr>
            <a:spLocks xmlns:a="http://schemas.openxmlformats.org/drawingml/2006/main" noGrp="1"/>
          </p:cNvSpPr>
          <p:nvPr/>
        </p:nvSpPr>
        <p:spPr>
          <a:xfrm xmlns:a="http://schemas.openxmlformats.org/drawingml/2006/main">
            <a:off x="7766114" y="2314575"/>
            <a:ext cx="3114675" cy="2085975"/>
          </a:xfrm>
          <a:prstGeom xmlns:a="http://schemas.openxmlformats.org/drawingml/2006/main" prst="roundRect">
            <a:avLst>
              <a:gd name="adj" fmla="val 3653"/>
            </a:avLst>
          </a:prstGeom>
          <a:solidFill xmlns:a="http://schemas.openxmlformats.org/drawingml/2006/main">
            <a:srgbClr val="F0F1F8"/>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13" name="condition label 2">
            <a:extLst xmlns:a="http://schemas.openxmlformats.org/drawingml/2006/main">
              <a:ext uri="{FF2B5EF4-FFF2-40B4-BE49-F238E27FC236}">
                <a16:creationId xmlns:a16="http://schemas.microsoft.com/office/drawing/2014/main" id="{DCD832D4-748B-4359-8D4B-494BD46902A0}"/>
              </a:ext>
            </a:extLst>
          </p:cNvPr>
          <p:cNvSpPr>
            <a:spLocks xmlns:a="http://schemas.openxmlformats.org/drawingml/2006/main" noGrp="1"/>
          </p:cNvSpPr>
          <p:nvPr/>
        </p:nvSpPr>
        <p:spPr>
          <a:xfrm xmlns:a="http://schemas.openxmlformats.org/drawingml/2006/main">
            <a:off x="7966139" y="2476500"/>
            <a:ext cx="271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800" b="1">
                <a:solidFill>
                  <a:srgbClr val="5965AC"/>
                </a:solidFill>
              </a:defRPr>
            </a:defPPr>
            <a:lvl1pPr algn="l">
              <a:buNone/>
              <a:defRPr sz="1800" b="1">
                <a:solidFill>
                  <a:srgbClr val="5965AC"/>
                </a:solidFill>
              </a:defRPr>
            </a:lvl1pPr>
            <a:lvl2pPr algn="l">
              <a:buNone/>
              <a:defRPr sz="1800" b="1">
                <a:solidFill>
                  <a:srgbClr val="5965AC"/>
                </a:solidFill>
              </a:defRPr>
            </a:lvl2pPr>
            <a:lvl3pPr algn="l">
              <a:buNone/>
              <a:defRPr sz="1800" b="1">
                <a:solidFill>
                  <a:srgbClr val="5965AC"/>
                </a:solidFill>
              </a:defRPr>
            </a:lvl3pPr>
            <a:lvl4pPr algn="l">
              <a:buNone/>
              <a:defRPr sz="1800" b="1">
                <a:solidFill>
                  <a:srgbClr val="5965AC"/>
                </a:solidFill>
              </a:defRPr>
            </a:lvl4pPr>
            <a:lvl5pPr algn="l">
              <a:buNone/>
              <a:defRPr sz="1800" b="1">
                <a:solidFill>
                  <a:srgbClr val="5965AC"/>
                </a:solidFill>
              </a:defRPr>
            </a:lvl5pPr>
            <a:lvl6pPr algn="l">
              <a:buNone/>
              <a:defRPr sz="1800" b="1">
                <a:solidFill>
                  <a:srgbClr val="5965AC"/>
                </a:solidFill>
              </a:defRPr>
            </a:lvl6pPr>
            <a:lvl7pPr algn="l">
              <a:buNone/>
              <a:defRPr sz="1800" b="1">
                <a:solidFill>
                  <a:srgbClr val="5965AC"/>
                </a:solidFill>
              </a:defRPr>
            </a:lvl7pPr>
            <a:lvl8pPr algn="l">
              <a:buNone/>
              <a:defRPr sz="1800" b="1">
                <a:solidFill>
                  <a:srgbClr val="5965AC"/>
                </a:solidFill>
              </a:defRPr>
            </a:lvl8pPr>
            <a:lvl9pPr algn="l">
              <a:buNone/>
              <a:defRPr sz="1800" b="1">
                <a:solidFill>
                  <a:srgbClr val="5965AC"/>
                </a:solidFill>
              </a:defRPr>
            </a:lvl9pPr>
          </a:lstStyle>
          <a:p xmlns:a="http://schemas.openxmlformats.org/drawingml/2006/main">
            <a:pPr algn="l">
              <a:buNone/>
              <a:defRPr sz="1800" b="1">
                <a:solidFill>
                  <a:srgbClr val="5965AC"/>
                </a:solidFill>
              </a:defRPr>
            </a:pPr>
            <a:r>
              <a:rPr sz="1800" b="1">
                <a:solidFill>
                  <a:srgbClr val="5965AC"/>
                </a:solidFill>
              </a:rPr>
              <a:t>Authority</a:t>
            </a:r>
          </a:p>
        </p:txBody>
      </p:sp>
      <p:sp>
        <p:nvSpPr>
          <p:cNvPr id="2014" name="condition headline 2">
            <a:extLst xmlns:a="http://schemas.openxmlformats.org/drawingml/2006/main">
              <a:ext uri="{FF2B5EF4-FFF2-40B4-BE49-F238E27FC236}">
                <a16:creationId xmlns:a16="http://schemas.microsoft.com/office/drawing/2014/main" id="{73425B14-611A-4093-9A62-FB5DA86BD634}"/>
              </a:ext>
            </a:extLst>
          </p:cNvPr>
          <p:cNvSpPr>
            <a:spLocks xmlns:a="http://schemas.openxmlformats.org/drawingml/2006/main" noGrp="1"/>
          </p:cNvSpPr>
          <p:nvPr/>
        </p:nvSpPr>
        <p:spPr>
          <a:xfrm xmlns:a="http://schemas.openxmlformats.org/drawingml/2006/main">
            <a:off x="7966139" y="2914650"/>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00" b="1">
                <a:solidFill>
                  <a:srgbClr val="303238"/>
                </a:solidFill>
              </a:defRPr>
            </a:defPPr>
            <a:lvl1pPr algn="l">
              <a:buNone/>
              <a:defRPr sz="2100" b="1">
                <a:solidFill>
                  <a:srgbClr val="303238"/>
                </a:solidFill>
              </a:defRPr>
            </a:lvl1pPr>
            <a:lvl2pPr algn="l">
              <a:buNone/>
              <a:defRPr sz="2100" b="1">
                <a:solidFill>
                  <a:srgbClr val="303238"/>
                </a:solidFill>
              </a:defRPr>
            </a:lvl2pPr>
            <a:lvl3pPr algn="l">
              <a:buNone/>
              <a:defRPr sz="2100" b="1">
                <a:solidFill>
                  <a:srgbClr val="303238"/>
                </a:solidFill>
              </a:defRPr>
            </a:lvl3pPr>
            <a:lvl4pPr algn="l">
              <a:buNone/>
              <a:defRPr sz="2100" b="1">
                <a:solidFill>
                  <a:srgbClr val="303238"/>
                </a:solidFill>
              </a:defRPr>
            </a:lvl4pPr>
            <a:lvl5pPr algn="l">
              <a:buNone/>
              <a:defRPr sz="2100" b="1">
                <a:solidFill>
                  <a:srgbClr val="303238"/>
                </a:solidFill>
              </a:defRPr>
            </a:lvl5pPr>
            <a:lvl6pPr algn="l">
              <a:buNone/>
              <a:defRPr sz="2100" b="1">
                <a:solidFill>
                  <a:srgbClr val="303238"/>
                </a:solidFill>
              </a:defRPr>
            </a:lvl6pPr>
            <a:lvl7pPr algn="l">
              <a:buNone/>
              <a:defRPr sz="2100" b="1">
                <a:solidFill>
                  <a:srgbClr val="303238"/>
                </a:solidFill>
              </a:defRPr>
            </a:lvl7pPr>
            <a:lvl8pPr algn="l">
              <a:buNone/>
              <a:defRPr sz="2100" b="1">
                <a:solidFill>
                  <a:srgbClr val="303238"/>
                </a:solidFill>
              </a:defRPr>
            </a:lvl8pPr>
            <a:lvl9pPr algn="l">
              <a:buNone/>
              <a:defRPr sz="2100" b="1">
                <a:solidFill>
                  <a:srgbClr val="303238"/>
                </a:solidFill>
              </a:defRPr>
            </a:lvl9pPr>
          </a:lstStyle>
          <a:p xmlns:a="http://schemas.openxmlformats.org/drawingml/2006/main">
            <a:pPr algn="l">
              <a:buNone/>
              <a:defRPr sz="2100" b="1">
                <a:solidFill>
                  <a:srgbClr val="303238"/>
                </a:solidFill>
              </a:defRPr>
            </a:pPr>
            <a:r>
              <a:rPr sz="2100" b="1">
                <a:solidFill>
                  <a:srgbClr val="303238"/>
                </a:solidFill>
              </a:rPr>
              <a:t>Accountable owner</a:t>
            </a:r>
          </a:p>
          <a:p xmlns:a="http://schemas.openxmlformats.org/drawingml/2006/main">
            <a:pPr algn="l">
              <a:buNone/>
              <a:defRPr sz="2100" b="1">
                <a:solidFill>
                  <a:srgbClr val="303238"/>
                </a:solidFill>
              </a:defRPr>
            </a:pPr>
            <a:r>
              <a:rPr sz="2100" b="1">
                <a:solidFill>
                  <a:srgbClr val="303238"/>
                </a:solidFill>
              </a:rPr>
              <a:t>approves</a:t>
            </a:r>
          </a:p>
        </p:txBody>
      </p:sp>
      <p:sp>
        <p:nvSpPr>
          <p:cNvPr id="2015" name="condition description 2">
            <a:extLst xmlns:a="http://schemas.openxmlformats.org/drawingml/2006/main">
              <a:ext uri="{FF2B5EF4-FFF2-40B4-BE49-F238E27FC236}">
                <a16:creationId xmlns:a16="http://schemas.microsoft.com/office/drawing/2014/main" id="{FC7F5FE3-43CE-4798-BCE2-39FD956F96E9}"/>
              </a:ext>
            </a:extLst>
          </p:cNvPr>
          <p:cNvSpPr>
            <a:spLocks xmlns:a="http://schemas.openxmlformats.org/drawingml/2006/main" noGrp="1"/>
          </p:cNvSpPr>
          <p:nvPr/>
        </p:nvSpPr>
        <p:spPr>
          <a:xfrm xmlns:a="http://schemas.openxmlformats.org/drawingml/2006/main">
            <a:off x="7966139" y="3752850"/>
            <a:ext cx="2714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575" b="0">
                <a:solidFill>
                  <a:srgbClr val="61666B"/>
                </a:solidFill>
              </a:defRPr>
            </a:defPPr>
            <a:lvl1pPr algn="l">
              <a:buNone/>
              <a:defRPr sz="1575" b="0">
                <a:solidFill>
                  <a:srgbClr val="61666B"/>
                </a:solidFill>
              </a:defRPr>
            </a:lvl1pPr>
            <a:lvl2pPr algn="l">
              <a:buNone/>
              <a:defRPr sz="1575" b="0">
                <a:solidFill>
                  <a:srgbClr val="61666B"/>
                </a:solidFill>
              </a:defRPr>
            </a:lvl2pPr>
            <a:lvl3pPr algn="l">
              <a:buNone/>
              <a:defRPr sz="1575" b="0">
                <a:solidFill>
                  <a:srgbClr val="61666B"/>
                </a:solidFill>
              </a:defRPr>
            </a:lvl3pPr>
            <a:lvl4pPr algn="l">
              <a:buNone/>
              <a:defRPr sz="1575" b="0">
                <a:solidFill>
                  <a:srgbClr val="61666B"/>
                </a:solidFill>
              </a:defRPr>
            </a:lvl4pPr>
            <a:lvl5pPr algn="l">
              <a:buNone/>
              <a:defRPr sz="1575" b="0">
                <a:solidFill>
                  <a:srgbClr val="61666B"/>
                </a:solidFill>
              </a:defRPr>
            </a:lvl5pPr>
            <a:lvl6pPr algn="l">
              <a:buNone/>
              <a:defRPr sz="1575" b="0">
                <a:solidFill>
                  <a:srgbClr val="61666B"/>
                </a:solidFill>
              </a:defRPr>
            </a:lvl6pPr>
            <a:lvl7pPr algn="l">
              <a:buNone/>
              <a:defRPr sz="1575" b="0">
                <a:solidFill>
                  <a:srgbClr val="61666B"/>
                </a:solidFill>
              </a:defRPr>
            </a:lvl7pPr>
            <a:lvl8pPr algn="l">
              <a:buNone/>
              <a:defRPr sz="1575" b="0">
                <a:solidFill>
                  <a:srgbClr val="61666B"/>
                </a:solidFill>
              </a:defRPr>
            </a:lvl8pPr>
            <a:lvl9pPr algn="l">
              <a:buNone/>
              <a:defRPr sz="1575" b="0">
                <a:solidFill>
                  <a:srgbClr val="61666B"/>
                </a:solidFill>
              </a:defRPr>
            </a:lvl9pPr>
          </a:lstStyle>
          <a:p xmlns:a="http://schemas.openxmlformats.org/drawingml/2006/main">
            <a:pPr algn="l">
              <a:buNone/>
              <a:defRPr sz="1575" b="0">
                <a:solidFill>
                  <a:srgbClr val="61666B"/>
                </a:solidFill>
              </a:defRPr>
            </a:pPr>
            <a:r>
              <a:rPr sz="1575" b="0">
                <a:solidFill>
                  <a:srgbClr val="61666B"/>
                </a:solidFill>
              </a:rPr>
              <a:t>Protected-branch</a:t>
            </a:r>
          </a:p>
          <a:p xmlns:a="http://schemas.openxmlformats.org/drawingml/2006/main">
            <a:pPr algn="l">
              <a:buNone/>
              <a:defRPr sz="1575" b="0">
                <a:solidFill>
                  <a:srgbClr val="61666B"/>
                </a:solidFill>
              </a:defRPr>
            </a:pPr>
            <a:r>
              <a:rPr sz="1575" b="0">
                <a:solidFill>
                  <a:srgbClr val="61666B"/>
                </a:solidFill>
              </a:rPr>
              <a:t>rules enforce the decision</a:t>
            </a:r>
          </a:p>
        </p:txBody>
      </p:sp>
      <p:sp>
        <p:nvSpPr>
          <p:cNvPr id="2016" name="eligibility">
            <a:extLst xmlns:a="http://schemas.openxmlformats.org/drawingml/2006/main">
              <a:ext uri="{FF2B5EF4-FFF2-40B4-BE49-F238E27FC236}">
                <a16:creationId xmlns:a16="http://schemas.microsoft.com/office/drawing/2014/main" id="{CAAB0B2D-8AF3-488D-8F6C-11CF7139A301}"/>
              </a:ext>
            </a:extLst>
          </p:cNvPr>
          <p:cNvSpPr>
            <a:spLocks xmlns:a="http://schemas.openxmlformats.org/drawingml/2006/main" noGrp="1"/>
          </p:cNvSpPr>
          <p:nvPr/>
        </p:nvSpPr>
        <p:spPr>
          <a:xfrm xmlns:a="http://schemas.openxmlformats.org/drawingml/2006/main">
            <a:off x="812864" y="4791075"/>
            <a:ext cx="100679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400" b="1">
                <a:solidFill>
                  <a:srgbClr val="4F8734"/>
                </a:solidFill>
              </a:defRPr>
            </a:defPPr>
            <a:lvl1pPr algn="l">
              <a:buNone/>
              <a:defRPr sz="2400" b="1">
                <a:solidFill>
                  <a:srgbClr val="4F8734"/>
                </a:solidFill>
              </a:defRPr>
            </a:lvl1pPr>
            <a:lvl2pPr algn="l">
              <a:buNone/>
              <a:defRPr sz="2400" b="1">
                <a:solidFill>
                  <a:srgbClr val="4F8734"/>
                </a:solidFill>
              </a:defRPr>
            </a:lvl2pPr>
            <a:lvl3pPr algn="l">
              <a:buNone/>
              <a:defRPr sz="2400" b="1">
                <a:solidFill>
                  <a:srgbClr val="4F8734"/>
                </a:solidFill>
              </a:defRPr>
            </a:lvl3pPr>
            <a:lvl4pPr algn="l">
              <a:buNone/>
              <a:defRPr sz="2400" b="1">
                <a:solidFill>
                  <a:srgbClr val="4F8734"/>
                </a:solidFill>
              </a:defRPr>
            </a:lvl4pPr>
            <a:lvl5pPr algn="l">
              <a:buNone/>
              <a:defRPr sz="2400" b="1">
                <a:solidFill>
                  <a:srgbClr val="4F8734"/>
                </a:solidFill>
              </a:defRPr>
            </a:lvl5pPr>
            <a:lvl6pPr algn="l">
              <a:buNone/>
              <a:defRPr sz="2400" b="1">
                <a:solidFill>
                  <a:srgbClr val="4F8734"/>
                </a:solidFill>
              </a:defRPr>
            </a:lvl6pPr>
            <a:lvl7pPr algn="l">
              <a:buNone/>
              <a:defRPr sz="2400" b="1">
                <a:solidFill>
                  <a:srgbClr val="4F8734"/>
                </a:solidFill>
              </a:defRPr>
            </a:lvl7pPr>
            <a:lvl8pPr algn="l">
              <a:buNone/>
              <a:defRPr sz="2400" b="1">
                <a:solidFill>
                  <a:srgbClr val="4F8734"/>
                </a:solidFill>
              </a:defRPr>
            </a:lvl8pPr>
            <a:lvl9pPr algn="l">
              <a:buNone/>
              <a:defRPr sz="2400" b="1">
                <a:solidFill>
                  <a:srgbClr val="4F8734"/>
                </a:solidFill>
              </a:defRPr>
            </a:lvl9pPr>
          </a:lstStyle>
          <a:p xmlns:a="http://schemas.openxmlformats.org/drawingml/2006/main">
            <a:pPr algn="l">
              <a:buNone/>
              <a:defRPr sz="2400" b="1">
                <a:solidFill>
                  <a:srgbClr val="4F8734"/>
                </a:solidFill>
              </a:defRPr>
            </a:pPr>
            <a:r>
              <a:rPr sz="2400" b="1">
                <a:solidFill>
                  <a:srgbClr val="4F8734"/>
                </a:solidFill>
              </a:rPr>
              <a:t>All three must be satisfied before merge.</a:t>
            </a:r>
          </a:p>
        </p:txBody>
      </p:sp>
      <p:sp>
        <p:nvSpPr>
          <p:cNvPr id="2017" name="missing evidence">
            <a:extLst xmlns:a="http://schemas.openxmlformats.org/drawingml/2006/main">
              <a:ext uri="{FF2B5EF4-FFF2-40B4-BE49-F238E27FC236}">
                <a16:creationId xmlns:a16="http://schemas.microsoft.com/office/drawing/2014/main" id="{0CB9DF11-DA44-4AE1-8C03-9425EA3F48F6}"/>
              </a:ext>
            </a:extLst>
          </p:cNvPr>
          <p:cNvSpPr>
            <a:spLocks xmlns:a="http://schemas.openxmlformats.org/drawingml/2006/main" noGrp="1"/>
          </p:cNvSpPr>
          <p:nvPr/>
        </p:nvSpPr>
        <p:spPr>
          <a:xfrm xmlns:a="http://schemas.openxmlformats.org/drawingml/2006/main">
            <a:off x="812864" y="5314950"/>
            <a:ext cx="100679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Missing required evidence or approval keeps the decision pending.</a:t>
            </a:r>
          </a:p>
        </p:txBody>
      </p:sp>
      <p:sp>
        <p:nvSpPr>
          <p:cNvPr id="2018" name="revision rule">
            <a:extLst xmlns:a="http://schemas.openxmlformats.org/drawingml/2006/main">
              <a:ext uri="{FF2B5EF4-FFF2-40B4-BE49-F238E27FC236}">
                <a16:creationId xmlns:a16="http://schemas.microsoft.com/office/drawing/2014/main" id="{9AFB0188-7735-4576-8550-BC465C4518D3}"/>
              </a:ext>
            </a:extLst>
          </p:cNvPr>
          <p:cNvSpPr>
            <a:spLocks xmlns:a="http://schemas.openxmlformats.org/drawingml/2006/main" noGrp="1"/>
          </p:cNvSpPr>
          <p:nvPr/>
        </p:nvSpPr>
        <p:spPr>
          <a:xfrm xmlns:a="http://schemas.openxmlformats.org/drawingml/2006/main">
            <a:off x="812864" y="5857875"/>
            <a:ext cx="10067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1">
                <a:solidFill>
                  <a:srgbClr val="5965AC"/>
                </a:solidFill>
              </a:defRPr>
            </a:defPPr>
            <a:lvl1pPr algn="l">
              <a:buNone/>
              <a:defRPr sz="1650" b="1">
                <a:solidFill>
                  <a:srgbClr val="5965AC"/>
                </a:solidFill>
              </a:defRPr>
            </a:lvl1pPr>
            <a:lvl2pPr algn="l">
              <a:buNone/>
              <a:defRPr sz="1650" b="1">
                <a:solidFill>
                  <a:srgbClr val="5965AC"/>
                </a:solidFill>
              </a:defRPr>
            </a:lvl2pPr>
            <a:lvl3pPr algn="l">
              <a:buNone/>
              <a:defRPr sz="1650" b="1">
                <a:solidFill>
                  <a:srgbClr val="5965AC"/>
                </a:solidFill>
              </a:defRPr>
            </a:lvl3pPr>
            <a:lvl4pPr algn="l">
              <a:buNone/>
              <a:defRPr sz="1650" b="1">
                <a:solidFill>
                  <a:srgbClr val="5965AC"/>
                </a:solidFill>
              </a:defRPr>
            </a:lvl4pPr>
            <a:lvl5pPr algn="l">
              <a:buNone/>
              <a:defRPr sz="1650" b="1">
                <a:solidFill>
                  <a:srgbClr val="5965AC"/>
                </a:solidFill>
              </a:defRPr>
            </a:lvl5pPr>
            <a:lvl6pPr algn="l">
              <a:buNone/>
              <a:defRPr sz="1650" b="1">
                <a:solidFill>
                  <a:srgbClr val="5965AC"/>
                </a:solidFill>
              </a:defRPr>
            </a:lvl6pPr>
            <a:lvl7pPr algn="l">
              <a:buNone/>
              <a:defRPr sz="1650" b="1">
                <a:solidFill>
                  <a:srgbClr val="5965AC"/>
                </a:solidFill>
              </a:defRPr>
            </a:lvl7pPr>
            <a:lvl8pPr algn="l">
              <a:buNone/>
              <a:defRPr sz="1650" b="1">
                <a:solidFill>
                  <a:srgbClr val="5965AC"/>
                </a:solidFill>
              </a:defRPr>
            </a:lvl8pPr>
            <a:lvl9pPr algn="l">
              <a:buNone/>
              <a:defRPr sz="1650" b="1">
                <a:solidFill>
                  <a:srgbClr val="5965AC"/>
                </a:solidFill>
              </a:defRPr>
            </a:lvl9pPr>
          </a:lstStyle>
          <a:p xmlns:a="http://schemas.openxmlformats.org/drawingml/2006/main">
            <a:pPr algn="l">
              <a:buNone/>
              <a:defRPr sz="1650" b="1">
                <a:solidFill>
                  <a:srgbClr val="5965AC"/>
                </a:solidFill>
              </a:defRPr>
            </a:pPr>
            <a:r>
              <a:rPr sz="1650" b="1">
                <a:solidFill>
                  <a:srgbClr val="5965AC"/>
                </a:solidFill>
              </a:rPr>
              <a:t>Code changed? Refresh affected checks, the review record and approvals.</a:t>
            </a:r>
          </a:p>
        </p:txBody>
      </p:sp>
    </p:spTree>
    <p:extLst>
      <p:ext uri="{BB962C8B-B14F-4D97-AF65-F5344CB8AC3E}">
        <p14:creationId xmlns:p14="http://schemas.microsoft.com/office/powerpoint/2010/main" val="1799126967"/>
      </p:ext>
    </p:extLst>
  </p:cSld>
</p:sld>
</file>

<file path=ppt/slides/slide28.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6AC2320A-FD4F-4EAE-989D-B5E052F2F495}"/>
              </a:ext>
            </a:extLst>
          </p:cNvPr>
          <p:cNvPicPr>
            <a:picLocks xmlns:a="http://schemas.openxmlformats.org/drawingml/2006/main" noChangeAspect="1"/>
          </p:cNvPicPr>
          <p:nvPr/>
        </p:nvPicPr>
        <p:blipFill>
          <a:blip xmlns:r="http://schemas.openxmlformats.org/officeDocument/2006/relationships" xmlns:a="http://schemas.openxmlformats.org/drawingml/2006/main" r:embed="R24e5f4232cfe4cdf"/>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1EC50ACD-15DD-4F42-89B1-B77C681DCA6F}"/>
              </a:ext>
            </a:extLst>
          </p:cNvPr>
          <p:cNvPicPr>
            <a:picLocks xmlns:a="http://schemas.openxmlformats.org/drawingml/2006/main" noChangeAspect="1"/>
          </p:cNvPicPr>
          <p:nvPr/>
        </p:nvPicPr>
        <p:blipFill>
          <a:blip xmlns:r="http://schemas.openxmlformats.org/officeDocument/2006/relationships" xmlns:a="http://schemas.openxmlformats.org/drawingml/2006/main" r:embed="Rfed332356ab34bac"/>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cxnSp>
        <p:nvCxnSpPr>
          <p:cNvPr id="2022" name="Straight Arrow Connector 2021">
            <a:extLst xmlns:a="http://schemas.openxmlformats.org/drawingml/2006/main">
              <a:ext uri="{FF2B5EF4-FFF2-40B4-BE49-F238E27FC236}">
                <a16:creationId xmlns:a16="http://schemas.microsoft.com/office/drawing/2014/main" id="{FFF20003-2947-4B47-8024-2FB9BE36BAC1}"/>
              </a:ext>
            </a:extLst>
          </p:cNvPr>
          <p:cNvCxnSpPr>
            <a:stCxn xmlns:a="http://schemas.openxmlformats.org/drawingml/2006/main" id="2012" idx="3"/>
            <a:endCxn xmlns:a="http://schemas.openxmlformats.org/drawingml/2006/main" id="2016" idx="1"/>
          </p:cNvCxnSpPr>
          <p:nvPr/>
        </p:nvCxnSpPr>
        <p:spPr>
          <a:xfrm xmlns:a="http://schemas.openxmlformats.org/drawingml/2006/main">
            <a:off x="8470964" y="3405188"/>
            <a:ext cx="400050" cy="0"/>
          </a:xfrm>
          <a:prstGeom xmlns:a="http://schemas.openxmlformats.org/drawingml/2006/main" prst="straightConnector1">
            <a:avLst/>
          </a:prstGeom>
          <a:ln xmlns:a="http://schemas.openxmlformats.org/drawingml/2006/main" w="19050">
            <a:solidFill>
              <a:srgbClr val="4F8734"/>
            </a:solidFill>
            <a:tailEnd type="triangle" w="med" len="med"/>
          </a:ln>
        </p:spPr>
      </p:cxnSp>
      <p:cxnSp>
        <p:nvCxnSpPr>
          <p:cNvPr id="2021" name="Straight Arrow Connector 2020">
            <a:extLst xmlns:a="http://schemas.openxmlformats.org/drawingml/2006/main">
              <a:ext uri="{FF2B5EF4-FFF2-40B4-BE49-F238E27FC236}">
                <a16:creationId xmlns:a16="http://schemas.microsoft.com/office/drawing/2014/main" id="{7F9424ED-0407-41EA-8CA9-4C30754D0A86}"/>
              </a:ext>
            </a:extLst>
          </p:cNvPr>
          <p:cNvCxnSpPr>
            <a:stCxn xmlns:a="http://schemas.openxmlformats.org/drawingml/2006/main" id="2008" idx="3"/>
            <a:endCxn xmlns:a="http://schemas.openxmlformats.org/drawingml/2006/main" id="2012" idx="1"/>
          </p:cNvCxnSpPr>
          <p:nvPr/>
        </p:nvCxnSpPr>
        <p:spPr>
          <a:xfrm xmlns:a="http://schemas.openxmlformats.org/drawingml/2006/main">
            <a:off x="5784914" y="3405188"/>
            <a:ext cx="400050" cy="0"/>
          </a:xfrm>
          <a:prstGeom xmlns:a="http://schemas.openxmlformats.org/drawingml/2006/main" prst="straightConnector1">
            <a:avLst/>
          </a:prstGeom>
          <a:ln xmlns:a="http://schemas.openxmlformats.org/drawingml/2006/main" w="19050">
            <a:solidFill>
              <a:srgbClr val="4F8734"/>
            </a:solidFill>
            <a:tailEnd type="triangle" w="med" len="med"/>
          </a:ln>
        </p:spPr>
      </p:cxnSp>
      <p:cxnSp>
        <p:nvCxnSpPr>
          <p:cNvPr id="2020" name="Straight Arrow Connector 2019">
            <a:extLst xmlns:a="http://schemas.openxmlformats.org/drawingml/2006/main">
              <a:ext uri="{FF2B5EF4-FFF2-40B4-BE49-F238E27FC236}">
                <a16:creationId xmlns:a16="http://schemas.microsoft.com/office/drawing/2014/main" id="{32BD77D3-4B8E-4B8F-A361-70CA742FA710}"/>
              </a:ext>
            </a:extLst>
          </p:cNvPr>
          <p:cNvCxnSpPr>
            <a:stCxn xmlns:a="http://schemas.openxmlformats.org/drawingml/2006/main" id="2004" idx="3"/>
            <a:endCxn xmlns:a="http://schemas.openxmlformats.org/drawingml/2006/main" id="2008" idx="1"/>
          </p:cNvCxnSpPr>
          <p:nvPr/>
        </p:nvCxnSpPr>
        <p:spPr>
          <a:xfrm xmlns:a="http://schemas.openxmlformats.org/drawingml/2006/main">
            <a:off x="3098864" y="3405188"/>
            <a:ext cx="400050" cy="0"/>
          </a:xfrm>
          <a:prstGeom xmlns:a="http://schemas.openxmlformats.org/drawingml/2006/main" prst="straightConnector1">
            <a:avLst/>
          </a:prstGeom>
          <a:ln xmlns:a="http://schemas.openxmlformats.org/drawingml/2006/main" w="19050">
            <a:solidFill>
              <a:srgbClr val="4F8734"/>
            </a:solidFill>
            <a:tailEnd type="triangle" w="med" len="med"/>
          </a:ln>
        </p:spPr>
      </p:cxnSp>
      <p:sp>
        <p:nvSpPr>
          <p:cNvPr id="2026" name="title">
            <a:extLst xmlns:a="http://schemas.openxmlformats.org/drawingml/2006/main">
              <a:ext uri="{FF2B5EF4-FFF2-40B4-BE49-F238E27FC236}">
                <a16:creationId xmlns:a16="http://schemas.microsoft.com/office/drawing/2014/main" id="{F9F4B588-4450-4E92-807A-C34D0016840B}"/>
              </a:ext>
            </a:extLst>
          </p:cNvPr>
          <p:cNvSpPr>
            <a:spLocks xmlns:a="http://schemas.openxmlformats.org/drawingml/2006/main" noGrp="1"/>
          </p:cNvSpPr>
          <p:nvPr/>
        </p:nvSpPr>
        <p:spPr>
          <a:xfrm xmlns:a="http://schemas.openxmlformats.org/drawingml/2006/main">
            <a:off x="812864" y="819150"/>
            <a:ext cx="10572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3000" b="1">
                <a:solidFill>
                  <a:srgbClr val="4F8734"/>
                </a:solidFill>
              </a:defRPr>
            </a:defPPr>
            <a:lvl1pPr algn="l">
              <a:buNone/>
              <a:defRPr sz="3000" b="1">
                <a:solidFill>
                  <a:srgbClr val="4F8734"/>
                </a:solidFill>
              </a:defRPr>
            </a:lvl1pPr>
            <a:lvl2pPr algn="l">
              <a:buNone/>
              <a:defRPr sz="3000" b="1">
                <a:solidFill>
                  <a:srgbClr val="4F8734"/>
                </a:solidFill>
              </a:defRPr>
            </a:lvl2pPr>
            <a:lvl3pPr algn="l">
              <a:buNone/>
              <a:defRPr sz="3000" b="1">
                <a:solidFill>
                  <a:srgbClr val="4F8734"/>
                </a:solidFill>
              </a:defRPr>
            </a:lvl3pPr>
            <a:lvl4pPr algn="l">
              <a:buNone/>
              <a:defRPr sz="3000" b="1">
                <a:solidFill>
                  <a:srgbClr val="4F8734"/>
                </a:solidFill>
              </a:defRPr>
            </a:lvl4pPr>
            <a:lvl5pPr algn="l">
              <a:buNone/>
              <a:defRPr sz="3000" b="1">
                <a:solidFill>
                  <a:srgbClr val="4F8734"/>
                </a:solidFill>
              </a:defRPr>
            </a:lvl5pPr>
            <a:lvl6pPr algn="l">
              <a:buNone/>
              <a:defRPr sz="3000" b="1">
                <a:solidFill>
                  <a:srgbClr val="4F8734"/>
                </a:solidFill>
              </a:defRPr>
            </a:lvl6pPr>
            <a:lvl7pPr algn="l">
              <a:buNone/>
              <a:defRPr sz="3000" b="1">
                <a:solidFill>
                  <a:srgbClr val="4F8734"/>
                </a:solidFill>
              </a:defRPr>
            </a:lvl7pPr>
            <a:lvl8pPr algn="l">
              <a:buNone/>
              <a:defRPr sz="3000" b="1">
                <a:solidFill>
                  <a:srgbClr val="4F8734"/>
                </a:solidFill>
              </a:defRPr>
            </a:lvl8pPr>
            <a:lvl9pPr algn="l">
              <a:buNone/>
              <a:defRPr sz="3000" b="1">
                <a:solidFill>
                  <a:srgbClr val="4F8734"/>
                </a:solidFill>
              </a:defRPr>
            </a:lvl9pPr>
          </a:lstStyle>
          <a:p xmlns:a="http://schemas.openxmlformats.org/drawingml/2006/main">
            <a:pPr algn="l">
              <a:buNone/>
              <a:defRPr sz="3000" b="1">
                <a:solidFill>
                  <a:srgbClr val="4F8734"/>
                </a:solidFill>
              </a:defRPr>
            </a:pPr>
            <a:r>
              <a:rPr sz="3000" b="1">
                <a:solidFill>
                  <a:srgbClr val="4F8734"/>
                </a:solidFill>
              </a:rPr>
              <a:t>Run a four-week shadow pilot</a:t>
            </a:r>
          </a:p>
        </p:txBody>
      </p:sp>
      <p:sp>
        <p:nvSpPr>
          <p:cNvPr id="2002" name="subtitle">
            <a:extLst xmlns:a="http://schemas.openxmlformats.org/drawingml/2006/main">
              <a:ext uri="{FF2B5EF4-FFF2-40B4-BE49-F238E27FC236}">
                <a16:creationId xmlns:a16="http://schemas.microsoft.com/office/drawing/2014/main" id="{24D41782-A406-4853-81D0-D7E0A9E20E9F}"/>
              </a:ext>
            </a:extLst>
          </p:cNvPr>
          <p:cNvSpPr>
            <a:spLocks xmlns:a="http://schemas.openxmlformats.org/drawingml/2006/main" noGrp="1"/>
          </p:cNvSpPr>
          <p:nvPr/>
        </p:nvSpPr>
        <p:spPr>
          <a:xfrm xmlns:a="http://schemas.openxmlformats.org/drawingml/2006/main">
            <a:off x="812864" y="1409700"/>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Evaluate on your code while keeping existing review and merge controls.</a:t>
            </a:r>
          </a:p>
        </p:txBody>
      </p:sp>
      <p:sp>
        <p:nvSpPr>
          <p:cNvPr id="2003" name="conference footer">
            <a:extLst xmlns:a="http://schemas.openxmlformats.org/drawingml/2006/main">
              <a:ext uri="{FF2B5EF4-FFF2-40B4-BE49-F238E27FC236}">
                <a16:creationId xmlns:a16="http://schemas.microsoft.com/office/drawing/2014/main" id="{172AE866-64DC-495E-91B8-F488BB92A4F5}"/>
              </a:ext>
            </a:extLst>
          </p:cNvPr>
          <p:cNvSpPr>
            <a:spLocks xmlns:a="http://schemas.openxmlformats.org/drawingml/2006/main" noGrp="1"/>
          </p:cNvSpPr>
          <p:nvPr/>
        </p:nvSpPr>
        <p:spPr>
          <a:xfrm xmlns:a="http://schemas.openxmlformats.org/drawingml/2006/main">
            <a:off x="7258050" y="6448425"/>
            <a:ext cx="3333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050" b="0">
                <a:solidFill>
                  <a:srgbClr val="8A8A8A"/>
                </a:solidFill>
              </a:defRPr>
            </a:defPPr>
            <a:lvl1pPr algn="l">
              <a:buNone/>
              <a:defRPr sz="1050" b="0">
                <a:solidFill>
                  <a:srgbClr val="8A8A8A"/>
                </a:solidFill>
              </a:defRPr>
            </a:lvl1pPr>
            <a:lvl2pPr algn="l">
              <a:buNone/>
              <a:defRPr sz="1050" b="0">
                <a:solidFill>
                  <a:srgbClr val="8A8A8A"/>
                </a:solidFill>
              </a:defRPr>
            </a:lvl2pPr>
            <a:lvl3pPr algn="l">
              <a:buNone/>
              <a:defRPr sz="1050" b="0">
                <a:solidFill>
                  <a:srgbClr val="8A8A8A"/>
                </a:solidFill>
              </a:defRPr>
            </a:lvl3pPr>
            <a:lvl4pPr algn="l">
              <a:buNone/>
              <a:defRPr sz="1050" b="0">
                <a:solidFill>
                  <a:srgbClr val="8A8A8A"/>
                </a:solidFill>
              </a:defRPr>
            </a:lvl4pPr>
            <a:lvl5pPr algn="l">
              <a:buNone/>
              <a:defRPr sz="1050" b="0">
                <a:solidFill>
                  <a:srgbClr val="8A8A8A"/>
                </a:solidFill>
              </a:defRPr>
            </a:lvl5pPr>
            <a:lvl6pPr algn="l">
              <a:buNone/>
              <a:defRPr sz="1050" b="0">
                <a:solidFill>
                  <a:srgbClr val="8A8A8A"/>
                </a:solidFill>
              </a:defRPr>
            </a:lvl6pPr>
            <a:lvl7pPr algn="l">
              <a:buNone/>
              <a:defRPr sz="1050" b="0">
                <a:solidFill>
                  <a:srgbClr val="8A8A8A"/>
                </a:solidFill>
              </a:defRPr>
            </a:lvl7pPr>
            <a:lvl8pPr algn="l">
              <a:buNone/>
              <a:defRPr sz="1050" b="0">
                <a:solidFill>
                  <a:srgbClr val="8A8A8A"/>
                </a:solidFill>
              </a:defRPr>
            </a:lvl8pPr>
            <a:lvl9pPr algn="l">
              <a:buNone/>
              <a:defRPr sz="1050" b="0">
                <a:solidFill>
                  <a:srgbClr val="8A8A8A"/>
                </a:solidFill>
              </a:defRPr>
            </a:lvl9pPr>
          </a:lstStyle>
          <a:p xmlns:a="http://schemas.openxmlformats.org/drawingml/2006/main">
            <a:pPr algn="l">
              <a:buNone/>
              <a:defRPr sz="1050" b="0">
                <a:solidFill>
                  <a:srgbClr val="8A8A8A"/>
                </a:solidFill>
              </a:defRPr>
            </a:pPr>
            <a:r>
              <a:rPr sz="1050" b="0">
                <a:solidFill>
                  <a:srgbClr val="8A8A8A"/>
                </a:solidFill>
              </a:rPr>
              <a:t>ISC2.org/Congress | #ISC2Congress</a:t>
            </a:r>
          </a:p>
        </p:txBody>
      </p:sp>
      <p:sp>
        <p:nvSpPr>
          <p:cNvPr id="2004" name="pilot week 0">
            <a:extLst xmlns:a="http://schemas.openxmlformats.org/drawingml/2006/main">
              <a:ext uri="{FF2B5EF4-FFF2-40B4-BE49-F238E27FC236}">
                <a16:creationId xmlns:a16="http://schemas.microsoft.com/office/drawing/2014/main" id="{209133F4-8CB0-4544-9A59-42C2ABE24F9D}"/>
              </a:ext>
            </a:extLst>
          </p:cNvPr>
          <p:cNvSpPr>
            <a:spLocks xmlns:a="http://schemas.openxmlformats.org/drawingml/2006/main" noGrp="1"/>
          </p:cNvSpPr>
          <p:nvPr/>
        </p:nvSpPr>
        <p:spPr>
          <a:xfrm xmlns:a="http://schemas.openxmlformats.org/drawingml/2006/main">
            <a:off x="812864" y="2352675"/>
            <a:ext cx="2286000" cy="2105025"/>
          </a:xfrm>
          <a:prstGeom xmlns:a="http://schemas.openxmlformats.org/drawingml/2006/main" prst="roundRect">
            <a:avLst>
              <a:gd name="adj" fmla="val 3620"/>
            </a:avLst>
          </a:prstGeom>
          <a:solidFill xmlns:a="http://schemas.openxmlformats.org/drawingml/2006/main">
            <a:srgbClr val="F1F6ED"/>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5" name="week number 0">
            <a:extLst xmlns:a="http://schemas.openxmlformats.org/drawingml/2006/main">
              <a:ext uri="{FF2B5EF4-FFF2-40B4-BE49-F238E27FC236}">
                <a16:creationId xmlns:a16="http://schemas.microsoft.com/office/drawing/2014/main" id="{F78E1F96-5FE6-4DB0-A342-7E9D4DBE1ECE}"/>
              </a:ext>
            </a:extLst>
          </p:cNvPr>
          <p:cNvSpPr>
            <a:spLocks xmlns:a="http://schemas.openxmlformats.org/drawingml/2006/main" noGrp="1"/>
          </p:cNvSpPr>
          <p:nvPr/>
        </p:nvSpPr>
        <p:spPr>
          <a:xfrm xmlns:a="http://schemas.openxmlformats.org/drawingml/2006/main">
            <a:off x="984314" y="2505075"/>
            <a:ext cx="1943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61666B"/>
                </a:solidFill>
              </a:defRPr>
            </a:defPPr>
            <a:lvl1pPr algn="l">
              <a:buNone/>
              <a:defRPr sz="1350" b="1">
                <a:solidFill>
                  <a:srgbClr val="61666B"/>
                </a:solidFill>
              </a:defRPr>
            </a:lvl1pPr>
            <a:lvl2pPr algn="l">
              <a:buNone/>
              <a:defRPr sz="1350" b="1">
                <a:solidFill>
                  <a:srgbClr val="61666B"/>
                </a:solidFill>
              </a:defRPr>
            </a:lvl2pPr>
            <a:lvl3pPr algn="l">
              <a:buNone/>
              <a:defRPr sz="1350" b="1">
                <a:solidFill>
                  <a:srgbClr val="61666B"/>
                </a:solidFill>
              </a:defRPr>
            </a:lvl3pPr>
            <a:lvl4pPr algn="l">
              <a:buNone/>
              <a:defRPr sz="1350" b="1">
                <a:solidFill>
                  <a:srgbClr val="61666B"/>
                </a:solidFill>
              </a:defRPr>
            </a:lvl4pPr>
            <a:lvl5pPr algn="l">
              <a:buNone/>
              <a:defRPr sz="1350" b="1">
                <a:solidFill>
                  <a:srgbClr val="61666B"/>
                </a:solidFill>
              </a:defRPr>
            </a:lvl5pPr>
            <a:lvl6pPr algn="l">
              <a:buNone/>
              <a:defRPr sz="1350" b="1">
                <a:solidFill>
                  <a:srgbClr val="61666B"/>
                </a:solidFill>
              </a:defRPr>
            </a:lvl6pPr>
            <a:lvl7pPr algn="l">
              <a:buNone/>
              <a:defRPr sz="1350" b="1">
                <a:solidFill>
                  <a:srgbClr val="61666B"/>
                </a:solidFill>
              </a:defRPr>
            </a:lvl7pPr>
            <a:lvl8pPr algn="l">
              <a:buNone/>
              <a:defRPr sz="1350" b="1">
                <a:solidFill>
                  <a:srgbClr val="61666B"/>
                </a:solidFill>
              </a:defRPr>
            </a:lvl8pPr>
            <a:lvl9pPr algn="l">
              <a:buNone/>
              <a:defRPr sz="1350" b="1">
                <a:solidFill>
                  <a:srgbClr val="61666B"/>
                </a:solidFill>
              </a:defRPr>
            </a:lvl9pPr>
          </a:lstStyle>
          <a:p xmlns:a="http://schemas.openxmlformats.org/drawingml/2006/main">
            <a:pPr algn="l">
              <a:buNone/>
              <a:defRPr sz="1350" b="1">
                <a:solidFill>
                  <a:srgbClr val="61666B"/>
                </a:solidFill>
              </a:defRPr>
            </a:pPr>
            <a:r>
              <a:rPr sz="1350" b="1">
                <a:solidFill>
                  <a:srgbClr val="61666B"/>
                </a:solidFill>
              </a:rPr>
              <a:t>WEEK 1</a:t>
            </a:r>
          </a:p>
        </p:txBody>
      </p:sp>
      <p:sp>
        <p:nvSpPr>
          <p:cNvPr id="2006" name="week title 0">
            <a:extLst xmlns:a="http://schemas.openxmlformats.org/drawingml/2006/main">
              <a:ext uri="{FF2B5EF4-FFF2-40B4-BE49-F238E27FC236}">
                <a16:creationId xmlns:a16="http://schemas.microsoft.com/office/drawing/2014/main" id="{93C90630-EF29-431B-89AB-0552751BE519}"/>
              </a:ext>
            </a:extLst>
          </p:cNvPr>
          <p:cNvSpPr>
            <a:spLocks xmlns:a="http://schemas.openxmlformats.org/drawingml/2006/main" noGrp="1"/>
          </p:cNvSpPr>
          <p:nvPr/>
        </p:nvSpPr>
        <p:spPr>
          <a:xfrm xmlns:a="http://schemas.openxmlformats.org/drawingml/2006/main">
            <a:off x="984314" y="29241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4F8734"/>
                </a:solidFill>
              </a:defRPr>
            </a:defPPr>
            <a:lvl1pPr algn="l">
              <a:buNone/>
              <a:defRPr sz="2175" b="1">
                <a:solidFill>
                  <a:srgbClr val="4F8734"/>
                </a:solidFill>
              </a:defRPr>
            </a:lvl1pPr>
            <a:lvl2pPr algn="l">
              <a:buNone/>
              <a:defRPr sz="2175" b="1">
                <a:solidFill>
                  <a:srgbClr val="4F8734"/>
                </a:solidFill>
              </a:defRPr>
            </a:lvl2pPr>
            <a:lvl3pPr algn="l">
              <a:buNone/>
              <a:defRPr sz="2175" b="1">
                <a:solidFill>
                  <a:srgbClr val="4F8734"/>
                </a:solidFill>
              </a:defRPr>
            </a:lvl3pPr>
            <a:lvl4pPr algn="l">
              <a:buNone/>
              <a:defRPr sz="2175" b="1">
                <a:solidFill>
                  <a:srgbClr val="4F8734"/>
                </a:solidFill>
              </a:defRPr>
            </a:lvl4pPr>
            <a:lvl5pPr algn="l">
              <a:buNone/>
              <a:defRPr sz="2175" b="1">
                <a:solidFill>
                  <a:srgbClr val="4F8734"/>
                </a:solidFill>
              </a:defRPr>
            </a:lvl5pPr>
            <a:lvl6pPr algn="l">
              <a:buNone/>
              <a:defRPr sz="2175" b="1">
                <a:solidFill>
                  <a:srgbClr val="4F8734"/>
                </a:solidFill>
              </a:defRPr>
            </a:lvl6pPr>
            <a:lvl7pPr algn="l">
              <a:buNone/>
              <a:defRPr sz="2175" b="1">
                <a:solidFill>
                  <a:srgbClr val="4F8734"/>
                </a:solidFill>
              </a:defRPr>
            </a:lvl7pPr>
            <a:lvl8pPr algn="l">
              <a:buNone/>
              <a:defRPr sz="2175" b="1">
                <a:solidFill>
                  <a:srgbClr val="4F8734"/>
                </a:solidFill>
              </a:defRPr>
            </a:lvl8pPr>
            <a:lvl9pPr algn="l">
              <a:buNone/>
              <a:defRPr sz="2175" b="1">
                <a:solidFill>
                  <a:srgbClr val="4F8734"/>
                </a:solidFill>
              </a:defRPr>
            </a:lvl9pPr>
          </a:lstStyle>
          <a:p xmlns:a="http://schemas.openxmlformats.org/drawingml/2006/main">
            <a:pPr algn="l">
              <a:buNone/>
              <a:defRPr sz="2175" b="1">
                <a:solidFill>
                  <a:srgbClr val="4F8734"/>
                </a:solidFill>
              </a:defRPr>
            </a:pPr>
            <a:r>
              <a:rPr sz="2175" b="1">
                <a:solidFill>
                  <a:srgbClr val="4F8734"/>
                </a:solidFill>
              </a:rPr>
              <a:t>Baseline</a:t>
            </a:r>
          </a:p>
        </p:txBody>
      </p:sp>
      <p:sp>
        <p:nvSpPr>
          <p:cNvPr id="2007" name="week action 0">
            <a:extLst xmlns:a="http://schemas.openxmlformats.org/drawingml/2006/main">
              <a:ext uri="{FF2B5EF4-FFF2-40B4-BE49-F238E27FC236}">
                <a16:creationId xmlns:a16="http://schemas.microsoft.com/office/drawing/2014/main" id="{26A2C8C6-C81A-4CA0-8C12-4B62279680D6}"/>
              </a:ext>
            </a:extLst>
          </p:cNvPr>
          <p:cNvSpPr>
            <a:spLocks xmlns:a="http://schemas.openxmlformats.org/drawingml/2006/main" noGrp="1"/>
          </p:cNvSpPr>
          <p:nvPr/>
        </p:nvSpPr>
        <p:spPr>
          <a:xfrm xmlns:a="http://schemas.openxmlformats.org/drawingml/2006/main">
            <a:off x="984314" y="3514725"/>
            <a:ext cx="1943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303238"/>
                </a:solidFill>
              </a:defRPr>
            </a:defPPr>
            <a:lvl1pPr algn="l">
              <a:buNone/>
              <a:defRPr sz="1650" b="0">
                <a:solidFill>
                  <a:srgbClr val="303238"/>
                </a:solidFill>
              </a:defRPr>
            </a:lvl1pPr>
            <a:lvl2pPr algn="l">
              <a:buNone/>
              <a:defRPr sz="1650" b="0">
                <a:solidFill>
                  <a:srgbClr val="303238"/>
                </a:solidFill>
              </a:defRPr>
            </a:lvl2pPr>
            <a:lvl3pPr algn="l">
              <a:buNone/>
              <a:defRPr sz="1650" b="0">
                <a:solidFill>
                  <a:srgbClr val="303238"/>
                </a:solidFill>
              </a:defRPr>
            </a:lvl3pPr>
            <a:lvl4pPr algn="l">
              <a:buNone/>
              <a:defRPr sz="1650" b="0">
                <a:solidFill>
                  <a:srgbClr val="303238"/>
                </a:solidFill>
              </a:defRPr>
            </a:lvl4pPr>
            <a:lvl5pPr algn="l">
              <a:buNone/>
              <a:defRPr sz="1650" b="0">
                <a:solidFill>
                  <a:srgbClr val="303238"/>
                </a:solidFill>
              </a:defRPr>
            </a:lvl5pPr>
            <a:lvl6pPr algn="l">
              <a:buNone/>
              <a:defRPr sz="1650" b="0">
                <a:solidFill>
                  <a:srgbClr val="303238"/>
                </a:solidFill>
              </a:defRPr>
            </a:lvl6pPr>
            <a:lvl7pPr algn="l">
              <a:buNone/>
              <a:defRPr sz="1650" b="0">
                <a:solidFill>
                  <a:srgbClr val="303238"/>
                </a:solidFill>
              </a:defRPr>
            </a:lvl7pPr>
            <a:lvl8pPr algn="l">
              <a:buNone/>
              <a:defRPr sz="1650" b="0">
                <a:solidFill>
                  <a:srgbClr val="303238"/>
                </a:solidFill>
              </a:defRPr>
            </a:lvl8pPr>
            <a:lvl9pPr algn="l">
              <a:buNone/>
              <a:defRPr sz="1650" b="0">
                <a:solidFill>
                  <a:srgbClr val="303238"/>
                </a:solidFill>
              </a:defRPr>
            </a:lvl9pPr>
          </a:lstStyle>
          <a:p xmlns:a="http://schemas.openxmlformats.org/drawingml/2006/main">
            <a:pPr algn="l">
              <a:buNone/>
              <a:defRPr sz="1650" b="0">
                <a:solidFill>
                  <a:srgbClr val="303238"/>
                </a:solidFill>
              </a:defRPr>
            </a:pPr>
            <a:r>
              <a:rPr sz="1650" b="0">
                <a:solidFill>
                  <a:srgbClr val="303238"/>
                </a:solidFill>
              </a:rPr>
              <a:t>Freeze the workflow.</a:t>
            </a:r>
          </a:p>
          <a:p xmlns:a="http://schemas.openxmlformats.org/drawingml/2006/main">
            <a:pPr algn="l">
              <a:buNone/>
              <a:defRPr sz="1650" b="0">
                <a:solidFill>
                  <a:srgbClr val="303238"/>
                </a:solidFill>
              </a:defRPr>
            </a:pPr>
            <a:r>
              <a:rPr sz="1650" b="0">
                <a:solidFill>
                  <a:srgbClr val="303238"/>
                </a:solidFill>
              </a:rPr>
              <a:t>Set success criteria.</a:t>
            </a:r>
          </a:p>
        </p:txBody>
      </p:sp>
      <p:sp>
        <p:nvSpPr>
          <p:cNvPr id="2008" name="pilot week 1">
            <a:extLst xmlns:a="http://schemas.openxmlformats.org/drawingml/2006/main">
              <a:ext uri="{FF2B5EF4-FFF2-40B4-BE49-F238E27FC236}">
                <a16:creationId xmlns:a16="http://schemas.microsoft.com/office/drawing/2014/main" id="{1518A734-AAA2-494D-8BDA-9A7BCD374C4A}"/>
              </a:ext>
            </a:extLst>
          </p:cNvPr>
          <p:cNvSpPr>
            <a:spLocks xmlns:a="http://schemas.openxmlformats.org/drawingml/2006/main" noGrp="1"/>
          </p:cNvSpPr>
          <p:nvPr/>
        </p:nvSpPr>
        <p:spPr>
          <a:xfrm xmlns:a="http://schemas.openxmlformats.org/drawingml/2006/main">
            <a:off x="3498914" y="2352675"/>
            <a:ext cx="2286000" cy="2105025"/>
          </a:xfrm>
          <a:prstGeom xmlns:a="http://schemas.openxmlformats.org/drawingml/2006/main" prst="roundRect">
            <a:avLst>
              <a:gd name="adj" fmla="val 3620"/>
            </a:avLst>
          </a:prstGeom>
          <a:solidFill xmlns:a="http://schemas.openxmlformats.org/drawingml/2006/main">
            <a:srgbClr val="F0F5F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09" name="week number 1">
            <a:extLst xmlns:a="http://schemas.openxmlformats.org/drawingml/2006/main">
              <a:ext uri="{FF2B5EF4-FFF2-40B4-BE49-F238E27FC236}">
                <a16:creationId xmlns:a16="http://schemas.microsoft.com/office/drawing/2014/main" id="{A418D082-376D-47C3-8374-F3AAFF8B17C3}"/>
              </a:ext>
            </a:extLst>
          </p:cNvPr>
          <p:cNvSpPr>
            <a:spLocks xmlns:a="http://schemas.openxmlformats.org/drawingml/2006/main" noGrp="1"/>
          </p:cNvSpPr>
          <p:nvPr/>
        </p:nvSpPr>
        <p:spPr>
          <a:xfrm xmlns:a="http://schemas.openxmlformats.org/drawingml/2006/main">
            <a:off x="3670364" y="2505075"/>
            <a:ext cx="1943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61666B"/>
                </a:solidFill>
              </a:defRPr>
            </a:defPPr>
            <a:lvl1pPr algn="l">
              <a:buNone/>
              <a:defRPr sz="1350" b="1">
                <a:solidFill>
                  <a:srgbClr val="61666B"/>
                </a:solidFill>
              </a:defRPr>
            </a:lvl1pPr>
            <a:lvl2pPr algn="l">
              <a:buNone/>
              <a:defRPr sz="1350" b="1">
                <a:solidFill>
                  <a:srgbClr val="61666B"/>
                </a:solidFill>
              </a:defRPr>
            </a:lvl2pPr>
            <a:lvl3pPr algn="l">
              <a:buNone/>
              <a:defRPr sz="1350" b="1">
                <a:solidFill>
                  <a:srgbClr val="61666B"/>
                </a:solidFill>
              </a:defRPr>
            </a:lvl3pPr>
            <a:lvl4pPr algn="l">
              <a:buNone/>
              <a:defRPr sz="1350" b="1">
                <a:solidFill>
                  <a:srgbClr val="61666B"/>
                </a:solidFill>
              </a:defRPr>
            </a:lvl4pPr>
            <a:lvl5pPr algn="l">
              <a:buNone/>
              <a:defRPr sz="1350" b="1">
                <a:solidFill>
                  <a:srgbClr val="61666B"/>
                </a:solidFill>
              </a:defRPr>
            </a:lvl5pPr>
            <a:lvl6pPr algn="l">
              <a:buNone/>
              <a:defRPr sz="1350" b="1">
                <a:solidFill>
                  <a:srgbClr val="61666B"/>
                </a:solidFill>
              </a:defRPr>
            </a:lvl6pPr>
            <a:lvl7pPr algn="l">
              <a:buNone/>
              <a:defRPr sz="1350" b="1">
                <a:solidFill>
                  <a:srgbClr val="61666B"/>
                </a:solidFill>
              </a:defRPr>
            </a:lvl7pPr>
            <a:lvl8pPr algn="l">
              <a:buNone/>
              <a:defRPr sz="1350" b="1">
                <a:solidFill>
                  <a:srgbClr val="61666B"/>
                </a:solidFill>
              </a:defRPr>
            </a:lvl8pPr>
            <a:lvl9pPr algn="l">
              <a:buNone/>
              <a:defRPr sz="1350" b="1">
                <a:solidFill>
                  <a:srgbClr val="61666B"/>
                </a:solidFill>
              </a:defRPr>
            </a:lvl9pPr>
          </a:lstStyle>
          <a:p xmlns:a="http://schemas.openxmlformats.org/drawingml/2006/main">
            <a:pPr algn="l">
              <a:buNone/>
              <a:defRPr sz="1350" b="1">
                <a:solidFill>
                  <a:srgbClr val="61666B"/>
                </a:solidFill>
              </a:defRPr>
            </a:pPr>
            <a:r>
              <a:rPr sz="1350" b="1">
                <a:solidFill>
                  <a:srgbClr val="61666B"/>
                </a:solidFill>
              </a:rPr>
              <a:t>WEEK 2</a:t>
            </a:r>
          </a:p>
        </p:txBody>
      </p:sp>
      <p:sp>
        <p:nvSpPr>
          <p:cNvPr id="2010" name="week title 1">
            <a:extLst xmlns:a="http://schemas.openxmlformats.org/drawingml/2006/main">
              <a:ext uri="{FF2B5EF4-FFF2-40B4-BE49-F238E27FC236}">
                <a16:creationId xmlns:a16="http://schemas.microsoft.com/office/drawing/2014/main" id="{E8903613-D9E1-438E-B28C-AF74F1D315AD}"/>
              </a:ext>
            </a:extLst>
          </p:cNvPr>
          <p:cNvSpPr>
            <a:spLocks xmlns:a="http://schemas.openxmlformats.org/drawingml/2006/main" noGrp="1"/>
          </p:cNvSpPr>
          <p:nvPr/>
        </p:nvSpPr>
        <p:spPr>
          <a:xfrm xmlns:a="http://schemas.openxmlformats.org/drawingml/2006/main">
            <a:off x="3670364" y="29241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0086AC"/>
                </a:solidFill>
              </a:defRPr>
            </a:defPPr>
            <a:lvl1pPr algn="l">
              <a:buNone/>
              <a:defRPr sz="2175" b="1">
                <a:solidFill>
                  <a:srgbClr val="0086AC"/>
                </a:solidFill>
              </a:defRPr>
            </a:lvl1pPr>
            <a:lvl2pPr algn="l">
              <a:buNone/>
              <a:defRPr sz="2175" b="1">
                <a:solidFill>
                  <a:srgbClr val="0086AC"/>
                </a:solidFill>
              </a:defRPr>
            </a:lvl2pPr>
            <a:lvl3pPr algn="l">
              <a:buNone/>
              <a:defRPr sz="2175" b="1">
                <a:solidFill>
                  <a:srgbClr val="0086AC"/>
                </a:solidFill>
              </a:defRPr>
            </a:lvl3pPr>
            <a:lvl4pPr algn="l">
              <a:buNone/>
              <a:defRPr sz="2175" b="1">
                <a:solidFill>
                  <a:srgbClr val="0086AC"/>
                </a:solidFill>
              </a:defRPr>
            </a:lvl4pPr>
            <a:lvl5pPr algn="l">
              <a:buNone/>
              <a:defRPr sz="2175" b="1">
                <a:solidFill>
                  <a:srgbClr val="0086AC"/>
                </a:solidFill>
              </a:defRPr>
            </a:lvl5pPr>
            <a:lvl6pPr algn="l">
              <a:buNone/>
              <a:defRPr sz="2175" b="1">
                <a:solidFill>
                  <a:srgbClr val="0086AC"/>
                </a:solidFill>
              </a:defRPr>
            </a:lvl6pPr>
            <a:lvl7pPr algn="l">
              <a:buNone/>
              <a:defRPr sz="2175" b="1">
                <a:solidFill>
                  <a:srgbClr val="0086AC"/>
                </a:solidFill>
              </a:defRPr>
            </a:lvl7pPr>
            <a:lvl8pPr algn="l">
              <a:buNone/>
              <a:defRPr sz="2175" b="1">
                <a:solidFill>
                  <a:srgbClr val="0086AC"/>
                </a:solidFill>
              </a:defRPr>
            </a:lvl8pPr>
            <a:lvl9pPr algn="l">
              <a:buNone/>
              <a:defRPr sz="2175" b="1">
                <a:solidFill>
                  <a:srgbClr val="0086AC"/>
                </a:solidFill>
              </a:defRPr>
            </a:lvl9pPr>
          </a:lstStyle>
          <a:p xmlns:a="http://schemas.openxmlformats.org/drawingml/2006/main">
            <a:pPr algn="l">
              <a:buNone/>
              <a:defRPr sz="2175" b="1">
                <a:solidFill>
                  <a:srgbClr val="0086AC"/>
                </a:solidFill>
              </a:defRPr>
            </a:pPr>
            <a:r>
              <a:rPr sz="2175" b="1">
                <a:solidFill>
                  <a:srgbClr val="0086AC"/>
                </a:solidFill>
              </a:rPr>
              <a:t>Shadow</a:t>
            </a:r>
          </a:p>
        </p:txBody>
      </p:sp>
      <p:sp>
        <p:nvSpPr>
          <p:cNvPr id="2011" name="week action 1">
            <a:extLst xmlns:a="http://schemas.openxmlformats.org/drawingml/2006/main">
              <a:ext uri="{FF2B5EF4-FFF2-40B4-BE49-F238E27FC236}">
                <a16:creationId xmlns:a16="http://schemas.microsoft.com/office/drawing/2014/main" id="{8F407FA8-A83A-4524-A712-13694DEF6267}"/>
              </a:ext>
            </a:extLst>
          </p:cNvPr>
          <p:cNvSpPr>
            <a:spLocks xmlns:a="http://schemas.openxmlformats.org/drawingml/2006/main" noGrp="1"/>
          </p:cNvSpPr>
          <p:nvPr/>
        </p:nvSpPr>
        <p:spPr>
          <a:xfrm xmlns:a="http://schemas.openxmlformats.org/drawingml/2006/main">
            <a:off x="3670364" y="3514725"/>
            <a:ext cx="1943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303238"/>
                </a:solidFill>
              </a:defRPr>
            </a:defPPr>
            <a:lvl1pPr algn="l">
              <a:buNone/>
              <a:defRPr sz="1650" b="0">
                <a:solidFill>
                  <a:srgbClr val="303238"/>
                </a:solidFill>
              </a:defRPr>
            </a:lvl1pPr>
            <a:lvl2pPr algn="l">
              <a:buNone/>
              <a:defRPr sz="1650" b="0">
                <a:solidFill>
                  <a:srgbClr val="303238"/>
                </a:solidFill>
              </a:defRPr>
            </a:lvl2pPr>
            <a:lvl3pPr algn="l">
              <a:buNone/>
              <a:defRPr sz="1650" b="0">
                <a:solidFill>
                  <a:srgbClr val="303238"/>
                </a:solidFill>
              </a:defRPr>
            </a:lvl3pPr>
            <a:lvl4pPr algn="l">
              <a:buNone/>
              <a:defRPr sz="1650" b="0">
                <a:solidFill>
                  <a:srgbClr val="303238"/>
                </a:solidFill>
              </a:defRPr>
            </a:lvl4pPr>
            <a:lvl5pPr algn="l">
              <a:buNone/>
              <a:defRPr sz="1650" b="0">
                <a:solidFill>
                  <a:srgbClr val="303238"/>
                </a:solidFill>
              </a:defRPr>
            </a:lvl5pPr>
            <a:lvl6pPr algn="l">
              <a:buNone/>
              <a:defRPr sz="1650" b="0">
                <a:solidFill>
                  <a:srgbClr val="303238"/>
                </a:solidFill>
              </a:defRPr>
            </a:lvl6pPr>
            <a:lvl7pPr algn="l">
              <a:buNone/>
              <a:defRPr sz="1650" b="0">
                <a:solidFill>
                  <a:srgbClr val="303238"/>
                </a:solidFill>
              </a:defRPr>
            </a:lvl7pPr>
            <a:lvl8pPr algn="l">
              <a:buNone/>
              <a:defRPr sz="1650" b="0">
                <a:solidFill>
                  <a:srgbClr val="303238"/>
                </a:solidFill>
              </a:defRPr>
            </a:lvl8pPr>
            <a:lvl9pPr algn="l">
              <a:buNone/>
              <a:defRPr sz="1650" b="0">
                <a:solidFill>
                  <a:srgbClr val="303238"/>
                </a:solidFill>
              </a:defRPr>
            </a:lvl9pPr>
          </a:lstStyle>
          <a:p xmlns:a="http://schemas.openxmlformats.org/drawingml/2006/main">
            <a:pPr algn="l">
              <a:buNone/>
              <a:defRPr sz="1650" b="0">
                <a:solidFill>
                  <a:srgbClr val="303238"/>
                </a:solidFill>
              </a:defRPr>
            </a:pPr>
            <a:r>
              <a:rPr sz="1650" b="0">
                <a:solidFill>
                  <a:srgbClr val="303238"/>
                </a:solidFill>
              </a:rPr>
              <a:t>Review held-out PRs.</a:t>
            </a:r>
          </a:p>
          <a:p xmlns:a="http://schemas.openxmlformats.org/drawingml/2006/main">
            <a:pPr algn="l">
              <a:buNone/>
              <a:defRPr sz="1650" b="0">
                <a:solidFill>
                  <a:srgbClr val="303238"/>
                </a:solidFill>
              </a:defRPr>
            </a:pPr>
            <a:r>
              <a:rPr sz="1650" b="0">
                <a:solidFill>
                  <a:srgbClr val="303238"/>
                </a:solidFill>
              </a:rPr>
              <a:t>Keep current gates.</a:t>
            </a:r>
          </a:p>
        </p:txBody>
      </p:sp>
      <p:sp>
        <p:nvSpPr>
          <p:cNvPr id="2012" name="pilot week 2">
            <a:extLst xmlns:a="http://schemas.openxmlformats.org/drawingml/2006/main">
              <a:ext uri="{FF2B5EF4-FFF2-40B4-BE49-F238E27FC236}">
                <a16:creationId xmlns:a16="http://schemas.microsoft.com/office/drawing/2014/main" id="{D31BE3A6-1643-4A5F-9FF0-C24BB05130D7}"/>
              </a:ext>
            </a:extLst>
          </p:cNvPr>
          <p:cNvSpPr>
            <a:spLocks xmlns:a="http://schemas.openxmlformats.org/drawingml/2006/main" noGrp="1"/>
          </p:cNvSpPr>
          <p:nvPr/>
        </p:nvSpPr>
        <p:spPr>
          <a:xfrm xmlns:a="http://schemas.openxmlformats.org/drawingml/2006/main">
            <a:off x="6184964" y="2352675"/>
            <a:ext cx="2286000" cy="2105025"/>
          </a:xfrm>
          <a:prstGeom xmlns:a="http://schemas.openxmlformats.org/drawingml/2006/main" prst="roundRect">
            <a:avLst>
              <a:gd name="adj" fmla="val 3620"/>
            </a:avLst>
          </a:prstGeom>
          <a:solidFill xmlns:a="http://schemas.openxmlformats.org/drawingml/2006/main">
            <a:srgbClr val="F1F6ED"/>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13" name="week number 2">
            <a:extLst xmlns:a="http://schemas.openxmlformats.org/drawingml/2006/main">
              <a:ext uri="{FF2B5EF4-FFF2-40B4-BE49-F238E27FC236}">
                <a16:creationId xmlns:a16="http://schemas.microsoft.com/office/drawing/2014/main" id="{E4AB83C1-3E6E-4BA1-873A-2DFEDBC3966B}"/>
              </a:ext>
            </a:extLst>
          </p:cNvPr>
          <p:cNvSpPr>
            <a:spLocks xmlns:a="http://schemas.openxmlformats.org/drawingml/2006/main" noGrp="1"/>
          </p:cNvSpPr>
          <p:nvPr/>
        </p:nvSpPr>
        <p:spPr>
          <a:xfrm xmlns:a="http://schemas.openxmlformats.org/drawingml/2006/main">
            <a:off x="6356414" y="2505075"/>
            <a:ext cx="1943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61666B"/>
                </a:solidFill>
              </a:defRPr>
            </a:defPPr>
            <a:lvl1pPr algn="l">
              <a:buNone/>
              <a:defRPr sz="1350" b="1">
                <a:solidFill>
                  <a:srgbClr val="61666B"/>
                </a:solidFill>
              </a:defRPr>
            </a:lvl1pPr>
            <a:lvl2pPr algn="l">
              <a:buNone/>
              <a:defRPr sz="1350" b="1">
                <a:solidFill>
                  <a:srgbClr val="61666B"/>
                </a:solidFill>
              </a:defRPr>
            </a:lvl2pPr>
            <a:lvl3pPr algn="l">
              <a:buNone/>
              <a:defRPr sz="1350" b="1">
                <a:solidFill>
                  <a:srgbClr val="61666B"/>
                </a:solidFill>
              </a:defRPr>
            </a:lvl3pPr>
            <a:lvl4pPr algn="l">
              <a:buNone/>
              <a:defRPr sz="1350" b="1">
                <a:solidFill>
                  <a:srgbClr val="61666B"/>
                </a:solidFill>
              </a:defRPr>
            </a:lvl4pPr>
            <a:lvl5pPr algn="l">
              <a:buNone/>
              <a:defRPr sz="1350" b="1">
                <a:solidFill>
                  <a:srgbClr val="61666B"/>
                </a:solidFill>
              </a:defRPr>
            </a:lvl5pPr>
            <a:lvl6pPr algn="l">
              <a:buNone/>
              <a:defRPr sz="1350" b="1">
                <a:solidFill>
                  <a:srgbClr val="61666B"/>
                </a:solidFill>
              </a:defRPr>
            </a:lvl6pPr>
            <a:lvl7pPr algn="l">
              <a:buNone/>
              <a:defRPr sz="1350" b="1">
                <a:solidFill>
                  <a:srgbClr val="61666B"/>
                </a:solidFill>
              </a:defRPr>
            </a:lvl7pPr>
            <a:lvl8pPr algn="l">
              <a:buNone/>
              <a:defRPr sz="1350" b="1">
                <a:solidFill>
                  <a:srgbClr val="61666B"/>
                </a:solidFill>
              </a:defRPr>
            </a:lvl8pPr>
            <a:lvl9pPr algn="l">
              <a:buNone/>
              <a:defRPr sz="1350" b="1">
                <a:solidFill>
                  <a:srgbClr val="61666B"/>
                </a:solidFill>
              </a:defRPr>
            </a:lvl9pPr>
          </a:lstStyle>
          <a:p xmlns:a="http://schemas.openxmlformats.org/drawingml/2006/main">
            <a:pPr algn="l">
              <a:buNone/>
              <a:defRPr sz="1350" b="1">
                <a:solidFill>
                  <a:srgbClr val="61666B"/>
                </a:solidFill>
              </a:defRPr>
            </a:pPr>
            <a:r>
              <a:rPr sz="1350" b="1">
                <a:solidFill>
                  <a:srgbClr val="61666B"/>
                </a:solidFill>
              </a:rPr>
              <a:t>WEEK 3</a:t>
            </a:r>
          </a:p>
        </p:txBody>
      </p:sp>
      <p:sp>
        <p:nvSpPr>
          <p:cNvPr id="2014" name="week title 2">
            <a:extLst xmlns:a="http://schemas.openxmlformats.org/drawingml/2006/main">
              <a:ext uri="{FF2B5EF4-FFF2-40B4-BE49-F238E27FC236}">
                <a16:creationId xmlns:a16="http://schemas.microsoft.com/office/drawing/2014/main" id="{A6AB8A91-13F3-475A-B14B-152F842B748B}"/>
              </a:ext>
            </a:extLst>
          </p:cNvPr>
          <p:cNvSpPr>
            <a:spLocks xmlns:a="http://schemas.openxmlformats.org/drawingml/2006/main" noGrp="1"/>
          </p:cNvSpPr>
          <p:nvPr/>
        </p:nvSpPr>
        <p:spPr>
          <a:xfrm xmlns:a="http://schemas.openxmlformats.org/drawingml/2006/main">
            <a:off x="6356414" y="29241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4F8734"/>
                </a:solidFill>
              </a:defRPr>
            </a:defPPr>
            <a:lvl1pPr algn="l">
              <a:buNone/>
              <a:defRPr sz="2175" b="1">
                <a:solidFill>
                  <a:srgbClr val="4F8734"/>
                </a:solidFill>
              </a:defRPr>
            </a:lvl1pPr>
            <a:lvl2pPr algn="l">
              <a:buNone/>
              <a:defRPr sz="2175" b="1">
                <a:solidFill>
                  <a:srgbClr val="4F8734"/>
                </a:solidFill>
              </a:defRPr>
            </a:lvl2pPr>
            <a:lvl3pPr algn="l">
              <a:buNone/>
              <a:defRPr sz="2175" b="1">
                <a:solidFill>
                  <a:srgbClr val="4F8734"/>
                </a:solidFill>
              </a:defRPr>
            </a:lvl3pPr>
            <a:lvl4pPr algn="l">
              <a:buNone/>
              <a:defRPr sz="2175" b="1">
                <a:solidFill>
                  <a:srgbClr val="4F8734"/>
                </a:solidFill>
              </a:defRPr>
            </a:lvl4pPr>
            <a:lvl5pPr algn="l">
              <a:buNone/>
              <a:defRPr sz="2175" b="1">
                <a:solidFill>
                  <a:srgbClr val="4F8734"/>
                </a:solidFill>
              </a:defRPr>
            </a:lvl5pPr>
            <a:lvl6pPr algn="l">
              <a:buNone/>
              <a:defRPr sz="2175" b="1">
                <a:solidFill>
                  <a:srgbClr val="4F8734"/>
                </a:solidFill>
              </a:defRPr>
            </a:lvl6pPr>
            <a:lvl7pPr algn="l">
              <a:buNone/>
              <a:defRPr sz="2175" b="1">
                <a:solidFill>
                  <a:srgbClr val="4F8734"/>
                </a:solidFill>
              </a:defRPr>
            </a:lvl7pPr>
            <a:lvl8pPr algn="l">
              <a:buNone/>
              <a:defRPr sz="2175" b="1">
                <a:solidFill>
                  <a:srgbClr val="4F8734"/>
                </a:solidFill>
              </a:defRPr>
            </a:lvl8pPr>
            <a:lvl9pPr algn="l">
              <a:buNone/>
              <a:defRPr sz="2175" b="1">
                <a:solidFill>
                  <a:srgbClr val="4F8734"/>
                </a:solidFill>
              </a:defRPr>
            </a:lvl9pPr>
          </a:lstStyle>
          <a:p xmlns:a="http://schemas.openxmlformats.org/drawingml/2006/main">
            <a:pPr algn="l">
              <a:buNone/>
              <a:defRPr sz="2175" b="1">
                <a:solidFill>
                  <a:srgbClr val="4F8734"/>
                </a:solidFill>
              </a:defRPr>
            </a:pPr>
            <a:r>
              <a:rPr sz="2175" b="1">
                <a:solidFill>
                  <a:srgbClr val="4F8734"/>
                </a:solidFill>
              </a:rPr>
              <a:t>Challenge</a:t>
            </a:r>
          </a:p>
        </p:txBody>
      </p:sp>
      <p:sp>
        <p:nvSpPr>
          <p:cNvPr id="2015" name="week action 2">
            <a:extLst xmlns:a="http://schemas.openxmlformats.org/drawingml/2006/main">
              <a:ext uri="{FF2B5EF4-FFF2-40B4-BE49-F238E27FC236}">
                <a16:creationId xmlns:a16="http://schemas.microsoft.com/office/drawing/2014/main" id="{CE6EF3AC-199C-4EFF-84CE-62229D5E28A9}"/>
              </a:ext>
            </a:extLst>
          </p:cNvPr>
          <p:cNvSpPr>
            <a:spLocks xmlns:a="http://schemas.openxmlformats.org/drawingml/2006/main" noGrp="1"/>
          </p:cNvSpPr>
          <p:nvPr/>
        </p:nvSpPr>
        <p:spPr>
          <a:xfrm xmlns:a="http://schemas.openxmlformats.org/drawingml/2006/main">
            <a:off x="6356414" y="3514725"/>
            <a:ext cx="1943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303238"/>
                </a:solidFill>
              </a:defRPr>
            </a:defPPr>
            <a:lvl1pPr algn="l">
              <a:buNone/>
              <a:defRPr sz="1650" b="0">
                <a:solidFill>
                  <a:srgbClr val="303238"/>
                </a:solidFill>
              </a:defRPr>
            </a:lvl1pPr>
            <a:lvl2pPr algn="l">
              <a:buNone/>
              <a:defRPr sz="1650" b="0">
                <a:solidFill>
                  <a:srgbClr val="303238"/>
                </a:solidFill>
              </a:defRPr>
            </a:lvl2pPr>
            <a:lvl3pPr algn="l">
              <a:buNone/>
              <a:defRPr sz="1650" b="0">
                <a:solidFill>
                  <a:srgbClr val="303238"/>
                </a:solidFill>
              </a:defRPr>
            </a:lvl3pPr>
            <a:lvl4pPr algn="l">
              <a:buNone/>
              <a:defRPr sz="1650" b="0">
                <a:solidFill>
                  <a:srgbClr val="303238"/>
                </a:solidFill>
              </a:defRPr>
            </a:lvl4pPr>
            <a:lvl5pPr algn="l">
              <a:buNone/>
              <a:defRPr sz="1650" b="0">
                <a:solidFill>
                  <a:srgbClr val="303238"/>
                </a:solidFill>
              </a:defRPr>
            </a:lvl5pPr>
            <a:lvl6pPr algn="l">
              <a:buNone/>
              <a:defRPr sz="1650" b="0">
                <a:solidFill>
                  <a:srgbClr val="303238"/>
                </a:solidFill>
              </a:defRPr>
            </a:lvl6pPr>
            <a:lvl7pPr algn="l">
              <a:buNone/>
              <a:defRPr sz="1650" b="0">
                <a:solidFill>
                  <a:srgbClr val="303238"/>
                </a:solidFill>
              </a:defRPr>
            </a:lvl7pPr>
            <a:lvl8pPr algn="l">
              <a:buNone/>
              <a:defRPr sz="1650" b="0">
                <a:solidFill>
                  <a:srgbClr val="303238"/>
                </a:solidFill>
              </a:defRPr>
            </a:lvl8pPr>
            <a:lvl9pPr algn="l">
              <a:buNone/>
              <a:defRPr sz="1650" b="0">
                <a:solidFill>
                  <a:srgbClr val="303238"/>
                </a:solidFill>
              </a:defRPr>
            </a:lvl9pPr>
          </a:lstStyle>
          <a:p xmlns:a="http://schemas.openxmlformats.org/drawingml/2006/main">
            <a:pPr algn="l">
              <a:buNone/>
              <a:defRPr sz="1650" b="0">
                <a:solidFill>
                  <a:srgbClr val="303238"/>
                </a:solidFill>
              </a:defRPr>
            </a:pPr>
            <a:r>
              <a:rPr sz="1650" b="0">
                <a:solidFill>
                  <a:srgbClr val="303238"/>
                </a:solidFill>
              </a:rPr>
              <a:t>Challenge stale or</a:t>
            </a:r>
          </a:p>
          <a:p xmlns:a="http://schemas.openxmlformats.org/drawingml/2006/main">
            <a:pPr algn="l">
              <a:buNone/>
              <a:defRPr sz="1650" b="0">
                <a:solidFill>
                  <a:srgbClr val="303238"/>
                </a:solidFill>
              </a:defRPr>
            </a:pPr>
            <a:r>
              <a:rPr sz="1650" b="0">
                <a:solidFill>
                  <a:srgbClr val="303238"/>
                </a:solidFill>
              </a:rPr>
              <a:t>missing evidence.</a:t>
            </a:r>
          </a:p>
        </p:txBody>
      </p:sp>
      <p:sp>
        <p:nvSpPr>
          <p:cNvPr id="2016" name="pilot week 3">
            <a:extLst xmlns:a="http://schemas.openxmlformats.org/drawingml/2006/main">
              <a:ext uri="{FF2B5EF4-FFF2-40B4-BE49-F238E27FC236}">
                <a16:creationId xmlns:a16="http://schemas.microsoft.com/office/drawing/2014/main" id="{A719ECBC-0FDA-4025-AC13-29737B5166AB}"/>
              </a:ext>
            </a:extLst>
          </p:cNvPr>
          <p:cNvSpPr>
            <a:spLocks xmlns:a="http://schemas.openxmlformats.org/drawingml/2006/main" noGrp="1"/>
          </p:cNvSpPr>
          <p:nvPr/>
        </p:nvSpPr>
        <p:spPr>
          <a:xfrm xmlns:a="http://schemas.openxmlformats.org/drawingml/2006/main">
            <a:off x="8871014" y="2352675"/>
            <a:ext cx="2286000" cy="2105025"/>
          </a:xfrm>
          <a:prstGeom xmlns:a="http://schemas.openxmlformats.org/drawingml/2006/main" prst="roundRect">
            <a:avLst>
              <a:gd name="adj" fmla="val 3620"/>
            </a:avLst>
          </a:prstGeom>
          <a:solidFill xmlns:a="http://schemas.openxmlformats.org/drawingml/2006/main">
            <a:srgbClr val="F0F5F7"/>
          </a:solidFill>
          <a:ln xmlns:a="http://schemas.openxmlformats.org/drawingml/2006/main" w="9525">
            <a:solidFill>
              <a:srgbClr val="D7DDD4"/>
            </a:solidFill>
          </a:ln>
        </p:spPr>
        <p:txBody>
          <a:bodyPr xmlns:a="http://schemas.openxmlformats.org/drawingml/2006/main"/>
          <a:lstStyle xmlns:a="http://schemas.openxmlformats.org/drawingml/2006/main"/>
          <a:p xmlns:a="http://schemas.openxmlformats.org/drawingml/2006/main">
            <a:endParaRPr/>
          </a:p>
        </p:txBody>
      </p:sp>
      <p:sp>
        <p:nvSpPr>
          <p:cNvPr id="2017" name="week number 3">
            <a:extLst xmlns:a="http://schemas.openxmlformats.org/drawingml/2006/main">
              <a:ext uri="{FF2B5EF4-FFF2-40B4-BE49-F238E27FC236}">
                <a16:creationId xmlns:a16="http://schemas.microsoft.com/office/drawing/2014/main" id="{398686DD-43B2-4DF4-99BA-FF47142C7A83}"/>
              </a:ext>
            </a:extLst>
          </p:cNvPr>
          <p:cNvSpPr>
            <a:spLocks xmlns:a="http://schemas.openxmlformats.org/drawingml/2006/main" noGrp="1"/>
          </p:cNvSpPr>
          <p:nvPr/>
        </p:nvSpPr>
        <p:spPr>
          <a:xfrm xmlns:a="http://schemas.openxmlformats.org/drawingml/2006/main">
            <a:off x="9042464" y="2505075"/>
            <a:ext cx="19431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350" b="1">
                <a:solidFill>
                  <a:srgbClr val="61666B"/>
                </a:solidFill>
              </a:defRPr>
            </a:defPPr>
            <a:lvl1pPr algn="l">
              <a:buNone/>
              <a:defRPr sz="1350" b="1">
                <a:solidFill>
                  <a:srgbClr val="61666B"/>
                </a:solidFill>
              </a:defRPr>
            </a:lvl1pPr>
            <a:lvl2pPr algn="l">
              <a:buNone/>
              <a:defRPr sz="1350" b="1">
                <a:solidFill>
                  <a:srgbClr val="61666B"/>
                </a:solidFill>
              </a:defRPr>
            </a:lvl2pPr>
            <a:lvl3pPr algn="l">
              <a:buNone/>
              <a:defRPr sz="1350" b="1">
                <a:solidFill>
                  <a:srgbClr val="61666B"/>
                </a:solidFill>
              </a:defRPr>
            </a:lvl3pPr>
            <a:lvl4pPr algn="l">
              <a:buNone/>
              <a:defRPr sz="1350" b="1">
                <a:solidFill>
                  <a:srgbClr val="61666B"/>
                </a:solidFill>
              </a:defRPr>
            </a:lvl4pPr>
            <a:lvl5pPr algn="l">
              <a:buNone/>
              <a:defRPr sz="1350" b="1">
                <a:solidFill>
                  <a:srgbClr val="61666B"/>
                </a:solidFill>
              </a:defRPr>
            </a:lvl5pPr>
            <a:lvl6pPr algn="l">
              <a:buNone/>
              <a:defRPr sz="1350" b="1">
                <a:solidFill>
                  <a:srgbClr val="61666B"/>
                </a:solidFill>
              </a:defRPr>
            </a:lvl6pPr>
            <a:lvl7pPr algn="l">
              <a:buNone/>
              <a:defRPr sz="1350" b="1">
                <a:solidFill>
                  <a:srgbClr val="61666B"/>
                </a:solidFill>
              </a:defRPr>
            </a:lvl7pPr>
            <a:lvl8pPr algn="l">
              <a:buNone/>
              <a:defRPr sz="1350" b="1">
                <a:solidFill>
                  <a:srgbClr val="61666B"/>
                </a:solidFill>
              </a:defRPr>
            </a:lvl8pPr>
            <a:lvl9pPr algn="l">
              <a:buNone/>
              <a:defRPr sz="1350" b="1">
                <a:solidFill>
                  <a:srgbClr val="61666B"/>
                </a:solidFill>
              </a:defRPr>
            </a:lvl9pPr>
          </a:lstStyle>
          <a:p xmlns:a="http://schemas.openxmlformats.org/drawingml/2006/main">
            <a:pPr algn="l">
              <a:buNone/>
              <a:defRPr sz="1350" b="1">
                <a:solidFill>
                  <a:srgbClr val="61666B"/>
                </a:solidFill>
              </a:defRPr>
            </a:pPr>
            <a:r>
              <a:rPr sz="1350" b="1">
                <a:solidFill>
                  <a:srgbClr val="61666B"/>
                </a:solidFill>
              </a:rPr>
              <a:t>WEEK 4</a:t>
            </a:r>
          </a:p>
        </p:txBody>
      </p:sp>
      <p:sp>
        <p:nvSpPr>
          <p:cNvPr id="2018" name="week title 3">
            <a:extLst xmlns:a="http://schemas.openxmlformats.org/drawingml/2006/main">
              <a:ext uri="{FF2B5EF4-FFF2-40B4-BE49-F238E27FC236}">
                <a16:creationId xmlns:a16="http://schemas.microsoft.com/office/drawing/2014/main" id="{351B2F38-3BAB-4B74-9A13-1BCA8661E5C3}"/>
              </a:ext>
            </a:extLst>
          </p:cNvPr>
          <p:cNvSpPr>
            <a:spLocks xmlns:a="http://schemas.openxmlformats.org/drawingml/2006/main" noGrp="1"/>
          </p:cNvSpPr>
          <p:nvPr/>
        </p:nvSpPr>
        <p:spPr>
          <a:xfrm xmlns:a="http://schemas.openxmlformats.org/drawingml/2006/main">
            <a:off x="9042464" y="2924175"/>
            <a:ext cx="1943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175" b="1">
                <a:solidFill>
                  <a:srgbClr val="0086AC"/>
                </a:solidFill>
              </a:defRPr>
            </a:defPPr>
            <a:lvl1pPr algn="l">
              <a:buNone/>
              <a:defRPr sz="2175" b="1">
                <a:solidFill>
                  <a:srgbClr val="0086AC"/>
                </a:solidFill>
              </a:defRPr>
            </a:lvl1pPr>
            <a:lvl2pPr algn="l">
              <a:buNone/>
              <a:defRPr sz="2175" b="1">
                <a:solidFill>
                  <a:srgbClr val="0086AC"/>
                </a:solidFill>
              </a:defRPr>
            </a:lvl2pPr>
            <a:lvl3pPr algn="l">
              <a:buNone/>
              <a:defRPr sz="2175" b="1">
                <a:solidFill>
                  <a:srgbClr val="0086AC"/>
                </a:solidFill>
              </a:defRPr>
            </a:lvl3pPr>
            <a:lvl4pPr algn="l">
              <a:buNone/>
              <a:defRPr sz="2175" b="1">
                <a:solidFill>
                  <a:srgbClr val="0086AC"/>
                </a:solidFill>
              </a:defRPr>
            </a:lvl4pPr>
            <a:lvl5pPr algn="l">
              <a:buNone/>
              <a:defRPr sz="2175" b="1">
                <a:solidFill>
                  <a:srgbClr val="0086AC"/>
                </a:solidFill>
              </a:defRPr>
            </a:lvl5pPr>
            <a:lvl6pPr algn="l">
              <a:buNone/>
              <a:defRPr sz="2175" b="1">
                <a:solidFill>
                  <a:srgbClr val="0086AC"/>
                </a:solidFill>
              </a:defRPr>
            </a:lvl6pPr>
            <a:lvl7pPr algn="l">
              <a:buNone/>
              <a:defRPr sz="2175" b="1">
                <a:solidFill>
                  <a:srgbClr val="0086AC"/>
                </a:solidFill>
              </a:defRPr>
            </a:lvl7pPr>
            <a:lvl8pPr algn="l">
              <a:buNone/>
              <a:defRPr sz="2175" b="1">
                <a:solidFill>
                  <a:srgbClr val="0086AC"/>
                </a:solidFill>
              </a:defRPr>
            </a:lvl8pPr>
            <a:lvl9pPr algn="l">
              <a:buNone/>
              <a:defRPr sz="2175" b="1">
                <a:solidFill>
                  <a:srgbClr val="0086AC"/>
                </a:solidFill>
              </a:defRPr>
            </a:lvl9pPr>
          </a:lstStyle>
          <a:p xmlns:a="http://schemas.openxmlformats.org/drawingml/2006/main">
            <a:pPr algn="l">
              <a:buNone/>
              <a:defRPr sz="2175" b="1">
                <a:solidFill>
                  <a:srgbClr val="0086AC"/>
                </a:solidFill>
              </a:defRPr>
            </a:pPr>
            <a:r>
              <a:rPr sz="2175" b="1">
                <a:solidFill>
                  <a:srgbClr val="0086AC"/>
                </a:solidFill>
              </a:rPr>
              <a:t>Decide</a:t>
            </a:r>
          </a:p>
        </p:txBody>
      </p:sp>
      <p:sp>
        <p:nvSpPr>
          <p:cNvPr id="2019" name="week action 3">
            <a:extLst xmlns:a="http://schemas.openxmlformats.org/drawingml/2006/main">
              <a:ext uri="{FF2B5EF4-FFF2-40B4-BE49-F238E27FC236}">
                <a16:creationId xmlns:a16="http://schemas.microsoft.com/office/drawing/2014/main" id="{4CB20043-2D85-4BCB-86AA-A1C138746C9C}"/>
              </a:ext>
            </a:extLst>
          </p:cNvPr>
          <p:cNvSpPr>
            <a:spLocks xmlns:a="http://schemas.openxmlformats.org/drawingml/2006/main" noGrp="1"/>
          </p:cNvSpPr>
          <p:nvPr/>
        </p:nvSpPr>
        <p:spPr>
          <a:xfrm xmlns:a="http://schemas.openxmlformats.org/drawingml/2006/main">
            <a:off x="9042464" y="3514725"/>
            <a:ext cx="19431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650" b="0">
                <a:solidFill>
                  <a:srgbClr val="303238"/>
                </a:solidFill>
              </a:defRPr>
            </a:defPPr>
            <a:lvl1pPr algn="l">
              <a:buNone/>
              <a:defRPr sz="1650" b="0">
                <a:solidFill>
                  <a:srgbClr val="303238"/>
                </a:solidFill>
              </a:defRPr>
            </a:lvl1pPr>
            <a:lvl2pPr algn="l">
              <a:buNone/>
              <a:defRPr sz="1650" b="0">
                <a:solidFill>
                  <a:srgbClr val="303238"/>
                </a:solidFill>
              </a:defRPr>
            </a:lvl2pPr>
            <a:lvl3pPr algn="l">
              <a:buNone/>
              <a:defRPr sz="1650" b="0">
                <a:solidFill>
                  <a:srgbClr val="303238"/>
                </a:solidFill>
              </a:defRPr>
            </a:lvl3pPr>
            <a:lvl4pPr algn="l">
              <a:buNone/>
              <a:defRPr sz="1650" b="0">
                <a:solidFill>
                  <a:srgbClr val="303238"/>
                </a:solidFill>
              </a:defRPr>
            </a:lvl4pPr>
            <a:lvl5pPr algn="l">
              <a:buNone/>
              <a:defRPr sz="1650" b="0">
                <a:solidFill>
                  <a:srgbClr val="303238"/>
                </a:solidFill>
              </a:defRPr>
            </a:lvl5pPr>
            <a:lvl6pPr algn="l">
              <a:buNone/>
              <a:defRPr sz="1650" b="0">
                <a:solidFill>
                  <a:srgbClr val="303238"/>
                </a:solidFill>
              </a:defRPr>
            </a:lvl6pPr>
            <a:lvl7pPr algn="l">
              <a:buNone/>
              <a:defRPr sz="1650" b="0">
                <a:solidFill>
                  <a:srgbClr val="303238"/>
                </a:solidFill>
              </a:defRPr>
            </a:lvl7pPr>
            <a:lvl8pPr algn="l">
              <a:buNone/>
              <a:defRPr sz="1650" b="0">
                <a:solidFill>
                  <a:srgbClr val="303238"/>
                </a:solidFill>
              </a:defRPr>
            </a:lvl8pPr>
            <a:lvl9pPr algn="l">
              <a:buNone/>
              <a:defRPr sz="1650" b="0">
                <a:solidFill>
                  <a:srgbClr val="303238"/>
                </a:solidFill>
              </a:defRPr>
            </a:lvl9pPr>
          </a:lstStyle>
          <a:p xmlns:a="http://schemas.openxmlformats.org/drawingml/2006/main">
            <a:pPr algn="l">
              <a:buNone/>
              <a:defRPr sz="1650" b="0">
                <a:solidFill>
                  <a:srgbClr val="303238"/>
                </a:solidFill>
              </a:defRPr>
            </a:pPr>
            <a:r>
              <a:rPr sz="1650" b="0">
                <a:solidFill>
                  <a:srgbClr val="303238"/>
                </a:solidFill>
              </a:rPr>
              <a:t>Adopt, revise,</a:t>
            </a:r>
          </a:p>
          <a:p xmlns:a="http://schemas.openxmlformats.org/drawingml/2006/main">
            <a:pPr algn="l">
              <a:buNone/>
              <a:defRPr sz="1650" b="0">
                <a:solidFill>
                  <a:srgbClr val="303238"/>
                </a:solidFill>
              </a:defRPr>
            </a:pPr>
            <a:r>
              <a:rPr sz="1650" b="0">
                <a:solidFill>
                  <a:srgbClr val="303238"/>
                </a:solidFill>
              </a:rPr>
              <a:t>extend or stop.</a:t>
            </a:r>
          </a:p>
        </p:txBody>
      </p:sp>
      <p:sp>
        <p:nvSpPr>
          <p:cNvPr id="2023" name="measure label">
            <a:extLst xmlns:a="http://schemas.openxmlformats.org/drawingml/2006/main">
              <a:ext uri="{FF2B5EF4-FFF2-40B4-BE49-F238E27FC236}">
                <a16:creationId xmlns:a16="http://schemas.microsoft.com/office/drawing/2014/main" id="{7EBAA5C8-87D1-4A64-9EAF-1481A9C69EC4}"/>
              </a:ext>
            </a:extLst>
          </p:cNvPr>
          <p:cNvSpPr>
            <a:spLocks xmlns:a="http://schemas.openxmlformats.org/drawingml/2006/main" noGrp="1"/>
          </p:cNvSpPr>
          <p:nvPr/>
        </p:nvSpPr>
        <p:spPr>
          <a:xfrm xmlns:a="http://schemas.openxmlformats.org/drawingml/2006/main">
            <a:off x="812864" y="4857750"/>
            <a:ext cx="10067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2025" b="1">
                <a:solidFill>
                  <a:srgbClr val="303238"/>
                </a:solidFill>
              </a:defRPr>
            </a:defPPr>
            <a:lvl1pPr algn="l">
              <a:buNone/>
              <a:defRPr sz="2025" b="1">
                <a:solidFill>
                  <a:srgbClr val="303238"/>
                </a:solidFill>
              </a:defRPr>
            </a:lvl1pPr>
            <a:lvl2pPr algn="l">
              <a:buNone/>
              <a:defRPr sz="2025" b="1">
                <a:solidFill>
                  <a:srgbClr val="303238"/>
                </a:solidFill>
              </a:defRPr>
            </a:lvl2pPr>
            <a:lvl3pPr algn="l">
              <a:buNone/>
              <a:defRPr sz="2025" b="1">
                <a:solidFill>
                  <a:srgbClr val="303238"/>
                </a:solidFill>
              </a:defRPr>
            </a:lvl3pPr>
            <a:lvl4pPr algn="l">
              <a:buNone/>
              <a:defRPr sz="2025" b="1">
                <a:solidFill>
                  <a:srgbClr val="303238"/>
                </a:solidFill>
              </a:defRPr>
            </a:lvl4pPr>
            <a:lvl5pPr algn="l">
              <a:buNone/>
              <a:defRPr sz="2025" b="1">
                <a:solidFill>
                  <a:srgbClr val="303238"/>
                </a:solidFill>
              </a:defRPr>
            </a:lvl5pPr>
            <a:lvl6pPr algn="l">
              <a:buNone/>
              <a:defRPr sz="2025" b="1">
                <a:solidFill>
                  <a:srgbClr val="303238"/>
                </a:solidFill>
              </a:defRPr>
            </a:lvl6pPr>
            <a:lvl7pPr algn="l">
              <a:buNone/>
              <a:defRPr sz="2025" b="1">
                <a:solidFill>
                  <a:srgbClr val="303238"/>
                </a:solidFill>
              </a:defRPr>
            </a:lvl7pPr>
            <a:lvl8pPr algn="l">
              <a:buNone/>
              <a:defRPr sz="2025" b="1">
                <a:solidFill>
                  <a:srgbClr val="303238"/>
                </a:solidFill>
              </a:defRPr>
            </a:lvl8pPr>
            <a:lvl9pPr algn="l">
              <a:buNone/>
              <a:defRPr sz="2025" b="1">
                <a:solidFill>
                  <a:srgbClr val="303238"/>
                </a:solidFill>
              </a:defRPr>
            </a:lvl9pPr>
          </a:lstStyle>
          <a:p xmlns:a="http://schemas.openxmlformats.org/drawingml/2006/main">
            <a:pPr algn="l">
              <a:buNone/>
              <a:defRPr sz="2025" b="1">
                <a:solidFill>
                  <a:srgbClr val="303238"/>
                </a:solidFill>
              </a:defRPr>
            </a:pPr>
            <a:r>
              <a:rPr sz="2025" b="1">
                <a:solidFill>
                  <a:srgbClr val="303238"/>
                </a:solidFill>
              </a:rPr>
              <a:t>Measure the benefit and the cost</a:t>
            </a:r>
          </a:p>
        </p:txBody>
      </p:sp>
      <p:sp>
        <p:nvSpPr>
          <p:cNvPr id="2024" name="pilot measures">
            <a:extLst xmlns:a="http://schemas.openxmlformats.org/drawingml/2006/main">
              <a:ext uri="{FF2B5EF4-FFF2-40B4-BE49-F238E27FC236}">
                <a16:creationId xmlns:a16="http://schemas.microsoft.com/office/drawing/2014/main" id="{45280BE7-92FA-4B63-90A1-EE6F89980DED}"/>
              </a:ext>
            </a:extLst>
          </p:cNvPr>
          <p:cNvSpPr>
            <a:spLocks xmlns:a="http://schemas.openxmlformats.org/drawingml/2006/main" noGrp="1"/>
          </p:cNvSpPr>
          <p:nvPr/>
        </p:nvSpPr>
        <p:spPr>
          <a:xfrm xmlns:a="http://schemas.openxmlformats.org/drawingml/2006/main">
            <a:off x="812864" y="5353050"/>
            <a:ext cx="10067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950" b="1">
                <a:solidFill>
                  <a:srgbClr val="0086AC"/>
                </a:solidFill>
              </a:defRPr>
            </a:defPPr>
            <a:lvl1pPr algn="l">
              <a:buNone/>
              <a:defRPr sz="1950" b="1">
                <a:solidFill>
                  <a:srgbClr val="0086AC"/>
                </a:solidFill>
              </a:defRPr>
            </a:lvl1pPr>
            <a:lvl2pPr algn="l">
              <a:buNone/>
              <a:defRPr sz="1950" b="1">
                <a:solidFill>
                  <a:srgbClr val="0086AC"/>
                </a:solidFill>
              </a:defRPr>
            </a:lvl2pPr>
            <a:lvl3pPr algn="l">
              <a:buNone/>
              <a:defRPr sz="1950" b="1">
                <a:solidFill>
                  <a:srgbClr val="0086AC"/>
                </a:solidFill>
              </a:defRPr>
            </a:lvl3pPr>
            <a:lvl4pPr algn="l">
              <a:buNone/>
              <a:defRPr sz="1950" b="1">
                <a:solidFill>
                  <a:srgbClr val="0086AC"/>
                </a:solidFill>
              </a:defRPr>
            </a:lvl4pPr>
            <a:lvl5pPr algn="l">
              <a:buNone/>
              <a:defRPr sz="1950" b="1">
                <a:solidFill>
                  <a:srgbClr val="0086AC"/>
                </a:solidFill>
              </a:defRPr>
            </a:lvl5pPr>
            <a:lvl6pPr algn="l">
              <a:buNone/>
              <a:defRPr sz="1950" b="1">
                <a:solidFill>
                  <a:srgbClr val="0086AC"/>
                </a:solidFill>
              </a:defRPr>
            </a:lvl6pPr>
            <a:lvl7pPr algn="l">
              <a:buNone/>
              <a:defRPr sz="1950" b="1">
                <a:solidFill>
                  <a:srgbClr val="0086AC"/>
                </a:solidFill>
              </a:defRPr>
            </a:lvl7pPr>
            <a:lvl8pPr algn="l">
              <a:buNone/>
              <a:defRPr sz="1950" b="1">
                <a:solidFill>
                  <a:srgbClr val="0086AC"/>
                </a:solidFill>
              </a:defRPr>
            </a:lvl8pPr>
            <a:lvl9pPr algn="l">
              <a:buNone/>
              <a:defRPr sz="1950" b="1">
                <a:solidFill>
                  <a:srgbClr val="0086AC"/>
                </a:solidFill>
              </a:defRPr>
            </a:lvl9pPr>
          </a:lstStyle>
          <a:p xmlns:a="http://schemas.openxmlformats.org/drawingml/2006/main">
            <a:pPr algn="l">
              <a:buNone/>
              <a:defRPr sz="1950" b="1">
                <a:solidFill>
                  <a:srgbClr val="0086AC"/>
                </a:solidFill>
              </a:defRPr>
            </a:pPr>
            <a:r>
              <a:rPr sz="1950" b="1">
                <a:solidFill>
                  <a:srgbClr val="0086AC"/>
                </a:solidFill>
              </a:rPr>
              <a:t>Verified catches  ·  Lost catches  ·  False alarms  ·  Review time</a:t>
            </a:r>
          </a:p>
        </p:txBody>
      </p:sp>
      <p:sp>
        <p:nvSpPr>
          <p:cNvPr id="2025" name="pilot decision">
            <a:extLst xmlns:a="http://schemas.openxmlformats.org/drawingml/2006/main">
              <a:ext uri="{FF2B5EF4-FFF2-40B4-BE49-F238E27FC236}">
                <a16:creationId xmlns:a16="http://schemas.microsoft.com/office/drawing/2014/main" id="{938B7D9E-7265-42DB-8BB8-5D4AA39BC941}"/>
              </a:ext>
            </a:extLst>
          </p:cNvPr>
          <p:cNvSpPr>
            <a:spLocks xmlns:a="http://schemas.openxmlformats.org/drawingml/2006/main" noGrp="1"/>
          </p:cNvSpPr>
          <p:nvPr/>
        </p:nvSpPr>
        <p:spPr>
          <a:xfrm xmlns:a="http://schemas.openxmlformats.org/drawingml/2006/main">
            <a:off x="812864" y="5915025"/>
            <a:ext cx="100679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lgn="l">
              <a:defRPr sz="1725" b="0">
                <a:solidFill>
                  <a:srgbClr val="303238"/>
                </a:solidFill>
              </a:defRPr>
            </a:defPPr>
            <a:lvl1pPr algn="l">
              <a:buNone/>
              <a:defRPr sz="1725" b="0">
                <a:solidFill>
                  <a:srgbClr val="303238"/>
                </a:solidFill>
              </a:defRPr>
            </a:lvl1pPr>
            <a:lvl2pPr algn="l">
              <a:buNone/>
              <a:defRPr sz="1725" b="0">
                <a:solidFill>
                  <a:srgbClr val="303238"/>
                </a:solidFill>
              </a:defRPr>
            </a:lvl2pPr>
            <a:lvl3pPr algn="l">
              <a:buNone/>
              <a:defRPr sz="1725" b="0">
                <a:solidFill>
                  <a:srgbClr val="303238"/>
                </a:solidFill>
              </a:defRPr>
            </a:lvl3pPr>
            <a:lvl4pPr algn="l">
              <a:buNone/>
              <a:defRPr sz="1725" b="0">
                <a:solidFill>
                  <a:srgbClr val="303238"/>
                </a:solidFill>
              </a:defRPr>
            </a:lvl4pPr>
            <a:lvl5pPr algn="l">
              <a:buNone/>
              <a:defRPr sz="1725" b="0">
                <a:solidFill>
                  <a:srgbClr val="303238"/>
                </a:solidFill>
              </a:defRPr>
            </a:lvl5pPr>
            <a:lvl6pPr algn="l">
              <a:buNone/>
              <a:defRPr sz="1725" b="0">
                <a:solidFill>
                  <a:srgbClr val="303238"/>
                </a:solidFill>
              </a:defRPr>
            </a:lvl6pPr>
            <a:lvl7pPr algn="l">
              <a:buNone/>
              <a:defRPr sz="1725" b="0">
                <a:solidFill>
                  <a:srgbClr val="303238"/>
                </a:solidFill>
              </a:defRPr>
            </a:lvl7pPr>
            <a:lvl8pPr algn="l">
              <a:buNone/>
              <a:defRPr sz="1725" b="0">
                <a:solidFill>
                  <a:srgbClr val="303238"/>
                </a:solidFill>
              </a:defRPr>
            </a:lvl8pPr>
            <a:lvl9pPr algn="l">
              <a:buNone/>
              <a:defRPr sz="1725" b="0">
                <a:solidFill>
                  <a:srgbClr val="303238"/>
                </a:solidFill>
              </a:defRPr>
            </a:lvl9pPr>
          </a:lstStyle>
          <a:p xmlns:a="http://schemas.openxmlformats.org/drawingml/2006/main">
            <a:pPr algn="l">
              <a:buNone/>
              <a:defRPr sz="1725" b="0">
                <a:solidFill>
                  <a:srgbClr val="303238"/>
                </a:solidFill>
              </a:defRPr>
            </a:pPr>
            <a:r>
              <a:rPr sz="1725" b="0">
                <a:solidFill>
                  <a:srgbClr val="303238"/>
                </a:solidFill>
              </a:rPr>
              <a:t>The accountable owner decides against the criteria set in week one.</a:t>
            </a:r>
          </a:p>
        </p:txBody>
      </p:sp>
    </p:spTree>
    <p:extLst>
      <p:ext uri="{BB962C8B-B14F-4D97-AF65-F5344CB8AC3E}">
        <p14:creationId xmlns:p14="http://schemas.microsoft.com/office/powerpoint/2010/main" val="473381754"/>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D4C1BD3-B837-472E-8966-262B88BEEB86}"/>
              </a:ext>
            </a:extLst>
          </p:cNvPr>
          <p:cNvSpPr>
            <a:spLocks xmlns:a="http://schemas.openxmlformats.org/drawingml/2006/main" noGrp="1"/>
          </p:cNvSpPr>
          <p:nvPr/>
        </p:nvSpPr>
        <p:spPr>
          <a:xfrm xmlns:a="http://schemas.openxmlformats.org/drawingml/2006/main">
            <a:off x="568516" y="2240280"/>
            <a:ext cx="3273552" cy="3291840"/>
          </a:xfrm>
          <a:prstGeom xmlns:a="http://schemas.openxmlformats.org/drawingml/2006/main" prst="rect">
            <a:avLst/>
          </a:prstGeom>
          <a:solidFill xmlns:a="http://schemas.openxmlformats.org/drawingml/2006/main">
            <a:srgbClr val="48862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endParaRPr/>
          </a:p>
        </p:txBody>
      </p:sp>
      <p:sp>
        <p:nvSpPr>
          <p:cNvPr id="3" name="TextBox 2">
            <a:extLst xmlns:a="http://schemas.openxmlformats.org/drawingml/2006/main">
              <a:ext uri="{FF2B5EF4-FFF2-40B4-BE49-F238E27FC236}">
                <a16:creationId xmlns:a16="http://schemas.microsoft.com/office/drawing/2014/main" id="{DF7E5863-6D7A-4686-9291-DE0190FC6D31}"/>
              </a:ext>
            </a:extLst>
          </p:cNvPr>
          <p:cNvSpPr>
            <a:spLocks xmlns:a="http://schemas.openxmlformats.org/drawingml/2006/main" noGrp="1"/>
          </p:cNvSpPr>
          <p:nvPr/>
        </p:nvSpPr>
        <p:spPr>
          <a:xfrm xmlns:a="http://schemas.openxmlformats.org/drawingml/2006/main">
            <a:off x="842836" y="3090672"/>
            <a:ext cx="2724912" cy="79552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nSpc>
                <a:spcPts val="2530"/>
              </a:lnSpc>
              <a:buNone/>
            </a:pPr>
            <a:r>
              <a:rPr sz="2400" b="1">
                <a:solidFill>
                  <a:schemeClr val="bg1"/>
                </a:solidFill>
                <a:latin typeface="Arial"/>
                <a:ea typeface="Arial"/>
                <a:cs typeface="Arial"/>
              </a:rPr>
              <a:t>Improve the review</a:t>
            </a:r>
            <a:endParaRPr sz="2400">
              <a:solidFill>
                <a:schemeClr val="bg1"/>
              </a:solidFill>
            </a:endParaRPr>
          </a:p>
        </p:txBody>
      </p:sp>
      <p:sp>
        <p:nvSpPr>
          <p:cNvPr id="4" name="TextBox 3">
            <a:extLst xmlns:a="http://schemas.openxmlformats.org/drawingml/2006/main">
              <a:ext uri="{FF2B5EF4-FFF2-40B4-BE49-F238E27FC236}">
                <a16:creationId xmlns:a16="http://schemas.microsoft.com/office/drawing/2014/main" id="{7208DB0F-19B8-4188-ADF1-255B6CFE2D6D}"/>
              </a:ext>
            </a:extLst>
          </p:cNvPr>
          <p:cNvSpPr>
            <a:spLocks xmlns:a="http://schemas.openxmlformats.org/drawingml/2006/main" noGrp="1"/>
          </p:cNvSpPr>
          <p:nvPr/>
        </p:nvSpPr>
        <p:spPr>
          <a:xfrm xmlns:a="http://schemas.openxmlformats.org/drawingml/2006/main">
            <a:off x="842836" y="4105656"/>
            <a:ext cx="272491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00"/>
              </a:lnSpc>
              <a:spcBef>
                <a:spcPts val="0"/>
              </a:spcBef>
              <a:buNone/>
            </a:pPr>
            <a:r>
              <a:rPr sz="1800" b="0">
                <a:solidFill>
                  <a:srgbClr val="FFFFFF"/>
                </a:solidFill>
                <a:latin typeface="Arial"/>
                <a:ea typeface="Arial"/>
                <a:cs typeface="Arial"/>
              </a:rPr>
              <a:t>24 cases now have findings. Full workflow evaluation pending.</a:t>
            </a:r>
            <a:endParaRPr sz="1800"/>
          </a:p>
        </p:txBody>
      </p:sp>
      <p:sp>
        <p:nvSpPr>
          <p:cNvPr id="5" name="Rectangle 4">
            <a:extLst xmlns:a="http://schemas.openxmlformats.org/drawingml/2006/main">
              <a:ext uri="{FF2B5EF4-FFF2-40B4-BE49-F238E27FC236}">
                <a16:creationId xmlns:a16="http://schemas.microsoft.com/office/drawing/2014/main" id="{3F3175AE-4D67-4277-B529-C8215C4D0D6B}"/>
              </a:ext>
            </a:extLst>
          </p:cNvPr>
          <p:cNvSpPr>
            <a:spLocks xmlns:a="http://schemas.openxmlformats.org/drawingml/2006/main" noGrp="1"/>
          </p:cNvSpPr>
          <p:nvPr/>
        </p:nvSpPr>
        <p:spPr>
          <a:xfrm xmlns:a="http://schemas.openxmlformats.org/drawingml/2006/main">
            <a:off x="4189540" y="2240280"/>
            <a:ext cx="3273552" cy="3291840"/>
          </a:xfrm>
          <a:prstGeom xmlns:a="http://schemas.openxmlformats.org/drawingml/2006/main" prst="rect">
            <a:avLst/>
          </a:prstGeom>
          <a:solidFill xmlns:a="http://schemas.openxmlformats.org/drawingml/2006/main">
            <a:srgbClr val="5466A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endParaRPr/>
          </a:p>
        </p:txBody>
      </p:sp>
      <p:sp>
        <p:nvSpPr>
          <p:cNvPr id="6" name="TextBox 5">
            <a:extLst xmlns:a="http://schemas.openxmlformats.org/drawingml/2006/main">
              <a:ext uri="{FF2B5EF4-FFF2-40B4-BE49-F238E27FC236}">
                <a16:creationId xmlns:a16="http://schemas.microsoft.com/office/drawing/2014/main" id="{CDAA42F0-7638-4612-9CBF-8D49EA3042D4}"/>
              </a:ext>
            </a:extLst>
          </p:cNvPr>
          <p:cNvSpPr>
            <a:spLocks xmlns:a="http://schemas.openxmlformats.org/drawingml/2006/main" noGrp="1"/>
          </p:cNvSpPr>
          <p:nvPr/>
        </p:nvSpPr>
        <p:spPr>
          <a:xfrm xmlns:a="http://schemas.openxmlformats.org/drawingml/2006/main">
            <a:off x="4463860" y="3090672"/>
            <a:ext cx="2724912" cy="79552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r>
              <a:rPr sz="2400" b="1">
                <a:solidFill>
                  <a:schemeClr val="bg1"/>
                </a:solidFill>
                <a:latin typeface="Arial"/>
                <a:ea typeface="Arial"/>
                <a:cs typeface="Arial"/>
              </a:rPr>
              <a:t>Keep the review record</a:t>
            </a:r>
          </a:p>
        </p:txBody>
      </p:sp>
      <p:sp>
        <p:nvSpPr>
          <p:cNvPr id="7" name="TextBox 6">
            <a:extLst xmlns:a="http://schemas.openxmlformats.org/drawingml/2006/main">
              <a:ext uri="{FF2B5EF4-FFF2-40B4-BE49-F238E27FC236}">
                <a16:creationId xmlns:a16="http://schemas.microsoft.com/office/drawing/2014/main" id="{7E6A0151-14D3-48D3-A447-F622CC39894F}"/>
              </a:ext>
            </a:extLst>
          </p:cNvPr>
          <p:cNvSpPr>
            <a:spLocks xmlns:a="http://schemas.openxmlformats.org/drawingml/2006/main" noGrp="1"/>
          </p:cNvSpPr>
          <p:nvPr/>
        </p:nvSpPr>
        <p:spPr>
          <a:xfrm xmlns:a="http://schemas.openxmlformats.org/drawingml/2006/main">
            <a:off x="4463860" y="4105656"/>
            <a:ext cx="272491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nSpc>
                <a:spcPts val="1820"/>
              </a:lnSpc>
              <a:buNone/>
            </a:pPr>
            <a:r>
              <a:rPr sz="2000">
                <a:solidFill>
                  <a:schemeClr val="bg1"/>
                </a:solidFill>
                <a:latin typeface="Arial"/>
                <a:ea typeface="Arial"/>
                <a:cs typeface="Arial"/>
              </a:rPr>
              <a:t>Retain model, prompt, context, results and decisions for the exact revision.</a:t>
            </a:r>
            <a:endParaRPr sz="2000">
              <a:solidFill>
                <a:schemeClr val="bg1"/>
              </a:solidFill>
            </a:endParaRPr>
          </a:p>
          <a:p xmlns:a="http://schemas.openxmlformats.org/drawingml/2006/main">
            <a:endParaRPr sz="1900">
              <a:solidFill>
                <a:schemeClr val="bg1"/>
              </a:solidFill>
              <a:latin typeface="Arial"/>
              <a:ea typeface="Arial"/>
              <a:cs typeface="Arial"/>
            </a:endParaRPr>
          </a:p>
        </p:txBody>
      </p:sp>
      <p:sp>
        <p:nvSpPr>
          <p:cNvPr id="8" name="Rectangle 7">
            <a:extLst xmlns:a="http://schemas.openxmlformats.org/drawingml/2006/main">
              <a:ext uri="{FF2B5EF4-FFF2-40B4-BE49-F238E27FC236}">
                <a16:creationId xmlns:a16="http://schemas.microsoft.com/office/drawing/2014/main" id="{2C73F060-A340-4F0A-BA49-439680F32DB5}"/>
              </a:ext>
            </a:extLst>
          </p:cNvPr>
          <p:cNvSpPr>
            <a:spLocks xmlns:a="http://schemas.openxmlformats.org/drawingml/2006/main" noGrp="1"/>
          </p:cNvSpPr>
          <p:nvPr/>
        </p:nvSpPr>
        <p:spPr>
          <a:xfrm xmlns:a="http://schemas.openxmlformats.org/drawingml/2006/main">
            <a:off x="7810564" y="2240280"/>
            <a:ext cx="3273552" cy="3291840"/>
          </a:xfrm>
          <a:prstGeom xmlns:a="http://schemas.openxmlformats.org/drawingml/2006/main" prst="rect">
            <a:avLst/>
          </a:prstGeom>
          <a:solidFill xmlns:a="http://schemas.openxmlformats.org/drawingml/2006/main">
            <a:srgbClr val="ECC623"/>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endParaRPr/>
          </a:p>
        </p:txBody>
      </p:sp>
      <p:sp>
        <p:nvSpPr>
          <p:cNvPr id="9" name="TextBox 8">
            <a:extLst xmlns:a="http://schemas.openxmlformats.org/drawingml/2006/main">
              <a:ext uri="{FF2B5EF4-FFF2-40B4-BE49-F238E27FC236}">
                <a16:creationId xmlns:a16="http://schemas.microsoft.com/office/drawing/2014/main" id="{383A3371-EF50-456D-9D0E-85945D0F586E}"/>
              </a:ext>
            </a:extLst>
          </p:cNvPr>
          <p:cNvSpPr>
            <a:spLocks xmlns:a="http://schemas.openxmlformats.org/drawingml/2006/main" noGrp="1"/>
          </p:cNvSpPr>
          <p:nvPr/>
        </p:nvSpPr>
        <p:spPr>
          <a:xfrm xmlns:a="http://schemas.openxmlformats.org/drawingml/2006/main">
            <a:off x="8084884" y="3090672"/>
            <a:ext cx="2724912" cy="795528"/>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nSpc>
                <a:spcPts val="2530"/>
              </a:lnSpc>
              <a:buNone/>
            </a:pPr>
            <a:r>
              <a:rPr sz="2400" b="1">
                <a:solidFill>
                  <a:srgbClr val="33333A"/>
                </a:solidFill>
                <a:latin typeface="Arial"/>
                <a:ea typeface="Arial"/>
                <a:cs typeface="Arial"/>
              </a:rPr>
              <a:t>Keep people in charge</a:t>
            </a:r>
            <a:endParaRPr sz="2400">
              <a:solidFill>
                <a:srgbClr val="33333A"/>
              </a:solidFill>
            </a:endParaRPr>
          </a:p>
        </p:txBody>
      </p:sp>
      <p:sp>
        <p:nvSpPr>
          <p:cNvPr id="10" name="TextBox 9">
            <a:extLst xmlns:a="http://schemas.openxmlformats.org/drawingml/2006/main">
              <a:ext uri="{FF2B5EF4-FFF2-40B4-BE49-F238E27FC236}">
                <a16:creationId xmlns:a16="http://schemas.microsoft.com/office/drawing/2014/main" id="{AF9FC875-6C8E-4162-BA21-546F430253A2}"/>
              </a:ext>
            </a:extLst>
          </p:cNvPr>
          <p:cNvSpPr>
            <a:spLocks xmlns:a="http://schemas.openxmlformats.org/drawingml/2006/main" noGrp="1"/>
          </p:cNvSpPr>
          <p:nvPr/>
        </p:nvSpPr>
        <p:spPr>
          <a:xfrm xmlns:a="http://schemas.openxmlformats.org/drawingml/2006/main">
            <a:off x="8084884" y="4105656"/>
            <a:ext cx="2724912"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nSpc>
                <a:spcPts val="1820"/>
              </a:lnSpc>
              <a:buNone/>
            </a:pPr>
            <a:r>
              <a:rPr sz="2000">
                <a:solidFill>
                  <a:srgbClr val="33333A"/>
                </a:solidFill>
                <a:latin typeface="Arial"/>
                <a:ea typeface="Arial"/>
                <a:cs typeface="Arial"/>
              </a:rPr>
              <a:t>Traceability informs scope. Trusted checks and accountable owners govern merge.</a:t>
            </a:r>
            <a:endParaRPr sz="2000">
              <a:solidFill>
                <a:srgbClr val="33333A"/>
              </a:solidFill>
            </a:endParaRPr>
          </a:p>
        </p:txBody>
      </p:sp>
      <p:pic>
        <p:nvPicPr>
          <p:cNvPr id="16" name="Closing icon chart-no-axes-combined">
            <a:extLst xmlns:a="http://schemas.openxmlformats.org/drawingml/2006/main">
              <a:ext uri="{FF2B5EF4-FFF2-40B4-BE49-F238E27FC236}">
                <a16:creationId xmlns:a16="http://schemas.microsoft.com/office/drawing/2014/main" id="{A59FB895-C34D-423F-9A1B-059F72D87D7C}"/>
              </a:ext>
            </a:extLst>
          </p:cNvPr>
          <p:cNvPicPr>
            <a:picLocks xmlns:a="http://schemas.openxmlformats.org/drawingml/2006/main" noChangeAspect="1"/>
          </p:cNvPicPr>
          <p:nvPr/>
        </p:nvPicPr>
        <p:blipFill>
          <a:blip xmlns:r="http://schemas.openxmlformats.org/officeDocument/2006/relationships" xmlns:a="http://schemas.openxmlformats.org/drawingml/2006/main" r:embed="R7caea81db5ac4bcb"/>
          <a:stretch xmlns:a="http://schemas.openxmlformats.org/drawingml/2006/main">
            <a:fillRect l="0" t="0" r="0" b="0"/>
          </a:stretch>
        </p:blipFill>
        <p:spPr>
          <a:xfrm xmlns:a="http://schemas.openxmlformats.org/drawingml/2006/main">
            <a:off x="842836" y="2514600"/>
            <a:ext cx="429768" cy="429768"/>
          </a:xfrm>
          <a:prstGeom xmlns:a="http://schemas.openxmlformats.org/drawingml/2006/main" prst="rect">
            <a:avLst/>
          </a:prstGeom>
        </p:spPr>
      </p:pic>
      <p:pic>
        <p:nvPicPr>
          <p:cNvPr id="17" name="Closing icon shield-check">
            <a:extLst xmlns:a="http://schemas.openxmlformats.org/drawingml/2006/main">
              <a:ext uri="{FF2B5EF4-FFF2-40B4-BE49-F238E27FC236}">
                <a16:creationId xmlns:a16="http://schemas.microsoft.com/office/drawing/2014/main" id="{B130DF86-19E0-49A7-9B32-BF106DAFB4B0}"/>
              </a:ext>
            </a:extLst>
          </p:cNvPr>
          <p:cNvPicPr>
            <a:picLocks xmlns:a="http://schemas.openxmlformats.org/drawingml/2006/main" noChangeAspect="1"/>
          </p:cNvPicPr>
          <p:nvPr/>
        </p:nvPicPr>
        <p:blipFill>
          <a:blip xmlns:r="http://schemas.openxmlformats.org/officeDocument/2006/relationships" xmlns:a="http://schemas.openxmlformats.org/drawingml/2006/main" r:embed="Rdc79a241d2b1408d"/>
          <a:stretch xmlns:a="http://schemas.openxmlformats.org/drawingml/2006/main">
            <a:fillRect l="0" t="0" r="0" b="0"/>
          </a:stretch>
        </p:blipFill>
        <p:spPr>
          <a:xfrm xmlns:a="http://schemas.openxmlformats.org/drawingml/2006/main">
            <a:off x="4463860" y="2514600"/>
            <a:ext cx="429768" cy="429768"/>
          </a:xfrm>
          <a:prstGeom xmlns:a="http://schemas.openxmlformats.org/drawingml/2006/main" prst="rect">
            <a:avLst/>
          </a:prstGeom>
        </p:spPr>
      </p:pic>
      <p:pic>
        <p:nvPicPr>
          <p:cNvPr id="18" name="Closing icon clipboard-list">
            <a:extLst xmlns:a="http://schemas.openxmlformats.org/drawingml/2006/main">
              <a:ext uri="{FF2B5EF4-FFF2-40B4-BE49-F238E27FC236}">
                <a16:creationId xmlns:a16="http://schemas.microsoft.com/office/drawing/2014/main" id="{4705E323-5140-439C-A509-AE6744976724}"/>
              </a:ext>
            </a:extLst>
          </p:cNvPr>
          <p:cNvPicPr>
            <a:picLocks xmlns:a="http://schemas.openxmlformats.org/drawingml/2006/main" noChangeAspect="1"/>
          </p:cNvPicPr>
          <p:nvPr/>
        </p:nvPicPr>
        <p:blipFill>
          <a:blip xmlns:r="http://schemas.openxmlformats.org/officeDocument/2006/relationships" xmlns:a="http://schemas.openxmlformats.org/drawingml/2006/main" r:embed="Rd04b32948472440c"/>
          <a:stretch xmlns:a="http://schemas.openxmlformats.org/drawingml/2006/main">
            <a:fillRect l="0" t="0" r="0" b="0"/>
          </a:stretch>
        </p:blipFill>
        <p:spPr>
          <a:xfrm xmlns:a="http://schemas.openxmlformats.org/drawingml/2006/main">
            <a:off x="8084884" y="2514600"/>
            <a:ext cx="429768" cy="429768"/>
          </a:xfrm>
          <a:prstGeom xmlns:a="http://schemas.openxmlformats.org/drawingml/2006/main" prst="rect">
            <a:avLst/>
          </a:prstGeom>
        </p:spPr>
      </p:pic>
    </p:spTree>
    <p:extLst>
      <p:ext uri="{BB962C8B-B14F-4D97-AF65-F5344CB8AC3E}">
        <p14:creationId xmlns:p14="http://schemas.microsoft.com/office/powerpoint/2010/main" val="222178772"/>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977D38BA-8B1C-29EE-18F5-EB8745B546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Which improvement will you try first on Monday?</a:t>
            </a:r>
          </a:p>
        </p:txBody>
      </p:sp>
      <p:sp>
        <p:nvSpPr>
          <p:cNvPr id="9" name="Text Placeholder 8">
            <a:extLst xmlns:a="http://schemas.openxmlformats.org/drawingml/2006/main">
              <a:ext uri="{FF2B5EF4-FFF2-40B4-BE49-F238E27FC236}">
                <a16:creationId xmlns:a16="http://schemas.microsoft.com/office/drawing/2014/main" id="{6F89AE2F-0AC5-364E-9460-D2A2B0F05E26}"/>
              </a:ext>
            </a:extLst>
          </p:cNvPr>
          <p:cNvSpPr>
            <a:spLocks xmlns:a="http://schemas.openxmlformats.org/drawingml/2006/main" noGrp="1"/>
          </p:cNvSpPr>
          <p:nvPr>
            <p:ph type="body" idx="10"/>
          </p:nvPr>
        </p:nvSpPr>
        <p:spPr/>
        <p:txBody>
          <a:bodyPr xmlns:a="http://schemas.openxmlformats.org/drawingml/2006/main"/>
          <a:lstStyle xmlns:a="http://schemas.openxmlformats.org/drawingml/2006/main"/>
          <a:p xmlns:a="http://schemas.openxmlformats.org/drawingml/2006/main">
            <a:r>
              <a:t>Use a stronger model</a:t>
            </a:r>
          </a:p>
          <a:p xmlns:a="http://schemas.openxmlformats.org/drawingml/2006/main">
            <a:r>
              <a:t>Add related context</a:t>
            </a:r>
          </a:p>
          <a:p xmlns:a="http://schemas.openxmlformats.org/drawingml/2006/main">
            <a:r>
              <a:t>Use a security-scoped prompt</a:t>
            </a:r>
          </a:p>
          <a:p xmlns:a="http://schemas.openxmlformats.org/drawingml/2006/main">
            <a:r>
              <a:t>Tighten merge authority</a:t>
            </a:r>
          </a:p>
          <a:p xmlns:a="http://schemas.openxmlformats.org/drawingml/2006/main">
            <a:r>
              <a:t>Run the 4-week pilot</a:t>
            </a:r>
          </a:p>
        </p:txBody>
      </p:sp>
    </p:spTree>
    <p:extLst>
      <p:ext uri="{BB962C8B-B14F-4D97-AF65-F5344CB8AC3E}">
        <p14:creationId xmlns:p14="http://schemas.microsoft.com/office/powerpoint/2010/main" val="911246472"/>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ext Placeholder 1">
            <a:extLst xmlns:a="http://schemas.openxmlformats.org/drawingml/2006/main">
              <a:ext uri="{FF2B5EF4-FFF2-40B4-BE49-F238E27FC236}">
                <a16:creationId xmlns:a16="http://schemas.microsoft.com/office/drawing/2014/main" id="{AD7D7A01-A753-4308-A24B-96012B3C03A9}"/>
              </a:ext>
            </a:extLst>
          </p:cNvPr>
          <p:cNvSpPr>
            <a:spLocks xmlns:a="http://schemas.openxmlformats.org/drawingml/2006/main" noGrp="1"/>
          </p:cNvSpPr>
          <p:nvPr>
            <p:ph type="body" idx="11"/>
          </p:nvPr>
        </p:nvSpPr>
        <p:spPr>
          <a:xfrm xmlns:a="http://schemas.openxmlformats.org/drawingml/2006/main">
            <a:off x="817406" y="3412833"/>
            <a:ext cx="9144000" cy="365760"/>
          </a:xfrm>
        </p:spPr>
        <p:txBody>
          <a:bodyPr xmlns:a="http://schemas.openxmlformats.org/drawingml/2006/main" wrap="square" lIns="0" tIns="0" rIns="0" bIns="0" anchor="t">
            <a:noAutofit/>
          </a:bodyPr>
          <a:lstStyle xmlns:a="http://schemas.openxmlformats.org/drawingml/2006/main"/>
          <a:p xmlns:a="http://schemas.openxmlformats.org/drawingml/2006/main">
            <a:pPr>
              <a:lnSpc>
                <a:spcPct val="100000"/>
              </a:lnSpc>
              <a:spcBef>
                <a:spcPts val="0"/>
              </a:spcBef>
              <a:spcAft>
                <a:spcPts val="0"/>
              </a:spcAft>
              <a:buNone/>
            </a:pPr>
            <a:r>
              <a:rPr sz="1700">
                <a:solidFill>
                  <a:srgbClr val="262626"/>
                </a:solidFill>
                <a:latin typeface="Arial"/>
                <a:ea typeface="Arial"/>
                <a:cs typeface="Arial"/>
              </a:rPr>
              <a:t>Eric St-Pierre, CISSP, CCSP, HCISPP  |  </a:t>
            </a:r>
            <a:r>
              <a:rPr sz="1700">
                <a:solidFill>
                  <a:srgbClr val="262626"/>
                </a:solidFill>
                <a:latin typeface="Arial"/>
                <a:ea typeface="Arial"/>
                <a:cs typeface="Arial"/>
              </a:rPr>
              <a:t>Medoya</a:t>
            </a:r>
            <a:r>
              <a:rPr sz="1700">
                <a:solidFill>
                  <a:srgbClr val="262626"/>
                </a:solidFill>
                <a:latin typeface="Arial"/>
                <a:ea typeface="Arial"/>
                <a:cs typeface="Arial"/>
              </a:rPr>
              <a:t> Consulting LLC</a:t>
            </a:r>
          </a:p>
          <a:p xmlns:a="http://schemas.openxmlformats.org/drawingml/2006/main">
            <a:pPr>
              <a:lnSpc>
                <a:spcPct val="100000"/>
              </a:lnSpc>
              <a:spcBef>
                <a:spcPts val="0"/>
              </a:spcBef>
              <a:spcAft>
                <a:spcPts val="0"/>
              </a:spcAft>
              <a:buNone/>
            </a:pPr>
            <a:endParaRPr sz="1700">
              <a:solidFill>
                <a:srgbClr val="262626"/>
              </a:solidFill>
              <a:latin typeface="Arial"/>
              <a:ea typeface="Arial"/>
              <a:cs typeface="Arial"/>
            </a:endParaRPr>
          </a:p>
          <a:p xmlns:a="http://schemas.openxmlformats.org/drawingml/2006/main">
            <a:pPr>
              <a:lnSpc>
                <a:spcPct val="100000"/>
              </a:lnSpc>
              <a:spcBef>
                <a:spcPts val="0"/>
              </a:spcBef>
              <a:spcAft>
                <a:spcPts val="0"/>
              </a:spcAft>
              <a:buNone/>
            </a:pPr>
            <a:r>
              <a:rPr sz="1700">
                <a:solidFill>
                  <a:srgbClr val="262626"/>
                </a:solidFill>
                <a:latin typeface="Arial"/>
                <a:ea typeface="Arial"/>
                <a:cs typeface="Arial"/>
              </a:rPr>
              <a:t>eric.stpierre@medoya.com</a:t>
            </a:r>
            <a:endParaRPr sz="1700">
              <a:solidFill>
                <a:srgbClr val="262626"/>
              </a:solidFill>
              <a:latin typeface="Arial"/>
              <a:ea typeface="Arial"/>
              <a:cs typeface="Arial"/>
            </a:endParaRPr>
          </a:p>
        </p:txBody>
      </p:sp>
      <p:sp>
        <p:nvSpPr>
          <p:cNvPr id="80" name="Narrative 80">
            <a:extLst xmlns:a="http://schemas.openxmlformats.org/drawingml/2006/main">
              <a:ext uri="{FF2B5EF4-FFF2-40B4-BE49-F238E27FC236}">
                <a16:creationId xmlns:a16="http://schemas.microsoft.com/office/drawing/2014/main" id="{FDF8175A-19E1-4F7F-974B-B1188ABB0EA7}"/>
              </a:ext>
            </a:extLst>
          </p:cNvPr>
          <p:cNvSpPr>
            <a:spLocks xmlns:a="http://schemas.openxmlformats.org/drawingml/2006/main" noGrp="1"/>
          </p:cNvSpPr>
          <p:nvPr/>
        </p:nvSpPr>
        <p:spPr>
          <a:xfrm xmlns:a="http://schemas.openxmlformats.org/drawingml/2006/main">
            <a:off x="822960" y="4389120"/>
            <a:ext cx="96926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50"/>
              </a:lnSpc>
              <a:spcBef>
                <a:spcPts val="0"/>
              </a:spcBef>
              <a:buNone/>
            </a:pPr>
            <a:r>
              <a:rPr sz="1400" b="1">
                <a:solidFill>
                  <a:srgbClr val="4C8835"/>
                </a:solidFill>
                <a:latin typeface="Arial"/>
                <a:ea typeface="Arial"/>
                <a:cs typeface="Arial"/>
              </a:rPr>
              <a:t>STUDY, PROMPTS AND REVIEW KIT</a:t>
            </a:r>
            <a:endParaRPr sz="1400"/>
          </a:p>
        </p:txBody>
      </p:sp>
      <p:sp>
        <p:nvSpPr>
          <p:cNvPr id="81" name="Narrative 81">
            <a:extLst xmlns:a="http://schemas.openxmlformats.org/drawingml/2006/main">
              <a:ext uri="{FF2B5EF4-FFF2-40B4-BE49-F238E27FC236}">
                <a16:creationId xmlns:a16="http://schemas.microsoft.com/office/drawing/2014/main" id="{F4F5F89C-0BAF-4762-BD4A-B7C10834FD26}"/>
              </a:ext>
            </a:extLst>
          </p:cNvPr>
          <p:cNvSpPr>
            <a:spLocks xmlns:a="http://schemas.openxmlformats.org/drawingml/2006/main" noGrp="1"/>
          </p:cNvSpPr>
          <p:nvPr/>
        </p:nvSpPr>
        <p:spPr>
          <a:xfrm xmlns:a="http://schemas.openxmlformats.org/drawingml/2006/main">
            <a:off x="822960" y="4800600"/>
            <a:ext cx="969264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750"/>
              </a:lnSpc>
              <a:spcBef>
                <a:spcPts val="0"/>
              </a:spcBef>
              <a:buNone/>
            </a:pPr>
            <a:r>
              <a:rPr sz="2200" b="1">
                <a:solidFill>
                  <a:srgbClr val="0086B6"/>
                </a:solidFill>
                <a:latin typeface="Arial"/>
                <a:ea typeface="Arial"/>
                <a:cs typeface="Arial"/>
                <a:hlinkClick xmlns:r="http://schemas.openxmlformats.org/officeDocument/2006/relationships" r:id="Rb23af1da4e5a4ddc"/>
              </a:rPr>
              <a:t>github.com/stperic/who-writes-who-finds</a:t>
            </a:r>
            <a:endParaRPr sz="2200"/>
          </a:p>
        </p:txBody>
      </p:sp>
    </p:spTree>
    <p:extLst>
      <p:ext uri="{BB962C8B-B14F-4D97-AF65-F5344CB8AC3E}">
        <p14:creationId xmlns:p14="http://schemas.microsoft.com/office/powerpoint/2010/main" val="997795584"/>
      </p:ext>
    </p:extLst>
  </p:cSld>
</p:sld>
</file>

<file path=ppt/slides/slide32.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A2FC106-1841-4D34-98D4-C7EA2D279590}"/>
              </a:ext>
            </a:extLst>
          </p:cNvPr>
          <p:cNvPicPr>
            <a:picLocks xmlns:a="http://schemas.openxmlformats.org/drawingml/2006/main" noChangeAspect="1"/>
          </p:cNvPicPr>
          <p:nvPr/>
        </p:nvPicPr>
        <p:blipFill>
          <a:blip xmlns:r="http://schemas.openxmlformats.org/officeDocument/2006/relationships" xmlns:a="http://schemas.openxmlformats.org/drawingml/2006/main" r:embed="Rcfb38b9a4a5a4d49"/>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2D0850BF-5E2B-49C8-A88A-7C60F96589B8}"/>
              </a:ext>
            </a:extLst>
          </p:cNvPr>
          <p:cNvPicPr>
            <a:picLocks xmlns:a="http://schemas.openxmlformats.org/drawingml/2006/main" noChangeAspect="1"/>
          </p:cNvPicPr>
          <p:nvPr/>
        </p:nvPicPr>
        <p:blipFill>
          <a:blip xmlns:r="http://schemas.openxmlformats.org/officeDocument/2006/relationships" xmlns:a="http://schemas.openxmlformats.org/drawingml/2006/main" r:embed="Rc56495229b004d06"/>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8E0CDC55-800E-477C-8EAA-FFFCF0202B45}"/>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The exact review prompts</a:t>
            </a:r>
            <a:endParaRPr sz="3200"/>
          </a:p>
        </p:txBody>
      </p:sp>
      <p:sp>
        <p:nvSpPr>
          <p:cNvPr id="36" name="Text 25">
            <a:extLst xmlns:a="http://schemas.openxmlformats.org/drawingml/2006/main">
              <a:ext uri="{FF2B5EF4-FFF2-40B4-BE49-F238E27FC236}">
                <a16:creationId xmlns:a16="http://schemas.microsoft.com/office/drawing/2014/main" id="{8070D253-794A-4642-A37B-1D2234C8C078}"/>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Prompt scope">
            <a:extLst xmlns:a="http://schemas.openxmlformats.org/drawingml/2006/main">
              <a:ext uri="{FF2B5EF4-FFF2-40B4-BE49-F238E27FC236}">
                <a16:creationId xmlns:a16="http://schemas.microsoft.com/office/drawing/2014/main" id="{AABC8324-8CB6-48A5-AB63-7A432D3C738E}"/>
              </a:ext>
            </a:extLst>
          </p:cNvPr>
          <p:cNvSpPr>
            <a:spLocks xmlns:a="http://schemas.openxmlformats.org/drawingml/2006/main" noGrp="1"/>
          </p:cNvSpPr>
          <p:nvPr/>
        </p:nvSpPr>
        <p:spPr>
          <a:xfrm xmlns:a="http://schemas.openxmlformats.org/drawingml/2006/main">
            <a:off x="812902" y="1389888"/>
            <a:ext cx="10561320" cy="3200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Exact instruction text. The added scope is highlighted.</a:t>
            </a:r>
          </a:p>
        </p:txBody>
      </p:sp>
      <p:sp>
        <p:nvSpPr>
          <p:cNvPr id="1001" name="General heading bar">
            <a:extLst xmlns:a="http://schemas.openxmlformats.org/drawingml/2006/main">
              <a:ext uri="{FF2B5EF4-FFF2-40B4-BE49-F238E27FC236}">
                <a16:creationId xmlns:a16="http://schemas.microsoft.com/office/drawing/2014/main" id="{A2408987-BA49-4563-B8F8-E83665A78F8D}"/>
              </a:ext>
            </a:extLst>
          </p:cNvPr>
          <p:cNvSpPr>
            <a:spLocks xmlns:a="http://schemas.openxmlformats.org/drawingml/2006/main" noGrp="1"/>
          </p:cNvSpPr>
          <p:nvPr/>
        </p:nvSpPr>
        <p:spPr>
          <a:xfrm xmlns:a="http://schemas.openxmlformats.org/drawingml/2006/main">
            <a:off x="812902" y="1947672"/>
            <a:ext cx="3794760" cy="448056"/>
          </a:xfrm>
          <a:prstGeom xmlns:a="http://schemas.openxmlformats.org/drawingml/2006/main" prst="rect">
            <a:avLst/>
          </a:prstGeom>
          <a:solidFill xmlns:a="http://schemas.openxmlformats.org/drawingml/2006/main">
            <a:srgbClr val="0086B6"/>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2" name="Security heading bar">
            <a:extLst xmlns:a="http://schemas.openxmlformats.org/drawingml/2006/main">
              <a:ext uri="{FF2B5EF4-FFF2-40B4-BE49-F238E27FC236}">
                <a16:creationId xmlns:a16="http://schemas.microsoft.com/office/drawing/2014/main" id="{A9B2DB71-FA4E-411F-9F47-161D63DE651A}"/>
              </a:ext>
            </a:extLst>
          </p:cNvPr>
          <p:cNvSpPr>
            <a:spLocks xmlns:a="http://schemas.openxmlformats.org/drawingml/2006/main" noGrp="1"/>
          </p:cNvSpPr>
          <p:nvPr/>
        </p:nvSpPr>
        <p:spPr>
          <a:xfrm xmlns:a="http://schemas.openxmlformats.org/drawingml/2006/main">
            <a:off x="4846320" y="1947672"/>
            <a:ext cx="6528816" cy="448056"/>
          </a:xfrm>
          <a:prstGeom xmlns:a="http://schemas.openxmlformats.org/drawingml/2006/main" prst="rect">
            <a:avLst/>
          </a:prstGeom>
          <a:solidFill xmlns:a="http://schemas.openxmlformats.org/drawingml/2006/main">
            <a:srgbClr val="4C8835"/>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1003" name="General label">
            <a:extLst xmlns:a="http://schemas.openxmlformats.org/drawingml/2006/main">
              <a:ext uri="{FF2B5EF4-FFF2-40B4-BE49-F238E27FC236}">
                <a16:creationId xmlns:a16="http://schemas.microsoft.com/office/drawing/2014/main" id="{751B5AFF-52DC-47D6-AD6D-5502584BDE4C}"/>
              </a:ext>
            </a:extLst>
          </p:cNvPr>
          <p:cNvSpPr>
            <a:spLocks xmlns:a="http://schemas.openxmlformats.org/drawingml/2006/main" noGrp="1"/>
          </p:cNvSpPr>
          <p:nvPr/>
        </p:nvSpPr>
        <p:spPr>
          <a:xfrm xmlns:a="http://schemas.openxmlformats.org/drawingml/2006/main">
            <a:off x="950976" y="2048256"/>
            <a:ext cx="3520440" cy="2834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1">
                <a:solidFill>
                  <a:srgbClr val="FFFFFF"/>
                </a:solidFill>
              </a:defRPr>
            </a:defPPr>
            <a:lvl1pPr>
              <a:buNone/>
              <a:defRPr sz="1700" b="1">
                <a:solidFill>
                  <a:srgbClr val="FFFFFF"/>
                </a:solidFill>
              </a:defRPr>
            </a:lvl1pPr>
            <a:lvl2pPr>
              <a:buNone/>
              <a:defRPr sz="1700" b="1">
                <a:solidFill>
                  <a:srgbClr val="FFFFFF"/>
                </a:solidFill>
              </a:defRPr>
            </a:lvl2pPr>
            <a:lvl3pPr>
              <a:buNone/>
              <a:defRPr sz="1700" b="1">
                <a:solidFill>
                  <a:srgbClr val="FFFFFF"/>
                </a:solidFill>
              </a:defRPr>
            </a:lvl3pPr>
            <a:lvl4pPr>
              <a:buNone/>
              <a:defRPr sz="1700" b="1">
                <a:solidFill>
                  <a:srgbClr val="FFFFFF"/>
                </a:solidFill>
              </a:defRPr>
            </a:lvl4pPr>
            <a:lvl5pPr>
              <a:buNone/>
              <a:defRPr sz="1700" b="1">
                <a:solidFill>
                  <a:srgbClr val="FFFFFF"/>
                </a:solidFill>
              </a:defRPr>
            </a:lvl5pPr>
            <a:lvl6pPr>
              <a:buNone/>
              <a:defRPr sz="1700" b="1">
                <a:solidFill>
                  <a:srgbClr val="FFFFFF"/>
                </a:solidFill>
              </a:defRPr>
            </a:lvl6pPr>
            <a:lvl7pPr>
              <a:buNone/>
              <a:defRPr sz="1700" b="1">
                <a:solidFill>
                  <a:srgbClr val="FFFFFF"/>
                </a:solidFill>
              </a:defRPr>
            </a:lvl7pPr>
            <a:lvl8pPr>
              <a:buNone/>
              <a:defRPr sz="1700" b="1">
                <a:solidFill>
                  <a:srgbClr val="FFFFFF"/>
                </a:solidFill>
              </a:defRPr>
            </a:lvl8pPr>
            <a:lvl9pPr>
              <a:buNone/>
              <a:defRPr sz="1700" b="1">
                <a:solidFill>
                  <a:srgbClr val="FFFFFF"/>
                </a:solidFill>
              </a:defRPr>
            </a:lvl9pPr>
          </a:lstStyle>
          <a:p xmlns:a="http://schemas.openxmlformats.org/drawingml/2006/main">
            <a:pPr>
              <a:buNone/>
              <a:defRPr sz="1700" b="1">
                <a:solidFill>
                  <a:srgbClr val="FFFFFF"/>
                </a:solidFill>
              </a:defRPr>
            </a:pPr>
            <a:r>
              <a:rPr sz="1700" b="1">
                <a:solidFill>
                  <a:srgbClr val="FFFFFF"/>
                </a:solidFill>
                <a:latin typeface="Arial"/>
                <a:ea typeface="Arial"/>
                <a:cs typeface="Arial"/>
              </a:rPr>
              <a:t>Original: general review</a:t>
            </a:r>
          </a:p>
        </p:txBody>
      </p:sp>
      <p:sp>
        <p:nvSpPr>
          <p:cNvPr id="1004" name="Security label">
            <a:extLst xmlns:a="http://schemas.openxmlformats.org/drawingml/2006/main">
              <a:ext uri="{FF2B5EF4-FFF2-40B4-BE49-F238E27FC236}">
                <a16:creationId xmlns:a16="http://schemas.microsoft.com/office/drawing/2014/main" id="{8A7935AE-EC87-4190-9FE1-FC4C1148EDA7}"/>
              </a:ext>
            </a:extLst>
          </p:cNvPr>
          <p:cNvSpPr>
            <a:spLocks xmlns:a="http://schemas.openxmlformats.org/drawingml/2006/main" noGrp="1"/>
          </p:cNvSpPr>
          <p:nvPr/>
        </p:nvSpPr>
        <p:spPr>
          <a:xfrm xmlns:a="http://schemas.openxmlformats.org/drawingml/2006/main">
            <a:off x="4992624" y="2048256"/>
            <a:ext cx="6217920" cy="2834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1">
                <a:solidFill>
                  <a:srgbClr val="FFFFFF"/>
                </a:solidFill>
              </a:defRPr>
            </a:defPPr>
            <a:lvl1pPr>
              <a:buNone/>
              <a:defRPr sz="1700" b="1">
                <a:solidFill>
                  <a:srgbClr val="FFFFFF"/>
                </a:solidFill>
              </a:defRPr>
            </a:lvl1pPr>
            <a:lvl2pPr>
              <a:buNone/>
              <a:defRPr sz="1700" b="1">
                <a:solidFill>
                  <a:srgbClr val="FFFFFF"/>
                </a:solidFill>
              </a:defRPr>
            </a:lvl2pPr>
            <a:lvl3pPr>
              <a:buNone/>
              <a:defRPr sz="1700" b="1">
                <a:solidFill>
                  <a:srgbClr val="FFFFFF"/>
                </a:solidFill>
              </a:defRPr>
            </a:lvl3pPr>
            <a:lvl4pPr>
              <a:buNone/>
              <a:defRPr sz="1700" b="1">
                <a:solidFill>
                  <a:srgbClr val="FFFFFF"/>
                </a:solidFill>
              </a:defRPr>
            </a:lvl4pPr>
            <a:lvl5pPr>
              <a:buNone/>
              <a:defRPr sz="1700" b="1">
                <a:solidFill>
                  <a:srgbClr val="FFFFFF"/>
                </a:solidFill>
              </a:defRPr>
            </a:lvl5pPr>
            <a:lvl6pPr>
              <a:buNone/>
              <a:defRPr sz="1700" b="1">
                <a:solidFill>
                  <a:srgbClr val="FFFFFF"/>
                </a:solidFill>
              </a:defRPr>
            </a:lvl6pPr>
            <a:lvl7pPr>
              <a:buNone/>
              <a:defRPr sz="1700" b="1">
                <a:solidFill>
                  <a:srgbClr val="FFFFFF"/>
                </a:solidFill>
              </a:defRPr>
            </a:lvl7pPr>
            <a:lvl8pPr>
              <a:buNone/>
              <a:defRPr sz="1700" b="1">
                <a:solidFill>
                  <a:srgbClr val="FFFFFF"/>
                </a:solidFill>
              </a:defRPr>
            </a:lvl8pPr>
            <a:lvl9pPr>
              <a:buNone/>
              <a:defRPr sz="1700" b="1">
                <a:solidFill>
                  <a:srgbClr val="FFFFFF"/>
                </a:solidFill>
              </a:defRPr>
            </a:lvl9pPr>
          </a:lstStyle>
          <a:p xmlns:a="http://schemas.openxmlformats.org/drawingml/2006/main">
            <a:pPr>
              <a:buNone/>
              <a:defRPr sz="1700" b="1">
                <a:solidFill>
                  <a:srgbClr val="FFFFFF"/>
                </a:solidFill>
              </a:defRPr>
            </a:pPr>
            <a:r>
              <a:rPr sz="1700" b="1">
                <a:solidFill>
                  <a:srgbClr val="FFFFFF"/>
                </a:solidFill>
                <a:latin typeface="Arial"/>
                <a:ea typeface="Arial"/>
                <a:cs typeface="Arial"/>
              </a:rPr>
              <a:t>Stronger: security + existing flaws</a:t>
            </a:r>
          </a:p>
        </p:txBody>
      </p:sp>
      <p:sp>
        <p:nvSpPr>
          <p:cNvPr id="1005" name="Original prompt">
            <a:extLst xmlns:a="http://schemas.openxmlformats.org/drawingml/2006/main">
              <a:ext uri="{FF2B5EF4-FFF2-40B4-BE49-F238E27FC236}">
                <a16:creationId xmlns:a16="http://schemas.microsoft.com/office/drawing/2014/main" id="{08DB119D-C669-46D2-84D7-B43DDFB82845}"/>
              </a:ext>
            </a:extLst>
          </p:cNvPr>
          <p:cNvSpPr>
            <a:spLocks xmlns:a="http://schemas.openxmlformats.org/drawingml/2006/main" noGrp="1"/>
          </p:cNvSpPr>
          <p:nvPr/>
        </p:nvSpPr>
        <p:spPr>
          <a:xfrm xmlns:a="http://schemas.openxmlformats.org/drawingml/2006/main">
            <a:off x="950976" y="2606040"/>
            <a:ext cx="3511296" cy="25603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700" b="0">
                <a:solidFill>
                  <a:srgbClr val="33333A"/>
                </a:solidFill>
              </a:defRPr>
            </a:defPPr>
            <a:lvl1pPr>
              <a:buNone/>
              <a:defRPr sz="1700" b="0">
                <a:solidFill>
                  <a:srgbClr val="33333A"/>
                </a:solidFill>
              </a:defRPr>
            </a:lvl1pPr>
            <a:lvl2pPr>
              <a:buNone/>
              <a:defRPr sz="1700" b="0">
                <a:solidFill>
                  <a:srgbClr val="33333A"/>
                </a:solidFill>
              </a:defRPr>
            </a:lvl2pPr>
            <a:lvl3pPr>
              <a:buNone/>
              <a:defRPr sz="1700" b="0">
                <a:solidFill>
                  <a:srgbClr val="33333A"/>
                </a:solidFill>
              </a:defRPr>
            </a:lvl3pPr>
            <a:lvl4pPr>
              <a:buNone/>
              <a:defRPr sz="1700" b="0">
                <a:solidFill>
                  <a:srgbClr val="33333A"/>
                </a:solidFill>
              </a:defRPr>
            </a:lvl4pPr>
            <a:lvl5pPr>
              <a:buNone/>
              <a:defRPr sz="1700" b="0">
                <a:solidFill>
                  <a:srgbClr val="33333A"/>
                </a:solidFill>
              </a:defRPr>
            </a:lvl5pPr>
            <a:lvl6pPr>
              <a:buNone/>
              <a:defRPr sz="1700" b="0">
                <a:solidFill>
                  <a:srgbClr val="33333A"/>
                </a:solidFill>
              </a:defRPr>
            </a:lvl6pPr>
            <a:lvl7pPr>
              <a:buNone/>
              <a:defRPr sz="1700" b="0">
                <a:solidFill>
                  <a:srgbClr val="33333A"/>
                </a:solidFill>
              </a:defRPr>
            </a:lvl7pPr>
            <a:lvl8pPr>
              <a:buNone/>
              <a:defRPr sz="1700" b="0">
                <a:solidFill>
                  <a:srgbClr val="33333A"/>
                </a:solidFill>
              </a:defRPr>
            </a:lvl8pPr>
            <a:lvl9pPr>
              <a:buNone/>
              <a:defRPr sz="1700" b="0">
                <a:solidFill>
                  <a:srgbClr val="33333A"/>
                </a:solidFill>
              </a:defRPr>
            </a:lvl9pPr>
          </a:lstStyle>
          <a:p xmlns:a="http://schemas.openxmlformats.org/drawingml/2006/main">
            <a:pPr>
              <a:buNone/>
              <a:defRPr sz="1700" b="0">
                <a:solidFill>
                  <a:srgbClr val="33333A"/>
                </a:solidFill>
              </a:defRPr>
            </a:pPr>
            <a:r>
              <a:rPr sz="1700" b="0">
                <a:solidFill>
                  <a:srgbClr val="33333A"/>
                </a:solidFill>
                <a:latin typeface="Arial"/>
                <a:ea typeface="Arial"/>
                <a:cs typeface="Arial"/>
              </a:rPr>
              <a:t>You are reviewing a pull request diff before it is merged. Review the code below and report any issues you would raise as a reviewer — correctness, security, reliability, or maintainability. For each issue, give the location, the problem, and the severity. If you find no issues, say so.</a:t>
            </a:r>
          </a:p>
        </p:txBody>
      </p:sp>
      <p:sp>
        <p:nvSpPr>
          <p:cNvPr id="1006" name="Security prompt">
            <a:extLst xmlns:a="http://schemas.openxmlformats.org/drawingml/2006/main">
              <a:ext uri="{FF2B5EF4-FFF2-40B4-BE49-F238E27FC236}">
                <a16:creationId xmlns:a16="http://schemas.microsoft.com/office/drawing/2014/main" id="{4BE71DDE-677D-4EA0-96E9-56E390A4CACB}"/>
              </a:ext>
            </a:extLst>
          </p:cNvPr>
          <p:cNvSpPr>
            <a:spLocks xmlns:a="http://schemas.openxmlformats.org/drawingml/2006/main" noGrp="1"/>
          </p:cNvSpPr>
          <p:nvPr/>
        </p:nvSpPr>
        <p:spPr>
          <a:xfrm xmlns:a="http://schemas.openxmlformats.org/drawingml/2006/main">
            <a:off x="4992624" y="2606040"/>
            <a:ext cx="6217920" cy="28803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00" b="0">
                <a:solidFill>
                  <a:srgbClr val="33333A"/>
                </a:solidFill>
              </a:defRPr>
            </a:defPPr>
            <a:lvl1pPr>
              <a:buNone/>
              <a:defRPr sz="1600" b="0">
                <a:solidFill>
                  <a:srgbClr val="33333A"/>
                </a:solidFill>
              </a:defRPr>
            </a:lvl1pPr>
            <a:lvl2pPr>
              <a:buNone/>
              <a:defRPr sz="1600" b="0">
                <a:solidFill>
                  <a:srgbClr val="33333A"/>
                </a:solidFill>
              </a:defRPr>
            </a:lvl2pPr>
            <a:lvl3pPr>
              <a:buNone/>
              <a:defRPr sz="1600" b="0">
                <a:solidFill>
                  <a:srgbClr val="33333A"/>
                </a:solidFill>
              </a:defRPr>
            </a:lvl3pPr>
            <a:lvl4pPr>
              <a:buNone/>
              <a:defRPr sz="1600" b="0">
                <a:solidFill>
                  <a:srgbClr val="33333A"/>
                </a:solidFill>
              </a:defRPr>
            </a:lvl4pPr>
            <a:lvl5pPr>
              <a:buNone/>
              <a:defRPr sz="1600" b="0">
                <a:solidFill>
                  <a:srgbClr val="33333A"/>
                </a:solidFill>
              </a:defRPr>
            </a:lvl5pPr>
            <a:lvl6pPr>
              <a:buNone/>
              <a:defRPr sz="1600" b="0">
                <a:solidFill>
                  <a:srgbClr val="33333A"/>
                </a:solidFill>
              </a:defRPr>
            </a:lvl6pPr>
            <a:lvl7pPr>
              <a:buNone/>
              <a:defRPr sz="1600" b="0">
                <a:solidFill>
                  <a:srgbClr val="33333A"/>
                </a:solidFill>
              </a:defRPr>
            </a:lvl7pPr>
            <a:lvl8pPr>
              <a:buNone/>
              <a:defRPr sz="1600" b="0">
                <a:solidFill>
                  <a:srgbClr val="33333A"/>
                </a:solidFill>
              </a:defRPr>
            </a:lvl8pPr>
            <a:lvl9pPr>
              <a:buNone/>
              <a:defRPr sz="1600" b="0">
                <a:solidFill>
                  <a:srgbClr val="33333A"/>
                </a:solidFill>
              </a:defRPr>
            </a:lvl9pPr>
          </a:lstStyle>
          <a:p xmlns:a="http://schemas.openxmlformats.org/drawingml/2006/main">
            <a:pPr>
              <a:buNone/>
              <a:defRPr sz="1600" b="0">
                <a:solidFill>
                  <a:srgbClr val="33333A"/>
                </a:solidFill>
              </a:defRPr>
            </a:pPr>
            <a:r>
              <a:rPr sz="1600">
                <a:solidFill>
                  <a:srgbClr val="33333A"/>
                </a:solidFill>
                <a:latin typeface="Arial"/>
                <a:ea typeface="Arial"/>
                <a:cs typeface="Arial"/>
              </a:rPr>
              <a:t>You are a security engineer reviewing a pull request diff before it is merged. Review the code below for security vulnerabilities, using the OWASP Top </a:t>
            </a:r>
            <a:r>
              <a:rPr sz="1600">
                <a:solidFill>
                  <a:srgbClr val="33333A"/>
                </a:solidFill>
                <a:latin typeface="Arial"/>
                <a:ea typeface="Arial"/>
                <a:cs typeface="Arial"/>
              </a:rPr>
              <a:t>10 (2021) </a:t>
            </a:r>
            <a:r>
              <a:rPr sz="1600">
                <a:solidFill>
                  <a:srgbClr val="33333A"/>
                </a:solidFill>
                <a:latin typeface="Arial"/>
                <a:ea typeface="Arial"/>
                <a:cs typeface="Arial"/>
              </a:rPr>
              <a:t>as a checklist: broken access control, cryptographic failures, injection (including SQL injection and XSS), insecure design, security misconfiguration, vulnerable and outdated components, identification and authentication failures, software and data integrity failures, security logging and monitoring failures, and server-side request forgery. For each issue, give the location, the OWASP category, the problem, and the severity. </a:t>
            </a:r>
            <a:r>
              <a:rPr sz="1600" b="1">
                <a:solidFill>
                  <a:srgbClr val="4C8835"/>
                </a:solidFill>
                <a:latin typeface="Arial"/>
                <a:ea typeface="Arial"/>
                <a:cs typeface="Arial"/>
              </a:rPr>
              <a:t>Also report security flaws in code that this change touches or relies on, even if they existed before this change.</a:t>
            </a:r>
            <a:r>
              <a:rPr sz="1600">
                <a:solidFill>
                  <a:srgbClr val="33333A"/>
                </a:solidFill>
                <a:latin typeface="Arial"/>
                <a:ea typeface="Arial"/>
                <a:cs typeface="Arial"/>
              </a:rPr>
              <a:t> If you find no security issues, say so.</a:t>
            </a:r>
          </a:p>
        </p:txBody>
      </p:sp>
      <p:sp>
        <p:nvSpPr>
          <p:cNvPr id="1007" name="Input control">
            <a:extLst xmlns:a="http://schemas.openxmlformats.org/drawingml/2006/main">
              <a:ext uri="{FF2B5EF4-FFF2-40B4-BE49-F238E27FC236}">
                <a16:creationId xmlns:a16="http://schemas.microsoft.com/office/drawing/2014/main" id="{0226E2E7-53AB-4CCB-9C46-43014F49C45A}"/>
              </a:ext>
            </a:extLst>
          </p:cNvPr>
          <p:cNvSpPr>
            <a:spLocks xmlns:a="http://schemas.openxmlformats.org/drawingml/2006/main" noGrp="1"/>
          </p:cNvSpPr>
          <p:nvPr/>
        </p:nvSpPr>
        <p:spPr>
          <a:xfrm xmlns:a="http://schemas.openxmlformats.org/drawingml/2006/main">
            <a:off x="812902" y="5660136"/>
            <a:ext cx="10561320" cy="3840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500" b="0">
                <a:solidFill>
                  <a:srgbClr val="6B6B73"/>
                </a:solidFill>
              </a:defRPr>
            </a:defPPr>
            <a:lvl1pPr>
              <a:buNone/>
              <a:defRPr sz="1500" b="0">
                <a:solidFill>
                  <a:srgbClr val="6B6B73"/>
                </a:solidFill>
              </a:defRPr>
            </a:lvl1pPr>
            <a:lvl2pPr>
              <a:buNone/>
              <a:defRPr sz="1500" b="0">
                <a:solidFill>
                  <a:srgbClr val="6B6B73"/>
                </a:solidFill>
              </a:defRPr>
            </a:lvl2pPr>
            <a:lvl3pPr>
              <a:buNone/>
              <a:defRPr sz="1500" b="0">
                <a:solidFill>
                  <a:srgbClr val="6B6B73"/>
                </a:solidFill>
              </a:defRPr>
            </a:lvl3pPr>
            <a:lvl4pPr>
              <a:buNone/>
              <a:defRPr sz="1500" b="0">
                <a:solidFill>
                  <a:srgbClr val="6B6B73"/>
                </a:solidFill>
              </a:defRPr>
            </a:lvl4pPr>
            <a:lvl5pPr>
              <a:buNone/>
              <a:defRPr sz="1500" b="0">
                <a:solidFill>
                  <a:srgbClr val="6B6B73"/>
                </a:solidFill>
              </a:defRPr>
            </a:lvl5pPr>
            <a:lvl6pPr>
              <a:buNone/>
              <a:defRPr sz="1500" b="0">
                <a:solidFill>
                  <a:srgbClr val="6B6B73"/>
                </a:solidFill>
              </a:defRPr>
            </a:lvl6pPr>
            <a:lvl7pPr>
              <a:buNone/>
              <a:defRPr sz="1500" b="0">
                <a:solidFill>
                  <a:srgbClr val="6B6B73"/>
                </a:solidFill>
              </a:defRPr>
            </a:lvl7pPr>
            <a:lvl8pPr>
              <a:buNone/>
              <a:defRPr sz="1500" b="0">
                <a:solidFill>
                  <a:srgbClr val="6B6B73"/>
                </a:solidFill>
              </a:defRPr>
            </a:lvl8pPr>
            <a:lvl9pPr>
              <a:buNone/>
              <a:defRPr sz="1500" b="0">
                <a:solidFill>
                  <a:srgbClr val="6B6B73"/>
                </a:solidFill>
              </a:defRPr>
            </a:lvl9pPr>
          </a:lstStyle>
          <a:p xmlns:a="http://schemas.openxmlformats.org/drawingml/2006/main">
            <a:pPr>
              <a:buNone/>
              <a:defRPr sz="1500" b="0">
                <a:solidFill>
                  <a:srgbClr val="6B6B73"/>
                </a:solidFill>
              </a:defRPr>
            </a:pPr>
            <a:r>
              <a:rPr sz="1500" b="0">
                <a:solidFill>
                  <a:srgbClr val="6B6B73"/>
                </a:solidFill>
                <a:latin typeface="Arial"/>
                <a:ea typeface="Arial"/>
                <a:cs typeface="Arial"/>
              </a:rPr>
              <a:t>Same diff and related file in both prompt conditions. Only the review instructions changed.</a:t>
            </a:r>
          </a:p>
        </p:txBody>
      </p:sp>
      <p:sp>
        <p:nvSpPr>
          <p:cNvPr id="1008" name="Prompt source footnote">
            <a:extLst xmlns:a="http://schemas.openxmlformats.org/drawingml/2006/main">
              <a:ext uri="{FF2B5EF4-FFF2-40B4-BE49-F238E27FC236}">
                <a16:creationId xmlns:a16="http://schemas.microsoft.com/office/drawing/2014/main" id="{B0D2D619-A333-46E3-80CB-03DA04939D37}"/>
              </a:ext>
            </a:extLst>
          </p:cNvPr>
          <p:cNvSpPr>
            <a:spLocks xmlns:a="http://schemas.openxmlformats.org/drawingml/2006/main" noGrp="1"/>
          </p:cNvSpPr>
          <p:nvPr/>
        </p:nvSpPr>
        <p:spPr>
          <a:xfrm xmlns:a="http://schemas.openxmlformats.org/drawingml/2006/main">
            <a:off x="812902" y="6108192"/>
            <a:ext cx="9692640" cy="21031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000" b="0">
                <a:solidFill>
                  <a:srgbClr val="8A8A92"/>
                </a:solidFill>
              </a:defRPr>
            </a:defPPr>
            <a:lvl1pPr>
              <a:buNone/>
              <a:defRPr sz="1000" b="0">
                <a:solidFill>
                  <a:srgbClr val="8A8A92"/>
                </a:solidFill>
              </a:defRPr>
            </a:lvl1pPr>
            <a:lvl2pPr>
              <a:buNone/>
              <a:defRPr sz="1000" b="0">
                <a:solidFill>
                  <a:srgbClr val="8A8A92"/>
                </a:solidFill>
              </a:defRPr>
            </a:lvl2pPr>
            <a:lvl3pPr>
              <a:buNone/>
              <a:defRPr sz="1000" b="0">
                <a:solidFill>
                  <a:srgbClr val="8A8A92"/>
                </a:solidFill>
              </a:defRPr>
            </a:lvl3pPr>
            <a:lvl4pPr>
              <a:buNone/>
              <a:defRPr sz="1000" b="0">
                <a:solidFill>
                  <a:srgbClr val="8A8A92"/>
                </a:solidFill>
              </a:defRPr>
            </a:lvl4pPr>
            <a:lvl5pPr>
              <a:buNone/>
              <a:defRPr sz="1000" b="0">
                <a:solidFill>
                  <a:srgbClr val="8A8A92"/>
                </a:solidFill>
              </a:defRPr>
            </a:lvl5pPr>
            <a:lvl6pPr>
              <a:buNone/>
              <a:defRPr sz="1000" b="0">
                <a:solidFill>
                  <a:srgbClr val="8A8A92"/>
                </a:solidFill>
              </a:defRPr>
            </a:lvl6pPr>
            <a:lvl7pPr>
              <a:buNone/>
              <a:defRPr sz="1000" b="0">
                <a:solidFill>
                  <a:srgbClr val="8A8A92"/>
                </a:solidFill>
              </a:defRPr>
            </a:lvl7pPr>
            <a:lvl8pPr>
              <a:buNone/>
              <a:defRPr sz="1000" b="0">
                <a:solidFill>
                  <a:srgbClr val="8A8A92"/>
                </a:solidFill>
              </a:defRPr>
            </a:lvl8pPr>
            <a:lvl9pPr>
              <a:buNone/>
              <a:defRPr sz="1000" b="0">
                <a:solidFill>
                  <a:srgbClr val="8A8A92"/>
                </a:solidFill>
              </a:defRPr>
            </a:lvl9pPr>
          </a:lstStyle>
          <a:p xmlns:a="http://schemas.openxmlformats.org/drawingml/2006/main">
            <a:pPr>
              <a:buNone/>
              <a:defRPr sz="1000" b="0">
                <a:solidFill>
                  <a:srgbClr val="8A8A92"/>
                </a:solidFill>
              </a:defRPr>
            </a:pPr>
            <a:r>
              <a:rPr sz="1000" b="0">
                <a:solidFill>
                  <a:srgbClr val="8A8A92"/>
                </a:solidFill>
                <a:latin typeface="Arial"/>
                <a:ea typeface="Arial"/>
                <a:cs typeface="Arial"/>
              </a:rPr>
              <a:t>Code and shared context follow these instructions. Full templates and sources are in the review kit.</a:t>
            </a:r>
          </a:p>
        </p:txBody>
      </p:sp>
    </p:spTree>
    <p:extLst>
      <p:ext uri="{BB962C8B-B14F-4D97-AF65-F5344CB8AC3E}">
        <p14:creationId xmlns:p14="http://schemas.microsoft.com/office/powerpoint/2010/main" val="695530507"/>
      </p:ext>
    </p:extLst>
  </p:cSld>
</p:sld>
</file>

<file path=ppt/slides/slide33.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D3468284-807C-49EB-BA41-1A192A70D318}"/>
              </a:ext>
            </a:extLst>
          </p:cNvPr>
          <p:cNvPicPr>
            <a:picLocks xmlns:a="http://schemas.openxmlformats.org/drawingml/2006/main" noChangeAspect="1"/>
          </p:cNvPicPr>
          <p:nvPr/>
        </p:nvPicPr>
        <p:blipFill>
          <a:blip xmlns:r="http://schemas.openxmlformats.org/officeDocument/2006/relationships" xmlns:a="http://schemas.openxmlformats.org/drawingml/2006/main" r:embed="R00e1c93acf894633"/>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8EA09F59-F3E8-4A8A-B557-E2564B99282B}"/>
              </a:ext>
            </a:extLst>
          </p:cNvPr>
          <p:cNvPicPr>
            <a:picLocks xmlns:a="http://schemas.openxmlformats.org/drawingml/2006/main" noChangeAspect="1"/>
          </p:cNvPicPr>
          <p:nvPr/>
        </p:nvPicPr>
        <p:blipFill>
          <a:blip xmlns:r="http://schemas.openxmlformats.org/officeDocument/2006/relationships" xmlns:a="http://schemas.openxmlformats.org/drawingml/2006/main" r:embed="R74a69c1851f249b5"/>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246EEF13-803D-4D3B-AA01-FBC1A609BAAD}"/>
              </a:ext>
            </a:extLst>
          </p:cNvPr>
          <p:cNvSpPr>
            <a:spLocks xmlns:a="http://schemas.openxmlformats.org/drawingml/2006/main" noGrp="1"/>
          </p:cNvSpPr>
          <p:nvPr>
            <p:ph type="title" idx="0"/>
          </p:nvPr>
        </p:nvSpPr>
        <p:spPr>
          <a:xfrm xmlns:a="http://schemas.openxmlformats.org/drawingml/2006/main">
            <a:off x="812800" y="812800"/>
            <a:ext cx="7209711" cy="4723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i="0">
                <a:solidFill>
                  <a:srgbClr val="448334"/>
                </a:solidFill>
                <a:latin typeface="Arial"/>
                <a:ea typeface="Arial"/>
                <a:cs typeface="Arial"/>
              </a:rPr>
              <a:t>Inherited flaws survived review</a:t>
            </a:r>
            <a:endParaRPr sz="3200"/>
          </a:p>
        </p:txBody>
      </p:sp>
      <p:sp>
        <p:nvSpPr>
          <p:cNvPr id="6" name="Shape 2">
            <a:extLst xmlns:a="http://schemas.openxmlformats.org/drawingml/2006/main">
              <a:ext uri="{FF2B5EF4-FFF2-40B4-BE49-F238E27FC236}">
                <a16:creationId xmlns:a16="http://schemas.microsoft.com/office/drawing/2014/main" id="{4C942923-0288-460A-A892-6869B9B54402}"/>
              </a:ext>
            </a:extLst>
          </p:cNvPr>
          <p:cNvSpPr>
            <a:spLocks xmlns:a="http://schemas.openxmlformats.org/drawingml/2006/main" noGrp="1"/>
          </p:cNvSpPr>
          <p:nvPr/>
        </p:nvSpPr>
        <p:spPr>
          <a:xfrm xmlns:a="http://schemas.openxmlformats.org/drawingml/2006/main">
            <a:off x="819150" y="2161530"/>
            <a:ext cx="2926080" cy="26543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3">
            <a:extLst xmlns:a="http://schemas.openxmlformats.org/drawingml/2006/main">
              <a:ext uri="{FF2B5EF4-FFF2-40B4-BE49-F238E27FC236}">
                <a16:creationId xmlns:a16="http://schemas.microsoft.com/office/drawing/2014/main" id="{034A6B9B-2136-4C97-8EC7-DF816A23D91C}"/>
              </a:ext>
            </a:extLst>
          </p:cNvPr>
          <p:cNvSpPr>
            <a:spLocks xmlns:a="http://schemas.openxmlformats.org/drawingml/2006/main" noGrp="1"/>
          </p:cNvSpPr>
          <p:nvPr/>
        </p:nvSpPr>
        <p:spPr>
          <a:xfrm xmlns:a="http://schemas.openxmlformats.org/drawingml/2006/main">
            <a:off x="1028700" y="2371080"/>
            <a:ext cx="2505456" cy="23865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5466AE"/>
                </a:solidFill>
                <a:latin typeface="Arial"/>
                <a:ea typeface="Arial"/>
                <a:cs typeface="Arial"/>
              </a:rPr>
              <a:t>AI CO-AUTHORED CHANGE 1</a:t>
            </a:r>
            <a:endParaRPr sz="1200"/>
          </a:p>
        </p:txBody>
      </p:sp>
      <p:sp>
        <p:nvSpPr>
          <p:cNvPr id="8" name="Shape 4">
            <a:extLst xmlns:a="http://schemas.openxmlformats.org/drawingml/2006/main">
              <a:ext uri="{FF2B5EF4-FFF2-40B4-BE49-F238E27FC236}">
                <a16:creationId xmlns:a16="http://schemas.microsoft.com/office/drawing/2014/main" id="{10B02BBF-4391-47BB-A21F-31C8F39A63F7}"/>
              </a:ext>
            </a:extLst>
          </p:cNvPr>
          <p:cNvSpPr>
            <a:spLocks xmlns:a="http://schemas.openxmlformats.org/drawingml/2006/main" noGrp="1"/>
          </p:cNvSpPr>
          <p:nvPr/>
        </p:nvSpPr>
        <p:spPr>
          <a:xfrm xmlns:a="http://schemas.openxmlformats.org/drawingml/2006/main">
            <a:off x="1028700" y="2912021"/>
            <a:ext cx="1905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9" name="Shape 5">
            <a:extLst xmlns:a="http://schemas.openxmlformats.org/drawingml/2006/main">
              <a:ext uri="{FF2B5EF4-FFF2-40B4-BE49-F238E27FC236}">
                <a16:creationId xmlns:a16="http://schemas.microsoft.com/office/drawing/2014/main" id="{0D41CC94-3DA1-47B9-923E-2BF294684254}"/>
              </a:ext>
            </a:extLst>
          </p:cNvPr>
          <p:cNvSpPr>
            <a:spLocks xmlns:a="http://schemas.openxmlformats.org/drawingml/2006/main" noGrp="1"/>
          </p:cNvSpPr>
          <p:nvPr/>
        </p:nvSpPr>
        <p:spPr>
          <a:xfrm xmlns:a="http://schemas.openxmlformats.org/drawingml/2006/main">
            <a:off x="1028700" y="3115221"/>
            <a:ext cx="1524000" cy="88900"/>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lstStyle xmlns:a="http://schemas.openxmlformats.org/drawingml/2006/main"/>
          <a:p xmlns:a="http://schemas.openxmlformats.org/drawingml/2006/main">
            <a:endParaRPr/>
          </a:p>
        </p:txBody>
      </p:sp>
      <p:sp>
        <p:nvSpPr>
          <p:cNvPr id="10" name="Shape 6">
            <a:extLst xmlns:a="http://schemas.openxmlformats.org/drawingml/2006/main">
              <a:ext uri="{FF2B5EF4-FFF2-40B4-BE49-F238E27FC236}">
                <a16:creationId xmlns:a16="http://schemas.microsoft.com/office/drawing/2014/main" id="{C5164651-9597-49F8-B33F-7B3F03BABC38}"/>
              </a:ext>
            </a:extLst>
          </p:cNvPr>
          <p:cNvSpPr>
            <a:spLocks xmlns:a="http://schemas.openxmlformats.org/drawingml/2006/main" noGrp="1"/>
          </p:cNvSpPr>
          <p:nvPr/>
        </p:nvSpPr>
        <p:spPr>
          <a:xfrm xmlns:a="http://schemas.openxmlformats.org/drawingml/2006/main">
            <a:off x="1028700" y="3318421"/>
            <a:ext cx="2032000" cy="88900"/>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lstStyle xmlns:a="http://schemas.openxmlformats.org/drawingml/2006/main"/>
          <a:p xmlns:a="http://schemas.openxmlformats.org/drawingml/2006/main">
            <a:endParaRPr/>
          </a:p>
        </p:txBody>
      </p:sp>
      <p:sp>
        <p:nvSpPr>
          <p:cNvPr id="11" name="Shape 7">
            <a:extLst xmlns:a="http://schemas.openxmlformats.org/drawingml/2006/main">
              <a:ext uri="{FF2B5EF4-FFF2-40B4-BE49-F238E27FC236}">
                <a16:creationId xmlns:a16="http://schemas.microsoft.com/office/drawing/2014/main" id="{0181C3F2-4895-4A93-8491-50382F3ADB0C}"/>
              </a:ext>
            </a:extLst>
          </p:cNvPr>
          <p:cNvSpPr>
            <a:spLocks xmlns:a="http://schemas.openxmlformats.org/drawingml/2006/main" noGrp="1"/>
          </p:cNvSpPr>
          <p:nvPr/>
        </p:nvSpPr>
        <p:spPr>
          <a:xfrm xmlns:a="http://schemas.openxmlformats.org/drawingml/2006/main">
            <a:off x="1028700" y="3521621"/>
            <a:ext cx="1270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12" name="Shape 8">
            <a:extLst xmlns:a="http://schemas.openxmlformats.org/drawingml/2006/main">
              <a:ext uri="{FF2B5EF4-FFF2-40B4-BE49-F238E27FC236}">
                <a16:creationId xmlns:a16="http://schemas.microsoft.com/office/drawing/2014/main" id="{C0B3D3EE-D66A-4FBA-897B-5A4BC207AA8B}"/>
              </a:ext>
            </a:extLst>
          </p:cNvPr>
          <p:cNvSpPr>
            <a:spLocks xmlns:a="http://schemas.openxmlformats.org/drawingml/2006/main" noGrp="1"/>
          </p:cNvSpPr>
          <p:nvPr/>
        </p:nvSpPr>
        <p:spPr>
          <a:xfrm xmlns:a="http://schemas.openxmlformats.org/drawingml/2006/main">
            <a:off x="1028700" y="3724821"/>
            <a:ext cx="1778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13" name="Shape 9">
            <a:extLst xmlns:a="http://schemas.openxmlformats.org/drawingml/2006/main">
              <a:ext uri="{FF2B5EF4-FFF2-40B4-BE49-F238E27FC236}">
                <a16:creationId xmlns:a16="http://schemas.microsoft.com/office/drawing/2014/main" id="{5DF57110-8981-4AEC-A612-766134EF1CCB}"/>
              </a:ext>
            </a:extLst>
          </p:cNvPr>
          <p:cNvSpPr>
            <a:spLocks xmlns:a="http://schemas.openxmlformats.org/drawingml/2006/main" noGrp="1"/>
          </p:cNvSpPr>
          <p:nvPr/>
        </p:nvSpPr>
        <p:spPr>
          <a:xfrm xmlns:a="http://schemas.openxmlformats.org/drawingml/2006/main">
            <a:off x="1028700" y="3928021"/>
            <a:ext cx="1651000" cy="88900"/>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lstStyle xmlns:a="http://schemas.openxmlformats.org/drawingml/2006/main"/>
          <a:p xmlns:a="http://schemas.openxmlformats.org/drawingml/2006/main">
            <a:endParaRPr/>
          </a:p>
        </p:txBody>
      </p:sp>
      <p:sp>
        <p:nvSpPr>
          <p:cNvPr id="14" name="Shape 10">
            <a:extLst xmlns:a="http://schemas.openxmlformats.org/drawingml/2006/main">
              <a:ext uri="{FF2B5EF4-FFF2-40B4-BE49-F238E27FC236}">
                <a16:creationId xmlns:a16="http://schemas.microsoft.com/office/drawing/2014/main" id="{4A72FBC7-48A0-4A58-AA0D-52D6127CA110}"/>
              </a:ext>
            </a:extLst>
          </p:cNvPr>
          <p:cNvSpPr>
            <a:spLocks xmlns:a="http://schemas.openxmlformats.org/drawingml/2006/main" noGrp="1"/>
          </p:cNvSpPr>
          <p:nvPr/>
        </p:nvSpPr>
        <p:spPr>
          <a:xfrm xmlns:a="http://schemas.openxmlformats.org/drawingml/2006/main">
            <a:off x="1028700" y="4131221"/>
            <a:ext cx="1905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15" name="Shape 11">
            <a:extLst xmlns:a="http://schemas.openxmlformats.org/drawingml/2006/main">
              <a:ext uri="{FF2B5EF4-FFF2-40B4-BE49-F238E27FC236}">
                <a16:creationId xmlns:a16="http://schemas.microsoft.com/office/drawing/2014/main" id="{5432E74A-838A-4B6E-B67C-EF07BE1DE55A}"/>
              </a:ext>
            </a:extLst>
          </p:cNvPr>
          <p:cNvSpPr>
            <a:spLocks xmlns:a="http://schemas.openxmlformats.org/drawingml/2006/main" noGrp="1"/>
          </p:cNvSpPr>
          <p:nvPr/>
        </p:nvSpPr>
        <p:spPr>
          <a:xfrm xmlns:a="http://schemas.openxmlformats.org/drawingml/2006/main">
            <a:off x="3973982" y="2161530"/>
            <a:ext cx="2926080" cy="2654300"/>
          </a:xfrm>
          <a:prstGeom xmlns:a="http://schemas.openxmlformats.org/drawingml/2006/main" prst="roundRect">
            <a:avLst>
              <a:gd name="adj" fmla="val 4545"/>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Text 12">
            <a:extLst xmlns:a="http://schemas.openxmlformats.org/drawingml/2006/main">
              <a:ext uri="{FF2B5EF4-FFF2-40B4-BE49-F238E27FC236}">
                <a16:creationId xmlns:a16="http://schemas.microsoft.com/office/drawing/2014/main" id="{FDB2B464-0E77-4800-B3A3-D1B91C0D1656}"/>
              </a:ext>
            </a:extLst>
          </p:cNvPr>
          <p:cNvSpPr>
            <a:spLocks xmlns:a="http://schemas.openxmlformats.org/drawingml/2006/main" noGrp="1"/>
          </p:cNvSpPr>
          <p:nvPr/>
        </p:nvSpPr>
        <p:spPr>
          <a:xfrm xmlns:a="http://schemas.openxmlformats.org/drawingml/2006/main">
            <a:off x="4183380" y="2371080"/>
            <a:ext cx="2505456" cy="23865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5466AE"/>
                </a:solidFill>
                <a:latin typeface="Arial"/>
                <a:ea typeface="Arial"/>
                <a:cs typeface="Arial"/>
              </a:rPr>
              <a:t>AI CO-AUTHORED CHANGE 2</a:t>
            </a:r>
            <a:endParaRPr sz="1200"/>
          </a:p>
        </p:txBody>
      </p:sp>
      <p:sp>
        <p:nvSpPr>
          <p:cNvPr id="17" name="Shape 13">
            <a:extLst xmlns:a="http://schemas.openxmlformats.org/drawingml/2006/main">
              <a:ext uri="{FF2B5EF4-FFF2-40B4-BE49-F238E27FC236}">
                <a16:creationId xmlns:a16="http://schemas.microsoft.com/office/drawing/2014/main" id="{64EF6040-CC1D-4A9C-8967-EADC8411DBDC}"/>
              </a:ext>
            </a:extLst>
          </p:cNvPr>
          <p:cNvSpPr>
            <a:spLocks xmlns:a="http://schemas.openxmlformats.org/drawingml/2006/main" noGrp="1"/>
          </p:cNvSpPr>
          <p:nvPr/>
        </p:nvSpPr>
        <p:spPr>
          <a:xfrm xmlns:a="http://schemas.openxmlformats.org/drawingml/2006/main">
            <a:off x="4183380" y="2912021"/>
            <a:ext cx="1651000" cy="88900"/>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lstStyle xmlns:a="http://schemas.openxmlformats.org/drawingml/2006/main"/>
          <a:p xmlns:a="http://schemas.openxmlformats.org/drawingml/2006/main">
            <a:endParaRPr/>
          </a:p>
        </p:txBody>
      </p:sp>
      <p:sp>
        <p:nvSpPr>
          <p:cNvPr id="18" name="Shape 14">
            <a:extLst xmlns:a="http://schemas.openxmlformats.org/drawingml/2006/main">
              <a:ext uri="{FF2B5EF4-FFF2-40B4-BE49-F238E27FC236}">
                <a16:creationId xmlns:a16="http://schemas.microsoft.com/office/drawing/2014/main" id="{89A62457-91E3-40B7-9671-1F47FA0A5E3B}"/>
              </a:ext>
            </a:extLst>
          </p:cNvPr>
          <p:cNvSpPr>
            <a:spLocks xmlns:a="http://schemas.openxmlformats.org/drawingml/2006/main" noGrp="1"/>
          </p:cNvSpPr>
          <p:nvPr/>
        </p:nvSpPr>
        <p:spPr>
          <a:xfrm xmlns:a="http://schemas.openxmlformats.org/drawingml/2006/main">
            <a:off x="4183380" y="3115221"/>
            <a:ext cx="2032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19" name="Shape 15">
            <a:extLst xmlns:a="http://schemas.openxmlformats.org/drawingml/2006/main">
              <a:ext uri="{FF2B5EF4-FFF2-40B4-BE49-F238E27FC236}">
                <a16:creationId xmlns:a16="http://schemas.microsoft.com/office/drawing/2014/main" id="{947BCFEB-67FA-487E-A190-4C6F04312400}"/>
              </a:ext>
            </a:extLst>
          </p:cNvPr>
          <p:cNvSpPr>
            <a:spLocks xmlns:a="http://schemas.openxmlformats.org/drawingml/2006/main" noGrp="1"/>
          </p:cNvSpPr>
          <p:nvPr/>
        </p:nvSpPr>
        <p:spPr>
          <a:xfrm xmlns:a="http://schemas.openxmlformats.org/drawingml/2006/main">
            <a:off x="4183380" y="3318421"/>
            <a:ext cx="1397000" cy="88900"/>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lstStyle xmlns:a="http://schemas.openxmlformats.org/drawingml/2006/main"/>
          <a:p xmlns:a="http://schemas.openxmlformats.org/drawingml/2006/main">
            <a:endParaRPr/>
          </a:p>
        </p:txBody>
      </p:sp>
      <p:sp>
        <p:nvSpPr>
          <p:cNvPr id="20" name="Shape 16">
            <a:extLst xmlns:a="http://schemas.openxmlformats.org/drawingml/2006/main">
              <a:ext uri="{FF2B5EF4-FFF2-40B4-BE49-F238E27FC236}">
                <a16:creationId xmlns:a16="http://schemas.microsoft.com/office/drawing/2014/main" id="{054E9237-5917-4666-8B3D-A18A5AF07FBF}"/>
              </a:ext>
            </a:extLst>
          </p:cNvPr>
          <p:cNvSpPr>
            <a:spLocks xmlns:a="http://schemas.openxmlformats.org/drawingml/2006/main" noGrp="1"/>
          </p:cNvSpPr>
          <p:nvPr/>
        </p:nvSpPr>
        <p:spPr>
          <a:xfrm xmlns:a="http://schemas.openxmlformats.org/drawingml/2006/main">
            <a:off x="4183380" y="3521621"/>
            <a:ext cx="1905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21" name="Shape 17">
            <a:extLst xmlns:a="http://schemas.openxmlformats.org/drawingml/2006/main">
              <a:ext uri="{FF2B5EF4-FFF2-40B4-BE49-F238E27FC236}">
                <a16:creationId xmlns:a16="http://schemas.microsoft.com/office/drawing/2014/main" id="{A9EBE451-3229-4730-96D6-01856043EFCE}"/>
              </a:ext>
            </a:extLst>
          </p:cNvPr>
          <p:cNvSpPr>
            <a:spLocks xmlns:a="http://schemas.openxmlformats.org/drawingml/2006/main" noGrp="1"/>
          </p:cNvSpPr>
          <p:nvPr/>
        </p:nvSpPr>
        <p:spPr>
          <a:xfrm xmlns:a="http://schemas.openxmlformats.org/drawingml/2006/main">
            <a:off x="4183380" y="3724821"/>
            <a:ext cx="1524000" cy="88900"/>
          </a:xfrm>
          <a:prstGeom xmlns:a="http://schemas.openxmlformats.org/drawingml/2006/main" prst="roundRect">
            <a:avLst>
              <a:gd name="adj" fmla="val 50000"/>
            </a:avLst>
          </a:prstGeom>
          <a:solidFill xmlns:a="http://schemas.openxmlformats.org/drawingml/2006/main">
            <a:srgbClr val="D7EAD0"/>
          </a:solidFill>
        </p:spPr>
        <p:txBody>
          <a:bodyPr xmlns:a="http://schemas.openxmlformats.org/drawingml/2006/main"/>
          <a:lstStyle xmlns:a="http://schemas.openxmlformats.org/drawingml/2006/main"/>
          <a:p xmlns:a="http://schemas.openxmlformats.org/drawingml/2006/main">
            <a:endParaRPr/>
          </a:p>
        </p:txBody>
      </p:sp>
      <p:sp>
        <p:nvSpPr>
          <p:cNvPr id="22" name="Shape 18">
            <a:extLst xmlns:a="http://schemas.openxmlformats.org/drawingml/2006/main">
              <a:ext uri="{FF2B5EF4-FFF2-40B4-BE49-F238E27FC236}">
                <a16:creationId xmlns:a16="http://schemas.microsoft.com/office/drawing/2014/main" id="{CAEAD6A0-CBBE-4E78-A208-B4149BB9CC76}"/>
              </a:ext>
            </a:extLst>
          </p:cNvPr>
          <p:cNvSpPr>
            <a:spLocks xmlns:a="http://schemas.openxmlformats.org/drawingml/2006/main" noGrp="1"/>
          </p:cNvSpPr>
          <p:nvPr/>
        </p:nvSpPr>
        <p:spPr>
          <a:xfrm xmlns:a="http://schemas.openxmlformats.org/drawingml/2006/main">
            <a:off x="4183380" y="3928021"/>
            <a:ext cx="1778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23" name="Shape 19">
            <a:extLst xmlns:a="http://schemas.openxmlformats.org/drawingml/2006/main">
              <a:ext uri="{FF2B5EF4-FFF2-40B4-BE49-F238E27FC236}">
                <a16:creationId xmlns:a16="http://schemas.microsoft.com/office/drawing/2014/main" id="{55F92CD7-A379-4E5E-B46A-0518DDB5C80D}"/>
              </a:ext>
            </a:extLst>
          </p:cNvPr>
          <p:cNvSpPr>
            <a:spLocks xmlns:a="http://schemas.openxmlformats.org/drawingml/2006/main" noGrp="1"/>
          </p:cNvSpPr>
          <p:nvPr/>
        </p:nvSpPr>
        <p:spPr>
          <a:xfrm xmlns:a="http://schemas.openxmlformats.org/drawingml/2006/main">
            <a:off x="4183380" y="4131221"/>
            <a:ext cx="1270000" cy="88900"/>
          </a:xfrm>
          <a:prstGeom xmlns:a="http://schemas.openxmlformats.org/drawingml/2006/main" prst="roundRect">
            <a:avLst>
              <a:gd name="adj" fmla="val 50000"/>
            </a:avLst>
          </a:prstGeom>
          <a:solidFill xmlns:a="http://schemas.openxmlformats.org/drawingml/2006/main">
            <a:srgbClr val="E3E3E6"/>
          </a:solidFill>
        </p:spPr>
        <p:txBody>
          <a:bodyPr xmlns:a="http://schemas.openxmlformats.org/drawingml/2006/main"/>
          <a:lstStyle xmlns:a="http://schemas.openxmlformats.org/drawingml/2006/main"/>
          <a:p xmlns:a="http://schemas.openxmlformats.org/drawingml/2006/main">
            <a:endParaRPr/>
          </a:p>
        </p:txBody>
      </p:sp>
      <p:sp>
        <p:nvSpPr>
          <p:cNvPr id="24" name="Shape 20">
            <a:extLst xmlns:a="http://schemas.openxmlformats.org/drawingml/2006/main">
              <a:ext uri="{FF2B5EF4-FFF2-40B4-BE49-F238E27FC236}">
                <a16:creationId xmlns:a16="http://schemas.microsoft.com/office/drawing/2014/main" id="{5064CEBD-EE33-41AD-8019-56DC7A9092E0}"/>
              </a:ext>
            </a:extLst>
          </p:cNvPr>
          <p:cNvSpPr>
            <a:spLocks xmlns:a="http://schemas.openxmlformats.org/drawingml/2006/main" noGrp="1"/>
          </p:cNvSpPr>
          <p:nvPr/>
        </p:nvSpPr>
        <p:spPr>
          <a:xfrm xmlns:a="http://schemas.openxmlformats.org/drawingml/2006/main">
            <a:off x="812800" y="3780780"/>
            <a:ext cx="6096000" cy="114300"/>
          </a:xfrm>
          <a:prstGeom xmlns:a="http://schemas.openxmlformats.org/drawingml/2006/main" prst="roundRect">
            <a:avLst>
              <a:gd name="adj" fmla="val 50000"/>
            </a:avLst>
          </a:prstGeom>
          <a:solidFill xmlns:a="http://schemas.openxmlformats.org/drawingml/2006/main">
            <a:srgbClr val="D0342C">
              <a:alpha val="90000"/>
            </a:srgbClr>
          </a:solidFill>
        </p:spPr>
        <p:txBody>
          <a:bodyPr xmlns:a="http://schemas.openxmlformats.org/drawingml/2006/main"/>
          <a:lstStyle xmlns:a="http://schemas.openxmlformats.org/drawingml/2006/main"/>
          <a:p xmlns:a="http://schemas.openxmlformats.org/drawingml/2006/main">
            <a:endParaRPr/>
          </a:p>
        </p:txBody>
      </p:sp>
      <p:sp>
        <p:nvSpPr>
          <p:cNvPr id="25" name="Text 21">
            <a:extLst xmlns:a="http://schemas.openxmlformats.org/drawingml/2006/main">
              <a:ext uri="{FF2B5EF4-FFF2-40B4-BE49-F238E27FC236}">
                <a16:creationId xmlns:a16="http://schemas.microsoft.com/office/drawing/2014/main" id="{4641FE52-D6EA-4B1B-B330-49314787BB0C}"/>
              </a:ext>
            </a:extLst>
          </p:cNvPr>
          <p:cNvSpPr>
            <a:spLocks xmlns:a="http://schemas.openxmlformats.org/drawingml/2006/main" noGrp="1"/>
          </p:cNvSpPr>
          <p:nvPr/>
        </p:nvSpPr>
        <p:spPr>
          <a:xfrm xmlns:a="http://schemas.openxmlformats.org/drawingml/2006/main">
            <a:off x="3288182" y="4034780"/>
            <a:ext cx="1143000" cy="528241"/>
          </a:xfrm>
          <a:custGeom xmlns:a="http://schemas.openxmlformats.org/drawingml/2006/main">
            <a:rect l="l" t="t" r="r" b="b"/>
            <a:pathLst>
              <a:path w="1143000" h="528241">
                <a:moveTo>
                  <a:pt x="190500" y="0"/>
                </a:moveTo>
                <a:lnTo>
                  <a:pt x="952500" y="0"/>
                </a:lnTo>
                <a:arcTo wR="190500" hR="190500" stAng="16200000" swAng="5400000"/>
                <a:lnTo>
                  <a:pt x="1143000" y="337741"/>
                </a:lnTo>
                <a:arcTo wR="190500" hR="190500" stAng="0" swAng="5400000"/>
                <a:lnTo>
                  <a:pt x="190500" y="528241"/>
                </a:lnTo>
                <a:arcTo wR="190500" hR="190500" stAng="5400000" swAng="5400000"/>
                <a:lnTo>
                  <a:pt x="0" y="190500"/>
                </a:lnTo>
                <a:arcTo wR="190500" hR="190500" stAng="10800000" swAng="5400000"/>
                <a:close/>
              </a:path>
            </a:pathLst>
          </a:custGeom>
          <a:solidFill xmlns:a="http://schemas.openxmlformats.org/drawingml/2006/main">
            <a:srgbClr val="D0342C"/>
          </a:solidFill>
        </p:spPr>
        <p:txBody>
          <a:bodyPr xmlns:a="http://schemas.openxmlformats.org/drawingml/2006/main" wrap="square" lIns="50800" tIns="50800" rIns="50800" bIns="25400" anchor="t">
            <a:normAutofit/>
          </a:bodyPr>
          <a:lstStyle xmlns:a="http://schemas.openxmlformats.org/drawingml/2006/main"/>
          <a:p xmlns:a="http://schemas.openxmlformats.org/drawingml/2006/main">
            <a:pPr marL="0" indent="0" algn="ctr">
              <a:lnSpc>
                <a:spcPts val="1680"/>
              </a:lnSpc>
              <a:buNone/>
            </a:pPr>
            <a:r>
              <a:rPr sz="1200" b="1">
                <a:solidFill>
                  <a:srgbClr val="FFFFFF"/>
                </a:solidFill>
                <a:latin typeface="Arial"/>
                <a:ea typeface="Arial"/>
                <a:cs typeface="Arial"/>
              </a:rPr>
              <a:t>pre-existing flaws</a:t>
            </a:r>
            <a:endParaRPr sz="1200"/>
          </a:p>
        </p:txBody>
      </p:sp>
      <p:sp>
        <p:nvSpPr>
          <p:cNvPr id="26" name="Text 22">
            <a:extLst xmlns:a="http://schemas.openxmlformats.org/drawingml/2006/main">
              <a:ext uri="{FF2B5EF4-FFF2-40B4-BE49-F238E27FC236}">
                <a16:creationId xmlns:a16="http://schemas.microsoft.com/office/drawing/2014/main" id="{A0DAD9F9-ECDF-4BA3-8B82-E933B8C1E6E8}"/>
              </a:ext>
            </a:extLst>
          </p:cNvPr>
          <p:cNvSpPr>
            <a:spLocks xmlns:a="http://schemas.openxmlformats.org/drawingml/2006/main" noGrp="1"/>
          </p:cNvSpPr>
          <p:nvPr/>
        </p:nvSpPr>
        <p:spPr>
          <a:xfrm xmlns:a="http://schemas.openxmlformats.org/drawingml/2006/main">
            <a:off x="7263994" y="2423160"/>
            <a:ext cx="41148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6800"/>
              </a:lnSpc>
              <a:spcBef>
                <a:spcPts val="0"/>
              </a:spcBef>
              <a:buNone/>
            </a:pPr>
            <a:r>
              <a:rPr sz="5600" b="1">
                <a:solidFill>
                  <a:srgbClr val="F47B36"/>
                </a:solidFill>
                <a:latin typeface="Arial"/>
                <a:ea typeface="Arial"/>
                <a:cs typeface="Arial"/>
              </a:rPr>
              <a:t>0 of 10</a:t>
            </a:r>
            <a:endParaRPr sz="5600"/>
          </a:p>
        </p:txBody>
      </p:sp>
      <p:sp>
        <p:nvSpPr>
          <p:cNvPr id="27" name="Text 23">
            <a:extLst xmlns:a="http://schemas.openxmlformats.org/drawingml/2006/main">
              <a:ext uri="{FF2B5EF4-FFF2-40B4-BE49-F238E27FC236}">
                <a16:creationId xmlns:a16="http://schemas.microsoft.com/office/drawing/2014/main" id="{44C8D1A3-06A9-4975-A680-14DFC4AA41C7}"/>
              </a:ext>
            </a:extLst>
          </p:cNvPr>
          <p:cNvSpPr>
            <a:spLocks xmlns:a="http://schemas.openxmlformats.org/drawingml/2006/main" noGrp="1"/>
          </p:cNvSpPr>
          <p:nvPr/>
        </p:nvSpPr>
        <p:spPr>
          <a:xfrm xmlns:a="http://schemas.openxmlformats.org/drawingml/2006/main">
            <a:off x="7263994" y="3328416"/>
            <a:ext cx="41148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200"/>
              </a:lnSpc>
              <a:spcBef>
                <a:spcPts val="0"/>
              </a:spcBef>
              <a:buNone/>
            </a:pPr>
            <a:r>
              <a:rPr sz="1700" b="1">
                <a:solidFill>
                  <a:srgbClr val="33333A"/>
                </a:solidFill>
                <a:latin typeface="Arial"/>
                <a:ea typeface="Arial"/>
                <a:cs typeface="Arial"/>
              </a:rPr>
              <a:t>results fully caught the inherited flaw</a:t>
            </a:r>
            <a:endParaRPr sz="1700"/>
          </a:p>
        </p:txBody>
      </p:sp>
      <p:sp>
        <p:nvSpPr>
          <p:cNvPr id="28" name="Text 24">
            <a:extLst xmlns:a="http://schemas.openxmlformats.org/drawingml/2006/main">
              <a:ext uri="{FF2B5EF4-FFF2-40B4-BE49-F238E27FC236}">
                <a16:creationId xmlns:a16="http://schemas.microsoft.com/office/drawing/2014/main" id="{42889398-76EF-4528-92A6-1D2A0A78AF14}"/>
              </a:ext>
            </a:extLst>
          </p:cNvPr>
          <p:cNvSpPr>
            <a:spLocks xmlns:a="http://schemas.openxmlformats.org/drawingml/2006/main" noGrp="1"/>
          </p:cNvSpPr>
          <p:nvPr/>
        </p:nvSpPr>
        <p:spPr>
          <a:xfrm xmlns:a="http://schemas.openxmlformats.org/drawingml/2006/main">
            <a:off x="7263994" y="3877056"/>
            <a:ext cx="4114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400"/>
              </a:lnSpc>
              <a:spcBef>
                <a:spcPts val="0"/>
              </a:spcBef>
              <a:buNone/>
            </a:pPr>
            <a:r>
              <a:rPr sz="1900" b="1">
                <a:solidFill>
                  <a:srgbClr val="33333A"/>
                </a:solidFill>
                <a:latin typeface="Arial"/>
                <a:ea typeface="Arial"/>
                <a:cs typeface="Arial"/>
              </a:rPr>
              <a:t>General review prompt</a:t>
            </a:r>
            <a:endParaRPr sz="1900"/>
          </a:p>
        </p:txBody>
      </p:sp>
      <p:sp>
        <p:nvSpPr>
          <p:cNvPr id="29" name="Text 25">
            <a:extLst xmlns:a="http://schemas.openxmlformats.org/drawingml/2006/main">
              <a:ext uri="{FF2B5EF4-FFF2-40B4-BE49-F238E27FC236}">
                <a16:creationId xmlns:a16="http://schemas.microsoft.com/office/drawing/2014/main" id="{05AE00E4-B086-4FE2-AE21-443C8244F210}"/>
              </a:ext>
            </a:extLst>
          </p:cNvPr>
          <p:cNvSpPr>
            <a:spLocks xmlns:a="http://schemas.openxmlformats.org/drawingml/2006/main" noGrp="1"/>
          </p:cNvSpPr>
          <p:nvPr/>
        </p:nvSpPr>
        <p:spPr>
          <a:xfrm xmlns:a="http://schemas.openxmlformats.org/drawingml/2006/main">
            <a:off x="7263994" y="4343400"/>
            <a:ext cx="41148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900"/>
              </a:lnSpc>
              <a:spcBef>
                <a:spcPts val="0"/>
              </a:spcBef>
              <a:buNone/>
            </a:pPr>
            <a:r>
              <a:rPr sz="1400" b="0">
                <a:solidFill>
                  <a:srgbClr val="6B6B73"/>
                </a:solidFill>
                <a:latin typeface="Arial"/>
                <a:ea typeface="Arial"/>
                <a:cs typeface="Arial"/>
              </a:rPr>
              <a:t>One result = one model on one change.</a:t>
            </a:r>
            <a:endParaRPr sz="1400"/>
          </a:p>
          <a:p xmlns:a="http://schemas.openxmlformats.org/drawingml/2006/main">
            <a:pPr marL="0" indent="0" algn="l">
              <a:lnSpc>
                <a:spcPts val="1900"/>
              </a:lnSpc>
              <a:spcBef>
                <a:spcPts val="0"/>
              </a:spcBef>
              <a:buNone/>
            </a:pPr>
            <a:r>
              <a:rPr sz="1400" b="0">
                <a:solidFill>
                  <a:srgbClr val="6B6B73"/>
                </a:solidFill>
                <a:latin typeface="Arial"/>
                <a:ea typeface="Arial"/>
                <a:cs typeface="Arial"/>
              </a:rPr>
              <a:t>Caught requires an actionable finding</a:t>
            </a:r>
            <a:endParaRPr sz="1400"/>
          </a:p>
          <a:p xmlns:a="http://schemas.openxmlformats.org/drawingml/2006/main">
            <a:pPr marL="0" indent="0" algn="l">
              <a:lnSpc>
                <a:spcPts val="1900"/>
              </a:lnSpc>
              <a:spcBef>
                <a:spcPts val="0"/>
              </a:spcBef>
              <a:buNone/>
            </a:pPr>
            <a:r>
              <a:rPr sz="1400" b="0">
                <a:solidFill>
                  <a:srgbClr val="6B6B73"/>
                </a:solidFill>
                <a:latin typeface="Arial"/>
                <a:ea typeface="Arial"/>
                <a:cs typeface="Arial"/>
              </a:rPr>
              <a:t>in at least 2 of 3 reviews.</a:t>
            </a:r>
            <a:endParaRPr sz="1400"/>
          </a:p>
        </p:txBody>
      </p:sp>
      <p:sp>
        <p:nvSpPr>
          <p:cNvPr id="30" name="Text 26">
            <a:extLst xmlns:a="http://schemas.openxmlformats.org/drawingml/2006/main">
              <a:ext uri="{FF2B5EF4-FFF2-40B4-BE49-F238E27FC236}">
                <a16:creationId xmlns:a16="http://schemas.microsoft.com/office/drawing/2014/main" id="{76760F52-1A3B-4D85-B19B-80824F317D76}"/>
              </a:ext>
            </a:extLst>
          </p:cNvPr>
          <p:cNvSpPr>
            <a:spLocks xmlns:a="http://schemas.openxmlformats.org/drawingml/2006/main" noGrp="1"/>
          </p:cNvSpPr>
          <p:nvPr/>
        </p:nvSpPr>
        <p:spPr>
          <a:xfrm xmlns:a="http://schemas.openxmlformats.org/drawingml/2006/main">
            <a:off x="813816" y="5925312"/>
            <a:ext cx="9784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600"/>
              </a:lnSpc>
              <a:spcBef>
                <a:spcPts val="0"/>
              </a:spcBef>
              <a:buNone/>
            </a:pPr>
            <a:r>
              <a:rPr sz="1200" b="0">
                <a:solidFill>
                  <a:srgbClr val="8A8A92"/>
                </a:solidFill>
                <a:latin typeface="Arial"/>
                <a:ea typeface="Arial"/>
                <a:cs typeface="Arial"/>
              </a:rPr>
              <a:t>Both changes carried an older flaw forward. AI did not create the original flaws.</a:t>
            </a:r>
            <a:endParaRPr sz="1200"/>
          </a:p>
        </p:txBody>
      </p:sp>
      <p:sp>
        <p:nvSpPr>
          <p:cNvPr id="31" name="Text 27">
            <a:extLst xmlns:a="http://schemas.openxmlformats.org/drawingml/2006/main">
              <a:ext uri="{FF2B5EF4-FFF2-40B4-BE49-F238E27FC236}">
                <a16:creationId xmlns:a16="http://schemas.microsoft.com/office/drawing/2014/main" id="{59889C06-9C10-42B9-89C2-D9EB5E262582}"/>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80" name="Sample and counting unit">
            <a:extLst xmlns:a="http://schemas.openxmlformats.org/drawingml/2006/main">
              <a:ext uri="{FF2B5EF4-FFF2-40B4-BE49-F238E27FC236}">
                <a16:creationId xmlns:a16="http://schemas.microsoft.com/office/drawing/2014/main" id="{51FF4C09-E9A3-4E73-AC34-C26A524B6CFE}"/>
              </a:ext>
            </a:extLst>
          </p:cNvPr>
          <p:cNvSpPr>
            <a:spLocks xmlns:a="http://schemas.openxmlformats.org/drawingml/2006/main" noGrp="1"/>
          </p:cNvSpPr>
          <p:nvPr/>
        </p:nvSpPr>
        <p:spPr>
          <a:xfrm xmlns:a="http://schemas.openxmlformats.org/drawingml/2006/main">
            <a:off x="812902" y="1353312"/>
            <a:ext cx="1056132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25"/>
              </a:lnSpc>
              <a:spcBef>
                <a:spcPts val="0"/>
              </a:spcBef>
              <a:buNone/>
            </a:pPr>
            <a:r>
              <a:rPr sz="1700" b="0">
                <a:solidFill>
                  <a:srgbClr val="33333A"/>
                </a:solidFill>
                <a:latin typeface="Arial"/>
                <a:ea typeface="Arial"/>
                <a:cs typeface="Arial"/>
              </a:rPr>
              <a:t>Separate follow-up: 2 AI-assisted changes × 5 models = 10 model results</a:t>
            </a:r>
            <a:endParaRPr sz="1700"/>
          </a:p>
        </p:txBody>
      </p:sp>
    </p:spTree>
    <p:extLst>
      <p:ext uri="{BB962C8B-B14F-4D97-AF65-F5344CB8AC3E}">
        <p14:creationId xmlns:p14="http://schemas.microsoft.com/office/powerpoint/2010/main" val="1850305410"/>
      </p:ext>
    </p:extLst>
  </p:cSld>
</p:sld>
</file>

<file path=ppt/slides/slide34.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6C716BEF-C0D9-4C4E-9FE0-66036F6594E6}"/>
              </a:ext>
            </a:extLst>
          </p:cNvPr>
          <p:cNvPicPr>
            <a:picLocks xmlns:a="http://schemas.openxmlformats.org/drawingml/2006/main" noChangeAspect="1"/>
          </p:cNvPicPr>
          <p:nvPr/>
        </p:nvPicPr>
        <p:blipFill>
          <a:blip xmlns:r="http://schemas.openxmlformats.org/officeDocument/2006/relationships" xmlns:a="http://schemas.openxmlformats.org/drawingml/2006/main" r:embed="R1ea6263bdcb84b0b"/>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8844733B-95B6-4FDD-BAC2-44855CE3C952}"/>
              </a:ext>
            </a:extLst>
          </p:cNvPr>
          <p:cNvPicPr>
            <a:picLocks xmlns:a="http://schemas.openxmlformats.org/drawingml/2006/main" noChangeAspect="1"/>
          </p:cNvPicPr>
          <p:nvPr/>
        </p:nvPicPr>
        <p:blipFill>
          <a:blip xmlns:r="http://schemas.openxmlformats.org/officeDocument/2006/relationships" xmlns:a="http://schemas.openxmlformats.org/drawingml/2006/main" r:embed="R936c72f952e844a9"/>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EA2EC284-5C8A-4076-A421-B7435C192F5A}"/>
              </a:ext>
            </a:extLst>
          </p:cNvPr>
          <p:cNvSpPr>
            <a:spLocks xmlns:a="http://schemas.openxmlformats.org/drawingml/2006/main" noGrp="1"/>
          </p:cNvSpPr>
          <p:nvPr>
            <p:ph type="title" idx="0"/>
          </p:nvPr>
        </p:nvSpPr>
        <p:spPr>
          <a:xfrm xmlns:a="http://schemas.openxmlformats.org/drawingml/2006/main">
            <a:off x="812902" y="812902"/>
            <a:ext cx="832104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More catches, more false alarms</a:t>
            </a:r>
            <a:endParaRPr sz="3200"/>
          </a:p>
        </p:txBody>
      </p:sp>
      <p:sp>
        <p:nvSpPr>
          <p:cNvPr id="30" name="Text 26">
            <a:extLst xmlns:a="http://schemas.openxmlformats.org/drawingml/2006/main">
              <a:ext uri="{FF2B5EF4-FFF2-40B4-BE49-F238E27FC236}">
                <a16:creationId xmlns:a16="http://schemas.microsoft.com/office/drawing/2014/main" id="{F5184E33-F95F-41D5-BE24-19C269118D47}"/>
              </a:ext>
            </a:extLst>
          </p:cNvPr>
          <p:cNvSpPr>
            <a:spLocks xmlns:a="http://schemas.openxmlformats.org/drawingml/2006/main" noGrp="1"/>
          </p:cNvSpPr>
          <p:nvPr/>
        </p:nvSpPr>
        <p:spPr>
          <a:xfrm xmlns:a="http://schemas.openxmlformats.org/drawingml/2006/main">
            <a:off x="813816" y="5925312"/>
            <a:ext cx="9784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500"/>
              </a:lnSpc>
              <a:spcBef>
                <a:spcPts val="0"/>
              </a:spcBef>
              <a:buNone/>
            </a:pPr>
            <a:r>
              <a:rPr sz="1100" b="0">
                <a:solidFill>
                  <a:srgbClr val="8A8A92"/>
                </a:solidFill>
                <a:latin typeface="Arial"/>
                <a:ea typeface="Arial"/>
                <a:cs typeface="Arial"/>
              </a:rPr>
              <a:t>Caught = actionable finding in at least 2 of 3 reviews. False alarms are counted per individual review.</a:t>
            </a:r>
            <a:endParaRPr sz="1100"/>
          </a:p>
        </p:txBody>
      </p:sp>
      <p:sp>
        <p:nvSpPr>
          <p:cNvPr id="31" name="Text 27">
            <a:extLst xmlns:a="http://schemas.openxmlformats.org/drawingml/2006/main">
              <a:ext uri="{FF2B5EF4-FFF2-40B4-BE49-F238E27FC236}">
                <a16:creationId xmlns:a16="http://schemas.microsoft.com/office/drawing/2014/main" id="{F8B8646B-FAB1-41B9-B19D-686AB8DEB4F7}"/>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80" name="Sample and counting unit">
            <a:extLst xmlns:a="http://schemas.openxmlformats.org/drawingml/2006/main">
              <a:ext uri="{FF2B5EF4-FFF2-40B4-BE49-F238E27FC236}">
                <a16:creationId xmlns:a16="http://schemas.microsoft.com/office/drawing/2014/main" id="{156BBC9B-4B80-444F-8153-4C53EC497617}"/>
              </a:ext>
            </a:extLst>
          </p:cNvPr>
          <p:cNvSpPr>
            <a:spLocks xmlns:a="http://schemas.openxmlformats.org/drawingml/2006/main" noGrp="1"/>
          </p:cNvSpPr>
          <p:nvPr/>
        </p:nvSpPr>
        <p:spPr>
          <a:xfrm xmlns:a="http://schemas.openxmlformats.org/drawingml/2006/main">
            <a:off x="812902" y="1353312"/>
            <a:ext cx="1056132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25"/>
              </a:lnSpc>
              <a:spcBef>
                <a:spcPts val="0"/>
              </a:spcBef>
              <a:buNone/>
            </a:pPr>
            <a:r>
              <a:rPr sz="1700" b="0">
                <a:solidFill>
                  <a:srgbClr val="33333A"/>
                </a:solidFill>
                <a:latin typeface="Arial"/>
                <a:ea typeface="Arial"/>
                <a:cs typeface="Arial"/>
              </a:rPr>
              <a:t>Same 2 changes × 5 models = 10 model results for each prompt</a:t>
            </a:r>
            <a:endParaRPr sz="1700"/>
          </a:p>
        </p:txBody>
      </p:sp>
      <p:graphicFrame>
        <p:nvGraphicFramePr>
          <p:cNvPr id="81" name="Prompt comparison table">
            <a:extLst xmlns:a="http://schemas.openxmlformats.org/drawingml/2006/main">
              <a:ext uri="{FF2B5EF4-FFF2-40B4-BE49-F238E27FC236}">
                <a16:creationId xmlns:a16="http://schemas.microsoft.com/office/drawing/2014/main" id="{6114E2D5-B252-4A8B-A3F4-FCBAF6A17CB5}"/>
              </a:ext>
            </a:extLst>
          </p:cNvPr>
          <p:cNvGraphicFramePr/>
          <p:nvPr/>
        </p:nvGraphicFramePr>
        <p:xfrm>
          <a:off xmlns:a="http://schemas.openxmlformats.org/drawingml/2006/main" x="812902" y="1847088"/>
          <a:ext xmlns:a="http://schemas.openxmlformats.org/drawingml/2006/main" cx="10561320" cy="2980944"/>
        </p:xfrm>
        <a:graphic xmlns:a="http://schemas.openxmlformats.org/drawingml/2006/main">
          <a:graphicData uri="http://schemas.openxmlformats.org/drawingml/2006/table">
            <a:tbl>
              <a:tblPr firstRow="1"/>
              <a:tblGrid>
                <a:gridCol w="4480560"/>
                <a:gridCol w="2788920"/>
                <a:gridCol w="3291840"/>
              </a:tblGrid>
              <a:tr h="640080">
                <a:tc>
                  <a:txBody>
                    <a:bodyPr/>
                    <a:lstStyle/>
                    <a:p>
                      <a:pPr marL="0" indent="0" algn="l">
                        <a:lnSpc>
                          <a:spcPts val="2100"/>
                        </a:lnSpc>
                        <a:spcBef>
                          <a:spcPts val="0"/>
                        </a:spcBef>
                        <a:buNone/>
                      </a:pPr>
                      <a:r>
                        <a:rPr sz="1500" b="1">
                          <a:solidFill>
                            <a:srgbClr val="FFFFFF"/>
                          </a:solidFill>
                          <a:latin typeface="Arial"/>
                          <a:ea typeface="Arial"/>
                          <a:cs typeface="Arial"/>
                        </a:rPr>
                        <a:t>Prompt</a:t>
                      </a:r>
                      <a:endParaRPr sz="15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0086B6"/>
                    </a:solidFill>
                  </a:tcPr>
                </a:tc>
                <a:tc>
                  <a:txBody>
                    <a:bodyPr/>
                    <a:lstStyle/>
                    <a:p>
                      <a:pPr marL="0" indent="0" algn="ctr">
                        <a:lnSpc>
                          <a:spcPts val="2100"/>
                        </a:lnSpc>
                        <a:spcBef>
                          <a:spcPts val="0"/>
                        </a:spcBef>
                        <a:buNone/>
                      </a:pPr>
                      <a:r>
                        <a:rPr sz="1500" b="1">
                          <a:solidFill>
                            <a:srgbClr val="FFFFFF"/>
                          </a:solidFill>
                          <a:latin typeface="Arial"/>
                          <a:ea typeface="Arial"/>
                          <a:cs typeface="Arial"/>
                        </a:rPr>
                        <a:t>Caught</a:t>
                      </a:r>
                      <a:endParaRPr sz="1500"/>
                    </a:p>
                    <a:p>
                      <a:pPr marL="0" indent="0" algn="ctr">
                        <a:lnSpc>
                          <a:spcPts val="1600"/>
                        </a:lnSpc>
                        <a:spcBef>
                          <a:spcPts val="0"/>
                        </a:spcBef>
                        <a:buNone/>
                      </a:pPr>
                      <a:r>
                        <a:rPr sz="1200" b="0">
                          <a:solidFill>
                            <a:srgbClr val="FFFFFF"/>
                          </a:solidFill>
                          <a:latin typeface="Arial"/>
                          <a:ea typeface="Arial"/>
                          <a:cs typeface="Arial"/>
                        </a:rPr>
                        <a:t>10 model results</a:t>
                      </a:r>
                      <a:endParaRPr sz="12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0086B6"/>
                    </a:solidFill>
                  </a:tcPr>
                </a:tc>
                <a:tc>
                  <a:txBody>
                    <a:bodyPr/>
                    <a:lstStyle/>
                    <a:p>
                      <a:pPr marL="0" indent="0" algn="ctr">
                        <a:lnSpc>
                          <a:spcPts val="2100"/>
                        </a:lnSpc>
                        <a:spcBef>
                          <a:spcPts val="0"/>
                        </a:spcBef>
                        <a:buNone/>
                      </a:pPr>
                      <a:r>
                        <a:rPr sz="1500" b="1">
                          <a:solidFill>
                            <a:srgbClr val="FFFFFF"/>
                          </a:solidFill>
                          <a:latin typeface="Arial"/>
                          <a:ea typeface="Arial"/>
                          <a:cs typeface="Arial"/>
                        </a:rPr>
                        <a:t>Reviews with false alarms</a:t>
                      </a:r>
                      <a:endParaRPr sz="1500"/>
                    </a:p>
                    <a:p>
                      <a:pPr marL="0" indent="0" algn="ctr">
                        <a:lnSpc>
                          <a:spcPts val="1600"/>
                        </a:lnSpc>
                        <a:spcBef>
                          <a:spcPts val="0"/>
                        </a:spcBef>
                        <a:buNone/>
                      </a:pPr>
                      <a:r>
                        <a:rPr sz="1200" b="0">
                          <a:solidFill>
                            <a:srgbClr val="FFFFFF"/>
                          </a:solidFill>
                          <a:latin typeface="Arial"/>
                          <a:ea typeface="Arial"/>
                          <a:cs typeface="Arial"/>
                        </a:rPr>
                        <a:t>50 comparison reviews</a:t>
                      </a:r>
                      <a:endParaRPr sz="12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0086B6"/>
                    </a:solidFill>
                  </a:tcPr>
                </a:tc>
              </a:tr>
              <a:tr h="566928">
                <a:tc>
                  <a:txBody>
                    <a:bodyPr/>
                    <a:lstStyle/>
                    <a:p>
                      <a:pPr marL="0" indent="0" algn="l">
                        <a:lnSpc>
                          <a:spcPts val="3300"/>
                        </a:lnSpc>
                        <a:spcBef>
                          <a:spcPts val="0"/>
                        </a:spcBef>
                        <a:buNone/>
                      </a:pPr>
                      <a:r>
                        <a:rPr sz="1800" b="0">
                          <a:solidFill>
                            <a:srgbClr val="33333A"/>
                          </a:solidFill>
                          <a:latin typeface="Arial"/>
                          <a:ea typeface="Arial"/>
                          <a:cs typeface="Arial"/>
                        </a:rPr>
                        <a:t>General review</a:t>
                      </a:r>
                      <a:endParaRPr sz="18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c>
                  <a:txBody>
                    <a:bodyPr/>
                    <a:lstStyle/>
                    <a:p>
                      <a:pPr marL="0" indent="0" algn="ctr">
                        <a:lnSpc>
                          <a:spcPts val="3300"/>
                        </a:lnSpc>
                        <a:spcBef>
                          <a:spcPts val="0"/>
                        </a:spcBef>
                        <a:buNone/>
                      </a:pPr>
                      <a:r>
                        <a:rPr sz="2700" b="1">
                          <a:solidFill>
                            <a:srgbClr val="4C8835"/>
                          </a:solidFill>
                          <a:latin typeface="Arial"/>
                          <a:ea typeface="Arial"/>
                          <a:cs typeface="Arial"/>
                        </a:rPr>
                        <a:t>0 of 10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c>
                  <a:txBody>
                    <a:bodyPr/>
                    <a:lstStyle/>
                    <a:p>
                      <a:pPr marL="0" indent="0" algn="ctr">
                        <a:lnSpc>
                          <a:spcPts val="3300"/>
                        </a:lnSpc>
                        <a:spcBef>
                          <a:spcPts val="0"/>
                        </a:spcBef>
                        <a:buNone/>
                      </a:pPr>
                      <a:r>
                        <a:rPr sz="2700" b="1">
                          <a:solidFill>
                            <a:srgbClr val="D66A22"/>
                          </a:solidFill>
                          <a:latin typeface="Arial"/>
                          <a:ea typeface="Arial"/>
                          <a:cs typeface="Arial"/>
                        </a:rPr>
                        <a:t>2 of 50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r>
              <a:tr h="566928">
                <a:tc>
                  <a:txBody>
                    <a:bodyPr/>
                    <a:lstStyle/>
                    <a:p>
                      <a:pPr marL="0" indent="0" algn="l">
                        <a:lnSpc>
                          <a:spcPts val="3300"/>
                        </a:lnSpc>
                        <a:spcBef>
                          <a:spcPts val="0"/>
                        </a:spcBef>
                        <a:buNone/>
                      </a:pPr>
                      <a:r>
                        <a:rPr sz="1800" b="0">
                          <a:solidFill>
                            <a:srgbClr val="33333A"/>
                          </a:solidFill>
                          <a:latin typeface="Arial"/>
                          <a:ea typeface="Arial"/>
                          <a:cs typeface="Arial"/>
                        </a:rPr>
                        <a:t>General + existing flaws</a:t>
                      </a:r>
                      <a:endParaRPr sz="18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c>
                  <a:txBody>
                    <a:bodyPr/>
                    <a:lstStyle/>
                    <a:p>
                      <a:pPr marL="0" indent="0" algn="ctr">
                        <a:lnSpc>
                          <a:spcPts val="3300"/>
                        </a:lnSpc>
                        <a:spcBef>
                          <a:spcPts val="0"/>
                        </a:spcBef>
                        <a:buNone/>
                      </a:pPr>
                      <a:r>
                        <a:rPr sz="2700" b="1">
                          <a:solidFill>
                            <a:srgbClr val="4C8835"/>
                          </a:solidFill>
                          <a:latin typeface="Arial"/>
                          <a:ea typeface="Arial"/>
                          <a:cs typeface="Arial"/>
                        </a:rPr>
                        <a:t>2 of 10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c>
                  <a:txBody>
                    <a:bodyPr/>
                    <a:lstStyle/>
                    <a:p>
                      <a:pPr marL="0" indent="0" algn="ctr">
                        <a:lnSpc>
                          <a:spcPts val="3300"/>
                        </a:lnSpc>
                        <a:spcBef>
                          <a:spcPts val="0"/>
                        </a:spcBef>
                        <a:buNone/>
                      </a:pPr>
                      <a:r>
                        <a:rPr sz="2700" b="1">
                          <a:solidFill>
                            <a:srgbClr val="D66A22"/>
                          </a:solidFill>
                          <a:latin typeface="Arial"/>
                          <a:ea typeface="Arial"/>
                          <a:cs typeface="Arial"/>
                        </a:rPr>
                        <a:t>8 of 50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r>
              <a:tr h="566928">
                <a:tc>
                  <a:txBody>
                    <a:bodyPr/>
                    <a:lstStyle/>
                    <a:p>
                      <a:pPr marL="0" indent="0" algn="l">
                        <a:lnSpc>
                          <a:spcPts val="3300"/>
                        </a:lnSpc>
                        <a:spcBef>
                          <a:spcPts val="0"/>
                        </a:spcBef>
                        <a:buNone/>
                      </a:pPr>
                      <a:r>
                        <a:rPr sz="1800" b="0">
                          <a:solidFill>
                            <a:srgbClr val="33333A"/>
                          </a:solidFill>
                          <a:latin typeface="Arial"/>
                          <a:ea typeface="Arial"/>
                          <a:cs typeface="Arial"/>
                        </a:rPr>
                        <a:t>Security review</a:t>
                      </a:r>
                      <a:endParaRPr sz="18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c>
                  <a:txBody>
                    <a:bodyPr/>
                    <a:lstStyle/>
                    <a:p>
                      <a:pPr marL="0" indent="0" algn="ctr">
                        <a:lnSpc>
                          <a:spcPts val="3300"/>
                        </a:lnSpc>
                        <a:spcBef>
                          <a:spcPts val="0"/>
                        </a:spcBef>
                        <a:buNone/>
                      </a:pPr>
                      <a:r>
                        <a:rPr sz="2700" b="1">
                          <a:solidFill>
                            <a:srgbClr val="4C8835"/>
                          </a:solidFill>
                          <a:latin typeface="Arial"/>
                          <a:ea typeface="Arial"/>
                          <a:cs typeface="Arial"/>
                        </a:rPr>
                        <a:t>3 of 10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c>
                  <a:txBody>
                    <a:bodyPr/>
                    <a:lstStyle/>
                    <a:p>
                      <a:pPr marL="0" indent="0" algn="ctr">
                        <a:lnSpc>
                          <a:spcPts val="3300"/>
                        </a:lnSpc>
                        <a:spcBef>
                          <a:spcPts val="0"/>
                        </a:spcBef>
                        <a:buNone/>
                      </a:pPr>
                      <a:r>
                        <a:rPr sz="2700" b="1">
                          <a:solidFill>
                            <a:srgbClr val="D66A22"/>
                          </a:solidFill>
                          <a:latin typeface="Arial"/>
                          <a:ea typeface="Arial"/>
                          <a:cs typeface="Arial"/>
                        </a:rPr>
                        <a:t>12 of 50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FFFFFF"/>
                    </a:solidFill>
                  </a:tcPr>
                </a:tc>
              </a:tr>
              <a:tr h="640080">
                <a:tc>
                  <a:txBody>
                    <a:bodyPr/>
                    <a:lstStyle/>
                    <a:p>
                      <a:pPr marL="0" indent="0" algn="l">
                        <a:lnSpc>
                          <a:spcPts val="3300"/>
                        </a:lnSpc>
                        <a:spcBef>
                          <a:spcPts val="0"/>
                        </a:spcBef>
                        <a:buNone/>
                      </a:pPr>
                      <a:r>
                        <a:rPr sz="1800" b="0">
                          <a:solidFill>
                            <a:srgbClr val="33333A"/>
                          </a:solidFill>
                          <a:latin typeface="Arial"/>
                          <a:ea typeface="Arial"/>
                          <a:cs typeface="Arial"/>
                        </a:rPr>
                        <a:t>Security + existing flaws</a:t>
                      </a:r>
                      <a:endParaRPr sz="18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EFF5EA"/>
                    </a:solidFill>
                  </a:tcPr>
                </a:tc>
                <a:tc>
                  <a:txBody>
                    <a:bodyPr/>
                    <a:lstStyle/>
                    <a:p>
                      <a:pPr marL="0" indent="0" algn="ctr">
                        <a:lnSpc>
                          <a:spcPts val="3300"/>
                        </a:lnSpc>
                        <a:spcBef>
                          <a:spcPts val="0"/>
                        </a:spcBef>
                        <a:buNone/>
                      </a:pPr>
                      <a:r>
                        <a:rPr sz="2700" b="1">
                          <a:solidFill>
                            <a:srgbClr val="4C8835"/>
                          </a:solidFill>
                          <a:latin typeface="Arial"/>
                          <a:ea typeface="Arial"/>
                          <a:cs typeface="Arial"/>
                        </a:rPr>
                        <a:t>7 of 10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EFF5EA"/>
                    </a:solidFill>
                  </a:tcPr>
                </a:tc>
                <a:tc>
                  <a:txBody>
                    <a:bodyPr/>
                    <a:lstStyle/>
                    <a:p>
                      <a:pPr marL="0" indent="0" algn="ctr">
                        <a:lnSpc>
                          <a:spcPts val="3300"/>
                        </a:lnSpc>
                        <a:spcBef>
                          <a:spcPts val="0"/>
                        </a:spcBef>
                        <a:buNone/>
                      </a:pPr>
                      <a:r>
                        <a:rPr sz="2700" b="1">
                          <a:solidFill>
                            <a:srgbClr val="D66A22"/>
                          </a:solidFill>
                          <a:latin typeface="Arial"/>
                          <a:ea typeface="Arial"/>
                          <a:cs typeface="Arial"/>
                        </a:rPr>
                        <a:t>18 of 50</a:t>
                      </a:r>
                      <a:endParaRPr sz="2700"/>
                    </a:p>
                  </a:txBody>
                  <a:tcPr marL="164592" marR="164592" marT="45720" marB="45720" anchor="ctr">
                    <a:lnL w="6350">
                      <a:solidFill>
                        <a:srgbClr val="E3E5E0"/>
                      </a:solidFill>
                      <a:prstDash val="solid"/>
                    </a:lnL>
                    <a:lnR w="6350">
                      <a:solidFill>
                        <a:srgbClr val="E3E5E0"/>
                      </a:solidFill>
                      <a:prstDash val="solid"/>
                    </a:lnR>
                    <a:lnT w="6350">
                      <a:solidFill>
                        <a:srgbClr val="E3E5E0"/>
                      </a:solidFill>
                      <a:prstDash val="solid"/>
                    </a:lnT>
                    <a:lnB w="6350">
                      <a:solidFill>
                        <a:srgbClr val="E3E5E0"/>
                      </a:solidFill>
                      <a:prstDash val="solid"/>
                    </a:lnB>
                    <a:solidFill>
                      <a:srgbClr val="EFF5EA"/>
                    </a:solidFill>
                  </a:tcPr>
                </a:tc>
              </a:tr>
            </a:tbl>
          </a:graphicData>
        </a:graphic>
      </p:graphicFrame>
      <p:sp>
        <p:nvSpPr>
          <p:cNvPr id="82" name="Comparison review denominator">
            <a:extLst xmlns:a="http://schemas.openxmlformats.org/drawingml/2006/main">
              <a:ext uri="{FF2B5EF4-FFF2-40B4-BE49-F238E27FC236}">
                <a16:creationId xmlns:a16="http://schemas.microsoft.com/office/drawing/2014/main" id="{EC15081F-3998-4246-9251-72F81AFCADC9}"/>
              </a:ext>
            </a:extLst>
          </p:cNvPr>
          <p:cNvSpPr>
            <a:spLocks xmlns:a="http://schemas.openxmlformats.org/drawingml/2006/main" noGrp="1"/>
          </p:cNvSpPr>
          <p:nvPr/>
        </p:nvSpPr>
        <p:spPr>
          <a:xfrm xmlns:a="http://schemas.openxmlformats.org/drawingml/2006/main">
            <a:off x="812902" y="5010912"/>
            <a:ext cx="1056132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875"/>
              </a:lnSpc>
              <a:spcBef>
                <a:spcPts val="0"/>
              </a:spcBef>
              <a:buNone/>
            </a:pPr>
            <a:r>
              <a:rPr sz="1500" b="0">
                <a:solidFill>
                  <a:srgbClr val="33333A"/>
                </a:solidFill>
                <a:latin typeface="Arial"/>
                <a:ea typeface="Arial"/>
                <a:cs typeface="Arial"/>
              </a:rPr>
              <a:t>False alarms: the same 10 comparison changes × 5 models = 50 reviews per prompt.</a:t>
            </a:r>
            <a:endParaRPr sz="1500"/>
          </a:p>
        </p:txBody>
      </p:sp>
      <p:sp>
        <p:nvSpPr>
          <p:cNvPr id="83" name="Existing-flaw instruction">
            <a:extLst xmlns:a="http://schemas.openxmlformats.org/drawingml/2006/main">
              <a:ext uri="{FF2B5EF4-FFF2-40B4-BE49-F238E27FC236}">
                <a16:creationId xmlns:a16="http://schemas.microsoft.com/office/drawing/2014/main" id="{E15A88A0-9A65-4D1C-AF4C-56008202760D}"/>
              </a:ext>
            </a:extLst>
          </p:cNvPr>
          <p:cNvSpPr>
            <a:spLocks xmlns:a="http://schemas.openxmlformats.org/drawingml/2006/main" noGrp="1"/>
          </p:cNvSpPr>
          <p:nvPr/>
        </p:nvSpPr>
        <p:spPr>
          <a:xfrm xmlns:a="http://schemas.openxmlformats.org/drawingml/2006/main">
            <a:off x="812902" y="5468112"/>
            <a:ext cx="10561320"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50"/>
              </a:lnSpc>
              <a:spcBef>
                <a:spcPts val="0"/>
              </a:spcBef>
              <a:buNone/>
            </a:pPr>
            <a:r>
              <a:rPr sz="1400" b="0">
                <a:solidFill>
                  <a:srgbClr val="6B6B73"/>
                </a:solidFill>
                <a:latin typeface="Arial"/>
                <a:ea typeface="Arial"/>
                <a:cs typeface="Arial"/>
              </a:rPr>
              <a:t>“Existing flaws” asks the reviewer to include flaws in code the change touches or relies on.</a:t>
            </a:r>
            <a:endParaRPr sz="1400"/>
          </a:p>
        </p:txBody>
      </p:sp>
    </p:spTree>
    <p:extLst>
      <p:ext uri="{BB962C8B-B14F-4D97-AF65-F5344CB8AC3E}">
        <p14:creationId xmlns:p14="http://schemas.microsoft.com/office/powerpoint/2010/main" val="987797583"/>
      </p:ext>
    </p:extLst>
  </p:cSld>
</p:sld>
</file>

<file path=ppt/slides/slide35.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8F4FA640-AB82-4C0B-94A8-2FDC0C9B3D86}"/>
              </a:ext>
            </a:extLst>
          </p:cNvPr>
          <p:cNvPicPr>
            <a:picLocks xmlns:a="http://schemas.openxmlformats.org/drawingml/2006/main" noChangeAspect="1"/>
          </p:cNvPicPr>
          <p:nvPr/>
        </p:nvPicPr>
        <p:blipFill>
          <a:blip xmlns:r="http://schemas.openxmlformats.org/officeDocument/2006/relationships" xmlns:a="http://schemas.openxmlformats.org/drawingml/2006/main" r:embed="R08f6cebb8b2c42f3"/>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155C88A2-B8AF-4ED2-A5F7-DA38736F0140}"/>
              </a:ext>
            </a:extLst>
          </p:cNvPr>
          <p:cNvPicPr>
            <a:picLocks xmlns:a="http://schemas.openxmlformats.org/drawingml/2006/main" noChangeAspect="1"/>
          </p:cNvPicPr>
          <p:nvPr/>
        </p:nvPicPr>
        <p:blipFill>
          <a:blip xmlns:r="http://schemas.openxmlformats.org/officeDocument/2006/relationships" xmlns:a="http://schemas.openxmlformats.org/drawingml/2006/main" r:embed="R6be6fac1b6734e16"/>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B86A56CC-4FAB-45E3-A513-3938D876F748}"/>
              </a:ext>
            </a:extLst>
          </p:cNvPr>
          <p:cNvSpPr>
            <a:spLocks xmlns:a="http://schemas.openxmlformats.org/drawingml/2006/main" noGrp="1"/>
          </p:cNvSpPr>
          <p:nvPr>
            <p:ph type="title" idx="0"/>
          </p:nvPr>
        </p:nvSpPr>
        <p:spPr>
          <a:xfrm xmlns:a="http://schemas.openxmlformats.org/drawingml/2006/main">
            <a:off x="812800" y="812800"/>
            <a:ext cx="8224242" cy="4723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i="0">
                <a:solidFill>
                  <a:srgbClr val="448334"/>
                </a:solidFill>
                <a:latin typeface="Arial"/>
                <a:ea typeface="Arial"/>
                <a:cs typeface="Arial"/>
              </a:rPr>
              <a:t>One dependent file changed findings</a:t>
            </a:r>
            <a:endParaRPr sz="3200"/>
          </a:p>
        </p:txBody>
      </p:sp>
      <p:sp>
        <p:nvSpPr>
          <p:cNvPr id="6" name="Text 2">
            <a:extLst xmlns:a="http://schemas.openxmlformats.org/drawingml/2006/main">
              <a:ext uri="{FF2B5EF4-FFF2-40B4-BE49-F238E27FC236}">
                <a16:creationId xmlns:a16="http://schemas.microsoft.com/office/drawing/2014/main" id="{9CEDC95A-E19B-4B77-A364-B873FC32EBDA}"/>
              </a:ext>
            </a:extLst>
          </p:cNvPr>
          <p:cNvSpPr>
            <a:spLocks xmlns:a="http://schemas.openxmlformats.org/drawingml/2006/main" noGrp="1"/>
          </p:cNvSpPr>
          <p:nvPr/>
        </p:nvSpPr>
        <p:spPr>
          <a:xfrm xmlns:a="http://schemas.openxmlformats.org/drawingml/2006/main">
            <a:off x="812800" y="2005092"/>
            <a:ext cx="1574800" cy="3098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33333A"/>
                </a:solidFill>
                <a:latin typeface="Arial"/>
                <a:ea typeface="Arial"/>
                <a:cs typeface="Arial"/>
              </a:rPr>
              <a:t>Diff only</a:t>
            </a:r>
            <a:endParaRPr sz="1600"/>
          </a:p>
        </p:txBody>
      </p:sp>
      <p:sp>
        <p:nvSpPr>
          <p:cNvPr id="7" name="Text 3">
            <a:extLst xmlns:a="http://schemas.openxmlformats.org/drawingml/2006/main">
              <a:ext uri="{FF2B5EF4-FFF2-40B4-BE49-F238E27FC236}">
                <a16:creationId xmlns:a16="http://schemas.microsoft.com/office/drawing/2014/main" id="{E89E3793-1032-48FA-81FB-E5F603F20D7F}"/>
              </a:ext>
            </a:extLst>
          </p:cNvPr>
          <p:cNvSpPr>
            <a:spLocks xmlns:a="http://schemas.openxmlformats.org/drawingml/2006/main" noGrp="1"/>
          </p:cNvSpPr>
          <p:nvPr/>
        </p:nvSpPr>
        <p:spPr>
          <a:xfrm xmlns:a="http://schemas.openxmlformats.org/drawingml/2006/main">
            <a:off x="2463394" y="2042770"/>
            <a:ext cx="2743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00"/>
              </a:lnSpc>
              <a:spcBef>
                <a:spcPts val="0"/>
              </a:spcBef>
              <a:buNone/>
            </a:pPr>
            <a:r>
              <a:rPr sz="1300" b="0">
                <a:solidFill>
                  <a:srgbClr val="6B6B73"/>
                </a:solidFill>
                <a:latin typeface="Arial"/>
                <a:ea typeface="Arial"/>
                <a:cs typeface="Arial"/>
              </a:rPr>
              <a:t>results fully caught</a:t>
            </a:r>
            <a:endParaRPr sz="1300"/>
          </a:p>
        </p:txBody>
      </p:sp>
      <p:sp>
        <p:nvSpPr>
          <p:cNvPr id="8" name="Shape 4">
            <a:extLst xmlns:a="http://schemas.openxmlformats.org/drawingml/2006/main">
              <a:ext uri="{FF2B5EF4-FFF2-40B4-BE49-F238E27FC236}">
                <a16:creationId xmlns:a16="http://schemas.microsoft.com/office/drawing/2014/main" id="{B7702530-4F9D-4FA8-98BC-C8F2637825B8}"/>
              </a:ext>
            </a:extLst>
          </p:cNvPr>
          <p:cNvSpPr>
            <a:spLocks xmlns:a="http://schemas.openxmlformats.org/drawingml/2006/main" noGrp="1"/>
          </p:cNvSpPr>
          <p:nvPr/>
        </p:nvSpPr>
        <p:spPr>
          <a:xfrm xmlns:a="http://schemas.openxmlformats.org/drawingml/2006/main">
            <a:off x="812800" y="2378452"/>
            <a:ext cx="6350000" cy="609600"/>
          </a:xfrm>
          <a:prstGeom xmlns:a="http://schemas.openxmlformats.org/drawingml/2006/main" prst="roundRect">
            <a:avLst>
              <a:gd name="adj" fmla="val 12500"/>
            </a:avLst>
          </a:prstGeom>
          <a:solidFill xmlns:a="http://schemas.openxmlformats.org/drawingml/2006/main">
            <a:srgbClr val="EEEEF0"/>
          </a:solidFill>
        </p:spPr>
        <p:txBody>
          <a:bodyPr xmlns:a="http://schemas.openxmlformats.org/drawingml/2006/main"/>
          <a:lstStyle xmlns:a="http://schemas.openxmlformats.org/drawingml/2006/main"/>
          <a:p xmlns:a="http://schemas.openxmlformats.org/drawingml/2006/main">
            <a:endParaRPr/>
          </a:p>
        </p:txBody>
      </p:sp>
      <p:sp>
        <p:nvSpPr>
          <p:cNvPr id="9" name="Shape 5">
            <a:extLst xmlns:a="http://schemas.openxmlformats.org/drawingml/2006/main">
              <a:ext uri="{FF2B5EF4-FFF2-40B4-BE49-F238E27FC236}">
                <a16:creationId xmlns:a16="http://schemas.microsoft.com/office/drawing/2014/main" id="{FEFFF279-7CB3-42B9-A2AD-CE2DCE1EE045}"/>
              </a:ext>
            </a:extLst>
          </p:cNvPr>
          <p:cNvSpPr>
            <a:spLocks xmlns:a="http://schemas.openxmlformats.org/drawingml/2006/main" noGrp="1"/>
          </p:cNvSpPr>
          <p:nvPr/>
        </p:nvSpPr>
        <p:spPr>
          <a:xfrm xmlns:a="http://schemas.openxmlformats.org/drawingml/2006/main">
            <a:off x="812800" y="2378452"/>
            <a:ext cx="1778000" cy="609600"/>
          </a:xfrm>
          <a:prstGeom xmlns:a="http://schemas.openxmlformats.org/drawingml/2006/main" prst="roundRect">
            <a:avLst>
              <a:gd name="adj" fmla="val 12500"/>
            </a:avLst>
          </a:prstGeom>
          <a:solidFill xmlns:a="http://schemas.openxmlformats.org/drawingml/2006/main">
            <a:srgbClr val="9AC23C"/>
          </a:solidFill>
        </p:spPr>
        <p:txBody>
          <a:bodyPr xmlns:a="http://schemas.openxmlformats.org/drawingml/2006/main"/>
          <a:lstStyle xmlns:a="http://schemas.openxmlformats.org/drawingml/2006/main"/>
          <a:p xmlns:a="http://schemas.openxmlformats.org/drawingml/2006/main">
            <a:endParaRPr/>
          </a:p>
        </p:txBody>
      </p:sp>
      <p:sp>
        <p:nvSpPr>
          <p:cNvPr id="10" name="Text 6">
            <a:extLst xmlns:a="http://schemas.openxmlformats.org/drawingml/2006/main">
              <a:ext uri="{FF2B5EF4-FFF2-40B4-BE49-F238E27FC236}">
                <a16:creationId xmlns:a16="http://schemas.microsoft.com/office/drawing/2014/main" id="{23C033DA-6195-4EE0-868C-ACEE59282BD6}"/>
              </a:ext>
            </a:extLst>
          </p:cNvPr>
          <p:cNvSpPr>
            <a:spLocks xmlns:a="http://schemas.openxmlformats.org/drawingml/2006/main" noGrp="1"/>
          </p:cNvSpPr>
          <p:nvPr/>
        </p:nvSpPr>
        <p:spPr>
          <a:xfrm xmlns:a="http://schemas.openxmlformats.org/drawingml/2006/main">
            <a:off x="7260336" y="2505456"/>
            <a:ext cx="137160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100"/>
              </a:lnSpc>
              <a:spcBef>
                <a:spcPts val="0"/>
              </a:spcBef>
              <a:buNone/>
            </a:pPr>
            <a:r>
              <a:rPr sz="2500" b="1">
                <a:solidFill>
                  <a:srgbClr val="6B6B73"/>
                </a:solidFill>
                <a:latin typeface="Arial"/>
                <a:ea typeface="Arial"/>
                <a:cs typeface="Arial"/>
              </a:rPr>
              <a:t>7 of 25</a:t>
            </a:r>
            <a:endParaRPr sz="2500"/>
          </a:p>
        </p:txBody>
      </p:sp>
      <p:sp>
        <p:nvSpPr>
          <p:cNvPr id="11" name="Text 7">
            <a:extLst xmlns:a="http://schemas.openxmlformats.org/drawingml/2006/main">
              <a:ext uri="{FF2B5EF4-FFF2-40B4-BE49-F238E27FC236}">
                <a16:creationId xmlns:a16="http://schemas.microsoft.com/office/drawing/2014/main" id="{89B10FBF-9AF5-4520-88E8-3E853956D4D8}"/>
              </a:ext>
            </a:extLst>
          </p:cNvPr>
          <p:cNvSpPr>
            <a:spLocks xmlns:a="http://schemas.openxmlformats.org/drawingml/2006/main" noGrp="1"/>
          </p:cNvSpPr>
          <p:nvPr/>
        </p:nvSpPr>
        <p:spPr>
          <a:xfrm xmlns:a="http://schemas.openxmlformats.org/drawingml/2006/main">
            <a:off x="812800" y="3242052"/>
            <a:ext cx="1574800" cy="3098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33333A"/>
                </a:solidFill>
                <a:latin typeface="Arial"/>
                <a:ea typeface="Arial"/>
                <a:cs typeface="Arial"/>
              </a:rPr>
              <a:t>Diff + file</a:t>
            </a:r>
            <a:endParaRPr sz="1600"/>
          </a:p>
        </p:txBody>
      </p:sp>
      <p:sp>
        <p:nvSpPr>
          <p:cNvPr id="12" name="Text 8">
            <a:extLst xmlns:a="http://schemas.openxmlformats.org/drawingml/2006/main">
              <a:ext uri="{FF2B5EF4-FFF2-40B4-BE49-F238E27FC236}">
                <a16:creationId xmlns:a16="http://schemas.microsoft.com/office/drawing/2014/main" id="{F8CBB5A7-5918-48CE-B718-1CDB5A825BC9}"/>
              </a:ext>
            </a:extLst>
          </p:cNvPr>
          <p:cNvSpPr>
            <a:spLocks xmlns:a="http://schemas.openxmlformats.org/drawingml/2006/main" noGrp="1"/>
          </p:cNvSpPr>
          <p:nvPr/>
        </p:nvSpPr>
        <p:spPr>
          <a:xfrm xmlns:a="http://schemas.openxmlformats.org/drawingml/2006/main">
            <a:off x="2463394" y="3279953"/>
            <a:ext cx="3689604"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00"/>
              </a:lnSpc>
              <a:spcBef>
                <a:spcPts val="0"/>
              </a:spcBef>
              <a:buNone/>
            </a:pPr>
            <a:r>
              <a:rPr sz="1300" b="0">
                <a:solidFill>
                  <a:srgbClr val="6B6B73"/>
                </a:solidFill>
                <a:latin typeface="Arial"/>
                <a:ea typeface="Arial"/>
                <a:cs typeface="Arial"/>
              </a:rPr>
              <a:t>same prompt, one extra file</a:t>
            </a:r>
            <a:endParaRPr sz="1300"/>
          </a:p>
        </p:txBody>
      </p:sp>
      <p:sp>
        <p:nvSpPr>
          <p:cNvPr id="13" name="Shape 9">
            <a:extLst xmlns:a="http://schemas.openxmlformats.org/drawingml/2006/main">
              <a:ext uri="{FF2B5EF4-FFF2-40B4-BE49-F238E27FC236}">
                <a16:creationId xmlns:a16="http://schemas.microsoft.com/office/drawing/2014/main" id="{04BA83CD-77D0-4C84-B515-CCFCF2AA324B}"/>
              </a:ext>
            </a:extLst>
          </p:cNvPr>
          <p:cNvSpPr>
            <a:spLocks xmlns:a="http://schemas.openxmlformats.org/drawingml/2006/main" noGrp="1"/>
          </p:cNvSpPr>
          <p:nvPr/>
        </p:nvSpPr>
        <p:spPr>
          <a:xfrm xmlns:a="http://schemas.openxmlformats.org/drawingml/2006/main">
            <a:off x="812800" y="3615412"/>
            <a:ext cx="6350000" cy="609600"/>
          </a:xfrm>
          <a:prstGeom xmlns:a="http://schemas.openxmlformats.org/drawingml/2006/main" prst="roundRect">
            <a:avLst>
              <a:gd name="adj" fmla="val 12500"/>
            </a:avLst>
          </a:prstGeom>
          <a:solidFill xmlns:a="http://schemas.openxmlformats.org/drawingml/2006/main">
            <a:srgbClr val="EEEEF0"/>
          </a:solidFill>
        </p:spPr>
        <p:txBody>
          <a:bodyPr xmlns:a="http://schemas.openxmlformats.org/drawingml/2006/main"/>
          <a:lstStyle xmlns:a="http://schemas.openxmlformats.org/drawingml/2006/main"/>
          <a:p xmlns:a="http://schemas.openxmlformats.org/drawingml/2006/main">
            <a:endParaRPr/>
          </a:p>
        </p:txBody>
      </p:sp>
      <p:sp>
        <p:nvSpPr>
          <p:cNvPr id="14" name="Shape 10">
            <a:extLst xmlns:a="http://schemas.openxmlformats.org/drawingml/2006/main">
              <a:ext uri="{FF2B5EF4-FFF2-40B4-BE49-F238E27FC236}">
                <a16:creationId xmlns:a16="http://schemas.microsoft.com/office/drawing/2014/main" id="{311B0607-464D-4B34-8D83-5EB0194182EC}"/>
              </a:ext>
            </a:extLst>
          </p:cNvPr>
          <p:cNvSpPr>
            <a:spLocks xmlns:a="http://schemas.openxmlformats.org/drawingml/2006/main" noGrp="1"/>
          </p:cNvSpPr>
          <p:nvPr/>
        </p:nvSpPr>
        <p:spPr>
          <a:xfrm xmlns:a="http://schemas.openxmlformats.org/drawingml/2006/main">
            <a:off x="812800" y="3615412"/>
            <a:ext cx="4064000" cy="609600"/>
          </a:xfrm>
          <a:prstGeom xmlns:a="http://schemas.openxmlformats.org/drawingml/2006/main" prst="roundRect">
            <a:avLst>
              <a:gd name="adj" fmla="val 12500"/>
            </a:avLst>
          </a:prstGeom>
          <a:solidFill xmlns:a="http://schemas.openxmlformats.org/drawingml/2006/main">
            <a:srgbClr val="448334"/>
          </a:solidFill>
        </p:spPr>
        <p:txBody>
          <a:bodyPr xmlns:a="http://schemas.openxmlformats.org/drawingml/2006/main"/>
          <a:lstStyle xmlns:a="http://schemas.openxmlformats.org/drawingml/2006/main"/>
          <a:p xmlns:a="http://schemas.openxmlformats.org/drawingml/2006/main">
            <a:endParaRPr/>
          </a:p>
        </p:txBody>
      </p:sp>
      <p:sp>
        <p:nvSpPr>
          <p:cNvPr id="15" name="Text 11">
            <a:extLst xmlns:a="http://schemas.openxmlformats.org/drawingml/2006/main">
              <a:ext uri="{FF2B5EF4-FFF2-40B4-BE49-F238E27FC236}">
                <a16:creationId xmlns:a16="http://schemas.microsoft.com/office/drawing/2014/main" id="{FE8EEC28-63F9-4D06-A212-8D3780EB9C05}"/>
              </a:ext>
            </a:extLst>
          </p:cNvPr>
          <p:cNvSpPr>
            <a:spLocks xmlns:a="http://schemas.openxmlformats.org/drawingml/2006/main" noGrp="1"/>
          </p:cNvSpPr>
          <p:nvPr/>
        </p:nvSpPr>
        <p:spPr>
          <a:xfrm xmlns:a="http://schemas.openxmlformats.org/drawingml/2006/main">
            <a:off x="7260336" y="3742639"/>
            <a:ext cx="137160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100"/>
              </a:lnSpc>
              <a:spcBef>
                <a:spcPts val="0"/>
              </a:spcBef>
              <a:buNone/>
            </a:pPr>
            <a:r>
              <a:rPr sz="2500" b="1">
                <a:solidFill>
                  <a:srgbClr val="4C8835"/>
                </a:solidFill>
                <a:latin typeface="Arial"/>
                <a:ea typeface="Arial"/>
                <a:cs typeface="Arial"/>
              </a:rPr>
              <a:t>16 of 25</a:t>
            </a:r>
            <a:endParaRPr sz="2500"/>
          </a:p>
        </p:txBody>
      </p:sp>
      <p:sp>
        <p:nvSpPr>
          <p:cNvPr id="19" name="Shape 15">
            <a:extLst xmlns:a="http://schemas.openxmlformats.org/drawingml/2006/main">
              <a:ext uri="{FF2B5EF4-FFF2-40B4-BE49-F238E27FC236}">
                <a16:creationId xmlns:a16="http://schemas.microsoft.com/office/drawing/2014/main" id="{20C14478-9221-45BB-8612-7D4867EA246C}"/>
              </a:ext>
            </a:extLst>
          </p:cNvPr>
          <p:cNvSpPr>
            <a:spLocks xmlns:a="http://schemas.openxmlformats.org/drawingml/2006/main" noGrp="1"/>
          </p:cNvSpPr>
          <p:nvPr/>
        </p:nvSpPr>
        <p:spPr>
          <a:xfrm xmlns:a="http://schemas.openxmlformats.org/drawingml/2006/main">
            <a:off x="8686800" y="1845250"/>
            <a:ext cx="2688336" cy="2971800"/>
          </a:xfrm>
          <a:prstGeom xmlns:a="http://schemas.openxmlformats.org/drawingml/2006/main" prst="roundRect">
            <a:avLst>
              <a:gd name="adj" fmla="val 5975"/>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Text 16">
            <a:extLst xmlns:a="http://schemas.openxmlformats.org/drawingml/2006/main">
              <a:ext uri="{FF2B5EF4-FFF2-40B4-BE49-F238E27FC236}">
                <a16:creationId xmlns:a16="http://schemas.microsoft.com/office/drawing/2014/main" id="{6166B008-98D4-4A14-BA93-47DC23EFBD87}"/>
              </a:ext>
            </a:extLst>
          </p:cNvPr>
          <p:cNvSpPr>
            <a:spLocks xmlns:a="http://schemas.openxmlformats.org/drawingml/2006/main" noGrp="1"/>
          </p:cNvSpPr>
          <p:nvPr/>
        </p:nvSpPr>
        <p:spPr>
          <a:xfrm xmlns:a="http://schemas.openxmlformats.org/drawingml/2006/main">
            <a:off x="8897112" y="2054800"/>
            <a:ext cx="2267712"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6B6B73"/>
                </a:solidFill>
                <a:latin typeface="Arial"/>
                <a:ea typeface="Arial"/>
                <a:cs typeface="Arial"/>
              </a:rPr>
              <a:t>STILL HARD</a:t>
            </a:r>
            <a:endParaRPr sz="1200"/>
          </a:p>
        </p:txBody>
      </p:sp>
      <p:pic>
        <p:nvPicPr>
          <p:cNvPr id="21" name="Image 2">
            <a:extLst xmlns:a="http://schemas.openxmlformats.org/drawingml/2006/main">
              <a:ext uri="{FF2B5EF4-FFF2-40B4-BE49-F238E27FC236}">
                <a16:creationId xmlns:a16="http://schemas.microsoft.com/office/drawing/2014/main" id="{711EBEE4-855D-4285-8F44-EF13A5A1B4DB}"/>
              </a:ext>
            </a:extLst>
          </p:cNvPr>
          <p:cNvPicPr>
            <a:picLocks xmlns:a="http://schemas.openxmlformats.org/drawingml/2006/main" noChangeAspect="1"/>
          </p:cNvPicPr>
          <p:nvPr/>
        </p:nvPicPr>
        <p:blipFill>
          <a:blip xmlns:r="http://schemas.openxmlformats.org/officeDocument/2006/relationships" xmlns:a="http://schemas.openxmlformats.org/drawingml/2006/main" r:embed="Rf68927ede205458e"/>
          <a:srcRect xmlns:a="http://schemas.openxmlformats.org/drawingml/2006/main" l="0" t="-834" r="0" b="-834"/>
          <a:stretch xmlns:a="http://schemas.openxmlformats.org/drawingml/2006/main"/>
        </p:blipFill>
        <p:spPr>
          <a:xfrm xmlns:a="http://schemas.openxmlformats.org/drawingml/2006/main">
            <a:off x="8897112" y="2499896"/>
            <a:ext cx="124916" cy="203200"/>
          </a:xfrm>
          <a:prstGeom xmlns:a="http://schemas.openxmlformats.org/drawingml/2006/main" prst="rect">
            <a:avLst/>
          </a:prstGeom>
        </p:spPr>
      </p:pic>
      <p:sp>
        <p:nvSpPr>
          <p:cNvPr id="22" name="Text 17">
            <a:extLst xmlns:a="http://schemas.openxmlformats.org/drawingml/2006/main">
              <a:ext uri="{FF2B5EF4-FFF2-40B4-BE49-F238E27FC236}">
                <a16:creationId xmlns:a16="http://schemas.microsoft.com/office/drawing/2014/main" id="{CE5908E0-EAEF-458C-8535-6F59B708B003}"/>
              </a:ext>
            </a:extLst>
          </p:cNvPr>
          <p:cNvSpPr>
            <a:spLocks xmlns:a="http://schemas.openxmlformats.org/drawingml/2006/main" noGrp="1"/>
          </p:cNvSpPr>
          <p:nvPr/>
        </p:nvSpPr>
        <p:spPr>
          <a:xfrm xmlns:a="http://schemas.openxmlformats.org/drawingml/2006/main">
            <a:off x="9098280" y="2395121"/>
            <a:ext cx="2066544" cy="43815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5"/>
              </a:lnSpc>
              <a:buNone/>
            </a:pPr>
            <a:r>
              <a:rPr sz="1300" b="1">
                <a:solidFill>
                  <a:srgbClr val="33333A"/>
                </a:solidFill>
                <a:latin typeface="Arial"/>
                <a:ea typeface="Arial"/>
                <a:cs typeface="Arial"/>
              </a:rPr>
              <a:t>Inherited access-control flaw</a:t>
            </a:r>
            <a:endParaRPr sz="1300"/>
          </a:p>
        </p:txBody>
      </p:sp>
      <p:sp>
        <p:nvSpPr>
          <p:cNvPr id="23" name="Text 18">
            <a:extLst xmlns:a="http://schemas.openxmlformats.org/drawingml/2006/main">
              <a:ext uri="{FF2B5EF4-FFF2-40B4-BE49-F238E27FC236}">
                <a16:creationId xmlns:a16="http://schemas.microsoft.com/office/drawing/2014/main" id="{1975E843-9E74-4DA6-BCC6-1C9D38018559}"/>
              </a:ext>
            </a:extLst>
          </p:cNvPr>
          <p:cNvSpPr>
            <a:spLocks xmlns:a="http://schemas.openxmlformats.org/drawingml/2006/main" noGrp="1"/>
          </p:cNvSpPr>
          <p:nvPr/>
        </p:nvSpPr>
        <p:spPr>
          <a:xfrm xmlns:a="http://schemas.openxmlformats.org/drawingml/2006/main">
            <a:off x="8897112" y="2935224"/>
            <a:ext cx="2267712" cy="642823"/>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00"/>
              </a:lnSpc>
              <a:spcBef>
                <a:spcPts val="0"/>
              </a:spcBef>
              <a:buNone/>
            </a:pPr>
            <a:r>
              <a:rPr sz="1300" b="0">
                <a:solidFill>
                  <a:srgbClr val="6B6B73"/>
                </a:solidFill>
                <a:latin typeface="Arial"/>
                <a:ea typeface="Arial"/>
                <a:cs typeface="Arial"/>
              </a:rPr>
              <a:t>Context alone did not</a:t>
            </a:r>
            <a:endParaRPr sz="1300"/>
          </a:p>
          <a:p xmlns:a="http://schemas.openxmlformats.org/drawingml/2006/main">
            <a:pPr marL="0" indent="0" algn="l">
              <a:lnSpc>
                <a:spcPts val="1700"/>
              </a:lnSpc>
              <a:spcBef>
                <a:spcPts val="0"/>
              </a:spcBef>
              <a:buNone/>
            </a:pPr>
            <a:r>
              <a:rPr sz="1300" b="0">
                <a:solidFill>
                  <a:srgbClr val="6B6B73"/>
                </a:solidFill>
                <a:latin typeface="Arial"/>
                <a:ea typeface="Arial"/>
                <a:cs typeface="Arial"/>
              </a:rPr>
              <a:t>recover this flaw</a:t>
            </a:r>
            <a:endParaRPr sz="1300"/>
          </a:p>
        </p:txBody>
      </p:sp>
      <p:pic>
        <p:nvPicPr>
          <p:cNvPr id="24" name="Image 3">
            <a:extLst xmlns:a="http://schemas.openxmlformats.org/drawingml/2006/main">
              <a:ext uri="{FF2B5EF4-FFF2-40B4-BE49-F238E27FC236}">
                <a16:creationId xmlns:a16="http://schemas.microsoft.com/office/drawing/2014/main" id="{42608344-7B47-45C1-A208-28A4396E65F6}"/>
              </a:ext>
            </a:extLst>
          </p:cNvPr>
          <p:cNvPicPr>
            <a:picLocks xmlns:a="http://schemas.openxmlformats.org/drawingml/2006/main" noChangeAspect="1"/>
          </p:cNvPicPr>
          <p:nvPr/>
        </p:nvPicPr>
        <p:blipFill>
          <a:blip xmlns:r="http://schemas.openxmlformats.org/officeDocument/2006/relationships" xmlns:a="http://schemas.openxmlformats.org/drawingml/2006/main" r:embed="Rf452f5a44f174599"/>
          <a:srcRect xmlns:a="http://schemas.openxmlformats.org/drawingml/2006/main" l="0" t="0" r="0" b="0"/>
          <a:stretch xmlns:a="http://schemas.openxmlformats.org/drawingml/2006/main"/>
        </p:blipFill>
        <p:spPr>
          <a:xfrm xmlns:a="http://schemas.openxmlformats.org/drawingml/2006/main">
            <a:off x="8897112" y="3678912"/>
            <a:ext cx="2267712" cy="12700"/>
          </a:xfrm>
          <a:prstGeom xmlns:a="http://schemas.openxmlformats.org/drawingml/2006/main" prst="rect">
            <a:avLst/>
          </a:prstGeom>
        </p:spPr>
      </p:pic>
      <p:pic>
        <p:nvPicPr>
          <p:cNvPr id="25" name="Image 4">
            <a:extLst xmlns:a="http://schemas.openxmlformats.org/drawingml/2006/main">
              <a:ext uri="{FF2B5EF4-FFF2-40B4-BE49-F238E27FC236}">
                <a16:creationId xmlns:a16="http://schemas.microsoft.com/office/drawing/2014/main" id="{F9398E7B-601A-4912-93E2-C5EDCE6B74CB}"/>
              </a:ext>
            </a:extLst>
          </p:cNvPr>
          <p:cNvPicPr>
            <a:picLocks xmlns:a="http://schemas.openxmlformats.org/drawingml/2006/main" noChangeAspect="1"/>
          </p:cNvPicPr>
          <p:nvPr/>
        </p:nvPicPr>
        <p:blipFill>
          <a:blip xmlns:r="http://schemas.openxmlformats.org/officeDocument/2006/relationships" xmlns:a="http://schemas.openxmlformats.org/drawingml/2006/main" r:embed="R41720ba2208848cc"/>
          <a:srcRect xmlns:a="http://schemas.openxmlformats.org/drawingml/2006/main" l="0" t="-824" r="0" b="-824"/>
          <a:stretch xmlns:a="http://schemas.openxmlformats.org/drawingml/2006/main"/>
        </p:blipFill>
        <p:spPr>
          <a:xfrm xmlns:a="http://schemas.openxmlformats.org/drawingml/2006/main">
            <a:off x="8897112" y="3923387"/>
            <a:ext cx="168672" cy="203200"/>
          </a:xfrm>
          <a:prstGeom xmlns:a="http://schemas.openxmlformats.org/drawingml/2006/main" prst="rect">
            <a:avLst/>
          </a:prstGeom>
        </p:spPr>
      </p:pic>
      <p:sp>
        <p:nvSpPr>
          <p:cNvPr id="26" name="Text 19">
            <a:extLst xmlns:a="http://schemas.openxmlformats.org/drawingml/2006/main">
              <a:ext uri="{FF2B5EF4-FFF2-40B4-BE49-F238E27FC236}">
                <a16:creationId xmlns:a16="http://schemas.microsoft.com/office/drawing/2014/main" id="{5DAB086E-DAAE-469A-82ED-677EA33A2A1E}"/>
              </a:ext>
            </a:extLst>
          </p:cNvPr>
          <p:cNvSpPr>
            <a:spLocks xmlns:a="http://schemas.openxmlformats.org/drawingml/2006/main" noGrp="1"/>
          </p:cNvSpPr>
          <p:nvPr/>
        </p:nvSpPr>
        <p:spPr>
          <a:xfrm xmlns:a="http://schemas.openxmlformats.org/drawingml/2006/main">
            <a:off x="9144000" y="3818612"/>
            <a:ext cx="2020824" cy="23865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5"/>
              </a:lnSpc>
              <a:buNone/>
            </a:pPr>
            <a:r>
              <a:rPr sz="1300" b="1">
                <a:solidFill>
                  <a:srgbClr val="33333A"/>
                </a:solidFill>
                <a:latin typeface="Arial"/>
                <a:ea typeface="Arial"/>
                <a:cs typeface="Arial"/>
              </a:rPr>
              <a:t>PDF-rendering SSRF</a:t>
            </a:r>
            <a:endParaRPr sz="1300"/>
          </a:p>
        </p:txBody>
      </p:sp>
      <p:sp>
        <p:nvSpPr>
          <p:cNvPr id="27" name="Text 20">
            <a:extLst xmlns:a="http://schemas.openxmlformats.org/drawingml/2006/main">
              <a:ext uri="{FF2B5EF4-FFF2-40B4-BE49-F238E27FC236}">
                <a16:creationId xmlns:a16="http://schemas.microsoft.com/office/drawing/2014/main" id="{3268C685-B724-4FC1-9786-C5D5E48CD6BA}"/>
              </a:ext>
            </a:extLst>
          </p:cNvPr>
          <p:cNvSpPr>
            <a:spLocks xmlns:a="http://schemas.openxmlformats.org/drawingml/2006/main" noGrp="1"/>
          </p:cNvSpPr>
          <p:nvPr/>
        </p:nvSpPr>
        <p:spPr>
          <a:xfrm xmlns:a="http://schemas.openxmlformats.org/drawingml/2006/main">
            <a:off x="8897112" y="4160520"/>
            <a:ext cx="2267712" cy="4367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6B6B73"/>
                </a:solidFill>
                <a:latin typeface="Arial"/>
                <a:ea typeface="Arial"/>
                <a:cs typeface="Arial"/>
              </a:rPr>
              <a:t>Remained difficult with context</a:t>
            </a:r>
            <a:endParaRPr sz="1200"/>
          </a:p>
        </p:txBody>
      </p:sp>
      <p:sp>
        <p:nvSpPr>
          <p:cNvPr id="28" name="Text 21">
            <a:extLst xmlns:a="http://schemas.openxmlformats.org/drawingml/2006/main">
              <a:ext uri="{FF2B5EF4-FFF2-40B4-BE49-F238E27FC236}">
                <a16:creationId xmlns:a16="http://schemas.microsoft.com/office/drawing/2014/main" id="{B25BD5CF-9560-442D-B697-78F9F3691CE0}"/>
              </a:ext>
            </a:extLst>
          </p:cNvPr>
          <p:cNvSpPr>
            <a:spLocks xmlns:a="http://schemas.openxmlformats.org/drawingml/2006/main" noGrp="1"/>
          </p:cNvSpPr>
          <p:nvPr/>
        </p:nvSpPr>
        <p:spPr>
          <a:xfrm xmlns:a="http://schemas.openxmlformats.org/drawingml/2006/main">
            <a:off x="813816" y="5925312"/>
            <a:ext cx="978408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500"/>
              </a:lnSpc>
              <a:spcBef>
                <a:spcPts val="0"/>
              </a:spcBef>
              <a:buNone/>
            </a:pPr>
            <a:r>
              <a:rPr sz="1100" b="0">
                <a:solidFill>
                  <a:srgbClr val="8A8A92"/>
                </a:solidFill>
                <a:latin typeface="Arial"/>
                <a:ea typeface="Arial"/>
                <a:cs typeface="Arial"/>
              </a:rPr>
              <a:t>One result = one model on one case. Caught = actionable finding in at least 2 of 3 reviews.</a:t>
            </a:r>
            <a:endParaRPr sz="1100"/>
          </a:p>
        </p:txBody>
      </p:sp>
      <p:sp>
        <p:nvSpPr>
          <p:cNvPr id="29" name="Text 22">
            <a:extLst xmlns:a="http://schemas.openxmlformats.org/drawingml/2006/main">
              <a:ext uri="{FF2B5EF4-FFF2-40B4-BE49-F238E27FC236}">
                <a16:creationId xmlns:a16="http://schemas.microsoft.com/office/drawing/2014/main" id="{444C8375-9329-4C3B-B41E-E2F06A4FEE26}"/>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80" name="Sample and counting unit">
            <a:extLst xmlns:a="http://schemas.openxmlformats.org/drawingml/2006/main">
              <a:ext uri="{FF2B5EF4-FFF2-40B4-BE49-F238E27FC236}">
                <a16:creationId xmlns:a16="http://schemas.microsoft.com/office/drawing/2014/main" id="{81590853-6BCB-4774-9DBF-78CCA1F52ECC}"/>
              </a:ext>
            </a:extLst>
          </p:cNvPr>
          <p:cNvSpPr>
            <a:spLocks xmlns:a="http://schemas.openxmlformats.org/drawingml/2006/main" noGrp="1"/>
          </p:cNvSpPr>
          <p:nvPr/>
        </p:nvSpPr>
        <p:spPr>
          <a:xfrm xmlns:a="http://schemas.openxmlformats.org/drawingml/2006/main">
            <a:off x="812902" y="1353312"/>
            <a:ext cx="1056132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25"/>
              </a:lnSpc>
              <a:spcBef>
                <a:spcPts val="0"/>
              </a:spcBef>
              <a:buNone/>
            </a:pPr>
            <a:r>
              <a:rPr sz="1700" b="0">
                <a:solidFill>
                  <a:srgbClr val="33333A"/>
                </a:solidFill>
                <a:latin typeface="Arial"/>
                <a:ea typeface="Arial"/>
                <a:cs typeface="Arial"/>
              </a:rPr>
              <a:t>Context test: 5 cases × 5 models = 25 model results per condition</a:t>
            </a:r>
            <a:endParaRPr sz="1700"/>
          </a:p>
        </p:txBody>
      </p:sp>
      <p:sp>
        <p:nvSpPr>
          <p:cNvPr id="81" name="Context case origins">
            <a:extLst xmlns:a="http://schemas.openxmlformats.org/drawingml/2006/main">
              <a:ext uri="{FF2B5EF4-FFF2-40B4-BE49-F238E27FC236}">
                <a16:creationId xmlns:a16="http://schemas.microsoft.com/office/drawing/2014/main" id="{0FB82FFC-D766-42CF-9729-F16256FBB94F}"/>
              </a:ext>
            </a:extLst>
          </p:cNvPr>
          <p:cNvSpPr>
            <a:spLocks xmlns:a="http://schemas.openxmlformats.org/drawingml/2006/main" noGrp="1"/>
          </p:cNvSpPr>
          <p:nvPr/>
        </p:nvSpPr>
        <p:spPr>
          <a:xfrm xmlns:a="http://schemas.openxmlformats.org/drawingml/2006/main">
            <a:off x="812902" y="4983480"/>
            <a:ext cx="105613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875"/>
              </a:lnSpc>
              <a:spcBef>
                <a:spcPts val="0"/>
              </a:spcBef>
              <a:buNone/>
            </a:pPr>
            <a:r>
              <a:rPr sz="1500" b="0">
                <a:solidFill>
                  <a:srgbClr val="33333A"/>
                </a:solidFill>
                <a:latin typeface="Arial"/>
                <a:ea typeface="Arial"/>
                <a:cs typeface="Arial"/>
              </a:rPr>
              <a:t>5 cases = 4 needing another file from the original study + 1 inherited-flaw case.</a:t>
            </a:r>
            <a:endParaRPr sz="1500"/>
          </a:p>
        </p:txBody>
      </p:sp>
      <p:sp>
        <p:nvSpPr>
          <p:cNvPr id="82" name="Context condition boundary">
            <a:extLst xmlns:a="http://schemas.openxmlformats.org/drawingml/2006/main">
              <a:ext uri="{FF2B5EF4-FFF2-40B4-BE49-F238E27FC236}">
                <a16:creationId xmlns:a16="http://schemas.microsoft.com/office/drawing/2014/main" id="{C488D1F2-28C8-43A4-A229-03D391F6F32F}"/>
              </a:ext>
            </a:extLst>
          </p:cNvPr>
          <p:cNvSpPr>
            <a:spLocks xmlns:a="http://schemas.openxmlformats.org/drawingml/2006/main" noGrp="1"/>
          </p:cNvSpPr>
          <p:nvPr/>
        </p:nvSpPr>
        <p:spPr>
          <a:xfrm xmlns:a="http://schemas.openxmlformats.org/drawingml/2006/main">
            <a:off x="812902" y="5440680"/>
            <a:ext cx="105613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50"/>
              </a:lnSpc>
              <a:spcBef>
                <a:spcPts val="0"/>
              </a:spcBef>
              <a:buNone/>
            </a:pPr>
            <a:r>
              <a:rPr sz="1400" b="0">
                <a:solidFill>
                  <a:srgbClr val="6B6B73"/>
                </a:solidFill>
                <a:latin typeface="Arial"/>
                <a:ea typeface="Arial"/>
                <a:cs typeface="Arial"/>
              </a:rPr>
              <a:t>Five-case test: no benign controls. Later security + file controls: 20/30 false alarms.</a:t>
            </a:r>
            <a:endParaRPr sz="1400"/>
          </a:p>
        </p:txBody>
      </p:sp>
    </p:spTree>
    <p:extLst>
      <p:ext uri="{BB962C8B-B14F-4D97-AF65-F5344CB8AC3E}">
        <p14:creationId xmlns:p14="http://schemas.microsoft.com/office/powerpoint/2010/main" val="55175512"/>
      </p:ext>
    </p:extLst>
  </p:cSld>
</p:sld>
</file>

<file path=ppt/slides/slide36.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A764563E-A5A1-419F-B4E1-3FDA73AC55FF}"/>
              </a:ext>
            </a:extLst>
          </p:cNvPr>
          <p:cNvPicPr>
            <a:picLocks xmlns:a="http://schemas.openxmlformats.org/drawingml/2006/main" noChangeAspect="1"/>
          </p:cNvPicPr>
          <p:nvPr/>
        </p:nvPicPr>
        <p:blipFill>
          <a:blip xmlns:r="http://schemas.openxmlformats.org/officeDocument/2006/relationships" xmlns:a="http://schemas.openxmlformats.org/drawingml/2006/main" r:embed="R86270df0701f44c6"/>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983CDD0E-0222-469A-A133-28F3178BA677}"/>
              </a:ext>
            </a:extLst>
          </p:cNvPr>
          <p:cNvPicPr>
            <a:picLocks xmlns:a="http://schemas.openxmlformats.org/drawingml/2006/main" noChangeAspect="1"/>
          </p:cNvPicPr>
          <p:nvPr/>
        </p:nvPicPr>
        <p:blipFill>
          <a:blip xmlns:r="http://schemas.openxmlformats.org/officeDocument/2006/relationships" xmlns:a="http://schemas.openxmlformats.org/drawingml/2006/main" r:embed="R3e697ef6daa94543"/>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C37A1286-EA99-4585-A35E-9A03653E1337}"/>
              </a:ext>
            </a:extLst>
          </p:cNvPr>
          <p:cNvSpPr>
            <a:spLocks xmlns:a="http://schemas.openxmlformats.org/drawingml/2006/main" noGrp="1"/>
          </p:cNvSpPr>
          <p:nvPr>
            <p:ph type="title" idx="0"/>
          </p:nvPr>
        </p:nvSpPr>
        <p:spPr>
          <a:xfrm xmlns:a="http://schemas.openxmlformats.org/drawingml/2006/main">
            <a:off x="812800" y="812800"/>
            <a:ext cx="6341031" cy="4723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i="0">
                <a:solidFill>
                  <a:srgbClr val="448334"/>
                </a:solidFill>
                <a:latin typeface="Arial"/>
                <a:ea typeface="Arial"/>
                <a:cs typeface="Arial"/>
              </a:rPr>
              <a:t>Where a focused model fits</a:t>
            </a:r>
            <a:endParaRPr sz="3200"/>
          </a:p>
        </p:txBody>
      </p:sp>
      <p:sp>
        <p:nvSpPr>
          <p:cNvPr id="6" name="Shape 2">
            <a:extLst xmlns:a="http://schemas.openxmlformats.org/drawingml/2006/main">
              <a:ext uri="{FF2B5EF4-FFF2-40B4-BE49-F238E27FC236}">
                <a16:creationId xmlns:a16="http://schemas.microsoft.com/office/drawing/2014/main" id="{7DF7A7FD-3270-4C82-8259-85E34A101524}"/>
              </a:ext>
            </a:extLst>
          </p:cNvPr>
          <p:cNvSpPr>
            <a:spLocks xmlns:a="http://schemas.openxmlformats.org/drawingml/2006/main" noGrp="1"/>
          </p:cNvSpPr>
          <p:nvPr/>
        </p:nvSpPr>
        <p:spPr>
          <a:xfrm xmlns:a="http://schemas.openxmlformats.org/drawingml/2006/main">
            <a:off x="819150" y="1570930"/>
            <a:ext cx="5143500" cy="3063240"/>
          </a:xfrm>
          <a:prstGeom xmlns:a="http://schemas.openxmlformats.org/drawingml/2006/main" prst="roundRect">
            <a:avLst>
              <a:gd name="adj" fmla="val 3797"/>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3">
            <a:extLst xmlns:a="http://schemas.openxmlformats.org/drawingml/2006/main">
              <a:ext uri="{FF2B5EF4-FFF2-40B4-BE49-F238E27FC236}">
                <a16:creationId xmlns:a16="http://schemas.microsoft.com/office/drawing/2014/main" id="{9AB5344C-2C47-4DAC-B211-07299633AFC5}"/>
              </a:ext>
            </a:extLst>
          </p:cNvPr>
          <p:cNvSpPr>
            <a:spLocks xmlns:a="http://schemas.openxmlformats.org/drawingml/2006/main" noGrp="1"/>
          </p:cNvSpPr>
          <p:nvPr/>
        </p:nvSpPr>
        <p:spPr>
          <a:xfrm xmlns:a="http://schemas.openxmlformats.org/drawingml/2006/main">
            <a:off x="1104900" y="1856680"/>
            <a:ext cx="470916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6B6B73"/>
                </a:solidFill>
                <a:latin typeface="Arial"/>
                <a:ea typeface="Arial"/>
                <a:cs typeface="Arial"/>
              </a:rPr>
              <a:t>JEV ROUTING PILOT · 14 CHANGES</a:t>
            </a:r>
            <a:endParaRPr sz="1200"/>
          </a:p>
        </p:txBody>
      </p:sp>
      <p:sp>
        <p:nvSpPr>
          <p:cNvPr id="8" name="Text 4">
            <a:extLst xmlns:a="http://schemas.openxmlformats.org/drawingml/2006/main">
              <a:ext uri="{FF2B5EF4-FFF2-40B4-BE49-F238E27FC236}">
                <a16:creationId xmlns:a16="http://schemas.microsoft.com/office/drawing/2014/main" id="{B215A3AC-15F0-4766-98E7-1E4BD969DB45}"/>
              </a:ext>
            </a:extLst>
          </p:cNvPr>
          <p:cNvSpPr>
            <a:spLocks xmlns:a="http://schemas.openxmlformats.org/drawingml/2006/main" noGrp="1"/>
          </p:cNvSpPr>
          <p:nvPr/>
        </p:nvSpPr>
        <p:spPr>
          <a:xfrm xmlns:a="http://schemas.openxmlformats.org/drawingml/2006/main">
            <a:off x="1104900" y="2197001"/>
            <a:ext cx="47091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7000"/>
              </a:lnSpc>
              <a:buNone/>
            </a:pPr>
            <a:r>
              <a:rPr sz="7000" b="1">
                <a:solidFill>
                  <a:srgbClr val="0086B6"/>
                </a:solidFill>
                <a:latin typeface="Arial"/>
                <a:ea typeface="Arial"/>
                <a:cs typeface="Arial"/>
              </a:rPr>
              <a:t>32</a:t>
            </a:r>
            <a:r>
              <a:rPr sz="7000" b="1">
                <a:solidFill>
                  <a:srgbClr val="8A8A92"/>
                </a:solidFill>
                <a:latin typeface="Arial"/>
                <a:ea typeface="Arial"/>
                <a:cs typeface="Arial"/>
              </a:rPr>
              <a:t>/42</a:t>
            </a:r>
            <a:endParaRPr sz="7000"/>
          </a:p>
        </p:txBody>
      </p:sp>
      <p:sp>
        <p:nvSpPr>
          <p:cNvPr id="9" name="Text 5">
            <a:extLst xmlns:a="http://schemas.openxmlformats.org/drawingml/2006/main">
              <a:ext uri="{FF2B5EF4-FFF2-40B4-BE49-F238E27FC236}">
                <a16:creationId xmlns:a16="http://schemas.microsoft.com/office/drawing/2014/main" id="{3E77EAF5-2B39-4101-94EF-4B21BB1B5996}"/>
              </a:ext>
            </a:extLst>
          </p:cNvPr>
          <p:cNvSpPr>
            <a:spLocks xmlns:a="http://schemas.openxmlformats.org/drawingml/2006/main" noGrp="1"/>
          </p:cNvSpPr>
          <p:nvPr/>
        </p:nvSpPr>
        <p:spPr>
          <a:xfrm xmlns:a="http://schemas.openxmlformats.org/drawingml/2006/main">
            <a:off x="1104900" y="3213001"/>
            <a:ext cx="4709160"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33333A"/>
                </a:solidFill>
                <a:latin typeface="Arial"/>
                <a:ea typeface="Arial"/>
                <a:cs typeface="Arial"/>
              </a:rPr>
              <a:t>calls matched draft policy</a:t>
            </a:r>
            <a:endParaRPr sz="1600"/>
          </a:p>
        </p:txBody>
      </p:sp>
      <p:sp>
        <p:nvSpPr>
          <p:cNvPr id="10" name="Text 6">
            <a:extLst xmlns:a="http://schemas.openxmlformats.org/drawingml/2006/main">
              <a:ext uri="{FF2B5EF4-FFF2-40B4-BE49-F238E27FC236}">
                <a16:creationId xmlns:a16="http://schemas.microsoft.com/office/drawing/2014/main" id="{E124C820-8569-4CB3-867B-F0C885A6F5B6}"/>
              </a:ext>
            </a:extLst>
          </p:cNvPr>
          <p:cNvSpPr>
            <a:spLocks xmlns:a="http://schemas.openxmlformats.org/drawingml/2006/main" noGrp="1"/>
          </p:cNvSpPr>
          <p:nvPr/>
        </p:nvSpPr>
        <p:spPr>
          <a:xfrm xmlns:a="http://schemas.openxmlformats.org/drawingml/2006/main">
            <a:off x="1104900" y="3594001"/>
            <a:ext cx="1050330" cy="314920"/>
          </a:xfrm>
          <a:prstGeom xmlns:a="http://schemas.openxmlformats.org/drawingml/2006/main" prst="roundRect">
            <a:avLst>
              <a:gd name="adj" fmla="val 16131"/>
            </a:avLst>
          </a:prstGeom>
          <a:solidFill xmlns:a="http://schemas.openxmlformats.org/drawingml/2006/main">
            <a:srgbClr val="EEEEF0"/>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33333A"/>
                </a:solidFill>
                <a:latin typeface="Arial"/>
                <a:ea typeface="Arial"/>
                <a:cs typeface="Arial"/>
              </a:rPr>
              <a:t>6 disagreed</a:t>
            </a:r>
            <a:endParaRPr sz="1200"/>
          </a:p>
        </p:txBody>
      </p:sp>
      <p:sp>
        <p:nvSpPr>
          <p:cNvPr id="11" name="Text 7">
            <a:extLst xmlns:a="http://schemas.openxmlformats.org/drawingml/2006/main">
              <a:ext uri="{FF2B5EF4-FFF2-40B4-BE49-F238E27FC236}">
                <a16:creationId xmlns:a16="http://schemas.microsoft.com/office/drawing/2014/main" id="{3FEFC016-86F4-4268-9625-4CE78FCF8F6C}"/>
              </a:ext>
            </a:extLst>
          </p:cNvPr>
          <p:cNvSpPr>
            <a:spLocks xmlns:a="http://schemas.openxmlformats.org/drawingml/2006/main" noGrp="1"/>
          </p:cNvSpPr>
          <p:nvPr/>
        </p:nvSpPr>
        <p:spPr>
          <a:xfrm xmlns:a="http://schemas.openxmlformats.org/drawingml/2006/main">
            <a:off x="2231430" y="3594001"/>
            <a:ext cx="1041698" cy="314920"/>
          </a:xfrm>
          <a:prstGeom xmlns:a="http://schemas.openxmlformats.org/drawingml/2006/main" prst="roundRect">
            <a:avLst>
              <a:gd name="adj" fmla="val 16131"/>
            </a:avLst>
          </a:prstGeom>
          <a:solidFill xmlns:a="http://schemas.openxmlformats.org/drawingml/2006/main">
            <a:srgbClr val="EEEEF0"/>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33333A"/>
                </a:solidFill>
                <a:latin typeface="Arial"/>
                <a:ea typeface="Arial"/>
                <a:cs typeface="Arial"/>
              </a:rPr>
              <a:t>4 abstained</a:t>
            </a:r>
            <a:endParaRPr sz="1200"/>
          </a:p>
        </p:txBody>
      </p:sp>
      <p:sp>
        <p:nvSpPr>
          <p:cNvPr id="12" name="Text 8">
            <a:extLst xmlns:a="http://schemas.openxmlformats.org/drawingml/2006/main">
              <a:ext uri="{FF2B5EF4-FFF2-40B4-BE49-F238E27FC236}">
                <a16:creationId xmlns:a16="http://schemas.microsoft.com/office/drawing/2014/main" id="{161A82E9-1679-4EF4-B662-1EEB90698712}"/>
              </a:ext>
            </a:extLst>
          </p:cNvPr>
          <p:cNvSpPr>
            <a:spLocks xmlns:a="http://schemas.openxmlformats.org/drawingml/2006/main" noGrp="1"/>
          </p:cNvSpPr>
          <p:nvPr/>
        </p:nvSpPr>
        <p:spPr>
          <a:xfrm xmlns:a="http://schemas.openxmlformats.org/drawingml/2006/main">
            <a:off x="1104900" y="4035921"/>
            <a:ext cx="4709160" cy="4520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6B73"/>
                </a:solidFill>
                <a:latin typeface="Arial"/>
                <a:ea typeface="Arial"/>
                <a:cs typeface="Arial"/>
              </a:rPr>
              <a:t>Reference roles still need independent adjudication; not validated routing accuracy.</a:t>
            </a:r>
            <a:endParaRPr sz="1200"/>
          </a:p>
        </p:txBody>
      </p:sp>
      <p:sp>
        <p:nvSpPr>
          <p:cNvPr id="13" name="Shape 9">
            <a:extLst xmlns:a="http://schemas.openxmlformats.org/drawingml/2006/main">
              <a:ext uri="{FF2B5EF4-FFF2-40B4-BE49-F238E27FC236}">
                <a16:creationId xmlns:a16="http://schemas.microsoft.com/office/drawing/2014/main" id="{1465E40B-3782-4EAC-B8EA-BA0CB66B0A33}"/>
              </a:ext>
            </a:extLst>
          </p:cNvPr>
          <p:cNvSpPr>
            <a:spLocks xmlns:a="http://schemas.openxmlformats.org/drawingml/2006/main" noGrp="1"/>
          </p:cNvSpPr>
          <p:nvPr/>
        </p:nvSpPr>
        <p:spPr>
          <a:xfrm xmlns:a="http://schemas.openxmlformats.org/drawingml/2006/main">
            <a:off x="6229350" y="1570930"/>
            <a:ext cx="5143500" cy="3063240"/>
          </a:xfrm>
          <a:prstGeom xmlns:a="http://schemas.openxmlformats.org/drawingml/2006/main" prst="roundRect">
            <a:avLst>
              <a:gd name="adj" fmla="val 3797"/>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Text 10">
            <a:extLst xmlns:a="http://schemas.openxmlformats.org/drawingml/2006/main">
              <a:ext uri="{FF2B5EF4-FFF2-40B4-BE49-F238E27FC236}">
                <a16:creationId xmlns:a16="http://schemas.microsoft.com/office/drawing/2014/main" id="{6EC7D874-2CF7-49F8-8B39-5385C4004458}"/>
              </a:ext>
            </a:extLst>
          </p:cNvPr>
          <p:cNvSpPr>
            <a:spLocks xmlns:a="http://schemas.openxmlformats.org/drawingml/2006/main" noGrp="1"/>
          </p:cNvSpPr>
          <p:nvPr/>
        </p:nvSpPr>
        <p:spPr>
          <a:xfrm xmlns:a="http://schemas.openxmlformats.org/drawingml/2006/main">
            <a:off x="6515100" y="1856680"/>
            <a:ext cx="470916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6B6B73"/>
                </a:solidFill>
                <a:latin typeface="Arial"/>
                <a:ea typeface="Arial"/>
                <a:cs typeface="Arial"/>
              </a:rPr>
              <a:t>MEDHALLU BENCHMARK · ONE JUDGMENT TASK</a:t>
            </a:r>
            <a:endParaRPr sz="1200"/>
          </a:p>
        </p:txBody>
      </p:sp>
      <p:sp>
        <p:nvSpPr>
          <p:cNvPr id="15" name="Text 11">
            <a:extLst xmlns:a="http://schemas.openxmlformats.org/drawingml/2006/main">
              <a:ext uri="{FF2B5EF4-FFF2-40B4-BE49-F238E27FC236}">
                <a16:creationId xmlns:a16="http://schemas.microsoft.com/office/drawing/2014/main" id="{3B793256-A049-4047-946E-3BBC6FFAE795}"/>
              </a:ext>
            </a:extLst>
          </p:cNvPr>
          <p:cNvSpPr>
            <a:spLocks xmlns:a="http://schemas.openxmlformats.org/drawingml/2006/main" noGrp="1"/>
          </p:cNvSpPr>
          <p:nvPr/>
        </p:nvSpPr>
        <p:spPr>
          <a:xfrm xmlns:a="http://schemas.openxmlformats.org/drawingml/2006/main">
            <a:off x="6515100" y="2197001"/>
            <a:ext cx="47091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7000"/>
              </a:lnSpc>
              <a:buNone/>
            </a:pPr>
            <a:r>
              <a:rPr sz="7000" b="1">
                <a:solidFill>
                  <a:srgbClr val="0086B6"/>
                </a:solidFill>
                <a:latin typeface="Arial"/>
                <a:ea typeface="Arial"/>
                <a:cs typeface="Arial"/>
              </a:rPr>
              <a:t>92.9</a:t>
            </a:r>
            <a:r>
              <a:rPr sz="7000" b="1">
                <a:solidFill>
                  <a:srgbClr val="8A8A92"/>
                </a:solidFill>
                <a:latin typeface="Arial"/>
                <a:ea typeface="Arial"/>
                <a:cs typeface="Arial"/>
              </a:rPr>
              <a:t>%</a:t>
            </a:r>
            <a:endParaRPr sz="7000"/>
          </a:p>
        </p:txBody>
      </p:sp>
      <p:sp>
        <p:nvSpPr>
          <p:cNvPr id="16" name="Text 12">
            <a:extLst xmlns:a="http://schemas.openxmlformats.org/drawingml/2006/main">
              <a:ext uri="{FF2B5EF4-FFF2-40B4-BE49-F238E27FC236}">
                <a16:creationId xmlns:a16="http://schemas.microsoft.com/office/drawing/2014/main" id="{8DF0623B-8FD9-43E5-9F34-DD85D1DC9D8E}"/>
              </a:ext>
            </a:extLst>
          </p:cNvPr>
          <p:cNvSpPr>
            <a:spLocks xmlns:a="http://schemas.openxmlformats.org/drawingml/2006/main" noGrp="1"/>
          </p:cNvSpPr>
          <p:nvPr/>
        </p:nvSpPr>
        <p:spPr>
          <a:xfrm xmlns:a="http://schemas.openxmlformats.org/drawingml/2006/main">
            <a:off x="6515100" y="3213001"/>
            <a:ext cx="4709160" cy="279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00"/>
              </a:lnSpc>
              <a:buNone/>
            </a:pPr>
            <a:r>
              <a:rPr sz="1600" b="1">
                <a:solidFill>
                  <a:srgbClr val="33333A"/>
                </a:solidFill>
                <a:latin typeface="Arial"/>
                <a:ea typeface="Arial"/>
                <a:cs typeface="Arial"/>
              </a:rPr>
              <a:t>accuracy · 228 ms median · ~$0.03 / 1k checks</a:t>
            </a:r>
          </a:p>
        </p:txBody>
      </p:sp>
      <p:sp>
        <p:nvSpPr>
          <p:cNvPr id="17" name="Shape 13">
            <a:extLst xmlns:a="http://schemas.openxmlformats.org/drawingml/2006/main">
              <a:ext uri="{FF2B5EF4-FFF2-40B4-BE49-F238E27FC236}">
                <a16:creationId xmlns:a16="http://schemas.microsoft.com/office/drawing/2014/main" id="{22355536-62C7-427F-8A12-34BA1309501B}"/>
              </a:ext>
            </a:extLst>
          </p:cNvPr>
          <p:cNvSpPr>
            <a:spLocks xmlns:a="http://schemas.openxmlformats.org/drawingml/2006/main" noGrp="1"/>
          </p:cNvSpPr>
          <p:nvPr/>
        </p:nvSpPr>
        <p:spPr>
          <a:xfrm xmlns:a="http://schemas.openxmlformats.org/drawingml/2006/main">
            <a:off x="6515100" y="3637161"/>
            <a:ext cx="1905000" cy="127000"/>
          </a:xfrm>
          <a:prstGeom xmlns:a="http://schemas.openxmlformats.org/drawingml/2006/main" prst="roundRect">
            <a:avLst>
              <a:gd name="adj" fmla="val 50000"/>
            </a:avLst>
          </a:prstGeom>
          <a:solidFill xmlns:a="http://schemas.openxmlformats.org/drawingml/2006/main">
            <a:srgbClr val="EEEEF0"/>
          </a:solidFill>
        </p:spPr>
        <p:txBody>
          <a:bodyPr xmlns:a="http://schemas.openxmlformats.org/drawingml/2006/main"/>
          <a:lstStyle xmlns:a="http://schemas.openxmlformats.org/drawingml/2006/main"/>
          <a:p xmlns:a="http://schemas.openxmlformats.org/drawingml/2006/main">
            <a:endParaRPr/>
          </a:p>
        </p:txBody>
      </p:sp>
      <p:sp>
        <p:nvSpPr>
          <p:cNvPr id="18" name="Shape 14">
            <a:extLst xmlns:a="http://schemas.openxmlformats.org/drawingml/2006/main">
              <a:ext uri="{FF2B5EF4-FFF2-40B4-BE49-F238E27FC236}">
                <a16:creationId xmlns:a16="http://schemas.microsoft.com/office/drawing/2014/main" id="{7974CB21-5928-44D2-933E-B7971D102DCC}"/>
              </a:ext>
            </a:extLst>
          </p:cNvPr>
          <p:cNvSpPr>
            <a:spLocks xmlns:a="http://schemas.openxmlformats.org/drawingml/2006/main" noGrp="1"/>
          </p:cNvSpPr>
          <p:nvPr/>
        </p:nvSpPr>
        <p:spPr>
          <a:xfrm xmlns:a="http://schemas.openxmlformats.org/drawingml/2006/main">
            <a:off x="6515100" y="3637161"/>
            <a:ext cx="1809750" cy="127000"/>
          </a:xfrm>
          <a:prstGeom xmlns:a="http://schemas.openxmlformats.org/drawingml/2006/main" prst="roundRect">
            <a:avLst>
              <a:gd name="adj" fmla="val 50000"/>
            </a:avLst>
          </a:prstGeom>
          <a:solidFill xmlns:a="http://schemas.openxmlformats.org/drawingml/2006/main">
            <a:srgbClr val="C9C9CE"/>
          </a:solidFill>
        </p:spPr>
        <p:txBody>
          <a:bodyPr xmlns:a="http://schemas.openxmlformats.org/drawingml/2006/main"/>
          <a:lstStyle xmlns:a="http://schemas.openxmlformats.org/drawingml/2006/main"/>
          <a:p xmlns:a="http://schemas.openxmlformats.org/drawingml/2006/main">
            <a:endParaRPr/>
          </a:p>
        </p:txBody>
      </p:sp>
      <p:sp>
        <p:nvSpPr>
          <p:cNvPr id="19" name="Text 15">
            <a:extLst xmlns:a="http://schemas.openxmlformats.org/drawingml/2006/main">
              <a:ext uri="{FF2B5EF4-FFF2-40B4-BE49-F238E27FC236}">
                <a16:creationId xmlns:a16="http://schemas.microsoft.com/office/drawing/2014/main" id="{8FF0C9EF-FE17-4D8C-9969-FC862CD54C6E}"/>
              </a:ext>
            </a:extLst>
          </p:cNvPr>
          <p:cNvSpPr>
            <a:spLocks xmlns:a="http://schemas.openxmlformats.org/drawingml/2006/main" noGrp="1"/>
          </p:cNvSpPr>
          <p:nvPr/>
        </p:nvSpPr>
        <p:spPr>
          <a:xfrm xmlns:a="http://schemas.openxmlformats.org/drawingml/2006/main">
            <a:off x="8521700" y="3594001"/>
            <a:ext cx="1890832"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6B73"/>
                </a:solidFill>
                <a:latin typeface="Arial"/>
                <a:ea typeface="Arial"/>
                <a:cs typeface="Arial"/>
              </a:rPr>
              <a:t>best comparator 95.1%</a:t>
            </a:r>
            <a:endParaRPr sz="1200"/>
          </a:p>
        </p:txBody>
      </p:sp>
      <p:sp>
        <p:nvSpPr>
          <p:cNvPr id="20" name="Text 16">
            <a:extLst xmlns:a="http://schemas.openxmlformats.org/drawingml/2006/main">
              <a:ext uri="{FF2B5EF4-FFF2-40B4-BE49-F238E27FC236}">
                <a16:creationId xmlns:a16="http://schemas.microsoft.com/office/drawing/2014/main" id="{D3EAFA0D-2659-4A8D-A999-E1D9506B5642}"/>
              </a:ext>
            </a:extLst>
          </p:cNvPr>
          <p:cNvSpPr>
            <a:spLocks xmlns:a="http://schemas.openxmlformats.org/drawingml/2006/main" noGrp="1"/>
          </p:cNvSpPr>
          <p:nvPr/>
        </p:nvSpPr>
        <p:spPr>
          <a:xfrm xmlns:a="http://schemas.openxmlformats.org/drawingml/2006/main">
            <a:off x="6515100" y="3934321"/>
            <a:ext cx="4709160" cy="4520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6B6B73"/>
                </a:solidFill>
                <a:latin typeface="Arial"/>
                <a:ea typeface="Arial"/>
                <a:cs typeface="Arial"/>
              </a:rPr>
              <a:t>A speed and cost tradeoff on a hallucination-judgment task, not PR routing.</a:t>
            </a:r>
            <a:endParaRPr sz="1200"/>
          </a:p>
        </p:txBody>
      </p:sp>
      <p:sp>
        <p:nvSpPr>
          <p:cNvPr id="21" name="Shape 17">
            <a:extLst xmlns:a="http://schemas.openxmlformats.org/drawingml/2006/main">
              <a:ext uri="{FF2B5EF4-FFF2-40B4-BE49-F238E27FC236}">
                <a16:creationId xmlns:a16="http://schemas.microsoft.com/office/drawing/2014/main" id="{FD2FC423-955A-4C9A-A744-C39D4F873C91}"/>
              </a:ext>
            </a:extLst>
          </p:cNvPr>
          <p:cNvSpPr>
            <a:spLocks xmlns:a="http://schemas.openxmlformats.org/drawingml/2006/main" noGrp="1"/>
          </p:cNvSpPr>
          <p:nvPr/>
        </p:nvSpPr>
        <p:spPr>
          <a:xfrm xmlns:a="http://schemas.openxmlformats.org/drawingml/2006/main">
            <a:off x="812800" y="4946904"/>
            <a:ext cx="10566400" cy="477441"/>
          </a:xfrm>
          <a:prstGeom xmlns:a="http://schemas.openxmlformats.org/drawingml/2006/main" prst="roundRect">
            <a:avLst>
              <a:gd name="adj" fmla="val 15960"/>
            </a:avLst>
          </a:prstGeom>
          <a:solidFill xmlns:a="http://schemas.openxmlformats.org/drawingml/2006/main">
            <a:srgbClr val="33333A"/>
          </a:solidFill>
        </p:spPr>
        <p:txBody>
          <a:bodyPr xmlns:a="http://schemas.openxmlformats.org/drawingml/2006/main"/>
          <a:lstStyle xmlns:a="http://schemas.openxmlformats.org/drawingml/2006/main"/>
          <a:p xmlns:a="http://schemas.openxmlformats.org/drawingml/2006/main">
            <a:endParaRPr/>
          </a:p>
        </p:txBody>
      </p:sp>
      <p:pic>
        <p:nvPicPr>
          <p:cNvPr id="22" name="Image 2">
            <a:extLst xmlns:a="http://schemas.openxmlformats.org/drawingml/2006/main">
              <a:ext uri="{FF2B5EF4-FFF2-40B4-BE49-F238E27FC236}">
                <a16:creationId xmlns:a16="http://schemas.microsoft.com/office/drawing/2014/main" id="{554222F2-DA07-47A5-B14E-780008DC79D4}"/>
              </a:ext>
            </a:extLst>
          </p:cNvPr>
          <p:cNvPicPr>
            <a:picLocks xmlns:a="http://schemas.openxmlformats.org/drawingml/2006/main" noChangeAspect="1"/>
          </p:cNvPicPr>
          <p:nvPr/>
        </p:nvPicPr>
        <p:blipFill>
          <a:blip xmlns:r="http://schemas.openxmlformats.org/officeDocument/2006/relationships" xmlns:a="http://schemas.openxmlformats.org/drawingml/2006/main" r:embed="R80ae3901239c4f80"/>
          <a:srcRect xmlns:a="http://schemas.openxmlformats.org/drawingml/2006/main" l="0" t="0" r="0" b="0"/>
          <a:stretch xmlns:a="http://schemas.openxmlformats.org/drawingml/2006/main"/>
        </p:blipFill>
        <p:spPr>
          <a:xfrm xmlns:a="http://schemas.openxmlformats.org/drawingml/2006/main">
            <a:off x="4087316" y="5090465"/>
            <a:ext cx="190500" cy="190500"/>
          </a:xfrm>
          <a:prstGeom xmlns:a="http://schemas.openxmlformats.org/drawingml/2006/main" prst="rect">
            <a:avLst/>
          </a:prstGeom>
        </p:spPr>
      </p:pic>
      <p:sp>
        <p:nvSpPr>
          <p:cNvPr id="23" name="Text 18">
            <a:extLst xmlns:a="http://schemas.openxmlformats.org/drawingml/2006/main">
              <a:ext uri="{FF2B5EF4-FFF2-40B4-BE49-F238E27FC236}">
                <a16:creationId xmlns:a16="http://schemas.microsoft.com/office/drawing/2014/main" id="{56E7BD0C-20AD-4B3B-96BA-A1CAE7E3C968}"/>
              </a:ext>
            </a:extLst>
          </p:cNvPr>
          <p:cNvSpPr>
            <a:spLocks xmlns:a="http://schemas.openxmlformats.org/drawingml/2006/main" noGrp="1"/>
          </p:cNvSpPr>
          <p:nvPr/>
        </p:nvSpPr>
        <p:spPr>
          <a:xfrm xmlns:a="http://schemas.openxmlformats.org/drawingml/2006/main">
            <a:off x="4379416" y="5061204"/>
            <a:ext cx="4470202" cy="2742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a:solidFill>
                  <a:srgbClr val="FFFFFF"/>
                </a:solidFill>
                <a:latin typeface="Arial"/>
                <a:ea typeface="Arial"/>
                <a:cs typeface="Arial"/>
              </a:rPr>
              <a:t>Separate tasks; neither validates PR routing</a:t>
            </a:r>
            <a:endParaRPr sz="1400"/>
          </a:p>
        </p:txBody>
      </p:sp>
      <p:sp>
        <p:nvSpPr>
          <p:cNvPr id="24" name="Text 19">
            <a:extLst xmlns:a="http://schemas.openxmlformats.org/drawingml/2006/main">
              <a:ext uri="{FF2B5EF4-FFF2-40B4-BE49-F238E27FC236}">
                <a16:creationId xmlns:a16="http://schemas.microsoft.com/office/drawing/2014/main" id="{C0CF2193-EFE7-4469-BCA5-9BA0448932AC}"/>
              </a:ext>
            </a:extLst>
          </p:cNvPr>
          <p:cNvSpPr>
            <a:spLocks xmlns:a="http://schemas.openxmlformats.org/drawingml/2006/main" noGrp="1"/>
          </p:cNvSpPr>
          <p:nvPr/>
        </p:nvSpPr>
        <p:spPr>
          <a:xfrm xmlns:a="http://schemas.openxmlformats.org/drawingml/2006/main">
            <a:off x="813816" y="5925312"/>
            <a:ext cx="6446520" cy="48463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200"/>
              </a:lnSpc>
              <a:buNone/>
            </a:pPr>
            <a:r>
              <a:rPr sz="1000">
                <a:solidFill>
                  <a:srgbClr val="8A8A92"/>
                </a:solidFill>
                <a:latin typeface="Arial"/>
                <a:ea typeface="Arial"/>
                <a:cs typeface="Arial"/>
              </a:rPr>
              <a:t>jev-study/README.md · a focused model suggests where specialist review may be needed; policy and people decide what is mandatory</a:t>
            </a:r>
            <a:endParaRPr sz="1000"/>
          </a:p>
        </p:txBody>
      </p:sp>
      <p:sp>
        <p:nvSpPr>
          <p:cNvPr id="25" name="Text 20">
            <a:extLst xmlns:a="http://schemas.openxmlformats.org/drawingml/2006/main">
              <a:ext uri="{FF2B5EF4-FFF2-40B4-BE49-F238E27FC236}">
                <a16:creationId xmlns:a16="http://schemas.microsoft.com/office/drawing/2014/main" id="{07026D9E-1005-4E0D-9E14-CA055952558F}"/>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Tree>
    <p:extLst>
      <p:ext uri="{BB962C8B-B14F-4D97-AF65-F5344CB8AC3E}">
        <p14:creationId xmlns:p14="http://schemas.microsoft.com/office/powerpoint/2010/main" val="811812703"/>
      </p:ext>
    </p:extLst>
  </p:cSld>
</p:sld>
</file>

<file path=ppt/slides/slide37.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5A7E2A1E-48FF-4DFC-9993-B4B6CFC54071}"/>
              </a:ext>
            </a:extLst>
          </p:cNvPr>
          <p:cNvPicPr>
            <a:picLocks xmlns:a="http://schemas.openxmlformats.org/drawingml/2006/main" noChangeAspect="1"/>
          </p:cNvPicPr>
          <p:nvPr/>
        </p:nvPicPr>
        <p:blipFill>
          <a:blip xmlns:r="http://schemas.openxmlformats.org/officeDocument/2006/relationships" xmlns:a="http://schemas.openxmlformats.org/drawingml/2006/main" r:embed="R15858db5f94d44ae"/>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C08C8024-9751-4B75-831C-0FDB3300A96A}"/>
              </a:ext>
            </a:extLst>
          </p:cNvPr>
          <p:cNvPicPr>
            <a:picLocks xmlns:a="http://schemas.openxmlformats.org/drawingml/2006/main" noChangeAspect="1"/>
          </p:cNvPicPr>
          <p:nvPr/>
        </p:nvPicPr>
        <p:blipFill>
          <a:blip xmlns:r="http://schemas.openxmlformats.org/officeDocument/2006/relationships" xmlns:a="http://schemas.openxmlformats.org/drawingml/2006/main" r:embed="Rc01cc743cae2410d"/>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A73F5D6C-69F1-4466-9748-39251C760799}"/>
              </a:ext>
            </a:extLst>
          </p:cNvPr>
          <p:cNvSpPr>
            <a:spLocks xmlns:a="http://schemas.openxmlformats.org/drawingml/2006/main" noGrp="1"/>
          </p:cNvSpPr>
          <p:nvPr>
            <p:ph type="title" idx="0"/>
          </p:nvPr>
        </p:nvSpPr>
        <p:spPr>
          <a:xfrm xmlns:a="http://schemas.openxmlformats.org/drawingml/2006/main">
            <a:off x="812800" y="812800"/>
            <a:ext cx="7534513" cy="4723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520"/>
              </a:lnSpc>
              <a:buNone/>
            </a:pPr>
            <a:r>
              <a:rPr sz="3200" b="1" i="0">
                <a:solidFill>
                  <a:srgbClr val="448334"/>
                </a:solidFill>
                <a:latin typeface="Arial"/>
                <a:ea typeface="Arial"/>
                <a:cs typeface="Arial"/>
              </a:rPr>
              <a:t>Where defects enter and surface</a:t>
            </a:r>
            <a:endParaRPr sz="3200"/>
          </a:p>
        </p:txBody>
      </p:sp>
      <p:sp>
        <p:nvSpPr>
          <p:cNvPr id="6" name="Text 2">
            <a:extLst xmlns:a="http://schemas.openxmlformats.org/drawingml/2006/main">
              <a:ext uri="{FF2B5EF4-FFF2-40B4-BE49-F238E27FC236}">
                <a16:creationId xmlns:a16="http://schemas.microsoft.com/office/drawing/2014/main" id="{6685F175-AFD9-4289-95DB-7830FE52F1A8}"/>
              </a:ext>
            </a:extLst>
          </p:cNvPr>
          <p:cNvSpPr>
            <a:spLocks xmlns:a="http://schemas.openxmlformats.org/drawingml/2006/main" noGrp="1"/>
          </p:cNvSpPr>
          <p:nvPr/>
        </p:nvSpPr>
        <p:spPr>
          <a:xfrm xmlns:a="http://schemas.openxmlformats.org/drawingml/2006/main">
            <a:off x="2269935" y="2033998"/>
            <a:ext cx="4591431" cy="2742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960"/>
              </a:lnSpc>
              <a:buNone/>
            </a:pPr>
            <a:r>
              <a:rPr sz="1400" b="1" spc="50">
                <a:solidFill>
                  <a:srgbClr val="6B6B73"/>
                </a:solidFill>
                <a:latin typeface="Arial"/>
                <a:ea typeface="Arial"/>
                <a:cs typeface="Arial"/>
              </a:rPr>
              <a:t>INTRODUCE DEFECTS</a:t>
            </a:r>
            <a:endParaRPr sz="1400"/>
          </a:p>
        </p:txBody>
      </p:sp>
      <p:sp>
        <p:nvSpPr>
          <p:cNvPr id="7" name="Text 3">
            <a:extLst xmlns:a="http://schemas.openxmlformats.org/drawingml/2006/main">
              <a:ext uri="{FF2B5EF4-FFF2-40B4-BE49-F238E27FC236}">
                <a16:creationId xmlns:a16="http://schemas.microsoft.com/office/drawing/2014/main" id="{AF485524-68A1-4470-993A-6A12C3A46D01}"/>
              </a:ext>
            </a:extLst>
          </p:cNvPr>
          <p:cNvSpPr>
            <a:spLocks xmlns:a="http://schemas.openxmlformats.org/drawingml/2006/main" noGrp="1"/>
          </p:cNvSpPr>
          <p:nvPr/>
        </p:nvSpPr>
        <p:spPr>
          <a:xfrm xmlns:a="http://schemas.openxmlformats.org/drawingml/2006/main">
            <a:off x="6854635" y="2033998"/>
            <a:ext cx="4591431" cy="2742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960"/>
              </a:lnSpc>
              <a:buNone/>
            </a:pPr>
            <a:r>
              <a:rPr sz="1400" b="1" spc="50">
                <a:solidFill>
                  <a:srgbClr val="6B6B73"/>
                </a:solidFill>
                <a:latin typeface="Arial"/>
                <a:ea typeface="Arial"/>
                <a:cs typeface="Arial"/>
              </a:rPr>
              <a:t>DETECT DEFECTS</a:t>
            </a:r>
            <a:endParaRPr sz="1400"/>
          </a:p>
        </p:txBody>
      </p:sp>
      <p:pic>
        <p:nvPicPr>
          <p:cNvPr id="8" name="Image 2">
            <a:extLst xmlns:a="http://schemas.openxmlformats.org/drawingml/2006/main">
              <a:ext uri="{FF2B5EF4-FFF2-40B4-BE49-F238E27FC236}">
                <a16:creationId xmlns:a16="http://schemas.microsoft.com/office/drawing/2014/main" id="{56BC74F6-6E7A-411A-8173-747A673EE648}"/>
              </a:ext>
            </a:extLst>
          </p:cNvPr>
          <p:cNvPicPr>
            <a:picLocks xmlns:a="http://schemas.openxmlformats.org/drawingml/2006/main" noChangeAspect="1"/>
          </p:cNvPicPr>
          <p:nvPr/>
        </p:nvPicPr>
        <p:blipFill>
          <a:blip xmlns:r="http://schemas.openxmlformats.org/officeDocument/2006/relationships" xmlns:a="http://schemas.openxmlformats.org/drawingml/2006/main" r:embed="R17431be06f3641aa"/>
          <a:srcRect xmlns:a="http://schemas.openxmlformats.org/drawingml/2006/main" l="0" t="0" r="0" b="0"/>
          <a:stretch xmlns:a="http://schemas.openxmlformats.org/drawingml/2006/main"/>
        </p:blipFill>
        <p:spPr>
          <a:xfrm xmlns:a="http://schemas.openxmlformats.org/drawingml/2006/main">
            <a:off x="657352" y="2945920"/>
            <a:ext cx="409448" cy="409448"/>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2FA5225F-59D0-42F1-8755-A24D5F1847B5}"/>
              </a:ext>
            </a:extLst>
          </p:cNvPr>
          <p:cNvSpPr>
            <a:spLocks xmlns:a="http://schemas.openxmlformats.org/drawingml/2006/main" noGrp="1"/>
          </p:cNvSpPr>
          <p:nvPr/>
        </p:nvSpPr>
        <p:spPr>
          <a:xfrm xmlns:a="http://schemas.openxmlformats.org/drawingml/2006/main">
            <a:off x="1155700" y="3073022"/>
            <a:ext cx="826413" cy="3098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33333A"/>
                </a:solidFill>
                <a:latin typeface="Arial"/>
                <a:ea typeface="Arial"/>
                <a:cs typeface="Arial"/>
              </a:rPr>
              <a:t>Human</a:t>
            </a:r>
            <a:endParaRPr sz="1600"/>
          </a:p>
        </p:txBody>
      </p:sp>
      <p:sp>
        <p:nvSpPr>
          <p:cNvPr id="10" name="Text 5">
            <a:extLst xmlns:a="http://schemas.openxmlformats.org/drawingml/2006/main">
              <a:ext uri="{FF2B5EF4-FFF2-40B4-BE49-F238E27FC236}">
                <a16:creationId xmlns:a16="http://schemas.microsoft.com/office/drawing/2014/main" id="{C93ABD5D-7B15-4386-B12F-E787880A986A}"/>
              </a:ext>
            </a:extLst>
          </p:cNvPr>
          <p:cNvSpPr>
            <a:spLocks xmlns:a="http://schemas.openxmlformats.org/drawingml/2006/main" noGrp="1"/>
          </p:cNvSpPr>
          <p:nvPr/>
        </p:nvSpPr>
        <p:spPr>
          <a:xfrm xmlns:a="http://schemas.openxmlformats.org/drawingml/2006/main">
            <a:off x="2343150" y="2434830"/>
            <a:ext cx="4445000" cy="1335024"/>
          </a:xfrm>
          <a:prstGeom xmlns:a="http://schemas.openxmlformats.org/drawingml/2006/main" prst="roundRect">
            <a:avLst>
              <a:gd name="adj" fmla="val 6579"/>
            </a:avLst>
          </a:prstGeom>
          <a:solidFill xmlns:a="http://schemas.openxmlformats.org/drawingml/2006/main">
            <a:schemeClr val="bg2"/>
          </a:solidFill>
          <a:ln xmlns:a="http://schemas.openxmlformats.org/drawingml/2006/main" w="12700">
            <a:solidFill>
              <a:srgbClr val="E3E3E6"/>
            </a:solidFill>
            <a:prstDash val="solid"/>
          </a:ln>
        </p:spPr>
        <p:txBody>
          <a:bodyPr xmlns:a="http://schemas.openxmlformats.org/drawingml/2006/main" wrap="square" lIns="181652" tIns="181652" rIns="60875" bIns="181652" anchor="ctr">
            <a:normAutofit/>
          </a:bodyPr>
          <a:lstStyle xmlns:a="http://schemas.openxmlformats.org/drawingml/2006/main"/>
          <a:p xmlns:a="http://schemas.openxmlformats.org/drawingml/2006/main">
            <a:pPr marL="0" indent="0" algn="l">
              <a:lnSpc>
                <a:spcPts val="2040"/>
              </a:lnSpc>
              <a:buNone/>
            </a:pPr>
            <a:endParaRPr sz="1700"/>
          </a:p>
        </p:txBody>
      </p:sp>
      <p:sp>
        <p:nvSpPr>
          <p:cNvPr id="11" name="Text 6">
            <a:extLst xmlns:a="http://schemas.openxmlformats.org/drawingml/2006/main">
              <a:ext uri="{FF2B5EF4-FFF2-40B4-BE49-F238E27FC236}">
                <a16:creationId xmlns:a16="http://schemas.microsoft.com/office/drawing/2014/main" id="{00FF81A3-A16F-416B-91CD-F2B3125B509E}"/>
              </a:ext>
            </a:extLst>
          </p:cNvPr>
          <p:cNvSpPr>
            <a:spLocks xmlns:a="http://schemas.openxmlformats.org/drawingml/2006/main" noGrp="1"/>
          </p:cNvSpPr>
          <p:nvPr/>
        </p:nvSpPr>
        <p:spPr>
          <a:xfrm xmlns:a="http://schemas.openxmlformats.org/drawingml/2006/main">
            <a:off x="6927850" y="2434830"/>
            <a:ext cx="4445000" cy="1335024"/>
          </a:xfrm>
          <a:prstGeom xmlns:a="http://schemas.openxmlformats.org/drawingml/2006/main" prst="roundRect">
            <a:avLst>
              <a:gd name="adj" fmla="val 6579"/>
            </a:avLst>
          </a:prstGeom>
          <a:solidFill xmlns:a="http://schemas.openxmlformats.org/drawingml/2006/main">
            <a:schemeClr val="bg2"/>
          </a:solidFill>
          <a:ln xmlns:a="http://schemas.openxmlformats.org/drawingml/2006/main" w="12700">
            <a:solidFill>
              <a:srgbClr val="E3E3E6"/>
            </a:solidFill>
            <a:prstDash val="solid"/>
          </a:ln>
        </p:spPr>
        <p:txBody>
          <a:bodyPr xmlns:a="http://schemas.openxmlformats.org/drawingml/2006/main" wrap="square" lIns="181652" tIns="181652" rIns="60875" bIns="181652" anchor="ctr">
            <a:normAutofit/>
          </a:bodyPr>
          <a:lstStyle xmlns:a="http://schemas.openxmlformats.org/drawingml/2006/main"/>
          <a:p xmlns:a="http://schemas.openxmlformats.org/drawingml/2006/main">
            <a:pPr marL="0" indent="0" algn="l">
              <a:lnSpc>
                <a:spcPts val="2040"/>
              </a:lnSpc>
              <a:buNone/>
            </a:pPr>
            <a:endParaRPr sz="1700"/>
          </a:p>
        </p:txBody>
      </p:sp>
      <p:pic>
        <p:nvPicPr>
          <p:cNvPr id="12" name="Image 3">
            <a:extLst xmlns:a="http://schemas.openxmlformats.org/drawingml/2006/main">
              <a:ext uri="{FF2B5EF4-FFF2-40B4-BE49-F238E27FC236}">
                <a16:creationId xmlns:a16="http://schemas.microsoft.com/office/drawing/2014/main" id="{44C7AD74-B419-4579-A0D5-9A0AA2126E68}"/>
              </a:ext>
            </a:extLst>
          </p:cNvPr>
          <p:cNvPicPr>
            <a:picLocks xmlns:a="http://schemas.openxmlformats.org/drawingml/2006/main" noChangeAspect="1"/>
          </p:cNvPicPr>
          <p:nvPr/>
        </p:nvPicPr>
        <p:blipFill>
          <a:blip xmlns:r="http://schemas.openxmlformats.org/officeDocument/2006/relationships" xmlns:a="http://schemas.openxmlformats.org/drawingml/2006/main" r:embed="R098e8e622dfb4f49"/>
          <a:srcRect xmlns:a="http://schemas.openxmlformats.org/drawingml/2006/main" l="0" t="0" r="0" b="0"/>
          <a:stretch xmlns:a="http://schemas.openxmlformats.org/drawingml/2006/main"/>
        </p:blipFill>
        <p:spPr>
          <a:xfrm xmlns:a="http://schemas.openxmlformats.org/drawingml/2006/main">
            <a:off x="720306" y="4353946"/>
            <a:ext cx="412623" cy="412623"/>
          </a:xfrm>
          <a:prstGeom xmlns:a="http://schemas.openxmlformats.org/drawingml/2006/main" prst="rect">
            <a:avLst/>
          </a:prstGeom>
        </p:spPr>
      </p:pic>
      <p:sp>
        <p:nvSpPr>
          <p:cNvPr id="13" name="Text 7">
            <a:extLst xmlns:a="http://schemas.openxmlformats.org/drawingml/2006/main">
              <a:ext uri="{FF2B5EF4-FFF2-40B4-BE49-F238E27FC236}">
                <a16:creationId xmlns:a16="http://schemas.microsoft.com/office/drawing/2014/main" id="{44294045-16BD-4468-9940-0613EE10C627}"/>
              </a:ext>
            </a:extLst>
          </p:cNvPr>
          <p:cNvSpPr>
            <a:spLocks xmlns:a="http://schemas.openxmlformats.org/drawingml/2006/main" noGrp="1"/>
          </p:cNvSpPr>
          <p:nvPr/>
        </p:nvSpPr>
        <p:spPr>
          <a:xfrm xmlns:a="http://schemas.openxmlformats.org/drawingml/2006/main">
            <a:off x="1202998" y="4423178"/>
            <a:ext cx="254000" cy="3098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240"/>
              </a:lnSpc>
              <a:buNone/>
            </a:pPr>
            <a:r>
              <a:rPr sz="1600" b="1">
                <a:solidFill>
                  <a:srgbClr val="33333A"/>
                </a:solidFill>
                <a:latin typeface="Arial"/>
                <a:ea typeface="Arial"/>
                <a:cs typeface="Arial"/>
              </a:rPr>
              <a:t>AI</a:t>
            </a:r>
            <a:endParaRPr sz="1600"/>
          </a:p>
        </p:txBody>
      </p:sp>
      <p:sp>
        <p:nvSpPr>
          <p:cNvPr id="14" name="Text 8">
            <a:extLst xmlns:a="http://schemas.openxmlformats.org/drawingml/2006/main">
              <a:ext uri="{FF2B5EF4-FFF2-40B4-BE49-F238E27FC236}">
                <a16:creationId xmlns:a16="http://schemas.microsoft.com/office/drawing/2014/main" id="{21C3068C-AC5E-4CE7-BBB3-DBD404470B0F}"/>
              </a:ext>
            </a:extLst>
          </p:cNvPr>
          <p:cNvSpPr>
            <a:spLocks xmlns:a="http://schemas.openxmlformats.org/drawingml/2006/main" noGrp="1"/>
          </p:cNvSpPr>
          <p:nvPr/>
        </p:nvSpPr>
        <p:spPr>
          <a:xfrm xmlns:a="http://schemas.openxmlformats.org/drawingml/2006/main">
            <a:off x="2343150" y="3879582"/>
            <a:ext cx="4445000" cy="1335024"/>
          </a:xfrm>
          <a:prstGeom xmlns:a="http://schemas.openxmlformats.org/drawingml/2006/main" prst="roundRect">
            <a:avLst>
              <a:gd name="adj" fmla="val 6579"/>
            </a:avLst>
          </a:prstGeom>
          <a:solidFill xmlns:a="http://schemas.openxmlformats.org/drawingml/2006/main">
            <a:schemeClr val="bg2"/>
          </a:solidFill>
          <a:ln xmlns:a="http://schemas.openxmlformats.org/drawingml/2006/main" w="12700">
            <a:solidFill>
              <a:srgbClr val="E3E3E6"/>
            </a:solidFill>
            <a:prstDash val="solid"/>
          </a:ln>
        </p:spPr>
        <p:txBody>
          <a:bodyPr xmlns:a="http://schemas.openxmlformats.org/drawingml/2006/main" wrap="square" lIns="181652" tIns="181652" rIns="60875" bIns="181652" anchor="ctr">
            <a:normAutofit/>
          </a:bodyPr>
          <a:lstStyle xmlns:a="http://schemas.openxmlformats.org/drawingml/2006/main"/>
          <a:p xmlns:a="http://schemas.openxmlformats.org/drawingml/2006/main">
            <a:pPr marL="0" indent="0" algn="l">
              <a:lnSpc>
                <a:spcPts val="2040"/>
              </a:lnSpc>
              <a:buNone/>
            </a:pPr>
            <a:endParaRPr sz="1700"/>
          </a:p>
        </p:txBody>
      </p:sp>
      <p:sp>
        <p:nvSpPr>
          <p:cNvPr id="15" name="Shape 9">
            <a:extLst xmlns:a="http://schemas.openxmlformats.org/drawingml/2006/main">
              <a:ext uri="{FF2B5EF4-FFF2-40B4-BE49-F238E27FC236}">
                <a16:creationId xmlns:a16="http://schemas.microsoft.com/office/drawing/2014/main" id="{63DB890A-77DE-4305-98C1-5ADDF3BD155D}"/>
              </a:ext>
            </a:extLst>
          </p:cNvPr>
          <p:cNvSpPr>
            <a:spLocks xmlns:a="http://schemas.openxmlformats.org/drawingml/2006/main" noGrp="1"/>
          </p:cNvSpPr>
          <p:nvPr/>
        </p:nvSpPr>
        <p:spPr>
          <a:xfrm xmlns:a="http://schemas.openxmlformats.org/drawingml/2006/main">
            <a:off x="6931025" y="3882325"/>
            <a:ext cx="4438650" cy="1328623"/>
          </a:xfrm>
          <a:prstGeom xmlns:a="http://schemas.openxmlformats.org/drawingml/2006/main" prst="roundRect">
            <a:avLst>
              <a:gd name="adj" fmla="val 6388"/>
            </a:avLst>
          </a:prstGeom>
          <a:solidFill xmlns:a="http://schemas.openxmlformats.org/drawingml/2006/main">
            <a:schemeClr val="bg2"/>
          </a:solidFill>
          <a:ln xmlns:a="http://schemas.openxmlformats.org/drawingml/2006/main" w="12700">
            <a:solidFill>
              <a:srgbClr val="E3E3E6"/>
            </a:solidFill>
            <a:prstDash val="solid"/>
          </a:ln>
        </p:spPr>
        <p:txBody>
          <a:bodyPr xmlns:a="http://schemas.openxmlformats.org/drawingml/2006/main" wrap="square" lIns="181652" tIns="181652" rIns="60875" bIns="181652" anchor="ctr">
            <a:normAutofit/>
          </a:bodyPr>
          <a:lstStyle xmlns:a="http://schemas.openxmlformats.org/drawingml/2006/main"/>
          <a:p xmlns:a="http://schemas.openxmlformats.org/drawingml/2006/main">
            <a:pPr>
              <a:lnSpc>
                <a:spcPts val="2040"/>
              </a:lnSpc>
              <a:buNone/>
            </a:pPr>
            <a:endParaRPr sz="1700"/>
          </a:p>
        </p:txBody>
      </p:sp>
      <p:sp>
        <p:nvSpPr>
          <p:cNvPr id="22" name="Text 15">
            <a:extLst xmlns:a="http://schemas.openxmlformats.org/drawingml/2006/main">
              <a:ext uri="{FF2B5EF4-FFF2-40B4-BE49-F238E27FC236}">
                <a16:creationId xmlns:a16="http://schemas.microsoft.com/office/drawing/2014/main" id="{E2FE0C8E-DF15-499F-9169-908B966E4053}"/>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23" name="Humans introduce detail 1">
            <a:extLst xmlns:a="http://schemas.openxmlformats.org/drawingml/2006/main">
              <a:ext uri="{FF2B5EF4-FFF2-40B4-BE49-F238E27FC236}">
                <a16:creationId xmlns:a16="http://schemas.microsoft.com/office/drawing/2014/main" id="{276BF3C6-FFFD-5377-FD5C-E688D6FCADCF}"/>
              </a:ext>
            </a:extLst>
          </p:cNvPr>
          <p:cNvSpPr>
            <a:spLocks xmlns:a="http://schemas.openxmlformats.org/drawingml/2006/main" noGrp="1"/>
          </p:cNvSpPr>
          <p:nvPr/>
        </p:nvSpPr>
        <p:spPr>
          <a:xfrm xmlns:a="http://schemas.openxmlformats.org/drawingml/2006/main">
            <a:off x="2611005" y="2741866"/>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b="0">
                <a:solidFill>
                  <a:srgbClr val="262626"/>
                </a:solidFill>
                <a:latin typeface="Arial"/>
                <a:ea typeface="Arial"/>
                <a:cs typeface="Arial"/>
              </a:rPr>
              <a:t>Code errors or missed requirements</a:t>
            </a:r>
          </a:p>
        </p:txBody>
      </p:sp>
      <p:sp>
        <p:nvSpPr>
          <p:cNvPr id="24" name="Humans introduce detail 2">
            <a:extLst xmlns:a="http://schemas.openxmlformats.org/drawingml/2006/main">
              <a:ext uri="{FF2B5EF4-FFF2-40B4-BE49-F238E27FC236}">
                <a16:creationId xmlns:a16="http://schemas.microsoft.com/office/drawing/2014/main" id="{100CDA90-D658-4D99-CD0F-ACE025808603}"/>
              </a:ext>
            </a:extLst>
          </p:cNvPr>
          <p:cNvSpPr>
            <a:spLocks xmlns:a="http://schemas.openxmlformats.org/drawingml/2006/main" noGrp="1"/>
          </p:cNvSpPr>
          <p:nvPr/>
        </p:nvSpPr>
        <p:spPr>
          <a:xfrm xmlns:a="http://schemas.openxmlformats.org/drawingml/2006/main">
            <a:off x="2611005" y="3180778"/>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b="0">
                <a:solidFill>
                  <a:srgbClr val="262626"/>
                </a:solidFill>
                <a:latin typeface="Arial"/>
                <a:ea typeface="Arial"/>
                <a:cs typeface="Arial"/>
              </a:rPr>
              <a:t>Unclear goals and weak constraints</a:t>
            </a:r>
          </a:p>
        </p:txBody>
      </p:sp>
      <p:sp>
        <p:nvSpPr>
          <p:cNvPr id="25" name="Humans catch detail 1">
            <a:extLst xmlns:a="http://schemas.openxmlformats.org/drawingml/2006/main">
              <a:ext uri="{FF2B5EF4-FFF2-40B4-BE49-F238E27FC236}">
                <a16:creationId xmlns:a16="http://schemas.microsoft.com/office/drawing/2014/main" id="{E9E3EED3-20F9-60C8-30C0-8CEA1D2BE3E0}"/>
              </a:ext>
            </a:extLst>
          </p:cNvPr>
          <p:cNvSpPr>
            <a:spLocks xmlns:a="http://schemas.openxmlformats.org/drawingml/2006/main" noGrp="1"/>
          </p:cNvSpPr>
          <p:nvPr/>
        </p:nvSpPr>
        <p:spPr>
          <a:xfrm xmlns:a="http://schemas.openxmlformats.org/drawingml/2006/main">
            <a:off x="7143750" y="2799607"/>
            <a:ext cx="4727448" cy="34747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sz="1700" b="0">
                <a:solidFill>
                  <a:srgbClr val="262626"/>
                </a:solidFill>
                <a:latin typeface="Arial"/>
                <a:ea typeface="Arial"/>
                <a:cs typeface="Arial"/>
              </a:rPr>
              <a:t>Missing domain rules or unsafe tradeoffs</a:t>
            </a:r>
          </a:p>
        </p:txBody>
      </p:sp>
      <p:sp>
        <p:nvSpPr>
          <p:cNvPr id="26" name="Humans catch detail 2">
            <a:extLst xmlns:a="http://schemas.openxmlformats.org/drawingml/2006/main">
              <a:ext uri="{FF2B5EF4-FFF2-40B4-BE49-F238E27FC236}">
                <a16:creationId xmlns:a16="http://schemas.microsoft.com/office/drawing/2014/main" id="{28932A43-6034-F725-F4CA-DC5466D09721}"/>
              </a:ext>
            </a:extLst>
          </p:cNvPr>
          <p:cNvSpPr>
            <a:spLocks xmlns:a="http://schemas.openxmlformats.org/drawingml/2006/main" noGrp="1"/>
          </p:cNvSpPr>
          <p:nvPr/>
        </p:nvSpPr>
        <p:spPr>
          <a:xfrm xmlns:a="http://schemas.openxmlformats.org/drawingml/2006/main">
            <a:off x="7143750" y="3238519"/>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sz="1700" b="0">
                <a:solidFill>
                  <a:srgbClr val="262626"/>
                </a:solidFill>
                <a:latin typeface="Arial"/>
                <a:ea typeface="Arial"/>
                <a:cs typeface="Arial"/>
              </a:rPr>
              <a:t>Gaps in tests and approval gates</a:t>
            </a:r>
          </a:p>
        </p:txBody>
      </p:sp>
      <p:sp>
        <p:nvSpPr>
          <p:cNvPr id="27" name="AI introduces detail 1">
            <a:extLst xmlns:a="http://schemas.openxmlformats.org/drawingml/2006/main">
              <a:ext uri="{FF2B5EF4-FFF2-40B4-BE49-F238E27FC236}">
                <a16:creationId xmlns:a16="http://schemas.microsoft.com/office/drawing/2014/main" id="{EF4879E6-62DB-A1D6-4025-051DCAE5AF22}"/>
              </a:ext>
            </a:extLst>
          </p:cNvPr>
          <p:cNvSpPr>
            <a:spLocks xmlns:a="http://schemas.openxmlformats.org/drawingml/2006/main" noGrp="1"/>
          </p:cNvSpPr>
          <p:nvPr/>
        </p:nvSpPr>
        <p:spPr>
          <a:xfrm xmlns:a="http://schemas.openxmlformats.org/drawingml/2006/main">
            <a:off x="2611005" y="4167194"/>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sz="2000" b="0">
                <a:solidFill>
                  <a:srgbClr val="262626"/>
                </a:solidFill>
                <a:latin typeface="Arial"/>
                <a:ea typeface="Arial"/>
                <a:cs typeface="Arial"/>
              </a:rPr>
              <a:t>Logic flaws or insecure defaults</a:t>
            </a:r>
          </a:p>
        </p:txBody>
      </p:sp>
      <p:sp>
        <p:nvSpPr>
          <p:cNvPr id="28" name="AI introduces detail 2">
            <a:extLst xmlns:a="http://schemas.openxmlformats.org/drawingml/2006/main">
              <a:ext uri="{FF2B5EF4-FFF2-40B4-BE49-F238E27FC236}">
                <a16:creationId xmlns:a16="http://schemas.microsoft.com/office/drawing/2014/main" id="{1995ABA8-9494-E177-C6F6-BEA83D2FA943}"/>
              </a:ext>
            </a:extLst>
          </p:cNvPr>
          <p:cNvSpPr>
            <a:spLocks xmlns:a="http://schemas.openxmlformats.org/drawingml/2006/main" noGrp="1"/>
          </p:cNvSpPr>
          <p:nvPr/>
        </p:nvSpPr>
        <p:spPr>
          <a:xfrm xmlns:a="http://schemas.openxmlformats.org/drawingml/2006/main">
            <a:off x="2611005" y="4606106"/>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sz="2000" b="0">
                <a:solidFill>
                  <a:srgbClr val="262626"/>
                </a:solidFill>
                <a:latin typeface="Arial"/>
                <a:ea typeface="Arial"/>
                <a:cs typeface="Arial"/>
              </a:rPr>
              <a:t>Fixes that pass incomplete tests</a:t>
            </a:r>
          </a:p>
        </p:txBody>
      </p:sp>
      <p:sp>
        <p:nvSpPr>
          <p:cNvPr id="30" name="AI + tools catch detail 1">
            <a:extLst xmlns:a="http://schemas.openxmlformats.org/drawingml/2006/main">
              <a:ext uri="{FF2B5EF4-FFF2-40B4-BE49-F238E27FC236}">
                <a16:creationId xmlns:a16="http://schemas.microsoft.com/office/drawing/2014/main" id="{D2532D33-35CE-19D5-E9A3-F887BE8C84A8}"/>
              </a:ext>
            </a:extLst>
          </p:cNvPr>
          <p:cNvSpPr>
            <a:spLocks xmlns:a="http://schemas.openxmlformats.org/drawingml/2006/main" noGrp="1"/>
          </p:cNvSpPr>
          <p:nvPr/>
        </p:nvSpPr>
        <p:spPr>
          <a:xfrm xmlns:a="http://schemas.openxmlformats.org/drawingml/2006/main">
            <a:off x="7143750" y="4199741"/>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sz="1700" b="0">
                <a:solidFill>
                  <a:srgbClr val="262626"/>
                </a:solidFill>
                <a:latin typeface="Arial"/>
                <a:ea typeface="Arial"/>
                <a:cs typeface="Arial"/>
              </a:rPr>
              <a:t>Code flaws and regressions</a:t>
            </a:r>
          </a:p>
        </p:txBody>
      </p:sp>
      <p:sp>
        <p:nvSpPr>
          <p:cNvPr id="31" name="AI + tools catch detail 2">
            <a:extLst xmlns:a="http://schemas.openxmlformats.org/drawingml/2006/main">
              <a:ext uri="{FF2B5EF4-FFF2-40B4-BE49-F238E27FC236}">
                <a16:creationId xmlns:a16="http://schemas.microsoft.com/office/drawing/2014/main" id="{4ADC7842-968B-BC60-A69E-3DF469748906}"/>
              </a:ext>
            </a:extLst>
          </p:cNvPr>
          <p:cNvSpPr>
            <a:spLocks xmlns:a="http://schemas.openxmlformats.org/drawingml/2006/main" noGrp="1"/>
          </p:cNvSpPr>
          <p:nvPr/>
        </p:nvSpPr>
        <p:spPr>
          <a:xfrm xmlns:a="http://schemas.openxmlformats.org/drawingml/2006/main">
            <a:off x="7143750" y="4638653"/>
            <a:ext cx="4727448"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262626"/>
                </a:solidFill>
              </a:defRPr>
            </a:defPPr>
            <a:lvl1pPr algn="l">
              <a:buNone/>
              <a:defRPr sz="1800" b="0">
                <a:solidFill>
                  <a:srgbClr val="262626"/>
                </a:solidFill>
              </a:defRPr>
            </a:lvl1pPr>
            <a:lvl2pPr algn="l">
              <a:buNone/>
              <a:defRPr sz="1800" b="0">
                <a:solidFill>
                  <a:srgbClr val="262626"/>
                </a:solidFill>
              </a:defRPr>
            </a:lvl2pPr>
            <a:lvl3pPr algn="l">
              <a:buNone/>
              <a:defRPr sz="1800" b="0">
                <a:solidFill>
                  <a:srgbClr val="262626"/>
                </a:solidFill>
              </a:defRPr>
            </a:lvl3pPr>
            <a:lvl4pPr algn="l">
              <a:buNone/>
              <a:defRPr sz="1800" b="0">
                <a:solidFill>
                  <a:srgbClr val="262626"/>
                </a:solidFill>
              </a:defRPr>
            </a:lvl4pPr>
            <a:lvl5pPr algn="l">
              <a:buNone/>
              <a:defRPr sz="1800" b="0">
                <a:solidFill>
                  <a:srgbClr val="262626"/>
                </a:solidFill>
              </a:defRPr>
            </a:lvl5pPr>
            <a:lvl6pPr algn="l">
              <a:buNone/>
              <a:defRPr sz="1800" b="0">
                <a:solidFill>
                  <a:srgbClr val="262626"/>
                </a:solidFill>
              </a:defRPr>
            </a:lvl6pPr>
            <a:lvl7pPr algn="l">
              <a:buNone/>
              <a:defRPr sz="1800" b="0">
                <a:solidFill>
                  <a:srgbClr val="262626"/>
                </a:solidFill>
              </a:defRPr>
            </a:lvl7pPr>
            <a:lvl8pPr algn="l">
              <a:buNone/>
              <a:defRPr sz="1800" b="0">
                <a:solidFill>
                  <a:srgbClr val="262626"/>
                </a:solidFill>
              </a:defRPr>
            </a:lvl8pPr>
            <a:lvl9pPr algn="l">
              <a:buNone/>
              <a:defRPr sz="1800" b="0">
                <a:solidFill>
                  <a:srgbClr val="262626"/>
                </a:solidFill>
              </a:defRPr>
            </a:lvl9pPr>
          </a:lstStyle>
          <a:p xmlns:a="http://schemas.openxmlformats.org/drawingml/2006/main">
            <a:pPr algn="l">
              <a:lnSpc>
                <a:spcPct val="100000"/>
              </a:lnSpc>
              <a:spcBef>
                <a:spcPts val="0"/>
              </a:spcBef>
              <a:spcAft>
                <a:spcPts val="0"/>
              </a:spcAft>
              <a:buNone/>
            </a:pPr>
            <a:r>
              <a:rPr sz="1700" b="0">
                <a:solidFill>
                  <a:srgbClr val="262626"/>
                </a:solidFill>
                <a:latin typeface="Arial"/>
                <a:ea typeface="Arial"/>
                <a:cs typeface="Arial"/>
              </a:rPr>
              <a:t>Vulnerabilities with sufficient context</a:t>
            </a:r>
          </a:p>
        </p:txBody>
      </p:sp>
    </p:spTree>
    <p:extLst>
      <p:ext uri="{BB962C8B-B14F-4D97-AF65-F5344CB8AC3E}">
        <p14:creationId xmlns:p14="http://schemas.microsoft.com/office/powerpoint/2010/main" val="1095240667"/>
      </p:ext>
    </p:extLst>
  </p:cSld>
</p:sld>
</file>

<file path=ppt/slides/slide38.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08FB0CEA-DB3D-4A25-8A5F-0EB549343561}"/>
              </a:ext>
            </a:extLst>
          </p:cNvPr>
          <p:cNvPicPr>
            <a:picLocks xmlns:a="http://schemas.openxmlformats.org/drawingml/2006/main" noChangeAspect="1"/>
          </p:cNvPicPr>
          <p:nvPr/>
        </p:nvPicPr>
        <p:blipFill>
          <a:blip xmlns:r="http://schemas.openxmlformats.org/officeDocument/2006/relationships" xmlns:a="http://schemas.openxmlformats.org/drawingml/2006/main" r:embed="R14ee6a0cf458462c"/>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F1114FA4-44F2-432A-87EF-336FD1973AB5}"/>
              </a:ext>
            </a:extLst>
          </p:cNvPr>
          <p:cNvPicPr>
            <a:picLocks xmlns:a="http://schemas.openxmlformats.org/drawingml/2006/main" noChangeAspect="1"/>
          </p:cNvPicPr>
          <p:nvPr/>
        </p:nvPicPr>
        <p:blipFill>
          <a:blip xmlns:r="http://schemas.openxmlformats.org/officeDocument/2006/relationships" xmlns:a="http://schemas.openxmlformats.org/drawingml/2006/main" r:embed="R060f4eed77b249f4"/>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A6EB6871-32C6-491B-A465-DAD7C9EDC827}"/>
              </a:ext>
            </a:extLst>
          </p:cNvPr>
          <p:cNvSpPr>
            <a:spLocks xmlns:a="http://schemas.openxmlformats.org/drawingml/2006/main" noGrp="1"/>
          </p:cNvSpPr>
          <p:nvPr>
            <p:ph type="title" idx="0"/>
          </p:nvPr>
        </p:nvSpPr>
        <p:spPr>
          <a:xfrm xmlns:a="http://schemas.openxmlformats.org/drawingml/2006/main">
            <a:off x="812902" y="812902"/>
            <a:ext cx="832104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600"/>
              </a:lnSpc>
              <a:spcBef>
                <a:spcPts val="0"/>
              </a:spcBef>
              <a:buNone/>
            </a:pPr>
            <a:r>
              <a:rPr sz="3000" b="1">
                <a:solidFill>
                  <a:srgbClr val="4C8835"/>
                </a:solidFill>
                <a:latin typeface="Arial"/>
                <a:ea typeface="Arial"/>
                <a:cs typeface="Arial"/>
              </a:rPr>
              <a:t>Context adds the missing relationship</a:t>
            </a:r>
            <a:endParaRPr sz="3000"/>
          </a:p>
        </p:txBody>
      </p:sp>
      <p:sp>
        <p:nvSpPr>
          <p:cNvPr id="27" name="Text 19">
            <a:extLst xmlns:a="http://schemas.openxmlformats.org/drawingml/2006/main">
              <a:ext uri="{FF2B5EF4-FFF2-40B4-BE49-F238E27FC236}">
                <a16:creationId xmlns:a16="http://schemas.microsoft.com/office/drawing/2014/main" id="{4C9B09E4-38BD-4B5C-BCCD-144750E17399}"/>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80" name="Experiment scope">
            <a:extLst xmlns:a="http://schemas.openxmlformats.org/drawingml/2006/main">
              <a:ext uri="{FF2B5EF4-FFF2-40B4-BE49-F238E27FC236}">
                <a16:creationId xmlns:a16="http://schemas.microsoft.com/office/drawing/2014/main" id="{F877806F-454F-413E-9D9D-8CFB3F116A8E}"/>
              </a:ext>
            </a:extLst>
          </p:cNvPr>
          <p:cNvSpPr>
            <a:spLocks xmlns:a="http://schemas.openxmlformats.org/drawingml/2006/main" noGrp="1"/>
          </p:cNvSpPr>
          <p:nvPr/>
        </p:nvSpPr>
        <p:spPr>
          <a:xfrm xmlns:a="http://schemas.openxmlformats.org/drawingml/2006/main">
            <a:off x="812902" y="1353312"/>
            <a:ext cx="10561320"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125"/>
              </a:lnSpc>
              <a:spcBef>
                <a:spcPts val="0"/>
              </a:spcBef>
              <a:buNone/>
            </a:pPr>
            <a:r>
              <a:rPr sz="1700" b="0">
                <a:solidFill>
                  <a:srgbClr val="33333A"/>
                </a:solidFill>
                <a:latin typeface="Arial"/>
                <a:ea typeface="Arial"/>
                <a:cs typeface="Arial"/>
              </a:rPr>
              <a:t>Same 24-case study. These are the four cases Sonnet 5 did not fully catch.</a:t>
            </a:r>
            <a:endParaRPr sz="1700"/>
          </a:p>
        </p:txBody>
      </p:sp>
      <p:graphicFrame>
        <p:nvGraphicFramePr>
          <p:cNvPr id="81" name="Editable case evidence">
            <a:extLst xmlns:a="http://schemas.openxmlformats.org/drawingml/2006/main">
              <a:ext uri="{FF2B5EF4-FFF2-40B4-BE49-F238E27FC236}">
                <a16:creationId xmlns:a16="http://schemas.microsoft.com/office/drawing/2014/main" id="{196831D5-6181-416B-A9AC-8A3AF5D246D3}"/>
              </a:ext>
            </a:extLst>
          </p:cNvPr>
          <p:cNvGraphicFramePr/>
          <p:nvPr/>
        </p:nvGraphicFramePr>
        <p:xfrm>
          <a:off xmlns:a="http://schemas.openxmlformats.org/drawingml/2006/main" x="812902" y="1874520"/>
          <a:ext xmlns:a="http://schemas.openxmlformats.org/drawingml/2006/main" cx="10561320" cy="3108960"/>
        </p:xfrm>
        <a:graphic xmlns:a="http://schemas.openxmlformats.org/drawingml/2006/main">
          <a:graphicData uri="http://schemas.openxmlformats.org/drawingml/2006/table">
            <a:tbl>
              <a:tblPr firstRow="1"/>
              <a:tblGrid>
                <a:gridCol w="2743200"/>
                <a:gridCol w="5623560"/>
                <a:gridCol w="2194560"/>
              </a:tblGrid>
              <a:tr h="621792">
                <a:tc>
                  <a:txBody>
                    <a:bodyPr/>
                    <a:lstStyle/>
                    <a:p>
                      <a:pPr marL="0" indent="0" algn="l">
                        <a:lnSpc>
                          <a:spcPts val="2000"/>
                        </a:lnSpc>
                        <a:spcBef>
                          <a:spcPts val="0"/>
                        </a:spcBef>
                        <a:buNone/>
                      </a:pPr>
                      <a:r>
                        <a:rPr sz="1400" b="1">
                          <a:solidFill>
                            <a:srgbClr val="FFFFFF"/>
                          </a:solidFill>
                          <a:latin typeface="Arial"/>
                          <a:ea typeface="Arial"/>
                          <a:cs typeface="Arial"/>
                        </a:rPr>
                        <a:t>Original case</a:t>
                      </a:r>
                      <a:endParaRPr sz="14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0086B6"/>
                    </a:solidFill>
                  </a:tcPr>
                </a:tc>
                <a:tc>
                  <a:txBody>
                    <a:bodyPr/>
                    <a:lstStyle/>
                    <a:p>
                      <a:pPr marL="0" indent="0" algn="l">
                        <a:lnSpc>
                          <a:spcPts val="2000"/>
                        </a:lnSpc>
                        <a:spcBef>
                          <a:spcPts val="0"/>
                        </a:spcBef>
                        <a:buNone/>
                      </a:pPr>
                      <a:r>
                        <a:rPr sz="1400" b="1">
                          <a:solidFill>
                            <a:srgbClr val="FFFFFF"/>
                          </a:solidFill>
                          <a:latin typeface="Arial"/>
                          <a:ea typeface="Arial"/>
                          <a:cs typeface="Arial"/>
                        </a:rPr>
                        <a:t>Relationship outside the diff</a:t>
                      </a:r>
                      <a:endParaRPr sz="14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0086B6"/>
                    </a:solidFill>
                  </a:tcPr>
                </a:tc>
                <a:tc>
                  <a:txBody>
                    <a:bodyPr/>
                    <a:lstStyle/>
                    <a:p>
                      <a:pPr marL="0" indent="0" algn="l">
                        <a:lnSpc>
                          <a:spcPts val="2000"/>
                        </a:lnSpc>
                        <a:spcBef>
                          <a:spcPts val="0"/>
                        </a:spcBef>
                        <a:buNone/>
                      </a:pPr>
                      <a:r>
                        <a:rPr sz="1400" b="1">
                          <a:solidFill>
                            <a:srgbClr val="FFFFFF"/>
                          </a:solidFill>
                          <a:latin typeface="Arial"/>
                          <a:ea typeface="Arial"/>
                          <a:cs typeface="Arial"/>
                        </a:rPr>
                        <a:t>Original result</a:t>
                      </a:r>
                      <a:endParaRPr sz="14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0086B6"/>
                    </a:solidFill>
                  </a:tcPr>
                </a:tc>
              </a:tr>
              <a:tr h="621792">
                <a:tc>
                  <a:txBody>
                    <a:bodyPr/>
                    <a:lstStyle/>
                    <a:p>
                      <a:pPr marL="0" indent="0" algn="l">
                        <a:lnSpc>
                          <a:spcPts val="2000"/>
                        </a:lnSpc>
                        <a:spcBef>
                          <a:spcPts val="0"/>
                        </a:spcBef>
                        <a:buNone/>
                      </a:pPr>
                      <a:r>
                        <a:rPr sz="1700" b="0">
                          <a:solidFill>
                            <a:srgbClr val="33333A"/>
                          </a:solidFill>
                          <a:latin typeface="Arial"/>
                          <a:ea typeface="Arial"/>
                          <a:cs typeface="Arial"/>
                        </a:rPr>
                        <a:t>Stored XSS</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0">
                          <a:solidFill>
                            <a:srgbClr val="33333A"/>
                          </a:solidFill>
                          <a:latin typeface="Arial"/>
                          <a:ea typeface="Arial"/>
                          <a:cs typeface="Arial"/>
                        </a:rPr>
                        <a:t>Caller maps URL inputs and outputs HTML</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1">
                          <a:solidFill>
                            <a:srgbClr val="77777F"/>
                          </a:solidFill>
                          <a:latin typeface="Arial"/>
                          <a:ea typeface="Arial"/>
                          <a:cs typeface="Arial"/>
                        </a:rPr>
                        <a:t>Missed</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r>
              <a:tr h="621792">
                <a:tc>
                  <a:txBody>
                    <a:bodyPr/>
                    <a:lstStyle/>
                    <a:p>
                      <a:pPr marL="0" indent="0" algn="l">
                        <a:lnSpc>
                          <a:spcPts val="2000"/>
                        </a:lnSpc>
                        <a:spcBef>
                          <a:spcPts val="0"/>
                        </a:spcBef>
                        <a:buNone/>
                      </a:pPr>
                      <a:r>
                        <a:rPr sz="1700" b="0">
                          <a:solidFill>
                            <a:srgbClr val="33333A"/>
                          </a:solidFill>
                          <a:latin typeface="Arial"/>
                          <a:ea typeface="Arial"/>
                          <a:cs typeface="Arial"/>
                        </a:rPr>
                        <a:t>Patient access</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c>
                  <a:txBody>
                    <a:bodyPr/>
                    <a:lstStyle/>
                    <a:p>
                      <a:pPr marL="0" indent="0" algn="l">
                        <a:lnSpc>
                          <a:spcPts val="2000"/>
                        </a:lnSpc>
                        <a:spcBef>
                          <a:spcPts val="0"/>
                        </a:spcBef>
                        <a:buNone/>
                      </a:pPr>
                      <a:r>
                        <a:rPr sz="1700" b="0">
                          <a:solidFill>
                            <a:srgbClr val="33333A"/>
                          </a:solidFill>
                          <a:latin typeface="Arial"/>
                          <a:ea typeface="Arial"/>
                          <a:cs typeface="Arial"/>
                        </a:rPr>
                        <a:t>Base class decides patient filtering</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c>
                  <a:txBody>
                    <a:bodyPr/>
                    <a:lstStyle/>
                    <a:p>
                      <a:pPr marL="0" indent="0" algn="l">
                        <a:lnSpc>
                          <a:spcPts val="2000"/>
                        </a:lnSpc>
                        <a:spcBef>
                          <a:spcPts val="0"/>
                        </a:spcBef>
                        <a:buNone/>
                      </a:pPr>
                      <a:r>
                        <a:rPr sz="1700" b="1">
                          <a:solidFill>
                            <a:srgbClr val="B76521"/>
                          </a:solidFill>
                          <a:latin typeface="Arial"/>
                          <a:ea typeface="Arial"/>
                          <a:cs typeface="Arial"/>
                        </a:rPr>
                        <a:t>Partial</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r>
              <a:tr h="621792">
                <a:tc>
                  <a:txBody>
                    <a:bodyPr/>
                    <a:lstStyle/>
                    <a:p>
                      <a:pPr marL="0" indent="0" algn="l">
                        <a:lnSpc>
                          <a:spcPts val="2000"/>
                        </a:lnSpc>
                        <a:spcBef>
                          <a:spcPts val="0"/>
                        </a:spcBef>
                        <a:buNone/>
                      </a:pPr>
                      <a:r>
                        <a:rPr sz="1700" b="0">
                          <a:solidFill>
                            <a:srgbClr val="33333A"/>
                          </a:solidFill>
                          <a:latin typeface="Arial"/>
                          <a:ea typeface="Arial"/>
                          <a:cs typeface="Arial"/>
                        </a:rPr>
                        <a:t>Payment secret</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0">
                          <a:solidFill>
                            <a:srgbClr val="33333A"/>
                          </a:solidFill>
                          <a:latin typeface="Arial"/>
                          <a:ea typeface="Arial"/>
                          <a:cs typeface="Arial"/>
                        </a:rPr>
                        <a:t>Configuration identifies a secret key</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1">
                          <a:solidFill>
                            <a:srgbClr val="B76521"/>
                          </a:solidFill>
                          <a:latin typeface="Arial"/>
                          <a:ea typeface="Arial"/>
                          <a:cs typeface="Arial"/>
                        </a:rPr>
                        <a:t>Partial</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r>
              <a:tr h="621792">
                <a:tc>
                  <a:txBody>
                    <a:bodyPr/>
                    <a:lstStyle/>
                    <a:p>
                      <a:pPr marL="0" indent="0" algn="l">
                        <a:lnSpc>
                          <a:spcPts val="2000"/>
                        </a:lnSpc>
                        <a:spcBef>
                          <a:spcPts val="0"/>
                        </a:spcBef>
                        <a:buNone/>
                      </a:pPr>
                      <a:r>
                        <a:rPr sz="1700" b="0">
                          <a:solidFill>
                            <a:srgbClr val="33333A"/>
                          </a:solidFill>
                          <a:latin typeface="Arial"/>
                          <a:ea typeface="Arial"/>
                          <a:cs typeface="Arial"/>
                        </a:rPr>
                        <a:t>PDF-rendering SSRF</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c>
                  <a:txBody>
                    <a:bodyPr/>
                    <a:lstStyle/>
                    <a:p>
                      <a:pPr marL="0" indent="0" algn="l">
                        <a:lnSpc>
                          <a:spcPts val="2000"/>
                        </a:lnSpc>
                        <a:spcBef>
                          <a:spcPts val="0"/>
                        </a:spcBef>
                        <a:buNone/>
                      </a:pPr>
                      <a:r>
                        <a:rPr sz="1700" b="0">
                          <a:solidFill>
                            <a:srgbClr val="33333A"/>
                          </a:solidFill>
                          <a:latin typeface="Arial"/>
                          <a:ea typeface="Arial"/>
                          <a:cs typeface="Arial"/>
                        </a:rPr>
                        <a:t>A caller renders the content as a PDF</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c>
                  <a:txBody>
                    <a:bodyPr/>
                    <a:lstStyle/>
                    <a:p>
                      <a:pPr marL="0" indent="0" algn="l">
                        <a:lnSpc>
                          <a:spcPts val="2000"/>
                        </a:lnSpc>
                        <a:spcBef>
                          <a:spcPts val="0"/>
                        </a:spcBef>
                        <a:buNone/>
                      </a:pPr>
                      <a:r>
                        <a:rPr sz="1700" b="1">
                          <a:solidFill>
                            <a:srgbClr val="B76521"/>
                          </a:solidFill>
                          <a:latin typeface="Arial"/>
                          <a:ea typeface="Arial"/>
                          <a:cs typeface="Arial"/>
                        </a:rPr>
                        <a:t>Partial</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r>
            </a:tbl>
          </a:graphicData>
        </a:graphic>
      </p:graphicFrame>
      <p:sp>
        <p:nvSpPr>
          <p:cNvPr id="82" name="Narrative 82">
            <a:extLst xmlns:a="http://schemas.openxmlformats.org/drawingml/2006/main">
              <a:ext uri="{FF2B5EF4-FFF2-40B4-BE49-F238E27FC236}">
                <a16:creationId xmlns:a16="http://schemas.microsoft.com/office/drawing/2014/main" id="{F0190A2E-4186-4DC9-B49D-ADE7B229E281}"/>
              </a:ext>
            </a:extLst>
          </p:cNvPr>
          <p:cNvSpPr>
            <a:spLocks xmlns:a="http://schemas.openxmlformats.org/drawingml/2006/main" noGrp="1"/>
          </p:cNvSpPr>
          <p:nvPr/>
        </p:nvSpPr>
        <p:spPr>
          <a:xfrm xmlns:a="http://schemas.openxmlformats.org/drawingml/2006/main">
            <a:off x="812902" y="5212080"/>
            <a:ext cx="1056132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2250"/>
              </a:lnSpc>
              <a:spcBef>
                <a:spcPts val="0"/>
              </a:spcBef>
              <a:buNone/>
            </a:pPr>
            <a:r>
              <a:rPr sz="1800" b="0">
                <a:solidFill>
                  <a:srgbClr val="33333A"/>
                </a:solidFill>
                <a:latin typeface="Arial"/>
                <a:ea typeface="Arial"/>
                <a:cs typeface="Arial"/>
              </a:rPr>
              <a:t>A caller, base class or configuration can supply the fact that makes the change unsafe.</a:t>
            </a:r>
            <a:endParaRPr sz="1800"/>
          </a:p>
        </p:txBody>
      </p:sp>
      <p:sp>
        <p:nvSpPr>
          <p:cNvPr id="199" name="Narrative 199">
            <a:extLst xmlns:a="http://schemas.openxmlformats.org/drawingml/2006/main">
              <a:ext uri="{FF2B5EF4-FFF2-40B4-BE49-F238E27FC236}">
                <a16:creationId xmlns:a16="http://schemas.microsoft.com/office/drawing/2014/main" id="{C5C800AA-07DB-45C7-A964-775497F35444}"/>
              </a:ext>
            </a:extLst>
          </p:cNvPr>
          <p:cNvSpPr>
            <a:spLocks xmlns:a="http://schemas.openxmlformats.org/drawingml/2006/main" noGrp="1"/>
          </p:cNvSpPr>
          <p:nvPr/>
        </p:nvSpPr>
        <p:spPr>
          <a:xfrm xmlns:a="http://schemas.openxmlformats.org/drawingml/2006/main">
            <a:off x="812902" y="5897880"/>
            <a:ext cx="9738360" cy="3383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500"/>
              </a:lnSpc>
              <a:spcBef>
                <a:spcPts val="0"/>
              </a:spcBef>
              <a:buNone/>
            </a:pPr>
            <a:r>
              <a:rPr sz="1100" b="0">
                <a:solidFill>
                  <a:srgbClr val="8A8A92"/>
                </a:solidFill>
                <a:latin typeface="Arial"/>
                <a:ea typeface="Arial"/>
                <a:cs typeface="Arial"/>
              </a:rPr>
              <a:t>This grouping suggested a context problem. It did not, by itself, establish the cause of the incomplete findings.</a:t>
            </a:r>
            <a:endParaRPr sz="1100"/>
          </a:p>
        </p:txBody>
      </p:sp>
    </p:spTree>
    <p:extLst>
      <p:ext uri="{BB962C8B-B14F-4D97-AF65-F5344CB8AC3E}">
        <p14:creationId xmlns:p14="http://schemas.microsoft.com/office/powerpoint/2010/main" val="1626743588"/>
      </p:ext>
    </p:extLst>
  </p:cSld>
</p:sld>
</file>

<file path=ppt/slides/slide39.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E35C2A6B-6E91-4CEE-BA09-A63D94D33C7C}"/>
              </a:ext>
            </a:extLst>
          </p:cNvPr>
          <p:cNvPicPr>
            <a:picLocks xmlns:a="http://schemas.openxmlformats.org/drawingml/2006/main" noChangeAspect="1"/>
          </p:cNvPicPr>
          <p:nvPr/>
        </p:nvPicPr>
        <p:blipFill>
          <a:blip xmlns:r="http://schemas.openxmlformats.org/officeDocument/2006/relationships" xmlns:a="http://schemas.openxmlformats.org/drawingml/2006/main" r:embed="R873e8ed1325548fb"/>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B0E64593-F507-4701-92FE-6E417E1FF68B}"/>
              </a:ext>
            </a:extLst>
          </p:cNvPr>
          <p:cNvPicPr>
            <a:picLocks xmlns:a="http://schemas.openxmlformats.org/drawingml/2006/main" noChangeAspect="1"/>
          </p:cNvPicPr>
          <p:nvPr/>
        </p:nvPicPr>
        <p:blipFill>
          <a:blip xmlns:r="http://schemas.openxmlformats.org/officeDocument/2006/relationships" xmlns:a="http://schemas.openxmlformats.org/drawingml/2006/main" r:embed="R620b1cde37944a5a"/>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25FF08B4-E604-47E6-81CE-EBB559292AB6}"/>
              </a:ext>
            </a:extLst>
          </p:cNvPr>
          <p:cNvSpPr>
            <a:spLocks xmlns:a="http://schemas.openxmlformats.org/drawingml/2006/main" noGrp="1"/>
          </p:cNvSpPr>
          <p:nvPr>
            <p:ph type="title" idx="0"/>
          </p:nvPr>
        </p:nvSpPr>
        <p:spPr>
          <a:xfrm xmlns:a="http://schemas.openxmlformats.org/drawingml/2006/main">
            <a:off x="812902" y="812902"/>
            <a:ext cx="832104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600"/>
              </a:lnSpc>
              <a:spcBef>
                <a:spcPts val="0"/>
              </a:spcBef>
              <a:buNone/>
            </a:pPr>
            <a:r>
              <a:rPr sz="3000" b="1">
                <a:solidFill>
                  <a:srgbClr val="4C8835"/>
                </a:solidFill>
                <a:latin typeface="Arial"/>
                <a:ea typeface="Arial"/>
                <a:cs typeface="Arial"/>
              </a:rPr>
              <a:t>Test the required behavior</a:t>
            </a:r>
            <a:endParaRPr sz="3000"/>
          </a:p>
        </p:txBody>
      </p:sp>
      <p:sp>
        <p:nvSpPr>
          <p:cNvPr id="6" name="Shape 2">
            <a:extLst xmlns:a="http://schemas.openxmlformats.org/drawingml/2006/main">
              <a:ext uri="{FF2B5EF4-FFF2-40B4-BE49-F238E27FC236}">
                <a16:creationId xmlns:a16="http://schemas.microsoft.com/office/drawing/2014/main" id="{60B2AFC7-722B-44B7-9BD7-B0E008BAFB2E}"/>
              </a:ext>
            </a:extLst>
          </p:cNvPr>
          <p:cNvSpPr>
            <a:spLocks xmlns:a="http://schemas.openxmlformats.org/drawingml/2006/main" noGrp="1"/>
          </p:cNvSpPr>
          <p:nvPr/>
        </p:nvSpPr>
        <p:spPr>
          <a:xfrm xmlns:a="http://schemas.openxmlformats.org/drawingml/2006/main">
            <a:off x="1193800" y="2009080"/>
            <a:ext cx="9804400" cy="63500"/>
          </a:xfrm>
          <a:prstGeom xmlns:a="http://schemas.openxmlformats.org/drawingml/2006/main" prst="roundRect">
            <a:avLst>
              <a:gd name="adj" fmla="val 50000"/>
            </a:avLst>
          </a:prstGeom>
          <a:solidFill xmlns:a="http://schemas.openxmlformats.org/drawingml/2006/main">
            <a:srgbClr val="C9C9CE"/>
          </a:solidFill>
        </p:spPr>
        <p:txBody>
          <a:bodyPr xmlns:a="http://schemas.openxmlformats.org/drawingml/2006/main"/>
          <a:lstStyle xmlns:a="http://schemas.openxmlformats.org/drawingml/2006/main"/>
          <a:p xmlns:a="http://schemas.openxmlformats.org/drawingml/2006/main">
            <a:endParaRPr/>
          </a:p>
        </p:txBody>
      </p:sp>
      <p:sp>
        <p:nvSpPr>
          <p:cNvPr id="8" name="Shape 4">
            <a:extLst xmlns:a="http://schemas.openxmlformats.org/drawingml/2006/main">
              <a:ext uri="{FF2B5EF4-FFF2-40B4-BE49-F238E27FC236}">
                <a16:creationId xmlns:a16="http://schemas.microsoft.com/office/drawing/2014/main" id="{AA4E66C6-3DFD-40CA-BBD8-8189A1357754}"/>
              </a:ext>
            </a:extLst>
          </p:cNvPr>
          <p:cNvSpPr>
            <a:spLocks xmlns:a="http://schemas.openxmlformats.org/drawingml/2006/main" noGrp="1"/>
          </p:cNvSpPr>
          <p:nvPr/>
        </p:nvSpPr>
        <p:spPr>
          <a:xfrm xmlns:a="http://schemas.openxmlformats.org/drawingml/2006/main">
            <a:off x="831850" y="1875730"/>
            <a:ext cx="330200" cy="33020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38100">
            <a:solidFill>
              <a:srgbClr val="5466AE"/>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Shape 5">
            <a:extLst xmlns:a="http://schemas.openxmlformats.org/drawingml/2006/main">
              <a:ext uri="{FF2B5EF4-FFF2-40B4-BE49-F238E27FC236}">
                <a16:creationId xmlns:a16="http://schemas.microsoft.com/office/drawing/2014/main" id="{51D1D099-4806-4883-BABC-A0561D3DEECE}"/>
              </a:ext>
            </a:extLst>
          </p:cNvPr>
          <p:cNvSpPr>
            <a:spLocks xmlns:a="http://schemas.openxmlformats.org/drawingml/2006/main" noGrp="1"/>
          </p:cNvSpPr>
          <p:nvPr/>
        </p:nvSpPr>
        <p:spPr>
          <a:xfrm xmlns:a="http://schemas.openxmlformats.org/drawingml/2006/main">
            <a:off x="4387850" y="1875730"/>
            <a:ext cx="330200" cy="33020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38100">
            <a:solidFill>
              <a:srgbClr val="5466AE"/>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Shape 6">
            <a:extLst xmlns:a="http://schemas.openxmlformats.org/drawingml/2006/main">
              <a:ext uri="{FF2B5EF4-FFF2-40B4-BE49-F238E27FC236}">
                <a16:creationId xmlns:a16="http://schemas.microsoft.com/office/drawing/2014/main" id="{F782E26F-22B2-434F-8D67-15FE739E97D3}"/>
              </a:ext>
            </a:extLst>
          </p:cNvPr>
          <p:cNvSpPr>
            <a:spLocks xmlns:a="http://schemas.openxmlformats.org/drawingml/2006/main" noGrp="1"/>
          </p:cNvSpPr>
          <p:nvPr/>
        </p:nvSpPr>
        <p:spPr>
          <a:xfrm xmlns:a="http://schemas.openxmlformats.org/drawingml/2006/main">
            <a:off x="7943850" y="1875730"/>
            <a:ext cx="330200" cy="330200"/>
          </a:xfrm>
          <a:prstGeom xmlns:a="http://schemas.openxmlformats.org/drawingml/2006/main" prst="roundRect">
            <a:avLst>
              <a:gd name="adj" fmla="val 50000"/>
            </a:avLst>
          </a:prstGeom>
          <a:solidFill xmlns:a="http://schemas.openxmlformats.org/drawingml/2006/main">
            <a:srgbClr val="FFFFFF"/>
          </a:solidFill>
          <a:ln xmlns:a="http://schemas.openxmlformats.org/drawingml/2006/main" w="38100">
            <a:solidFill>
              <a:srgbClr val="F07133"/>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Shape 7">
            <a:extLst xmlns:a="http://schemas.openxmlformats.org/drawingml/2006/main">
              <a:ext uri="{FF2B5EF4-FFF2-40B4-BE49-F238E27FC236}">
                <a16:creationId xmlns:a16="http://schemas.microsoft.com/office/drawing/2014/main" id="{ED92B0EA-6720-4D56-A2B5-86469DC6F1A6}"/>
              </a:ext>
            </a:extLst>
          </p:cNvPr>
          <p:cNvSpPr>
            <a:spLocks xmlns:a="http://schemas.openxmlformats.org/drawingml/2006/main" noGrp="1"/>
          </p:cNvSpPr>
          <p:nvPr/>
        </p:nvSpPr>
        <p:spPr>
          <a:xfrm xmlns:a="http://schemas.openxmlformats.org/drawingml/2006/main">
            <a:off x="819150" y="2523430"/>
            <a:ext cx="3162300" cy="2527300"/>
          </a:xfrm>
          <a:prstGeom xmlns:a="http://schemas.openxmlformats.org/drawingml/2006/main" prst="roundRect">
            <a:avLst>
              <a:gd name="adj" fmla="val 4774"/>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Text 8">
            <a:extLst xmlns:a="http://schemas.openxmlformats.org/drawingml/2006/main">
              <a:ext uri="{FF2B5EF4-FFF2-40B4-BE49-F238E27FC236}">
                <a16:creationId xmlns:a16="http://schemas.microsoft.com/office/drawing/2014/main" id="{ED7E31FE-3E3E-4762-B379-703D68EA5D30}"/>
              </a:ext>
            </a:extLst>
          </p:cNvPr>
          <p:cNvSpPr>
            <a:spLocks xmlns:a="http://schemas.openxmlformats.org/drawingml/2006/main" noGrp="1"/>
          </p:cNvSpPr>
          <p:nvPr/>
        </p:nvSpPr>
        <p:spPr>
          <a:xfrm xmlns:a="http://schemas.openxmlformats.org/drawingml/2006/main">
            <a:off x="1054100" y="2758380"/>
            <a:ext cx="2773172"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5466AE"/>
                </a:solidFill>
                <a:latin typeface="Arial"/>
                <a:ea typeface="Arial"/>
                <a:cs typeface="Arial"/>
              </a:rPr>
              <a:t>TEST 1 · CSRF NEGATIVE</a:t>
            </a:r>
            <a:endParaRPr sz="1200"/>
          </a:p>
        </p:txBody>
      </p:sp>
      <p:pic>
        <p:nvPicPr>
          <p:cNvPr id="13" name="Image 2">
            <a:extLst xmlns:a="http://schemas.openxmlformats.org/drawingml/2006/main">
              <a:ext uri="{FF2B5EF4-FFF2-40B4-BE49-F238E27FC236}">
                <a16:creationId xmlns:a16="http://schemas.microsoft.com/office/drawing/2014/main" id="{3BEE6EDD-268E-4549-8A64-B3F648C3D460}"/>
              </a:ext>
            </a:extLst>
          </p:cNvPr>
          <p:cNvPicPr>
            <a:picLocks xmlns:a="http://schemas.openxmlformats.org/drawingml/2006/main" noChangeAspect="1"/>
          </p:cNvPicPr>
          <p:nvPr/>
        </p:nvPicPr>
        <p:blipFill>
          <a:blip xmlns:r="http://schemas.openxmlformats.org/officeDocument/2006/relationships" xmlns:a="http://schemas.openxmlformats.org/drawingml/2006/main" r:embed="Ra71bfc2ff5a34e1e"/>
          <a:srcRect xmlns:a="http://schemas.openxmlformats.org/drawingml/2006/main" l="0" t="0" r="0" b="0"/>
          <a:stretch xmlns:a="http://schemas.openxmlformats.org/drawingml/2006/main"/>
        </p:blipFill>
        <p:spPr>
          <a:xfrm xmlns:a="http://schemas.openxmlformats.org/drawingml/2006/main">
            <a:off x="1054100" y="3098701"/>
            <a:ext cx="355600" cy="355600"/>
          </a:xfrm>
          <a:prstGeom xmlns:a="http://schemas.openxmlformats.org/drawingml/2006/main" prst="rect">
            <a:avLst/>
          </a:prstGeom>
        </p:spPr>
      </p:pic>
      <p:sp>
        <p:nvSpPr>
          <p:cNvPr id="14" name="Text 9">
            <a:extLst xmlns:a="http://schemas.openxmlformats.org/drawingml/2006/main">
              <a:ext uri="{FF2B5EF4-FFF2-40B4-BE49-F238E27FC236}">
                <a16:creationId xmlns:a16="http://schemas.microsoft.com/office/drawing/2014/main" id="{D0E0C6EB-560A-4DBC-A89A-F04208341058}"/>
              </a:ext>
            </a:extLst>
          </p:cNvPr>
          <p:cNvSpPr>
            <a:spLocks xmlns:a="http://schemas.openxmlformats.org/drawingml/2006/main" noGrp="1"/>
          </p:cNvSpPr>
          <p:nvPr/>
        </p:nvSpPr>
        <p:spPr>
          <a:xfrm xmlns:a="http://schemas.openxmlformats.org/drawingml/2006/main">
            <a:off x="1054100" y="3581301"/>
            <a:ext cx="2773172" cy="58023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85"/>
              </a:lnSpc>
              <a:buNone/>
            </a:pPr>
            <a:r>
              <a:rPr sz="1900" b="1">
                <a:solidFill>
                  <a:srgbClr val="33333A"/>
                </a:solidFill>
                <a:latin typeface="Arial"/>
                <a:ea typeface="Arial"/>
                <a:cs typeface="Arial"/>
              </a:rPr>
              <a:t>Reject bad token; no write</a:t>
            </a:r>
            <a:endParaRPr sz="1900"/>
          </a:p>
        </p:txBody>
      </p:sp>
      <p:sp>
        <p:nvSpPr>
          <p:cNvPr id="15" name="Text 10">
            <a:extLst xmlns:a="http://schemas.openxmlformats.org/drawingml/2006/main">
              <a:ext uri="{FF2B5EF4-FFF2-40B4-BE49-F238E27FC236}">
                <a16:creationId xmlns:a16="http://schemas.microsoft.com/office/drawing/2014/main" id="{AA744357-B33C-4345-8F0B-7F5C4B73ECAA}"/>
              </a:ext>
            </a:extLst>
          </p:cNvPr>
          <p:cNvSpPr>
            <a:spLocks xmlns:a="http://schemas.openxmlformats.org/drawingml/2006/main" noGrp="1"/>
          </p:cNvSpPr>
          <p:nvPr/>
        </p:nvSpPr>
        <p:spPr>
          <a:xfrm xmlns:a="http://schemas.openxmlformats.org/drawingml/2006/main">
            <a:off x="1054100" y="4263132"/>
            <a:ext cx="2773172"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6B6B73"/>
                </a:solidFill>
                <a:latin typeface="Arial"/>
                <a:ea typeface="Arial"/>
                <a:cs typeface="Arial"/>
              </a:rPr>
              <a:t>Missing or invalid token → 403, and no payment data changed</a:t>
            </a:r>
            <a:endParaRPr sz="1300"/>
          </a:p>
        </p:txBody>
      </p:sp>
      <p:sp>
        <p:nvSpPr>
          <p:cNvPr id="16" name="Shape 11">
            <a:extLst xmlns:a="http://schemas.openxmlformats.org/drawingml/2006/main">
              <a:ext uri="{FF2B5EF4-FFF2-40B4-BE49-F238E27FC236}">
                <a16:creationId xmlns:a16="http://schemas.microsoft.com/office/drawing/2014/main" id="{7211F165-94FD-4B0B-ACCD-677C0DD44401}"/>
              </a:ext>
            </a:extLst>
          </p:cNvPr>
          <p:cNvSpPr>
            <a:spLocks xmlns:a="http://schemas.openxmlformats.org/drawingml/2006/main" noGrp="1"/>
          </p:cNvSpPr>
          <p:nvPr/>
        </p:nvSpPr>
        <p:spPr>
          <a:xfrm xmlns:a="http://schemas.openxmlformats.org/drawingml/2006/main">
            <a:off x="4375150" y="2523430"/>
            <a:ext cx="3162300" cy="2527300"/>
          </a:xfrm>
          <a:prstGeom xmlns:a="http://schemas.openxmlformats.org/drawingml/2006/main" prst="roundRect">
            <a:avLst>
              <a:gd name="adj" fmla="val 4774"/>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Text 12">
            <a:extLst xmlns:a="http://schemas.openxmlformats.org/drawingml/2006/main">
              <a:ext uri="{FF2B5EF4-FFF2-40B4-BE49-F238E27FC236}">
                <a16:creationId xmlns:a16="http://schemas.microsoft.com/office/drawing/2014/main" id="{1C884FE5-7CA1-4C63-B763-26DD068EEFFE}"/>
              </a:ext>
            </a:extLst>
          </p:cNvPr>
          <p:cNvSpPr>
            <a:spLocks xmlns:a="http://schemas.openxmlformats.org/drawingml/2006/main" noGrp="1"/>
          </p:cNvSpPr>
          <p:nvPr/>
        </p:nvSpPr>
        <p:spPr>
          <a:xfrm xmlns:a="http://schemas.openxmlformats.org/drawingml/2006/main">
            <a:off x="4610100" y="2758380"/>
            <a:ext cx="2773172"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5466AE"/>
                </a:solidFill>
                <a:latin typeface="Arial"/>
                <a:ea typeface="Arial"/>
                <a:cs typeface="Arial"/>
              </a:rPr>
              <a:t>TEST 2 · FUNCTIONAL</a:t>
            </a:r>
            <a:endParaRPr sz="1200"/>
          </a:p>
        </p:txBody>
      </p:sp>
      <p:pic>
        <p:nvPicPr>
          <p:cNvPr id="18" name="Image 3">
            <a:extLst xmlns:a="http://schemas.openxmlformats.org/drawingml/2006/main">
              <a:ext uri="{FF2B5EF4-FFF2-40B4-BE49-F238E27FC236}">
                <a16:creationId xmlns:a16="http://schemas.microsoft.com/office/drawing/2014/main" id="{5601C608-71AA-4980-BD5A-DD3DFECEC7E1}"/>
              </a:ext>
            </a:extLst>
          </p:cNvPr>
          <p:cNvPicPr>
            <a:picLocks xmlns:a="http://schemas.openxmlformats.org/drawingml/2006/main" noChangeAspect="1"/>
          </p:cNvPicPr>
          <p:nvPr/>
        </p:nvPicPr>
        <p:blipFill>
          <a:blip xmlns:r="http://schemas.openxmlformats.org/officeDocument/2006/relationships" xmlns:a="http://schemas.openxmlformats.org/drawingml/2006/main" r:embed="R8542ad59b0814d43"/>
          <a:srcRect xmlns:a="http://schemas.openxmlformats.org/drawingml/2006/main" l="0" t="0" r="0" b="0"/>
          <a:stretch xmlns:a="http://schemas.openxmlformats.org/drawingml/2006/main"/>
        </p:blipFill>
        <p:spPr>
          <a:xfrm xmlns:a="http://schemas.openxmlformats.org/drawingml/2006/main">
            <a:off x="4610100" y="3098701"/>
            <a:ext cx="355600" cy="35560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3A38F457-D29B-414C-B9DE-55AB3CC64B95}"/>
              </a:ext>
            </a:extLst>
          </p:cNvPr>
          <p:cNvSpPr>
            <a:spLocks xmlns:a="http://schemas.openxmlformats.org/drawingml/2006/main" noGrp="1"/>
          </p:cNvSpPr>
          <p:nvPr/>
        </p:nvSpPr>
        <p:spPr>
          <a:xfrm xmlns:a="http://schemas.openxmlformats.org/drawingml/2006/main">
            <a:off x="4610100" y="3581301"/>
            <a:ext cx="2773172" cy="30281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85"/>
              </a:lnSpc>
              <a:buNone/>
            </a:pPr>
            <a:r>
              <a:rPr sz="1900" b="1">
                <a:solidFill>
                  <a:srgbClr val="33333A"/>
                </a:solidFill>
                <a:latin typeface="Arial"/>
                <a:ea typeface="Arial"/>
                <a:cs typeface="Arial"/>
              </a:rPr>
              <a:t>Valid payment works</a:t>
            </a:r>
            <a:endParaRPr sz="1900"/>
          </a:p>
        </p:txBody>
      </p:sp>
      <p:sp>
        <p:nvSpPr>
          <p:cNvPr id="20" name="Text 14">
            <a:extLst xmlns:a="http://schemas.openxmlformats.org/drawingml/2006/main">
              <a:ext uri="{FF2B5EF4-FFF2-40B4-BE49-F238E27FC236}">
                <a16:creationId xmlns:a16="http://schemas.microsoft.com/office/drawing/2014/main" id="{21EBBDFD-F68F-4FE3-A409-13693753C181}"/>
              </a:ext>
            </a:extLst>
          </p:cNvPr>
          <p:cNvSpPr>
            <a:spLocks xmlns:a="http://schemas.openxmlformats.org/drawingml/2006/main" noGrp="1"/>
          </p:cNvSpPr>
          <p:nvPr/>
        </p:nvSpPr>
        <p:spPr>
          <a:xfrm xmlns:a="http://schemas.openxmlformats.org/drawingml/2006/main">
            <a:off x="4610100" y="3985716"/>
            <a:ext cx="2773172"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6B6B73"/>
                </a:solidFill>
                <a:latin typeface="Arial"/>
                <a:ea typeface="Arial"/>
                <a:cs typeface="Arial"/>
              </a:rPr>
              <a:t>Legitimate path with a valid token still completes</a:t>
            </a:r>
            <a:endParaRPr sz="1300"/>
          </a:p>
        </p:txBody>
      </p:sp>
      <p:sp>
        <p:nvSpPr>
          <p:cNvPr id="21" name="Shape 15">
            <a:extLst xmlns:a="http://schemas.openxmlformats.org/drawingml/2006/main">
              <a:ext uri="{FF2B5EF4-FFF2-40B4-BE49-F238E27FC236}">
                <a16:creationId xmlns:a16="http://schemas.microsoft.com/office/drawing/2014/main" id="{48D4FD21-8E61-4D1F-B7C0-F78B564D7088}"/>
              </a:ext>
            </a:extLst>
          </p:cNvPr>
          <p:cNvSpPr>
            <a:spLocks xmlns:a="http://schemas.openxmlformats.org/drawingml/2006/main" noGrp="1"/>
          </p:cNvSpPr>
          <p:nvPr/>
        </p:nvSpPr>
        <p:spPr>
          <a:xfrm xmlns:a="http://schemas.openxmlformats.org/drawingml/2006/main">
            <a:off x="7931150" y="2523430"/>
            <a:ext cx="3441700" cy="2527300"/>
          </a:xfrm>
          <a:prstGeom xmlns:a="http://schemas.openxmlformats.org/drawingml/2006/main" prst="roundRect">
            <a:avLst>
              <a:gd name="adj" fmla="val 4774"/>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22" name="Text 16">
            <a:extLst xmlns:a="http://schemas.openxmlformats.org/drawingml/2006/main">
              <a:ext uri="{FF2B5EF4-FFF2-40B4-BE49-F238E27FC236}">
                <a16:creationId xmlns:a16="http://schemas.microsoft.com/office/drawing/2014/main" id="{CF710237-E5E0-4627-9021-D5DA093CF340}"/>
              </a:ext>
            </a:extLst>
          </p:cNvPr>
          <p:cNvSpPr>
            <a:spLocks xmlns:a="http://schemas.openxmlformats.org/drawingml/2006/main" noGrp="1"/>
          </p:cNvSpPr>
          <p:nvPr/>
        </p:nvSpPr>
        <p:spPr>
          <a:xfrm xmlns:a="http://schemas.openxmlformats.org/drawingml/2006/main">
            <a:off x="8166100" y="2758380"/>
            <a:ext cx="320040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F07133"/>
                </a:solidFill>
                <a:latin typeface="Arial"/>
                <a:ea typeface="Arial"/>
                <a:cs typeface="Arial"/>
              </a:rPr>
              <a:t>TEST 3 · OBJECT AUTHORIZATION</a:t>
            </a:r>
            <a:endParaRPr sz="1200"/>
          </a:p>
        </p:txBody>
      </p:sp>
      <p:pic>
        <p:nvPicPr>
          <p:cNvPr id="23" name="Image 4">
            <a:extLst xmlns:a="http://schemas.openxmlformats.org/drawingml/2006/main">
              <a:ext uri="{FF2B5EF4-FFF2-40B4-BE49-F238E27FC236}">
                <a16:creationId xmlns:a16="http://schemas.microsoft.com/office/drawing/2014/main" id="{983F57B9-CD94-4512-923C-D7AB8B6E371B}"/>
              </a:ext>
            </a:extLst>
          </p:cNvPr>
          <p:cNvPicPr>
            <a:picLocks xmlns:a="http://schemas.openxmlformats.org/drawingml/2006/main" noChangeAspect="1"/>
          </p:cNvPicPr>
          <p:nvPr/>
        </p:nvPicPr>
        <p:blipFill>
          <a:blip xmlns:r="http://schemas.openxmlformats.org/officeDocument/2006/relationships" xmlns:a="http://schemas.openxmlformats.org/drawingml/2006/main" r:embed="Rbb21b9470de04222"/>
          <a:srcRect xmlns:a="http://schemas.openxmlformats.org/drawingml/2006/main" l="0" t="0" r="0" b="0"/>
          <a:stretch xmlns:a="http://schemas.openxmlformats.org/drawingml/2006/main"/>
        </p:blipFill>
        <p:spPr>
          <a:xfrm xmlns:a="http://schemas.openxmlformats.org/drawingml/2006/main">
            <a:off x="8166100" y="3098701"/>
            <a:ext cx="355600" cy="355600"/>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BEEE27C0-7404-4719-83C0-37A5C8095894}"/>
              </a:ext>
            </a:extLst>
          </p:cNvPr>
          <p:cNvSpPr>
            <a:spLocks xmlns:a="http://schemas.openxmlformats.org/drawingml/2006/main" noGrp="1"/>
          </p:cNvSpPr>
          <p:nvPr/>
        </p:nvSpPr>
        <p:spPr>
          <a:xfrm xmlns:a="http://schemas.openxmlformats.org/drawingml/2006/main">
            <a:off x="8166100" y="3581301"/>
            <a:ext cx="3060954" cy="30281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85"/>
              </a:lnSpc>
              <a:buNone/>
            </a:pPr>
            <a:r>
              <a:rPr sz="1900" b="1">
                <a:solidFill>
                  <a:srgbClr val="33333A"/>
                </a:solidFill>
                <a:latin typeface="Arial"/>
                <a:ea typeface="Arial"/>
                <a:cs typeface="Arial"/>
              </a:rPr>
              <a:t>Right user, right record</a:t>
            </a:r>
            <a:endParaRPr sz="1900"/>
          </a:p>
        </p:txBody>
      </p:sp>
      <p:sp>
        <p:nvSpPr>
          <p:cNvPr id="25" name="Text 18">
            <a:extLst xmlns:a="http://schemas.openxmlformats.org/drawingml/2006/main">
              <a:ext uri="{FF2B5EF4-FFF2-40B4-BE49-F238E27FC236}">
                <a16:creationId xmlns:a16="http://schemas.microsoft.com/office/drawing/2014/main" id="{B427382D-DDFD-46E1-95C5-42A642EC36EF}"/>
              </a:ext>
            </a:extLst>
          </p:cNvPr>
          <p:cNvSpPr>
            <a:spLocks xmlns:a="http://schemas.openxmlformats.org/drawingml/2006/main" noGrp="1"/>
          </p:cNvSpPr>
          <p:nvPr/>
        </p:nvSpPr>
        <p:spPr>
          <a:xfrm xmlns:a="http://schemas.openxmlformats.org/drawingml/2006/main">
            <a:off x="8166100" y="3985716"/>
            <a:ext cx="3060954" cy="7186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6B6B73"/>
                </a:solidFill>
                <a:latin typeface="Arial"/>
                <a:ea typeface="Arial"/>
                <a:cs typeface="Arial"/>
              </a:rPr>
              <a:t>A separate rule the owner must state; a valid-token cross-patient test is a candidate, not a finding</a:t>
            </a:r>
            <a:endParaRPr sz="1300"/>
          </a:p>
        </p:txBody>
      </p:sp>
      <p:sp>
        <p:nvSpPr>
          <p:cNvPr id="27" name="Text 20">
            <a:extLst xmlns:a="http://schemas.openxmlformats.org/drawingml/2006/main">
              <a:ext uri="{FF2B5EF4-FFF2-40B4-BE49-F238E27FC236}">
                <a16:creationId xmlns:a16="http://schemas.microsoft.com/office/drawing/2014/main" id="{04719077-E85E-4FDA-96D0-5D86035F4BE6}"/>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2000" name="Evidence subtitle">
            <a:extLst xmlns:a="http://schemas.openxmlformats.org/drawingml/2006/main">
              <a:ext uri="{FF2B5EF4-FFF2-40B4-BE49-F238E27FC236}">
                <a16:creationId xmlns:a16="http://schemas.microsoft.com/office/drawing/2014/main" id="{9617E2FA-EE31-4223-84A1-1A4B1488857E}"/>
              </a:ext>
            </a:extLst>
          </p:cNvPr>
          <p:cNvSpPr>
            <a:spLocks xmlns:a="http://schemas.openxmlformats.org/drawingml/2006/main" noGrp="1"/>
          </p:cNvSpPr>
          <p:nvPr/>
        </p:nvSpPr>
        <p:spPr>
          <a:xfrm xmlns:a="http://schemas.openxmlformats.org/drawingml/2006/main">
            <a:off x="812902" y="1399032"/>
            <a:ext cx="10561320" cy="32918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00">
                <a:solidFill>
                  <a:srgbClr val="6B6B73"/>
                </a:solidFill>
              </a:defRPr>
            </a:defPPr>
            <a:lvl1pPr>
              <a:buNone/>
              <a:defRPr sz="1600">
                <a:solidFill>
                  <a:srgbClr val="6B6B73"/>
                </a:solidFill>
              </a:defRPr>
            </a:lvl1pPr>
            <a:lvl2pPr>
              <a:buNone/>
              <a:defRPr sz="1600">
                <a:solidFill>
                  <a:srgbClr val="6B6B73"/>
                </a:solidFill>
              </a:defRPr>
            </a:lvl2pPr>
            <a:lvl3pPr>
              <a:buNone/>
              <a:defRPr sz="1600">
                <a:solidFill>
                  <a:srgbClr val="6B6B73"/>
                </a:solidFill>
              </a:defRPr>
            </a:lvl3pPr>
            <a:lvl4pPr>
              <a:buNone/>
              <a:defRPr sz="1600">
                <a:solidFill>
                  <a:srgbClr val="6B6B73"/>
                </a:solidFill>
              </a:defRPr>
            </a:lvl4pPr>
            <a:lvl5pPr>
              <a:buNone/>
              <a:defRPr sz="1600">
                <a:solidFill>
                  <a:srgbClr val="6B6B73"/>
                </a:solidFill>
              </a:defRPr>
            </a:lvl5pPr>
            <a:lvl6pPr>
              <a:buNone/>
              <a:defRPr sz="1600">
                <a:solidFill>
                  <a:srgbClr val="6B6B73"/>
                </a:solidFill>
              </a:defRPr>
            </a:lvl6pPr>
            <a:lvl7pPr>
              <a:buNone/>
              <a:defRPr sz="1600">
                <a:solidFill>
                  <a:srgbClr val="6B6B73"/>
                </a:solidFill>
              </a:defRPr>
            </a:lvl7pPr>
            <a:lvl8pPr>
              <a:buNone/>
              <a:defRPr sz="1600">
                <a:solidFill>
                  <a:srgbClr val="6B6B73"/>
                </a:solidFill>
              </a:defRPr>
            </a:lvl8pPr>
            <a:lvl9pPr>
              <a:buNone/>
              <a:defRPr sz="1600">
                <a:solidFill>
                  <a:srgbClr val="6B6B73"/>
                </a:solidFill>
              </a:defRPr>
            </a:lvl9pPr>
          </a:lstStyle>
          <a:p xmlns:a="http://schemas.openxmlformats.org/drawingml/2006/main">
            <a:pPr>
              <a:buNone/>
              <a:defRPr sz="1600">
                <a:solidFill>
                  <a:srgbClr val="6B6B73"/>
                </a:solidFill>
              </a:defRPr>
            </a:pPr>
            <a:r>
              <a:rPr sz="1600">
                <a:solidFill>
                  <a:srgbClr val="6B6B73"/>
                </a:solidFill>
                <a:latin typeface="Arial"/>
                <a:ea typeface="Arial"/>
                <a:cs typeface="Arial"/>
              </a:rPr>
              <a:t>Proposed tests for PR #11958. Not run.</a:t>
            </a:r>
          </a:p>
        </p:txBody>
      </p:sp>
    </p:spTree>
    <p:extLst>
      <p:ext uri="{BB962C8B-B14F-4D97-AF65-F5344CB8AC3E}">
        <p14:creationId xmlns:p14="http://schemas.microsoft.com/office/powerpoint/2010/main" val="839147865"/>
      </p:ext>
    </p:extLst>
  </p:cSld>
</p:sld>
</file>

<file path=ppt/slides/slide40.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0D288DBA-742F-43AA-AC8F-45DBD38089A1}"/>
              </a:ext>
            </a:extLst>
          </p:cNvPr>
          <p:cNvPicPr>
            <a:picLocks xmlns:a="http://schemas.openxmlformats.org/drawingml/2006/main" noChangeAspect="1"/>
          </p:cNvPicPr>
          <p:nvPr/>
        </p:nvPicPr>
        <p:blipFill>
          <a:blip xmlns:r="http://schemas.openxmlformats.org/officeDocument/2006/relationships" xmlns:a="http://schemas.openxmlformats.org/drawingml/2006/main" r:embed="R6a9d98edd8684fe5"/>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D2D08F2B-A21F-4FF1-BB16-C0DDC3A321A1}"/>
              </a:ext>
            </a:extLst>
          </p:cNvPr>
          <p:cNvPicPr>
            <a:picLocks xmlns:a="http://schemas.openxmlformats.org/drawingml/2006/main" noChangeAspect="1"/>
          </p:cNvPicPr>
          <p:nvPr/>
        </p:nvPicPr>
        <p:blipFill>
          <a:blip xmlns:r="http://schemas.openxmlformats.org/officeDocument/2006/relationships" xmlns:a="http://schemas.openxmlformats.org/drawingml/2006/main" r:embed="R5a5b9210178144ab"/>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9E4AA6AA-87D4-46C7-BFDE-AEE710811A4D}"/>
              </a:ext>
            </a:extLst>
          </p:cNvPr>
          <p:cNvSpPr>
            <a:spLocks xmlns:a="http://schemas.openxmlformats.org/drawingml/2006/main" noGrp="1"/>
          </p:cNvSpPr>
          <p:nvPr>
            <p:ph type="title" idx="0"/>
          </p:nvPr>
        </p:nvSpPr>
        <p:spPr>
          <a:xfrm xmlns:a="http://schemas.openxmlformats.org/drawingml/2006/main">
            <a:off x="812902" y="812902"/>
            <a:ext cx="832104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600"/>
              </a:lnSpc>
              <a:spcBef>
                <a:spcPts val="0"/>
              </a:spcBef>
              <a:buNone/>
            </a:pPr>
            <a:r>
              <a:rPr sz="3000" b="1">
                <a:solidFill>
                  <a:srgbClr val="4C8835"/>
                </a:solidFill>
                <a:latin typeface="Arial"/>
                <a:ea typeface="Arial"/>
                <a:cs typeface="Arial"/>
              </a:rPr>
              <a:t>Verify evidence before authorizing merge</a:t>
            </a:r>
            <a:endParaRPr sz="3000"/>
          </a:p>
        </p:txBody>
      </p:sp>
      <p:sp>
        <p:nvSpPr>
          <p:cNvPr id="6" name="Text 2">
            <a:extLst xmlns:a="http://schemas.openxmlformats.org/drawingml/2006/main">
              <a:ext uri="{FF2B5EF4-FFF2-40B4-BE49-F238E27FC236}">
                <a16:creationId xmlns:a16="http://schemas.microsoft.com/office/drawing/2014/main" id="{EC464AE7-C8E1-4653-87A7-EEBF4AAC984C}"/>
              </a:ext>
            </a:extLst>
          </p:cNvPr>
          <p:cNvSpPr>
            <a:spLocks xmlns:a="http://schemas.openxmlformats.org/drawingml/2006/main" noGrp="1"/>
          </p:cNvSpPr>
          <p:nvPr/>
        </p:nvSpPr>
        <p:spPr>
          <a:xfrm xmlns:a="http://schemas.openxmlformats.org/drawingml/2006/main">
            <a:off x="2489911" y="1488380"/>
            <a:ext cx="3657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2760"/>
              </a:lnSpc>
              <a:buNone/>
            </a:pPr>
            <a:r>
              <a:rPr sz="1200" b="1" spc="100">
                <a:solidFill>
                  <a:srgbClr val="6B6B73"/>
                </a:solidFill>
                <a:latin typeface="Arial"/>
                <a:ea typeface="Arial"/>
                <a:cs typeface="Arial"/>
              </a:rPr>
              <a:t>PR WORKERS · untrusted inputs</a:t>
            </a:r>
            <a:endParaRPr sz="1200"/>
          </a:p>
        </p:txBody>
      </p:sp>
      <p:sp>
        <p:nvSpPr>
          <p:cNvPr id="7" name="Text 3">
            <a:extLst xmlns:a="http://schemas.openxmlformats.org/drawingml/2006/main">
              <a:ext uri="{FF2B5EF4-FFF2-40B4-BE49-F238E27FC236}">
                <a16:creationId xmlns:a16="http://schemas.microsoft.com/office/drawing/2014/main" id="{CF8CBEC3-5CBA-4E57-89B3-0B8848303B4D}"/>
              </a:ext>
            </a:extLst>
          </p:cNvPr>
          <p:cNvSpPr>
            <a:spLocks xmlns:a="http://schemas.openxmlformats.org/drawingml/2006/main" noGrp="1"/>
          </p:cNvSpPr>
          <p:nvPr/>
        </p:nvSpPr>
        <p:spPr>
          <a:xfrm xmlns:a="http://schemas.openxmlformats.org/drawingml/2006/main">
            <a:off x="6069787" y="1572768"/>
            <a:ext cx="100584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1320"/>
              </a:lnSpc>
              <a:buNone/>
            </a:pPr>
            <a:r>
              <a:rPr sz="1000" b="1" spc="50">
                <a:solidFill>
                  <a:srgbClr val="F07133"/>
                </a:solidFill>
                <a:latin typeface="Arial"/>
                <a:ea typeface="Arial"/>
                <a:cs typeface="Arial"/>
              </a:rPr>
              <a:t>TRUST</a:t>
            </a:r>
            <a:endParaRPr sz="1000"/>
          </a:p>
          <a:p xmlns:a="http://schemas.openxmlformats.org/drawingml/2006/main">
            <a:pPr marL="0" indent="0" algn="ctr">
              <a:lnSpc>
                <a:spcPts val="1320"/>
              </a:lnSpc>
              <a:buNone/>
            </a:pPr>
            <a:r>
              <a:rPr sz="1000" b="1" spc="50">
                <a:solidFill>
                  <a:srgbClr val="F07133"/>
                </a:solidFill>
                <a:latin typeface="Arial"/>
                <a:ea typeface="Arial"/>
                <a:cs typeface="Arial"/>
              </a:rPr>
              <a:t>BOUNDARY</a:t>
            </a:r>
            <a:endParaRPr sz="1000"/>
          </a:p>
        </p:txBody>
      </p:sp>
      <p:sp>
        <p:nvSpPr>
          <p:cNvPr id="8" name="Text 4">
            <a:extLst xmlns:a="http://schemas.openxmlformats.org/drawingml/2006/main">
              <a:ext uri="{FF2B5EF4-FFF2-40B4-BE49-F238E27FC236}">
                <a16:creationId xmlns:a16="http://schemas.microsoft.com/office/drawing/2014/main" id="{AF36BC5E-8F0E-4A01-ABF9-F55CBBA4749F}"/>
              </a:ext>
            </a:extLst>
          </p:cNvPr>
          <p:cNvSpPr>
            <a:spLocks xmlns:a="http://schemas.openxmlformats.org/drawingml/2006/main" noGrp="1"/>
          </p:cNvSpPr>
          <p:nvPr/>
        </p:nvSpPr>
        <p:spPr>
          <a:xfrm xmlns:a="http://schemas.openxmlformats.org/drawingml/2006/main">
            <a:off x="7417613" y="1488380"/>
            <a:ext cx="3657600" cy="381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ctr">
              <a:lnSpc>
                <a:spcPts val="2760"/>
              </a:lnSpc>
              <a:buNone/>
            </a:pPr>
            <a:r>
              <a:rPr sz="1200" b="1" spc="100">
                <a:solidFill>
                  <a:srgbClr val="6B6B73"/>
                </a:solidFill>
                <a:latin typeface="Arial"/>
                <a:ea typeface="Arial"/>
                <a:cs typeface="Arial"/>
              </a:rPr>
              <a:t>VERIFIER · check publisher</a:t>
            </a:r>
            <a:endParaRPr sz="1200"/>
          </a:p>
        </p:txBody>
      </p:sp>
      <p:sp>
        <p:nvSpPr>
          <p:cNvPr id="9" name="Text 5">
            <a:extLst xmlns:a="http://schemas.openxmlformats.org/drawingml/2006/main">
              <a:ext uri="{FF2B5EF4-FFF2-40B4-BE49-F238E27FC236}">
                <a16:creationId xmlns:a16="http://schemas.microsoft.com/office/drawing/2014/main" id="{C1CEABFD-EED3-4F5C-AF7D-982E47E3203E}"/>
              </a:ext>
            </a:extLst>
          </p:cNvPr>
          <p:cNvSpPr>
            <a:spLocks xmlns:a="http://schemas.openxmlformats.org/drawingml/2006/main" noGrp="1"/>
          </p:cNvSpPr>
          <p:nvPr/>
        </p:nvSpPr>
        <p:spPr>
          <a:xfrm xmlns:a="http://schemas.openxmlformats.org/drawingml/2006/main">
            <a:off x="812800" y="1945580"/>
            <a:ext cx="1270000" cy="1079500"/>
          </a:xfrm>
          <a:prstGeom xmlns:a="http://schemas.openxmlformats.org/drawingml/2006/main" prst="roundRect">
            <a:avLst>
              <a:gd name="adj" fmla="val 8235"/>
            </a:avLst>
          </a:prstGeom>
          <a:solidFill xmlns:a="http://schemas.openxmlformats.org/drawingml/2006/main">
            <a:srgbClr val="448334"/>
          </a:solidFill>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ts val="2100"/>
              </a:lnSpc>
              <a:buNone/>
            </a:pPr>
            <a:r>
              <a:rPr sz="1500" b="1" spc="100">
                <a:solidFill>
                  <a:srgbClr val="FFFFFF"/>
                </a:solidFill>
                <a:latin typeface="Arial"/>
                <a:ea typeface="Arial"/>
                <a:cs typeface="Arial"/>
              </a:rPr>
              <a:t>SCOPE</a:t>
            </a:r>
            <a:endParaRPr sz="1500"/>
          </a:p>
        </p:txBody>
      </p:sp>
      <p:sp>
        <p:nvSpPr>
          <p:cNvPr id="10" name="Shape 6">
            <a:extLst xmlns:a="http://schemas.openxmlformats.org/drawingml/2006/main">
              <a:ext uri="{FF2B5EF4-FFF2-40B4-BE49-F238E27FC236}">
                <a16:creationId xmlns:a16="http://schemas.microsoft.com/office/drawing/2014/main" id="{C99E932B-A546-473F-A462-4666C8B1D524}"/>
              </a:ext>
            </a:extLst>
          </p:cNvPr>
          <p:cNvSpPr>
            <a:spLocks xmlns:a="http://schemas.openxmlformats.org/drawingml/2006/main" noGrp="1"/>
          </p:cNvSpPr>
          <p:nvPr/>
        </p:nvSpPr>
        <p:spPr>
          <a:xfrm xmlns:a="http://schemas.openxmlformats.org/drawingml/2006/main">
            <a:off x="2190750" y="1951930"/>
            <a:ext cx="4254500" cy="1066800"/>
          </a:xfrm>
          <a:prstGeom xmlns:a="http://schemas.openxmlformats.org/drawingml/2006/main" prst="roundRect">
            <a:avLst>
              <a:gd name="adj" fmla="val 7738"/>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Text 7">
            <a:extLst xmlns:a="http://schemas.openxmlformats.org/drawingml/2006/main">
              <a:ext uri="{FF2B5EF4-FFF2-40B4-BE49-F238E27FC236}">
                <a16:creationId xmlns:a16="http://schemas.microsoft.com/office/drawing/2014/main" id="{9326813F-D376-4B70-B574-712F5B28A32A}"/>
              </a:ext>
            </a:extLst>
          </p:cNvPr>
          <p:cNvSpPr>
            <a:spLocks xmlns:a="http://schemas.openxmlformats.org/drawingml/2006/main" noGrp="1"/>
          </p:cNvSpPr>
          <p:nvPr/>
        </p:nvSpPr>
        <p:spPr>
          <a:xfrm xmlns:a="http://schemas.openxmlformats.org/drawingml/2006/main">
            <a:off x="2374900" y="2147590"/>
            <a:ext cx="4002786"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33333A"/>
                </a:solidFill>
                <a:latin typeface="Arial"/>
                <a:ea typeface="Arial"/>
                <a:cs typeface="Arial"/>
              </a:rPr>
              <a:t>OSTF links in the source tree</a:t>
            </a:r>
            <a:endParaRPr sz="1500"/>
          </a:p>
        </p:txBody>
      </p:sp>
      <p:sp>
        <p:nvSpPr>
          <p:cNvPr id="12" name="Text 8">
            <a:extLst xmlns:a="http://schemas.openxmlformats.org/drawingml/2006/main">
              <a:ext uri="{FF2B5EF4-FFF2-40B4-BE49-F238E27FC236}">
                <a16:creationId xmlns:a16="http://schemas.microsoft.com/office/drawing/2014/main" id="{520094C5-FE2D-49A4-829B-2C7EE89FC97A}"/>
              </a:ext>
            </a:extLst>
          </p:cNvPr>
          <p:cNvSpPr>
            <a:spLocks xmlns:a="http://schemas.openxmlformats.org/drawingml/2006/main" noGrp="1"/>
          </p:cNvSpPr>
          <p:nvPr/>
        </p:nvSpPr>
        <p:spPr>
          <a:xfrm xmlns:a="http://schemas.openxmlformats.org/drawingml/2006/main">
            <a:off x="2374900" y="2426990"/>
            <a:ext cx="4002786" cy="42148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6B73"/>
                </a:solidFill>
                <a:latin typeface="Arial"/>
                <a:ea typeface="Arial"/>
                <a:cs typeface="Arial"/>
              </a:rPr>
              <a:t>Requirement, code and test links, checked for changes; impact analysis stays separate</a:t>
            </a:r>
            <a:endParaRPr sz="1200"/>
          </a:p>
        </p:txBody>
      </p:sp>
      <p:sp>
        <p:nvSpPr>
          <p:cNvPr id="13" name="Shape 9">
            <a:extLst xmlns:a="http://schemas.openxmlformats.org/drawingml/2006/main">
              <a:ext uri="{FF2B5EF4-FFF2-40B4-BE49-F238E27FC236}">
                <a16:creationId xmlns:a16="http://schemas.microsoft.com/office/drawing/2014/main" id="{31F029BC-E06A-4640-89A1-774C2DE1DB80}"/>
              </a:ext>
            </a:extLst>
          </p:cNvPr>
          <p:cNvSpPr>
            <a:spLocks xmlns:a="http://schemas.openxmlformats.org/drawingml/2006/main" noGrp="1"/>
          </p:cNvSpPr>
          <p:nvPr/>
        </p:nvSpPr>
        <p:spPr>
          <a:xfrm xmlns:a="http://schemas.openxmlformats.org/drawingml/2006/main">
            <a:off x="6572250" y="1945580"/>
            <a:ext cx="0" cy="1079500"/>
          </a:xfrm>
          <a:prstGeom xmlns:a="http://schemas.openxmlformats.org/drawingml/2006/main" prst="line">
            <a:avLst/>
          </a:prstGeom>
          <a:noFill xmlns:a="http://schemas.openxmlformats.org/drawingml/2006/main"/>
          <a:ln xmlns:a="http://schemas.openxmlformats.org/drawingml/2006/main" w="38100">
            <a:solidFill>
              <a:srgbClr val="F07133"/>
            </a:solidFill>
            <a:prstDash val="dash"/>
          </a:ln>
        </p:spPr>
        <p:txBody>
          <a:bodyPr xmlns:a="http://schemas.openxmlformats.org/drawingml/2006/main"/>
          <a:lstStyle xmlns:a="http://schemas.openxmlformats.org/drawingml/2006/main"/>
          <a:p xmlns:a="http://schemas.openxmlformats.org/drawingml/2006/main">
            <a:endParaRPr/>
          </a:p>
        </p:txBody>
      </p:sp>
      <p:sp>
        <p:nvSpPr>
          <p:cNvPr id="14" name="Shape 10">
            <a:extLst xmlns:a="http://schemas.openxmlformats.org/drawingml/2006/main">
              <a:ext uri="{FF2B5EF4-FFF2-40B4-BE49-F238E27FC236}">
                <a16:creationId xmlns:a16="http://schemas.microsoft.com/office/drawing/2014/main" id="{D9D4960E-6265-4012-8413-5CF21DA8964F}"/>
              </a:ext>
            </a:extLst>
          </p:cNvPr>
          <p:cNvSpPr>
            <a:spLocks xmlns:a="http://schemas.openxmlformats.org/drawingml/2006/main" noGrp="1"/>
          </p:cNvSpPr>
          <p:nvPr/>
        </p:nvSpPr>
        <p:spPr>
          <a:xfrm xmlns:a="http://schemas.openxmlformats.org/drawingml/2006/main">
            <a:off x="7118350" y="1951930"/>
            <a:ext cx="4254500" cy="1066800"/>
          </a:xfrm>
          <a:prstGeom xmlns:a="http://schemas.openxmlformats.org/drawingml/2006/main" prst="roundRect">
            <a:avLst>
              <a:gd name="adj" fmla="val 7738"/>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Text 11">
            <a:extLst xmlns:a="http://schemas.openxmlformats.org/drawingml/2006/main">
              <a:ext uri="{FF2B5EF4-FFF2-40B4-BE49-F238E27FC236}">
                <a16:creationId xmlns:a16="http://schemas.microsoft.com/office/drawing/2014/main" id="{9022C5F1-A2E5-4F1B-84F4-0157873574CB}"/>
              </a:ext>
            </a:extLst>
          </p:cNvPr>
          <p:cNvSpPr>
            <a:spLocks xmlns:a="http://schemas.openxmlformats.org/drawingml/2006/main" noGrp="1"/>
          </p:cNvSpPr>
          <p:nvPr/>
        </p:nvSpPr>
        <p:spPr>
          <a:xfrm xmlns:a="http://schemas.openxmlformats.org/drawingml/2006/main">
            <a:off x="7302500" y="2246610"/>
            <a:ext cx="4002786"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33333A"/>
                </a:solidFill>
                <a:latin typeface="Arial"/>
                <a:ea typeface="Arial"/>
                <a:cs typeface="Arial"/>
              </a:rPr>
              <a:t>Payment control owner approves intent</a:t>
            </a:r>
            <a:endParaRPr sz="1500"/>
          </a:p>
        </p:txBody>
      </p:sp>
      <p:sp>
        <p:nvSpPr>
          <p:cNvPr id="16" name="Text 12">
            <a:extLst xmlns:a="http://schemas.openxmlformats.org/drawingml/2006/main">
              <a:ext uri="{FF2B5EF4-FFF2-40B4-BE49-F238E27FC236}">
                <a16:creationId xmlns:a16="http://schemas.microsoft.com/office/drawing/2014/main" id="{A053ACF8-C662-444F-BF3F-F746C7BB390D}"/>
              </a:ext>
            </a:extLst>
          </p:cNvPr>
          <p:cNvSpPr>
            <a:spLocks xmlns:a="http://schemas.openxmlformats.org/drawingml/2006/main" noGrp="1"/>
          </p:cNvSpPr>
          <p:nvPr/>
        </p:nvSpPr>
        <p:spPr>
          <a:xfrm xmlns:a="http://schemas.openxmlformats.org/drawingml/2006/main">
            <a:off x="7302500" y="2526010"/>
            <a:ext cx="4002786" cy="2234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6B73"/>
                </a:solidFill>
                <a:latin typeface="Arial"/>
                <a:ea typeface="Arial"/>
                <a:cs typeface="Arial"/>
              </a:rPr>
              <a:t>Intended behavior and trace links signed off</a:t>
            </a:r>
            <a:endParaRPr sz="1200"/>
          </a:p>
        </p:txBody>
      </p:sp>
      <p:sp>
        <p:nvSpPr>
          <p:cNvPr id="17" name="Text 13">
            <a:extLst xmlns:a="http://schemas.openxmlformats.org/drawingml/2006/main">
              <a:ext uri="{FF2B5EF4-FFF2-40B4-BE49-F238E27FC236}">
                <a16:creationId xmlns:a16="http://schemas.microsoft.com/office/drawing/2014/main" id="{15DF923F-5E58-4751-96A5-AAA369ACF6D9}"/>
              </a:ext>
            </a:extLst>
          </p:cNvPr>
          <p:cNvSpPr>
            <a:spLocks xmlns:a="http://schemas.openxmlformats.org/drawingml/2006/main" noGrp="1"/>
          </p:cNvSpPr>
          <p:nvPr/>
        </p:nvSpPr>
        <p:spPr>
          <a:xfrm xmlns:a="http://schemas.openxmlformats.org/drawingml/2006/main">
            <a:off x="812800" y="3126680"/>
            <a:ext cx="1270000" cy="1079500"/>
          </a:xfrm>
          <a:prstGeom xmlns:a="http://schemas.openxmlformats.org/drawingml/2006/main" prst="roundRect">
            <a:avLst>
              <a:gd name="adj" fmla="val 8235"/>
            </a:avLst>
          </a:prstGeom>
          <a:solidFill xmlns:a="http://schemas.openxmlformats.org/drawingml/2006/main">
            <a:srgbClr val="5466AE"/>
          </a:solidFill>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ts val="2100"/>
              </a:lnSpc>
              <a:buNone/>
            </a:pPr>
            <a:r>
              <a:rPr sz="1500" b="1" spc="100">
                <a:solidFill>
                  <a:srgbClr val="FFFFFF"/>
                </a:solidFill>
                <a:latin typeface="Arial"/>
                <a:ea typeface="Arial"/>
                <a:cs typeface="Arial"/>
              </a:rPr>
              <a:t>EVIDENCE</a:t>
            </a:r>
            <a:endParaRPr sz="1500"/>
          </a:p>
        </p:txBody>
      </p:sp>
      <p:sp>
        <p:nvSpPr>
          <p:cNvPr id="18" name="Shape 14">
            <a:extLst xmlns:a="http://schemas.openxmlformats.org/drawingml/2006/main">
              <a:ext uri="{FF2B5EF4-FFF2-40B4-BE49-F238E27FC236}">
                <a16:creationId xmlns:a16="http://schemas.microsoft.com/office/drawing/2014/main" id="{6358DE66-1C67-47E5-9A33-EEA184353B46}"/>
              </a:ext>
            </a:extLst>
          </p:cNvPr>
          <p:cNvSpPr>
            <a:spLocks xmlns:a="http://schemas.openxmlformats.org/drawingml/2006/main" noGrp="1"/>
          </p:cNvSpPr>
          <p:nvPr/>
        </p:nvSpPr>
        <p:spPr>
          <a:xfrm xmlns:a="http://schemas.openxmlformats.org/drawingml/2006/main">
            <a:off x="2190750" y="3133030"/>
            <a:ext cx="4254500" cy="1066800"/>
          </a:xfrm>
          <a:prstGeom xmlns:a="http://schemas.openxmlformats.org/drawingml/2006/main" prst="roundRect">
            <a:avLst>
              <a:gd name="adj" fmla="val 7738"/>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Text 15">
            <a:extLst xmlns:a="http://schemas.openxmlformats.org/drawingml/2006/main">
              <a:ext uri="{FF2B5EF4-FFF2-40B4-BE49-F238E27FC236}">
                <a16:creationId xmlns:a16="http://schemas.microsoft.com/office/drawing/2014/main" id="{52CA3186-5EAE-4882-BEEC-9FEC6E6A3FF0}"/>
              </a:ext>
            </a:extLst>
          </p:cNvPr>
          <p:cNvSpPr>
            <a:spLocks xmlns:a="http://schemas.openxmlformats.org/drawingml/2006/main" noGrp="1"/>
          </p:cNvSpPr>
          <p:nvPr/>
        </p:nvSpPr>
        <p:spPr>
          <a:xfrm xmlns:a="http://schemas.openxmlformats.org/drawingml/2006/main">
            <a:off x="2374900" y="3313410"/>
            <a:ext cx="4002786"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33333A"/>
                </a:solidFill>
                <a:latin typeface="Arial"/>
                <a:ea typeface="Arial"/>
                <a:cs typeface="Arial"/>
              </a:rPr>
              <a:t>Controlled tests · scans · isolated AI reviewer</a:t>
            </a:r>
            <a:endParaRPr sz="1500"/>
          </a:p>
        </p:txBody>
      </p:sp>
      <p:sp>
        <p:nvSpPr>
          <p:cNvPr id="20" name="Text 16">
            <a:extLst xmlns:a="http://schemas.openxmlformats.org/drawingml/2006/main">
              <a:ext uri="{FF2B5EF4-FFF2-40B4-BE49-F238E27FC236}">
                <a16:creationId xmlns:a16="http://schemas.microsoft.com/office/drawing/2014/main" id="{723C5359-0A78-4A87-9E31-B888D7596E1A}"/>
              </a:ext>
            </a:extLst>
          </p:cNvPr>
          <p:cNvSpPr>
            <a:spLocks xmlns:a="http://schemas.openxmlformats.org/drawingml/2006/main" noGrp="1"/>
          </p:cNvSpPr>
          <p:nvPr/>
        </p:nvSpPr>
        <p:spPr>
          <a:xfrm xmlns:a="http://schemas.openxmlformats.org/drawingml/2006/main">
            <a:off x="2374900" y="3821410"/>
            <a:ext cx="4002786" cy="2234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6B73"/>
                </a:solidFill>
                <a:latin typeface="Arial"/>
                <a:ea typeface="Arial"/>
                <a:cs typeface="Arial"/>
              </a:rPr>
              <a:t>Produce findings and results, never approval</a:t>
            </a:r>
            <a:endParaRPr sz="1200"/>
          </a:p>
        </p:txBody>
      </p:sp>
      <p:sp>
        <p:nvSpPr>
          <p:cNvPr id="21" name="Shape 17">
            <a:extLst xmlns:a="http://schemas.openxmlformats.org/drawingml/2006/main">
              <a:ext uri="{FF2B5EF4-FFF2-40B4-BE49-F238E27FC236}">
                <a16:creationId xmlns:a16="http://schemas.microsoft.com/office/drawing/2014/main" id="{0BA1AD36-8408-41D9-9FDA-FF08AC3B6E5E}"/>
              </a:ext>
            </a:extLst>
          </p:cNvPr>
          <p:cNvSpPr>
            <a:spLocks xmlns:a="http://schemas.openxmlformats.org/drawingml/2006/main" noGrp="1"/>
          </p:cNvSpPr>
          <p:nvPr/>
        </p:nvSpPr>
        <p:spPr>
          <a:xfrm xmlns:a="http://schemas.openxmlformats.org/drawingml/2006/main">
            <a:off x="6572250" y="3126680"/>
            <a:ext cx="0" cy="1079500"/>
          </a:xfrm>
          <a:prstGeom xmlns:a="http://schemas.openxmlformats.org/drawingml/2006/main" prst="line">
            <a:avLst/>
          </a:prstGeom>
          <a:noFill xmlns:a="http://schemas.openxmlformats.org/drawingml/2006/main"/>
          <a:ln xmlns:a="http://schemas.openxmlformats.org/drawingml/2006/main" w="38100">
            <a:solidFill>
              <a:srgbClr val="F07133"/>
            </a:solidFill>
            <a:prstDash val="dash"/>
          </a:ln>
        </p:spPr>
        <p:txBody>
          <a:bodyPr xmlns:a="http://schemas.openxmlformats.org/drawingml/2006/main"/>
          <a:lstStyle xmlns:a="http://schemas.openxmlformats.org/drawingml/2006/main"/>
          <a:p xmlns:a="http://schemas.openxmlformats.org/drawingml/2006/main">
            <a:endParaRPr/>
          </a:p>
        </p:txBody>
      </p:sp>
      <p:sp>
        <p:nvSpPr>
          <p:cNvPr id="22" name="Shape 18">
            <a:extLst xmlns:a="http://schemas.openxmlformats.org/drawingml/2006/main">
              <a:ext uri="{FF2B5EF4-FFF2-40B4-BE49-F238E27FC236}">
                <a16:creationId xmlns:a16="http://schemas.microsoft.com/office/drawing/2014/main" id="{2D17E50D-ACDC-481D-AF61-2D0C3E9E5FC0}"/>
              </a:ext>
            </a:extLst>
          </p:cNvPr>
          <p:cNvSpPr>
            <a:spLocks xmlns:a="http://schemas.openxmlformats.org/drawingml/2006/main" noGrp="1"/>
          </p:cNvSpPr>
          <p:nvPr/>
        </p:nvSpPr>
        <p:spPr>
          <a:xfrm xmlns:a="http://schemas.openxmlformats.org/drawingml/2006/main">
            <a:off x="7118350" y="3133030"/>
            <a:ext cx="4254500" cy="1066800"/>
          </a:xfrm>
          <a:prstGeom xmlns:a="http://schemas.openxmlformats.org/drawingml/2006/main" prst="roundRect">
            <a:avLst>
              <a:gd name="adj" fmla="val 7738"/>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23" name="Text 19">
            <a:extLst xmlns:a="http://schemas.openxmlformats.org/drawingml/2006/main">
              <a:ext uri="{FF2B5EF4-FFF2-40B4-BE49-F238E27FC236}">
                <a16:creationId xmlns:a16="http://schemas.microsoft.com/office/drawing/2014/main" id="{F18A6157-6F9A-4A40-8AC8-77C0465CE2AA}"/>
              </a:ext>
            </a:extLst>
          </p:cNvPr>
          <p:cNvSpPr>
            <a:spLocks xmlns:a="http://schemas.openxmlformats.org/drawingml/2006/main" noGrp="1"/>
          </p:cNvSpPr>
          <p:nvPr/>
        </p:nvSpPr>
        <p:spPr>
          <a:xfrm xmlns:a="http://schemas.openxmlformats.org/drawingml/2006/main">
            <a:off x="7302500" y="3328690"/>
            <a:ext cx="4002786"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33333A"/>
                </a:solidFill>
                <a:latin typeface="Arial"/>
                <a:ea typeface="Arial"/>
                <a:cs typeface="Arial"/>
              </a:rPr>
              <a:t>Results retained and triaged</a:t>
            </a:r>
            <a:endParaRPr sz="1500"/>
          </a:p>
        </p:txBody>
      </p:sp>
      <p:sp>
        <p:nvSpPr>
          <p:cNvPr id="24" name="Text 20">
            <a:extLst xmlns:a="http://schemas.openxmlformats.org/drawingml/2006/main">
              <a:ext uri="{FF2B5EF4-FFF2-40B4-BE49-F238E27FC236}">
                <a16:creationId xmlns:a16="http://schemas.microsoft.com/office/drawing/2014/main" id="{BF123713-87AC-4214-A160-6F5D5BA9AA77}"/>
              </a:ext>
            </a:extLst>
          </p:cNvPr>
          <p:cNvSpPr>
            <a:spLocks xmlns:a="http://schemas.openxmlformats.org/drawingml/2006/main" noGrp="1"/>
          </p:cNvSpPr>
          <p:nvPr/>
        </p:nvSpPr>
        <p:spPr>
          <a:xfrm xmlns:a="http://schemas.openxmlformats.org/drawingml/2006/main">
            <a:off x="7302500" y="3608090"/>
            <a:ext cx="4002786" cy="42148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6B73"/>
                </a:solidFill>
                <a:latin typeface="Arial"/>
                <a:ea typeface="Arial"/>
                <a:cs typeface="Arial"/>
              </a:rPr>
              <a:t>Authenticated producer, trusted capture path, pinned source revision</a:t>
            </a:r>
            <a:endParaRPr sz="1200"/>
          </a:p>
        </p:txBody>
      </p:sp>
      <p:sp>
        <p:nvSpPr>
          <p:cNvPr id="25" name="Text 21">
            <a:extLst xmlns:a="http://schemas.openxmlformats.org/drawingml/2006/main">
              <a:ext uri="{FF2B5EF4-FFF2-40B4-BE49-F238E27FC236}">
                <a16:creationId xmlns:a16="http://schemas.microsoft.com/office/drawing/2014/main" id="{44DC67CE-593D-4550-A398-AA0F33DEEC33}"/>
              </a:ext>
            </a:extLst>
          </p:cNvPr>
          <p:cNvSpPr>
            <a:spLocks xmlns:a="http://schemas.openxmlformats.org/drawingml/2006/main" noGrp="1"/>
          </p:cNvSpPr>
          <p:nvPr/>
        </p:nvSpPr>
        <p:spPr>
          <a:xfrm xmlns:a="http://schemas.openxmlformats.org/drawingml/2006/main">
            <a:off x="812800" y="4307780"/>
            <a:ext cx="1270000" cy="1079500"/>
          </a:xfrm>
          <a:prstGeom xmlns:a="http://schemas.openxmlformats.org/drawingml/2006/main" prst="roundRect">
            <a:avLst>
              <a:gd name="adj" fmla="val 8235"/>
            </a:avLst>
          </a:prstGeom>
          <a:solidFill xmlns:a="http://schemas.openxmlformats.org/drawingml/2006/main">
            <a:srgbClr val="F07133"/>
          </a:solidFill>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lnSpc>
                <a:spcPts val="2100"/>
              </a:lnSpc>
              <a:buNone/>
            </a:pPr>
            <a:r>
              <a:rPr sz="1500" b="1" spc="100">
                <a:solidFill>
                  <a:srgbClr val="FFFFFF"/>
                </a:solidFill>
                <a:latin typeface="Arial"/>
                <a:ea typeface="Arial"/>
                <a:cs typeface="Arial"/>
              </a:rPr>
              <a:t>DECISION</a:t>
            </a:r>
            <a:endParaRPr sz="1500"/>
          </a:p>
        </p:txBody>
      </p:sp>
      <p:sp>
        <p:nvSpPr>
          <p:cNvPr id="26" name="Shape 22">
            <a:extLst xmlns:a="http://schemas.openxmlformats.org/drawingml/2006/main">
              <a:ext uri="{FF2B5EF4-FFF2-40B4-BE49-F238E27FC236}">
                <a16:creationId xmlns:a16="http://schemas.microsoft.com/office/drawing/2014/main" id="{E0513277-8F06-473C-8ACE-9010085CE00C}"/>
              </a:ext>
            </a:extLst>
          </p:cNvPr>
          <p:cNvSpPr>
            <a:spLocks xmlns:a="http://schemas.openxmlformats.org/drawingml/2006/main" noGrp="1"/>
          </p:cNvSpPr>
          <p:nvPr/>
        </p:nvSpPr>
        <p:spPr>
          <a:xfrm xmlns:a="http://schemas.openxmlformats.org/drawingml/2006/main">
            <a:off x="2190750" y="4314130"/>
            <a:ext cx="4254500" cy="1066800"/>
          </a:xfrm>
          <a:prstGeom xmlns:a="http://schemas.openxmlformats.org/drawingml/2006/main" prst="roundRect">
            <a:avLst>
              <a:gd name="adj" fmla="val 7738"/>
            </a:avLst>
          </a:prstGeom>
          <a:solidFill xmlns:a="http://schemas.openxmlformats.org/drawingml/2006/main">
            <a:srgbClr val="F4F4F6"/>
          </a:solidFill>
          <a:ln xmlns:a="http://schemas.openxmlformats.org/drawingml/2006/main" w="12700">
            <a:solidFill>
              <a:srgbClr val="C9C9CE"/>
            </a:solidFill>
            <a:prstDash val="dash"/>
          </a:ln>
        </p:spPr>
        <p:txBody>
          <a:bodyPr xmlns:a="http://schemas.openxmlformats.org/drawingml/2006/main"/>
          <a:lstStyle xmlns:a="http://schemas.openxmlformats.org/drawingml/2006/main"/>
          <a:p xmlns:a="http://schemas.openxmlformats.org/drawingml/2006/main">
            <a:endParaRPr/>
          </a:p>
        </p:txBody>
      </p:sp>
      <p:sp>
        <p:nvSpPr>
          <p:cNvPr id="27" name="Text 23">
            <a:extLst xmlns:a="http://schemas.openxmlformats.org/drawingml/2006/main">
              <a:ext uri="{FF2B5EF4-FFF2-40B4-BE49-F238E27FC236}">
                <a16:creationId xmlns:a16="http://schemas.microsoft.com/office/drawing/2014/main" id="{BDCFB7FA-9EDD-4FA5-B764-8E584DE19EB4}"/>
              </a:ext>
            </a:extLst>
          </p:cNvPr>
          <p:cNvSpPr>
            <a:spLocks xmlns:a="http://schemas.openxmlformats.org/drawingml/2006/main" noGrp="1"/>
          </p:cNvSpPr>
          <p:nvPr/>
        </p:nvSpPr>
        <p:spPr>
          <a:xfrm xmlns:a="http://schemas.openxmlformats.org/drawingml/2006/main">
            <a:off x="2374900" y="4509790"/>
            <a:ext cx="4002786" cy="2540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6B6B73"/>
                </a:solidFill>
                <a:latin typeface="Arial"/>
                <a:ea typeface="Arial"/>
                <a:cs typeface="Arial"/>
              </a:rPr>
              <a:t>No gate credentials here</a:t>
            </a:r>
            <a:endParaRPr sz="1500"/>
          </a:p>
        </p:txBody>
      </p:sp>
      <p:sp>
        <p:nvSpPr>
          <p:cNvPr id="28" name="Text 24">
            <a:extLst xmlns:a="http://schemas.openxmlformats.org/drawingml/2006/main">
              <a:ext uri="{FF2B5EF4-FFF2-40B4-BE49-F238E27FC236}">
                <a16:creationId xmlns:a16="http://schemas.microsoft.com/office/drawing/2014/main" id="{D41A1686-F96A-48A2-A433-9A932A2400F3}"/>
              </a:ext>
            </a:extLst>
          </p:cNvPr>
          <p:cNvSpPr>
            <a:spLocks xmlns:a="http://schemas.openxmlformats.org/drawingml/2006/main" noGrp="1"/>
          </p:cNvSpPr>
          <p:nvPr/>
        </p:nvSpPr>
        <p:spPr>
          <a:xfrm xmlns:a="http://schemas.openxmlformats.org/drawingml/2006/main">
            <a:off x="2374900" y="4789190"/>
            <a:ext cx="4002786" cy="42148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8A8A92"/>
                </a:solidFill>
                <a:latin typeface="Arial"/>
                <a:ea typeface="Arial"/>
                <a:cs typeface="Arial"/>
              </a:rPr>
              <a:t>A familiar bot, runner or green report gets no implicit authority</a:t>
            </a:r>
            <a:endParaRPr sz="1200"/>
          </a:p>
        </p:txBody>
      </p:sp>
      <p:sp>
        <p:nvSpPr>
          <p:cNvPr id="29" name="Shape 25">
            <a:extLst xmlns:a="http://schemas.openxmlformats.org/drawingml/2006/main">
              <a:ext uri="{FF2B5EF4-FFF2-40B4-BE49-F238E27FC236}">
                <a16:creationId xmlns:a16="http://schemas.microsoft.com/office/drawing/2014/main" id="{73316201-61F1-4661-A352-764BB9B16D78}"/>
              </a:ext>
            </a:extLst>
          </p:cNvPr>
          <p:cNvSpPr>
            <a:spLocks xmlns:a="http://schemas.openxmlformats.org/drawingml/2006/main" noGrp="1"/>
          </p:cNvSpPr>
          <p:nvPr/>
        </p:nvSpPr>
        <p:spPr>
          <a:xfrm xmlns:a="http://schemas.openxmlformats.org/drawingml/2006/main">
            <a:off x="6572250" y="4307780"/>
            <a:ext cx="0" cy="1079500"/>
          </a:xfrm>
          <a:prstGeom xmlns:a="http://schemas.openxmlformats.org/drawingml/2006/main" prst="line">
            <a:avLst/>
          </a:prstGeom>
          <a:noFill xmlns:a="http://schemas.openxmlformats.org/drawingml/2006/main"/>
          <a:ln xmlns:a="http://schemas.openxmlformats.org/drawingml/2006/main" w="38100">
            <a:solidFill>
              <a:srgbClr val="F07133"/>
            </a:solidFill>
            <a:prstDash val="dash"/>
          </a:ln>
        </p:spPr>
        <p:txBody>
          <a:bodyPr xmlns:a="http://schemas.openxmlformats.org/drawingml/2006/main"/>
          <a:lstStyle xmlns:a="http://schemas.openxmlformats.org/drawingml/2006/main"/>
          <a:p xmlns:a="http://schemas.openxmlformats.org/drawingml/2006/main">
            <a:endParaRPr/>
          </a:p>
        </p:txBody>
      </p:sp>
      <p:sp>
        <p:nvSpPr>
          <p:cNvPr id="30" name="Shape 26">
            <a:extLst xmlns:a="http://schemas.openxmlformats.org/drawingml/2006/main">
              <a:ext uri="{FF2B5EF4-FFF2-40B4-BE49-F238E27FC236}">
                <a16:creationId xmlns:a16="http://schemas.microsoft.com/office/drawing/2014/main" id="{7914C174-91A6-4B79-BA33-1F79358A97CB}"/>
              </a:ext>
            </a:extLst>
          </p:cNvPr>
          <p:cNvSpPr>
            <a:spLocks xmlns:a="http://schemas.openxmlformats.org/drawingml/2006/main" noGrp="1"/>
          </p:cNvSpPr>
          <p:nvPr/>
        </p:nvSpPr>
        <p:spPr>
          <a:xfrm xmlns:a="http://schemas.openxmlformats.org/drawingml/2006/main">
            <a:off x="7121525" y="4317305"/>
            <a:ext cx="4248150" cy="1060450"/>
          </a:xfrm>
          <a:prstGeom xmlns:a="http://schemas.openxmlformats.org/drawingml/2006/main" prst="roundRect">
            <a:avLst>
              <a:gd name="adj" fmla="val 7485"/>
            </a:avLst>
          </a:prstGeom>
          <a:solidFill xmlns:a="http://schemas.openxmlformats.org/drawingml/2006/main">
            <a:srgbClr val="FFFFFF"/>
          </a:solidFill>
          <a:ln xmlns:a="http://schemas.openxmlformats.org/drawingml/2006/main" w="19050">
            <a:solidFill>
              <a:srgbClr val="F07133"/>
            </a:solidFill>
            <a:prstDash val="solid"/>
          </a:ln>
        </p:spPr>
        <p:txBody>
          <a:bodyPr xmlns:a="http://schemas.openxmlformats.org/drawingml/2006/main"/>
          <a:lstStyle xmlns:a="http://schemas.openxmlformats.org/drawingml/2006/main"/>
          <a:p xmlns:a="http://schemas.openxmlformats.org/drawingml/2006/main">
            <a:endParaRPr/>
          </a:p>
        </p:txBody>
      </p:sp>
      <p:sp>
        <p:nvSpPr>
          <p:cNvPr id="31" name="Text 27">
            <a:extLst xmlns:a="http://schemas.openxmlformats.org/drawingml/2006/main">
              <a:ext uri="{FF2B5EF4-FFF2-40B4-BE49-F238E27FC236}">
                <a16:creationId xmlns:a16="http://schemas.microsoft.com/office/drawing/2014/main" id="{25560C5C-491D-45B7-ABFF-0A7AA275399C}"/>
              </a:ext>
            </a:extLst>
          </p:cNvPr>
          <p:cNvSpPr>
            <a:spLocks xmlns:a="http://schemas.openxmlformats.org/drawingml/2006/main" noGrp="1"/>
          </p:cNvSpPr>
          <p:nvPr/>
        </p:nvSpPr>
        <p:spPr>
          <a:xfrm xmlns:a="http://schemas.openxmlformats.org/drawingml/2006/main">
            <a:off x="7308850" y="4494510"/>
            <a:ext cx="3989705" cy="482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00"/>
              </a:lnSpc>
              <a:buNone/>
            </a:pPr>
            <a:r>
              <a:rPr sz="1500" b="1">
                <a:solidFill>
                  <a:srgbClr val="33333A"/>
                </a:solidFill>
                <a:latin typeface="Arial"/>
                <a:ea typeface="Arial"/>
                <a:cs typeface="Arial"/>
              </a:rPr>
              <a:t>Verifier → required App check + human approvals</a:t>
            </a:r>
            <a:endParaRPr sz="1500"/>
          </a:p>
        </p:txBody>
      </p:sp>
      <p:sp>
        <p:nvSpPr>
          <p:cNvPr id="32" name="Text 28">
            <a:extLst xmlns:a="http://schemas.openxmlformats.org/drawingml/2006/main">
              <a:ext uri="{FF2B5EF4-FFF2-40B4-BE49-F238E27FC236}">
                <a16:creationId xmlns:a16="http://schemas.microsoft.com/office/drawing/2014/main" id="{52FE4E02-0761-48B5-9642-820B557D2326}"/>
              </a:ext>
            </a:extLst>
          </p:cNvPr>
          <p:cNvSpPr>
            <a:spLocks xmlns:a="http://schemas.openxmlformats.org/drawingml/2006/main" noGrp="1"/>
          </p:cNvSpPr>
          <p:nvPr/>
        </p:nvSpPr>
        <p:spPr>
          <a:xfrm xmlns:a="http://schemas.openxmlformats.org/drawingml/2006/main">
            <a:off x="7308850" y="5002510"/>
            <a:ext cx="3989705" cy="22344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6B6B73"/>
                </a:solidFill>
                <a:latin typeface="Arial"/>
                <a:ea typeface="Arial"/>
                <a:cs typeface="Arial"/>
              </a:rPr>
              <a:t>Enforced at the protected branch for the exact revision</a:t>
            </a:r>
            <a:endParaRPr sz="1200"/>
          </a:p>
        </p:txBody>
      </p:sp>
      <p:sp>
        <p:nvSpPr>
          <p:cNvPr id="34" name="Text 30">
            <a:extLst xmlns:a="http://schemas.openxmlformats.org/drawingml/2006/main">
              <a:ext uri="{FF2B5EF4-FFF2-40B4-BE49-F238E27FC236}">
                <a16:creationId xmlns:a16="http://schemas.microsoft.com/office/drawing/2014/main" id="{CE39B1B6-B9EF-4E30-BF21-052504AE4990}"/>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80" name="Narrative 80">
            <a:extLst xmlns:a="http://schemas.openxmlformats.org/drawingml/2006/main">
              <a:ext uri="{FF2B5EF4-FFF2-40B4-BE49-F238E27FC236}">
                <a16:creationId xmlns:a16="http://schemas.microsoft.com/office/drawing/2014/main" id="{92FA8B87-25BC-465E-B65B-4BEAB8959AB6}"/>
              </a:ext>
            </a:extLst>
          </p:cNvPr>
          <p:cNvSpPr>
            <a:spLocks xmlns:a="http://schemas.openxmlformats.org/drawingml/2006/main" noGrp="1"/>
          </p:cNvSpPr>
          <p:nvPr/>
        </p:nvSpPr>
        <p:spPr>
          <a:xfrm xmlns:a="http://schemas.openxmlformats.org/drawingml/2006/main">
            <a:off x="812902" y="1353312"/>
            <a:ext cx="1056132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1700"/>
              </a:lnSpc>
              <a:spcBef>
                <a:spcPts val="0"/>
              </a:spcBef>
              <a:buNone/>
            </a:pPr>
            <a:r>
              <a:rPr sz="1400" b="0">
                <a:solidFill>
                  <a:srgbClr val="6B6B73"/>
                </a:solidFill>
                <a:latin typeface="Arial"/>
                <a:ea typeface="Arial"/>
                <a:cs typeface="Arial"/>
              </a:rPr>
              <a:t>A separate verifier checks the evidence for the current code and publishes the required check.</a:t>
            </a:r>
            <a:endParaRPr sz="1400"/>
          </a:p>
        </p:txBody>
      </p:sp>
    </p:spTree>
    <p:extLst>
      <p:ext uri="{BB962C8B-B14F-4D97-AF65-F5344CB8AC3E}">
        <p14:creationId xmlns:p14="http://schemas.microsoft.com/office/powerpoint/2010/main" val="1451887132"/>
      </p:ext>
    </p:extLst>
  </p:cSld>
</p:sld>
</file>

<file path=ppt/slides/slide41.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9F2B8AD0-6887-4C00-9319-3ABD448B8269}"/>
              </a:ext>
            </a:extLst>
          </p:cNvPr>
          <p:cNvPicPr>
            <a:picLocks xmlns:a="http://schemas.openxmlformats.org/drawingml/2006/main" noChangeAspect="1"/>
          </p:cNvPicPr>
          <p:nvPr/>
        </p:nvPicPr>
        <p:blipFill>
          <a:blip xmlns:r="http://schemas.openxmlformats.org/officeDocument/2006/relationships" xmlns:a="http://schemas.openxmlformats.org/drawingml/2006/main" r:embed="R1356b772a3e44a36"/>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279514AC-512D-419A-B5FC-11BBBA17C190}"/>
              </a:ext>
            </a:extLst>
          </p:cNvPr>
          <p:cNvPicPr>
            <a:picLocks xmlns:a="http://schemas.openxmlformats.org/drawingml/2006/main" noChangeAspect="1"/>
          </p:cNvPicPr>
          <p:nvPr/>
        </p:nvPicPr>
        <p:blipFill>
          <a:blip xmlns:r="http://schemas.openxmlformats.org/officeDocument/2006/relationships" xmlns:a="http://schemas.openxmlformats.org/drawingml/2006/main" r:embed="Rd86587f628a54530"/>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FBE527D4-C259-4616-B587-8BA4EB27B988}"/>
              </a:ext>
            </a:extLst>
          </p:cNvPr>
          <p:cNvSpPr>
            <a:spLocks xmlns:a="http://schemas.openxmlformats.org/drawingml/2006/main" noGrp="1"/>
          </p:cNvSpPr>
          <p:nvPr>
            <p:ph type="title" idx="0"/>
          </p:nvPr>
        </p:nvSpPr>
        <p:spPr>
          <a:xfrm xmlns:a="http://schemas.openxmlformats.org/drawingml/2006/main">
            <a:off x="812902" y="812902"/>
            <a:ext cx="832104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600"/>
              </a:lnSpc>
              <a:spcBef>
                <a:spcPts val="0"/>
              </a:spcBef>
              <a:buNone/>
            </a:pPr>
            <a:r>
              <a:rPr sz="3000" b="1">
                <a:solidFill>
                  <a:srgbClr val="4C8835"/>
                </a:solidFill>
                <a:latin typeface="Arial"/>
                <a:ea typeface="Arial"/>
                <a:cs typeface="Arial"/>
              </a:rPr>
              <a:t>Refresh evidence after every change</a:t>
            </a:r>
            <a:endParaRPr sz="3000"/>
          </a:p>
        </p:txBody>
      </p:sp>
      <p:sp>
        <p:nvSpPr>
          <p:cNvPr id="6" name="Shape 2">
            <a:extLst xmlns:a="http://schemas.openxmlformats.org/drawingml/2006/main">
              <a:ext uri="{FF2B5EF4-FFF2-40B4-BE49-F238E27FC236}">
                <a16:creationId xmlns:a16="http://schemas.microsoft.com/office/drawing/2014/main" id="{C69A96C6-D944-4744-80F9-7DC163C7AB13}"/>
              </a:ext>
            </a:extLst>
          </p:cNvPr>
          <p:cNvSpPr>
            <a:spLocks xmlns:a="http://schemas.openxmlformats.org/drawingml/2006/main" noGrp="1"/>
          </p:cNvSpPr>
          <p:nvPr/>
        </p:nvSpPr>
        <p:spPr>
          <a:xfrm xmlns:a="http://schemas.openxmlformats.org/drawingml/2006/main">
            <a:off x="819150" y="1890979"/>
            <a:ext cx="4114800" cy="2620670"/>
          </a:xfrm>
          <a:prstGeom xmlns:a="http://schemas.openxmlformats.org/drawingml/2006/main" prst="roundRect">
            <a:avLst>
              <a:gd name="adj" fmla="val 5180"/>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Text 3">
            <a:extLst xmlns:a="http://schemas.openxmlformats.org/drawingml/2006/main">
              <a:ext uri="{FF2B5EF4-FFF2-40B4-BE49-F238E27FC236}">
                <a16:creationId xmlns:a16="http://schemas.microsoft.com/office/drawing/2014/main" id="{A5494FD0-B694-4D0F-9266-EC9C8E169D5F}"/>
              </a:ext>
            </a:extLst>
          </p:cNvPr>
          <p:cNvSpPr>
            <a:spLocks xmlns:a="http://schemas.openxmlformats.org/drawingml/2006/main" noGrp="1"/>
          </p:cNvSpPr>
          <p:nvPr/>
        </p:nvSpPr>
        <p:spPr>
          <a:xfrm xmlns:a="http://schemas.openxmlformats.org/drawingml/2006/main">
            <a:off x="1079500" y="2151583"/>
            <a:ext cx="3701923"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6B6B73"/>
                </a:solidFill>
                <a:latin typeface="Arial"/>
                <a:ea typeface="Arial"/>
                <a:cs typeface="Arial"/>
              </a:rPr>
              <a:t>INITIAL REVISION</a:t>
            </a:r>
            <a:endParaRPr sz="1200"/>
          </a:p>
        </p:txBody>
      </p:sp>
      <p:sp>
        <p:nvSpPr>
          <p:cNvPr id="8" name="Shape 4">
            <a:extLst xmlns:a="http://schemas.openxmlformats.org/drawingml/2006/main">
              <a:ext uri="{FF2B5EF4-FFF2-40B4-BE49-F238E27FC236}">
                <a16:creationId xmlns:a16="http://schemas.microsoft.com/office/drawing/2014/main" id="{855F6A9E-433A-460D-81DD-759292A37800}"/>
              </a:ext>
            </a:extLst>
          </p:cNvPr>
          <p:cNvSpPr>
            <a:spLocks xmlns:a="http://schemas.openxmlformats.org/drawingml/2006/main" noGrp="1"/>
          </p:cNvSpPr>
          <p:nvPr/>
        </p:nvSpPr>
        <p:spPr>
          <a:xfrm xmlns:a="http://schemas.openxmlformats.org/drawingml/2006/main">
            <a:off x="1079500" y="2610612"/>
            <a:ext cx="127000" cy="127000"/>
          </a:xfrm>
          <a:prstGeom xmlns:a="http://schemas.openxmlformats.org/drawingml/2006/main" prst="roundRect">
            <a:avLst>
              <a:gd name="adj" fmla="val 50000"/>
            </a:avLst>
          </a:prstGeom>
          <a:solidFill xmlns:a="http://schemas.openxmlformats.org/drawingml/2006/main">
            <a:srgbClr val="D0342C"/>
          </a:solidFill>
        </p:spPr>
        <p:txBody>
          <a:bodyPr xmlns:a="http://schemas.openxmlformats.org/drawingml/2006/main"/>
          <a:lstStyle xmlns:a="http://schemas.openxmlformats.org/drawingml/2006/main"/>
          <a:p xmlns:a="http://schemas.openxmlformats.org/drawingml/2006/main">
            <a:endParaRPr/>
          </a:p>
        </p:txBody>
      </p:sp>
      <p:sp>
        <p:nvSpPr>
          <p:cNvPr id="9" name="Text 5">
            <a:extLst xmlns:a="http://schemas.openxmlformats.org/drawingml/2006/main">
              <a:ext uri="{FF2B5EF4-FFF2-40B4-BE49-F238E27FC236}">
                <a16:creationId xmlns:a16="http://schemas.microsoft.com/office/drawing/2014/main" id="{996E5C2F-9FDA-45EA-BA0B-5883A7717BF4}"/>
              </a:ext>
            </a:extLst>
          </p:cNvPr>
          <p:cNvSpPr>
            <a:spLocks xmlns:a="http://schemas.openxmlformats.org/drawingml/2006/main" noGrp="1"/>
          </p:cNvSpPr>
          <p:nvPr/>
        </p:nvSpPr>
        <p:spPr>
          <a:xfrm xmlns:a="http://schemas.openxmlformats.org/drawingml/2006/main">
            <a:off x="1308100" y="2517343"/>
            <a:ext cx="2201704" cy="3175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00"/>
              </a:lnSpc>
              <a:buNone/>
            </a:pPr>
            <a:r>
              <a:rPr sz="2000" b="1">
                <a:solidFill>
                  <a:srgbClr val="33333A"/>
                </a:solidFill>
                <a:latin typeface="Arial"/>
                <a:ea typeface="Arial"/>
                <a:cs typeface="Arial"/>
              </a:rPr>
              <a:t>Omission open</a:t>
            </a:r>
            <a:endParaRPr sz="2000"/>
          </a:p>
        </p:txBody>
      </p:sp>
      <p:sp>
        <p:nvSpPr>
          <p:cNvPr id="10" name="Text 6">
            <a:extLst xmlns:a="http://schemas.openxmlformats.org/drawingml/2006/main">
              <a:ext uri="{FF2B5EF4-FFF2-40B4-BE49-F238E27FC236}">
                <a16:creationId xmlns:a16="http://schemas.microsoft.com/office/drawing/2014/main" id="{83AFF7D3-30A1-4121-809D-63FA7BD13198}"/>
              </a:ext>
            </a:extLst>
          </p:cNvPr>
          <p:cNvSpPr>
            <a:spLocks xmlns:a="http://schemas.openxmlformats.org/drawingml/2006/main" noGrp="1"/>
          </p:cNvSpPr>
          <p:nvPr/>
        </p:nvSpPr>
        <p:spPr>
          <a:xfrm xmlns:a="http://schemas.openxmlformats.org/drawingml/2006/main">
            <a:off x="1079500" y="3108046"/>
            <a:ext cx="3701923"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6B6B73"/>
                </a:solidFill>
                <a:latin typeface="Arial"/>
                <a:ea typeface="Arial"/>
                <a:cs typeface="Arial"/>
              </a:rPr>
              <a:t>One payment save handler lacked server-side CSRF validation, as reported.</a:t>
            </a:r>
            <a:endParaRPr sz="1300"/>
          </a:p>
        </p:txBody>
      </p:sp>
      <p:sp>
        <p:nvSpPr>
          <p:cNvPr id="11" name="Text 7">
            <a:extLst xmlns:a="http://schemas.openxmlformats.org/drawingml/2006/main">
              <a:ext uri="{FF2B5EF4-FFF2-40B4-BE49-F238E27FC236}">
                <a16:creationId xmlns:a16="http://schemas.microsoft.com/office/drawing/2014/main" id="{E837ED6E-9235-4C23-808E-D20F6E0A652D}"/>
              </a:ext>
            </a:extLst>
          </p:cNvPr>
          <p:cNvSpPr>
            <a:spLocks xmlns:a="http://schemas.openxmlformats.org/drawingml/2006/main" noGrp="1"/>
          </p:cNvSpPr>
          <p:nvPr/>
        </p:nvSpPr>
        <p:spPr>
          <a:xfrm xmlns:a="http://schemas.openxmlformats.org/drawingml/2006/main">
            <a:off x="1079500" y="3867912"/>
            <a:ext cx="1778000" cy="383480"/>
          </a:xfrm>
          <a:prstGeom xmlns:a="http://schemas.openxmlformats.org/drawingml/2006/main" prst="roundRect">
            <a:avLst>
              <a:gd name="adj" fmla="val 16559"/>
            </a:avLst>
          </a:prstGeom>
          <a:solidFill xmlns:a="http://schemas.openxmlformats.org/drawingml/2006/main">
            <a:srgbClr val="6B6B73"/>
          </a:solidFill>
        </p:spPr>
        <p:txBody>
          <a:bodyPr xmlns:a="http://schemas.openxmlformats.org/drawingml/2006/main" wrap="square" lIns="108401" tIns="57601" rIns="108401" bIns="32201" anchor="t">
            <a:normAutofit/>
          </a:bodyPr>
          <a:lstStyle xmlns:a="http://schemas.openxmlformats.org/drawingml/2006/main"/>
          <a:p xmlns:a="http://schemas.openxmlformats.org/drawingml/2006/main">
            <a:pPr marL="0" indent="0" algn="ctr">
              <a:lnSpc>
                <a:spcPts val="1820"/>
              </a:lnSpc>
              <a:buNone/>
            </a:pPr>
            <a:r>
              <a:rPr sz="1300" b="1">
                <a:solidFill>
                  <a:srgbClr val="FFFFFF"/>
                </a:solidFill>
                <a:latin typeface="Arial"/>
                <a:ea typeface="Arial"/>
                <a:cs typeface="Arial"/>
              </a:rPr>
              <a:t>Merge ineligible</a:t>
            </a:r>
            <a:endParaRPr sz="1300"/>
          </a:p>
        </p:txBody>
      </p:sp>
      <p:pic>
        <p:nvPicPr>
          <p:cNvPr id="12" name="Image 2">
            <a:extLst xmlns:a="http://schemas.openxmlformats.org/drawingml/2006/main">
              <a:ext uri="{FF2B5EF4-FFF2-40B4-BE49-F238E27FC236}">
                <a16:creationId xmlns:a16="http://schemas.microsoft.com/office/drawing/2014/main" id="{90AE34AD-9AE7-42B1-A466-50E8E9E74CDA}"/>
              </a:ext>
            </a:extLst>
          </p:cNvPr>
          <p:cNvPicPr>
            <a:picLocks xmlns:a="http://schemas.openxmlformats.org/drawingml/2006/main" noChangeAspect="1"/>
          </p:cNvPicPr>
          <p:nvPr/>
        </p:nvPicPr>
        <p:blipFill>
          <a:blip xmlns:r="http://schemas.openxmlformats.org/officeDocument/2006/relationships" xmlns:a="http://schemas.openxmlformats.org/drawingml/2006/main" r:embed="R76fb2e9766954552"/>
          <a:srcRect xmlns:a="http://schemas.openxmlformats.org/drawingml/2006/main" l="0" t="0" r="0" b="0"/>
          <a:stretch xmlns:a="http://schemas.openxmlformats.org/drawingml/2006/main"/>
        </p:blipFill>
        <p:spPr>
          <a:xfrm xmlns:a="http://schemas.openxmlformats.org/drawingml/2006/main">
            <a:off x="5461000" y="2252821"/>
            <a:ext cx="1270000" cy="57150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A43D720F-4B6C-46C5-9F4A-355044ED861F}"/>
              </a:ext>
            </a:extLst>
          </p:cNvPr>
          <p:cNvSpPr>
            <a:spLocks xmlns:a="http://schemas.openxmlformats.org/drawingml/2006/main" noGrp="1"/>
          </p:cNvSpPr>
          <p:nvPr/>
        </p:nvSpPr>
        <p:spPr>
          <a:xfrm xmlns:a="http://schemas.openxmlformats.org/drawingml/2006/main">
            <a:off x="5244703" y="2951321"/>
            <a:ext cx="1702594" cy="314920"/>
          </a:xfrm>
          <a:prstGeom xmlns:a="http://schemas.openxmlformats.org/drawingml/2006/main" prst="roundRect">
            <a:avLst>
              <a:gd name="adj" fmla="val 16131"/>
            </a:avLst>
          </a:prstGeom>
          <a:solidFill xmlns:a="http://schemas.openxmlformats.org/drawingml/2006/main">
            <a:srgbClr val="EEEEF0"/>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33333A"/>
                </a:solidFill>
                <a:latin typeface="Arial"/>
                <a:ea typeface="Arial"/>
                <a:cs typeface="Arial"/>
              </a:rPr>
              <a:t>Re-check trace links</a:t>
            </a:r>
            <a:endParaRPr sz="1200"/>
          </a:p>
        </p:txBody>
      </p:sp>
      <p:sp>
        <p:nvSpPr>
          <p:cNvPr id="14" name="Text 9">
            <a:extLst xmlns:a="http://schemas.openxmlformats.org/drawingml/2006/main">
              <a:ext uri="{FF2B5EF4-FFF2-40B4-BE49-F238E27FC236}">
                <a16:creationId xmlns:a16="http://schemas.microsoft.com/office/drawing/2014/main" id="{4F6776B1-E252-48A9-A06F-400F43453706}"/>
              </a:ext>
            </a:extLst>
          </p:cNvPr>
          <p:cNvSpPr>
            <a:spLocks xmlns:a="http://schemas.openxmlformats.org/drawingml/2006/main" noGrp="1"/>
          </p:cNvSpPr>
          <p:nvPr/>
        </p:nvSpPr>
        <p:spPr>
          <a:xfrm xmlns:a="http://schemas.openxmlformats.org/drawingml/2006/main">
            <a:off x="5130502" y="3393242"/>
            <a:ext cx="1930995" cy="314920"/>
          </a:xfrm>
          <a:prstGeom xmlns:a="http://schemas.openxmlformats.org/drawingml/2006/main" prst="roundRect">
            <a:avLst>
              <a:gd name="adj" fmla="val 16131"/>
            </a:avLst>
          </a:prstGeom>
          <a:solidFill xmlns:a="http://schemas.openxmlformats.org/drawingml/2006/main">
            <a:srgbClr val="EEEEF0"/>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33333A"/>
                </a:solidFill>
                <a:latin typeface="Arial"/>
                <a:ea typeface="Arial"/>
                <a:cs typeface="Arial"/>
              </a:rPr>
              <a:t>Re-run required checks</a:t>
            </a:r>
            <a:endParaRPr sz="1200"/>
          </a:p>
        </p:txBody>
      </p:sp>
      <p:sp>
        <p:nvSpPr>
          <p:cNvPr id="15" name="Text 10">
            <a:extLst xmlns:a="http://schemas.openxmlformats.org/drawingml/2006/main">
              <a:ext uri="{FF2B5EF4-FFF2-40B4-BE49-F238E27FC236}">
                <a16:creationId xmlns:a16="http://schemas.microsoft.com/office/drawing/2014/main" id="{C159814A-48CD-44B8-96C3-7AEDFD6870AC}"/>
              </a:ext>
            </a:extLst>
          </p:cNvPr>
          <p:cNvSpPr>
            <a:spLocks xmlns:a="http://schemas.openxmlformats.org/drawingml/2006/main" noGrp="1"/>
          </p:cNvSpPr>
          <p:nvPr/>
        </p:nvSpPr>
        <p:spPr>
          <a:xfrm xmlns:a="http://schemas.openxmlformats.org/drawingml/2006/main">
            <a:off x="5354935" y="3835162"/>
            <a:ext cx="1482130" cy="314920"/>
          </a:xfrm>
          <a:prstGeom xmlns:a="http://schemas.openxmlformats.org/drawingml/2006/main" prst="roundRect">
            <a:avLst>
              <a:gd name="adj" fmla="val 16131"/>
            </a:avLst>
          </a:prstGeom>
          <a:solidFill xmlns:a="http://schemas.openxmlformats.org/drawingml/2006/main">
            <a:srgbClr val="EEEEF0"/>
          </a:solidFill>
        </p:spPr>
        <p:txBody>
          <a:bodyPr xmlns:a="http://schemas.openxmlformats.org/drawingml/2006/main" wrap="none" lIns="0" tIns="0" rIns="0" bIns="0" anchor="ctr">
            <a:normAutofit/>
          </a:bodyPr>
          <a:lstStyle xmlns:a="http://schemas.openxmlformats.org/drawingml/2006/main"/>
          <a:p xmlns:a="http://schemas.openxmlformats.org/drawingml/2006/main">
            <a:pPr marL="0" indent="0" algn="ctr">
              <a:lnSpc>
                <a:spcPts val="1680"/>
              </a:lnSpc>
              <a:buNone/>
            </a:pPr>
            <a:r>
              <a:rPr sz="1200" b="1">
                <a:solidFill>
                  <a:srgbClr val="33333A"/>
                </a:solidFill>
                <a:latin typeface="Arial"/>
                <a:ea typeface="Arial"/>
                <a:cs typeface="Arial"/>
              </a:rPr>
              <a:t>Renew approvals</a:t>
            </a:r>
            <a:endParaRPr sz="1200"/>
          </a:p>
        </p:txBody>
      </p:sp>
      <p:sp>
        <p:nvSpPr>
          <p:cNvPr id="16" name="Shape 11">
            <a:extLst xmlns:a="http://schemas.openxmlformats.org/drawingml/2006/main">
              <a:ext uri="{FF2B5EF4-FFF2-40B4-BE49-F238E27FC236}">
                <a16:creationId xmlns:a16="http://schemas.microsoft.com/office/drawing/2014/main" id="{67B11D5B-1EC6-444C-AB1D-0C17F9C0FA09}"/>
              </a:ext>
            </a:extLst>
          </p:cNvPr>
          <p:cNvSpPr>
            <a:spLocks xmlns:a="http://schemas.openxmlformats.org/drawingml/2006/main" noGrp="1"/>
          </p:cNvSpPr>
          <p:nvPr/>
        </p:nvSpPr>
        <p:spPr>
          <a:xfrm xmlns:a="http://schemas.openxmlformats.org/drawingml/2006/main">
            <a:off x="7258050" y="1890970"/>
            <a:ext cx="4114800" cy="2621062"/>
          </a:xfrm>
          <a:prstGeom xmlns:a="http://schemas.openxmlformats.org/drawingml/2006/main" prst="roundRect">
            <a:avLst>
              <a:gd name="adj" fmla="val 4603"/>
            </a:avLst>
          </a:prstGeom>
          <a:solidFill xmlns:a="http://schemas.openxmlformats.org/drawingml/2006/main">
            <a:srgbClr val="FFFFFF"/>
          </a:solidFill>
          <a:ln xmlns:a="http://schemas.openxmlformats.org/drawingml/2006/main" w="12700">
            <a:solidFill>
              <a:srgbClr val="E3E3E6"/>
            </a:solidFill>
            <a:prstDash val="solid"/>
          </a:ln>
        </p:spPr>
        <p:txBody>
          <a:bodyPr xmlns:a="http://schemas.openxmlformats.org/drawingml/2006/main"/>
          <a:lstStyle xmlns:a="http://schemas.openxmlformats.org/drawingml/2006/main"/>
          <a:p xmlns:a="http://schemas.openxmlformats.org/drawingml/2006/main">
            <a:endParaRPr/>
          </a:p>
        </p:txBody>
      </p:sp>
      <p:sp>
        <p:nvSpPr>
          <p:cNvPr id="17" name="Text 12">
            <a:extLst xmlns:a="http://schemas.openxmlformats.org/drawingml/2006/main">
              <a:ext uri="{FF2B5EF4-FFF2-40B4-BE49-F238E27FC236}">
                <a16:creationId xmlns:a16="http://schemas.microsoft.com/office/drawing/2014/main" id="{8A53A67B-2A77-45B9-99D2-A3E22EC84F63}"/>
              </a:ext>
            </a:extLst>
          </p:cNvPr>
          <p:cNvSpPr>
            <a:spLocks xmlns:a="http://schemas.openxmlformats.org/drawingml/2006/main" noGrp="1"/>
          </p:cNvSpPr>
          <p:nvPr/>
        </p:nvSpPr>
        <p:spPr>
          <a:xfrm xmlns:a="http://schemas.openxmlformats.org/drawingml/2006/main">
            <a:off x="7518400" y="2151320"/>
            <a:ext cx="3701923"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b="1" spc="100">
                <a:solidFill>
                  <a:srgbClr val="6B6B73"/>
                </a:solidFill>
                <a:latin typeface="Arial"/>
                <a:ea typeface="Arial"/>
                <a:cs typeface="Arial"/>
              </a:rPr>
              <a:t>CORRECTED REVISION</a:t>
            </a:r>
            <a:endParaRPr sz="1200"/>
          </a:p>
        </p:txBody>
      </p:sp>
      <p:sp>
        <p:nvSpPr>
          <p:cNvPr id="18" name="Shape 13">
            <a:extLst xmlns:a="http://schemas.openxmlformats.org/drawingml/2006/main">
              <a:ext uri="{FF2B5EF4-FFF2-40B4-BE49-F238E27FC236}">
                <a16:creationId xmlns:a16="http://schemas.microsoft.com/office/drawing/2014/main" id="{B660F5F6-C92A-4380-9712-78B91B9FC715}"/>
              </a:ext>
            </a:extLst>
          </p:cNvPr>
          <p:cNvSpPr>
            <a:spLocks xmlns:a="http://schemas.openxmlformats.org/drawingml/2006/main" noGrp="1"/>
          </p:cNvSpPr>
          <p:nvPr/>
        </p:nvSpPr>
        <p:spPr>
          <a:xfrm xmlns:a="http://schemas.openxmlformats.org/drawingml/2006/main">
            <a:off x="7518400" y="2745641"/>
            <a:ext cx="127000" cy="127000"/>
          </a:xfrm>
          <a:prstGeom xmlns:a="http://schemas.openxmlformats.org/drawingml/2006/main" prst="roundRect">
            <a:avLst>
              <a:gd name="adj" fmla="val 50000"/>
            </a:avLst>
          </a:prstGeom>
          <a:solidFill xmlns:a="http://schemas.openxmlformats.org/drawingml/2006/main">
            <a:srgbClr val="ECC623"/>
          </a:solidFill>
        </p:spPr>
        <p:txBody>
          <a:bodyPr xmlns:a="http://schemas.openxmlformats.org/drawingml/2006/main"/>
          <a:lstStyle xmlns:a="http://schemas.openxmlformats.org/drawingml/2006/main"/>
          <a:p xmlns:a="http://schemas.openxmlformats.org/drawingml/2006/main">
            <a:endParaRPr/>
          </a:p>
        </p:txBody>
      </p:sp>
      <p:sp>
        <p:nvSpPr>
          <p:cNvPr id="19" name="Text 14">
            <a:extLst xmlns:a="http://schemas.openxmlformats.org/drawingml/2006/main">
              <a:ext uri="{FF2B5EF4-FFF2-40B4-BE49-F238E27FC236}">
                <a16:creationId xmlns:a16="http://schemas.microsoft.com/office/drawing/2014/main" id="{C5589628-9156-4EDA-8AD0-065F371856DD}"/>
              </a:ext>
            </a:extLst>
          </p:cNvPr>
          <p:cNvSpPr>
            <a:spLocks xmlns:a="http://schemas.openxmlformats.org/drawingml/2006/main" noGrp="1"/>
          </p:cNvSpPr>
          <p:nvPr/>
        </p:nvSpPr>
        <p:spPr>
          <a:xfrm xmlns:a="http://schemas.openxmlformats.org/drawingml/2006/main">
            <a:off x="7747000" y="2517041"/>
            <a:ext cx="3466465" cy="6096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300"/>
              </a:lnSpc>
              <a:buNone/>
            </a:pPr>
            <a:r>
              <a:rPr sz="2000" b="1">
                <a:solidFill>
                  <a:srgbClr val="33333A"/>
                </a:solidFill>
                <a:latin typeface="Arial"/>
                <a:ea typeface="Arial"/>
                <a:cs typeface="Arial"/>
              </a:rPr>
              <a:t>Fix present, evidence incomplete</a:t>
            </a:r>
            <a:endParaRPr sz="2000"/>
          </a:p>
        </p:txBody>
      </p:sp>
      <p:sp>
        <p:nvSpPr>
          <p:cNvPr id="20" name="Text 15">
            <a:extLst xmlns:a="http://schemas.openxmlformats.org/drawingml/2006/main">
              <a:ext uri="{FF2B5EF4-FFF2-40B4-BE49-F238E27FC236}">
                <a16:creationId xmlns:a16="http://schemas.microsoft.com/office/drawing/2014/main" id="{812A45BF-4B34-4784-B3B6-22F3A1C10798}"/>
              </a:ext>
            </a:extLst>
          </p:cNvPr>
          <p:cNvSpPr>
            <a:spLocks xmlns:a="http://schemas.openxmlformats.org/drawingml/2006/main" noGrp="1"/>
          </p:cNvSpPr>
          <p:nvPr/>
        </p:nvSpPr>
        <p:spPr>
          <a:xfrm xmlns:a="http://schemas.openxmlformats.org/drawingml/2006/main">
            <a:off x="7518400" y="3253641"/>
            <a:ext cx="3701923" cy="487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6B6B73"/>
                </a:solidFill>
                <a:latin typeface="Arial"/>
                <a:ea typeface="Arial"/>
                <a:cs typeface="Arial"/>
              </a:rPr>
              <a:t>Example assumption: required results and approval are still missing.</a:t>
            </a:r>
            <a:endParaRPr sz="1300"/>
          </a:p>
        </p:txBody>
      </p:sp>
      <p:sp>
        <p:nvSpPr>
          <p:cNvPr id="21" name="Text 16">
            <a:extLst xmlns:a="http://schemas.openxmlformats.org/drawingml/2006/main">
              <a:ext uri="{FF2B5EF4-FFF2-40B4-BE49-F238E27FC236}">
                <a16:creationId xmlns:a16="http://schemas.microsoft.com/office/drawing/2014/main" id="{9145E491-64AD-4B05-A4B3-FD38AFFD5ECB}"/>
              </a:ext>
            </a:extLst>
          </p:cNvPr>
          <p:cNvSpPr>
            <a:spLocks xmlns:a="http://schemas.openxmlformats.org/drawingml/2006/main" noGrp="1"/>
          </p:cNvSpPr>
          <p:nvPr/>
        </p:nvSpPr>
        <p:spPr>
          <a:xfrm xmlns:a="http://schemas.openxmlformats.org/drawingml/2006/main">
            <a:off x="7518400" y="3868202"/>
            <a:ext cx="1778000" cy="383480"/>
          </a:xfrm>
          <a:prstGeom xmlns:a="http://schemas.openxmlformats.org/drawingml/2006/main" prst="roundRect">
            <a:avLst>
              <a:gd name="adj" fmla="val 16559"/>
            </a:avLst>
          </a:prstGeom>
          <a:solidFill xmlns:a="http://schemas.openxmlformats.org/drawingml/2006/main">
            <a:srgbClr val="6B6B73"/>
          </a:solidFill>
        </p:spPr>
        <p:txBody>
          <a:bodyPr xmlns:a="http://schemas.openxmlformats.org/drawingml/2006/main" wrap="square" lIns="108401" tIns="57601" rIns="108401" bIns="32201" anchor="t">
            <a:normAutofit/>
          </a:bodyPr>
          <a:lstStyle xmlns:a="http://schemas.openxmlformats.org/drawingml/2006/main"/>
          <a:p xmlns:a="http://schemas.openxmlformats.org/drawingml/2006/main">
            <a:pPr marL="0" indent="0" algn="ctr">
              <a:lnSpc>
                <a:spcPts val="1820"/>
              </a:lnSpc>
              <a:buNone/>
            </a:pPr>
            <a:r>
              <a:rPr sz="1300" b="1">
                <a:solidFill>
                  <a:srgbClr val="FFFFFF"/>
                </a:solidFill>
                <a:latin typeface="Arial"/>
                <a:ea typeface="Arial"/>
                <a:cs typeface="Arial"/>
              </a:rPr>
              <a:t>Merge ineligible</a:t>
            </a:r>
            <a:endParaRPr sz="1300"/>
          </a:p>
        </p:txBody>
      </p:sp>
      <p:sp>
        <p:nvSpPr>
          <p:cNvPr id="23" name="Text 18">
            <a:extLst xmlns:a="http://schemas.openxmlformats.org/drawingml/2006/main">
              <a:ext uri="{FF2B5EF4-FFF2-40B4-BE49-F238E27FC236}">
                <a16:creationId xmlns:a16="http://schemas.microsoft.com/office/drawing/2014/main" id="{64E0AB1B-0135-4B52-86EC-CA5D9F518154}"/>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2000" name="Evidence subtitle">
            <a:extLst xmlns:a="http://schemas.openxmlformats.org/drawingml/2006/main">
              <a:ext uri="{FF2B5EF4-FFF2-40B4-BE49-F238E27FC236}">
                <a16:creationId xmlns:a16="http://schemas.microsoft.com/office/drawing/2014/main" id="{7A952C08-AEED-440D-843A-87355C30EE03}"/>
              </a:ext>
            </a:extLst>
          </p:cNvPr>
          <p:cNvSpPr>
            <a:spLocks xmlns:a="http://schemas.openxmlformats.org/drawingml/2006/main" noGrp="1"/>
          </p:cNvSpPr>
          <p:nvPr/>
        </p:nvSpPr>
        <p:spPr>
          <a:xfrm xmlns:a="http://schemas.openxmlformats.org/drawingml/2006/main">
            <a:off x="812902" y="1399032"/>
            <a:ext cx="10561320" cy="32918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00">
                <a:solidFill>
                  <a:srgbClr val="6B6B73"/>
                </a:solidFill>
              </a:defRPr>
            </a:defPPr>
            <a:lvl1pPr>
              <a:buNone/>
              <a:defRPr sz="1600">
                <a:solidFill>
                  <a:srgbClr val="6B6B73"/>
                </a:solidFill>
              </a:defRPr>
            </a:lvl1pPr>
            <a:lvl2pPr>
              <a:buNone/>
              <a:defRPr sz="1600">
                <a:solidFill>
                  <a:srgbClr val="6B6B73"/>
                </a:solidFill>
              </a:defRPr>
            </a:lvl2pPr>
            <a:lvl3pPr>
              <a:buNone/>
              <a:defRPr sz="1600">
                <a:solidFill>
                  <a:srgbClr val="6B6B73"/>
                </a:solidFill>
              </a:defRPr>
            </a:lvl3pPr>
            <a:lvl4pPr>
              <a:buNone/>
              <a:defRPr sz="1600">
                <a:solidFill>
                  <a:srgbClr val="6B6B73"/>
                </a:solidFill>
              </a:defRPr>
            </a:lvl4pPr>
            <a:lvl5pPr>
              <a:buNone/>
              <a:defRPr sz="1600">
                <a:solidFill>
                  <a:srgbClr val="6B6B73"/>
                </a:solidFill>
              </a:defRPr>
            </a:lvl5pPr>
            <a:lvl6pPr>
              <a:buNone/>
              <a:defRPr sz="1600">
                <a:solidFill>
                  <a:srgbClr val="6B6B73"/>
                </a:solidFill>
              </a:defRPr>
            </a:lvl6pPr>
            <a:lvl7pPr>
              <a:buNone/>
              <a:defRPr sz="1600">
                <a:solidFill>
                  <a:srgbClr val="6B6B73"/>
                </a:solidFill>
              </a:defRPr>
            </a:lvl7pPr>
            <a:lvl8pPr>
              <a:buNone/>
              <a:defRPr sz="1600">
                <a:solidFill>
                  <a:srgbClr val="6B6B73"/>
                </a:solidFill>
              </a:defRPr>
            </a:lvl8pPr>
            <a:lvl9pPr>
              <a:buNone/>
              <a:defRPr sz="1600">
                <a:solidFill>
                  <a:srgbClr val="6B6B73"/>
                </a:solidFill>
              </a:defRPr>
            </a:lvl9pPr>
          </a:lstStyle>
          <a:p xmlns:a="http://schemas.openxmlformats.org/drawingml/2006/main">
            <a:pPr>
              <a:buNone/>
              <a:defRPr sz="1600">
                <a:solidFill>
                  <a:srgbClr val="6B6B73"/>
                </a:solidFill>
              </a:defRPr>
            </a:pPr>
            <a:r>
              <a:rPr sz="1600">
                <a:solidFill>
                  <a:srgbClr val="6B6B73"/>
                </a:solidFill>
                <a:latin typeface="Arial"/>
                <a:ea typeface="Arial"/>
                <a:cs typeface="Arial"/>
              </a:rPr>
              <a:t>Proposed revision policy for PR #11958. Workflow not run.</a:t>
            </a:r>
          </a:p>
        </p:txBody>
      </p:sp>
    </p:spTree>
    <p:extLst>
      <p:ext uri="{BB962C8B-B14F-4D97-AF65-F5344CB8AC3E}">
        <p14:creationId xmlns:p14="http://schemas.microsoft.com/office/powerpoint/2010/main" val="1936257789"/>
      </p:ext>
    </p:extLst>
  </p:cSld>
</p:sld>
</file>

<file path=ppt/slides/slide42.xml><?xml version="1.0" encoding="utf-8"?>
<p:sld xmlns:p="http://schemas.openxmlformats.org/presentationml/2006/main">
  <p:cSld>
    <p:bg>
      <p:bgPr>
        <a:solidFill xmlns:a="http://schemas.openxmlformats.org/drawingml/2006/main">
          <a:srgbClr val="FCFCFB"/>
        </a:solidFill>
      </p:bgPr>
    </p:bg>
    <p:spTree>
      <p:nvGrpSpPr>
        <p:cNvPr id="1" name=""/>
        <p:cNvGrpSpPr/>
        <p:nvPr/>
      </p:nvGrpSpPr>
      <p:grpSpPr>
        <a:xfrm xmlns:a="http://schemas.openxmlformats.org/drawingml/2006/main"/>
      </p:grpSpPr>
      <p:pic>
        <p:nvPicPr>
          <p:cNvPr id="2" name="Image 0">
            <a:extLst xmlns:a="http://schemas.openxmlformats.org/drawingml/2006/main">
              <a:ext uri="{FF2B5EF4-FFF2-40B4-BE49-F238E27FC236}">
                <a16:creationId xmlns:a16="http://schemas.microsoft.com/office/drawing/2014/main" id="{39FEBEA6-AC0C-4A11-846E-38F480D3207B}"/>
              </a:ext>
            </a:extLst>
          </p:cNvPr>
          <p:cNvPicPr>
            <a:picLocks xmlns:a="http://schemas.openxmlformats.org/drawingml/2006/main" noChangeAspect="1"/>
          </p:cNvPicPr>
          <p:nvPr/>
        </p:nvPicPr>
        <p:blipFill>
          <a:blip xmlns:r="http://schemas.openxmlformats.org/officeDocument/2006/relationships" xmlns:a="http://schemas.openxmlformats.org/drawingml/2006/main" r:embed="R8d3d0dd8b4814e63"/>
          <a:srcRect xmlns:a="http://schemas.openxmlformats.org/drawingml/2006/main" l="-29" t="0" r="-29" b="0"/>
          <a:stretch xmlns:a="http://schemas.openxmlformats.org/drawingml/2006/main"/>
        </p:blipFill>
        <p:spPr>
          <a:xfrm xmlns:a="http://schemas.openxmlformats.org/drawingml/2006/main">
            <a:off x="812800" y="279400"/>
            <a:ext cx="1276350" cy="279400"/>
          </a:xfrm>
          <a:prstGeom xmlns:a="http://schemas.openxmlformats.org/drawingml/2006/main" prst="rect">
            <a:avLst/>
          </a:prstGeom>
        </p:spPr>
      </p:pic>
      <p:pic>
        <p:nvPicPr>
          <p:cNvPr id="3" name="Image 1">
            <a:extLst xmlns:a="http://schemas.openxmlformats.org/drawingml/2006/main">
              <a:ext uri="{FF2B5EF4-FFF2-40B4-BE49-F238E27FC236}">
                <a16:creationId xmlns:a16="http://schemas.microsoft.com/office/drawing/2014/main" id="{168DD184-F147-4811-B7CB-39EA59A9FE32}"/>
              </a:ext>
            </a:extLst>
          </p:cNvPr>
          <p:cNvPicPr>
            <a:picLocks xmlns:a="http://schemas.openxmlformats.org/drawingml/2006/main" noChangeAspect="1"/>
          </p:cNvPicPr>
          <p:nvPr/>
        </p:nvPicPr>
        <p:blipFill>
          <a:blip xmlns:r="http://schemas.openxmlformats.org/officeDocument/2006/relationships" xmlns:a="http://schemas.openxmlformats.org/drawingml/2006/main" r:embed="R5a8ae3c40cc840cb"/>
          <a:srcRect xmlns:a="http://schemas.openxmlformats.org/drawingml/2006/main" l="-87" t="0" r="-87" b="0"/>
          <a:stretch xmlns:a="http://schemas.openxmlformats.org/drawingml/2006/main"/>
        </p:blipFill>
        <p:spPr>
          <a:xfrm xmlns:a="http://schemas.openxmlformats.org/drawingml/2006/main">
            <a:off x="10731500" y="5613400"/>
            <a:ext cx="1460500" cy="1244600"/>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CDF9337E-C7BF-47DA-B29C-4CDC4FB044E5}"/>
              </a:ext>
            </a:extLst>
          </p:cNvPr>
          <p:cNvSpPr>
            <a:spLocks xmlns:a="http://schemas.openxmlformats.org/drawingml/2006/main" noGrp="1"/>
          </p:cNvSpPr>
          <p:nvPr>
            <p:ph type="title" idx="0"/>
          </p:nvPr>
        </p:nvSpPr>
        <p:spPr>
          <a:xfrm xmlns:a="http://schemas.openxmlformats.org/drawingml/2006/main">
            <a:off x="812902" y="812902"/>
            <a:ext cx="84124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lnSpc>
                <a:spcPts val="3800"/>
              </a:lnSpc>
              <a:spcBef>
                <a:spcPts val="0"/>
              </a:spcBef>
              <a:buNone/>
            </a:pPr>
            <a:r>
              <a:rPr sz="3200" b="1">
                <a:solidFill>
                  <a:srgbClr val="4C8835"/>
                </a:solidFill>
                <a:latin typeface="Arial"/>
                <a:ea typeface="Arial"/>
                <a:cs typeface="Arial"/>
              </a:rPr>
              <a:t>Measure before adopting the workflow</a:t>
            </a:r>
            <a:endParaRPr sz="3200"/>
          </a:p>
        </p:txBody>
      </p:sp>
      <p:sp>
        <p:nvSpPr>
          <p:cNvPr id="36" name="Text 25">
            <a:extLst xmlns:a="http://schemas.openxmlformats.org/drawingml/2006/main">
              <a:ext uri="{FF2B5EF4-FFF2-40B4-BE49-F238E27FC236}">
                <a16:creationId xmlns:a16="http://schemas.microsoft.com/office/drawing/2014/main" id="{79E95895-E57B-4BB8-BDF2-505F88814A9A}"/>
              </a:ext>
            </a:extLst>
          </p:cNvPr>
          <p:cNvSpPr>
            <a:spLocks xmlns:a="http://schemas.openxmlformats.org/drawingml/2006/main" noGrp="1"/>
          </p:cNvSpPr>
          <p:nvPr/>
        </p:nvSpPr>
        <p:spPr>
          <a:xfrm xmlns:a="http://schemas.openxmlformats.org/drawingml/2006/main">
            <a:off x="7532370" y="6238280"/>
            <a:ext cx="3008630" cy="23872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r">
              <a:lnSpc>
                <a:spcPts val="1680"/>
              </a:lnSpc>
              <a:buNone/>
            </a:pPr>
            <a:r>
              <a:rPr sz="1200">
                <a:solidFill>
                  <a:srgbClr val="8A8A92"/>
                </a:solidFill>
                <a:latin typeface="Arial"/>
                <a:ea typeface="Arial"/>
                <a:cs typeface="Arial"/>
              </a:rPr>
              <a:t>ISC2.org/Congress | #ISC2Congress</a:t>
            </a:r>
            <a:endParaRPr sz="1200"/>
          </a:p>
        </p:txBody>
      </p:sp>
      <p:sp>
        <p:nvSpPr>
          <p:cNvPr id="1000" name="Pilot scope">
            <a:extLst xmlns:a="http://schemas.openxmlformats.org/drawingml/2006/main">
              <a:ext uri="{FF2B5EF4-FFF2-40B4-BE49-F238E27FC236}">
                <a16:creationId xmlns:a16="http://schemas.microsoft.com/office/drawing/2014/main" id="{EB64A5E6-0D19-4945-A725-9E8D536C4416}"/>
              </a:ext>
            </a:extLst>
          </p:cNvPr>
          <p:cNvSpPr>
            <a:spLocks xmlns:a="http://schemas.openxmlformats.org/drawingml/2006/main" noGrp="1"/>
          </p:cNvSpPr>
          <p:nvPr/>
        </p:nvSpPr>
        <p:spPr>
          <a:xfrm xmlns:a="http://schemas.openxmlformats.org/drawingml/2006/main">
            <a:off x="812902" y="1399032"/>
            <a:ext cx="10561320" cy="41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800" b="0">
                <a:solidFill>
                  <a:srgbClr val="33333A"/>
                </a:solidFill>
              </a:defRPr>
            </a:defPPr>
            <a:lvl1pPr>
              <a:buNone/>
              <a:defRPr sz="1800" b="0">
                <a:solidFill>
                  <a:srgbClr val="33333A"/>
                </a:solidFill>
              </a:defRPr>
            </a:lvl1pPr>
            <a:lvl2pPr>
              <a:buNone/>
              <a:defRPr sz="1800" b="0">
                <a:solidFill>
                  <a:srgbClr val="33333A"/>
                </a:solidFill>
              </a:defRPr>
            </a:lvl2pPr>
            <a:lvl3pPr>
              <a:buNone/>
              <a:defRPr sz="1800" b="0">
                <a:solidFill>
                  <a:srgbClr val="33333A"/>
                </a:solidFill>
              </a:defRPr>
            </a:lvl3pPr>
            <a:lvl4pPr>
              <a:buNone/>
              <a:defRPr sz="1800" b="0">
                <a:solidFill>
                  <a:srgbClr val="33333A"/>
                </a:solidFill>
              </a:defRPr>
            </a:lvl4pPr>
            <a:lvl5pPr>
              <a:buNone/>
              <a:defRPr sz="1800" b="0">
                <a:solidFill>
                  <a:srgbClr val="33333A"/>
                </a:solidFill>
              </a:defRPr>
            </a:lvl5pPr>
            <a:lvl6pPr>
              <a:buNone/>
              <a:defRPr sz="1800" b="0">
                <a:solidFill>
                  <a:srgbClr val="33333A"/>
                </a:solidFill>
              </a:defRPr>
            </a:lvl6pPr>
            <a:lvl7pPr>
              <a:buNone/>
              <a:defRPr sz="1800" b="0">
                <a:solidFill>
                  <a:srgbClr val="33333A"/>
                </a:solidFill>
              </a:defRPr>
            </a:lvl7pPr>
            <a:lvl8pPr>
              <a:buNone/>
              <a:defRPr sz="1800" b="0">
                <a:solidFill>
                  <a:srgbClr val="33333A"/>
                </a:solidFill>
              </a:defRPr>
            </a:lvl8pPr>
            <a:lvl9pPr>
              <a:buNone/>
              <a:defRPr sz="1800" b="0">
                <a:solidFill>
                  <a:srgbClr val="33333A"/>
                </a:solidFill>
              </a:defRPr>
            </a:lvl9pPr>
          </a:lstStyle>
          <a:p xmlns:a="http://schemas.openxmlformats.org/drawingml/2006/main">
            <a:pPr>
              <a:buNone/>
              <a:defRPr sz="1800" b="0">
                <a:solidFill>
                  <a:srgbClr val="33333A"/>
                </a:solidFill>
              </a:defRPr>
            </a:pPr>
            <a:r>
              <a:rPr sz="1800" b="0">
                <a:solidFill>
                  <a:srgbClr val="33333A"/>
                </a:solidFill>
                <a:latin typeface="Arial"/>
                <a:ea typeface="Arial"/>
                <a:cs typeface="Arial"/>
              </a:rPr>
              <a:t>Freeze the workflow and context-selection rules, then evaluate held-out full PRs.</a:t>
            </a:r>
          </a:p>
        </p:txBody>
      </p:sp>
      <p:sp>
        <p:nvSpPr>
          <p:cNvPr id="1001" name="Acceptance">
            <a:extLst xmlns:a="http://schemas.openxmlformats.org/drawingml/2006/main">
              <a:ext uri="{FF2B5EF4-FFF2-40B4-BE49-F238E27FC236}">
                <a16:creationId xmlns:a16="http://schemas.microsoft.com/office/drawing/2014/main" id="{0E103077-FE2A-470B-A655-2F690AF1371F}"/>
              </a:ext>
            </a:extLst>
          </p:cNvPr>
          <p:cNvSpPr>
            <a:spLocks xmlns:a="http://schemas.openxmlformats.org/drawingml/2006/main" noGrp="1"/>
          </p:cNvSpPr>
          <p:nvPr/>
        </p:nvSpPr>
        <p:spPr>
          <a:xfrm xmlns:a="http://schemas.openxmlformats.org/drawingml/2006/main">
            <a:off x="812902" y="5806440"/>
            <a:ext cx="1056132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600" b="1">
                <a:solidFill>
                  <a:srgbClr val="4C8835"/>
                </a:solidFill>
              </a:defRPr>
            </a:defPPr>
            <a:lvl1pPr>
              <a:buNone/>
              <a:defRPr sz="1600" b="1">
                <a:solidFill>
                  <a:srgbClr val="4C8835"/>
                </a:solidFill>
              </a:defRPr>
            </a:lvl1pPr>
            <a:lvl2pPr>
              <a:buNone/>
              <a:defRPr sz="1600" b="1">
                <a:solidFill>
                  <a:srgbClr val="4C8835"/>
                </a:solidFill>
              </a:defRPr>
            </a:lvl2pPr>
            <a:lvl3pPr>
              <a:buNone/>
              <a:defRPr sz="1600" b="1">
                <a:solidFill>
                  <a:srgbClr val="4C8835"/>
                </a:solidFill>
              </a:defRPr>
            </a:lvl3pPr>
            <a:lvl4pPr>
              <a:buNone/>
              <a:defRPr sz="1600" b="1">
                <a:solidFill>
                  <a:srgbClr val="4C8835"/>
                </a:solidFill>
              </a:defRPr>
            </a:lvl4pPr>
            <a:lvl5pPr>
              <a:buNone/>
              <a:defRPr sz="1600" b="1">
                <a:solidFill>
                  <a:srgbClr val="4C8835"/>
                </a:solidFill>
              </a:defRPr>
            </a:lvl5pPr>
            <a:lvl6pPr>
              <a:buNone/>
              <a:defRPr sz="1600" b="1">
                <a:solidFill>
                  <a:srgbClr val="4C8835"/>
                </a:solidFill>
              </a:defRPr>
            </a:lvl6pPr>
            <a:lvl7pPr>
              <a:buNone/>
              <a:defRPr sz="1600" b="1">
                <a:solidFill>
                  <a:srgbClr val="4C8835"/>
                </a:solidFill>
              </a:defRPr>
            </a:lvl7pPr>
            <a:lvl8pPr>
              <a:buNone/>
              <a:defRPr sz="1600" b="1">
                <a:solidFill>
                  <a:srgbClr val="4C8835"/>
                </a:solidFill>
              </a:defRPr>
            </a:lvl8pPr>
            <a:lvl9pPr>
              <a:buNone/>
              <a:defRPr sz="1600" b="1">
                <a:solidFill>
                  <a:srgbClr val="4C8835"/>
                </a:solidFill>
              </a:defRPr>
            </a:lvl9pPr>
          </a:lstStyle>
          <a:p xmlns:a="http://schemas.openxmlformats.org/drawingml/2006/main">
            <a:pPr>
              <a:buNone/>
              <a:defRPr sz="1600" b="1">
                <a:solidFill>
                  <a:srgbClr val="4C8835"/>
                </a:solidFill>
              </a:defRPr>
            </a:pPr>
            <a:r>
              <a:rPr sz="1600" b="1">
                <a:solidFill>
                  <a:srgbClr val="4C8835"/>
                </a:solidFill>
                <a:latin typeface="Arial"/>
                <a:ea typeface="Arial"/>
                <a:cs typeface="Arial"/>
              </a:rPr>
              <a:t>Set acceptance criteria before the pilot. Record the decision and its accountable owner.</a:t>
            </a:r>
          </a:p>
        </p:txBody>
      </p:sp>
      <p:graphicFrame>
        <p:nvGraphicFramePr>
          <p:cNvPr id="81" name="Editable case evidence">
            <a:extLst xmlns:a="http://schemas.openxmlformats.org/drawingml/2006/main">
              <a:ext uri="{FF2B5EF4-FFF2-40B4-BE49-F238E27FC236}">
                <a16:creationId xmlns:a16="http://schemas.microsoft.com/office/drawing/2014/main" id="{B2B03945-CEB4-48F8-B54C-8FCCF3DB2766}"/>
              </a:ext>
            </a:extLst>
          </p:cNvPr>
          <p:cNvGraphicFramePr/>
          <p:nvPr/>
        </p:nvGraphicFramePr>
        <p:xfrm>
          <a:off xmlns:a="http://schemas.openxmlformats.org/drawingml/2006/main" x="812902" y="1938528"/>
          <a:ext xmlns:a="http://schemas.openxmlformats.org/drawingml/2006/main" cx="10561320" cy="3410712"/>
        </p:xfrm>
        <a:graphic xmlns:a="http://schemas.openxmlformats.org/drawingml/2006/main">
          <a:graphicData uri="http://schemas.openxmlformats.org/drawingml/2006/table">
            <a:tbl>
              <a:tblPr firstRow="1"/>
              <a:tblGrid>
                <a:gridCol w="2971800"/>
                <a:gridCol w="7589520"/>
              </a:tblGrid>
              <a:tr h="621792">
                <a:tc>
                  <a:txBody>
                    <a:bodyPr/>
                    <a:lstStyle/>
                    <a:p>
                      <a:pPr marL="0" indent="0" algn="l">
                        <a:lnSpc>
                          <a:spcPts val="2000"/>
                        </a:lnSpc>
                        <a:spcBef>
                          <a:spcPts val="0"/>
                        </a:spcBef>
                        <a:buNone/>
                      </a:pPr>
                      <a:r>
                        <a:rPr sz="1400" b="1">
                          <a:solidFill>
                            <a:srgbClr val="FFFFFF"/>
                          </a:solidFill>
                          <a:latin typeface="Arial"/>
                          <a:ea typeface="Arial"/>
                          <a:cs typeface="Arial"/>
                        </a:rPr>
                        <a:t>Measure</a:t>
                      </a:r>
                      <a:endParaRPr sz="14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0086B6"/>
                    </a:solidFill>
                  </a:tcPr>
                </a:tc>
                <a:tc>
                  <a:txBody>
                    <a:bodyPr/>
                    <a:lstStyle/>
                    <a:p>
                      <a:pPr marL="0" indent="0" algn="l">
                        <a:lnSpc>
                          <a:spcPts val="2000"/>
                        </a:lnSpc>
                        <a:spcBef>
                          <a:spcPts val="0"/>
                        </a:spcBef>
                        <a:buNone/>
                      </a:pPr>
                      <a:r>
                        <a:rPr sz="1400" b="1">
                          <a:solidFill>
                            <a:srgbClr val="FFFFFF"/>
                          </a:solidFill>
                          <a:latin typeface="Arial"/>
                          <a:ea typeface="Arial"/>
                          <a:cs typeface="Arial"/>
                        </a:rPr>
                        <a:t>Record for baseline and proposed workflow</a:t>
                      </a:r>
                      <a:endParaRPr sz="14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0086B6"/>
                    </a:solidFill>
                  </a:tcPr>
                </a:tc>
              </a:tr>
              <a:tr h="557784">
                <a:tc>
                  <a:txBody>
                    <a:bodyPr/>
                    <a:lstStyle/>
                    <a:p>
                      <a:pPr marL="0" indent="0" algn="l">
                        <a:lnSpc>
                          <a:spcPts val="2000"/>
                        </a:lnSpc>
                        <a:spcBef>
                          <a:spcPts val="0"/>
                        </a:spcBef>
                        <a:buNone/>
                      </a:pPr>
                      <a:r>
                        <a:rPr sz="1700" b="0">
                          <a:solidFill>
                            <a:srgbClr val="33333A"/>
                          </a:solidFill>
                          <a:latin typeface="Arial"/>
                          <a:ea typeface="Arial"/>
                          <a:cs typeface="Arial"/>
                        </a:rPr>
                        <a:t>Verified catches</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0">
                          <a:solidFill>
                            <a:srgbClr val="33333A"/>
                          </a:solidFill>
                          <a:latin typeface="Arial"/>
                          <a:ea typeface="Arial"/>
                          <a:cs typeface="Arial"/>
                        </a:rPr>
                        <a:t>Independently confirmed findings / known issues</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r>
              <a:tr h="557784">
                <a:tc>
                  <a:txBody>
                    <a:bodyPr/>
                    <a:lstStyle/>
                    <a:p>
                      <a:pPr marL="0" indent="0" algn="l">
                        <a:lnSpc>
                          <a:spcPts val="2000"/>
                        </a:lnSpc>
                        <a:spcBef>
                          <a:spcPts val="0"/>
                        </a:spcBef>
                        <a:buNone/>
                      </a:pPr>
                      <a:r>
                        <a:rPr sz="1700" b="0">
                          <a:solidFill>
                            <a:srgbClr val="33333A"/>
                          </a:solidFill>
                          <a:latin typeface="Arial"/>
                          <a:ea typeface="Arial"/>
                          <a:cs typeface="Arial"/>
                        </a:rPr>
                        <a:t>Lost baseline catches</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c>
                  <a:txBody>
                    <a:bodyPr/>
                    <a:lstStyle/>
                    <a:p>
                      <a:pPr marL="0" indent="0" algn="l">
                        <a:lnSpc>
                          <a:spcPts val="2000"/>
                        </a:lnSpc>
                        <a:spcBef>
                          <a:spcPts val="0"/>
                        </a:spcBef>
                        <a:buNone/>
                      </a:pPr>
                      <a:r>
                        <a:rPr sz="1700" b="0">
                          <a:solidFill>
                            <a:srgbClr val="33333A"/>
                          </a:solidFill>
                          <a:latin typeface="Arial"/>
                          <a:ea typeface="Arial"/>
                          <a:cs typeface="Arial"/>
                        </a:rPr>
                        <a:t>Issues caught before but missed by the new workflow</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r>
              <a:tr h="557784">
                <a:tc>
                  <a:txBody>
                    <a:bodyPr/>
                    <a:lstStyle/>
                    <a:p>
                      <a:pPr marL="0" indent="0" algn="l">
                        <a:lnSpc>
                          <a:spcPts val="2000"/>
                        </a:lnSpc>
                        <a:spcBef>
                          <a:spcPts val="0"/>
                        </a:spcBef>
                        <a:buNone/>
                      </a:pPr>
                      <a:r>
                        <a:rPr sz="1700" b="0">
                          <a:solidFill>
                            <a:srgbClr val="33333A"/>
                          </a:solidFill>
                          <a:latin typeface="Arial"/>
                          <a:ea typeface="Arial"/>
                          <a:cs typeface="Arial"/>
                        </a:rPr>
                        <a:t>False alarms</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0">
                          <a:solidFill>
                            <a:srgbClr val="33333A"/>
                          </a:solidFill>
                          <a:latin typeface="Arial"/>
                          <a:ea typeface="Arial"/>
                          <a:cs typeface="Arial"/>
                        </a:rPr>
                        <a:t>Affected reviews / total reviews; severity and triage time</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r>
              <a:tr h="557784">
                <a:tc>
                  <a:txBody>
                    <a:bodyPr/>
                    <a:lstStyle/>
                    <a:p>
                      <a:pPr marL="0" indent="0" algn="l">
                        <a:lnSpc>
                          <a:spcPts val="2000"/>
                        </a:lnSpc>
                        <a:spcBef>
                          <a:spcPts val="0"/>
                        </a:spcBef>
                        <a:buNone/>
                      </a:pPr>
                      <a:r>
                        <a:rPr sz="1700" b="0">
                          <a:solidFill>
                            <a:srgbClr val="33333A"/>
                          </a:solidFill>
                          <a:latin typeface="Arial"/>
                          <a:ea typeface="Arial"/>
                          <a:cs typeface="Arial"/>
                        </a:rPr>
                        <a:t>Review effort</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c>
                  <a:txBody>
                    <a:bodyPr/>
                    <a:lstStyle/>
                    <a:p>
                      <a:pPr marL="0" indent="0" algn="l">
                        <a:lnSpc>
                          <a:spcPts val="2000"/>
                        </a:lnSpc>
                        <a:spcBef>
                          <a:spcPts val="0"/>
                        </a:spcBef>
                        <a:buNone/>
                      </a:pPr>
                      <a:r>
                        <a:rPr sz="1700" b="0">
                          <a:solidFill>
                            <a:srgbClr val="33333A"/>
                          </a:solidFill>
                          <a:latin typeface="Arial"/>
                          <a:ea typeface="Arial"/>
                          <a:cs typeface="Arial"/>
                        </a:rPr>
                        <a:t>Median reviewer minutes and delay per PR</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5F7F2"/>
                    </a:solidFill>
                  </a:tcPr>
                </a:tc>
              </a:tr>
              <a:tr h="557784">
                <a:tc>
                  <a:txBody>
                    <a:bodyPr/>
                    <a:lstStyle/>
                    <a:p>
                      <a:pPr marL="0" indent="0" algn="l">
                        <a:lnSpc>
                          <a:spcPts val="2000"/>
                        </a:lnSpc>
                        <a:spcBef>
                          <a:spcPts val="0"/>
                        </a:spcBef>
                        <a:buNone/>
                      </a:pPr>
                      <a:r>
                        <a:rPr sz="1700" b="0">
                          <a:solidFill>
                            <a:srgbClr val="33333A"/>
                          </a:solidFill>
                          <a:latin typeface="Arial"/>
                          <a:ea typeface="Arial"/>
                          <a:cs typeface="Arial"/>
                        </a:rPr>
                        <a:t>Adoption decision</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c>
                  <a:txBody>
                    <a:bodyPr/>
                    <a:lstStyle/>
                    <a:p>
                      <a:pPr marL="0" indent="0" algn="l">
                        <a:lnSpc>
                          <a:spcPts val="2000"/>
                        </a:lnSpc>
                        <a:spcBef>
                          <a:spcPts val="0"/>
                        </a:spcBef>
                        <a:buNone/>
                      </a:pPr>
                      <a:r>
                        <a:rPr sz="1700" b="0">
                          <a:solidFill>
                            <a:srgbClr val="33333A"/>
                          </a:solidFill>
                          <a:latin typeface="Arial"/>
                          <a:ea typeface="Arial"/>
                          <a:cs typeface="Arial"/>
                        </a:rPr>
                        <a:t>Acceptance criteria, scope, decision and named owner</a:t>
                      </a:r>
                      <a:endParaRPr sz="1700"/>
                    </a:p>
                  </a:txBody>
                  <a:tcPr marL="164592" marR="164592" marT="45720" marB="45720" anchor="ctr">
                    <a:lnL w="6350">
                      <a:solidFill>
                        <a:srgbClr val="E0E3DD"/>
                      </a:solidFill>
                    </a:lnL>
                    <a:lnR w="6350">
                      <a:solidFill>
                        <a:srgbClr val="E0E3DD"/>
                      </a:solidFill>
                    </a:lnR>
                    <a:lnT w="6350">
                      <a:solidFill>
                        <a:srgbClr val="E0E3DD"/>
                      </a:solidFill>
                    </a:lnT>
                    <a:lnB w="6350">
                      <a:solidFill>
                        <a:srgbClr val="E0E3DD"/>
                      </a:solidFill>
                    </a:lnB>
                    <a:solidFill>
                      <a:srgbClr val="FFFFFF"/>
                    </a:solidFill>
                  </a:tcPr>
                </a:tc>
              </a:tr>
            </a:tbl>
          </a:graphicData>
        </a:graphic>
      </p:graphicFrame>
    </p:spTree>
    <p:extLst>
      <p:ext uri="{BB962C8B-B14F-4D97-AF65-F5344CB8AC3E}">
        <p14:creationId xmlns:p14="http://schemas.microsoft.com/office/powerpoint/2010/main" val="179071903"/>
      </p:ext>
    </p:extLst>
  </p:cSld>
</p:sld>
</file>

<file path=ppt/theme/theme1.xml><?xml version="1.0" encoding="utf-8"?>
<a:theme xmlns:a="http://schemas.openxmlformats.org/drawingml/2006/main" name="Who Writes the Bug, Who Finds the Bug — OpenEMR Security Review">
  <a:themeElements>
    <a:clrScheme name="Who Writes the Bug, Who Finds the Bug — OpenEMR Security Review">
      <a:dk1>
        <a:srgbClr val="448334"/>
      </a:dk1>
      <a:lt1>
        <a:srgbClr val="FCFCFB"/>
      </a:lt1>
      <a:dk2>
        <a:srgbClr val="72A166"/>
      </a:dk2>
      <a:lt2>
        <a:srgbClr val="EAF0E7"/>
      </a:lt2>
      <a:accent1>
        <a:srgbClr val="0086B6"/>
      </a:accent1>
      <a:accent2>
        <a:srgbClr val="F07133"/>
      </a:accent2>
      <a:accent3>
        <a:srgbClr val="5466AE"/>
      </a:accent3>
      <a:accent4>
        <a:srgbClr val="D0342C"/>
      </a:accent4>
      <a:accent5>
        <a:srgbClr val="2F5F24"/>
      </a:accent5>
      <a:accent6>
        <a:srgbClr val="6B5600"/>
      </a:accent6>
      <a:hlink>
        <a:srgbClr val="0563C1"/>
      </a:hlink>
      <a:folHlink>
        <a:srgbClr val="954F72"/>
      </a:folHlink>
    </a:clrScheme>
    <a:fontScheme name="Who Writes the Bug, Who Finds the Bug — OpenEMR Security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Who Writes the Bug, Who Finds the Bug — OpenEMR Security Review">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2026-10-24T03:55:44.1540000Z</dcterms:created>
  <dcterms:modified xsi:type="dcterms:W3CDTF">2026-10-24T03:55:44.1540000Z</dcterms:modified>
</coreProperties>
</file>